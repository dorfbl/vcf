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Masters/slideMaster1.xml" ContentType="application/vnd.openxmlformats-officedocument.presentationml.slide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slideLayouts/slideLayout44.xml" ContentType="application/vnd.openxmlformats-officedocument.presentationml.slideLayou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notesSlides/notesSlide38.xml" ContentType="application/vnd.openxmlformats-officedocument.presentationml.notesSlide+xml"/>
  <Override PartName="/ppt/slideLayouts/slideLayout38.xml" ContentType="application/vnd.openxmlformats-officedocument.presentationml.slideLayout+xml"/>
  <Override PartName="/ppt/notesSlides/notesSlide39.xml" ContentType="application/vnd.openxmlformats-officedocument.presentationml.notesSlide+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notesSlides/notesSlide40.xml" ContentType="application/vnd.openxmlformats-officedocument.presentationml.notesSlide+xml"/>
  <Override PartName="/ppt/slideLayouts/slideLayout35.xml" ContentType="application/vnd.openxmlformats-officedocument.presentationml.slideLayout+xml"/>
  <Override PartName="/ppt/notesSlides/notesSlide41.xml" ContentType="application/vnd.openxmlformats-officedocument.presentationml.notesSlide+xml"/>
  <Override PartName="/ppt/slideLayouts/slideLayout34.xml" ContentType="application/vnd.openxmlformats-officedocument.presentationml.slideLayou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notesSlides/notesSlide45.xml" ContentType="application/vnd.openxmlformats-officedocument.presentationml.notesSlide+xml"/>
  <Override PartName="/ppt/slideLayouts/slideLayout29.xml" ContentType="application/vnd.openxmlformats-officedocument.presentationml.slideLayout+xml"/>
  <Override PartName="/ppt/notesSlides/notesSlide46.xml" ContentType="application/vnd.openxmlformats-officedocument.presentationml.notesSlide+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notesSlides/notesSlide47.xml" ContentType="application/vnd.openxmlformats-officedocument.presentationml.notesSlide+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notesSlides/notesSlide48.xml" ContentType="application/vnd.openxmlformats-officedocument.presentationml.notesSlide+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notesSlides/notesSlide49.xml" ContentType="application/vnd.openxmlformats-officedocument.presentationml.notesSlide+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1.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1"/>
  </p:notesMasterIdLst>
  <p:sldIdLst>
    <p:sldId id="256" r:id="rId2"/>
    <p:sldId id="257" r:id="rId3"/>
    <p:sldId id="258" r:id="rId4"/>
    <p:sldId id="259" r:id="rId5"/>
    <p:sldId id="451" r:id="rId6"/>
    <p:sldId id="261" r:id="rId7"/>
    <p:sldId id="262" r:id="rId8"/>
    <p:sldId id="263" r:id="rId9"/>
    <p:sldId id="264" r:id="rId10"/>
    <p:sldId id="2147483646"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147483647" r:id="rId26"/>
    <p:sldId id="281" r:id="rId27"/>
    <p:sldId id="282" r:id="rId28"/>
    <p:sldId id="283" r:id="rId29"/>
    <p:sldId id="284" r:id="rId30"/>
    <p:sldId id="285" r:id="rId31"/>
    <p:sldId id="2147483632" r:id="rId32"/>
    <p:sldId id="287" r:id="rId33"/>
    <p:sldId id="260" r:id="rId34"/>
    <p:sldId id="289" r:id="rId35"/>
    <p:sldId id="290" r:id="rId36"/>
    <p:sldId id="361" r:id="rId37"/>
    <p:sldId id="292" r:id="rId38"/>
    <p:sldId id="293" r:id="rId39"/>
    <p:sldId id="294" r:id="rId40"/>
    <p:sldId id="295" r:id="rId41"/>
    <p:sldId id="296" r:id="rId42"/>
    <p:sldId id="297" r:id="rId43"/>
    <p:sldId id="265" r:id="rId44"/>
    <p:sldId id="299" r:id="rId45"/>
    <p:sldId id="300" r:id="rId46"/>
    <p:sldId id="301" r:id="rId47"/>
    <p:sldId id="302" r:id="rId48"/>
    <p:sldId id="303" r:id="rId49"/>
    <p:sldId id="304" r:id="rId50"/>
  </p:sldIdLst>
  <p:sldSz cx="121888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5" roundtripDataSignature="AMtx7mhrAy3MDiDb9WM82IZCBXGCMD5J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17D872-F00E-4F84-AD6C-63B9452FA8F9}">
  <a:tblStyle styleId="{F117D872-F00E-4F84-AD6C-63B9452FA8F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9"/>
    <p:restoredTop sz="78776" autoAdjust="0"/>
  </p:normalViewPr>
  <p:slideViewPr>
    <p:cSldViewPr snapToGrid="0">
      <p:cViewPr varScale="1">
        <p:scale>
          <a:sx n="99" d="100"/>
          <a:sy n="99" d="100"/>
        </p:scale>
        <p:origin x="1600" y="184"/>
      </p:cViewPr>
      <p:guideLst/>
    </p:cSldViewPr>
  </p:slideViewPr>
  <p:notesTextViewPr>
    <p:cViewPr>
      <p:scale>
        <a:sx n="1" d="1"/>
        <a:sy n="1" d="1"/>
      </p:scale>
      <p:origin x="0" y="0"/>
    </p:cViewPr>
  </p:notesTextViewPr>
  <p:sorterViewPr>
    <p:cViewPr>
      <p:scale>
        <a:sx n="1" d="1"/>
        <a:sy n="1" d="1"/>
      </p:scale>
      <p:origin x="0" y="-11232"/>
    </p:cViewPr>
  </p:sorter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138" Type="http://schemas.openxmlformats.org/officeDocument/2006/relationships/theme" Target="theme/theme1.xml"/><Relationship Id="rId141"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136"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13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142"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4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13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configmax.esp.vmware.com/home"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configmax.esp.vmware.com/hom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0"/>
        <p:cNvGrpSpPr/>
        <p:nvPr/>
      </p:nvGrpSpPr>
      <p:grpSpPr>
        <a:xfrm>
          <a:off x="0" y="0"/>
          <a:ext cx="0" cy="0"/>
          <a:chOff x="0" y="0"/>
          <a:chExt cx="0" cy="0"/>
        </a:xfrm>
      </p:grpSpPr>
      <p:sp>
        <p:nvSpPr>
          <p:cNvPr id="4221" name="Google Shape;4221;p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2" name="Google Shape;4222;p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rgbClr val="3F3F3F"/>
              </a:buClr>
              <a:buSzPts val="1110"/>
              <a:buFont typeface="Arial"/>
              <a:buNone/>
            </a:pPr>
            <a:r>
              <a:rPr lang="en-US" sz="1110" b="1">
                <a:solidFill>
                  <a:srgbClr val="3F3F3F"/>
                </a:solidFill>
                <a:latin typeface="Arial"/>
                <a:ea typeface="Arial"/>
                <a:cs typeface="Arial"/>
                <a:sym typeface="Arial"/>
              </a:rPr>
              <a:t>Key Message:</a:t>
            </a:r>
            <a:endParaRPr/>
          </a:p>
          <a:p>
            <a:pPr marL="0" marR="0" lvl="0" indent="0" algn="l" rtl="0">
              <a:lnSpc>
                <a:spcPct val="80000"/>
              </a:lnSpc>
              <a:spcBef>
                <a:spcPts val="0"/>
              </a:spcBef>
              <a:spcAft>
                <a:spcPts val="0"/>
              </a:spcAft>
              <a:buClr>
                <a:schemeClr val="dk1"/>
              </a:buClr>
              <a:buSzPts val="1110"/>
              <a:buFont typeface="Arial"/>
              <a:buNone/>
            </a:pPr>
            <a:r>
              <a:rPr lang="en-US" sz="1110" u="none" strike="noStrike">
                <a:solidFill>
                  <a:schemeClr val="dk1"/>
                </a:solidFill>
                <a:latin typeface="Arial"/>
                <a:ea typeface="Arial"/>
                <a:cs typeface="Arial"/>
                <a:sym typeface="Arial"/>
              </a:rPr>
              <a:t>Understand how to best use this deck.</a:t>
            </a:r>
            <a:endParaRPr/>
          </a:p>
          <a:p>
            <a:pPr marL="0" marR="0" lvl="0" indent="0" algn="l" rtl="0">
              <a:lnSpc>
                <a:spcPct val="80000"/>
              </a:lnSpc>
              <a:spcBef>
                <a:spcPts val="0"/>
              </a:spcBef>
              <a:spcAft>
                <a:spcPts val="0"/>
              </a:spcAft>
              <a:buClr>
                <a:schemeClr val="dk1"/>
              </a:buClr>
              <a:buSzPts val="1110"/>
              <a:buFont typeface="Arial"/>
              <a:buNone/>
            </a:pPr>
            <a:endParaRPr sz="1110">
              <a:solidFill>
                <a:srgbClr val="3F3F3F"/>
              </a:solidFill>
              <a:latin typeface="Arial"/>
              <a:ea typeface="Arial"/>
              <a:cs typeface="Arial"/>
              <a:sym typeface="Arial"/>
            </a:endParaRPr>
          </a:p>
          <a:p>
            <a:pPr marL="0" marR="0" lvl="0" indent="0" algn="l" rtl="0">
              <a:lnSpc>
                <a:spcPct val="80000"/>
              </a:lnSpc>
              <a:spcBef>
                <a:spcPts val="0"/>
              </a:spcBef>
              <a:spcAft>
                <a:spcPts val="0"/>
              </a:spcAft>
              <a:buClr>
                <a:srgbClr val="3F3F3F"/>
              </a:buClr>
              <a:buSzPts val="1110"/>
              <a:buFont typeface="Arial"/>
              <a:buNone/>
            </a:pPr>
            <a:r>
              <a:rPr lang="en-US" sz="1110" b="1">
                <a:solidFill>
                  <a:srgbClr val="3F3F3F"/>
                </a:solidFill>
                <a:latin typeface="Arial"/>
                <a:ea typeface="Arial"/>
                <a:cs typeface="Arial"/>
                <a:sym typeface="Arial"/>
              </a:rPr>
              <a:t>Talk Track:</a:t>
            </a:r>
            <a:endParaRPr/>
          </a:p>
          <a:p>
            <a:pPr marL="0" marR="0" lvl="0" indent="0" algn="l" rtl="0">
              <a:lnSpc>
                <a:spcPct val="80000"/>
              </a:lnSpc>
              <a:spcBef>
                <a:spcPts val="0"/>
              </a:spcBef>
              <a:spcAft>
                <a:spcPts val="0"/>
              </a:spcAft>
              <a:buClr>
                <a:schemeClr val="dk1"/>
              </a:buClr>
              <a:buSzPts val="1110"/>
              <a:buFont typeface="Arial"/>
              <a:buNone/>
            </a:pPr>
            <a:r>
              <a:rPr lang="en-US" sz="1110" b="0" i="0" u="none" strike="noStrike" cap="none">
                <a:solidFill>
                  <a:schemeClr val="dk1"/>
                </a:solidFill>
                <a:latin typeface="Arial"/>
                <a:ea typeface="Arial"/>
                <a:cs typeface="Arial"/>
                <a:sym typeface="Arial"/>
              </a:rPr>
              <a:t>This </a:t>
            </a:r>
            <a:r>
              <a:rPr lang="en-US" sz="1110" b="1" i="0" u="none" strike="noStrike" cap="none">
                <a:solidFill>
                  <a:schemeClr val="accent2"/>
                </a:solidFill>
                <a:latin typeface="Arial"/>
                <a:ea typeface="Arial"/>
                <a:cs typeface="Arial"/>
                <a:sym typeface="Arial"/>
              </a:rPr>
              <a:t>VCF What’s New Technical </a:t>
            </a:r>
            <a:r>
              <a:rPr lang="en-US" sz="1110" b="0" i="0" u="none" strike="noStrike" cap="none">
                <a:solidFill>
                  <a:schemeClr val="dk1"/>
                </a:solidFill>
                <a:latin typeface="Arial"/>
                <a:ea typeface="Arial"/>
                <a:cs typeface="Arial"/>
                <a:sym typeface="Arial"/>
              </a:rPr>
              <a:t>presentation discusses new features and capabilities of a VMware Cloud Foundation release. </a:t>
            </a:r>
            <a:r>
              <a:rPr lang="en-US" sz="1110">
                <a:solidFill>
                  <a:schemeClr val="dk2"/>
                </a:solidFill>
                <a:latin typeface="Arial"/>
                <a:ea typeface="Arial"/>
                <a:cs typeface="Arial"/>
                <a:sym typeface="Arial"/>
              </a:rPr>
              <a:t>It can be delivered within a 120 minute timeframe which allows time for discussion and interaction. </a:t>
            </a:r>
            <a:endParaRPr/>
          </a:p>
          <a:p>
            <a:pPr marL="0" marR="0" lvl="0" indent="0" algn="l" rtl="0">
              <a:lnSpc>
                <a:spcPct val="80000"/>
              </a:lnSpc>
              <a:spcBef>
                <a:spcPts val="0"/>
              </a:spcBef>
              <a:spcAft>
                <a:spcPts val="0"/>
              </a:spcAft>
              <a:buClr>
                <a:schemeClr val="dk1"/>
              </a:buClr>
              <a:buSzPts val="1110"/>
              <a:buFont typeface="Arial"/>
              <a:buNone/>
            </a:pPr>
            <a:endParaRPr sz="1110" u="none" strike="noStrike">
              <a:solidFill>
                <a:schemeClr val="dk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110"/>
              <a:buFont typeface="Arial"/>
              <a:buNone/>
            </a:pPr>
            <a:r>
              <a:rPr lang="en-US" sz="1110" u="none" strike="noStrike">
                <a:solidFill>
                  <a:schemeClr val="dk1"/>
                </a:solidFill>
                <a:latin typeface="Arial"/>
                <a:ea typeface="Arial"/>
                <a:cs typeface="Arial"/>
                <a:sym typeface="Arial"/>
              </a:rPr>
              <a:t>This deck is broken up into several sections, each focused on a particular subject. </a:t>
            </a:r>
            <a:endParaRPr/>
          </a:p>
          <a:p>
            <a:pPr marL="0" marR="0" lvl="0" indent="0" algn="l" rtl="0">
              <a:lnSpc>
                <a:spcPct val="80000"/>
              </a:lnSpc>
              <a:spcBef>
                <a:spcPts val="0"/>
              </a:spcBef>
              <a:spcAft>
                <a:spcPts val="0"/>
              </a:spcAft>
              <a:buClr>
                <a:schemeClr val="dk1"/>
              </a:buClr>
              <a:buSzPts val="1110"/>
              <a:buFont typeface="Arial"/>
              <a:buNone/>
            </a:pPr>
            <a:r>
              <a:rPr lang="en-US" sz="1110" u="none" strike="noStrike">
                <a:solidFill>
                  <a:schemeClr val="dk1"/>
                </a:solidFill>
                <a:latin typeface="Arial"/>
                <a:ea typeface="Arial"/>
                <a:cs typeface="Arial"/>
                <a:sym typeface="Arial"/>
              </a:rPr>
              <a:t>This allows you to present the material that is specific to your audience and avoid topics that may not be relevant or of interest. </a:t>
            </a:r>
            <a:endParaRPr/>
          </a:p>
          <a:p>
            <a:pPr marL="0" marR="0" lvl="0" indent="0" algn="l" rtl="0">
              <a:lnSpc>
                <a:spcPct val="80000"/>
              </a:lnSpc>
              <a:spcBef>
                <a:spcPts val="0"/>
              </a:spcBef>
              <a:spcAft>
                <a:spcPts val="0"/>
              </a:spcAft>
              <a:buClr>
                <a:schemeClr val="dk1"/>
              </a:buClr>
              <a:buSzPts val="1110"/>
              <a:buFont typeface="Arial"/>
              <a:buNone/>
            </a:pPr>
            <a:r>
              <a:rPr lang="en-US" sz="1110" u="none" strike="noStrike">
                <a:solidFill>
                  <a:schemeClr val="dk1"/>
                </a:solidFill>
                <a:latin typeface="Arial"/>
                <a:ea typeface="Arial"/>
                <a:cs typeface="Arial"/>
                <a:sym typeface="Arial"/>
              </a:rPr>
              <a:t>Please refer to the agenda for the complete list of topics.  Each slide in this deck will contain a set of speaker notes to help guide you in presenting the material. </a:t>
            </a:r>
            <a:endParaRPr/>
          </a:p>
          <a:p>
            <a:pPr marL="0" marR="0" lvl="0" indent="0" algn="l" rtl="0">
              <a:lnSpc>
                <a:spcPct val="80000"/>
              </a:lnSpc>
              <a:spcBef>
                <a:spcPts val="0"/>
              </a:spcBef>
              <a:spcAft>
                <a:spcPts val="0"/>
              </a:spcAft>
              <a:buClr>
                <a:schemeClr val="dk1"/>
              </a:buClr>
              <a:buSzPts val="1110"/>
              <a:buFont typeface="Arial"/>
              <a:buNone/>
            </a:pPr>
            <a:r>
              <a:rPr lang="en-US" sz="1110" u="none" strike="noStrike">
                <a:solidFill>
                  <a:schemeClr val="dk1"/>
                </a:solidFill>
                <a:latin typeface="Arial"/>
                <a:ea typeface="Arial"/>
                <a:cs typeface="Arial"/>
                <a:sym typeface="Arial"/>
              </a:rPr>
              <a:t>The talk track is a guide that you can personalize to match your own presentation style.</a:t>
            </a:r>
            <a:endParaRPr/>
          </a:p>
          <a:p>
            <a:pPr marL="0" marR="0" lvl="0" indent="0" algn="l" rtl="0">
              <a:lnSpc>
                <a:spcPct val="80000"/>
              </a:lnSpc>
              <a:spcBef>
                <a:spcPts val="0"/>
              </a:spcBef>
              <a:spcAft>
                <a:spcPts val="0"/>
              </a:spcAft>
              <a:buClr>
                <a:schemeClr val="dk1"/>
              </a:buClr>
              <a:buSzPts val="1110"/>
              <a:buFont typeface="Arial"/>
              <a:buNone/>
            </a:pPr>
            <a:endParaRPr sz="1110">
              <a:solidFill>
                <a:srgbClr val="3F3F3F"/>
              </a:solidFill>
              <a:latin typeface="Arial"/>
              <a:ea typeface="Arial"/>
              <a:cs typeface="Arial"/>
              <a:sym typeface="Arial"/>
            </a:endParaRPr>
          </a:p>
          <a:p>
            <a:pPr marL="0" marR="0" lvl="0" indent="0" algn="l" rtl="0">
              <a:lnSpc>
                <a:spcPct val="80000"/>
              </a:lnSpc>
              <a:spcBef>
                <a:spcPts val="0"/>
              </a:spcBef>
              <a:spcAft>
                <a:spcPts val="0"/>
              </a:spcAft>
              <a:buClr>
                <a:srgbClr val="3F3F3F"/>
              </a:buClr>
              <a:buSzPts val="1110"/>
              <a:buFont typeface="Arial"/>
              <a:buNone/>
            </a:pPr>
            <a:r>
              <a:rPr lang="en-US" sz="1110">
                <a:solidFill>
                  <a:srgbClr val="3F3F3F"/>
                </a:solidFill>
                <a:latin typeface="Arial"/>
                <a:ea typeface="Arial"/>
                <a:cs typeface="Arial"/>
                <a:sym typeface="Arial"/>
              </a:rPr>
              <a:t>For a full VCF technical overview with a lot more technical detail please refer to the </a:t>
            </a:r>
            <a:r>
              <a:rPr lang="en-US" sz="1110" b="1">
                <a:solidFill>
                  <a:srgbClr val="3F3F3F"/>
                </a:solidFill>
                <a:latin typeface="Arial"/>
                <a:ea typeface="Arial"/>
                <a:cs typeface="Arial"/>
                <a:sym typeface="Arial"/>
              </a:rPr>
              <a:t>VCF Technical Overview </a:t>
            </a:r>
            <a:r>
              <a:rPr lang="en-US" sz="1110" b="0">
                <a:solidFill>
                  <a:srgbClr val="3F3F3F"/>
                </a:solidFill>
                <a:latin typeface="Arial"/>
                <a:ea typeface="Arial"/>
                <a:cs typeface="Arial"/>
                <a:sym typeface="Arial"/>
              </a:rPr>
              <a:t>presentation.</a:t>
            </a:r>
            <a:endParaRPr sz="1110" u="none" strike="noStrike" cap="none">
              <a:solidFill>
                <a:srgbClr val="3F3F3F"/>
              </a:solidFill>
              <a:latin typeface="Arial"/>
              <a:ea typeface="Arial"/>
              <a:cs typeface="Arial"/>
              <a:sym typeface="Arial"/>
            </a:endParaRPr>
          </a:p>
          <a:p>
            <a:pPr marL="0" marR="0" lvl="0" indent="0" algn="l" rtl="0">
              <a:lnSpc>
                <a:spcPct val="80000"/>
              </a:lnSpc>
              <a:spcBef>
                <a:spcPts val="0"/>
              </a:spcBef>
              <a:spcAft>
                <a:spcPts val="0"/>
              </a:spcAft>
              <a:buClr>
                <a:schemeClr val="dk2"/>
              </a:buClr>
              <a:buSzPts val="1110"/>
              <a:buFont typeface="Arial"/>
              <a:buNone/>
            </a:pPr>
            <a:r>
              <a:rPr lang="en-US" sz="1110">
                <a:solidFill>
                  <a:schemeClr val="dk2"/>
                </a:solidFill>
                <a:latin typeface="Arial"/>
                <a:ea typeface="Arial"/>
                <a:cs typeface="Arial"/>
                <a:sym typeface="Arial"/>
              </a:rPr>
              <a:t>This content is not a replacement for product documentation.</a:t>
            </a:r>
            <a:endParaRPr/>
          </a:p>
          <a:p>
            <a:pPr marL="0" marR="0" lvl="0" indent="0" algn="l" rtl="0">
              <a:lnSpc>
                <a:spcPct val="80000"/>
              </a:lnSpc>
              <a:spcBef>
                <a:spcPts val="0"/>
              </a:spcBef>
              <a:spcAft>
                <a:spcPts val="0"/>
              </a:spcAft>
              <a:buClr>
                <a:schemeClr val="dk2"/>
              </a:buClr>
              <a:buSzPts val="1110"/>
              <a:buFont typeface="Arial"/>
              <a:buNone/>
            </a:pPr>
            <a:r>
              <a:rPr lang="en-US" sz="1110">
                <a:solidFill>
                  <a:schemeClr val="dk2"/>
                </a:solidFill>
                <a:latin typeface="Arial"/>
                <a:ea typeface="Arial"/>
                <a:cs typeface="Arial"/>
                <a:sym typeface="Arial"/>
              </a:rPr>
              <a:t>Refer to individual product resources and documentation for product specific technical details. </a:t>
            </a:r>
            <a:endParaRPr/>
          </a:p>
          <a:p>
            <a:pPr marL="0" marR="0" lvl="0" indent="0" algn="l" rtl="0">
              <a:lnSpc>
                <a:spcPct val="80000"/>
              </a:lnSpc>
              <a:spcBef>
                <a:spcPts val="0"/>
              </a:spcBef>
              <a:spcAft>
                <a:spcPts val="0"/>
              </a:spcAft>
              <a:buClr>
                <a:schemeClr val="dk1"/>
              </a:buClr>
              <a:buSzPts val="1110"/>
              <a:buFont typeface="Arial"/>
              <a:buNone/>
            </a:pPr>
            <a:endParaRPr sz="1110" u="none" strike="noStrike">
              <a:solidFill>
                <a:schemeClr val="dk2"/>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110"/>
              <a:buFont typeface="Arial"/>
              <a:buNone/>
            </a:pPr>
            <a:r>
              <a:rPr lang="en-US" sz="1110" b="1" u="none" strike="noStrike">
                <a:solidFill>
                  <a:schemeClr val="dk1"/>
                </a:solidFill>
                <a:latin typeface="Arial"/>
                <a:ea typeface="Arial"/>
                <a:cs typeface="Arial"/>
                <a:sym typeface="Arial"/>
              </a:rPr>
              <a:t>Notes:</a:t>
            </a:r>
            <a:endParaRPr/>
          </a:p>
          <a:p>
            <a:pPr marL="0" marR="0" lvl="0" indent="0" algn="l" rtl="0">
              <a:lnSpc>
                <a:spcPct val="80000"/>
              </a:lnSpc>
              <a:spcBef>
                <a:spcPts val="0"/>
              </a:spcBef>
              <a:spcAft>
                <a:spcPts val="0"/>
              </a:spcAft>
              <a:buClr>
                <a:schemeClr val="dk1"/>
              </a:buClr>
              <a:buSzPts val="1110"/>
              <a:buFont typeface="Arial"/>
              <a:buNone/>
            </a:pPr>
            <a:r>
              <a:rPr lang="en-US" sz="1110">
                <a:latin typeface="Arial"/>
                <a:ea typeface="Arial"/>
                <a:cs typeface="Arial"/>
                <a:sym typeface="Arial"/>
              </a:rPr>
              <a:t>From time-to-time content contained within this deck is modified and updated so…</a:t>
            </a:r>
            <a:endParaRPr/>
          </a:p>
          <a:p>
            <a:pPr marL="0" marR="0" lvl="0" indent="0" algn="l" rtl="0">
              <a:lnSpc>
                <a:spcPct val="80000"/>
              </a:lnSpc>
              <a:spcBef>
                <a:spcPts val="0"/>
              </a:spcBef>
              <a:spcAft>
                <a:spcPts val="0"/>
              </a:spcAft>
              <a:buClr>
                <a:schemeClr val="dk1"/>
              </a:buClr>
              <a:buSzPts val="1110"/>
              <a:buFont typeface="Arial"/>
              <a:buNone/>
            </a:pPr>
            <a:endParaRPr sz="1110" b="1">
              <a:latin typeface="Arial"/>
              <a:ea typeface="Arial"/>
              <a:cs typeface="Arial"/>
              <a:sym typeface="Arial"/>
            </a:endParaRPr>
          </a:p>
          <a:p>
            <a:pPr marL="0" marR="0" lvl="0" indent="0" algn="l" rtl="0">
              <a:lnSpc>
                <a:spcPct val="80000"/>
              </a:lnSpc>
              <a:spcBef>
                <a:spcPts val="0"/>
              </a:spcBef>
              <a:spcAft>
                <a:spcPts val="0"/>
              </a:spcAft>
              <a:buClr>
                <a:schemeClr val="dk1"/>
              </a:buClr>
              <a:buSzPts val="1110"/>
              <a:buFont typeface="Arial"/>
              <a:buNone/>
            </a:pPr>
            <a:r>
              <a:rPr lang="en-US" sz="1110" b="1">
                <a:latin typeface="Arial"/>
                <a:ea typeface="Arial"/>
                <a:cs typeface="Arial"/>
                <a:sym typeface="Arial"/>
              </a:rPr>
              <a:t>PLEASE ENSURE YOU DOWNLOAD THE LATEST COPY FROM THE SRC PRIOR TO PRESENTING THIS CONTENT.</a:t>
            </a:r>
            <a:endParaRPr/>
          </a:p>
          <a:p>
            <a:pPr marL="0" marR="0" lvl="0" indent="0" algn="l" rtl="0">
              <a:lnSpc>
                <a:spcPct val="80000"/>
              </a:lnSpc>
              <a:spcBef>
                <a:spcPts val="0"/>
              </a:spcBef>
              <a:spcAft>
                <a:spcPts val="0"/>
              </a:spcAft>
              <a:buClr>
                <a:schemeClr val="dk1"/>
              </a:buClr>
              <a:buSzPts val="1110"/>
              <a:buFont typeface="Arial"/>
              <a:buNone/>
            </a:pPr>
            <a:endParaRPr sz="1110" b="1">
              <a:latin typeface="Arial"/>
              <a:ea typeface="Arial"/>
              <a:cs typeface="Arial"/>
              <a:sym typeface="Arial"/>
            </a:endParaRPr>
          </a:p>
          <a:p>
            <a:pPr marL="0" marR="0" lvl="0" indent="0" algn="l" rtl="0">
              <a:lnSpc>
                <a:spcPct val="80000"/>
              </a:lnSpc>
              <a:spcBef>
                <a:spcPts val="0"/>
              </a:spcBef>
              <a:spcAft>
                <a:spcPts val="0"/>
              </a:spcAft>
              <a:buClr>
                <a:schemeClr val="dk1"/>
              </a:buClr>
              <a:buSzPts val="1110"/>
              <a:buFont typeface="Arial"/>
              <a:buNone/>
            </a:pPr>
            <a:r>
              <a:rPr lang="en-US" sz="1110" u="none" strike="noStrike">
                <a:solidFill>
                  <a:schemeClr val="dk1"/>
                </a:solidFill>
                <a:latin typeface="Arial"/>
                <a:ea typeface="Arial"/>
                <a:cs typeface="Arial"/>
                <a:sym typeface="Arial"/>
              </a:rPr>
              <a:t>For vendor integrated solutions of VMware Cloud Foundation some of this content may not apply.</a:t>
            </a:r>
            <a:r>
              <a:rPr lang="en-US" sz="1110">
                <a:latin typeface="Arial"/>
                <a:ea typeface="Arial"/>
                <a:cs typeface="Arial"/>
                <a:sym typeface="Arial"/>
              </a:rPr>
              <a:t> </a:t>
            </a:r>
            <a:r>
              <a:rPr lang="en-US" sz="1110" u="none" strike="noStrike">
                <a:solidFill>
                  <a:schemeClr val="dk1"/>
                </a:solidFill>
                <a:latin typeface="Arial"/>
                <a:ea typeface="Arial"/>
                <a:cs typeface="Arial"/>
                <a:sym typeface="Arial"/>
              </a:rPr>
              <a:t> Please refer to your vendor.</a:t>
            </a:r>
            <a:r>
              <a:rPr lang="en-US" sz="1110">
                <a:latin typeface="Arial"/>
                <a:ea typeface="Arial"/>
                <a:cs typeface="Arial"/>
                <a:sym typeface="Arial"/>
              </a:rPr>
              <a:t> </a:t>
            </a:r>
            <a:endParaRPr sz="1110" u="none" strike="noStrike">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110"/>
              <a:buFont typeface="Arial"/>
              <a:buNone/>
            </a:pPr>
            <a:endParaRPr sz="1110" u="none" strike="noStrike">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110"/>
              <a:buFont typeface="Arial"/>
              <a:buNone/>
            </a:pPr>
            <a:r>
              <a:rPr lang="en-US" sz="1110" b="1" u="none" strike="noStrike">
                <a:solidFill>
                  <a:schemeClr val="dk1"/>
                </a:solidFill>
                <a:latin typeface="Arial"/>
                <a:ea typeface="Arial"/>
                <a:cs typeface="Arial"/>
                <a:sym typeface="Arial"/>
              </a:rPr>
              <a:t>Resources:</a:t>
            </a:r>
            <a:endParaRPr/>
          </a:p>
          <a:p>
            <a:pPr marL="0" marR="0" lvl="0" indent="0" algn="l" rtl="0">
              <a:lnSpc>
                <a:spcPct val="80000"/>
              </a:lnSpc>
              <a:spcBef>
                <a:spcPts val="0"/>
              </a:spcBef>
              <a:spcAft>
                <a:spcPts val="0"/>
              </a:spcAft>
              <a:buClr>
                <a:schemeClr val="dk1"/>
              </a:buClr>
              <a:buSzPts val="1110"/>
              <a:buFont typeface="Arial"/>
              <a:buNone/>
            </a:pPr>
            <a:r>
              <a:rPr lang="en-US" sz="1110">
                <a:latin typeface="Arial"/>
                <a:ea typeface="Arial"/>
                <a:cs typeface="Arial"/>
                <a:sym typeface="Arial"/>
              </a:rPr>
              <a:t>For further technical information please refer to the Cloud Foundation Documentation</a:t>
            </a:r>
            <a:endParaRPr/>
          </a:p>
          <a:p>
            <a:pPr marL="0" marR="0" lvl="0" indent="0" algn="l" rtl="0">
              <a:lnSpc>
                <a:spcPct val="80000"/>
              </a:lnSpc>
              <a:spcBef>
                <a:spcPts val="0"/>
              </a:spcBef>
              <a:spcAft>
                <a:spcPts val="0"/>
              </a:spcAft>
              <a:buClr>
                <a:srgbClr val="0563C1"/>
              </a:buClr>
              <a:buSzPts val="1665"/>
              <a:buFont typeface="Arial"/>
              <a:buNone/>
            </a:pPr>
            <a:r>
              <a:rPr lang="en-US" sz="1665" u="sng">
                <a:solidFill>
                  <a:srgbClr val="0563C1"/>
                </a:solidFill>
                <a:latin typeface="Arial"/>
                <a:ea typeface="Arial"/>
                <a:cs typeface="Arial"/>
                <a:sym typeface="Arial"/>
                <a:hlinkClick r:id="rId3">
                  <a:extLst>
                    <a:ext uri="{A12FA001-AC4F-418D-AE19-62706E023703}">
                      <ahyp:hlinkClr xmlns:ahyp="http://schemas.microsoft.com/office/drawing/2018/hyperlinkcolor" val="tx"/>
                    </a:ext>
                  </a:extLst>
                </a:hlinkClick>
              </a:rPr>
              <a:t>https://docs.vmware.com/en/VMware-Cloud-Foundation/index.html</a:t>
            </a:r>
            <a:r>
              <a:rPr lang="en-US" sz="1665">
                <a:latin typeface="Arial"/>
                <a:ea typeface="Arial"/>
                <a:cs typeface="Arial"/>
                <a:sym typeface="Arial"/>
              </a:rPr>
              <a:t> </a:t>
            </a:r>
            <a:endParaRPr sz="1110" u="none" strike="noStrike">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110"/>
              <a:buFont typeface="Arial"/>
              <a:buNone/>
            </a:pPr>
            <a:endParaRPr sz="1110" strike="noStrike"/>
          </a:p>
        </p:txBody>
      </p:sp>
      <p:sp>
        <p:nvSpPr>
          <p:cNvPr id="4223" name="Google Shape;4223;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u="none" strike="noStrike" cap="none">
                <a:solidFill>
                  <a:srgbClr val="717074"/>
                </a:solidFill>
              </a:rPr>
              <a:t>1</a:t>
            </a:fld>
            <a:endParaRPr sz="1200" u="none" strike="noStrike" cap="none">
              <a:solidFill>
                <a:srgbClr val="717074"/>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9"/>
        <p:cNvGrpSpPr/>
        <p:nvPr/>
      </p:nvGrpSpPr>
      <p:grpSpPr>
        <a:xfrm>
          <a:off x="0" y="0"/>
          <a:ext cx="0" cy="0"/>
          <a:chOff x="0" y="0"/>
          <a:chExt cx="0" cy="0"/>
        </a:xfrm>
      </p:grpSpPr>
      <p:sp>
        <p:nvSpPr>
          <p:cNvPr id="4230" name="Google Shape;4230;p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1" name="Google Shape;4231;p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Key Message:</a:t>
            </a:r>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Opening slide</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Talk Track: </a:t>
            </a:r>
            <a:endParaRPr/>
          </a:p>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rPr>
              <a:t>Welcome!</a:t>
            </a:r>
            <a:r>
              <a:rPr lang="en-US"/>
              <a:t>  </a:t>
            </a:r>
            <a:r>
              <a:rPr lang="en-US" sz="1200">
                <a:solidFill>
                  <a:schemeClr val="dk1"/>
                </a:solidFill>
              </a:rPr>
              <a:t>My name is &lt;name&gt; and I work in the &lt;name or organization&gt; at Broadcom. Today, I want to talk to you about the new features and functionality that have been added into VMware Cloud Foundation 9.</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Notes:</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Resources:</a:t>
            </a:r>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To gain a greater understanding of VCF features, key concepts and how they are used please refer to the VCF Technical Overview presentation.</a:t>
            </a:r>
            <a:endParaRPr/>
          </a:p>
          <a:p>
            <a:pPr marL="0" lvl="0" indent="0" algn="l" rtl="0">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VMware Cloud Foundation 9.0 Release Notes: </a:t>
            </a:r>
            <a:endParaRPr/>
          </a:p>
          <a:p>
            <a:pPr marL="0" marR="0" lvl="0" indent="0" algn="l" rtl="0">
              <a:lnSpc>
                <a:spcPct val="100000"/>
              </a:lnSpc>
              <a:spcBef>
                <a:spcPts val="0"/>
              </a:spcBef>
              <a:spcAft>
                <a:spcPts val="0"/>
              </a:spcAft>
              <a:buClr>
                <a:srgbClr val="0563C1"/>
              </a:buClr>
              <a:buSzPts val="1800"/>
              <a:buFont typeface="Arial"/>
              <a:buNone/>
            </a:pPr>
            <a:r>
              <a:rPr lang="en-US" sz="1800" u="sng">
                <a:solidFill>
                  <a:srgbClr val="0563C1"/>
                </a:solidFill>
                <a:hlinkClick r:id="rId3">
                  <a:extLst>
                    <a:ext uri="{A12FA001-AC4F-418D-AE19-62706E023703}">
                      <ahyp:hlinkClr xmlns:ahyp="http://schemas.microsoft.com/office/drawing/2018/hyperlinkcolor" val="tx"/>
                    </a:ext>
                  </a:extLst>
                </a:hlinkClick>
              </a:rPr>
              <a:t>https://docs.vmware.com/en/VMware-Cloud-Foundation/index.html</a:t>
            </a:r>
            <a:r>
              <a:rPr lang="en-US" sz="1800"/>
              <a:t> </a:t>
            </a:r>
            <a:endParaRPr strike="noStrike"/>
          </a:p>
          <a:p>
            <a:pPr marL="0" lvl="0" indent="0" algn="l" rtl="0">
              <a:spcBef>
                <a:spcPts val="0"/>
              </a:spcBef>
              <a:spcAft>
                <a:spcPts val="0"/>
              </a:spcAft>
              <a:buClr>
                <a:schemeClr val="dk1"/>
              </a:buClr>
              <a:buSzPts val="1200"/>
              <a:buFont typeface="Arial"/>
              <a:buNone/>
            </a:pPr>
            <a:endParaRPr/>
          </a:p>
        </p:txBody>
      </p:sp>
      <p:sp>
        <p:nvSpPr>
          <p:cNvPr id="4232" name="Google Shape;423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2"/>
        <p:cNvGrpSpPr/>
        <p:nvPr/>
      </p:nvGrpSpPr>
      <p:grpSpPr>
        <a:xfrm>
          <a:off x="0" y="0"/>
          <a:ext cx="0" cy="0"/>
          <a:chOff x="0" y="0"/>
          <a:chExt cx="0" cy="0"/>
        </a:xfrm>
      </p:grpSpPr>
      <p:sp>
        <p:nvSpPr>
          <p:cNvPr id="4243" name="Google Shape;4243;p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4" name="Google Shape;4244;p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Key Message:</a:t>
            </a:r>
            <a:endParaRPr sz="1200"/>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Agenda slide</a:t>
            </a:r>
            <a:endParaRPr sz="1200"/>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Talk Track: </a:t>
            </a:r>
            <a:endParaRPr sz="1200"/>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Here is our agenda.</a:t>
            </a:r>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Notes:</a:t>
            </a:r>
            <a:endParaRPr sz="1200"/>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Resources:</a:t>
            </a:r>
            <a:endParaRPr sz="1200"/>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To gain a greater understanding of VCF features, key concepts and how they are used please refer to the VCF Technical Overview presentation.</a:t>
            </a:r>
            <a:endParaRPr sz="1200"/>
          </a:p>
          <a:p>
            <a:pPr marL="0" lvl="0" indent="0" algn="l" rtl="0">
              <a:spcBef>
                <a:spcPts val="0"/>
              </a:spcBef>
              <a:spcAft>
                <a:spcPts val="0"/>
              </a:spcAft>
              <a:buClr>
                <a:schemeClr val="dk1"/>
              </a:buClr>
              <a:buSzPts val="1200"/>
              <a:buFont typeface="Arial"/>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u="none" strike="noStrike">
                <a:solidFill>
                  <a:schemeClr val="dk1"/>
                </a:solidFill>
              </a:rPr>
              <a:t>VMware Cloud Foundation 9.0 Release Notes: </a:t>
            </a:r>
            <a:endParaRPr sz="1200"/>
          </a:p>
          <a:p>
            <a:pPr marL="0" marR="0" lvl="0" indent="0" algn="l" rtl="0">
              <a:lnSpc>
                <a:spcPct val="100000"/>
              </a:lnSpc>
              <a:spcBef>
                <a:spcPts val="0"/>
              </a:spcBef>
              <a:spcAft>
                <a:spcPts val="0"/>
              </a:spcAft>
              <a:buClr>
                <a:srgbClr val="0563C1"/>
              </a:buClr>
              <a:buSzPts val="1800"/>
              <a:buFont typeface="Arial"/>
              <a:buNone/>
            </a:pPr>
            <a:r>
              <a:rPr lang="en-US" sz="1800" u="sng">
                <a:solidFill>
                  <a:srgbClr val="0563C1"/>
                </a:solidFill>
                <a:hlinkClick r:id="rId3">
                  <a:extLst>
                    <a:ext uri="{A12FA001-AC4F-418D-AE19-62706E023703}">
                      <ahyp:hlinkClr xmlns:ahyp="http://schemas.microsoft.com/office/drawing/2018/hyperlinkcolor" val="tx"/>
                    </a:ext>
                  </a:extLst>
                </a:hlinkClick>
              </a:rPr>
              <a:t>https://docs.vmware.com/en/VMware-Cloud-Foundation/index.html</a:t>
            </a:r>
            <a:r>
              <a:rPr lang="en-US" sz="1800"/>
              <a:t> </a:t>
            </a:r>
            <a:endParaRPr sz="1200" strike="noStrike"/>
          </a:p>
          <a:p>
            <a:pPr marL="0" marR="0" lvl="0" indent="0" algn="l" rtl="0">
              <a:lnSpc>
                <a:spcPct val="80000"/>
              </a:lnSpc>
              <a:spcBef>
                <a:spcPts val="0"/>
              </a:spcBef>
              <a:spcAft>
                <a:spcPts val="0"/>
              </a:spcAft>
              <a:buClr>
                <a:schemeClr val="dk1"/>
              </a:buClr>
              <a:buSzPts val="390"/>
              <a:buFont typeface="Arial"/>
              <a:buNone/>
            </a:pPr>
            <a:endParaRPr sz="800" b="1">
              <a:solidFill>
                <a:srgbClr val="000000"/>
              </a:solidFill>
              <a:latin typeface="Helvetica Neue"/>
              <a:ea typeface="Helvetica Neue"/>
              <a:cs typeface="Helvetica Neue"/>
              <a:sym typeface="Helvetica Neue"/>
            </a:endParaRPr>
          </a:p>
          <a:p>
            <a:pPr marL="0" lvl="0" indent="0" algn="l" rtl="0">
              <a:spcBef>
                <a:spcPts val="0"/>
              </a:spcBef>
              <a:spcAft>
                <a:spcPts val="0"/>
              </a:spcAft>
              <a:buNone/>
            </a:pPr>
            <a:endParaRPr/>
          </a:p>
        </p:txBody>
      </p:sp>
      <p:sp>
        <p:nvSpPr>
          <p:cNvPr id="4245" name="Google Shape;4245;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5"/>
        <p:cNvGrpSpPr/>
        <p:nvPr/>
      </p:nvGrpSpPr>
      <p:grpSpPr>
        <a:xfrm>
          <a:off x="0" y="0"/>
          <a:ext cx="0" cy="0"/>
          <a:chOff x="0" y="0"/>
          <a:chExt cx="0" cy="0"/>
        </a:xfrm>
      </p:grpSpPr>
      <p:sp>
        <p:nvSpPr>
          <p:cNvPr id="4286" name="Google Shape;4286;p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87" name="Google Shape;4287;p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b="1">
                <a:latin typeface="Arial"/>
                <a:ea typeface="Arial"/>
                <a:cs typeface="Arial"/>
                <a:sym typeface="Arial"/>
              </a:rPr>
              <a:t>Presenter Note:  This slide contains animation</a:t>
            </a:r>
            <a:endParaRPr/>
          </a:p>
          <a:p>
            <a:pPr marL="0" marR="0" lvl="0" indent="0" algn="l" rtl="0">
              <a:lnSpc>
                <a:spcPct val="100000"/>
              </a:lnSpc>
              <a:spcBef>
                <a:spcPts val="0"/>
              </a:spcBef>
              <a:spcAft>
                <a:spcPts val="0"/>
              </a:spcAft>
              <a:buClr>
                <a:schemeClr val="dk1"/>
              </a:buClr>
              <a:buSzPts val="1200"/>
              <a:buFont typeface="Arial"/>
              <a:buNone/>
            </a:pPr>
            <a:endParaRPr b="1">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b="1">
                <a:latin typeface="Arial"/>
                <a:ea typeface="Arial"/>
                <a:cs typeface="Arial"/>
                <a:sym typeface="Arial"/>
              </a:rPr>
              <a:t>Key Message:</a:t>
            </a:r>
            <a:endParaRPr/>
          </a:p>
          <a:p>
            <a:pPr marL="0" marR="0" lvl="0" indent="0" algn="l" rtl="0">
              <a:lnSpc>
                <a:spcPct val="100000"/>
              </a:lnSpc>
              <a:spcBef>
                <a:spcPts val="0"/>
              </a:spcBef>
              <a:spcAft>
                <a:spcPts val="0"/>
              </a:spcAft>
              <a:buClr>
                <a:schemeClr val="dk1"/>
              </a:buClr>
              <a:buSzPts val="1200"/>
              <a:buFont typeface="Arial"/>
              <a:buNone/>
            </a:pPr>
            <a:r>
              <a:rPr lang="en-US">
                <a:latin typeface="Arial"/>
                <a:ea typeface="Arial"/>
                <a:cs typeface="Arial"/>
                <a:sym typeface="Arial"/>
              </a:rPr>
              <a:t>VMware Cloud Foundation Drives Modernization,  Enhances Developer Productivity and delivers a highly Secure cloud platform.</a:t>
            </a:r>
            <a:endParaRPr/>
          </a:p>
          <a:p>
            <a:pPr marL="0" marR="0" lvl="0" indent="0" algn="l" rtl="0">
              <a:lnSpc>
                <a:spcPct val="100000"/>
              </a:lnSpc>
              <a:spcBef>
                <a:spcPts val="0"/>
              </a:spcBef>
              <a:spcAft>
                <a:spcPts val="0"/>
              </a:spcAft>
              <a:buClr>
                <a:schemeClr val="dk1"/>
              </a:buClr>
              <a:buSzPts val="1200"/>
              <a:buFont typeface="Arial"/>
              <a:buNone/>
            </a:pPr>
            <a:endParaRPr>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b="1">
                <a:latin typeface="Arial"/>
                <a:ea typeface="Arial"/>
                <a:cs typeface="Arial"/>
                <a:sym typeface="Arial"/>
              </a:rPr>
              <a:t>Talk Track:</a:t>
            </a:r>
            <a:endParaRPr/>
          </a:p>
          <a:p>
            <a:pPr marL="0" marR="0" lvl="0" indent="0" algn="l" rtl="0">
              <a:lnSpc>
                <a:spcPct val="100000"/>
              </a:lnSpc>
              <a:spcBef>
                <a:spcPts val="0"/>
              </a:spcBef>
              <a:spcAft>
                <a:spcPts val="0"/>
              </a:spcAft>
              <a:buClr>
                <a:schemeClr val="dk1"/>
              </a:buClr>
              <a:buSzPts val="1200"/>
              <a:buFont typeface="Arial"/>
              <a:buNone/>
            </a:pPr>
            <a:r>
              <a:rPr lang="en-US">
                <a:latin typeface="Arial"/>
                <a:ea typeface="Arial"/>
                <a:cs typeface="Arial"/>
                <a:sym typeface="Arial"/>
              </a:rPr>
              <a:t>VMware Cloud Foundation Drives Modernization,  Enhances Developer Productivity and delivers a highly Secure cloud platform.  </a:t>
            </a:r>
            <a:endParaRPr/>
          </a:p>
          <a:p>
            <a:pPr marL="0" lvl="0" indent="0" algn="l" rtl="0">
              <a:spcBef>
                <a:spcPts val="0"/>
              </a:spcBef>
              <a:spcAft>
                <a:spcPts val="0"/>
              </a:spcAft>
              <a:buNone/>
            </a:pPr>
            <a:endParaRPr>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a:latin typeface="Arial"/>
                <a:ea typeface="Arial"/>
                <a:cs typeface="Arial"/>
                <a:sym typeface="Arial"/>
              </a:rPr>
              <a:t>As we dive into VCF, we will see how </a:t>
            </a:r>
            <a:r>
              <a:rPr lang="en-US" sz="1200" u="none" strike="noStrike" cap="none">
                <a:solidFill>
                  <a:srgbClr val="3C3C3C"/>
                </a:solidFill>
                <a:latin typeface="Arial"/>
                <a:ea typeface="Arial"/>
                <a:cs typeface="Arial"/>
                <a:sym typeface="Arial"/>
              </a:rPr>
              <a:t>VCF 9 streamlines infrastructure management and reduces complexity through deployment, streamlines day 2 operations and streamlines the implementation of self-service IaaS within your data center.</a:t>
            </a:r>
            <a:br>
              <a:rPr lang="en-US" sz="1200" u="none" strike="noStrike" cap="none">
                <a:solidFill>
                  <a:srgbClr val="3C3C3C"/>
                </a:solidFill>
                <a:latin typeface="Arial"/>
                <a:ea typeface="Arial"/>
                <a:cs typeface="Arial"/>
                <a:sym typeface="Arial"/>
              </a:rPr>
            </a:br>
            <a:r>
              <a:rPr lang="en-US" sz="1200" u="none" strike="noStrike" cap="none">
                <a:solidFill>
                  <a:srgbClr val="3C3C3C"/>
                </a:solidFill>
                <a:latin typeface="Arial"/>
                <a:ea typeface="Arial"/>
                <a:cs typeface="Arial"/>
                <a:sym typeface="Arial"/>
              </a:rPr>
              <a:t>We will also explore how VCF 9 accelerates development cycles through infrastructure that is easy to consume and update for Kubernetes and Private AI. How as a platform it delivers a security and resiliency which you can continuously count on.  And how it delivers faster time to value, by bringing together key stakeholders using a modern private cloud.</a:t>
            </a:r>
            <a:br>
              <a:rPr lang="en-US" sz="1200" u="none" strike="noStrike" cap="none">
                <a:solidFill>
                  <a:srgbClr val="3C3C3C"/>
                </a:solidFill>
                <a:latin typeface="Arial"/>
                <a:ea typeface="Arial"/>
                <a:cs typeface="Arial"/>
                <a:sym typeface="Arial"/>
              </a:rPr>
            </a:br>
            <a:endParaRPr sz="1200" u="none" strike="noStrike" cap="none">
              <a:solidFill>
                <a:srgbClr val="3C3C3C"/>
              </a:solidFill>
              <a:latin typeface="Arial"/>
              <a:ea typeface="Arial"/>
              <a:cs typeface="Arial"/>
              <a:sym typeface="Arial"/>
            </a:endParaRPr>
          </a:p>
          <a:p>
            <a:pPr marL="0" marR="0" lvl="0" indent="0" algn="l" rtl="0">
              <a:lnSpc>
                <a:spcPct val="100000"/>
              </a:lnSpc>
              <a:spcBef>
                <a:spcPts val="0"/>
              </a:spcBef>
              <a:spcAft>
                <a:spcPts val="0"/>
              </a:spcAft>
              <a:buClr>
                <a:srgbClr val="3C3C3C"/>
              </a:buClr>
              <a:buSzPts val="1200"/>
              <a:buFont typeface="Arial"/>
              <a:buNone/>
            </a:pPr>
            <a:r>
              <a:rPr lang="en-US" sz="1200" u="none" strike="noStrike" cap="none">
                <a:solidFill>
                  <a:srgbClr val="3C3C3C"/>
                </a:solidFill>
                <a:latin typeface="Arial"/>
                <a:ea typeface="Arial"/>
                <a:cs typeface="Arial"/>
                <a:sym typeface="Arial"/>
              </a:rPr>
              <a:t>&lt;click&gt;</a:t>
            </a:r>
            <a:br>
              <a:rPr lang="en-US" sz="1200" u="none" strike="noStrike" cap="none">
                <a:solidFill>
                  <a:srgbClr val="3C3C3C"/>
                </a:solidFill>
                <a:latin typeface="Arial"/>
                <a:ea typeface="Arial"/>
                <a:cs typeface="Arial"/>
                <a:sym typeface="Arial"/>
              </a:rPr>
            </a:br>
            <a:r>
              <a:rPr lang="en-US" sz="1200" u="none" strike="noStrike" cap="none">
                <a:solidFill>
                  <a:srgbClr val="3C3C3C"/>
                </a:solidFill>
                <a:latin typeface="Arial"/>
                <a:ea typeface="Arial"/>
                <a:cs typeface="Arial"/>
                <a:sym typeface="Arial"/>
              </a:rPr>
              <a:t>Let’s start first with Modernize infrastructure.</a:t>
            </a:r>
            <a:endParaRPr sz="1200" u="none" strike="noStrike" cap="none">
              <a:solidFill>
                <a:srgbClr val="00000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endParaRPr sz="1200" u="none" strike="noStrike" cap="none">
              <a:solidFill>
                <a:srgbClr val="00000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b="1">
                <a:latin typeface="Arial"/>
                <a:ea typeface="Arial"/>
                <a:cs typeface="Arial"/>
                <a:sym typeface="Arial"/>
              </a:rPr>
              <a:t>Notes:</a:t>
            </a:r>
            <a:endParaRPr/>
          </a:p>
          <a:p>
            <a:pPr marL="0" marR="0" lvl="0" indent="0" algn="l" rtl="0">
              <a:lnSpc>
                <a:spcPct val="100000"/>
              </a:lnSpc>
              <a:spcBef>
                <a:spcPts val="0"/>
              </a:spcBef>
              <a:spcAft>
                <a:spcPts val="0"/>
              </a:spcAft>
              <a:buClr>
                <a:schemeClr val="dk1"/>
              </a:buClr>
              <a:buSzPts val="1200"/>
              <a:buFont typeface="Arial"/>
              <a:buNone/>
            </a:pPr>
            <a:endParaRPr b="1">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b="1">
                <a:latin typeface="Arial"/>
                <a:ea typeface="Arial"/>
                <a:cs typeface="Arial"/>
                <a:sym typeface="Arial"/>
              </a:rPr>
              <a:t>Resources:</a:t>
            </a:r>
            <a:endParaRPr/>
          </a:p>
          <a:p>
            <a:pPr marL="177800" lvl="0" indent="-101600" algn="l" rtl="0">
              <a:lnSpc>
                <a:spcPct val="100000"/>
              </a:lnSpc>
              <a:spcBef>
                <a:spcPts val="0"/>
              </a:spcBef>
              <a:spcAft>
                <a:spcPts val="0"/>
              </a:spcAft>
              <a:buClr>
                <a:schemeClr val="dk1"/>
              </a:buClr>
              <a:buSzPts val="1200"/>
              <a:buFont typeface="Arial"/>
              <a:buNone/>
            </a:pPr>
            <a:endParaRPr sz="1200" u="none" strike="noStrike">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Arial"/>
              <a:buNone/>
            </a:pPr>
            <a:endParaRPr>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Arial"/>
              <a:buNone/>
            </a:pPr>
            <a:endParaRPr>
              <a:latin typeface="Arial"/>
              <a:ea typeface="Arial"/>
              <a:cs typeface="Arial"/>
              <a:sym typeface="Arial"/>
            </a:endParaRPr>
          </a:p>
          <a:p>
            <a:pPr marL="0" lvl="0" indent="0" algn="l" rtl="0">
              <a:spcBef>
                <a:spcPts val="0"/>
              </a:spcBef>
              <a:spcAft>
                <a:spcPts val="0"/>
              </a:spcAft>
              <a:buClr>
                <a:schemeClr val="dk1"/>
              </a:buClr>
              <a:buSzPts val="1200"/>
              <a:buFont typeface="Arial"/>
              <a:buNone/>
            </a:pPr>
            <a:endParaRPr/>
          </a:p>
        </p:txBody>
      </p:sp>
      <p:sp>
        <p:nvSpPr>
          <p:cNvPr id="4288" name="Google Shape;428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AEA81-2303-F89D-59D3-533923C48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1D2F4B-3F9D-27FE-B080-9EF7E509C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EB2CC-B778-D8BC-B8AC-ACC51C42BD8C}"/>
              </a:ext>
            </a:extLst>
          </p:cNvPr>
          <p:cNvSpPr>
            <a:spLocks noGrp="1"/>
          </p:cNvSpPr>
          <p:nvPr>
            <p:ph type="body" idx="1"/>
          </p:nvPr>
        </p:nvSpPr>
        <p:spPr/>
        <p:txBody>
          <a:bodyPr>
            <a:normAutofit fontScale="32500" lnSpcReduction="20000"/>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sz="4400" b="1" dirty="0">
                <a:latin typeface="Metropolis" pitchFamily="2" charset="77"/>
              </a:rPr>
              <a:t>Presenter Note:  This slide contains animation</a:t>
            </a:r>
          </a:p>
          <a:p>
            <a:pPr marL="0" lvl="0" indent="0" algn="l" rtl="0">
              <a:lnSpc>
                <a:spcPct val="80000"/>
              </a:lnSpc>
              <a:spcBef>
                <a:spcPts val="0"/>
              </a:spcBef>
              <a:spcAft>
                <a:spcPts val="0"/>
              </a:spcAft>
              <a:buNone/>
            </a:pPr>
            <a:endParaRPr lang="en-US" sz="2400" b="1" u="none" strike="noStrike" dirty="0">
              <a:solidFill>
                <a:schemeClr val="dk1"/>
              </a:solidFill>
              <a:latin typeface="Metropolis" pitchFamily="2" charset="77"/>
              <a:sym typeface="Arial"/>
            </a:endParaRPr>
          </a:p>
          <a:p>
            <a:pPr marL="0" lvl="0" indent="0" algn="l" rtl="0">
              <a:lnSpc>
                <a:spcPct val="80000"/>
              </a:lnSpc>
              <a:spcBef>
                <a:spcPts val="0"/>
              </a:spcBef>
              <a:spcAft>
                <a:spcPts val="0"/>
              </a:spcAft>
              <a:buNone/>
            </a:pPr>
            <a:r>
              <a:rPr lang="en-US" sz="2400" b="1" u="none" strike="noStrike" dirty="0">
                <a:solidFill>
                  <a:schemeClr val="dk1"/>
                </a:solidFill>
                <a:latin typeface="Metropolis" pitchFamily="2" charset="77"/>
                <a:sym typeface="Arial"/>
              </a:rPr>
              <a:t>Key Message:</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0" u="none" strike="noStrike" dirty="0">
                <a:solidFill>
                  <a:schemeClr val="dk1"/>
                </a:solidFill>
                <a:latin typeface="Metropolis" pitchFamily="2" charset="77"/>
                <a:sym typeface="Arial"/>
              </a:rPr>
              <a:t>VCF 9 can be implemented into a new or existing environment in a number of different ways using user-driven UI workflows.</a:t>
            </a:r>
            <a:br>
              <a:rPr lang="en-US" sz="2400" b="0" u="none" strike="noStrike" dirty="0">
                <a:solidFill>
                  <a:schemeClr val="dk1"/>
                </a:solidFill>
                <a:latin typeface="Metropolis" pitchFamily="2" charset="77"/>
                <a:sym typeface="Arial"/>
              </a:rPr>
            </a:br>
            <a:r>
              <a:rPr lang="en-AU" sz="2400" b="0" dirty="0">
                <a:effectLst/>
                <a:latin typeface="Helvetica Neue" panose="02000503000000020004" pitchFamily="2" charset="0"/>
              </a:rPr>
              <a:t>The VCF Installer appliance provides an easier, quicker and more repeatable set of workflows for our customers to get on the pathway to VCF</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1" dirty="0">
              <a:latin typeface="Metropolis" pitchFamily="2" charset="77"/>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1" dirty="0">
                <a:latin typeface="Metropolis" pitchFamily="2" charset="77"/>
              </a:rPr>
              <a:t>Talk Track:</a:t>
            </a:r>
            <a:br>
              <a:rPr lang="en-US" sz="2400" b="1" dirty="0">
                <a:latin typeface="Metropolis" pitchFamily="2" charset="77"/>
              </a:rPr>
            </a:br>
            <a:r>
              <a:rPr lang="en-AU" sz="1800" b="0" kern="100" dirty="0">
                <a:effectLst/>
                <a:latin typeface="Aptos" panose="020B0004020202020204" pitchFamily="34" charset="0"/>
                <a:ea typeface="Aptos" panose="020B0004020202020204" pitchFamily="34" charset="0"/>
                <a:cs typeface="Times New Roman" panose="02020603050405020304" pitchFamily="18" charset="0"/>
              </a:rPr>
              <a:t>VMware Cloud Foundation 9 is a major release which includes a number of significant new capabilities and a more integrated experience for private cloud administrators.</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0" u="none" strike="noStrike" dirty="0">
              <a:solidFill>
                <a:schemeClr val="dk1"/>
              </a:solidFill>
              <a:latin typeface="Metropolis" pitchFamily="2" charset="77"/>
              <a:sym typeface="Arial"/>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0" u="none" strike="noStrike" dirty="0">
                <a:solidFill>
                  <a:schemeClr val="dk1"/>
                </a:solidFill>
                <a:latin typeface="Metropolis" pitchFamily="2" charset="77"/>
                <a:sym typeface="Arial"/>
              </a:rPr>
              <a:t>The VMware Cloud Foundation Installer appliance (VCF Installer) is new to VCF 9 and introduces a more flexible set of workflows for deploying VMware Cloud Foundation to</a:t>
            </a:r>
            <a:r>
              <a:rPr lang="en-US" sz="2400" b="0" dirty="0">
                <a:latin typeface="Metropolis" pitchFamily="2" charset="77"/>
              </a:rPr>
              <a:t> suit an extended set of use cases and topology types. </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0" dirty="0">
              <a:latin typeface="Metropolis" pitchFamily="2" charset="77"/>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0" dirty="0">
                <a:latin typeface="Metropolis" pitchFamily="2" charset="77"/>
              </a:rPr>
              <a:t>&lt;click 1&gt;</a:t>
            </a:r>
          </a:p>
          <a:p>
            <a:pPr marL="0" indent="0">
              <a:buFontTx/>
              <a:buNone/>
            </a:pPr>
            <a:r>
              <a:rPr lang="en-US" sz="2400" b="0" dirty="0">
                <a:latin typeface="Metropolis" pitchFamily="2" charset="77"/>
              </a:rPr>
              <a:t>The VCF Installer can be used to d</a:t>
            </a:r>
            <a:r>
              <a:rPr lang="en-US" sz="3200" b="0" dirty="0">
                <a:solidFill>
                  <a:schemeClr val="tx1"/>
                </a:solidFill>
              </a:rPr>
              <a:t>eploy a </a:t>
            </a:r>
            <a:r>
              <a:rPr lang="en-US" sz="3200" dirty="0">
                <a:solidFill>
                  <a:schemeClr val="tx1"/>
                </a:solidFill>
              </a:rPr>
              <a:t>new VCF Fleet …or for customers with multiple environments they can choose to deploy another VCF instance into an existing VCF Fleet.  Each VCF instance is deployed using vSphere and vCenter server, NSX, VCF Operations and VCF Automation.  Configuring your VCF environment for </a:t>
            </a:r>
            <a:r>
              <a:rPr lang="en-US" sz="3200" dirty="0" err="1">
                <a:solidFill>
                  <a:schemeClr val="tx1"/>
                </a:solidFill>
              </a:rPr>
              <a:t>vSAN</a:t>
            </a:r>
            <a:r>
              <a:rPr lang="en-US" sz="3200" dirty="0">
                <a:solidFill>
                  <a:schemeClr val="tx1"/>
                </a:solidFill>
              </a:rPr>
              <a:t> delivers a full SDDC stack.</a:t>
            </a:r>
          </a:p>
          <a:p>
            <a:pPr marL="0" indent="0">
              <a:buFontTx/>
              <a:buNone/>
            </a:pPr>
            <a:endParaRPr lang="en-US" sz="3200" dirty="0">
              <a:solidFill>
                <a:schemeClr val="tx1"/>
              </a:solidFill>
            </a:endParaRPr>
          </a:p>
          <a:p>
            <a:pPr marL="0" indent="0">
              <a:buFontTx/>
              <a:buNone/>
            </a:pPr>
            <a:r>
              <a:rPr lang="en-US" sz="3200" dirty="0">
                <a:solidFill>
                  <a:schemeClr val="tx1"/>
                </a:solidFill>
              </a:rPr>
              <a:t>&lt;click 2&gt;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chemeClr val="tx1"/>
                </a:solidFill>
              </a:rPr>
              <a:t>The VCF Installer appliance also contains inbuilt workflows to </a:t>
            </a:r>
            <a:r>
              <a:rPr lang="en-US" sz="4000" dirty="0">
                <a:solidFill>
                  <a:schemeClr val="tx1"/>
                </a:solidFill>
              </a:rPr>
              <a:t>converge (re-use) an existing vCenter deployment (a non-VCF deployment) to a VCF management cluster.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4000" dirty="0">
              <a:solidFill>
                <a:schemeClr val="tx1"/>
              </a:solidFill>
            </a:endParaRP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r>
              <a:rPr lang="en-US" sz="4000" b="0" i="0" u="none" strike="noStrike" dirty="0">
                <a:solidFill>
                  <a:srgbClr val="000000"/>
                </a:solidFill>
                <a:latin typeface="Calibri"/>
                <a:ea typeface="Calibri"/>
                <a:cs typeface="Calibri"/>
                <a:sym typeface="Calibri"/>
              </a:rPr>
              <a:t>When performing a conversion, the VCF Installer is to be deployed into the same cluster as the residing vCenter Server appliance. </a:t>
            </a:r>
            <a:r>
              <a:rPr lang="en-US" sz="4000" dirty="0">
                <a:solidFill>
                  <a:schemeClr val="dk1"/>
                </a:solidFill>
              </a:rPr>
              <a:t>We support existing vCenter clusters configured for </a:t>
            </a:r>
            <a:r>
              <a:rPr lang="en-US" sz="4000" dirty="0" err="1">
                <a:solidFill>
                  <a:schemeClr val="dk1"/>
                </a:solidFill>
              </a:rPr>
              <a:t>vSAN</a:t>
            </a:r>
            <a:r>
              <a:rPr lang="en-US" sz="4000" dirty="0">
                <a:solidFill>
                  <a:schemeClr val="dk1"/>
                </a:solidFill>
              </a:rPr>
              <a:t> or existing clusters configured with external storage.</a:t>
            </a:r>
            <a:endParaRPr lang="en-US" sz="4000" b="0" i="0" u="none" strike="noStrike" dirty="0">
              <a:solidFill>
                <a:srgbClr val="000000"/>
              </a:solidFill>
              <a:latin typeface="Calibri"/>
              <a:ea typeface="Calibri"/>
              <a:cs typeface="Calibri"/>
              <a:sym typeface="Calibri"/>
            </a:endParaRP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endParaRPr lang="en-US" sz="4000" dirty="0">
              <a:solidFill>
                <a:schemeClr val="dk1"/>
              </a:solidFill>
            </a:endParaRP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r>
              <a:rPr lang="en-US" sz="4000" dirty="0">
                <a:solidFill>
                  <a:schemeClr val="dk1"/>
                </a:solidFill>
              </a:rPr>
              <a:t>Once converged, the environment then becomes a fully functioning new VCF instance which is then managed, scaled and lifecycle managed as VCF.</a:t>
            </a:r>
            <a:br>
              <a:rPr lang="en-US" sz="4000" dirty="0">
                <a:solidFill>
                  <a:schemeClr val="dk1"/>
                </a:solidFill>
              </a:rPr>
            </a:br>
            <a:br>
              <a:rPr lang="en-US" sz="4000" dirty="0">
                <a:solidFill>
                  <a:schemeClr val="dk1"/>
                </a:solidFill>
              </a:rPr>
            </a:br>
            <a:r>
              <a:rPr lang="en-US" sz="4000" dirty="0">
                <a:solidFill>
                  <a:schemeClr val="dk1"/>
                </a:solidFill>
              </a:rPr>
              <a:t>This isn’t all the VCF Installer can do.  The VCF Installer workflow also provides options to converge an existing VCF Operations instance and/or an existing VCF Automation instance.  </a:t>
            </a: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endParaRPr lang="en-US" sz="4000" dirty="0">
              <a:solidFill>
                <a:schemeClr val="dk1"/>
              </a:solidFill>
            </a:endParaRPr>
          </a:p>
          <a:p>
            <a:pPr marL="0" marR="0" lvl="0" indent="0" algn="l" defTabSz="914400" rtl="0" eaLnBrk="1" fontAlgn="auto" latinLnBrk="0" hangingPunct="1">
              <a:lnSpc>
                <a:spcPct val="80000"/>
              </a:lnSpc>
              <a:spcBef>
                <a:spcPts val="0"/>
              </a:spcBef>
              <a:spcAft>
                <a:spcPts val="0"/>
              </a:spcAft>
              <a:buClr>
                <a:schemeClr val="dk1"/>
              </a:buClr>
              <a:buSzPts val="1040"/>
              <a:buFont typeface="Arial"/>
              <a:buNone/>
              <a:tabLst/>
              <a:defRPr/>
            </a:pPr>
            <a:r>
              <a:rPr lang="en-AU" sz="4000" b="0" dirty="0">
                <a:effectLst/>
                <a:latin typeface="Helvetica Neue" panose="02000503000000020004" pitchFamily="2" charset="0"/>
              </a:rPr>
              <a:t>The VCF Installer appliance provides an easier, quicker and more repeatable set of workflows for our customers to get on the pathway to VCF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b="1" dirty="0">
              <a:latin typeface="Metropolis" pitchFamily="2" charset="77"/>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1" dirty="0">
                <a:latin typeface="Metropolis" pitchFamily="2" charset="77"/>
              </a:rPr>
              <a:t>Notes:</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2400" b="0" dirty="0">
                <a:latin typeface="Metropolis" pitchFamily="2" charset="77"/>
              </a:rPr>
              <a:t>- Existing vCenter deployments which can be reused (converged) and imported includes vCenter Server clusters configured as VMware vSphere Foundation (VVF).</a:t>
            </a:r>
          </a:p>
          <a:p>
            <a:pPr marL="0" marR="0" lvl="0" indent="0" algn="l" defTabSz="914400" rtl="0" eaLnBrk="1" fontAlgn="auto" latinLnBrk="0" hangingPunct="1">
              <a:lnSpc>
                <a:spcPct val="80000"/>
              </a:lnSpc>
              <a:spcBef>
                <a:spcPts val="0"/>
              </a:spcBef>
              <a:spcAft>
                <a:spcPts val="0"/>
              </a:spcAft>
              <a:buClrTx/>
              <a:buSzTx/>
              <a:buFontTx/>
              <a:buNone/>
              <a:tabLst/>
              <a:defRPr/>
            </a:pPr>
            <a:br>
              <a:rPr lang="en-US" sz="2400" b="1" dirty="0">
                <a:latin typeface="Metropolis" pitchFamily="2" charset="77"/>
              </a:rPr>
            </a:br>
            <a:r>
              <a:rPr lang="en-US" sz="2400" b="0" u="sng" dirty="0">
                <a:latin typeface="Metropolis" pitchFamily="2" charset="77"/>
              </a:rPr>
              <a:t>Re-using/converging an existing vCenter deployment to VCF:</a:t>
            </a:r>
            <a:br>
              <a:rPr lang="en-US" sz="2400" b="1" u="sng" dirty="0">
                <a:latin typeface="Metropolis" pitchFamily="2" charset="77"/>
              </a:rPr>
            </a:br>
            <a:r>
              <a:rPr lang="en-US" sz="2400" b="1" dirty="0">
                <a:latin typeface="Metropolis" pitchFamily="2" charset="77"/>
              </a:rPr>
              <a:t>- </a:t>
            </a:r>
            <a:r>
              <a:rPr lang="en-US" sz="1800" b="0" dirty="0">
                <a:solidFill>
                  <a:schemeClr val="tx1"/>
                </a:solidFill>
              </a:rPr>
              <a:t>The VCF appliance workflows to </a:t>
            </a:r>
            <a:r>
              <a:rPr lang="en-US" sz="2400" b="0" dirty="0">
                <a:solidFill>
                  <a:schemeClr val="tx1"/>
                </a:solidFill>
              </a:rPr>
              <a:t>re-use an existing vCenter deployment will converge the first cluster within the vCenter to a VCF management cluster.  All clusters within the vCenter Server are converged into the VCF management domain.</a:t>
            </a:r>
            <a:br>
              <a:rPr lang="en-US" sz="2400" b="0" dirty="0">
                <a:solidFill>
                  <a:schemeClr val="tx1"/>
                </a:solidFill>
              </a:rPr>
            </a:br>
            <a:r>
              <a:rPr lang="en-US" sz="2400" b="0" dirty="0">
                <a:solidFill>
                  <a:schemeClr val="tx1"/>
                </a:solidFill>
              </a:rPr>
              <a:t>- </a:t>
            </a:r>
            <a:r>
              <a:rPr lang="en-US" sz="2400" b="0" dirty="0">
                <a:solidFill>
                  <a:schemeClr val="tx1"/>
                </a:solidFill>
                <a:latin typeface="Metropolis" pitchFamily="2" charset="77"/>
              </a:rPr>
              <a:t>vSphere clusters configured with/without </a:t>
            </a:r>
            <a:r>
              <a:rPr lang="en-US" sz="2400" b="0" dirty="0" err="1">
                <a:solidFill>
                  <a:schemeClr val="tx1"/>
                </a:solidFill>
                <a:latin typeface="Metropolis" pitchFamily="2" charset="77"/>
              </a:rPr>
              <a:t>vSAN</a:t>
            </a:r>
            <a:r>
              <a:rPr lang="en-US" sz="2400" b="0" dirty="0">
                <a:solidFill>
                  <a:schemeClr val="tx1"/>
                </a:solidFill>
                <a:latin typeface="Metropolis" pitchFamily="2" charset="77"/>
              </a:rPr>
              <a:t> can be used when re-using (converging) a vSphere cluster to a VCF management cluster using the VCF Installer.  NSX is deployed as part of the conversion process.</a:t>
            </a:r>
          </a:p>
          <a:p>
            <a:pPr marL="0" marR="0" lvl="0" indent="0" algn="l" defTabSz="914400" rtl="0" eaLnBrk="1" fontAlgn="auto" latinLnBrk="0" hangingPunct="1">
              <a:lnSpc>
                <a:spcPct val="80000"/>
              </a:lnSpc>
              <a:spcBef>
                <a:spcPts val="0"/>
              </a:spcBef>
              <a:spcAft>
                <a:spcPts val="0"/>
              </a:spcAft>
              <a:buClrTx/>
              <a:buSzTx/>
              <a:buFontTx/>
              <a:buNone/>
              <a:tabLst/>
              <a:defRPr/>
            </a:pPr>
            <a:br>
              <a:rPr lang="en-US" sz="2400" b="1" dirty="0">
                <a:latin typeface="Metropolis" pitchFamily="2" charset="77"/>
              </a:rPr>
            </a:br>
            <a:r>
              <a:rPr lang="en-US" sz="2400" b="1" dirty="0">
                <a:latin typeface="Metropolis" pitchFamily="2" charset="77"/>
              </a:rPr>
              <a:t>Resources:</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1" dirty="0">
              <a:latin typeface="Metropolis" pitchFamily="2" charset="77"/>
            </a:endParaRPr>
          </a:p>
        </p:txBody>
      </p:sp>
      <p:sp>
        <p:nvSpPr>
          <p:cNvPr id="4" name="Slide Number Placeholder 3">
            <a:extLst>
              <a:ext uri="{FF2B5EF4-FFF2-40B4-BE49-F238E27FC236}">
                <a16:creationId xmlns:a16="http://schemas.microsoft.com/office/drawing/2014/main" id="{E6E2E053-0039-5D1D-D316-B77C2FFCBF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21588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7"/>
        <p:cNvGrpSpPr/>
        <p:nvPr/>
      </p:nvGrpSpPr>
      <p:grpSpPr>
        <a:xfrm>
          <a:off x="0" y="0"/>
          <a:ext cx="0" cy="0"/>
          <a:chOff x="0" y="0"/>
          <a:chExt cx="0" cy="0"/>
        </a:xfrm>
      </p:grpSpPr>
      <p:sp>
        <p:nvSpPr>
          <p:cNvPr id="4458" name="Google Shape;4458;p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9" name="Google Shape;4459;p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50000"/>
              </a:lnSpc>
              <a:spcBef>
                <a:spcPts val="0"/>
              </a:spcBef>
              <a:spcAft>
                <a:spcPts val="0"/>
              </a:spcAft>
              <a:buClr>
                <a:schemeClr val="dk1"/>
              </a:buClr>
              <a:buSzPts val="2090"/>
              <a:buFont typeface="Arial"/>
              <a:buNone/>
            </a:pPr>
            <a:r>
              <a:rPr lang="en-US" sz="2400" b="1">
                <a:latin typeface="Arial"/>
                <a:ea typeface="Arial"/>
                <a:cs typeface="Arial"/>
                <a:sym typeface="Arial"/>
              </a:rPr>
              <a:t>Presenter Note:  This slide contains animation</a:t>
            </a:r>
            <a:endParaRPr/>
          </a:p>
          <a:p>
            <a:pPr marL="0" lvl="0" indent="0" algn="l" rtl="0">
              <a:lnSpc>
                <a:spcPct val="50000"/>
              </a:lnSpc>
              <a:spcBef>
                <a:spcPts val="0"/>
              </a:spcBef>
              <a:spcAft>
                <a:spcPts val="0"/>
              </a:spcAft>
              <a:buClr>
                <a:schemeClr val="dk1"/>
              </a:buClr>
              <a:buSzPts val="1140"/>
              <a:buFont typeface="Arial"/>
              <a:buNone/>
            </a:pPr>
            <a:endParaRPr sz="1200" b="1" u="none" strike="noStrike">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1140"/>
              <a:buFont typeface="Arial"/>
              <a:buNone/>
            </a:pPr>
            <a:r>
              <a:rPr lang="en-US" sz="1200" b="1" u="none" strike="noStrike">
                <a:solidFill>
                  <a:schemeClr val="dk1"/>
                </a:solidFill>
                <a:latin typeface="Arial"/>
                <a:ea typeface="Arial"/>
                <a:cs typeface="Arial"/>
                <a:sym typeface="Arial"/>
              </a:rPr>
              <a:t>Key Message:</a:t>
            </a:r>
            <a:endParaRPr sz="1200" b="1">
              <a:latin typeface="Arial"/>
              <a:ea typeface="Arial"/>
              <a:cs typeface="Arial"/>
              <a:sym typeface="Arial"/>
            </a:endParaRPr>
          </a:p>
          <a:p>
            <a:pPr marL="0" lvl="0" indent="0" algn="l" rtl="0">
              <a:lnSpc>
                <a:spcPct val="50000"/>
              </a:lnSpc>
              <a:spcBef>
                <a:spcPts val="0"/>
              </a:spcBef>
              <a:spcAft>
                <a:spcPts val="0"/>
              </a:spcAft>
              <a:buClr>
                <a:schemeClr val="dk1"/>
              </a:buClr>
              <a:buSzPts val="1140"/>
              <a:buFont typeface="Arial"/>
              <a:buNone/>
            </a:pPr>
            <a:r>
              <a:rPr lang="en-US" sz="1200">
                <a:latin typeface="Arial"/>
                <a:ea typeface="Arial"/>
                <a:cs typeface="Arial"/>
                <a:sym typeface="Arial"/>
              </a:rPr>
              <a:t>Cloud Foundation introduces a more flexible process to deploy a standardized workload-ready private cloud in a matter of hours.</a:t>
            </a:r>
            <a:endParaRPr/>
          </a:p>
          <a:p>
            <a:pPr marL="0" lvl="0" indent="0" algn="l" rtl="0">
              <a:lnSpc>
                <a:spcPct val="50000"/>
              </a:lnSpc>
              <a:spcBef>
                <a:spcPts val="0"/>
              </a:spcBef>
              <a:spcAft>
                <a:spcPts val="0"/>
              </a:spcAft>
              <a:buClr>
                <a:schemeClr val="dk1"/>
              </a:buClr>
              <a:buSzPts val="1140"/>
              <a:buFont typeface="Arial"/>
              <a:buNone/>
            </a:pPr>
            <a:endParaRPr sz="1200" b="1" u="none" strike="noStrike">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1140"/>
              <a:buFont typeface="Arial"/>
              <a:buNone/>
            </a:pPr>
            <a:r>
              <a:rPr lang="en-US" sz="1200" b="1" u="none" strike="noStrike">
                <a:solidFill>
                  <a:schemeClr val="dk1"/>
                </a:solidFill>
                <a:latin typeface="Arial"/>
                <a:ea typeface="Arial"/>
                <a:cs typeface="Arial"/>
                <a:sym typeface="Arial"/>
              </a:rPr>
              <a:t>Talk Track:</a:t>
            </a:r>
            <a:br>
              <a:rPr lang="en-US" sz="1200" b="1" u="none" strike="noStrike">
                <a:solidFill>
                  <a:schemeClr val="dk1"/>
                </a:solidFill>
                <a:latin typeface="Arial"/>
                <a:ea typeface="Arial"/>
                <a:cs typeface="Arial"/>
                <a:sym typeface="Arial"/>
              </a:rPr>
            </a:br>
            <a:r>
              <a:rPr lang="en-US" sz="1200" b="0" u="none" strike="noStrike">
                <a:solidFill>
                  <a:schemeClr val="dk1"/>
                </a:solidFill>
                <a:latin typeface="Arial"/>
                <a:ea typeface="Arial"/>
                <a:cs typeface="Arial"/>
                <a:sym typeface="Arial"/>
              </a:rPr>
              <a:t>Let’s take a closer look at the VCF Installer appliance.</a:t>
            </a:r>
            <a:endParaRPr/>
          </a:p>
          <a:p>
            <a:pPr marL="0" lvl="0" indent="0" algn="l" rtl="0">
              <a:lnSpc>
                <a:spcPct val="50000"/>
              </a:lnSpc>
              <a:spcBef>
                <a:spcPts val="0"/>
              </a:spcBef>
              <a:spcAft>
                <a:spcPts val="0"/>
              </a:spcAft>
              <a:buClr>
                <a:schemeClr val="dk1"/>
              </a:buClr>
              <a:buSzPts val="1140"/>
              <a:buFont typeface="Arial"/>
              <a:buNone/>
            </a:pPr>
            <a:r>
              <a:rPr lang="en-US" sz="1200" b="0" u="none" strike="noStrike">
                <a:solidFill>
                  <a:schemeClr val="dk1"/>
                </a:solidFill>
                <a:latin typeface="Arial"/>
                <a:ea typeface="Arial"/>
                <a:cs typeface="Arial"/>
                <a:sym typeface="Arial"/>
              </a:rPr>
              <a:t>The VCF Installer appliance replaces the Cloud Builder appliance and further streamlines the deployment of VMware Cloud Foundation (VCF) or VMware vSphere Foundation (VVF).</a:t>
            </a:r>
            <a:endParaRPr/>
          </a:p>
          <a:p>
            <a:pPr marL="0" marR="0" lvl="0" indent="0" algn="l" rtl="0">
              <a:lnSpc>
                <a:spcPct val="50000"/>
              </a:lnSpc>
              <a:spcBef>
                <a:spcPts val="0"/>
              </a:spcBef>
              <a:spcAft>
                <a:spcPts val="0"/>
              </a:spcAft>
              <a:buClr>
                <a:schemeClr val="dk1"/>
              </a:buClr>
              <a:buSzPts val="1140"/>
              <a:buFont typeface="Arial"/>
              <a:buNone/>
            </a:pPr>
            <a:r>
              <a:rPr lang="en-US" sz="1200" b="0" u="none" strike="noStrike">
                <a:solidFill>
                  <a:schemeClr val="dk1"/>
                </a:solidFill>
                <a:latin typeface="Arial"/>
                <a:ea typeface="Arial"/>
                <a:cs typeface="Arial"/>
                <a:sym typeface="Arial"/>
              </a:rPr>
              <a:t>It contains an inbuilt UI-driven workflow and no longer requires the use of the Deployment Parameters Workbook (MS Excel spreadsheet). The VCF Installer also includes </a:t>
            </a:r>
            <a:r>
              <a:rPr lang="en-US" sz="1600" b="0" u="none" strike="noStrike">
                <a:solidFill>
                  <a:schemeClr val="dk1"/>
                </a:solidFill>
                <a:latin typeface="Arial"/>
                <a:ea typeface="Arial"/>
                <a:cs typeface="Arial"/>
                <a:sym typeface="Arial"/>
              </a:rPr>
              <a:t>i</a:t>
            </a:r>
            <a:r>
              <a:rPr lang="en-US" sz="1600">
                <a:solidFill>
                  <a:schemeClr val="dk1"/>
                </a:solidFill>
              </a:rPr>
              <a:t>n-built options to converge and import existing vCenter, VCF Operations and VCF Automation instances without the need for </a:t>
            </a:r>
            <a:r>
              <a:rPr lang="en-US" sz="1200" b="0" u="none" strike="noStrike">
                <a:solidFill>
                  <a:schemeClr val="dk1"/>
                </a:solidFill>
                <a:latin typeface="Arial"/>
                <a:ea typeface="Arial"/>
                <a:cs typeface="Arial"/>
                <a:sym typeface="Arial"/>
              </a:rPr>
              <a:t>VCF Import scripts.</a:t>
            </a:r>
            <a:endParaRPr/>
          </a:p>
          <a:p>
            <a:pPr marL="0" marR="0" lvl="0" indent="0" algn="l" rtl="0">
              <a:lnSpc>
                <a:spcPct val="70000"/>
              </a:lnSpc>
              <a:spcBef>
                <a:spcPts val="0"/>
              </a:spcBef>
              <a:spcAft>
                <a:spcPts val="0"/>
              </a:spcAft>
              <a:buClr>
                <a:schemeClr val="dk1"/>
              </a:buClr>
              <a:buSzPts val="1140"/>
              <a:buFont typeface="Arial"/>
              <a:buNone/>
            </a:pPr>
            <a:endParaRPr sz="1200" b="0" i="0" u="none" strike="noStrike">
              <a:solidFill>
                <a:srgbClr val="FF0000"/>
              </a:solidFill>
            </a:endParaRPr>
          </a:p>
          <a:p>
            <a:pPr marL="0" marR="0" lvl="0" indent="0" algn="l" rtl="0">
              <a:lnSpc>
                <a:spcPct val="70000"/>
              </a:lnSpc>
              <a:spcBef>
                <a:spcPts val="0"/>
              </a:spcBef>
              <a:spcAft>
                <a:spcPts val="0"/>
              </a:spcAft>
              <a:buClr>
                <a:schemeClr val="dk1"/>
              </a:buClr>
              <a:buSzPts val="1140"/>
              <a:buFont typeface="Arial"/>
              <a:buNone/>
            </a:pPr>
            <a:r>
              <a:rPr lang="en-US" sz="1200">
                <a:solidFill>
                  <a:schemeClr val="dk1"/>
                </a:solidFill>
              </a:rPr>
              <a:t>Prior releases of Cloud Foundation have required Aria Operations and Aria Automation to be installed and lifecycle managed as separate Day 2 operations.  From VCF 9, the VCF Installer appliance is used to deploy the full VCF stack comprising of compute, storage, networking, operations and self-service automation and VCF Operations is used to lifecycle manage the full stack.</a:t>
            </a:r>
            <a:endParaRPr/>
          </a:p>
          <a:p>
            <a:pPr marL="0" marR="0" lvl="0" indent="0" algn="l" rtl="0">
              <a:lnSpc>
                <a:spcPct val="70000"/>
              </a:lnSpc>
              <a:spcBef>
                <a:spcPts val="0"/>
              </a:spcBef>
              <a:spcAft>
                <a:spcPts val="0"/>
              </a:spcAft>
              <a:buClr>
                <a:schemeClr val="dk1"/>
              </a:buClr>
              <a:buSzPts val="1140"/>
              <a:buFont typeface="Arial"/>
              <a:buNone/>
            </a:pPr>
            <a:endParaRPr sz="1200">
              <a:solidFill>
                <a:schemeClr val="dk1"/>
              </a:solidFill>
            </a:endParaRPr>
          </a:p>
          <a:p>
            <a:pPr marL="0" marR="0" lvl="0" indent="0" algn="l" rtl="0">
              <a:lnSpc>
                <a:spcPct val="70000"/>
              </a:lnSpc>
              <a:spcBef>
                <a:spcPts val="0"/>
              </a:spcBef>
              <a:spcAft>
                <a:spcPts val="0"/>
              </a:spcAft>
              <a:buClr>
                <a:schemeClr val="dk1"/>
              </a:buClr>
              <a:buSzPts val="1140"/>
              <a:buFont typeface="Arial"/>
              <a:buNone/>
            </a:pPr>
            <a:r>
              <a:rPr lang="en-US" sz="1200">
                <a:solidFill>
                  <a:schemeClr val="dk1"/>
                </a:solidFill>
              </a:rPr>
              <a:t>Administrators can choose to initially deploy VCF using the in-built workflows.  The VCF Installer can also generate a JSON which can be re-used after uploading, reviewing and validating from the wizard driven UI.</a:t>
            </a:r>
            <a:br>
              <a:rPr lang="en-US" sz="1200">
                <a:solidFill>
                  <a:schemeClr val="dk1"/>
                </a:solidFill>
              </a:rPr>
            </a:br>
            <a:endParaRPr sz="1200" b="1">
              <a:latin typeface="Arial"/>
              <a:ea typeface="Arial"/>
              <a:cs typeface="Arial"/>
              <a:sym typeface="Arial"/>
            </a:endParaRPr>
          </a:p>
          <a:p>
            <a:pPr marL="0" marR="0" lvl="0" indent="0" algn="l" rtl="0">
              <a:lnSpc>
                <a:spcPct val="50000"/>
              </a:lnSpc>
              <a:spcBef>
                <a:spcPts val="0"/>
              </a:spcBef>
              <a:spcAft>
                <a:spcPts val="0"/>
              </a:spcAft>
              <a:buClr>
                <a:schemeClr val="dk1"/>
              </a:buClr>
              <a:buSzPts val="1140"/>
              <a:buFont typeface="Arial"/>
              <a:buNone/>
            </a:pPr>
            <a:r>
              <a:rPr lang="en-US" sz="1200" b="0">
                <a:latin typeface="Arial"/>
                <a:ea typeface="Arial"/>
                <a:cs typeface="Arial"/>
                <a:sym typeface="Arial"/>
              </a:rPr>
              <a:t>The VCF Installer appliance provides a flexible set of options which help to further simplify the deployment of an end-to-end private cloud environment.</a:t>
            </a:r>
            <a:endParaRPr/>
          </a:p>
          <a:p>
            <a:pPr marL="0" marR="0" lvl="0" indent="0" algn="l" rtl="0">
              <a:lnSpc>
                <a:spcPct val="50000"/>
              </a:lnSpc>
              <a:spcBef>
                <a:spcPts val="0"/>
              </a:spcBef>
              <a:spcAft>
                <a:spcPts val="0"/>
              </a:spcAft>
              <a:buClr>
                <a:schemeClr val="dk1"/>
              </a:buClr>
              <a:buSzPts val="1140"/>
              <a:buFont typeface="Arial"/>
              <a:buNone/>
            </a:pPr>
            <a:endParaRPr sz="1200" b="1">
              <a:latin typeface="Arial"/>
              <a:ea typeface="Arial"/>
              <a:cs typeface="Arial"/>
              <a:sym typeface="Arial"/>
            </a:endParaRPr>
          </a:p>
          <a:p>
            <a:pPr marL="0" marR="0" lvl="0" indent="0" algn="l" rtl="0">
              <a:lnSpc>
                <a:spcPct val="50000"/>
              </a:lnSpc>
              <a:spcBef>
                <a:spcPts val="0"/>
              </a:spcBef>
              <a:spcAft>
                <a:spcPts val="0"/>
              </a:spcAft>
              <a:buClr>
                <a:schemeClr val="dk1"/>
              </a:buClr>
              <a:buSzPts val="1140"/>
              <a:buFont typeface="Arial"/>
              <a:buNone/>
            </a:pPr>
            <a:r>
              <a:rPr lang="en-US" sz="1200" b="1">
                <a:latin typeface="Arial"/>
                <a:ea typeface="Arial"/>
                <a:cs typeface="Arial"/>
                <a:sym typeface="Arial"/>
              </a:rPr>
              <a:t>Notes:</a:t>
            </a:r>
            <a:endParaRPr/>
          </a:p>
          <a:p>
            <a:pPr marL="0" marR="0" lvl="0" indent="0" algn="l" rtl="0">
              <a:lnSpc>
                <a:spcPct val="50000"/>
              </a:lnSpc>
              <a:spcBef>
                <a:spcPts val="0"/>
              </a:spcBef>
              <a:spcAft>
                <a:spcPts val="0"/>
              </a:spcAft>
              <a:buClr>
                <a:schemeClr val="dk1"/>
              </a:buClr>
              <a:buSzPts val="1140"/>
              <a:buFont typeface="Arial"/>
              <a:buNone/>
            </a:pPr>
            <a:r>
              <a:rPr lang="en-US" sz="1200" b="0">
                <a:latin typeface="Arial"/>
                <a:ea typeface="Arial"/>
                <a:cs typeface="Arial"/>
                <a:sym typeface="Arial"/>
              </a:rPr>
              <a:t>The Planning and Preparation Workbook can be useful when planning a VCF 9 deployment and provides detail on the inputs required for the VCF Installer wizard driven workflow.</a:t>
            </a:r>
            <a:br>
              <a:rPr lang="en-US" sz="1200" b="0">
                <a:latin typeface="Arial"/>
                <a:ea typeface="Arial"/>
                <a:cs typeface="Arial"/>
                <a:sym typeface="Arial"/>
              </a:rPr>
            </a:br>
            <a:br>
              <a:rPr lang="en-US" sz="1200" b="1">
                <a:latin typeface="Arial"/>
                <a:ea typeface="Arial"/>
                <a:cs typeface="Arial"/>
                <a:sym typeface="Arial"/>
              </a:rPr>
            </a:br>
            <a:r>
              <a:rPr lang="en-US" sz="1200" b="1">
                <a:latin typeface="Arial"/>
                <a:ea typeface="Arial"/>
                <a:cs typeface="Arial"/>
                <a:sym typeface="Arial"/>
              </a:rPr>
              <a:t>Resources:</a:t>
            </a:r>
            <a:endParaRPr/>
          </a:p>
          <a:p>
            <a:pPr marL="0" marR="0" lvl="0" indent="0" algn="l" rtl="0">
              <a:lnSpc>
                <a:spcPct val="50000"/>
              </a:lnSpc>
              <a:spcBef>
                <a:spcPts val="0"/>
              </a:spcBef>
              <a:spcAft>
                <a:spcPts val="0"/>
              </a:spcAft>
              <a:buClr>
                <a:schemeClr val="dk1"/>
              </a:buClr>
              <a:buSzPts val="1140"/>
              <a:buFont typeface="Arial"/>
              <a:buNone/>
            </a:pPr>
            <a:r>
              <a:rPr lang="en-US" sz="1200" b="0">
                <a:latin typeface="Arial"/>
                <a:ea typeface="Arial"/>
                <a:cs typeface="Arial"/>
                <a:sym typeface="Arial"/>
              </a:rPr>
              <a:t>Planning and Preparation Workbook:</a:t>
            </a:r>
            <a:br>
              <a:rPr lang="en-US" sz="1200" b="0">
                <a:latin typeface="Arial"/>
                <a:ea typeface="Arial"/>
                <a:cs typeface="Arial"/>
                <a:sym typeface="Arial"/>
              </a:rPr>
            </a:br>
            <a:r>
              <a:rPr lang="en-US" sz="1200" b="0">
                <a:latin typeface="Arial"/>
                <a:ea typeface="Arial"/>
                <a:cs typeface="Arial"/>
                <a:sym typeface="Arial"/>
              </a:rPr>
              <a:t>&lt;techdocs link&gt;</a:t>
            </a:r>
            <a:endParaRPr/>
          </a:p>
          <a:p>
            <a:pPr marL="0" marR="0" lvl="0" indent="0" algn="l" rtl="0">
              <a:lnSpc>
                <a:spcPct val="50000"/>
              </a:lnSpc>
              <a:spcBef>
                <a:spcPts val="0"/>
              </a:spcBef>
              <a:spcAft>
                <a:spcPts val="0"/>
              </a:spcAft>
              <a:buClr>
                <a:schemeClr val="dk1"/>
              </a:buClr>
              <a:buSzPts val="1140"/>
              <a:buFont typeface="Arial"/>
              <a:buNone/>
            </a:pPr>
            <a:endParaRPr sz="1200" b="1">
              <a:latin typeface="Arial"/>
              <a:ea typeface="Arial"/>
              <a:cs typeface="Arial"/>
              <a:sym typeface="Arial"/>
            </a:endParaRPr>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None/>
            </a:pPr>
            <a:endParaRPr/>
          </a:p>
        </p:txBody>
      </p:sp>
      <p:sp>
        <p:nvSpPr>
          <p:cNvPr id="4460" name="Google Shape;4460;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3"/>
        <p:cNvGrpSpPr/>
        <p:nvPr/>
      </p:nvGrpSpPr>
      <p:grpSpPr>
        <a:xfrm>
          <a:off x="0" y="0"/>
          <a:ext cx="0" cy="0"/>
          <a:chOff x="0" y="0"/>
          <a:chExt cx="0" cy="0"/>
        </a:xfrm>
      </p:grpSpPr>
      <p:sp>
        <p:nvSpPr>
          <p:cNvPr id="4554" name="Google Shape;4554;p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5" name="Google Shape;4555;p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lnSpcReduction="10000"/>
          </a:bodyPr>
          <a:lstStyle/>
          <a:p>
            <a:pPr marL="0" lvl="0" indent="0" algn="l" rtl="0">
              <a:lnSpc>
                <a:spcPct val="40000"/>
              </a:lnSpc>
              <a:spcBef>
                <a:spcPts val="0"/>
              </a:spcBef>
              <a:spcAft>
                <a:spcPts val="0"/>
              </a:spcAft>
              <a:buClr>
                <a:schemeClr val="dk1"/>
              </a:buClr>
              <a:buSzPts val="930"/>
              <a:buFont typeface="Arial"/>
              <a:buNone/>
            </a:pPr>
            <a:r>
              <a:rPr lang="en-US" sz="880" b="1" u="none" strike="noStrike">
                <a:solidFill>
                  <a:schemeClr val="dk1"/>
                </a:solidFill>
                <a:latin typeface="Arial"/>
                <a:ea typeface="Arial"/>
                <a:cs typeface="Arial"/>
                <a:sym typeface="Arial"/>
              </a:rPr>
              <a:t>Key Message:</a:t>
            </a:r>
            <a:endParaRPr sz="880" b="1">
              <a:latin typeface="Arial"/>
              <a:ea typeface="Arial"/>
              <a:cs typeface="Arial"/>
              <a:sym typeface="Arial"/>
            </a:endParaRPr>
          </a:p>
          <a:p>
            <a:pPr marL="0" lvl="0" indent="0" algn="l" rtl="0">
              <a:lnSpc>
                <a:spcPct val="40000"/>
              </a:lnSpc>
              <a:spcBef>
                <a:spcPts val="0"/>
              </a:spcBef>
              <a:spcAft>
                <a:spcPts val="0"/>
              </a:spcAft>
              <a:buClr>
                <a:schemeClr val="dk1"/>
              </a:buClr>
              <a:buSzPts val="930"/>
              <a:buFont typeface="Arial"/>
              <a:buNone/>
            </a:pPr>
            <a:r>
              <a:rPr lang="en-US" sz="880">
                <a:latin typeface="Arial"/>
                <a:ea typeface="Arial"/>
                <a:cs typeface="Arial"/>
                <a:sym typeface="Arial"/>
              </a:rPr>
              <a:t>The VCF Installer appliance can be used to deploy VMware Cloud Foundation or VMware vSphere Foundation to suit a variety of customer use cases and deployment topologies.</a:t>
            </a:r>
            <a:endParaRPr sz="660"/>
          </a:p>
          <a:p>
            <a:pPr marL="0" lvl="0" indent="0" algn="l" rtl="0">
              <a:lnSpc>
                <a:spcPct val="40000"/>
              </a:lnSpc>
              <a:spcBef>
                <a:spcPts val="0"/>
              </a:spcBef>
              <a:spcAft>
                <a:spcPts val="0"/>
              </a:spcAft>
              <a:buClr>
                <a:schemeClr val="dk1"/>
              </a:buClr>
              <a:buSzPts val="930"/>
              <a:buFont typeface="Arial"/>
              <a:buNone/>
            </a:pPr>
            <a:endParaRPr sz="880">
              <a:latin typeface="Arial"/>
              <a:ea typeface="Arial"/>
              <a:cs typeface="Arial"/>
              <a:sym typeface="Arial"/>
            </a:endParaRPr>
          </a:p>
          <a:p>
            <a:pPr marL="0" lvl="0" indent="0" algn="l" rtl="0">
              <a:lnSpc>
                <a:spcPct val="40000"/>
              </a:lnSpc>
              <a:spcBef>
                <a:spcPts val="0"/>
              </a:spcBef>
              <a:spcAft>
                <a:spcPts val="0"/>
              </a:spcAft>
              <a:buClr>
                <a:schemeClr val="dk1"/>
              </a:buClr>
              <a:buSzPts val="930"/>
              <a:buFont typeface="Arial"/>
              <a:buNone/>
            </a:pPr>
            <a:r>
              <a:rPr lang="en-US" sz="880" b="1" u="none" strike="noStrike">
                <a:solidFill>
                  <a:schemeClr val="dk1"/>
                </a:solidFill>
                <a:latin typeface="Arial"/>
                <a:ea typeface="Arial"/>
                <a:cs typeface="Arial"/>
                <a:sym typeface="Arial"/>
              </a:rPr>
              <a:t>Talk Track:</a:t>
            </a:r>
            <a:endParaRPr sz="660"/>
          </a:p>
          <a:p>
            <a:pPr marL="0" lvl="0" indent="0" algn="l" rtl="0">
              <a:lnSpc>
                <a:spcPct val="20000"/>
              </a:lnSpc>
              <a:spcBef>
                <a:spcPts val="0"/>
              </a:spcBef>
              <a:spcAft>
                <a:spcPts val="0"/>
              </a:spcAft>
              <a:buClr>
                <a:schemeClr val="dk1"/>
              </a:buClr>
              <a:buSzPts val="930"/>
              <a:buFont typeface="Arial"/>
              <a:buNone/>
            </a:pPr>
            <a:r>
              <a:rPr lang="en-US" sz="880" b="0" u="none" strike="noStrike">
                <a:solidFill>
                  <a:schemeClr val="dk1"/>
                </a:solidFill>
                <a:latin typeface="Arial"/>
                <a:ea typeface="Arial"/>
                <a:cs typeface="Arial"/>
                <a:sym typeface="Arial"/>
              </a:rPr>
              <a:t>Inbuilt into this new and very light-weight VCF Installer Appliance are a set of enhanced deployment workflows and many new configuration options.</a:t>
            </a:r>
            <a:endParaRPr sz="385"/>
          </a:p>
          <a:p>
            <a:pPr marL="0" marR="0" lvl="0" indent="0" algn="l" rtl="0">
              <a:lnSpc>
                <a:spcPct val="40000"/>
              </a:lnSpc>
              <a:spcBef>
                <a:spcPts val="0"/>
              </a:spcBef>
              <a:spcAft>
                <a:spcPts val="0"/>
              </a:spcAft>
              <a:buClr>
                <a:schemeClr val="dk1"/>
              </a:buClr>
              <a:buSzPts val="930"/>
              <a:buFont typeface="Arial"/>
              <a:buNone/>
            </a:pPr>
            <a:br>
              <a:rPr lang="en-US" sz="880" b="0" u="none" strike="noStrike">
                <a:solidFill>
                  <a:schemeClr val="dk1"/>
                </a:solidFill>
                <a:latin typeface="Arial"/>
                <a:ea typeface="Arial"/>
                <a:cs typeface="Arial"/>
                <a:sym typeface="Arial"/>
              </a:rPr>
            </a:br>
            <a:r>
              <a:rPr lang="en-US" sz="880" b="0" u="none" strike="noStrike">
                <a:solidFill>
                  <a:schemeClr val="dk1"/>
                </a:solidFill>
                <a:latin typeface="Arial"/>
                <a:ea typeface="Arial"/>
                <a:cs typeface="Arial"/>
                <a:sym typeface="Arial"/>
              </a:rPr>
              <a:t>Upon connecting to the Broadcom Support Portal, the user downloads the software binaries by connecting to the online depot. </a:t>
            </a:r>
            <a:r>
              <a:rPr lang="en-US" sz="440" b="0" u="none" strike="noStrike">
                <a:solidFill>
                  <a:schemeClr val="dk1"/>
                </a:solidFill>
                <a:latin typeface="Arial"/>
                <a:ea typeface="Arial"/>
                <a:cs typeface="Arial"/>
                <a:sym typeface="Arial"/>
              </a:rPr>
              <a:t>The software binaries are not included in the VCF Installer appliance.</a:t>
            </a:r>
            <a:endParaRPr/>
          </a:p>
          <a:p>
            <a:pPr marL="0" marR="0" lvl="0" indent="0" algn="l" rtl="0">
              <a:lnSpc>
                <a:spcPct val="40000"/>
              </a:lnSpc>
              <a:spcBef>
                <a:spcPts val="0"/>
              </a:spcBef>
              <a:spcAft>
                <a:spcPts val="0"/>
              </a:spcAft>
              <a:buClr>
                <a:schemeClr val="dk1"/>
              </a:buClr>
              <a:buSzPts val="930"/>
              <a:buFont typeface="Arial"/>
              <a:buNone/>
            </a:pPr>
            <a:endParaRPr sz="440" b="0" u="none" strike="noStrike">
              <a:solidFill>
                <a:schemeClr val="dk1"/>
              </a:solidFill>
              <a:latin typeface="Arial"/>
              <a:ea typeface="Arial"/>
              <a:cs typeface="Arial"/>
              <a:sym typeface="Arial"/>
            </a:endParaRPr>
          </a:p>
          <a:p>
            <a:pPr marL="0" marR="0" lvl="0" indent="0" algn="l" rtl="0">
              <a:lnSpc>
                <a:spcPct val="40000"/>
              </a:lnSpc>
              <a:spcBef>
                <a:spcPts val="0"/>
              </a:spcBef>
              <a:spcAft>
                <a:spcPts val="0"/>
              </a:spcAft>
              <a:buClr>
                <a:schemeClr val="dk1"/>
              </a:buClr>
              <a:buSzPts val="930"/>
              <a:buFont typeface="Arial"/>
              <a:buNone/>
            </a:pPr>
            <a:r>
              <a:rPr lang="en-US" sz="440">
                <a:latin typeface="Arial"/>
                <a:ea typeface="Arial"/>
                <a:cs typeface="Arial"/>
                <a:sym typeface="Arial"/>
              </a:rPr>
              <a:t>Customers also have the option to configure their own private off-line depot which can be used by multiple VCF instances. With an offline depot, the software binaries only need to be downloaded once which is very handy when managing multiple VCF instances.  </a:t>
            </a:r>
            <a:endParaRPr sz="440"/>
          </a:p>
          <a:p>
            <a:pPr marL="0" lvl="0" indent="0" algn="l" rtl="0">
              <a:lnSpc>
                <a:spcPct val="40000"/>
              </a:lnSpc>
              <a:spcBef>
                <a:spcPts val="0"/>
              </a:spcBef>
              <a:spcAft>
                <a:spcPts val="0"/>
              </a:spcAft>
              <a:buClr>
                <a:schemeClr val="dk1"/>
              </a:buClr>
              <a:buSzPts val="930"/>
              <a:buFont typeface="Arial"/>
              <a:buNone/>
            </a:pPr>
            <a:endParaRPr sz="660"/>
          </a:p>
          <a:p>
            <a:pPr marL="0" marR="0" lvl="0" indent="0" algn="l" rtl="0">
              <a:lnSpc>
                <a:spcPct val="60000"/>
              </a:lnSpc>
              <a:spcBef>
                <a:spcPts val="0"/>
              </a:spcBef>
              <a:spcAft>
                <a:spcPts val="0"/>
              </a:spcAft>
              <a:buClr>
                <a:schemeClr val="accent2"/>
              </a:buClr>
              <a:buSzPts val="1540"/>
              <a:buFont typeface="Arial"/>
              <a:buNone/>
            </a:pPr>
            <a:r>
              <a:rPr lang="en-US" sz="1540" b="0">
                <a:solidFill>
                  <a:schemeClr val="accent2"/>
                </a:solidFill>
              </a:rPr>
              <a:t>Once the software binaries have been downloaded, the appliance can be used to deploy </a:t>
            </a:r>
            <a:r>
              <a:rPr lang="en-US" sz="1540" b="0"/>
              <a:t>VMware Cloud Foundation (VCF) or VMware vSphere Foundation (VVF). </a:t>
            </a:r>
            <a:r>
              <a:rPr lang="en-US" sz="1979" b="0"/>
              <a:t>Deployment can be driven using the inbuild Deployment wizard or the user can g</a:t>
            </a:r>
            <a:r>
              <a:rPr lang="en-US" sz="1979"/>
              <a:t>enerate a re-usable JSON spec which can be uploaded, reviewed and validated from the UI. </a:t>
            </a:r>
            <a:r>
              <a:rPr lang="en-US" sz="1979">
                <a:latin typeface="Arial"/>
                <a:ea typeface="Arial"/>
                <a:cs typeface="Arial"/>
                <a:sym typeface="Arial"/>
              </a:rPr>
              <a:t>A JSON spec can also be uploaded and edited in the wizard.</a:t>
            </a:r>
            <a:endParaRPr sz="1979"/>
          </a:p>
          <a:p>
            <a:pPr marL="0" lvl="0" indent="0" algn="l" rtl="0">
              <a:lnSpc>
                <a:spcPct val="60000"/>
              </a:lnSpc>
              <a:spcBef>
                <a:spcPts val="0"/>
              </a:spcBef>
              <a:spcAft>
                <a:spcPts val="0"/>
              </a:spcAft>
              <a:buClr>
                <a:schemeClr val="dk1"/>
              </a:buClr>
              <a:buSzPts val="1540"/>
              <a:buFont typeface="Arial"/>
              <a:buNone/>
            </a:pPr>
            <a:endParaRPr sz="1540" b="0"/>
          </a:p>
          <a:p>
            <a:pPr marL="0" marR="0" lvl="0" indent="0" algn="l" rtl="0">
              <a:lnSpc>
                <a:spcPct val="60000"/>
              </a:lnSpc>
              <a:spcBef>
                <a:spcPts val="0"/>
              </a:spcBef>
              <a:spcAft>
                <a:spcPts val="0"/>
              </a:spcAft>
              <a:buClr>
                <a:schemeClr val="accent2"/>
              </a:buClr>
              <a:buSzPts val="620"/>
              <a:buFont typeface="Arial"/>
              <a:buNone/>
            </a:pPr>
            <a:r>
              <a:rPr lang="en-US" sz="440" b="0">
                <a:solidFill>
                  <a:schemeClr val="accent2"/>
                </a:solidFill>
              </a:rPr>
              <a:t>A VCF instance can be deployed as part of a new VCF Fleet or to an existing VCF Fleet.  A VCF Fleet may consist of multiple VCF deployments which can leverage common VCF Operations and VCF Automations instances.</a:t>
            </a:r>
            <a:br>
              <a:rPr lang="en-US" sz="440" b="0">
                <a:solidFill>
                  <a:schemeClr val="accent2"/>
                </a:solidFill>
              </a:rPr>
            </a:br>
            <a:endParaRPr sz="330" b="0">
              <a:solidFill>
                <a:schemeClr val="accent2"/>
              </a:solidFill>
            </a:endParaRPr>
          </a:p>
          <a:p>
            <a:pPr marL="0" marR="0" lvl="0" indent="0" algn="l" rtl="0">
              <a:lnSpc>
                <a:spcPct val="60000"/>
              </a:lnSpc>
              <a:spcBef>
                <a:spcPts val="0"/>
              </a:spcBef>
              <a:spcAft>
                <a:spcPts val="0"/>
              </a:spcAft>
              <a:buClr>
                <a:schemeClr val="accent2"/>
              </a:buClr>
              <a:buSzPts val="330"/>
              <a:buFont typeface="Arial"/>
              <a:buNone/>
            </a:pPr>
            <a:r>
              <a:rPr lang="en-US" sz="330" b="0">
                <a:solidFill>
                  <a:schemeClr val="accent2"/>
                </a:solidFill>
              </a:rPr>
              <a:t>The VCF Installer is used to initially configure the management cluster which can be deployed in one of two ways:</a:t>
            </a:r>
            <a:br>
              <a:rPr lang="en-US" sz="330" b="0">
                <a:solidFill>
                  <a:schemeClr val="accent2"/>
                </a:solidFill>
              </a:rPr>
            </a:br>
            <a:r>
              <a:rPr lang="en-US" sz="330" b="0">
                <a:solidFill>
                  <a:schemeClr val="accent2"/>
                </a:solidFill>
              </a:rPr>
              <a:t>    - New components can be deployed which include VM appliances for vCenter Server, NSX, VCF Operations and VCF Automation.</a:t>
            </a:r>
            <a:endParaRPr sz="660"/>
          </a:p>
          <a:p>
            <a:pPr marL="0" lvl="0" indent="0" algn="l" rtl="0">
              <a:lnSpc>
                <a:spcPct val="60000"/>
              </a:lnSpc>
              <a:spcBef>
                <a:spcPts val="0"/>
              </a:spcBef>
              <a:spcAft>
                <a:spcPts val="0"/>
              </a:spcAft>
              <a:buClr>
                <a:schemeClr val="accent2"/>
              </a:buClr>
              <a:buSzPts val="330"/>
              <a:buFont typeface="Arial"/>
              <a:buNone/>
            </a:pPr>
            <a:r>
              <a:rPr lang="en-US" sz="330" b="0">
                <a:solidFill>
                  <a:schemeClr val="accent2"/>
                </a:solidFill>
              </a:rPr>
              <a:t>    - OR…. existing appliances for vCenter Server, VCF Operations and VCF Automation can be used.</a:t>
            </a:r>
            <a:endParaRPr sz="660"/>
          </a:p>
          <a:p>
            <a:pPr marL="0" lvl="0" indent="0" algn="l" rtl="0">
              <a:lnSpc>
                <a:spcPct val="60000"/>
              </a:lnSpc>
              <a:spcBef>
                <a:spcPts val="0"/>
              </a:spcBef>
              <a:spcAft>
                <a:spcPts val="0"/>
              </a:spcAft>
              <a:buClr>
                <a:schemeClr val="dk1"/>
              </a:buClr>
              <a:buSzPts val="330"/>
              <a:buFont typeface="Arial"/>
              <a:buNone/>
            </a:pPr>
            <a:endParaRPr sz="330" b="0">
              <a:solidFill>
                <a:schemeClr val="accent2"/>
              </a:solidFill>
            </a:endParaRPr>
          </a:p>
          <a:p>
            <a:pPr marL="0" marR="0" lvl="0" indent="0" algn="l" rtl="0">
              <a:lnSpc>
                <a:spcPct val="60000"/>
              </a:lnSpc>
              <a:spcBef>
                <a:spcPts val="0"/>
              </a:spcBef>
              <a:spcAft>
                <a:spcPts val="0"/>
              </a:spcAft>
              <a:buClr>
                <a:schemeClr val="accent2"/>
              </a:buClr>
              <a:buSzPts val="330"/>
              <a:buFont typeface="Arial"/>
              <a:buNone/>
            </a:pPr>
            <a:r>
              <a:rPr lang="en-US" sz="330" b="0">
                <a:solidFill>
                  <a:schemeClr val="accent2"/>
                </a:solidFill>
              </a:rPr>
              <a:t>When choosing to converge (re-use) an existing vCenter Server the VCF Installer will converge an existing vSphere / vSphere with vSAN cluster </a:t>
            </a:r>
            <a:r>
              <a:rPr lang="en-US" sz="330">
                <a:solidFill>
                  <a:schemeClr val="accent2"/>
                </a:solidFill>
              </a:rPr>
              <a:t>to a VCF management cluster.  The VCF Installer will deploy NSX as part of the conversion process.</a:t>
            </a:r>
            <a:endParaRPr sz="660"/>
          </a:p>
          <a:p>
            <a:pPr marL="0" marR="0" lvl="0" indent="0" algn="l" rtl="0">
              <a:lnSpc>
                <a:spcPct val="60000"/>
              </a:lnSpc>
              <a:spcBef>
                <a:spcPts val="0"/>
              </a:spcBef>
              <a:spcAft>
                <a:spcPts val="0"/>
              </a:spcAft>
              <a:buClr>
                <a:schemeClr val="dk1"/>
              </a:buClr>
              <a:buSzPts val="330"/>
              <a:buFont typeface="Arial"/>
              <a:buNone/>
            </a:pPr>
            <a:endParaRPr sz="330" b="0">
              <a:solidFill>
                <a:schemeClr val="accent2"/>
              </a:solidFill>
            </a:endParaRPr>
          </a:p>
          <a:p>
            <a:pPr marL="0" lvl="0" indent="0" algn="l" rtl="0">
              <a:lnSpc>
                <a:spcPct val="60000"/>
              </a:lnSpc>
              <a:spcBef>
                <a:spcPts val="0"/>
              </a:spcBef>
              <a:spcAft>
                <a:spcPts val="0"/>
              </a:spcAft>
              <a:buClr>
                <a:schemeClr val="accent2"/>
              </a:buClr>
              <a:buSzPts val="330"/>
              <a:buFont typeface="Arial"/>
              <a:buNone/>
            </a:pPr>
            <a:r>
              <a:rPr lang="en-US" sz="330" b="0" strike="noStrike">
                <a:solidFill>
                  <a:schemeClr val="accent2"/>
                </a:solidFill>
              </a:rPr>
              <a:t>If choosing to re-use an existing VCF Operations instance, it ,is recommended to select the vCenter server where it is deployed as the vCenter for first VCF management cluster.</a:t>
            </a:r>
            <a:endParaRPr sz="660"/>
          </a:p>
          <a:p>
            <a:pPr marL="0" lvl="0" indent="0" algn="l" rtl="0">
              <a:lnSpc>
                <a:spcPct val="60000"/>
              </a:lnSpc>
              <a:spcBef>
                <a:spcPts val="0"/>
              </a:spcBef>
              <a:spcAft>
                <a:spcPts val="0"/>
              </a:spcAft>
              <a:buClr>
                <a:schemeClr val="dk1"/>
              </a:buClr>
              <a:buSzPts val="330"/>
              <a:buFont typeface="Arial"/>
              <a:buNone/>
            </a:pPr>
            <a:endParaRPr sz="330" strike="sngStrike">
              <a:solidFill>
                <a:schemeClr val="accent2"/>
              </a:solidFill>
            </a:endParaRPr>
          </a:p>
          <a:p>
            <a:pPr marL="0" lvl="0" indent="0" algn="l" rtl="0">
              <a:lnSpc>
                <a:spcPct val="60000"/>
              </a:lnSpc>
              <a:spcBef>
                <a:spcPts val="0"/>
              </a:spcBef>
              <a:spcAft>
                <a:spcPts val="0"/>
              </a:spcAft>
              <a:buClr>
                <a:schemeClr val="dk1"/>
              </a:buClr>
              <a:buSzPts val="330"/>
              <a:buFont typeface="Arial"/>
              <a:buNone/>
            </a:pPr>
            <a:r>
              <a:rPr lang="en-US" sz="330"/>
              <a:t>The VM appliances for a new VCF Operations, VCF Automation and NSX instances can be deployed using one of two models:  </a:t>
            </a:r>
            <a:endParaRPr sz="660"/>
          </a:p>
          <a:p>
            <a:pPr marL="171450" lvl="0" indent="-171450" algn="l" rtl="0">
              <a:lnSpc>
                <a:spcPct val="60000"/>
              </a:lnSpc>
              <a:spcBef>
                <a:spcPts val="0"/>
              </a:spcBef>
              <a:spcAft>
                <a:spcPts val="0"/>
              </a:spcAft>
              <a:buClr>
                <a:schemeClr val="dk1"/>
              </a:buClr>
              <a:buSzPts val="330"/>
              <a:buFont typeface="Arial"/>
              <a:buChar char="-"/>
            </a:pPr>
            <a:r>
              <a:rPr lang="en-US" sz="330"/>
              <a:t>A simple model will deploy a single node appliance for each component that needs to be installed. </a:t>
            </a:r>
            <a:endParaRPr sz="660"/>
          </a:p>
          <a:p>
            <a:pPr marL="171450" lvl="0" indent="-171450" algn="l" rtl="0">
              <a:lnSpc>
                <a:spcPct val="60000"/>
              </a:lnSpc>
              <a:spcBef>
                <a:spcPts val="0"/>
              </a:spcBef>
              <a:spcAft>
                <a:spcPts val="0"/>
              </a:spcAft>
              <a:buClr>
                <a:schemeClr val="dk1"/>
              </a:buClr>
              <a:buSzPts val="330"/>
              <a:buFont typeface="Arial"/>
              <a:buChar char="-"/>
            </a:pPr>
            <a:r>
              <a:rPr lang="en-US" sz="330"/>
              <a:t>When deployed using the High Availability model 3x NSX Manager nodes, 3x VCF Operations nodes and 3x VCF Automation nodes are deployed.  Additional options are available to configure an NSX load balancer appliances for selected components.</a:t>
            </a:r>
            <a:endParaRPr sz="660"/>
          </a:p>
          <a:p>
            <a:pPr marL="0" lvl="0" indent="0" algn="l" rtl="0">
              <a:lnSpc>
                <a:spcPct val="60000"/>
              </a:lnSpc>
              <a:spcBef>
                <a:spcPts val="0"/>
              </a:spcBef>
              <a:spcAft>
                <a:spcPts val="0"/>
              </a:spcAft>
              <a:buClr>
                <a:schemeClr val="dk1"/>
              </a:buClr>
              <a:buSzPts val="880"/>
              <a:buFont typeface="Arial"/>
              <a:buNone/>
            </a:pPr>
            <a:endParaRPr sz="880">
              <a:solidFill>
                <a:schemeClr val="dk1"/>
              </a:solidFill>
            </a:endParaRPr>
          </a:p>
          <a:p>
            <a:pPr marL="0" lvl="0" indent="0" algn="l" rtl="0">
              <a:lnSpc>
                <a:spcPct val="60000"/>
              </a:lnSpc>
              <a:spcBef>
                <a:spcPts val="0"/>
              </a:spcBef>
              <a:spcAft>
                <a:spcPts val="0"/>
              </a:spcAft>
              <a:buClr>
                <a:schemeClr val="dk1"/>
              </a:buClr>
              <a:buSzPts val="880"/>
              <a:buFont typeface="Arial"/>
              <a:buNone/>
            </a:pPr>
            <a:r>
              <a:rPr lang="en-US" sz="880" b="1">
                <a:solidFill>
                  <a:schemeClr val="dk1"/>
                </a:solidFill>
              </a:rPr>
              <a:t>Extended Talk Track:</a:t>
            </a:r>
            <a:endParaRPr/>
          </a:p>
          <a:p>
            <a:pPr marL="0" lvl="0" indent="0" algn="l" rtl="0">
              <a:lnSpc>
                <a:spcPct val="60000"/>
              </a:lnSpc>
              <a:spcBef>
                <a:spcPts val="0"/>
              </a:spcBef>
              <a:spcAft>
                <a:spcPts val="0"/>
              </a:spcAft>
              <a:buClr>
                <a:schemeClr val="dk1"/>
              </a:buClr>
              <a:buSzPts val="330"/>
              <a:buFont typeface="Arial"/>
              <a:buNone/>
            </a:pPr>
            <a:r>
              <a:rPr lang="en-US" sz="330"/>
              <a:t>Storage and compute for the management cluster can then be allocated.  The number of hosts required is dependent upon the storage type selected.</a:t>
            </a:r>
            <a:endParaRPr sz="660"/>
          </a:p>
          <a:p>
            <a:pPr marL="0" lvl="0" indent="0" algn="l" rtl="0">
              <a:lnSpc>
                <a:spcPct val="60000"/>
              </a:lnSpc>
              <a:spcBef>
                <a:spcPts val="0"/>
              </a:spcBef>
              <a:spcAft>
                <a:spcPts val="0"/>
              </a:spcAft>
              <a:buClr>
                <a:schemeClr val="dk1"/>
              </a:buClr>
              <a:buSzPts val="330"/>
              <a:buFont typeface="Arial"/>
              <a:buNone/>
            </a:pPr>
            <a:endParaRPr sz="330"/>
          </a:p>
          <a:p>
            <a:pPr marL="0" lvl="0" indent="0" algn="l" rtl="0">
              <a:lnSpc>
                <a:spcPct val="60000"/>
              </a:lnSpc>
              <a:spcBef>
                <a:spcPts val="0"/>
              </a:spcBef>
              <a:spcAft>
                <a:spcPts val="0"/>
              </a:spcAft>
              <a:buClr>
                <a:schemeClr val="dk1"/>
              </a:buClr>
              <a:buSzPts val="330"/>
              <a:buFont typeface="Arial"/>
              <a:buNone/>
            </a:pPr>
            <a:r>
              <a:rPr lang="en-US" sz="330"/>
              <a:t>NSX is deployed and ready to be configured and consumed for software defined networking. Enhanced Datapath is the default selection; switching configuration is more granular with advanced options for DVPG load balancing and uplink settings.</a:t>
            </a:r>
            <a:endParaRPr sz="660"/>
          </a:p>
          <a:p>
            <a:pPr marL="0" lvl="0" indent="0" algn="l" rtl="0">
              <a:lnSpc>
                <a:spcPct val="60000"/>
              </a:lnSpc>
              <a:spcBef>
                <a:spcPts val="0"/>
              </a:spcBef>
              <a:spcAft>
                <a:spcPts val="0"/>
              </a:spcAft>
              <a:buClr>
                <a:schemeClr val="dk1"/>
              </a:buClr>
              <a:buSzPts val="330"/>
              <a:buFont typeface="Arial"/>
              <a:buNone/>
            </a:pPr>
            <a:endParaRPr sz="330" b="1" u="none" strike="noStrike">
              <a:solidFill>
                <a:schemeClr val="dk1"/>
              </a:solidFill>
              <a:latin typeface="Arial"/>
              <a:ea typeface="Arial"/>
              <a:cs typeface="Arial"/>
              <a:sym typeface="Arial"/>
            </a:endParaRPr>
          </a:p>
          <a:p>
            <a:pPr marL="0" marR="0" lvl="0" indent="0" algn="l" rtl="0">
              <a:lnSpc>
                <a:spcPct val="60000"/>
              </a:lnSpc>
              <a:spcBef>
                <a:spcPts val="0"/>
              </a:spcBef>
              <a:spcAft>
                <a:spcPts val="0"/>
              </a:spcAft>
              <a:buClr>
                <a:schemeClr val="dk1"/>
              </a:buClr>
              <a:buSzPts val="542"/>
              <a:buFont typeface="Arial"/>
              <a:buNone/>
            </a:pPr>
            <a:r>
              <a:rPr lang="en-US" sz="440">
                <a:latin typeface="Arial"/>
                <a:ea typeface="Arial"/>
                <a:cs typeface="Arial"/>
                <a:sym typeface="Arial"/>
              </a:rPr>
              <a:t>Prior to commencing the build, the workflow allows the user to review the deployment parameters and performs a validation to test the inputs.  The VCF Installer will then provide recommendations on any changes which may be required before the fully automated private cloud deployment commences.  Upon a successful deployment, the VCF Installer provides a link to launch VCF Operations which is used for management.</a:t>
            </a:r>
            <a:endParaRPr sz="660"/>
          </a:p>
          <a:p>
            <a:pPr marL="0" marR="0" lvl="0" indent="0" algn="l" rtl="0">
              <a:lnSpc>
                <a:spcPct val="60000"/>
              </a:lnSpc>
              <a:spcBef>
                <a:spcPts val="0"/>
              </a:spcBef>
              <a:spcAft>
                <a:spcPts val="0"/>
              </a:spcAft>
              <a:buClr>
                <a:schemeClr val="dk1"/>
              </a:buClr>
              <a:buSzPts val="330"/>
              <a:buFont typeface="Arial"/>
              <a:buNone/>
            </a:pPr>
            <a:endParaRPr sz="330" b="1" u="none" strike="noStrike">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880"/>
              <a:buFont typeface="Arial"/>
              <a:buNone/>
            </a:pPr>
            <a:r>
              <a:rPr lang="en-US" sz="880" b="1" u="none" strike="noStrike">
                <a:solidFill>
                  <a:schemeClr val="dk1"/>
                </a:solidFill>
                <a:latin typeface="Arial"/>
                <a:ea typeface="Arial"/>
                <a:cs typeface="Arial"/>
                <a:sym typeface="Arial"/>
              </a:rPr>
              <a:t>Notes:</a:t>
            </a:r>
            <a:endParaRPr sz="660"/>
          </a:p>
          <a:p>
            <a:pPr marL="171450" lvl="0" indent="-171450" algn="l" rtl="0">
              <a:lnSpc>
                <a:spcPct val="40000"/>
              </a:lnSpc>
              <a:spcBef>
                <a:spcPts val="0"/>
              </a:spcBef>
              <a:spcAft>
                <a:spcPts val="0"/>
              </a:spcAft>
              <a:buClr>
                <a:schemeClr val="dk1"/>
              </a:buClr>
              <a:buSzPts val="930"/>
              <a:buFont typeface="Arial"/>
              <a:buChar char="-"/>
            </a:pPr>
            <a:r>
              <a:rPr lang="en-US" sz="880" b="0" u="none" strike="noStrike">
                <a:solidFill>
                  <a:schemeClr val="dk1"/>
                </a:solidFill>
                <a:latin typeface="Arial"/>
                <a:ea typeface="Arial"/>
                <a:cs typeface="Arial"/>
                <a:sym typeface="Arial"/>
              </a:rPr>
              <a:t>An offline depot is configured at a customer site and is beneficial for VCF deployments which are not internet connected.  An offline depot can also be used to service multiple VCF instances.</a:t>
            </a:r>
            <a:endParaRPr/>
          </a:p>
          <a:p>
            <a:pPr marL="171450" lvl="0" indent="-171450" algn="l" rtl="0">
              <a:lnSpc>
                <a:spcPct val="40000"/>
              </a:lnSpc>
              <a:spcBef>
                <a:spcPts val="0"/>
              </a:spcBef>
              <a:spcAft>
                <a:spcPts val="0"/>
              </a:spcAft>
              <a:buClr>
                <a:schemeClr val="dk1"/>
              </a:buClr>
              <a:buSzPts val="930"/>
              <a:buFont typeface="Arial"/>
              <a:buChar char="-"/>
            </a:pPr>
            <a:r>
              <a:rPr lang="en-US" sz="660" b="0">
                <a:latin typeface="Arial"/>
                <a:ea typeface="Arial"/>
                <a:cs typeface="Arial"/>
                <a:sym typeface="Arial"/>
              </a:rPr>
              <a:t>The Planning and Preparation Workbook can be useful when planning a VCF 9 deployment and provides detail on the inputs required for the VCF Installer wizard driven workflow.</a:t>
            </a:r>
            <a:endParaRPr sz="660"/>
          </a:p>
          <a:p>
            <a:pPr marL="171450" marR="0" lvl="0" indent="-171450" algn="l" rtl="0">
              <a:lnSpc>
                <a:spcPct val="40000"/>
              </a:lnSpc>
              <a:spcBef>
                <a:spcPts val="0"/>
              </a:spcBef>
              <a:spcAft>
                <a:spcPts val="0"/>
              </a:spcAft>
              <a:buClr>
                <a:schemeClr val="dk1"/>
              </a:buClr>
              <a:buSzPts val="930"/>
              <a:buFont typeface="Arial"/>
              <a:buChar char="-"/>
            </a:pPr>
            <a:r>
              <a:rPr lang="en-US" sz="880" b="0" u="none" strike="noStrike">
                <a:solidFill>
                  <a:schemeClr val="dk1"/>
                </a:solidFill>
                <a:latin typeface="Arial"/>
                <a:ea typeface="Arial"/>
                <a:cs typeface="Arial"/>
                <a:sym typeface="Arial"/>
              </a:rPr>
              <a:t>From VCF 9 VCF Operations is used to manage one or more VCF instances.  </a:t>
            </a:r>
            <a:r>
              <a:rPr lang="en-US" sz="880" b="0">
                <a:latin typeface="Arial"/>
                <a:ea typeface="Arial"/>
                <a:cs typeface="Arial"/>
                <a:sym typeface="Arial"/>
              </a:rPr>
              <a:t>SDDC Manager 9 is installed or upgraded as a component of any VCF 9 instance. SDDC Manager will be deprecated in a future release.</a:t>
            </a:r>
            <a:endParaRPr sz="880" b="0" u="none" strike="noStrike">
              <a:solidFill>
                <a:schemeClr val="dk1"/>
              </a:solidFill>
              <a:latin typeface="Arial"/>
              <a:ea typeface="Arial"/>
              <a:cs typeface="Arial"/>
              <a:sym typeface="Arial"/>
            </a:endParaRPr>
          </a:p>
          <a:p>
            <a:pPr marL="171450" lvl="0" indent="-171450" algn="l" rtl="0">
              <a:lnSpc>
                <a:spcPct val="40000"/>
              </a:lnSpc>
              <a:spcBef>
                <a:spcPts val="0"/>
              </a:spcBef>
              <a:spcAft>
                <a:spcPts val="0"/>
              </a:spcAft>
              <a:buClr>
                <a:schemeClr val="dk1"/>
              </a:buClr>
              <a:buSzPts val="930"/>
              <a:buFont typeface="Arial"/>
              <a:buChar char="-"/>
            </a:pPr>
            <a:r>
              <a:rPr lang="en-US" sz="880" b="0" u="none" strike="noStrike">
                <a:solidFill>
                  <a:schemeClr val="dk1"/>
                </a:solidFill>
                <a:latin typeface="Arial"/>
                <a:ea typeface="Arial"/>
                <a:cs typeface="Arial"/>
                <a:sym typeface="Arial"/>
              </a:rPr>
              <a:t>From VCF 9 the management cluster can be configured using vSAN ready nodes (recommended). Qualified vSphere server hardware can be used to support NFS/VMFS on FC) storage topologies.  Consult the VMware Compatibility Guide for further detail.</a:t>
            </a:r>
            <a:endParaRPr sz="660"/>
          </a:p>
          <a:p>
            <a:pPr marL="171450" marR="0" lvl="0" indent="-171450" algn="l" rtl="0">
              <a:lnSpc>
                <a:spcPct val="40000"/>
              </a:lnSpc>
              <a:spcBef>
                <a:spcPts val="0"/>
              </a:spcBef>
              <a:spcAft>
                <a:spcPts val="0"/>
              </a:spcAft>
              <a:buClr>
                <a:schemeClr val="dk1"/>
              </a:buClr>
              <a:buSzPts val="930"/>
              <a:buFont typeface="Arial"/>
              <a:buChar char="-"/>
            </a:pPr>
            <a:r>
              <a:rPr lang="en-US" sz="880" b="0" u="none" strike="noStrike">
                <a:solidFill>
                  <a:schemeClr val="dk1"/>
                </a:solidFill>
                <a:latin typeface="Arial"/>
                <a:ea typeface="Arial"/>
                <a:cs typeface="Arial"/>
                <a:sym typeface="Arial"/>
              </a:rPr>
              <a:t>A new (greenfield) VCF deployment requires a minimum of 4 hosts for the management cluster which is deployed using vSAN, NFS or VMFS on FC.  </a:t>
            </a:r>
            <a:endParaRPr sz="660"/>
          </a:p>
          <a:p>
            <a:pPr marL="171450" marR="0" lvl="0" indent="-171450" algn="l" rtl="0">
              <a:lnSpc>
                <a:spcPct val="40000"/>
              </a:lnSpc>
              <a:spcBef>
                <a:spcPts val="0"/>
              </a:spcBef>
              <a:spcAft>
                <a:spcPts val="0"/>
              </a:spcAft>
              <a:buClr>
                <a:schemeClr val="dk1"/>
              </a:buClr>
              <a:buSzPts val="930"/>
              <a:buFont typeface="Arial"/>
              <a:buChar char="-"/>
            </a:pPr>
            <a:r>
              <a:rPr lang="en-US" sz="880" b="0" u="none" strike="noStrike">
                <a:solidFill>
                  <a:schemeClr val="dk1"/>
                </a:solidFill>
                <a:latin typeface="Arial"/>
                <a:ea typeface="Arial"/>
                <a:cs typeface="Arial"/>
                <a:sym typeface="Arial"/>
              </a:rPr>
              <a:t>A minimum number of hosts are required when re-using/converging an existing vCenter environment to VCF. (3 vSAN ready nodes or 2 vSphere hosts configured using NFS or VMFS on FC). Refer to the VCF configmax site for further detail.</a:t>
            </a:r>
            <a:endParaRPr sz="660"/>
          </a:p>
          <a:p>
            <a:pPr marL="171450" marR="0" lvl="0" indent="-171450" algn="l" rtl="0">
              <a:lnSpc>
                <a:spcPct val="40000"/>
              </a:lnSpc>
              <a:spcBef>
                <a:spcPts val="0"/>
              </a:spcBef>
              <a:spcAft>
                <a:spcPts val="0"/>
              </a:spcAft>
              <a:buClr>
                <a:schemeClr val="dk1"/>
              </a:buClr>
              <a:buSzPts val="930"/>
              <a:buFont typeface="Arial"/>
              <a:buChar char="-"/>
            </a:pPr>
            <a:r>
              <a:rPr lang="en-US" sz="880" b="0" u="none" strike="noStrike">
                <a:solidFill>
                  <a:schemeClr val="dk1"/>
                </a:solidFill>
                <a:latin typeface="Arial"/>
                <a:ea typeface="Arial"/>
                <a:cs typeface="Arial"/>
                <a:sym typeface="Arial"/>
              </a:rPr>
              <a:t>A minimum number of hosts are required when importing existing vCenter environments into VCF as a workload domain. (3 vSAN ready nodes or 2 vSphere hosts configured using NFS or VMFS on FC). Refer to the VCF configmax site for further detail.</a:t>
            </a:r>
            <a:endParaRPr sz="660"/>
          </a:p>
          <a:p>
            <a:pPr marL="171450" marR="0" lvl="0" indent="-171450" algn="l" rtl="0">
              <a:lnSpc>
                <a:spcPct val="40000"/>
              </a:lnSpc>
              <a:spcBef>
                <a:spcPts val="0"/>
              </a:spcBef>
              <a:spcAft>
                <a:spcPts val="0"/>
              </a:spcAft>
              <a:buClr>
                <a:schemeClr val="dk1"/>
              </a:buClr>
              <a:buSzPts val="930"/>
              <a:buFont typeface="Arial"/>
              <a:buChar char="-"/>
            </a:pPr>
            <a:r>
              <a:rPr lang="en-US" sz="880" b="0" u="none" strike="noStrike">
                <a:solidFill>
                  <a:schemeClr val="dk1"/>
                </a:solidFill>
                <a:latin typeface="Arial"/>
                <a:ea typeface="Arial"/>
                <a:cs typeface="Arial"/>
                <a:sym typeface="Arial"/>
              </a:rPr>
              <a:t>The management domain of a new (greenfield) VCF instance is configured for NSX.  Each workload domain is also configured for NSX and is ready to be configured for NSX Virtual Networking (SDN).</a:t>
            </a:r>
            <a:endParaRPr sz="660"/>
          </a:p>
          <a:p>
            <a:pPr marL="171450" marR="0" lvl="0" indent="-171450" algn="l" rtl="0">
              <a:lnSpc>
                <a:spcPct val="40000"/>
              </a:lnSpc>
              <a:spcBef>
                <a:spcPts val="0"/>
              </a:spcBef>
              <a:spcAft>
                <a:spcPts val="0"/>
              </a:spcAft>
              <a:buClr>
                <a:schemeClr val="dk1"/>
              </a:buClr>
              <a:buSzPts val="930"/>
              <a:buFont typeface="Arial"/>
              <a:buChar char="-"/>
            </a:pPr>
            <a:r>
              <a:rPr lang="en-US" sz="880" b="0" u="none" strike="noStrike" baseline="30000">
                <a:solidFill>
                  <a:schemeClr val="dk1"/>
                </a:solidFill>
                <a:latin typeface="Arial"/>
                <a:ea typeface="Arial"/>
                <a:cs typeface="Arial"/>
                <a:sym typeface="Arial"/>
              </a:rPr>
              <a:t>1 </a:t>
            </a:r>
            <a:r>
              <a:rPr lang="en-US" sz="880" b="0" u="none" strike="noStrike">
                <a:solidFill>
                  <a:schemeClr val="dk1"/>
                </a:solidFill>
                <a:latin typeface="Arial"/>
                <a:ea typeface="Arial"/>
                <a:cs typeface="Arial"/>
                <a:sym typeface="Arial"/>
              </a:rPr>
              <a:t>VMware supports converging (re-using) existing vSphere clusters to VCF.  Existing vCenter environments to be converged can be pre-deployed with </a:t>
            </a:r>
            <a:r>
              <a:rPr lang="en-US" sz="880" b="0" u="sng" strike="noStrike">
                <a:solidFill>
                  <a:schemeClr val="dk1"/>
                </a:solidFill>
                <a:latin typeface="Arial"/>
                <a:ea typeface="Arial"/>
                <a:cs typeface="Arial"/>
                <a:sym typeface="Arial"/>
              </a:rPr>
              <a:t>vSphere</a:t>
            </a:r>
            <a:r>
              <a:rPr lang="en-US" sz="880" b="0" u="none" strike="noStrike">
                <a:solidFill>
                  <a:schemeClr val="dk1"/>
                </a:solidFill>
                <a:latin typeface="Arial"/>
                <a:ea typeface="Arial"/>
                <a:cs typeface="Arial"/>
                <a:sym typeface="Arial"/>
              </a:rPr>
              <a:t> or </a:t>
            </a:r>
            <a:r>
              <a:rPr lang="en-US" sz="880" b="0" u="sng" strike="noStrike">
                <a:solidFill>
                  <a:schemeClr val="dk1"/>
                </a:solidFill>
                <a:latin typeface="Arial"/>
                <a:ea typeface="Arial"/>
                <a:cs typeface="Arial"/>
                <a:sym typeface="Arial"/>
              </a:rPr>
              <a:t>vSphere with vSAN</a:t>
            </a:r>
            <a:r>
              <a:rPr lang="en-US" sz="880" b="0" u="none" strike="noStrike">
                <a:solidFill>
                  <a:schemeClr val="dk1"/>
                </a:solidFill>
                <a:latin typeface="Arial"/>
                <a:ea typeface="Arial"/>
                <a:cs typeface="Arial"/>
                <a:sym typeface="Arial"/>
              </a:rPr>
              <a:t>.  Existing vCenter environments with NSX installed are not initially supported to be converged to a VCF management domain at this time.  </a:t>
            </a:r>
            <a:r>
              <a:rPr lang="en-US" sz="880" b="0" u="sng" strike="noStrike">
                <a:solidFill>
                  <a:schemeClr val="dk1"/>
                </a:solidFill>
                <a:latin typeface="Arial"/>
                <a:ea typeface="Arial"/>
                <a:cs typeface="Arial"/>
                <a:sym typeface="Arial"/>
              </a:rPr>
              <a:t>A fresh instance of NSX is installed as part of the process.</a:t>
            </a:r>
            <a:endParaRPr/>
          </a:p>
          <a:p>
            <a:pPr marL="171450" marR="0" lvl="0" indent="-171450" algn="l" rtl="0">
              <a:lnSpc>
                <a:spcPct val="40000"/>
              </a:lnSpc>
              <a:spcBef>
                <a:spcPts val="0"/>
              </a:spcBef>
              <a:spcAft>
                <a:spcPts val="0"/>
              </a:spcAft>
              <a:buClr>
                <a:schemeClr val="dk1"/>
              </a:buClr>
              <a:buSzPts val="930"/>
              <a:buFont typeface="Arial"/>
              <a:buChar char="-"/>
            </a:pPr>
            <a:r>
              <a:rPr lang="en-US" sz="880" i="0"/>
              <a:t>Existing vCenter environments with NSX installed can be imported as Workload Domains.</a:t>
            </a:r>
            <a:endParaRPr sz="880" i="0" u="sng"/>
          </a:p>
          <a:p>
            <a:pPr marL="171450" marR="0" lvl="0" indent="-171450" algn="l" rtl="0">
              <a:lnSpc>
                <a:spcPct val="40000"/>
              </a:lnSpc>
              <a:spcBef>
                <a:spcPts val="0"/>
              </a:spcBef>
              <a:spcAft>
                <a:spcPts val="0"/>
              </a:spcAft>
              <a:buClr>
                <a:schemeClr val="dk1"/>
              </a:buClr>
              <a:buSzPts val="930"/>
              <a:buFont typeface="Arial"/>
              <a:buChar char="-"/>
            </a:pPr>
            <a:r>
              <a:rPr lang="en-US" sz="880" strike="noStrike">
                <a:latin typeface="Arial"/>
                <a:ea typeface="Arial"/>
                <a:cs typeface="Arial"/>
                <a:sym typeface="Arial"/>
              </a:rPr>
              <a:t>A new VCF instance is deployed in evaluation mode. </a:t>
            </a:r>
            <a:r>
              <a:rPr lang="en-US" sz="880">
                <a:latin typeface="Arial"/>
                <a:ea typeface="Arial"/>
                <a:cs typeface="Arial"/>
                <a:sym typeface="Arial"/>
              </a:rPr>
              <a:t>VCF is fully functional while the deployment is running in evaluation mode and allows a user to deploy additional hosts, workload domains and clusters. </a:t>
            </a:r>
            <a:r>
              <a:rPr lang="en-US" sz="880" strike="noStrike">
                <a:latin typeface="Arial"/>
                <a:ea typeface="Arial"/>
                <a:cs typeface="Arial"/>
                <a:sym typeface="Arial"/>
              </a:rPr>
              <a:t>The VCF 9 instance is required to be licensed within the first 60 days of a deployment using a license file.  VCF Operations directs the user to the Broadcom Business Services Console to complete this process.</a:t>
            </a:r>
            <a:endParaRPr sz="880" b="0" u="none" strike="noStrike">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880"/>
              <a:buFont typeface="Arial"/>
              <a:buNone/>
            </a:pPr>
            <a:endParaRPr sz="880" b="1" u="none" strike="noStrike">
              <a:solidFill>
                <a:schemeClr val="dk1"/>
              </a:solidFill>
              <a:latin typeface="Arial"/>
              <a:ea typeface="Arial"/>
              <a:cs typeface="Arial"/>
              <a:sym typeface="Arial"/>
            </a:endParaRPr>
          </a:p>
          <a:p>
            <a:pPr marL="0" lvl="0" indent="0" algn="l" rtl="0">
              <a:lnSpc>
                <a:spcPct val="40000"/>
              </a:lnSpc>
              <a:spcBef>
                <a:spcPts val="0"/>
              </a:spcBef>
              <a:spcAft>
                <a:spcPts val="0"/>
              </a:spcAft>
              <a:buClr>
                <a:schemeClr val="dk1"/>
              </a:buClr>
              <a:buSzPts val="930"/>
              <a:buFont typeface="Arial"/>
              <a:buNone/>
            </a:pPr>
            <a:r>
              <a:rPr lang="en-US" sz="880" b="1" u="none" strike="noStrike">
                <a:solidFill>
                  <a:schemeClr val="dk1"/>
                </a:solidFill>
                <a:latin typeface="Arial"/>
                <a:ea typeface="Arial"/>
                <a:cs typeface="Arial"/>
                <a:sym typeface="Arial"/>
              </a:rPr>
              <a:t>Resources:</a:t>
            </a:r>
            <a:endParaRPr sz="660"/>
          </a:p>
          <a:p>
            <a:pPr marL="285750" marR="0" lvl="0" indent="-285750" algn="l" rtl="0">
              <a:lnSpc>
                <a:spcPct val="60000"/>
              </a:lnSpc>
              <a:spcBef>
                <a:spcPts val="0"/>
              </a:spcBef>
              <a:spcAft>
                <a:spcPts val="0"/>
              </a:spcAft>
              <a:buClr>
                <a:schemeClr val="dk1"/>
              </a:buClr>
              <a:buSzPts val="930"/>
              <a:buFont typeface="Arial"/>
              <a:buChar char="-"/>
            </a:pPr>
            <a:r>
              <a:rPr lang="en-US" sz="880" b="0">
                <a:latin typeface="Arial"/>
                <a:ea typeface="Arial"/>
                <a:cs typeface="Arial"/>
                <a:sym typeface="Arial"/>
              </a:rPr>
              <a:t>Planning and Preparation Workbook:</a:t>
            </a:r>
            <a:br>
              <a:rPr lang="en-US" sz="880" b="0">
                <a:latin typeface="Arial"/>
                <a:ea typeface="Arial"/>
                <a:cs typeface="Arial"/>
                <a:sym typeface="Arial"/>
              </a:rPr>
            </a:br>
            <a:r>
              <a:rPr lang="en-US" sz="880" b="0">
                <a:latin typeface="Arial"/>
                <a:ea typeface="Arial"/>
                <a:cs typeface="Arial"/>
                <a:sym typeface="Arial"/>
              </a:rPr>
              <a:t>&lt;techdocs link&gt;</a:t>
            </a:r>
            <a:endParaRPr sz="880" b="0" strike="noStrike">
              <a:latin typeface="Arial"/>
              <a:ea typeface="Arial"/>
              <a:cs typeface="Arial"/>
              <a:sym typeface="Arial"/>
            </a:endParaRPr>
          </a:p>
          <a:p>
            <a:pPr marL="285750" marR="0" lvl="0" indent="-285750" algn="l" rtl="0">
              <a:lnSpc>
                <a:spcPct val="60000"/>
              </a:lnSpc>
              <a:spcBef>
                <a:spcPts val="0"/>
              </a:spcBef>
              <a:spcAft>
                <a:spcPts val="0"/>
              </a:spcAft>
              <a:buClr>
                <a:schemeClr val="dk1"/>
              </a:buClr>
              <a:buSzPts val="930"/>
              <a:buFont typeface="Arial"/>
              <a:buChar char="-"/>
            </a:pPr>
            <a:r>
              <a:rPr lang="en-US" sz="880" strike="noStrike">
                <a:latin typeface="Arial"/>
                <a:ea typeface="Arial"/>
                <a:cs typeface="Arial"/>
                <a:sym typeface="Arial"/>
              </a:rPr>
              <a:t>VMware Configmax site:</a:t>
            </a:r>
            <a:br>
              <a:rPr lang="en-US" sz="880" strike="noStrike">
                <a:latin typeface="Arial"/>
                <a:ea typeface="Arial"/>
                <a:cs typeface="Arial"/>
                <a:sym typeface="Arial"/>
              </a:rPr>
            </a:br>
            <a:r>
              <a:rPr lang="en-US" sz="880" u="sng" strike="noStrike">
                <a:solidFill>
                  <a:srgbClr val="DCA10D"/>
                </a:solid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https://configmax.esp.vmware.com/home</a:t>
            </a:r>
            <a:r>
              <a:rPr lang="en-US" sz="880" strike="noStrike">
                <a:solidFill>
                  <a:srgbClr val="000000"/>
                </a:solidFill>
                <a:latin typeface="Helvetica Neue"/>
                <a:ea typeface="Helvetica Neue"/>
                <a:cs typeface="Helvetica Neue"/>
                <a:sym typeface="Helvetica Neue"/>
              </a:rPr>
              <a:t> </a:t>
            </a:r>
            <a:endParaRPr sz="880" strike="noStrike">
              <a:solidFill>
                <a:srgbClr val="DCA10D"/>
              </a:solidFill>
              <a:latin typeface="Helvetica Neue"/>
              <a:ea typeface="Helvetica Neue"/>
              <a:cs typeface="Helvetica Neue"/>
              <a:sym typeface="Helvetica Neue"/>
            </a:endParaRPr>
          </a:p>
          <a:p>
            <a:pPr marL="0" lvl="0" indent="0" algn="l" rtl="0">
              <a:lnSpc>
                <a:spcPct val="60000"/>
              </a:lnSpc>
              <a:spcBef>
                <a:spcPts val="0"/>
              </a:spcBef>
              <a:spcAft>
                <a:spcPts val="0"/>
              </a:spcAft>
              <a:buClr>
                <a:schemeClr val="dk1"/>
              </a:buClr>
              <a:buSzPts val="880"/>
              <a:buFont typeface="Arial"/>
              <a:buNone/>
            </a:pPr>
            <a:endParaRPr sz="880"/>
          </a:p>
          <a:p>
            <a:pPr marL="0" lvl="0" indent="0" algn="l" rtl="0">
              <a:lnSpc>
                <a:spcPct val="60000"/>
              </a:lnSpc>
              <a:spcBef>
                <a:spcPts val="0"/>
              </a:spcBef>
              <a:spcAft>
                <a:spcPts val="0"/>
              </a:spcAft>
              <a:buClr>
                <a:schemeClr val="dk1"/>
              </a:buClr>
              <a:buSzPts val="880"/>
              <a:buFont typeface="Arial"/>
              <a:buNone/>
            </a:pPr>
            <a:endParaRPr sz="880"/>
          </a:p>
          <a:p>
            <a:pPr marL="0" lvl="0" indent="0" algn="l" rtl="0">
              <a:lnSpc>
                <a:spcPct val="80000"/>
              </a:lnSpc>
              <a:spcBef>
                <a:spcPts val="0"/>
              </a:spcBef>
              <a:spcAft>
                <a:spcPts val="0"/>
              </a:spcAft>
              <a:buNone/>
            </a:pPr>
            <a:endParaRPr sz="660"/>
          </a:p>
        </p:txBody>
      </p:sp>
      <p:sp>
        <p:nvSpPr>
          <p:cNvPr id="4556" name="Google Shape;4556;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4"/>
        <p:cNvGrpSpPr/>
        <p:nvPr/>
      </p:nvGrpSpPr>
      <p:grpSpPr>
        <a:xfrm>
          <a:off x="0" y="0"/>
          <a:ext cx="0" cy="0"/>
          <a:chOff x="0" y="0"/>
          <a:chExt cx="0" cy="0"/>
        </a:xfrm>
      </p:grpSpPr>
      <p:sp>
        <p:nvSpPr>
          <p:cNvPr id="4585" name="Google Shape;4585;p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6" name="Google Shape;4586;p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60000"/>
              </a:lnSpc>
              <a:spcBef>
                <a:spcPts val="0"/>
              </a:spcBef>
              <a:spcAft>
                <a:spcPts val="0"/>
              </a:spcAft>
              <a:buClr>
                <a:schemeClr val="dk1"/>
              </a:buClr>
              <a:buSzPts val="1430"/>
              <a:buFont typeface="Arial"/>
              <a:buNone/>
            </a:pPr>
            <a:r>
              <a:rPr lang="en-US" sz="1430" b="1" dirty="0">
                <a:latin typeface="Arial"/>
                <a:ea typeface="Arial"/>
                <a:cs typeface="Arial"/>
                <a:sym typeface="Arial"/>
              </a:rPr>
              <a:t>Presenter Note:  This slide contains animation</a:t>
            </a:r>
            <a:endParaRPr dirty="0"/>
          </a:p>
          <a:p>
            <a:pPr marL="0" lvl="0" indent="0" algn="l" rtl="0">
              <a:lnSpc>
                <a:spcPct val="60000"/>
              </a:lnSpc>
              <a:spcBef>
                <a:spcPts val="0"/>
              </a:spcBef>
              <a:spcAft>
                <a:spcPts val="0"/>
              </a:spcAft>
              <a:buClr>
                <a:schemeClr val="dk1"/>
              </a:buClr>
              <a:buSzPts val="780"/>
              <a:buFont typeface="Arial"/>
              <a:buNone/>
            </a:pPr>
            <a:endParaRPr sz="780" b="1" u="none" strike="noStrike" dirty="0">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780"/>
              <a:buFont typeface="Arial"/>
              <a:buNone/>
            </a:pPr>
            <a:r>
              <a:rPr lang="en-US" sz="780" b="1" u="none" strike="noStrike" dirty="0">
                <a:solidFill>
                  <a:schemeClr val="dk1"/>
                </a:solidFill>
                <a:latin typeface="Arial"/>
                <a:ea typeface="Arial"/>
                <a:cs typeface="Arial"/>
                <a:sym typeface="Arial"/>
              </a:rPr>
              <a:t>Key Message:</a:t>
            </a:r>
            <a:endParaRPr dirty="0"/>
          </a:p>
          <a:p>
            <a:pPr marL="0" marR="0" lvl="0" indent="0" algn="l" rtl="0">
              <a:lnSpc>
                <a:spcPct val="60000"/>
              </a:lnSpc>
              <a:spcBef>
                <a:spcPts val="0"/>
              </a:spcBef>
              <a:spcAft>
                <a:spcPts val="0"/>
              </a:spcAft>
              <a:buClr>
                <a:schemeClr val="dk1"/>
              </a:buClr>
              <a:buSzPts val="620"/>
              <a:buFont typeface="Arial"/>
              <a:buNone/>
            </a:pPr>
            <a:r>
              <a:rPr lang="en-US" sz="780" b="0" u="none" dirty="0">
                <a:solidFill>
                  <a:schemeClr val="dk1"/>
                </a:solidFill>
              </a:rPr>
              <a:t>VCF 9 provides an integrated and unified operations experience (discussed in more detail later during this presentation).</a:t>
            </a:r>
            <a:endParaRPr dirty="0"/>
          </a:p>
          <a:p>
            <a:pPr marL="0" marR="0" lvl="0" indent="0" algn="l" rtl="0">
              <a:lnSpc>
                <a:spcPct val="60000"/>
              </a:lnSpc>
              <a:spcBef>
                <a:spcPts val="0"/>
              </a:spcBef>
              <a:spcAft>
                <a:spcPts val="0"/>
              </a:spcAft>
              <a:buClr>
                <a:schemeClr val="dk1"/>
              </a:buClr>
              <a:buSzPts val="780"/>
              <a:buFont typeface="Arial"/>
              <a:buNone/>
            </a:pPr>
            <a:r>
              <a:rPr lang="en-US" sz="780" dirty="0">
                <a:solidFill>
                  <a:schemeClr val="dk1"/>
                </a:solidFill>
              </a:rPr>
              <a:t>VCF Operations can also be used to </a:t>
            </a:r>
            <a:r>
              <a:rPr lang="en-US" sz="780" b="0" dirty="0">
                <a:solidFill>
                  <a:schemeClr val="dk1"/>
                </a:solidFill>
              </a:rPr>
              <a:t>import pre-</a:t>
            </a:r>
            <a:r>
              <a:rPr lang="en-US" sz="780" dirty="0">
                <a:solidFill>
                  <a:schemeClr val="dk1"/>
                </a:solidFill>
              </a:rPr>
              <a:t>existing vCenter deployments into an existing VMware Cloud Foundation instance.</a:t>
            </a:r>
            <a:endParaRPr dirty="0"/>
          </a:p>
          <a:p>
            <a:pPr marL="0" marR="0" lvl="0" indent="0" algn="l" rtl="0">
              <a:lnSpc>
                <a:spcPct val="60000"/>
              </a:lnSpc>
              <a:spcBef>
                <a:spcPts val="0"/>
              </a:spcBef>
              <a:spcAft>
                <a:spcPts val="0"/>
              </a:spcAft>
              <a:buClr>
                <a:schemeClr val="dk1"/>
              </a:buClr>
              <a:buSzPts val="780"/>
              <a:buFont typeface="Arial"/>
              <a:buNone/>
            </a:pPr>
            <a:r>
              <a:rPr lang="en-US" sz="780" dirty="0">
                <a:solidFill>
                  <a:schemeClr val="dk1"/>
                </a:solidFill>
              </a:rPr>
              <a:t> </a:t>
            </a:r>
            <a:endParaRPr sz="780" b="1" dirty="0">
              <a:latin typeface="Arial"/>
              <a:ea typeface="Arial"/>
              <a:cs typeface="Arial"/>
              <a:sym typeface="Arial"/>
            </a:endParaRPr>
          </a:p>
          <a:p>
            <a:pPr marL="0" marR="0" lvl="0" indent="0" algn="l" rtl="0">
              <a:lnSpc>
                <a:spcPct val="60000"/>
              </a:lnSpc>
              <a:spcBef>
                <a:spcPts val="0"/>
              </a:spcBef>
              <a:spcAft>
                <a:spcPts val="0"/>
              </a:spcAft>
              <a:buClr>
                <a:schemeClr val="dk1"/>
              </a:buClr>
              <a:buSzPts val="780"/>
              <a:buFont typeface="Arial"/>
              <a:buNone/>
            </a:pPr>
            <a:r>
              <a:rPr lang="en-US" sz="780" b="1" dirty="0">
                <a:latin typeface="Arial"/>
                <a:ea typeface="Arial"/>
                <a:cs typeface="Arial"/>
                <a:sym typeface="Arial"/>
              </a:rPr>
              <a:t>Talk Track:</a:t>
            </a:r>
            <a:endParaRPr sz="1300" dirty="0">
              <a:solidFill>
                <a:schemeClr val="dk1"/>
              </a:solidFill>
            </a:endParaRPr>
          </a:p>
          <a:p>
            <a:pPr marL="0" marR="0" lvl="0" indent="0" algn="l" rtl="0">
              <a:lnSpc>
                <a:spcPct val="60000"/>
              </a:lnSpc>
              <a:spcBef>
                <a:spcPts val="0"/>
              </a:spcBef>
              <a:spcAft>
                <a:spcPts val="0"/>
              </a:spcAft>
              <a:buClr>
                <a:schemeClr val="dk1"/>
              </a:buClr>
              <a:buSzPts val="620"/>
              <a:buFont typeface="Arial"/>
              <a:buNone/>
            </a:pPr>
            <a:r>
              <a:rPr lang="en-US" sz="1300" b="0" u="none" dirty="0">
                <a:solidFill>
                  <a:schemeClr val="dk1"/>
                </a:solidFill>
              </a:rPr>
              <a:t>From VCF 9 private cloud operations and management is performed using the VCF Operations Console.</a:t>
            </a:r>
            <a:endParaRPr dirty="0"/>
          </a:p>
          <a:p>
            <a:pPr marL="0" marR="0" lvl="0" indent="0" algn="l" rtl="0">
              <a:lnSpc>
                <a:spcPct val="60000"/>
              </a:lnSpc>
              <a:spcBef>
                <a:spcPts val="0"/>
              </a:spcBef>
              <a:spcAft>
                <a:spcPts val="0"/>
              </a:spcAft>
              <a:buClr>
                <a:schemeClr val="dk1"/>
              </a:buClr>
              <a:buSzPts val="620"/>
              <a:buFont typeface="Arial"/>
              <a:buNone/>
            </a:pPr>
            <a:r>
              <a:rPr lang="en-US" sz="1300" b="0" u="none" dirty="0">
                <a:solidFill>
                  <a:schemeClr val="dk1"/>
                </a:solidFill>
              </a:rPr>
              <a:t>VCF Operations provides cloud administrators with a unified and feature rich operations experience which spans compute, storage, networking, fleet management and lifecycle management. </a:t>
            </a:r>
            <a:endParaRPr dirty="0"/>
          </a:p>
          <a:p>
            <a:pPr marL="0" marR="0" lvl="0" indent="0" algn="l" rtl="0">
              <a:lnSpc>
                <a:spcPct val="60000"/>
              </a:lnSpc>
              <a:spcBef>
                <a:spcPts val="0"/>
              </a:spcBef>
              <a:spcAft>
                <a:spcPts val="0"/>
              </a:spcAft>
              <a:buClr>
                <a:schemeClr val="dk1"/>
              </a:buClr>
              <a:buSzPts val="620"/>
              <a:buFont typeface="Arial"/>
              <a:buNone/>
            </a:pPr>
            <a:endParaRPr sz="1300" b="0" u="none" dirty="0">
              <a:solidFill>
                <a:schemeClr val="dk1"/>
              </a:solidFill>
            </a:endParaRPr>
          </a:p>
          <a:p>
            <a:pPr marL="0" marR="0" lvl="0" indent="0" algn="l" rtl="0">
              <a:lnSpc>
                <a:spcPct val="40000"/>
              </a:lnSpc>
              <a:spcBef>
                <a:spcPts val="0"/>
              </a:spcBef>
              <a:spcAft>
                <a:spcPts val="0"/>
              </a:spcAft>
              <a:buClr>
                <a:schemeClr val="dk1"/>
              </a:buClr>
              <a:buSzPts val="620"/>
              <a:buFont typeface="Arial"/>
              <a:buNone/>
            </a:pPr>
            <a:r>
              <a:rPr lang="en-US" sz="1300" b="1" u="none" dirty="0">
                <a:solidFill>
                  <a:schemeClr val="dk1"/>
                </a:solidFill>
              </a:rPr>
              <a:t>VCF Ops for VCF 9 also includes inbuilt workflows supporting an additional two VCF deployment pathways.</a:t>
            </a:r>
            <a:endParaRPr dirty="0"/>
          </a:p>
          <a:p>
            <a:pPr marL="0" marR="0" lvl="0" indent="0" algn="l" rtl="0">
              <a:lnSpc>
                <a:spcPct val="40000"/>
              </a:lnSpc>
              <a:spcBef>
                <a:spcPts val="0"/>
              </a:spcBef>
              <a:spcAft>
                <a:spcPts val="0"/>
              </a:spcAft>
              <a:buClr>
                <a:schemeClr val="dk1"/>
              </a:buClr>
              <a:buSzPts val="620"/>
              <a:buFont typeface="Arial"/>
              <a:buNone/>
            </a:pPr>
            <a:endParaRPr sz="1300" b="0" u="none" dirty="0">
              <a:solidFill>
                <a:schemeClr val="dk1"/>
              </a:solidFill>
            </a:endParaRPr>
          </a:p>
          <a:p>
            <a:pPr marL="0" marR="0" lvl="0" indent="0" algn="l" rtl="0">
              <a:lnSpc>
                <a:spcPct val="40000"/>
              </a:lnSpc>
              <a:spcBef>
                <a:spcPts val="0"/>
              </a:spcBef>
              <a:spcAft>
                <a:spcPts val="0"/>
              </a:spcAft>
              <a:buClr>
                <a:schemeClr val="dk1"/>
              </a:buClr>
              <a:buSzPts val="620"/>
              <a:buFont typeface="Arial"/>
              <a:buNone/>
            </a:pPr>
            <a:r>
              <a:rPr lang="en-US" sz="1300" b="0" u="none" dirty="0">
                <a:solidFill>
                  <a:schemeClr val="dk1"/>
                </a:solidFill>
              </a:rPr>
              <a:t>You can use VCF Operations to create a new workload domain or…</a:t>
            </a:r>
            <a:br>
              <a:rPr lang="en-US" sz="1300" b="0" u="none" dirty="0">
                <a:solidFill>
                  <a:schemeClr val="dk1"/>
                </a:solidFill>
              </a:rPr>
            </a:br>
            <a:endParaRPr sz="1300" b="0" u="sng" dirty="0">
              <a:solidFill>
                <a:schemeClr val="dk1"/>
              </a:solidFill>
            </a:endParaRPr>
          </a:p>
          <a:p>
            <a:pPr marL="0" marR="0" lvl="0" indent="0" algn="l" rtl="0">
              <a:lnSpc>
                <a:spcPct val="60000"/>
              </a:lnSpc>
              <a:spcBef>
                <a:spcPts val="0"/>
              </a:spcBef>
              <a:spcAft>
                <a:spcPts val="0"/>
              </a:spcAft>
              <a:buClr>
                <a:schemeClr val="dk1"/>
              </a:buClr>
              <a:buSzPts val="620"/>
              <a:buFont typeface="Arial"/>
              <a:buNone/>
            </a:pPr>
            <a:r>
              <a:rPr lang="en-US" sz="260" dirty="0">
                <a:solidFill>
                  <a:schemeClr val="dk1"/>
                </a:solidFill>
              </a:rPr>
              <a:t>&lt;click 1&gt;</a:t>
            </a:r>
            <a:endParaRPr sz="260" b="0" u="sng" dirty="0">
              <a:solidFill>
                <a:schemeClr val="accent2"/>
              </a:solidFill>
            </a:endParaRPr>
          </a:p>
          <a:p>
            <a:pPr marL="0" marR="0" lvl="0" indent="0" algn="l" rtl="0">
              <a:lnSpc>
                <a:spcPct val="80000"/>
              </a:lnSpc>
              <a:spcBef>
                <a:spcPts val="0"/>
              </a:spcBef>
              <a:spcAft>
                <a:spcPts val="0"/>
              </a:spcAft>
              <a:buClr>
                <a:schemeClr val="dk1"/>
              </a:buClr>
              <a:buSzPts val="1300"/>
              <a:buFont typeface="Arial"/>
              <a:buNone/>
            </a:pPr>
            <a:r>
              <a:rPr lang="en-US" sz="1300" dirty="0">
                <a:solidFill>
                  <a:schemeClr val="dk1"/>
                </a:solidFill>
              </a:rPr>
              <a:t>VCF Operations can also be used to </a:t>
            </a:r>
            <a:r>
              <a:rPr lang="en-US" sz="1300" b="0" dirty="0">
                <a:solidFill>
                  <a:schemeClr val="dk1"/>
                </a:solidFill>
              </a:rPr>
              <a:t>import </a:t>
            </a:r>
            <a:r>
              <a:rPr lang="en-US" sz="1300" dirty="0">
                <a:solidFill>
                  <a:schemeClr val="dk1"/>
                </a:solidFill>
              </a:rPr>
              <a:t>additional (existing) vCenter deployments into an existing VMware Cloud Foundation instance for centralized management and operations.</a:t>
            </a:r>
            <a:endParaRPr dirty="0"/>
          </a:p>
          <a:p>
            <a:pPr marL="0" marR="0" lvl="0" indent="0" algn="l" rtl="0">
              <a:lnSpc>
                <a:spcPct val="80000"/>
              </a:lnSpc>
              <a:spcBef>
                <a:spcPts val="0"/>
              </a:spcBef>
              <a:spcAft>
                <a:spcPts val="0"/>
              </a:spcAft>
              <a:buClr>
                <a:schemeClr val="dk1"/>
              </a:buClr>
              <a:buSzPts val="1300"/>
              <a:buFont typeface="Arial"/>
              <a:buNone/>
            </a:pPr>
            <a:br>
              <a:rPr lang="en-US" sz="1300" dirty="0">
                <a:solidFill>
                  <a:schemeClr val="dk1"/>
                </a:solidFill>
              </a:rPr>
            </a:br>
            <a:r>
              <a:rPr lang="en-US" sz="1300" dirty="0">
                <a:solidFill>
                  <a:schemeClr val="dk1"/>
                </a:solidFill>
              </a:rPr>
              <a:t>&lt;click 2&gt;</a:t>
            </a:r>
            <a:endParaRPr dirty="0"/>
          </a:p>
          <a:p>
            <a:pPr marL="0" marR="0" lvl="0" indent="0" algn="l" rtl="0">
              <a:lnSpc>
                <a:spcPct val="80000"/>
              </a:lnSpc>
              <a:spcBef>
                <a:spcPts val="0"/>
              </a:spcBef>
              <a:spcAft>
                <a:spcPts val="0"/>
              </a:spcAft>
              <a:buClr>
                <a:schemeClr val="dk1"/>
              </a:buClr>
              <a:buSzPts val="1300"/>
              <a:buFont typeface="Arial"/>
              <a:buNone/>
            </a:pPr>
            <a:r>
              <a:rPr lang="en-US" sz="1300" dirty="0">
                <a:solidFill>
                  <a:schemeClr val="dk1"/>
                </a:solidFill>
              </a:rPr>
              <a:t>In this instance each vCenter deployment is imported into the VCF Inventory as a workload domain.</a:t>
            </a:r>
            <a:br>
              <a:rPr lang="en-US" sz="1300" dirty="0">
                <a:solidFill>
                  <a:schemeClr val="dk1"/>
                </a:solidFill>
              </a:rPr>
            </a:br>
            <a:endParaRPr sz="1300" b="1"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780"/>
              <a:buFont typeface="Arial"/>
              <a:buNone/>
            </a:pPr>
            <a:r>
              <a:rPr lang="en-US" sz="780" b="0" u="none" dirty="0">
                <a:solidFill>
                  <a:schemeClr val="dk1"/>
                </a:solidFill>
              </a:rPr>
              <a:t>VCF Operations will be discussed in more detail later in this presentation.</a:t>
            </a:r>
            <a:endParaRPr dirty="0"/>
          </a:p>
          <a:p>
            <a:pPr marL="0" marR="0" lvl="0" indent="0" algn="l" rtl="0">
              <a:lnSpc>
                <a:spcPct val="60000"/>
              </a:lnSpc>
              <a:spcBef>
                <a:spcPts val="0"/>
              </a:spcBef>
              <a:spcAft>
                <a:spcPts val="0"/>
              </a:spcAft>
              <a:buClr>
                <a:schemeClr val="dk1"/>
              </a:buClr>
              <a:buSzPts val="780"/>
              <a:buFont typeface="Arial"/>
              <a:buNone/>
            </a:pPr>
            <a:endParaRPr sz="780" b="1" dirty="0">
              <a:latin typeface="Arial"/>
              <a:ea typeface="Arial"/>
              <a:cs typeface="Arial"/>
              <a:sym typeface="Arial"/>
            </a:endParaRPr>
          </a:p>
          <a:p>
            <a:pPr marL="0" marR="0" lvl="0" indent="0" algn="l" rtl="0">
              <a:lnSpc>
                <a:spcPct val="60000"/>
              </a:lnSpc>
              <a:spcBef>
                <a:spcPts val="0"/>
              </a:spcBef>
              <a:spcAft>
                <a:spcPts val="0"/>
              </a:spcAft>
              <a:buClr>
                <a:schemeClr val="dk1"/>
              </a:buClr>
              <a:buSzPts val="780"/>
              <a:buFont typeface="Arial"/>
              <a:buNone/>
            </a:pPr>
            <a:r>
              <a:rPr lang="en-US" sz="780" b="1" dirty="0">
                <a:latin typeface="Arial"/>
                <a:ea typeface="Arial"/>
                <a:cs typeface="Arial"/>
                <a:sym typeface="Arial"/>
              </a:rPr>
              <a:t>Notes:</a:t>
            </a:r>
            <a:br>
              <a:rPr lang="en-US" sz="780" b="0" dirty="0">
                <a:solidFill>
                  <a:schemeClr val="dk1"/>
                </a:solidFill>
                <a:latin typeface="Arial"/>
                <a:ea typeface="Arial"/>
                <a:cs typeface="Arial"/>
                <a:sym typeface="Arial"/>
              </a:rPr>
            </a:br>
            <a:r>
              <a:rPr lang="en-US" sz="780" b="0" u="sng" dirty="0">
                <a:solidFill>
                  <a:schemeClr val="dk1"/>
                </a:solidFill>
                <a:latin typeface="Arial"/>
                <a:ea typeface="Arial"/>
                <a:cs typeface="Arial"/>
                <a:sym typeface="Arial"/>
              </a:rPr>
              <a:t>Importing additional vCenter deployments into VCF:</a:t>
            </a:r>
            <a:endParaRPr dirty="0"/>
          </a:p>
          <a:p>
            <a:pPr marL="171450" marR="0" lvl="0" indent="-171450" algn="l" rtl="0">
              <a:lnSpc>
                <a:spcPct val="60000"/>
              </a:lnSpc>
              <a:spcBef>
                <a:spcPts val="0"/>
              </a:spcBef>
              <a:spcAft>
                <a:spcPts val="0"/>
              </a:spcAft>
              <a:buClr>
                <a:schemeClr val="dk1"/>
              </a:buClr>
              <a:buSzPts val="260"/>
              <a:buFont typeface="Arial"/>
              <a:buChar char="-"/>
            </a:pPr>
            <a:r>
              <a:rPr lang="en-US" sz="260" b="0" dirty="0">
                <a:solidFill>
                  <a:schemeClr val="dk1"/>
                </a:solidFill>
                <a:latin typeface="Arial"/>
                <a:ea typeface="Arial"/>
                <a:cs typeface="Arial"/>
                <a:sym typeface="Arial"/>
              </a:rPr>
              <a:t>When importing a vCenter deployment into a VCF instance all clusters within the vCenter server are imported and configured as part of a workload domain.</a:t>
            </a:r>
            <a:br>
              <a:rPr lang="en-US" sz="260" b="0" dirty="0">
                <a:solidFill>
                  <a:schemeClr val="dk1"/>
                </a:solidFill>
                <a:latin typeface="Arial"/>
                <a:ea typeface="Arial"/>
                <a:cs typeface="Arial"/>
                <a:sym typeface="Arial"/>
              </a:rPr>
            </a:br>
            <a:r>
              <a:rPr lang="en-US" sz="260" b="0" dirty="0">
                <a:solidFill>
                  <a:schemeClr val="dk1"/>
                </a:solidFill>
                <a:latin typeface="Arial"/>
                <a:ea typeface="Arial"/>
                <a:cs typeface="Arial"/>
                <a:sym typeface="Arial"/>
              </a:rPr>
              <a:t>- vSphere clusters configured with/without </a:t>
            </a:r>
            <a:r>
              <a:rPr lang="en-US" sz="260" b="0" dirty="0" err="1">
                <a:solidFill>
                  <a:schemeClr val="dk1"/>
                </a:solidFill>
                <a:latin typeface="Arial"/>
                <a:ea typeface="Arial"/>
                <a:cs typeface="Arial"/>
                <a:sym typeface="Arial"/>
              </a:rPr>
              <a:t>vSAN</a:t>
            </a:r>
            <a:r>
              <a:rPr lang="en-US" sz="260" b="0" dirty="0">
                <a:solidFill>
                  <a:schemeClr val="dk1"/>
                </a:solidFill>
                <a:latin typeface="Arial"/>
                <a:ea typeface="Arial"/>
                <a:cs typeface="Arial"/>
                <a:sym typeface="Arial"/>
              </a:rPr>
              <a:t>, vSphere clusters configured with/without NSX and any combination of the 3 software components can be used when importing a vSphere cluster to an existing VCF instance from VCF Operations. NSX is deployed as part of the process if it is not already present.</a:t>
            </a:r>
            <a:br>
              <a:rPr lang="en-US" sz="260" b="0" dirty="0">
                <a:solidFill>
                  <a:schemeClr val="dk1"/>
                </a:solidFill>
                <a:latin typeface="Arial"/>
                <a:ea typeface="Arial"/>
                <a:cs typeface="Arial"/>
                <a:sym typeface="Arial"/>
              </a:rPr>
            </a:br>
            <a:br>
              <a:rPr lang="en-US" sz="260" b="0" dirty="0">
                <a:solidFill>
                  <a:schemeClr val="dk1"/>
                </a:solidFill>
                <a:latin typeface="Arial"/>
                <a:ea typeface="Arial"/>
                <a:cs typeface="Arial"/>
                <a:sym typeface="Arial"/>
              </a:rPr>
            </a:br>
            <a:r>
              <a:rPr lang="en-US" sz="780" dirty="0">
                <a:solidFill>
                  <a:schemeClr val="dk1"/>
                </a:solidFill>
              </a:rPr>
              <a:t>The SDDC Manager appliance is still present and can be used with VCF 9.  SDDC Manager will be deprecated in a future release.</a:t>
            </a:r>
            <a:br>
              <a:rPr lang="en-US" sz="780" b="0" dirty="0">
                <a:solidFill>
                  <a:schemeClr val="dk1"/>
                </a:solidFill>
                <a:latin typeface="Arial"/>
                <a:ea typeface="Arial"/>
                <a:cs typeface="Arial"/>
                <a:sym typeface="Arial"/>
              </a:rPr>
            </a:br>
            <a:br>
              <a:rPr lang="en-US" sz="780" b="1" dirty="0">
                <a:latin typeface="Arial"/>
                <a:ea typeface="Arial"/>
                <a:cs typeface="Arial"/>
                <a:sym typeface="Arial"/>
              </a:rPr>
            </a:br>
            <a:r>
              <a:rPr lang="en-US" sz="780" b="1" dirty="0">
                <a:latin typeface="Arial"/>
                <a:ea typeface="Arial"/>
                <a:cs typeface="Arial"/>
                <a:sym typeface="Arial"/>
              </a:rPr>
              <a:t>Resources:</a:t>
            </a:r>
            <a:endParaRPr dirty="0"/>
          </a:p>
          <a:p>
            <a:pPr marL="0" marR="0" lvl="0" indent="0" algn="l" rtl="0">
              <a:lnSpc>
                <a:spcPct val="60000"/>
              </a:lnSpc>
              <a:spcBef>
                <a:spcPts val="0"/>
              </a:spcBef>
              <a:spcAft>
                <a:spcPts val="0"/>
              </a:spcAft>
              <a:buClr>
                <a:schemeClr val="dk1"/>
              </a:buClr>
              <a:buSzPts val="780"/>
              <a:buFont typeface="Arial"/>
              <a:buNone/>
            </a:pPr>
            <a:endParaRPr sz="780" b="1" dirty="0">
              <a:latin typeface="Arial"/>
              <a:ea typeface="Arial"/>
              <a:cs typeface="Arial"/>
              <a:sym typeface="Arial"/>
            </a:endParaRPr>
          </a:p>
        </p:txBody>
      </p:sp>
      <p:sp>
        <p:nvSpPr>
          <p:cNvPr id="4587" name="Google Shape;4587;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8</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5"/>
        <p:cNvGrpSpPr/>
        <p:nvPr/>
      </p:nvGrpSpPr>
      <p:grpSpPr>
        <a:xfrm>
          <a:off x="0" y="0"/>
          <a:ext cx="0" cy="0"/>
          <a:chOff x="0" y="0"/>
          <a:chExt cx="0" cy="0"/>
        </a:xfrm>
      </p:grpSpPr>
      <p:sp>
        <p:nvSpPr>
          <p:cNvPr id="4706" name="Google Shape;4706;p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7" name="Google Shape;4707;p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50000"/>
              </a:lnSpc>
              <a:spcBef>
                <a:spcPts val="0"/>
              </a:spcBef>
              <a:spcAft>
                <a:spcPts val="0"/>
              </a:spcAft>
              <a:buClr>
                <a:schemeClr val="dk1"/>
              </a:buClr>
              <a:buSzPts val="1140"/>
              <a:buFont typeface="Arial"/>
              <a:buNone/>
            </a:pPr>
            <a:r>
              <a:rPr lang="en-US" sz="1200" b="1" strike="noStrike">
                <a:latin typeface="Arial"/>
                <a:ea typeface="Arial"/>
                <a:cs typeface="Arial"/>
                <a:sym typeface="Arial"/>
              </a:rPr>
              <a:t>Presenter Note:  This slide contains animation</a:t>
            </a:r>
            <a:endParaRPr/>
          </a:p>
          <a:p>
            <a:pPr marL="0" lvl="0" indent="0" algn="l" rtl="0">
              <a:lnSpc>
                <a:spcPct val="50000"/>
              </a:lnSpc>
              <a:spcBef>
                <a:spcPts val="0"/>
              </a:spcBef>
              <a:spcAft>
                <a:spcPts val="0"/>
              </a:spcAft>
              <a:buClr>
                <a:schemeClr val="dk1"/>
              </a:buClr>
              <a:buSzPts val="1140"/>
              <a:buFont typeface="Arial"/>
              <a:buNone/>
            </a:pPr>
            <a:endParaRPr sz="1200" b="1" u="none" strike="noStrike">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1140"/>
              <a:buFont typeface="Arial"/>
              <a:buNone/>
            </a:pPr>
            <a:r>
              <a:rPr lang="en-US" sz="1200" b="1" u="none" strike="noStrike">
                <a:solidFill>
                  <a:schemeClr val="dk1"/>
                </a:solidFill>
                <a:latin typeface="Arial"/>
                <a:ea typeface="Arial"/>
                <a:cs typeface="Arial"/>
                <a:sym typeface="Arial"/>
              </a:rPr>
              <a:t>Key Message:</a:t>
            </a:r>
            <a:endParaRPr sz="700" b="1">
              <a:latin typeface="Arial"/>
              <a:ea typeface="Arial"/>
              <a:cs typeface="Arial"/>
              <a:sym typeface="Arial"/>
            </a:endParaRPr>
          </a:p>
          <a:p>
            <a:pPr marL="0" lvl="0" indent="0" algn="l" rtl="0">
              <a:lnSpc>
                <a:spcPct val="50000"/>
              </a:lnSpc>
              <a:spcBef>
                <a:spcPts val="0"/>
              </a:spcBef>
              <a:spcAft>
                <a:spcPts val="0"/>
              </a:spcAft>
              <a:buClr>
                <a:schemeClr val="dk1"/>
              </a:buClr>
              <a:buSzPts val="1140"/>
              <a:buFont typeface="Arial"/>
              <a:buNone/>
            </a:pPr>
            <a:r>
              <a:rPr lang="en-US" sz="1200">
                <a:latin typeface="Arial"/>
                <a:ea typeface="Arial"/>
                <a:cs typeface="Arial"/>
                <a:sym typeface="Arial"/>
              </a:rPr>
              <a:t>VCF 9 makes it easy to import existing infrastructure directly into Cloud Foundation. </a:t>
            </a:r>
            <a:endParaRPr/>
          </a:p>
          <a:p>
            <a:pPr marL="0" lvl="0" indent="0" algn="l" rtl="0">
              <a:lnSpc>
                <a:spcPct val="50000"/>
              </a:lnSpc>
              <a:spcBef>
                <a:spcPts val="0"/>
              </a:spcBef>
              <a:spcAft>
                <a:spcPts val="0"/>
              </a:spcAft>
              <a:buClr>
                <a:schemeClr val="dk1"/>
              </a:buClr>
              <a:buSzPts val="1140"/>
              <a:buFont typeface="Arial"/>
              <a:buNone/>
            </a:pPr>
            <a:endParaRPr sz="1200">
              <a:latin typeface="Arial"/>
              <a:ea typeface="Arial"/>
              <a:cs typeface="Arial"/>
              <a:sym typeface="Arial"/>
            </a:endParaRPr>
          </a:p>
          <a:p>
            <a:pPr marL="0" lvl="0" indent="0" algn="l" rtl="0">
              <a:lnSpc>
                <a:spcPct val="50000"/>
              </a:lnSpc>
              <a:spcBef>
                <a:spcPts val="0"/>
              </a:spcBef>
              <a:spcAft>
                <a:spcPts val="0"/>
              </a:spcAft>
              <a:buClr>
                <a:schemeClr val="dk1"/>
              </a:buClr>
              <a:buSzPts val="1140"/>
              <a:buFont typeface="Arial"/>
              <a:buNone/>
            </a:pPr>
            <a:r>
              <a:rPr lang="en-US" sz="1200" b="1" u="none" strike="noStrike">
                <a:solidFill>
                  <a:schemeClr val="dk1"/>
                </a:solidFill>
                <a:latin typeface="Arial"/>
                <a:ea typeface="Arial"/>
                <a:cs typeface="Arial"/>
                <a:sym typeface="Arial"/>
              </a:rPr>
              <a:t>Talk Track:</a:t>
            </a:r>
            <a:endParaRPr/>
          </a:p>
          <a:p>
            <a:pPr marL="0" lvl="0" indent="0" algn="l" rtl="0">
              <a:lnSpc>
                <a:spcPct val="50000"/>
              </a:lnSpc>
              <a:spcBef>
                <a:spcPts val="0"/>
              </a:spcBef>
              <a:spcAft>
                <a:spcPts val="0"/>
              </a:spcAft>
              <a:buClr>
                <a:schemeClr val="dk1"/>
              </a:buClr>
              <a:buSzPts val="1140"/>
              <a:buFont typeface="Arial"/>
              <a:buNone/>
            </a:pPr>
            <a:r>
              <a:rPr lang="en-US" sz="1200" b="0" u="none" strike="noStrike">
                <a:solidFill>
                  <a:schemeClr val="dk1"/>
                </a:solidFill>
                <a:latin typeface="Arial"/>
                <a:ea typeface="Arial"/>
                <a:cs typeface="Arial"/>
                <a:sym typeface="Arial"/>
              </a:rPr>
              <a:t>Let’s take a closer look at the options available within VCF Operations to centralize management of external vCenter deployments.</a:t>
            </a:r>
            <a:endParaRPr/>
          </a:p>
          <a:p>
            <a:pPr marL="0" lvl="0" indent="0" algn="l" rtl="0">
              <a:lnSpc>
                <a:spcPct val="50000"/>
              </a:lnSpc>
              <a:spcBef>
                <a:spcPts val="0"/>
              </a:spcBef>
              <a:spcAft>
                <a:spcPts val="0"/>
              </a:spcAft>
              <a:buClr>
                <a:schemeClr val="dk1"/>
              </a:buClr>
              <a:buSzPts val="1140"/>
              <a:buFont typeface="Arial"/>
              <a:buNone/>
            </a:pPr>
            <a:endParaRPr/>
          </a:p>
          <a:p>
            <a:pPr marL="0" lvl="0" indent="0" algn="l" rtl="0">
              <a:lnSpc>
                <a:spcPct val="50000"/>
              </a:lnSpc>
              <a:spcBef>
                <a:spcPts val="0"/>
              </a:spcBef>
              <a:spcAft>
                <a:spcPts val="0"/>
              </a:spcAft>
              <a:buClr>
                <a:schemeClr val="dk1"/>
              </a:buClr>
              <a:buSzPts val="1140"/>
              <a:buFont typeface="Arial"/>
              <a:buNone/>
            </a:pPr>
            <a:r>
              <a:rPr lang="en-US" sz="1200" b="0" u="none" strike="noStrike">
                <a:solidFill>
                  <a:schemeClr val="dk1"/>
                </a:solidFill>
                <a:latin typeface="Arial"/>
                <a:ea typeface="Arial"/>
                <a:cs typeface="Arial"/>
                <a:sym typeface="Arial"/>
              </a:rPr>
              <a:t>VCF Operations makes it easy to add existing vSphere, vSAN and NSX infrastructure into an existing VCF instance.  VCF Operations provides guided workflows for importing pre-existing vSphere infrastructure into a VCF instance as workload domains. </a:t>
            </a:r>
            <a:endParaRPr/>
          </a:p>
          <a:p>
            <a:pPr marL="0" lvl="0" indent="0" algn="l" rtl="0">
              <a:lnSpc>
                <a:spcPct val="50000"/>
              </a:lnSpc>
              <a:spcBef>
                <a:spcPts val="0"/>
              </a:spcBef>
              <a:spcAft>
                <a:spcPts val="0"/>
              </a:spcAft>
              <a:buClr>
                <a:schemeClr val="dk1"/>
              </a:buClr>
              <a:buSzPts val="285"/>
              <a:buFont typeface="Arial"/>
              <a:buNone/>
            </a:pPr>
            <a:endParaRPr sz="400" b="0" u="none" strike="noStrike">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285"/>
              <a:buFont typeface="Arial"/>
              <a:buNone/>
            </a:pPr>
            <a:r>
              <a:rPr lang="en-US" sz="400" b="0" u="none" strike="noStrike">
                <a:solidFill>
                  <a:schemeClr val="dk1"/>
                </a:solidFill>
                <a:latin typeface="Arial"/>
                <a:ea typeface="Arial"/>
                <a:cs typeface="Arial"/>
                <a:sym typeface="Arial"/>
              </a:rPr>
              <a:t>The ability to import pre-existing infrastructure into VCF expedites the path to VCF by allowing customers to leverage existing investments while simultaneously reducing costs.  In addition, with this capability customers no longer need to be concerned with having to migrate existing workloads from existing infrastructure to VCF.</a:t>
            </a:r>
            <a:endParaRPr/>
          </a:p>
          <a:p>
            <a:pPr marL="0" lvl="0" indent="0" algn="l" rtl="0">
              <a:lnSpc>
                <a:spcPct val="50000"/>
              </a:lnSpc>
              <a:spcBef>
                <a:spcPts val="0"/>
              </a:spcBef>
              <a:spcAft>
                <a:spcPts val="0"/>
              </a:spcAft>
              <a:buClr>
                <a:schemeClr val="dk1"/>
              </a:buClr>
              <a:buSzPts val="285"/>
              <a:buFont typeface="Arial"/>
              <a:buNone/>
            </a:pPr>
            <a:endParaRPr sz="400" b="0" u="none" strike="noStrike">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285"/>
              <a:buFont typeface="Arial"/>
              <a:buNone/>
            </a:pPr>
            <a:r>
              <a:rPr lang="en-US" sz="700" b="0">
                <a:solidFill>
                  <a:schemeClr val="dk1"/>
                </a:solidFill>
                <a:latin typeface="Arial"/>
                <a:ea typeface="Arial"/>
                <a:cs typeface="Arial"/>
                <a:sym typeface="Arial"/>
              </a:rPr>
              <a:t>When importing a vCenter deployment into a VCF instance all clusters within the vCenter server are imported and configured as part of a workload domain.</a:t>
            </a:r>
            <a:br>
              <a:rPr lang="en-US" sz="700" b="0">
                <a:solidFill>
                  <a:schemeClr val="dk1"/>
                </a:solidFill>
                <a:latin typeface="Arial"/>
                <a:ea typeface="Arial"/>
                <a:cs typeface="Arial"/>
                <a:sym typeface="Arial"/>
              </a:rPr>
            </a:br>
            <a:r>
              <a:rPr lang="en-US" sz="700" b="0" u="sng">
                <a:solidFill>
                  <a:schemeClr val="dk1"/>
                </a:solidFill>
                <a:latin typeface="Arial"/>
                <a:ea typeface="Arial"/>
                <a:cs typeface="Arial"/>
                <a:sym typeface="Arial"/>
              </a:rPr>
              <a:t>vSphere clusters configured with/without vSAN, vSphere clusters configured with/without NSX and any combination of the 3 software components can be used</a:t>
            </a:r>
            <a:r>
              <a:rPr lang="en-US" sz="700" b="0">
                <a:solidFill>
                  <a:schemeClr val="dk1"/>
                </a:solidFill>
                <a:latin typeface="Arial"/>
                <a:ea typeface="Arial"/>
                <a:cs typeface="Arial"/>
                <a:sym typeface="Arial"/>
              </a:rPr>
              <a:t> when importing a vSphere cluster to an existing VCF instance from VCF Operations. </a:t>
            </a:r>
            <a:endParaRPr/>
          </a:p>
          <a:p>
            <a:pPr marL="0" lvl="0" indent="0" algn="l" rtl="0">
              <a:lnSpc>
                <a:spcPct val="50000"/>
              </a:lnSpc>
              <a:spcBef>
                <a:spcPts val="0"/>
              </a:spcBef>
              <a:spcAft>
                <a:spcPts val="0"/>
              </a:spcAft>
              <a:buClr>
                <a:schemeClr val="dk1"/>
              </a:buClr>
              <a:buSzPts val="285"/>
              <a:buFont typeface="Arial"/>
              <a:buNone/>
            </a:pPr>
            <a:r>
              <a:rPr lang="en-US" sz="700" b="0">
                <a:solidFill>
                  <a:schemeClr val="dk1"/>
                </a:solidFill>
                <a:latin typeface="Arial"/>
                <a:ea typeface="Arial"/>
                <a:cs typeface="Arial"/>
                <a:sym typeface="Arial"/>
              </a:rPr>
              <a:t>NSX is deployed as part of the conversion process if it is not already present.</a:t>
            </a:r>
            <a:endParaRPr/>
          </a:p>
          <a:p>
            <a:pPr marL="0" lvl="0" indent="0" algn="l" rtl="0">
              <a:lnSpc>
                <a:spcPct val="50000"/>
              </a:lnSpc>
              <a:spcBef>
                <a:spcPts val="0"/>
              </a:spcBef>
              <a:spcAft>
                <a:spcPts val="0"/>
              </a:spcAft>
              <a:buClr>
                <a:schemeClr val="dk1"/>
              </a:buClr>
              <a:buSzPts val="285"/>
              <a:buFont typeface="Arial"/>
              <a:buNone/>
            </a:pPr>
            <a:endParaRPr sz="400" b="1" u="none" strike="noStrike">
              <a:solidFill>
                <a:schemeClr val="dk1"/>
              </a:solidFill>
              <a:latin typeface="Arial"/>
              <a:ea typeface="Arial"/>
              <a:cs typeface="Arial"/>
              <a:sym typeface="Arial"/>
            </a:endParaRPr>
          </a:p>
          <a:p>
            <a:pPr marL="0" lvl="0" indent="0" algn="l" rtl="0">
              <a:lnSpc>
                <a:spcPct val="7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Notes:</a:t>
            </a:r>
            <a:endParaRPr/>
          </a:p>
          <a:p>
            <a:pPr marL="0" lvl="0" indent="0" algn="l" rtl="0">
              <a:lnSpc>
                <a:spcPct val="70000"/>
              </a:lnSpc>
              <a:spcBef>
                <a:spcPts val="0"/>
              </a:spcBef>
              <a:spcAft>
                <a:spcPts val="0"/>
              </a:spcAft>
              <a:buClr>
                <a:srgbClr val="000000"/>
              </a:buClr>
              <a:buSzPts val="1200"/>
              <a:buFont typeface="Calibri"/>
              <a:buNone/>
            </a:pPr>
            <a:r>
              <a:rPr lang="en-US" sz="1200" b="0" i="0" u="none" strike="noStrike">
                <a:solidFill>
                  <a:srgbClr val="000000"/>
                </a:solidFill>
                <a:latin typeface="Calibri"/>
                <a:ea typeface="Calibri"/>
                <a:cs typeface="Calibri"/>
                <a:sym typeface="Calibri"/>
              </a:rPr>
              <a:t>The VCF Import Tool was used in VCF 5.2.x to converge an existing vSphere cluster to a VCF management domain.  It was also used to import a vSphere cluster into an existing VCF instance.</a:t>
            </a:r>
            <a:endParaRPr/>
          </a:p>
          <a:p>
            <a:pPr marL="0" lvl="0" indent="0" algn="l" rtl="0">
              <a:lnSpc>
                <a:spcPct val="70000"/>
              </a:lnSpc>
              <a:spcBef>
                <a:spcPts val="0"/>
              </a:spcBef>
              <a:spcAft>
                <a:spcPts val="0"/>
              </a:spcAft>
              <a:buClr>
                <a:schemeClr val="dk1"/>
              </a:buClr>
              <a:buSzPts val="1200"/>
              <a:buFont typeface="Arial"/>
              <a:buNone/>
            </a:pPr>
            <a:endParaRPr sz="1200" b="0" i="0" u="none" strike="noStrike">
              <a:solidFill>
                <a:srgbClr val="000000"/>
              </a:solidFill>
              <a:latin typeface="Calibri"/>
              <a:ea typeface="Calibri"/>
              <a:cs typeface="Calibri"/>
              <a:sym typeface="Calibri"/>
            </a:endParaRPr>
          </a:p>
          <a:p>
            <a:pPr marL="0" lvl="0" indent="0" algn="l" rtl="0">
              <a:lnSpc>
                <a:spcPct val="70000"/>
              </a:lnSpc>
              <a:spcBef>
                <a:spcPts val="0"/>
              </a:spcBef>
              <a:spcAft>
                <a:spcPts val="0"/>
              </a:spcAft>
              <a:buClr>
                <a:srgbClr val="000000"/>
              </a:buClr>
              <a:buSzPts val="1200"/>
              <a:buFont typeface="Calibri"/>
              <a:buNone/>
            </a:pPr>
            <a:r>
              <a:rPr lang="en-US" sz="1200" b="0" i="0" u="none" strike="noStrike">
                <a:solidFill>
                  <a:srgbClr val="000000"/>
                </a:solidFill>
                <a:latin typeface="Calibri"/>
                <a:ea typeface="Calibri"/>
                <a:cs typeface="Calibri"/>
                <a:sym typeface="Calibri"/>
              </a:rPr>
              <a:t>VCF Operations is used to import an existing vSphere cluster into an existing VCF 9.0 instance</a:t>
            </a:r>
            <a:br>
              <a:rPr lang="en-US" sz="1200" b="0" i="0" u="none" strike="noStrike">
                <a:solidFill>
                  <a:srgbClr val="000000"/>
                </a:solidFill>
                <a:latin typeface="Calibri"/>
                <a:ea typeface="Calibri"/>
                <a:cs typeface="Calibri"/>
                <a:sym typeface="Calibri"/>
              </a:rPr>
            </a:br>
            <a:r>
              <a:rPr lang="en-US" sz="1200" b="0" i="0" u="none" strike="noStrike">
                <a:solidFill>
                  <a:srgbClr val="000000"/>
                </a:solidFill>
                <a:latin typeface="Calibri"/>
                <a:ea typeface="Calibri"/>
                <a:cs typeface="Calibri"/>
                <a:sym typeface="Calibri"/>
              </a:rPr>
              <a:t>From the Inventory Menu &gt; select your VCF instance &gt; Add Workload Domain &gt; Import a vCenter</a:t>
            </a:r>
            <a:endParaRPr/>
          </a:p>
          <a:p>
            <a:pPr marL="0" lvl="0" indent="0" algn="l" rtl="0">
              <a:lnSpc>
                <a:spcPct val="70000"/>
              </a:lnSpc>
              <a:spcBef>
                <a:spcPts val="0"/>
              </a:spcBef>
              <a:spcAft>
                <a:spcPts val="0"/>
              </a:spcAft>
              <a:buClr>
                <a:schemeClr val="dk1"/>
              </a:buClr>
              <a:buSzPts val="1200"/>
              <a:buFont typeface="Arial"/>
              <a:buNone/>
            </a:pPr>
            <a:endParaRPr sz="1200" b="0" i="0" u="none" strike="noStrike">
              <a:solidFill>
                <a:srgbClr val="000000"/>
              </a:solidFill>
              <a:latin typeface="Calibri"/>
              <a:ea typeface="Calibri"/>
              <a:cs typeface="Calibri"/>
              <a:sym typeface="Calibri"/>
            </a:endParaRPr>
          </a:p>
          <a:p>
            <a:pPr marL="0" lvl="0" indent="0" algn="l" rtl="0">
              <a:lnSpc>
                <a:spcPct val="70000"/>
              </a:lnSpc>
              <a:spcBef>
                <a:spcPts val="0"/>
              </a:spcBef>
              <a:spcAft>
                <a:spcPts val="0"/>
              </a:spcAft>
              <a:buClr>
                <a:srgbClr val="000000"/>
              </a:buClr>
              <a:buSzPts val="1200"/>
              <a:buFont typeface="Calibri"/>
              <a:buNone/>
            </a:pPr>
            <a:r>
              <a:rPr lang="en-US" sz="1200" b="0" i="0" u="none" strike="noStrike">
                <a:solidFill>
                  <a:srgbClr val="000000"/>
                </a:solidFill>
                <a:latin typeface="Calibri"/>
                <a:ea typeface="Calibri"/>
                <a:cs typeface="Calibri"/>
                <a:sym typeface="Calibri"/>
              </a:rPr>
              <a:t>Once complete the admin can then go in to enable VCF Ops Data Collection for the domain.</a:t>
            </a:r>
            <a:endParaRPr/>
          </a:p>
          <a:p>
            <a:pPr marL="0" lvl="0" indent="0" algn="l" rtl="0">
              <a:lnSpc>
                <a:spcPct val="70000"/>
              </a:lnSpc>
              <a:spcBef>
                <a:spcPts val="0"/>
              </a:spcBef>
              <a:spcAft>
                <a:spcPts val="0"/>
              </a:spcAft>
              <a:buClr>
                <a:schemeClr val="dk1"/>
              </a:buClr>
              <a:buSzPts val="1200"/>
              <a:buFont typeface="Arial"/>
              <a:buNone/>
            </a:pPr>
            <a:endParaRPr sz="1200" b="0" i="0" u="none" strike="noStrike">
              <a:solidFill>
                <a:srgbClr val="000000"/>
              </a:solidFill>
              <a:latin typeface="Calibri"/>
              <a:ea typeface="Calibri"/>
              <a:cs typeface="Calibri"/>
              <a:sym typeface="Calibri"/>
            </a:endParaRPr>
          </a:p>
          <a:p>
            <a:pPr marL="0" lvl="0" indent="0" algn="l" rtl="0">
              <a:lnSpc>
                <a:spcPct val="90000"/>
              </a:lnSpc>
              <a:spcBef>
                <a:spcPts val="0"/>
              </a:spcBef>
              <a:spcAft>
                <a:spcPts val="0"/>
              </a:spcAft>
              <a:buNone/>
            </a:pPr>
            <a:r>
              <a:rPr lang="en-US" sz="1200" b="0" i="0" u="sng" strike="noStrike">
                <a:solidFill>
                  <a:srgbClr val="000000"/>
                </a:solidFill>
                <a:latin typeface="Calibri"/>
                <a:ea typeface="Calibri"/>
                <a:cs typeface="Calibri"/>
                <a:sym typeface="Calibri"/>
              </a:rPr>
              <a:t>vSAN:</a:t>
            </a:r>
            <a:br>
              <a:rPr lang="en-US" sz="1200" b="0" i="0" u="none" strike="noStrike">
                <a:solidFill>
                  <a:srgbClr val="000000"/>
                </a:solidFill>
                <a:latin typeface="Calibri"/>
                <a:ea typeface="Calibri"/>
                <a:cs typeface="Calibri"/>
                <a:sym typeface="Calibri"/>
              </a:rPr>
            </a:br>
            <a:r>
              <a:rPr lang="en-US" b="0"/>
              <a:t>The VCF Operations workflow to “Import a vCenter” in VCF 9 supports multiple vSAN deployment types</a:t>
            </a:r>
            <a:endParaRPr/>
          </a:p>
          <a:p>
            <a:pPr marL="457200" lvl="1" indent="0" algn="l" rtl="0">
              <a:lnSpc>
                <a:spcPct val="90000"/>
              </a:lnSpc>
              <a:spcBef>
                <a:spcPts val="0"/>
              </a:spcBef>
              <a:spcAft>
                <a:spcPts val="0"/>
              </a:spcAft>
              <a:buNone/>
            </a:pPr>
            <a:r>
              <a:rPr lang="en-US"/>
              <a:t>Single site cluster</a:t>
            </a:r>
            <a:endParaRPr/>
          </a:p>
          <a:p>
            <a:pPr marL="457200" lvl="1" indent="0" algn="l" rtl="0">
              <a:lnSpc>
                <a:spcPct val="90000"/>
              </a:lnSpc>
              <a:spcBef>
                <a:spcPts val="0"/>
              </a:spcBef>
              <a:spcAft>
                <a:spcPts val="0"/>
              </a:spcAft>
              <a:buNone/>
            </a:pPr>
            <a:r>
              <a:rPr lang="en-US"/>
              <a:t>Disaggregated storage clusters</a:t>
            </a:r>
            <a:endParaRPr/>
          </a:p>
          <a:p>
            <a:pPr marL="457200" lvl="1" indent="0" algn="l" rtl="0">
              <a:lnSpc>
                <a:spcPct val="90000"/>
              </a:lnSpc>
              <a:spcBef>
                <a:spcPts val="0"/>
              </a:spcBef>
              <a:spcAft>
                <a:spcPts val="0"/>
              </a:spcAft>
              <a:buNone/>
            </a:pPr>
            <a:r>
              <a:rPr lang="en-US"/>
              <a:t>Stretched clusters</a:t>
            </a:r>
            <a:endParaRPr/>
          </a:p>
          <a:p>
            <a:pPr marL="457200" lvl="1" indent="0" algn="l" rtl="0">
              <a:lnSpc>
                <a:spcPct val="90000"/>
              </a:lnSpc>
              <a:spcBef>
                <a:spcPts val="0"/>
              </a:spcBef>
              <a:spcAft>
                <a:spcPts val="0"/>
              </a:spcAft>
              <a:buNone/>
            </a:pPr>
            <a:r>
              <a:rPr lang="en-US"/>
              <a:t>2-Node clusters</a:t>
            </a:r>
            <a:endParaRPr/>
          </a:p>
          <a:p>
            <a:pPr marL="0" lvl="0" indent="0" algn="l" rtl="0">
              <a:lnSpc>
                <a:spcPct val="70000"/>
              </a:lnSpc>
              <a:spcBef>
                <a:spcPts val="0"/>
              </a:spcBef>
              <a:spcAft>
                <a:spcPts val="0"/>
              </a:spcAft>
              <a:buClr>
                <a:schemeClr val="dk1"/>
              </a:buClr>
              <a:buSzPts val="1200"/>
              <a:buFont typeface="Arial"/>
              <a:buNone/>
            </a:pPr>
            <a:endParaRPr sz="1200" b="1" u="none" strike="noStrike">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1140"/>
              <a:buFont typeface="Arial"/>
              <a:buNone/>
            </a:pPr>
            <a:r>
              <a:rPr lang="en-US" sz="1200" b="1" u="none" strike="noStrike">
                <a:solidFill>
                  <a:schemeClr val="dk1"/>
                </a:solidFill>
                <a:latin typeface="Arial"/>
                <a:ea typeface="Arial"/>
                <a:cs typeface="Arial"/>
                <a:sym typeface="Arial"/>
              </a:rPr>
              <a:t>Resources:</a:t>
            </a:r>
            <a:endParaRPr/>
          </a:p>
          <a:p>
            <a:pPr marL="0" lvl="0" indent="0" algn="l" rtl="0">
              <a:lnSpc>
                <a:spcPct val="70000"/>
              </a:lnSpc>
              <a:spcBef>
                <a:spcPts val="0"/>
              </a:spcBef>
              <a:spcAft>
                <a:spcPts val="0"/>
              </a:spcAft>
              <a:buClr>
                <a:schemeClr val="dk1"/>
              </a:buClr>
              <a:buSzPts val="700"/>
              <a:buFont typeface="Arial"/>
              <a:buNone/>
            </a:pPr>
            <a:endParaRPr sz="700"/>
          </a:p>
          <a:p>
            <a:pPr marL="0" lvl="0" indent="0" algn="l" rtl="0">
              <a:lnSpc>
                <a:spcPct val="90000"/>
              </a:lnSpc>
              <a:spcBef>
                <a:spcPts val="0"/>
              </a:spcBef>
              <a:spcAft>
                <a:spcPts val="0"/>
              </a:spcAft>
              <a:buNone/>
            </a:pPr>
            <a:endParaRPr/>
          </a:p>
        </p:txBody>
      </p:sp>
      <p:sp>
        <p:nvSpPr>
          <p:cNvPr id="4708" name="Google Shape;4708;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01F35-CAF8-A511-AF63-8EB226BFC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CE10E-5892-2B57-373F-DB817A7E78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39968-336B-0B40-CDAD-5BB824701355}"/>
              </a:ext>
            </a:extLst>
          </p:cNvPr>
          <p:cNvSpPr>
            <a:spLocks noGrp="1"/>
          </p:cNvSpPr>
          <p:nvPr>
            <p:ph type="body" idx="1"/>
          </p:nvPr>
        </p:nvSpPr>
        <p:spPr/>
        <p:txBody>
          <a:bodyPr>
            <a:normAutofit fontScale="47500" lnSpcReduction="20000"/>
          </a:bodyPr>
          <a:lstStyle/>
          <a:p>
            <a:pPr marL="0" marR="0" lvl="0" indent="0" algn="l" rtl="0">
              <a:lnSpc>
                <a:spcPct val="30000"/>
              </a:lnSpc>
              <a:spcBef>
                <a:spcPts val="0"/>
              </a:spcBef>
              <a:spcAft>
                <a:spcPts val="0"/>
              </a:spcAft>
              <a:buClr>
                <a:schemeClr val="dk1"/>
              </a:buClr>
              <a:buSzPts val="1430"/>
              <a:buFont typeface="Arial"/>
              <a:buNone/>
            </a:pPr>
            <a:r>
              <a:rPr lang="en-US" sz="9600" b="1" strike="noStrike" dirty="0">
                <a:latin typeface="Arial"/>
                <a:ea typeface="Arial"/>
                <a:cs typeface="Arial"/>
                <a:sym typeface="Arial"/>
              </a:rPr>
              <a:t>Presenter Note:  This slide contains animation</a:t>
            </a:r>
            <a:endParaRPr lang="en-US" sz="2400" dirty="0"/>
          </a:p>
          <a:p>
            <a:pPr marL="0" lvl="0" indent="0" algn="l" rtl="0">
              <a:lnSpc>
                <a:spcPct val="50000"/>
              </a:lnSpc>
              <a:spcBef>
                <a:spcPts val="0"/>
              </a:spcBef>
              <a:spcAft>
                <a:spcPts val="0"/>
              </a:spcAft>
              <a:buClr>
                <a:schemeClr val="dk1"/>
              </a:buClr>
              <a:buSzPts val="780"/>
              <a:buFont typeface="Arial"/>
              <a:buNone/>
            </a:pPr>
            <a:endParaRPr lang="en-US" sz="2400" b="1" u="none" strike="noStrike" dirty="0">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780"/>
              <a:buFont typeface="Arial"/>
              <a:buNone/>
            </a:pPr>
            <a:r>
              <a:rPr lang="en-US" sz="2400" b="1" u="none" strike="noStrike" dirty="0">
                <a:solidFill>
                  <a:schemeClr val="dk1"/>
                </a:solidFill>
                <a:latin typeface="Arial"/>
                <a:ea typeface="Arial"/>
                <a:cs typeface="Arial"/>
                <a:sym typeface="Arial"/>
              </a:rPr>
              <a:t>Key Message:</a:t>
            </a:r>
            <a:r>
              <a:rPr lang="en-US" sz="2400" b="1" strike="noStrike" dirty="0">
                <a:solidFill>
                  <a:schemeClr val="dk1"/>
                </a:solidFill>
                <a:latin typeface="Arial"/>
                <a:ea typeface="Arial"/>
                <a:cs typeface="Arial"/>
                <a:sym typeface="Arial"/>
              </a:rPr>
              <a:t>​ </a:t>
            </a:r>
            <a:endParaRPr lang="en-US" sz="2400" dirty="0"/>
          </a:p>
          <a:p>
            <a:pPr marL="0" lvl="0" indent="0" algn="l" rtl="0">
              <a:lnSpc>
                <a:spcPct val="50000"/>
              </a:lnSpc>
              <a:spcBef>
                <a:spcPts val="0"/>
              </a:spcBef>
              <a:spcAft>
                <a:spcPts val="0"/>
              </a:spcAft>
              <a:buClr>
                <a:schemeClr val="dk1"/>
              </a:buClr>
              <a:buSzPts val="780"/>
              <a:buFont typeface="Arial"/>
              <a:buNone/>
            </a:pPr>
            <a:r>
              <a:rPr lang="en-US" sz="2400" b="0" strike="noStrike" dirty="0">
                <a:solidFill>
                  <a:schemeClr val="dk1"/>
                </a:solidFill>
                <a:latin typeface="Arial"/>
                <a:ea typeface="Arial"/>
                <a:cs typeface="Arial"/>
                <a:sym typeface="Arial"/>
              </a:rPr>
              <a:t>The vSphere client is used to commission new hosts, add new clusters and scale clusters.  VCF Operations can be used to deploy new workload domains.</a:t>
            </a:r>
            <a:endParaRPr lang="en-US" sz="2400" dirty="0"/>
          </a:p>
          <a:p>
            <a:pPr marL="0" lvl="0" indent="0" algn="l" rtl="0">
              <a:lnSpc>
                <a:spcPct val="50000"/>
              </a:lnSpc>
              <a:spcBef>
                <a:spcPts val="0"/>
              </a:spcBef>
              <a:spcAft>
                <a:spcPts val="0"/>
              </a:spcAft>
              <a:buClr>
                <a:schemeClr val="dk1"/>
              </a:buClr>
              <a:buSzPts val="780"/>
              <a:buFont typeface="Arial"/>
              <a:buNone/>
            </a:pPr>
            <a:endParaRPr lang="en-US" sz="2400" strike="sngStrike" dirty="0">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780"/>
              <a:buFont typeface="Arial"/>
              <a:buNone/>
            </a:pPr>
            <a:r>
              <a:rPr lang="en-US" sz="2400" b="1" strike="noStrike" dirty="0">
                <a:solidFill>
                  <a:schemeClr val="dk1"/>
                </a:solidFill>
                <a:latin typeface="Arial"/>
                <a:ea typeface="Arial"/>
                <a:cs typeface="Arial"/>
                <a:sym typeface="Arial"/>
              </a:rPr>
              <a:t>Talk Track:</a:t>
            </a:r>
            <a:endParaRPr lang="en-US" sz="2400" dirty="0"/>
          </a:p>
          <a:p>
            <a:pPr marL="0" lvl="0" indent="0" algn="l" rtl="0">
              <a:lnSpc>
                <a:spcPct val="50000"/>
              </a:lnSpc>
              <a:spcBef>
                <a:spcPts val="0"/>
              </a:spcBef>
              <a:spcAft>
                <a:spcPts val="0"/>
              </a:spcAft>
              <a:buClr>
                <a:schemeClr val="dk1"/>
              </a:buClr>
              <a:buSzPts val="780"/>
              <a:buFont typeface="Arial"/>
              <a:buNone/>
            </a:pPr>
            <a:r>
              <a:rPr lang="en-US" sz="2400" strike="noStrike" dirty="0">
                <a:solidFill>
                  <a:schemeClr val="dk1"/>
                </a:solidFill>
                <a:latin typeface="Arial"/>
                <a:ea typeface="Arial"/>
                <a:cs typeface="Arial"/>
                <a:sym typeface="Arial"/>
              </a:rPr>
              <a:t>Scaling private cloud infrastructure is easy in VCF 9.  </a:t>
            </a:r>
            <a:endParaRPr lang="en-US" sz="2400" dirty="0"/>
          </a:p>
          <a:p>
            <a:pPr marL="0" lvl="0" indent="0" algn="l" rtl="0">
              <a:lnSpc>
                <a:spcPct val="50000"/>
              </a:lnSpc>
              <a:spcBef>
                <a:spcPts val="0"/>
              </a:spcBef>
              <a:spcAft>
                <a:spcPts val="0"/>
              </a:spcAft>
              <a:buClr>
                <a:schemeClr val="dk1"/>
              </a:buClr>
              <a:buSzPts val="780"/>
              <a:buFont typeface="Arial"/>
              <a:buNone/>
            </a:pPr>
            <a:br>
              <a:rPr lang="en-US" sz="2400" strike="noStrike" dirty="0">
                <a:solidFill>
                  <a:schemeClr val="dk1"/>
                </a:solidFill>
                <a:latin typeface="Arial"/>
                <a:ea typeface="Arial"/>
                <a:cs typeface="Arial"/>
                <a:sym typeface="Arial"/>
              </a:rPr>
            </a:br>
            <a:r>
              <a:rPr lang="en-US" sz="2400" strike="noStrike" dirty="0">
                <a:solidFill>
                  <a:schemeClr val="dk1"/>
                </a:solidFill>
                <a:latin typeface="Arial"/>
                <a:ea typeface="Arial"/>
                <a:cs typeface="Arial"/>
                <a:sym typeface="Arial"/>
              </a:rPr>
              <a:t>Utilize familiar workflows within the vSphere client to commission new ESX hosts into the Global inventory.  </a:t>
            </a:r>
            <a:endParaRPr lang="en-US" sz="2400" dirty="0"/>
          </a:p>
          <a:p>
            <a:pPr marL="0" lvl="0" indent="0" algn="l" rtl="0">
              <a:lnSpc>
                <a:spcPct val="50000"/>
              </a:lnSpc>
              <a:spcBef>
                <a:spcPts val="0"/>
              </a:spcBef>
              <a:spcAft>
                <a:spcPts val="0"/>
              </a:spcAft>
              <a:buClr>
                <a:schemeClr val="dk1"/>
              </a:buClr>
              <a:buSzPts val="780"/>
              <a:buFont typeface="Arial"/>
              <a:buNone/>
            </a:pPr>
            <a:endParaRPr lang="en-US" sz="2400" strike="noStrike" dirty="0">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780"/>
              <a:buFont typeface="Arial"/>
              <a:buNone/>
            </a:pPr>
            <a:r>
              <a:rPr lang="en-US" sz="2400" strike="noStrike" dirty="0">
                <a:solidFill>
                  <a:schemeClr val="dk1"/>
                </a:solidFill>
                <a:latin typeface="Arial"/>
                <a:ea typeface="Arial"/>
                <a:cs typeface="Arial"/>
                <a:sym typeface="Arial"/>
              </a:rPr>
              <a:t>&lt;click 1&gt;</a:t>
            </a:r>
            <a:endParaRPr lang="en-US" sz="2400" dirty="0"/>
          </a:p>
          <a:p>
            <a:pPr marL="0" lvl="0" indent="0" algn="l" rtl="0">
              <a:lnSpc>
                <a:spcPct val="50000"/>
              </a:lnSpc>
              <a:spcBef>
                <a:spcPts val="0"/>
              </a:spcBef>
              <a:spcAft>
                <a:spcPts val="0"/>
              </a:spcAft>
              <a:buClr>
                <a:schemeClr val="dk1"/>
              </a:buClr>
              <a:buSzPts val="780"/>
              <a:buFont typeface="Arial"/>
              <a:buNone/>
            </a:pPr>
            <a:r>
              <a:rPr lang="en-US" sz="2400" strike="noStrike" dirty="0">
                <a:solidFill>
                  <a:schemeClr val="dk1"/>
                </a:solidFill>
                <a:latin typeface="Arial"/>
                <a:ea typeface="Arial"/>
                <a:cs typeface="Arial"/>
                <a:sym typeface="Arial"/>
              </a:rPr>
              <a:t>New hosts can be commissioned individually or in bulk using FQDN.  Hosts can be commissioned into predefined network pools for </a:t>
            </a:r>
            <a:r>
              <a:rPr lang="en-US" sz="2400" strike="noStrike" dirty="0" err="1">
                <a:solidFill>
                  <a:schemeClr val="dk1"/>
                </a:solidFill>
                <a:latin typeface="Arial"/>
                <a:ea typeface="Arial"/>
                <a:cs typeface="Arial"/>
                <a:sym typeface="Arial"/>
              </a:rPr>
              <a:t>vMotion</a:t>
            </a:r>
            <a:r>
              <a:rPr lang="en-US" sz="2400" strike="noStrike" dirty="0">
                <a:solidFill>
                  <a:schemeClr val="dk1"/>
                </a:solidFill>
                <a:latin typeface="Arial"/>
                <a:ea typeface="Arial"/>
                <a:cs typeface="Arial"/>
                <a:sym typeface="Arial"/>
              </a:rPr>
              <a:t> and storage.  Admins can select to commission hosts for a number of different storage types – </a:t>
            </a:r>
            <a:r>
              <a:rPr lang="en-US" sz="2400" strike="noStrike" dirty="0" err="1">
                <a:solidFill>
                  <a:schemeClr val="dk1"/>
                </a:solidFill>
                <a:latin typeface="Arial"/>
                <a:ea typeface="Arial"/>
                <a:cs typeface="Arial"/>
                <a:sym typeface="Arial"/>
              </a:rPr>
              <a:t>vSAN</a:t>
            </a:r>
            <a:r>
              <a:rPr lang="en-US" sz="2400" strike="noStrike" dirty="0">
                <a:solidFill>
                  <a:schemeClr val="dk1"/>
                </a:solidFill>
                <a:latin typeface="Arial"/>
                <a:ea typeface="Arial"/>
                <a:cs typeface="Arial"/>
                <a:sym typeface="Arial"/>
              </a:rPr>
              <a:t>, NFS and VMFS on FC.  Each host is validated by confirming their fingerprint.</a:t>
            </a:r>
            <a:endParaRPr lang="en-US" sz="2400" u="none" strike="noStrike" cap="none" dirty="0">
              <a:solidFill>
                <a:srgbClr val="000000"/>
              </a:solidFill>
            </a:endParaRPr>
          </a:p>
          <a:p>
            <a:pPr marL="0" lvl="0" indent="0" algn="l" rtl="0">
              <a:lnSpc>
                <a:spcPct val="50000"/>
              </a:lnSpc>
              <a:spcBef>
                <a:spcPts val="0"/>
              </a:spcBef>
              <a:spcAft>
                <a:spcPts val="0"/>
              </a:spcAft>
              <a:buClr>
                <a:schemeClr val="dk1"/>
              </a:buClr>
              <a:buSzPts val="780"/>
              <a:buFont typeface="Arial"/>
              <a:buNone/>
            </a:pPr>
            <a:endParaRPr lang="en-US" sz="2400" strike="noStrike" dirty="0">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780"/>
              <a:buFont typeface="Arial"/>
              <a:buNone/>
            </a:pPr>
            <a:r>
              <a:rPr lang="en-US" sz="2400" strike="noStrike" dirty="0">
                <a:solidFill>
                  <a:schemeClr val="dk1"/>
                </a:solidFill>
                <a:latin typeface="Arial"/>
                <a:ea typeface="Arial"/>
                <a:cs typeface="Arial"/>
                <a:sym typeface="Arial"/>
              </a:rPr>
              <a:t>&lt;click 2&gt;</a:t>
            </a:r>
            <a:endParaRPr lang="en-US" sz="2400" dirty="0"/>
          </a:p>
          <a:p>
            <a:pPr marL="0" lvl="0" indent="0" algn="l" rtl="0">
              <a:lnSpc>
                <a:spcPct val="50000"/>
              </a:lnSpc>
              <a:spcBef>
                <a:spcPts val="0"/>
              </a:spcBef>
              <a:spcAft>
                <a:spcPts val="0"/>
              </a:spcAft>
              <a:buClr>
                <a:schemeClr val="dk1"/>
              </a:buClr>
              <a:buSzPts val="780"/>
              <a:buFont typeface="Arial"/>
              <a:buNone/>
            </a:pPr>
            <a:r>
              <a:rPr lang="en-US" sz="2400" strike="noStrike" dirty="0">
                <a:solidFill>
                  <a:schemeClr val="dk1"/>
                </a:solidFill>
                <a:latin typeface="Arial"/>
                <a:ea typeface="Arial"/>
                <a:cs typeface="Arial"/>
                <a:sym typeface="Arial"/>
              </a:rPr>
              <a:t>Commissioned hosts will be visible as unassigned hosts in the global inventory and can be used to create new clusters or scale existing clusters.  Multiple host and cluster deployment and scaling operations can be performed in parallel to save time.  Each cluster is deployed using a vSphere Lifecycle Manager image (</a:t>
            </a:r>
            <a:r>
              <a:rPr lang="en-US" sz="2400" strike="noStrike" dirty="0" err="1">
                <a:solidFill>
                  <a:schemeClr val="dk1"/>
                </a:solidFill>
                <a:latin typeface="Arial"/>
                <a:ea typeface="Arial"/>
                <a:cs typeface="Arial"/>
                <a:sym typeface="Arial"/>
              </a:rPr>
              <a:t>vLCM</a:t>
            </a:r>
            <a:r>
              <a:rPr lang="en-US" sz="2400" strike="noStrike" dirty="0">
                <a:solidFill>
                  <a:schemeClr val="dk1"/>
                </a:solidFill>
                <a:latin typeface="Arial"/>
                <a:ea typeface="Arial"/>
                <a:cs typeface="Arial"/>
                <a:sym typeface="Arial"/>
              </a:rPr>
              <a:t> image).</a:t>
            </a:r>
            <a:endParaRPr lang="en-US" sz="2400" dirty="0"/>
          </a:p>
          <a:p>
            <a:pPr marL="0" lvl="0" indent="0" algn="l" rtl="0">
              <a:lnSpc>
                <a:spcPct val="50000"/>
              </a:lnSpc>
              <a:spcBef>
                <a:spcPts val="0"/>
              </a:spcBef>
              <a:spcAft>
                <a:spcPts val="0"/>
              </a:spcAft>
              <a:buClr>
                <a:schemeClr val="dk1"/>
              </a:buClr>
              <a:buSzPts val="780"/>
              <a:buFont typeface="Arial"/>
              <a:buNone/>
            </a:pPr>
            <a:endParaRPr lang="en-US" sz="2400" strike="noStrike" dirty="0">
              <a:solidFill>
                <a:schemeClr val="dk1"/>
              </a:solidFill>
              <a:latin typeface="Arial"/>
              <a:ea typeface="Arial"/>
              <a:cs typeface="Arial"/>
              <a:sym typeface="Arial"/>
            </a:endParaRPr>
          </a:p>
          <a:p>
            <a:pPr marL="0" marR="0" lvl="0" indent="0" algn="l" rtl="0">
              <a:lnSpc>
                <a:spcPct val="50000"/>
              </a:lnSpc>
              <a:spcBef>
                <a:spcPts val="0"/>
              </a:spcBef>
              <a:spcAft>
                <a:spcPts val="0"/>
              </a:spcAft>
              <a:buClr>
                <a:schemeClr val="dk1"/>
              </a:buClr>
              <a:buSzPts val="780"/>
              <a:buFont typeface="Arial"/>
              <a:buNone/>
            </a:pPr>
            <a:r>
              <a:rPr lang="en-US" sz="2400" strike="noStrike" dirty="0">
                <a:solidFill>
                  <a:schemeClr val="dk1"/>
                </a:solidFill>
                <a:latin typeface="Arial"/>
                <a:ea typeface="Arial"/>
                <a:cs typeface="Arial"/>
                <a:sym typeface="Arial"/>
              </a:rPr>
              <a:t>&lt;click 3&gt;</a:t>
            </a:r>
            <a:br>
              <a:rPr lang="en-US" sz="2400" strike="noStrike" dirty="0">
                <a:solidFill>
                  <a:schemeClr val="dk1"/>
                </a:solidFill>
                <a:latin typeface="Arial"/>
                <a:ea typeface="Arial"/>
                <a:cs typeface="Arial"/>
                <a:sym typeface="Arial"/>
              </a:rPr>
            </a:br>
            <a:r>
              <a:rPr lang="en-US" sz="2400" dirty="0">
                <a:solidFill>
                  <a:schemeClr val="dk1"/>
                </a:solidFill>
                <a:latin typeface="Arial"/>
                <a:ea typeface="Arial"/>
                <a:cs typeface="Arial"/>
                <a:sym typeface="Arial"/>
              </a:rPr>
              <a:t>VCF Operations contains streamlined workflows to create new workload domains.  Each workload domain can be configured using its own software defined infrastructure which allows them to be individually managed, scaled, lifecycle managed, patched and upgraded independently.  </a:t>
            </a:r>
            <a:endParaRPr lang="en-US" sz="2400" dirty="0"/>
          </a:p>
          <a:p>
            <a:pPr marL="0" lvl="0" indent="0" algn="l" rtl="0">
              <a:lnSpc>
                <a:spcPct val="50000"/>
              </a:lnSpc>
              <a:spcBef>
                <a:spcPts val="0"/>
              </a:spcBef>
              <a:spcAft>
                <a:spcPts val="0"/>
              </a:spcAft>
              <a:buClr>
                <a:schemeClr val="dk1"/>
              </a:buClr>
              <a:buSzPts val="780"/>
              <a:buFont typeface="Arial"/>
              <a:buNone/>
            </a:pPr>
            <a:endParaRPr lang="en-US" sz="2400" strike="noStrike" dirty="0">
              <a:solidFill>
                <a:schemeClr val="dk1"/>
              </a:solidFill>
              <a:latin typeface="Arial"/>
              <a:ea typeface="Arial"/>
              <a:cs typeface="Arial"/>
              <a:sym typeface="Arial"/>
            </a:endParaRPr>
          </a:p>
          <a:p>
            <a:pPr marL="0" marR="0" lvl="0" indent="0" algn="l" rtl="0">
              <a:lnSpc>
                <a:spcPct val="50000"/>
              </a:lnSpc>
              <a:spcBef>
                <a:spcPts val="0"/>
              </a:spcBef>
              <a:spcAft>
                <a:spcPts val="0"/>
              </a:spcAft>
              <a:buClr>
                <a:schemeClr val="dk1"/>
              </a:buClr>
              <a:buSzPts val="780"/>
              <a:buFont typeface="Arial"/>
              <a:buNone/>
            </a:pPr>
            <a:r>
              <a:rPr lang="en-US" sz="2400" strike="noStrike" dirty="0">
                <a:solidFill>
                  <a:schemeClr val="dk1"/>
                </a:solidFill>
                <a:latin typeface="Arial"/>
                <a:ea typeface="Arial"/>
                <a:cs typeface="Arial"/>
                <a:sym typeface="Arial"/>
              </a:rPr>
              <a:t>&lt;click 4&gt;</a:t>
            </a:r>
            <a:br>
              <a:rPr lang="en-US" sz="2400" strike="noStrike" dirty="0">
                <a:solidFill>
                  <a:schemeClr val="dk1"/>
                </a:solidFill>
                <a:latin typeface="Arial"/>
                <a:ea typeface="Arial"/>
                <a:cs typeface="Arial"/>
                <a:sym typeface="Arial"/>
              </a:rPr>
            </a:br>
            <a:r>
              <a:rPr lang="en-US" sz="7200" dirty="0">
                <a:solidFill>
                  <a:srgbClr val="000000"/>
                </a:solidFill>
              </a:rPr>
              <a:t>Continue using </a:t>
            </a:r>
            <a:r>
              <a:rPr lang="en-US" sz="7200" b="0" u="sng" dirty="0">
                <a:solidFill>
                  <a:srgbClr val="000000"/>
                </a:solidFill>
              </a:rPr>
              <a:t>SDDC Manager </a:t>
            </a:r>
            <a:r>
              <a:rPr lang="en-US" sz="7200" dirty="0">
                <a:solidFill>
                  <a:srgbClr val="000000"/>
                </a:solidFill>
              </a:rPr>
              <a:t>for Day N workflows.</a:t>
            </a:r>
            <a:endParaRPr lang="en-US" sz="2400" dirty="0"/>
          </a:p>
          <a:p>
            <a:pPr marL="0" lvl="0" indent="0" algn="l" rtl="0">
              <a:lnSpc>
                <a:spcPct val="50000"/>
              </a:lnSpc>
              <a:spcBef>
                <a:spcPts val="0"/>
              </a:spcBef>
              <a:spcAft>
                <a:spcPts val="0"/>
              </a:spcAft>
              <a:buClr>
                <a:schemeClr val="dk1"/>
              </a:buClr>
              <a:buSzPts val="780"/>
              <a:buFont typeface="Arial"/>
              <a:buNone/>
            </a:pPr>
            <a:endParaRPr lang="en-US" sz="2400" strike="noStrike" dirty="0">
              <a:solidFill>
                <a:schemeClr val="dk1"/>
              </a:solidFill>
              <a:latin typeface="Arial"/>
              <a:ea typeface="Arial"/>
              <a:cs typeface="Arial"/>
              <a:sym typeface="Arial"/>
            </a:endParaRPr>
          </a:p>
          <a:p>
            <a:pPr marL="0" marR="0" lvl="0" indent="0" algn="l" rtl="0">
              <a:lnSpc>
                <a:spcPct val="50000"/>
              </a:lnSpc>
              <a:spcBef>
                <a:spcPts val="0"/>
              </a:spcBef>
              <a:spcAft>
                <a:spcPts val="0"/>
              </a:spcAft>
              <a:buClr>
                <a:schemeClr val="dk1"/>
              </a:buClr>
              <a:buSzPts val="780"/>
              <a:buFont typeface="Arial"/>
              <a:buNone/>
            </a:pPr>
            <a:r>
              <a:rPr lang="en-US" sz="2400" b="1" strike="noStrike" dirty="0">
                <a:solidFill>
                  <a:schemeClr val="dk1"/>
                </a:solidFill>
                <a:latin typeface="Arial"/>
                <a:ea typeface="Arial"/>
                <a:cs typeface="Arial"/>
                <a:sym typeface="Arial"/>
              </a:rPr>
              <a:t>Notes:</a:t>
            </a:r>
            <a:br>
              <a:rPr lang="en-US" sz="2400" strike="noStrike" dirty="0">
                <a:solidFill>
                  <a:schemeClr val="dk1"/>
                </a:solidFill>
                <a:latin typeface="Arial"/>
                <a:ea typeface="Arial"/>
                <a:cs typeface="Arial"/>
                <a:sym typeface="Arial"/>
              </a:rPr>
            </a:br>
            <a:r>
              <a:rPr lang="en-US" sz="2400" u="sng" strike="noStrike" dirty="0" err="1">
                <a:solidFill>
                  <a:schemeClr val="dk1"/>
                </a:solidFill>
                <a:latin typeface="Arial"/>
                <a:ea typeface="Arial"/>
                <a:cs typeface="Arial"/>
                <a:sym typeface="Arial"/>
              </a:rPr>
              <a:t>vSAN</a:t>
            </a:r>
            <a:endParaRPr lang="en-US" sz="2400" u="sng" strike="noStrike" dirty="0">
              <a:solidFill>
                <a:schemeClr val="dk1"/>
              </a:solidFill>
              <a:latin typeface="Arial"/>
              <a:ea typeface="Arial"/>
              <a:cs typeface="Arial"/>
              <a:sym typeface="Arial"/>
            </a:endParaRPr>
          </a:p>
          <a:p>
            <a:pPr marL="171450" marR="0" lvl="0" indent="-171450" algn="l" rtl="0">
              <a:lnSpc>
                <a:spcPct val="50000"/>
              </a:lnSpc>
              <a:spcBef>
                <a:spcPts val="0"/>
              </a:spcBef>
              <a:spcAft>
                <a:spcPts val="0"/>
              </a:spcAft>
              <a:buClr>
                <a:schemeClr val="dk1"/>
              </a:buClr>
              <a:buSzPts val="780"/>
              <a:buFont typeface="Arial"/>
              <a:buChar char="-"/>
            </a:pPr>
            <a:r>
              <a:rPr lang="en-US" sz="2400" dirty="0" err="1">
                <a:solidFill>
                  <a:schemeClr val="dk1"/>
                </a:solidFill>
                <a:latin typeface="Arial"/>
                <a:ea typeface="Arial"/>
                <a:cs typeface="Arial"/>
                <a:sym typeface="Arial"/>
              </a:rPr>
              <a:t>vSAN</a:t>
            </a:r>
            <a:r>
              <a:rPr lang="en-US" sz="2400" dirty="0">
                <a:solidFill>
                  <a:schemeClr val="dk1"/>
                </a:solidFill>
                <a:latin typeface="Arial"/>
                <a:ea typeface="Arial"/>
                <a:cs typeface="Arial"/>
                <a:sym typeface="Arial"/>
              </a:rPr>
              <a:t> is recommended when configuring a new cluster as it is flexible, quick to configure, easy to change and removes the need for manual configuration and potential disruption when storage changes or maintenance needed.  </a:t>
            </a:r>
          </a:p>
          <a:p>
            <a:pPr marL="171450" marR="0" lvl="0" indent="-171450" algn="l" rtl="0">
              <a:lnSpc>
                <a:spcPct val="50000"/>
              </a:lnSpc>
              <a:spcBef>
                <a:spcPts val="0"/>
              </a:spcBef>
              <a:spcAft>
                <a:spcPts val="0"/>
              </a:spcAft>
              <a:buClr>
                <a:schemeClr val="dk1"/>
              </a:buClr>
              <a:buSzPts val="780"/>
              <a:buFont typeface="Arial"/>
              <a:buChar char="-"/>
            </a:pPr>
            <a:r>
              <a:rPr lang="en-US" sz="2400" dirty="0" err="1">
                <a:solidFill>
                  <a:schemeClr val="dk1"/>
                </a:solidFill>
                <a:latin typeface="Arial"/>
                <a:ea typeface="Arial"/>
                <a:cs typeface="Arial"/>
                <a:sym typeface="Arial"/>
              </a:rPr>
              <a:t>vSAN</a:t>
            </a:r>
            <a:r>
              <a:rPr lang="en-US" sz="2400" dirty="0">
                <a:solidFill>
                  <a:schemeClr val="dk1"/>
                </a:solidFill>
                <a:latin typeface="Arial"/>
                <a:ea typeface="Arial"/>
                <a:cs typeface="Arial"/>
                <a:sym typeface="Arial"/>
              </a:rPr>
              <a:t> ESA and OSA architectures are supported.</a:t>
            </a:r>
            <a:endParaRPr lang="en-US" sz="2400" dirty="0"/>
          </a:p>
          <a:p>
            <a:pPr marL="171450" marR="0" lvl="0" indent="-121920" algn="l" rtl="0">
              <a:lnSpc>
                <a:spcPct val="50000"/>
              </a:lnSpc>
              <a:spcBef>
                <a:spcPts val="0"/>
              </a:spcBef>
              <a:spcAft>
                <a:spcPts val="0"/>
              </a:spcAft>
              <a:buClr>
                <a:schemeClr val="dk1"/>
              </a:buClr>
              <a:buSzPts val="780"/>
              <a:buFont typeface="Arial"/>
              <a:buNone/>
            </a:pPr>
            <a:endParaRPr lang="en-US" sz="2400" dirty="0">
              <a:solidFill>
                <a:schemeClr val="dk1"/>
              </a:solidFill>
              <a:latin typeface="Arial"/>
              <a:ea typeface="Arial"/>
              <a:cs typeface="Arial"/>
              <a:sym typeface="Arial"/>
            </a:endParaRPr>
          </a:p>
          <a:p>
            <a:pPr marL="0" marR="0" lvl="0" indent="0" algn="l" rtl="0">
              <a:lnSpc>
                <a:spcPct val="50000"/>
              </a:lnSpc>
              <a:spcBef>
                <a:spcPts val="0"/>
              </a:spcBef>
              <a:spcAft>
                <a:spcPts val="0"/>
              </a:spcAft>
              <a:buClr>
                <a:schemeClr val="dk1"/>
              </a:buClr>
              <a:buSzPts val="780"/>
              <a:buFont typeface="Arial"/>
              <a:buNone/>
            </a:pPr>
            <a:r>
              <a:rPr lang="en-US" sz="2400" u="sng" dirty="0">
                <a:solidFill>
                  <a:schemeClr val="dk1"/>
                </a:solidFill>
                <a:latin typeface="Arial"/>
                <a:ea typeface="Arial"/>
                <a:cs typeface="Arial"/>
                <a:sym typeface="Arial"/>
              </a:rPr>
              <a:t>ESX:</a:t>
            </a:r>
            <a:br>
              <a:rPr lang="en-US" sz="2400" u="sng" dirty="0">
                <a:solidFill>
                  <a:schemeClr val="dk1"/>
                </a:solidFill>
                <a:latin typeface="Arial"/>
                <a:ea typeface="Arial"/>
                <a:cs typeface="Arial"/>
                <a:sym typeface="Arial"/>
              </a:rPr>
            </a:br>
            <a:r>
              <a:rPr lang="en-US" sz="2400" dirty="0">
                <a:solidFill>
                  <a:schemeClr val="dk1"/>
                </a:solidFill>
                <a:latin typeface="Arial"/>
                <a:ea typeface="Arial"/>
                <a:cs typeface="Arial"/>
                <a:sym typeface="Arial"/>
              </a:rPr>
              <a:t>- A new workload domain is deployed using dedicated ESX hosts configured in one or more clusters managed with it’s own vCenter server.  Clusters can be configured with a choice of supported storage types.  </a:t>
            </a:r>
            <a:endParaRPr lang="en-US" sz="2400" dirty="0"/>
          </a:p>
          <a:p>
            <a:pPr marL="0" marR="0" lvl="0" indent="0" algn="l" rtl="0">
              <a:lnSpc>
                <a:spcPct val="50000"/>
              </a:lnSpc>
              <a:spcBef>
                <a:spcPts val="0"/>
              </a:spcBef>
              <a:spcAft>
                <a:spcPts val="0"/>
              </a:spcAft>
              <a:buClr>
                <a:schemeClr val="dk1"/>
              </a:buClr>
              <a:buSzPts val="780"/>
              <a:buFont typeface="Arial"/>
              <a:buNone/>
            </a:pPr>
            <a:endParaRPr lang="en-US" sz="2400" dirty="0">
              <a:solidFill>
                <a:schemeClr val="dk1"/>
              </a:solidFill>
              <a:latin typeface="Arial"/>
              <a:ea typeface="Arial"/>
              <a:cs typeface="Arial"/>
              <a:sym typeface="Arial"/>
            </a:endParaRPr>
          </a:p>
          <a:p>
            <a:pPr marL="0" marR="0" lvl="0" indent="0" algn="l" rtl="0">
              <a:lnSpc>
                <a:spcPct val="50000"/>
              </a:lnSpc>
              <a:spcBef>
                <a:spcPts val="0"/>
              </a:spcBef>
              <a:spcAft>
                <a:spcPts val="0"/>
              </a:spcAft>
              <a:buClr>
                <a:schemeClr val="dk1"/>
              </a:buClr>
              <a:buSzPts val="780"/>
              <a:buFont typeface="Arial"/>
              <a:buNone/>
            </a:pPr>
            <a:r>
              <a:rPr lang="en-US" sz="2400" u="sng" dirty="0">
                <a:solidFill>
                  <a:schemeClr val="dk1"/>
                </a:solidFill>
                <a:latin typeface="Arial"/>
                <a:ea typeface="Arial"/>
                <a:cs typeface="Arial"/>
                <a:sym typeface="Arial"/>
              </a:rPr>
              <a:t>NSX:</a:t>
            </a:r>
            <a:endParaRPr lang="en-US" sz="2400" u="sng" dirty="0"/>
          </a:p>
          <a:p>
            <a:pPr marL="0" lvl="0" indent="0" algn="l" rtl="0">
              <a:lnSpc>
                <a:spcPct val="50000"/>
              </a:lnSpc>
              <a:spcBef>
                <a:spcPts val="0"/>
              </a:spcBef>
              <a:spcAft>
                <a:spcPts val="0"/>
              </a:spcAft>
              <a:buClr>
                <a:schemeClr val="dk1"/>
              </a:buClr>
              <a:buSzPts val="780"/>
              <a:buFont typeface="Arial"/>
              <a:buNone/>
            </a:pPr>
            <a:r>
              <a:rPr lang="en-US" sz="2400" dirty="0">
                <a:solidFill>
                  <a:schemeClr val="dk1"/>
                </a:solidFill>
                <a:latin typeface="Arial"/>
                <a:ea typeface="Arial"/>
                <a:cs typeface="Arial"/>
                <a:sym typeface="Arial"/>
              </a:rPr>
              <a:t> - Each host is deployed for virtual networking using NSX.  Administrators can also configure advanced networking to best suit the needs of their applications by creating switch profiles, </a:t>
            </a:r>
            <a:r>
              <a:rPr lang="en-US" sz="2400" u="none" strike="noStrike" dirty="0">
                <a:solidFill>
                  <a:srgbClr val="172B4D"/>
                </a:solidFill>
                <a:latin typeface="Arial"/>
                <a:ea typeface="Arial"/>
                <a:cs typeface="Arial"/>
                <a:sym typeface="Arial"/>
              </a:rPr>
              <a:t>multiple Virtual Distributed Switches (which are prepared for NSX) and multiple </a:t>
            </a:r>
            <a:r>
              <a:rPr lang="en-US" sz="2400" u="none" strike="noStrike" dirty="0" err="1">
                <a:solidFill>
                  <a:srgbClr val="172B4D"/>
                </a:solidFill>
                <a:latin typeface="Arial"/>
                <a:ea typeface="Arial"/>
                <a:cs typeface="Arial"/>
                <a:sym typeface="Arial"/>
              </a:rPr>
              <a:t>pNICs</a:t>
            </a:r>
            <a:r>
              <a:rPr lang="en-US" sz="2400" u="none" strike="noStrike" dirty="0">
                <a:solidFill>
                  <a:srgbClr val="172B4D"/>
                </a:solidFill>
                <a:latin typeface="Arial"/>
                <a:ea typeface="Arial"/>
                <a:cs typeface="Arial"/>
                <a:sym typeface="Arial"/>
              </a:rPr>
              <a:t>. </a:t>
            </a:r>
            <a:endParaRPr lang="en-US" sz="2400" dirty="0"/>
          </a:p>
          <a:p>
            <a:pPr marL="0" lvl="0" indent="0" algn="l" rtl="0">
              <a:lnSpc>
                <a:spcPct val="50000"/>
              </a:lnSpc>
              <a:spcBef>
                <a:spcPts val="0"/>
              </a:spcBef>
              <a:spcAft>
                <a:spcPts val="0"/>
              </a:spcAft>
              <a:buClr>
                <a:schemeClr val="dk1"/>
              </a:buClr>
              <a:buSzPts val="780"/>
              <a:buFont typeface="Arial"/>
              <a:buNone/>
            </a:pPr>
            <a:r>
              <a:rPr lang="en-US" sz="2400" u="none" strike="noStrike" dirty="0">
                <a:solidFill>
                  <a:srgbClr val="172B4D"/>
                </a:solidFill>
                <a:latin typeface="Arial"/>
                <a:ea typeface="Arial"/>
                <a:cs typeface="Arial"/>
                <a:sym typeface="Arial"/>
              </a:rPr>
              <a:t>The first workload domain is configured with a separate NSX instance to the management domain.  Additional workload domains (2</a:t>
            </a:r>
            <a:r>
              <a:rPr lang="en-US" sz="2400" u="none" strike="noStrike" baseline="30000" dirty="0">
                <a:solidFill>
                  <a:srgbClr val="172B4D"/>
                </a:solidFill>
                <a:latin typeface="Arial"/>
                <a:ea typeface="Arial"/>
                <a:cs typeface="Arial"/>
                <a:sym typeface="Arial"/>
              </a:rPr>
              <a:t>nd</a:t>
            </a:r>
            <a:r>
              <a:rPr lang="en-US" sz="2400" u="none" strike="noStrike" dirty="0">
                <a:solidFill>
                  <a:srgbClr val="172B4D"/>
                </a:solidFill>
                <a:latin typeface="Arial"/>
                <a:ea typeface="Arial"/>
                <a:cs typeface="Arial"/>
                <a:sym typeface="Arial"/>
              </a:rPr>
              <a:t> and so on) can be configured to use a new NSX instance or the NSX instance of an existing workload domain.</a:t>
            </a:r>
            <a:endParaRPr lang="en-US" sz="2400" dirty="0"/>
          </a:p>
          <a:p>
            <a:pPr marL="0" lvl="0" indent="0" algn="l" rtl="0">
              <a:lnSpc>
                <a:spcPct val="50000"/>
              </a:lnSpc>
              <a:spcBef>
                <a:spcPts val="0"/>
              </a:spcBef>
              <a:spcAft>
                <a:spcPts val="0"/>
              </a:spcAft>
              <a:buClr>
                <a:schemeClr val="dk1"/>
              </a:buClr>
              <a:buSzPts val="780"/>
              <a:buFont typeface="Arial"/>
              <a:buNone/>
            </a:pPr>
            <a:endParaRPr lang="en-US" sz="2400" u="none" strike="noStrike" dirty="0">
              <a:solidFill>
                <a:srgbClr val="172B4D"/>
              </a:solidFill>
              <a:latin typeface="Arial"/>
              <a:ea typeface="Arial"/>
              <a:cs typeface="Arial"/>
              <a:sym typeface="Arial"/>
            </a:endParaRPr>
          </a:p>
          <a:p>
            <a:pPr marL="0" lvl="0" indent="0" algn="l" rtl="0">
              <a:lnSpc>
                <a:spcPct val="50000"/>
              </a:lnSpc>
              <a:spcBef>
                <a:spcPts val="0"/>
              </a:spcBef>
              <a:spcAft>
                <a:spcPts val="0"/>
              </a:spcAft>
              <a:buClr>
                <a:schemeClr val="dk1"/>
              </a:buClr>
              <a:buSzPts val="780"/>
              <a:buFont typeface="Arial"/>
              <a:buNone/>
            </a:pPr>
            <a:r>
              <a:rPr lang="en-US" sz="2400" u="sng" strike="noStrike" dirty="0">
                <a:solidFill>
                  <a:srgbClr val="172B4D"/>
                </a:solidFill>
                <a:latin typeface="Arial"/>
                <a:ea typeface="Arial"/>
                <a:cs typeface="Arial"/>
                <a:sym typeface="Arial"/>
              </a:rPr>
              <a:t>Infrastructure Management and Operations:</a:t>
            </a:r>
            <a:endParaRPr lang="en-US" sz="2400" dirty="0"/>
          </a:p>
          <a:p>
            <a:pPr marL="0" marR="0" lvl="0" indent="0" algn="l" rtl="0">
              <a:lnSpc>
                <a:spcPct val="50000"/>
              </a:lnSpc>
              <a:spcBef>
                <a:spcPts val="0"/>
              </a:spcBef>
              <a:spcAft>
                <a:spcPts val="0"/>
              </a:spcAft>
              <a:buClr>
                <a:schemeClr val="dk1"/>
              </a:buClr>
              <a:buSzPts val="780"/>
              <a:buFont typeface="Arial"/>
              <a:buNone/>
            </a:pPr>
            <a:r>
              <a:rPr lang="en-US" sz="2400" u="none" strike="noStrike" dirty="0">
                <a:solidFill>
                  <a:srgbClr val="172B4D"/>
                </a:solidFill>
                <a:latin typeface="Arial"/>
                <a:ea typeface="Arial"/>
                <a:cs typeface="Arial"/>
                <a:sym typeface="Arial"/>
              </a:rPr>
              <a:t>- </a:t>
            </a:r>
            <a:r>
              <a:rPr lang="en-US" sz="2400" b="0" i="0" dirty="0">
                <a:solidFill>
                  <a:srgbClr val="222222"/>
                </a:solidFill>
                <a:latin typeface="Arial"/>
                <a:ea typeface="Arial"/>
                <a:cs typeface="Arial"/>
                <a:sym typeface="Arial"/>
              </a:rPr>
              <a:t>VCF Operations contains in-built workflows to create new workload domains pre-configured with the vSphere Supervisor to support the configuration of Kubernetes workloads.</a:t>
            </a:r>
            <a:endParaRPr lang="en-US" sz="2400" u="none" strike="noStrike" dirty="0">
              <a:solidFill>
                <a:srgbClr val="172B4D"/>
              </a:solidFill>
              <a:latin typeface="Arial"/>
              <a:ea typeface="Arial"/>
              <a:cs typeface="Arial"/>
              <a:sym typeface="Arial"/>
            </a:endParaRPr>
          </a:p>
          <a:p>
            <a:pPr marL="171450" lvl="0" indent="-171450" algn="l" rtl="0">
              <a:lnSpc>
                <a:spcPct val="50000"/>
              </a:lnSpc>
              <a:spcBef>
                <a:spcPts val="0"/>
              </a:spcBef>
              <a:spcAft>
                <a:spcPts val="0"/>
              </a:spcAft>
              <a:buClr>
                <a:schemeClr val="dk1"/>
              </a:buClr>
              <a:buSzPts val="1400"/>
              <a:buFont typeface="Arial"/>
              <a:buChar char="-"/>
            </a:pPr>
            <a:r>
              <a:rPr lang="en-US" sz="5400" b="0" i="0" u="none" strike="noStrike" dirty="0">
                <a:solidFill>
                  <a:schemeClr val="dk1"/>
                </a:solidFill>
                <a:latin typeface="Arial"/>
                <a:ea typeface="Arial"/>
                <a:cs typeface="Arial"/>
                <a:sym typeface="Arial"/>
              </a:rPr>
              <a:t>The vSphere client is used to commission new hosts into the VCF inventory, add hosts to an existing cluster or to add a new cluster.  It can also be used to configured centralized network connectivity (using an NSX Edge cluster) or distributed networking connectivity.</a:t>
            </a:r>
            <a:endParaRPr lang="en-US" sz="2400" dirty="0"/>
          </a:p>
          <a:p>
            <a:pPr marL="0" lvl="0" indent="0" algn="l" rtl="0">
              <a:lnSpc>
                <a:spcPct val="50000"/>
              </a:lnSpc>
              <a:spcBef>
                <a:spcPts val="0"/>
              </a:spcBef>
              <a:spcAft>
                <a:spcPts val="0"/>
              </a:spcAft>
              <a:buClr>
                <a:srgbClr val="172B4D"/>
              </a:buClr>
              <a:buSzPts val="780"/>
              <a:buFont typeface="Arial"/>
              <a:buNone/>
            </a:pPr>
            <a:r>
              <a:rPr lang="en-US" sz="2400" u="none" strike="noStrike" dirty="0">
                <a:solidFill>
                  <a:srgbClr val="172B4D"/>
                </a:solidFill>
                <a:latin typeface="Arial"/>
                <a:ea typeface="Arial"/>
                <a:cs typeface="Arial"/>
                <a:sym typeface="Arial"/>
              </a:rPr>
              <a:t>- SDDC Manager is deprecated in VCF 9 and will not be available in a future release.</a:t>
            </a:r>
            <a:endParaRPr lang="en-US" sz="2400" u="none" strike="noStrike" dirty="0">
              <a:solidFill>
                <a:schemeClr val="dk1"/>
              </a:solidFill>
              <a:latin typeface="Arial"/>
              <a:ea typeface="Arial"/>
              <a:cs typeface="Arial"/>
              <a:sym typeface="Arial"/>
            </a:endParaRPr>
          </a:p>
          <a:p>
            <a:pPr marL="0" marR="0" lvl="0" indent="0" algn="l" rtl="0">
              <a:lnSpc>
                <a:spcPct val="50000"/>
              </a:lnSpc>
              <a:spcBef>
                <a:spcPts val="0"/>
              </a:spcBef>
              <a:spcAft>
                <a:spcPts val="0"/>
              </a:spcAft>
              <a:buClr>
                <a:schemeClr val="dk1"/>
              </a:buClr>
              <a:buSzPts val="780"/>
              <a:buFont typeface="Arial"/>
              <a:buNone/>
            </a:pPr>
            <a:endParaRPr lang="en-US" sz="2400" dirty="0">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780"/>
              <a:buFont typeface="Arial"/>
              <a:buNone/>
            </a:pPr>
            <a:r>
              <a:rPr lang="en-US" sz="2400" b="1" strike="noStrike" dirty="0">
                <a:solidFill>
                  <a:schemeClr val="dk1"/>
                </a:solidFill>
                <a:latin typeface="Arial"/>
                <a:ea typeface="Arial"/>
                <a:cs typeface="Arial"/>
                <a:sym typeface="Arial"/>
              </a:rPr>
              <a:t>Resources:</a:t>
            </a:r>
            <a:endParaRPr lang="en-US" sz="2400" strike="sngStrike" dirty="0">
              <a:latin typeface="Arial"/>
              <a:ea typeface="Arial"/>
              <a:cs typeface="Arial"/>
              <a:sym typeface="Arial"/>
            </a:endParaRPr>
          </a:p>
          <a:p>
            <a:pPr marL="0" marR="0" lvl="0" indent="0" algn="l" rtl="0">
              <a:lnSpc>
                <a:spcPct val="50000"/>
              </a:lnSpc>
              <a:spcBef>
                <a:spcPts val="0"/>
              </a:spcBef>
              <a:spcAft>
                <a:spcPts val="0"/>
              </a:spcAft>
              <a:buClr>
                <a:schemeClr val="dk1"/>
              </a:buClr>
              <a:buSzPts val="780"/>
              <a:buFont typeface="Arial"/>
              <a:buNone/>
            </a:pPr>
            <a:r>
              <a:rPr lang="en-US" sz="2400" strike="noStrike" dirty="0">
                <a:latin typeface="Arial"/>
                <a:ea typeface="Arial"/>
                <a:cs typeface="Arial"/>
                <a:sym typeface="Arial"/>
              </a:rPr>
              <a:t>- VMware </a:t>
            </a:r>
            <a:r>
              <a:rPr lang="en-US" sz="2400" strike="noStrike" dirty="0" err="1">
                <a:latin typeface="Arial"/>
                <a:ea typeface="Arial"/>
                <a:cs typeface="Arial"/>
                <a:sym typeface="Arial"/>
              </a:rPr>
              <a:t>Configmax</a:t>
            </a:r>
            <a:r>
              <a:rPr lang="en-US" sz="2400" strike="noStrike" dirty="0">
                <a:latin typeface="Arial"/>
                <a:ea typeface="Arial"/>
                <a:cs typeface="Arial"/>
                <a:sym typeface="Arial"/>
              </a:rPr>
              <a:t> site:</a:t>
            </a:r>
            <a:br>
              <a:rPr lang="en-US" sz="2400" strike="noStrike" dirty="0">
                <a:latin typeface="Arial"/>
                <a:ea typeface="Arial"/>
                <a:cs typeface="Arial"/>
                <a:sym typeface="Arial"/>
              </a:rPr>
            </a:br>
            <a:r>
              <a:rPr lang="en-US" sz="2400" u="sng" strike="noStrike" dirty="0">
                <a:solidFill>
                  <a:srgbClr val="DCA10D"/>
                </a:solid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https://configmax.esp.vmware.com/home</a:t>
            </a:r>
            <a:r>
              <a:rPr lang="en-US" sz="2400" strike="noStrike" dirty="0">
                <a:solidFill>
                  <a:srgbClr val="000000"/>
                </a:solidFill>
                <a:latin typeface="Helvetica Neue"/>
                <a:ea typeface="Helvetica Neue"/>
                <a:cs typeface="Helvetica Neue"/>
                <a:sym typeface="Helvetica Neue"/>
              </a:rPr>
              <a:t> </a:t>
            </a:r>
            <a:endParaRPr lang="en-US" sz="2400" strike="noStrike" dirty="0">
              <a:solidFill>
                <a:srgbClr val="DCA10D"/>
              </a:solidFill>
              <a:latin typeface="Helvetica Neue"/>
              <a:ea typeface="Helvetica Neue"/>
              <a:cs typeface="Helvetica Neue"/>
              <a:sym typeface="Helvetica Neue"/>
            </a:endParaRPr>
          </a:p>
          <a:p>
            <a:pPr marL="0" marR="0" lvl="0" indent="0" algn="l" rtl="0">
              <a:lnSpc>
                <a:spcPct val="50000"/>
              </a:lnSpc>
              <a:spcBef>
                <a:spcPts val="0"/>
              </a:spcBef>
              <a:spcAft>
                <a:spcPts val="0"/>
              </a:spcAft>
              <a:buClr>
                <a:schemeClr val="dk1"/>
              </a:buClr>
              <a:buSzPts val="780"/>
              <a:buFont typeface="Arial"/>
              <a:buNone/>
            </a:pPr>
            <a:br>
              <a:rPr lang="en-US" sz="2400" strike="sngStrike" dirty="0">
                <a:latin typeface="Arial"/>
                <a:ea typeface="Arial"/>
                <a:cs typeface="Arial"/>
                <a:sym typeface="Arial"/>
              </a:rPr>
            </a:br>
            <a:endParaRPr lang="en-US" sz="2400" strike="sngStrike" dirty="0">
              <a:latin typeface="Arial"/>
              <a:ea typeface="Arial"/>
              <a:cs typeface="Arial"/>
              <a:sym typeface="Arial"/>
            </a:endParaRPr>
          </a:p>
          <a:p>
            <a:pPr marL="0" lvl="0" indent="0" algn="l" rtl="0">
              <a:lnSpc>
                <a:spcPct val="50000"/>
              </a:lnSpc>
              <a:spcBef>
                <a:spcPts val="0"/>
              </a:spcBef>
              <a:spcAft>
                <a:spcPts val="0"/>
              </a:spcAft>
              <a:buClr>
                <a:schemeClr val="dk1"/>
              </a:buClr>
              <a:buSzPts val="780"/>
              <a:buFont typeface="Arial"/>
              <a:buNone/>
            </a:pPr>
            <a:endParaRPr lang="en-US" sz="2400" strike="sngStrike" dirty="0">
              <a:solidFill>
                <a:schemeClr val="dk1"/>
              </a:solidFill>
              <a:latin typeface="Arial"/>
              <a:ea typeface="Arial"/>
              <a:cs typeface="Arial"/>
              <a:sym typeface="Arial"/>
            </a:endParaRPr>
          </a:p>
          <a:p>
            <a:pPr marL="0" marR="0" lvl="0" indent="0" algn="l" rtl="0">
              <a:lnSpc>
                <a:spcPct val="30000"/>
              </a:lnSpc>
              <a:spcBef>
                <a:spcPts val="0"/>
              </a:spcBef>
              <a:spcAft>
                <a:spcPts val="0"/>
              </a:spcAft>
              <a:buClr>
                <a:schemeClr val="dk1"/>
              </a:buClr>
              <a:buSzPts val="780"/>
              <a:buFont typeface="Arial"/>
              <a:buNone/>
            </a:pPr>
            <a:endParaRPr lang="en-US" sz="2400" b="1" dirty="0">
              <a:latin typeface="Arial"/>
              <a:ea typeface="Arial"/>
              <a:cs typeface="Arial"/>
              <a:sym typeface="Arial"/>
            </a:endParaRPr>
          </a:p>
          <a:p>
            <a:pPr marL="0" lvl="0" indent="0" algn="l" rtl="0">
              <a:lnSpc>
                <a:spcPct val="70000"/>
              </a:lnSpc>
              <a:spcBef>
                <a:spcPts val="0"/>
              </a:spcBef>
              <a:spcAft>
                <a:spcPts val="0"/>
              </a:spcAft>
              <a:buClr>
                <a:schemeClr val="dk1"/>
              </a:buClr>
              <a:buSzPts val="840"/>
              <a:buFont typeface="Arial"/>
              <a:buNone/>
            </a:pPr>
            <a:endParaRPr lang="en-US" sz="2400" dirty="0"/>
          </a:p>
          <a:p>
            <a:pPr marL="0" lvl="0" indent="0" algn="l" rtl="0">
              <a:lnSpc>
                <a:spcPct val="80000"/>
              </a:lnSpc>
              <a:spcBef>
                <a:spcPts val="0"/>
              </a:spcBef>
              <a:spcAft>
                <a:spcPts val="0"/>
              </a:spcAft>
              <a:buNone/>
            </a:pPr>
            <a:endParaRPr lang="en-US" sz="2400" dirty="0"/>
          </a:p>
          <a:p>
            <a:pPr marL="0" marR="0" lvl="0" indent="0" algn="l" defTabSz="914400" rtl="0" eaLnBrk="1" fontAlgn="auto" latinLnBrk="0" hangingPunct="1">
              <a:lnSpc>
                <a:spcPct val="80000"/>
              </a:lnSpc>
              <a:spcBef>
                <a:spcPts val="0"/>
              </a:spcBef>
              <a:spcAft>
                <a:spcPts val="0"/>
              </a:spcAft>
              <a:buClrTx/>
              <a:buSzTx/>
              <a:buFontTx/>
              <a:buNone/>
              <a:tabLst/>
              <a:defRPr/>
            </a:pPr>
            <a:endParaRPr lang="en-US" sz="2400" b="1" dirty="0">
              <a:latin typeface="Metropolis" pitchFamily="2" charset="77"/>
            </a:endParaRPr>
          </a:p>
        </p:txBody>
      </p:sp>
      <p:sp>
        <p:nvSpPr>
          <p:cNvPr id="4" name="Slide Number Placeholder 3">
            <a:extLst>
              <a:ext uri="{FF2B5EF4-FFF2-40B4-BE49-F238E27FC236}">
                <a16:creationId xmlns:a16="http://schemas.microsoft.com/office/drawing/2014/main" id="{2CF8D05A-6ECB-F888-EE85-482F6F15B1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77917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9"/>
        <p:cNvGrpSpPr/>
        <p:nvPr/>
      </p:nvGrpSpPr>
      <p:grpSpPr>
        <a:xfrm>
          <a:off x="0" y="0"/>
          <a:ext cx="0" cy="0"/>
          <a:chOff x="0" y="0"/>
          <a:chExt cx="0" cy="0"/>
        </a:xfrm>
      </p:grpSpPr>
      <p:sp>
        <p:nvSpPr>
          <p:cNvPr id="4850" name="Google Shape;4850;p1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1" name="Google Shape;4851;p1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p:txBody>
      </p:sp>
      <p:sp>
        <p:nvSpPr>
          <p:cNvPr id="4852" name="Google Shape;4852;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7"/>
        <p:cNvGrpSpPr/>
        <p:nvPr/>
      </p:nvGrpSpPr>
      <p:grpSpPr>
        <a:xfrm>
          <a:off x="0" y="0"/>
          <a:ext cx="0" cy="0"/>
          <a:chOff x="0" y="0"/>
          <a:chExt cx="0" cy="0"/>
        </a:xfrm>
      </p:grpSpPr>
      <p:sp>
        <p:nvSpPr>
          <p:cNvPr id="4858" name="Google Shape;4858;p1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9" name="Google Shape;4859;p1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930"/>
              <a:buFont typeface="Arial"/>
              <a:buNone/>
            </a:pPr>
            <a:r>
              <a:rPr lang="en-US" sz="930" b="1" dirty="0">
                <a:solidFill>
                  <a:schemeClr val="dk1"/>
                </a:solidFill>
                <a:latin typeface="Arial"/>
                <a:ea typeface="Arial"/>
                <a:cs typeface="Arial"/>
                <a:sym typeface="Arial"/>
              </a:rPr>
              <a:t>Key Message:</a:t>
            </a:r>
            <a:endParaRPr dirty="0"/>
          </a:p>
          <a:p>
            <a:pPr marL="0" marR="0" lvl="0" indent="0" algn="l" rtl="0">
              <a:lnSpc>
                <a:spcPct val="80000"/>
              </a:lnSpc>
              <a:spcBef>
                <a:spcPts val="0"/>
              </a:spcBef>
              <a:spcAft>
                <a:spcPts val="0"/>
              </a:spcAft>
              <a:buClr>
                <a:srgbClr val="717074"/>
              </a:buClr>
              <a:buSzPts val="930"/>
              <a:buFont typeface="Arial"/>
              <a:buNone/>
            </a:pPr>
            <a:r>
              <a:rPr lang="en-US" sz="930" u="none" strike="noStrike" dirty="0">
                <a:solidFill>
                  <a:srgbClr val="717074"/>
                </a:solidFill>
                <a:latin typeface="Arial"/>
                <a:ea typeface="Arial"/>
                <a:cs typeface="Arial"/>
                <a:sym typeface="Arial"/>
              </a:rPr>
              <a:t>vSphere Lifecycle Manager supports mixed vendor clusters, as well as support for multiple hardware support managers per cluster. </a:t>
            </a:r>
            <a:r>
              <a:rPr lang="en-US" sz="930" u="none" strike="noStrike" dirty="0" err="1">
                <a:solidFill>
                  <a:srgbClr val="717074"/>
                </a:solidFill>
                <a:latin typeface="Arial"/>
                <a:ea typeface="Arial"/>
                <a:cs typeface="Arial"/>
                <a:sym typeface="Arial"/>
              </a:rPr>
              <a:t>vSAN</a:t>
            </a:r>
            <a:r>
              <a:rPr lang="en-US" sz="930" u="none" strike="noStrike" dirty="0">
                <a:solidFill>
                  <a:srgbClr val="717074"/>
                </a:solidFill>
                <a:latin typeface="Arial"/>
                <a:ea typeface="Arial"/>
                <a:cs typeface="Arial"/>
                <a:sym typeface="Arial"/>
              </a:rPr>
              <a:t> includes support for mixed vendor clusters.</a:t>
            </a:r>
            <a:endParaRPr sz="775" u="none" strike="noStrike"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930"/>
              <a:buFont typeface="Arial"/>
              <a:buNone/>
            </a:pPr>
            <a:br>
              <a:rPr lang="en-US" sz="930" dirty="0">
                <a:solidFill>
                  <a:schemeClr val="dk1"/>
                </a:solidFill>
                <a:latin typeface="Arial"/>
                <a:ea typeface="Arial"/>
                <a:cs typeface="Arial"/>
                <a:sym typeface="Arial"/>
              </a:rPr>
            </a:br>
            <a:r>
              <a:rPr lang="en-US" sz="930" b="1" dirty="0">
                <a:solidFill>
                  <a:schemeClr val="dk1"/>
                </a:solidFill>
                <a:latin typeface="Arial"/>
                <a:ea typeface="Arial"/>
                <a:cs typeface="Arial"/>
                <a:sym typeface="Arial"/>
              </a:rPr>
              <a:t>Talk Track:</a:t>
            </a:r>
            <a:endParaRPr dirty="0"/>
          </a:p>
          <a:p>
            <a:pPr marL="0" marR="0" lvl="0" indent="0" algn="l" rtl="0">
              <a:lnSpc>
                <a:spcPct val="80000"/>
              </a:lnSpc>
              <a:spcBef>
                <a:spcPts val="0"/>
              </a:spcBef>
              <a:spcAft>
                <a:spcPts val="0"/>
              </a:spcAft>
              <a:buClr>
                <a:srgbClr val="717074"/>
              </a:buClr>
              <a:buSzPts val="1395"/>
              <a:buFont typeface="Arial"/>
              <a:buNone/>
            </a:pPr>
            <a:r>
              <a:rPr lang="en-US" sz="1395" u="none" strike="noStrike" dirty="0">
                <a:solidFill>
                  <a:srgbClr val="717074"/>
                </a:solidFill>
                <a:latin typeface="Arial"/>
                <a:ea typeface="Arial"/>
                <a:cs typeface="Arial"/>
                <a:sym typeface="Arial"/>
              </a:rPr>
              <a:t>vSphere Lifecycle Manager supports mixed vendor clusters, as well as support for multiple hardware support managers per cluster. </a:t>
            </a:r>
            <a:r>
              <a:rPr lang="en-US" sz="1395" u="none" strike="noStrike" dirty="0" err="1">
                <a:solidFill>
                  <a:srgbClr val="717074"/>
                </a:solidFill>
                <a:latin typeface="Arial"/>
                <a:ea typeface="Arial"/>
                <a:cs typeface="Arial"/>
                <a:sym typeface="Arial"/>
              </a:rPr>
              <a:t>vSAN</a:t>
            </a:r>
            <a:r>
              <a:rPr lang="en-US" sz="1395" u="none" strike="noStrike" dirty="0">
                <a:solidFill>
                  <a:srgbClr val="717074"/>
                </a:solidFill>
                <a:latin typeface="Arial"/>
                <a:ea typeface="Arial"/>
                <a:cs typeface="Arial"/>
                <a:sym typeface="Arial"/>
              </a:rPr>
              <a:t> includes support for mixed vendor clusters.</a:t>
            </a:r>
            <a:endParaRPr sz="930" u="none" strike="noStrike"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930"/>
              <a:buFont typeface="Arial"/>
              <a:buNone/>
            </a:pPr>
            <a:endParaRPr sz="93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rgbClr val="717074"/>
              </a:buClr>
              <a:buSzPts val="1395"/>
              <a:buFont typeface="Arial"/>
              <a:buNone/>
            </a:pPr>
            <a:r>
              <a:rPr lang="en-US" sz="1395" u="none" strike="noStrike" dirty="0">
                <a:solidFill>
                  <a:srgbClr val="717074"/>
                </a:solidFill>
                <a:latin typeface="Arial"/>
                <a:ea typeface="Arial"/>
                <a:cs typeface="Arial"/>
                <a:sym typeface="Arial"/>
              </a:rPr>
              <a:t>Clusters can have up to 4 additional image definitions to make on a single composite image of the cluster. The base ESX version is static for all additional images and cannot be customized. The vendor addon, firmware, and components of each image definition can be customized to accommodate clusters with mixed hardware. Each additional image definition can have a unique hardware support manager (HSM) attached.</a:t>
            </a:r>
            <a:endParaRPr dirty="0"/>
          </a:p>
          <a:p>
            <a:pPr marL="0" lvl="0" indent="0" algn="l" rtl="0">
              <a:lnSpc>
                <a:spcPct val="80000"/>
              </a:lnSpc>
              <a:spcBef>
                <a:spcPts val="600"/>
              </a:spcBef>
              <a:spcAft>
                <a:spcPts val="0"/>
              </a:spcAft>
              <a:buClr>
                <a:schemeClr val="dk1"/>
              </a:buClr>
              <a:buSzPts val="930"/>
              <a:buFont typeface="Arial"/>
              <a:buNone/>
            </a:pPr>
            <a:endParaRPr sz="930" b="0" dirty="0"/>
          </a:p>
          <a:p>
            <a:pPr marL="0" lvl="0" indent="0" algn="l" rtl="0">
              <a:lnSpc>
                <a:spcPct val="80000"/>
              </a:lnSpc>
              <a:spcBef>
                <a:spcPts val="600"/>
              </a:spcBef>
              <a:spcAft>
                <a:spcPts val="0"/>
              </a:spcAft>
              <a:buClr>
                <a:srgbClr val="717074"/>
              </a:buClr>
              <a:buSzPts val="1395"/>
              <a:buFont typeface="Arial"/>
              <a:buNone/>
            </a:pPr>
            <a:r>
              <a:rPr lang="en-US" sz="1395" u="none" strike="noStrike" dirty="0">
                <a:solidFill>
                  <a:srgbClr val="717074"/>
                </a:solidFill>
                <a:latin typeface="Arial"/>
                <a:ea typeface="Arial"/>
                <a:cs typeface="Arial"/>
                <a:sym typeface="Arial"/>
              </a:rPr>
              <a:t>Additional images can be manually assigned to a subset of hosts in a cluster, or automatically using System BIOS information including Vendor, Model, OEM String and Family values. For example, you can have a cluster that consists of 5 Dell hosts and 5 HPE hosts where the Dell hosts can be assigned one image definition with Dell vendor addon and Dell HSM, and the HPE hosts can be assigned a different image definition with a HPE vendor addon and HPE HSM.</a:t>
            </a:r>
            <a:endParaRPr sz="930" u="none" strike="noStrike" dirty="0">
              <a:solidFill>
                <a:schemeClr val="dk1"/>
              </a:solidFill>
              <a:latin typeface="Arial"/>
              <a:ea typeface="Arial"/>
              <a:cs typeface="Arial"/>
              <a:sym typeface="Arial"/>
            </a:endParaRPr>
          </a:p>
          <a:p>
            <a:pPr marL="0" lvl="0" indent="0" algn="l" rtl="0">
              <a:lnSpc>
                <a:spcPct val="80000"/>
              </a:lnSpc>
              <a:spcBef>
                <a:spcPts val="600"/>
              </a:spcBef>
              <a:spcAft>
                <a:spcPts val="0"/>
              </a:spcAft>
              <a:buClr>
                <a:schemeClr val="dk1"/>
              </a:buClr>
              <a:buSzPts val="930"/>
              <a:buFont typeface="Arial"/>
              <a:buNone/>
            </a:pPr>
            <a:endParaRPr sz="93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930"/>
              <a:buFont typeface="Arial"/>
              <a:buNone/>
            </a:pPr>
            <a:r>
              <a:rPr lang="en-US" sz="930" b="1" u="none" strike="noStrike" dirty="0">
                <a:solidFill>
                  <a:schemeClr val="dk1"/>
                </a:solidFill>
                <a:latin typeface="Arial"/>
                <a:ea typeface="Arial"/>
                <a:cs typeface="Arial"/>
                <a:sym typeface="Arial"/>
              </a:rPr>
              <a:t>Notes:</a:t>
            </a:r>
            <a:endParaRPr dirty="0"/>
          </a:p>
          <a:p>
            <a:pPr marL="0" lvl="0" indent="0" algn="l" rtl="0">
              <a:lnSpc>
                <a:spcPct val="80000"/>
              </a:lnSpc>
              <a:spcBef>
                <a:spcPts val="0"/>
              </a:spcBef>
              <a:spcAft>
                <a:spcPts val="0"/>
              </a:spcAft>
              <a:buClr>
                <a:schemeClr val="dk1"/>
              </a:buClr>
              <a:buSzPts val="930"/>
              <a:buFont typeface="Arial"/>
              <a:buNone/>
            </a:pPr>
            <a:br>
              <a:rPr lang="en-US" sz="930" dirty="0">
                <a:solidFill>
                  <a:schemeClr val="dk1"/>
                </a:solidFill>
                <a:latin typeface="Arial"/>
                <a:ea typeface="Arial"/>
                <a:cs typeface="Arial"/>
                <a:sym typeface="Arial"/>
              </a:rPr>
            </a:br>
            <a:r>
              <a:rPr lang="en-US" sz="930" b="1" dirty="0">
                <a:solidFill>
                  <a:schemeClr val="dk1"/>
                </a:solidFill>
                <a:latin typeface="Arial"/>
                <a:ea typeface="Arial"/>
                <a:cs typeface="Arial"/>
                <a:sym typeface="Arial"/>
              </a:rPr>
              <a:t>Resources:</a:t>
            </a:r>
            <a:endParaRPr dirty="0"/>
          </a:p>
          <a:p>
            <a:pPr marL="0" lvl="0" indent="0" algn="l" rtl="0">
              <a:lnSpc>
                <a:spcPct val="80000"/>
              </a:lnSpc>
              <a:spcBef>
                <a:spcPts val="0"/>
              </a:spcBef>
              <a:spcAft>
                <a:spcPts val="0"/>
              </a:spcAft>
              <a:buClr>
                <a:schemeClr val="dk1"/>
              </a:buClr>
              <a:buSzPts val="930"/>
              <a:buFont typeface="Arial"/>
              <a:buNone/>
            </a:pPr>
            <a:endParaRPr sz="930" dirty="0"/>
          </a:p>
        </p:txBody>
      </p:sp>
      <p:sp>
        <p:nvSpPr>
          <p:cNvPr id="4860" name="Google Shape;4860;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9"/>
        <p:cNvGrpSpPr/>
        <p:nvPr/>
      </p:nvGrpSpPr>
      <p:grpSpPr>
        <a:xfrm>
          <a:off x="0" y="0"/>
          <a:ext cx="0" cy="0"/>
          <a:chOff x="0" y="0"/>
          <a:chExt cx="0" cy="0"/>
        </a:xfrm>
      </p:grpSpPr>
      <p:sp>
        <p:nvSpPr>
          <p:cNvPr id="4890" name="Google Shape;4890;p1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91" name="Google Shape;4891;p1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1110"/>
              <a:buFont typeface="Arial"/>
              <a:buNone/>
            </a:pPr>
            <a:r>
              <a:rPr lang="en-US" sz="1200" b="1">
                <a:solidFill>
                  <a:schemeClr val="dk1"/>
                </a:solidFill>
                <a:latin typeface="Arial"/>
                <a:ea typeface="Arial"/>
                <a:cs typeface="Arial"/>
                <a:sym typeface="Arial"/>
              </a:rPr>
              <a:t>Presenter Note:</a:t>
            </a:r>
            <a:endParaRPr/>
          </a:p>
          <a:p>
            <a:pPr marL="0" marR="0" lvl="0" indent="0" algn="l" rtl="0">
              <a:lnSpc>
                <a:spcPct val="80000"/>
              </a:lnSpc>
              <a:spcBef>
                <a:spcPts val="0"/>
              </a:spcBef>
              <a:spcAft>
                <a:spcPts val="0"/>
              </a:spcAft>
              <a:buClr>
                <a:schemeClr val="dk1"/>
              </a:buClr>
              <a:buSzPts val="1110"/>
              <a:buFont typeface="Arial"/>
              <a:buNone/>
            </a:pPr>
            <a:endParaRPr sz="120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110"/>
              <a:buFont typeface="Arial"/>
              <a:buNone/>
            </a:pPr>
            <a:r>
              <a:rPr lang="en-US" sz="1200" b="1">
                <a:solidFill>
                  <a:schemeClr val="dk1"/>
                </a:solidFill>
                <a:latin typeface="Arial"/>
                <a:ea typeface="Arial"/>
                <a:cs typeface="Arial"/>
                <a:sym typeface="Arial"/>
              </a:rPr>
              <a:t>Key Message:</a:t>
            </a:r>
            <a:br>
              <a:rPr lang="en-US" sz="1200">
                <a:solidFill>
                  <a:schemeClr val="dk1"/>
                </a:solidFill>
                <a:latin typeface="Arial"/>
                <a:ea typeface="Arial"/>
                <a:cs typeface="Arial"/>
                <a:sym typeface="Arial"/>
              </a:rPr>
            </a:br>
            <a:r>
              <a:rPr lang="en-US" sz="1200" u="none" strike="noStrike">
                <a:solidFill>
                  <a:srgbClr val="717074"/>
                </a:solidFill>
                <a:latin typeface="Arial"/>
                <a:ea typeface="Arial"/>
                <a:cs typeface="Arial"/>
                <a:sym typeface="Arial"/>
              </a:rPr>
              <a:t>Memory Tiering leverages PCIe-based Flash NVMe devices to act as a second layer of memory, resulting in an increase of available memory within the ESX host. </a:t>
            </a:r>
            <a:endParaRPr/>
          </a:p>
          <a:p>
            <a:pPr marL="0" marR="0" lvl="0" indent="0" algn="l" rtl="0">
              <a:lnSpc>
                <a:spcPct val="80000"/>
              </a:lnSpc>
              <a:spcBef>
                <a:spcPts val="0"/>
              </a:spcBef>
              <a:spcAft>
                <a:spcPts val="0"/>
              </a:spcAft>
              <a:buClr>
                <a:schemeClr val="dk1"/>
              </a:buClr>
              <a:buSzPts val="1110"/>
              <a:buFont typeface="Arial"/>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Talk Track:</a:t>
            </a:r>
            <a:endParaRPr/>
          </a:p>
          <a:p>
            <a:pPr marL="0" lvl="0" indent="0" algn="l" rtl="0">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Utilize NVMe devices as tiered memory resources.</a:t>
            </a:r>
            <a:endParaRPr/>
          </a:p>
          <a:p>
            <a:pPr marL="0" lvl="0" indent="0" algn="l" rtl="0">
              <a:lnSpc>
                <a:spcPct val="8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marR="0" lvl="0" indent="0" algn="l" rtl="0">
              <a:lnSpc>
                <a:spcPct val="80000"/>
              </a:lnSpc>
              <a:spcBef>
                <a:spcPts val="0"/>
              </a:spcBef>
              <a:spcAft>
                <a:spcPts val="0"/>
              </a:spcAft>
              <a:buClr>
                <a:srgbClr val="717074"/>
              </a:buClr>
              <a:buSzPts val="1665"/>
              <a:buFont typeface="Arial"/>
              <a:buNone/>
            </a:pPr>
            <a:r>
              <a:rPr lang="en-US" sz="1800" u="none" strike="noStrike">
                <a:solidFill>
                  <a:srgbClr val="717074"/>
                </a:solidFill>
                <a:latin typeface="Arial"/>
                <a:ea typeface="Arial"/>
                <a:cs typeface="Arial"/>
                <a:sym typeface="Arial"/>
              </a:rPr>
              <a:t>Memory Tiering leverages PCIe-based Flash NVMe devices to act as a second layer of memory, resulting in an increase of available memory within the ESX host. Memory tiering over NVMe lowers total cost of ownership (TCO) and increases VM consolidation by directing VM memory allocations to either NVMe devices or faster dynamic random-access memory (DRAM) in the host. </a:t>
            </a:r>
            <a:r>
              <a:rPr lang="en-US" sz="1200">
                <a:solidFill>
                  <a:schemeClr val="dk1"/>
                </a:solidFill>
                <a:highlight>
                  <a:srgbClr val="FFFFFF"/>
                </a:highlight>
                <a:latin typeface="Arial"/>
                <a:ea typeface="Arial"/>
                <a:cs typeface="Arial"/>
                <a:sym typeface="Arial"/>
              </a:rPr>
              <a:t>This allows you to increase your memory footprint and workload capacity, while reducing the total cost of ownership (TCO).</a:t>
            </a:r>
            <a:endParaRPr/>
          </a:p>
          <a:p>
            <a:pPr marL="0" lvl="0" indent="0" algn="l" rtl="0">
              <a:lnSpc>
                <a:spcPct val="8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110"/>
              <a:buFont typeface="Arial"/>
              <a:buNone/>
            </a:pPr>
            <a:r>
              <a:rPr lang="en-US" sz="1200">
                <a:solidFill>
                  <a:schemeClr val="dk1"/>
                </a:solidFill>
                <a:highlight>
                  <a:srgbClr val="FFFFFF"/>
                </a:highlight>
                <a:latin typeface="Arial"/>
                <a:ea typeface="Arial"/>
                <a:cs typeface="Arial"/>
                <a:sym typeface="Arial"/>
              </a:rPr>
              <a:t>vSphere 8.0 Update 3 launched with a tech preview the Memory Tiering capability and it is now GA with vSphere 9. This capability allows you to use NVMe devices that you can add locally to an ESX host as tiered memory. </a:t>
            </a:r>
            <a:endParaRPr/>
          </a:p>
          <a:p>
            <a:pPr marL="0" lvl="0" indent="0" algn="l" rtl="0">
              <a:lnSpc>
                <a:spcPct val="80000"/>
              </a:lnSpc>
              <a:spcBef>
                <a:spcPts val="0"/>
              </a:spcBef>
              <a:spcAft>
                <a:spcPts val="0"/>
              </a:spcAft>
              <a:buClr>
                <a:schemeClr val="dk1"/>
              </a:buClr>
              <a:buSzPts val="1110"/>
              <a:buFont typeface="Arial"/>
              <a:buNone/>
            </a:pPr>
            <a:endParaRPr sz="1200" u="none" strike="noStrike">
              <a:solidFill>
                <a:schemeClr val="dk1"/>
              </a:solidFill>
              <a:highlight>
                <a:srgbClr val="FFFFFF"/>
              </a:highlight>
              <a:latin typeface="Arial"/>
              <a:ea typeface="Arial"/>
              <a:cs typeface="Arial"/>
              <a:sym typeface="Arial"/>
            </a:endParaRPr>
          </a:p>
          <a:p>
            <a:pPr marL="0" lvl="0" indent="0" algn="l" rtl="0">
              <a:lnSpc>
                <a:spcPct val="80000"/>
              </a:lnSpc>
              <a:spcBef>
                <a:spcPts val="0"/>
              </a:spcBef>
              <a:spcAft>
                <a:spcPts val="0"/>
              </a:spcAft>
              <a:buClr>
                <a:schemeClr val="dk1"/>
              </a:buClr>
              <a:buSzPts val="1110"/>
              <a:buFont typeface="Arial"/>
              <a:buNone/>
            </a:pPr>
            <a:r>
              <a:rPr lang="en-US" sz="1200" b="1" u="none" strike="noStrike">
                <a:solidFill>
                  <a:schemeClr val="dk1"/>
                </a:solidFill>
                <a:latin typeface="Arial"/>
                <a:ea typeface="Arial"/>
                <a:cs typeface="Arial"/>
                <a:sym typeface="Arial"/>
              </a:rPr>
              <a:t>Notes:</a:t>
            </a:r>
            <a:br>
              <a:rPr lang="en-US" sz="1200" b="1">
                <a:solidFill>
                  <a:schemeClr val="dk1"/>
                </a:solidFill>
                <a:latin typeface="Arial"/>
                <a:ea typeface="Arial"/>
                <a:cs typeface="Arial"/>
                <a:sym typeface="Arial"/>
              </a:rPr>
            </a:br>
            <a:br>
              <a:rPr lang="en-US" sz="1200" b="1">
                <a:solidFill>
                  <a:schemeClr val="dk1"/>
                </a:solidFill>
                <a:latin typeface="Arial"/>
                <a:ea typeface="Arial"/>
                <a:cs typeface="Arial"/>
                <a:sym typeface="Arial"/>
              </a:rPr>
            </a:br>
            <a:r>
              <a:rPr lang="en-US" sz="1200" b="1">
                <a:solidFill>
                  <a:schemeClr val="dk1"/>
                </a:solidFill>
                <a:latin typeface="Arial"/>
                <a:ea typeface="Arial"/>
                <a:cs typeface="Arial"/>
                <a:sym typeface="Arial"/>
              </a:rPr>
              <a:t>Resources:</a:t>
            </a:r>
            <a:endParaRPr sz="1200" b="1">
              <a:solidFill>
                <a:schemeClr val="dk1"/>
              </a:solidFill>
              <a:highlight>
                <a:srgbClr val="FFFFFF"/>
              </a:highlight>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br>
              <a:rPr lang="en-US" sz="1200">
                <a:solidFill>
                  <a:schemeClr val="dk1"/>
                </a:solidFill>
                <a:highlight>
                  <a:srgbClr val="FFFFFF"/>
                </a:highlight>
                <a:latin typeface="Arial"/>
                <a:ea typeface="Arial"/>
                <a:cs typeface="Arial"/>
                <a:sym typeface="Arial"/>
              </a:rPr>
            </a:br>
            <a:endParaRPr sz="1200">
              <a:solidFill>
                <a:schemeClr val="dk1"/>
              </a:solidFill>
              <a:highlight>
                <a:srgbClr val="FFFFFF"/>
              </a:highlight>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lnSpc>
                <a:spcPct val="90000"/>
              </a:lnSpc>
              <a:spcBef>
                <a:spcPts val="0"/>
              </a:spcBef>
              <a:spcAft>
                <a:spcPts val="0"/>
              </a:spcAft>
              <a:buNone/>
            </a:pPr>
            <a:endParaRPr/>
          </a:p>
        </p:txBody>
      </p:sp>
      <p:sp>
        <p:nvSpPr>
          <p:cNvPr id="4892" name="Google Shape;4892;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0"/>
        <p:cNvGrpSpPr/>
        <p:nvPr/>
      </p:nvGrpSpPr>
      <p:grpSpPr>
        <a:xfrm>
          <a:off x="0" y="0"/>
          <a:ext cx="0" cy="0"/>
          <a:chOff x="0" y="0"/>
          <a:chExt cx="0" cy="0"/>
        </a:xfrm>
      </p:grpSpPr>
      <p:sp>
        <p:nvSpPr>
          <p:cNvPr id="4941" name="Google Shape;4941;p1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42" name="Google Shape;4942;p1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b="1"/>
              <a:t>Key Message:</a:t>
            </a:r>
            <a:br>
              <a:rPr lang="en-US"/>
            </a:br>
            <a:r>
              <a:rPr lang="en-US"/>
              <a:t>Configure vGPU profiles from the vSphere client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b="1"/>
              <a:t>Talk Track:</a:t>
            </a:r>
            <a:br>
              <a:rPr lang="en-US"/>
            </a:br>
            <a:r>
              <a:rPr lang="en-US"/>
              <a:t>GPU capacity in the modern data center is typically constrained as GPU resources are expensive and in high demand.  Administrators often find it difficult to map consumed and remaining capacity of GPUs and vGPUs.  vSphere 9 provides the capability to configure DirectPath Profiles.  vGPU profiles provides capacity assessment and planning of GPU resources and is a basis for making decisions about how to mix workloads onto GPUs.  Resources can be viewed by profile name or viewed by VM name and allows admins to also provide a descriptive detail on the GPU type and further context around how it is has been configured (GPU or vGPU, Time Sliced vs MIG).</a:t>
            </a:r>
            <a:endParaRPr/>
          </a:p>
          <a:p>
            <a:pPr marL="0" lvl="0" indent="0" algn="l" rtl="0">
              <a:spcBef>
                <a:spcPts val="0"/>
              </a:spcBef>
              <a:spcAft>
                <a:spcPts val="0"/>
              </a:spcAft>
              <a:buClr>
                <a:schemeClr val="dk1"/>
              </a:buClr>
              <a:buSzPts val="1200"/>
              <a:buFont typeface="Arial"/>
              <a:buNone/>
            </a:pPr>
            <a:endParaRPr/>
          </a:p>
          <a:p>
            <a:pPr marL="0" marR="0" lvl="0" indent="0" algn="l" rtl="0">
              <a:lnSpc>
                <a:spcPct val="100000"/>
              </a:lnSpc>
              <a:spcBef>
                <a:spcPts val="0"/>
              </a:spcBef>
              <a:spcAft>
                <a:spcPts val="0"/>
              </a:spcAft>
              <a:buClr>
                <a:schemeClr val="dk1"/>
              </a:buClr>
              <a:buSzPts val="1200"/>
              <a:buFont typeface="Arial"/>
              <a:buNone/>
            </a:pPr>
            <a:r>
              <a:rPr lang="en-US"/>
              <a:t>We next move to a subject that builds on this vGPU visibility – the notion of reserving a quantity of GPU space ahead of time, so that the user has a guarantee that it is available when needed.</a:t>
            </a:r>
            <a:endParaRPr/>
          </a:p>
          <a:p>
            <a:pPr marL="0" lvl="0" indent="0" algn="l" rtl="0">
              <a:spcBef>
                <a:spcPts val="0"/>
              </a:spcBef>
              <a:spcAft>
                <a:spcPts val="0"/>
              </a:spcAft>
              <a:buClr>
                <a:schemeClr val="dk1"/>
              </a:buClr>
              <a:buSzPts val="1200"/>
              <a:buFont typeface="Arial"/>
              <a:buNone/>
            </a:pPr>
            <a:endParaRPr/>
          </a:p>
          <a:p>
            <a:pPr marL="0" lvl="0" indent="0" algn="l" rtl="0">
              <a:lnSpc>
                <a:spcPct val="80000"/>
              </a:lnSpc>
              <a:spcBef>
                <a:spcPts val="0"/>
              </a:spcBef>
              <a:spcAft>
                <a:spcPts val="0"/>
              </a:spcAft>
              <a:buClr>
                <a:schemeClr val="dk1"/>
              </a:buClr>
              <a:buSzPts val="1200"/>
              <a:buFont typeface="Arial"/>
              <a:buNone/>
            </a:pPr>
            <a:r>
              <a:rPr lang="en-US" sz="1200" b="1" u="none" strike="noStrike">
                <a:solidFill>
                  <a:schemeClr val="dk1"/>
                </a:solidFill>
                <a:latin typeface="Arial"/>
                <a:ea typeface="Arial"/>
                <a:cs typeface="Arial"/>
                <a:sym typeface="Arial"/>
              </a:rPr>
              <a:t>Notes:</a:t>
            </a:r>
            <a:endParaRPr/>
          </a:p>
          <a:p>
            <a:pPr marL="0" lvl="0" indent="0" algn="l" rtl="0">
              <a:lnSpc>
                <a:spcPct val="80000"/>
              </a:lnSpc>
              <a:spcBef>
                <a:spcPts val="0"/>
              </a:spcBef>
              <a:spcAft>
                <a:spcPts val="0"/>
              </a:spcAft>
              <a:buClr>
                <a:srgbClr val="000000"/>
              </a:buClr>
              <a:buSzPts val="1200"/>
              <a:buFont typeface="Calibri"/>
              <a:buNone/>
            </a:pPr>
            <a:r>
              <a:rPr lang="en-US" sz="1200" b="0" i="0" u="none" strike="noStrike">
                <a:solidFill>
                  <a:srgbClr val="000000"/>
                </a:solidFill>
                <a:latin typeface="Calibri"/>
                <a:ea typeface="Calibri"/>
                <a:cs typeface="Calibri"/>
                <a:sym typeface="Calibri"/>
              </a:rPr>
              <a:t>A vGPU profile is assigned using the vSphere client to a powered off virtual machine.</a:t>
            </a:r>
            <a:endParaRPr/>
          </a:p>
          <a:p>
            <a:pPr marL="0" lvl="0" indent="0" algn="l" rtl="0">
              <a:lnSpc>
                <a:spcPct val="80000"/>
              </a:lnSpc>
              <a:spcBef>
                <a:spcPts val="0"/>
              </a:spcBef>
              <a:spcAft>
                <a:spcPts val="0"/>
              </a:spcAft>
              <a:buClr>
                <a:schemeClr val="dk1"/>
              </a:buClr>
              <a:buSzPts val="1200"/>
              <a:buFont typeface="Arial"/>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Resources:</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endParaRPr/>
          </a:p>
        </p:txBody>
      </p:sp>
      <p:sp>
        <p:nvSpPr>
          <p:cNvPr id="4943" name="Google Shape;4943;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1"/>
        <p:cNvGrpSpPr/>
        <p:nvPr/>
      </p:nvGrpSpPr>
      <p:grpSpPr>
        <a:xfrm>
          <a:off x="0" y="0"/>
          <a:ext cx="0" cy="0"/>
          <a:chOff x="0" y="0"/>
          <a:chExt cx="0" cy="0"/>
        </a:xfrm>
      </p:grpSpPr>
      <p:sp>
        <p:nvSpPr>
          <p:cNvPr id="4952" name="Google Shape;495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3" name="Google Shape;495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chemeClr val="dk1"/>
              </a:buClr>
              <a:buSzPts val="930"/>
              <a:buFont typeface="Arial"/>
              <a:buNone/>
            </a:pPr>
            <a:r>
              <a:rPr lang="en-US" sz="1800" b="1" dirty="0">
                <a:solidFill>
                  <a:schemeClr val="dk1"/>
                </a:solidFill>
                <a:latin typeface="Arial"/>
                <a:ea typeface="Arial"/>
                <a:cs typeface="Arial"/>
                <a:sym typeface="Arial"/>
              </a:rPr>
              <a:t>Key Message:</a:t>
            </a:r>
            <a:endParaRPr sz="1800" dirty="0"/>
          </a:p>
          <a:p>
            <a:pPr marL="0" marR="0" lvl="0" indent="0" algn="l" rtl="0">
              <a:lnSpc>
                <a:spcPct val="80000"/>
              </a:lnSpc>
              <a:spcBef>
                <a:spcPts val="0"/>
              </a:spcBef>
              <a:spcAft>
                <a:spcPts val="0"/>
              </a:spcAft>
              <a:buClr>
                <a:srgbClr val="717074"/>
              </a:buClr>
              <a:buSzPts val="930"/>
              <a:buFont typeface="Arial"/>
              <a:buNone/>
            </a:pPr>
            <a:r>
              <a:rPr lang="en-US" sz="1800" u="none" strike="noStrike" dirty="0">
                <a:solidFill>
                  <a:srgbClr val="717074"/>
                </a:solidFill>
                <a:latin typeface="Arial"/>
                <a:ea typeface="Arial"/>
                <a:cs typeface="Arial"/>
                <a:sym typeface="Arial"/>
              </a:rPr>
              <a:t>Faster </a:t>
            </a:r>
            <a:r>
              <a:rPr lang="en-US" sz="1800" u="none" strike="noStrike" dirty="0" err="1">
                <a:solidFill>
                  <a:srgbClr val="717074"/>
                </a:solidFill>
                <a:latin typeface="Arial"/>
                <a:ea typeface="Arial"/>
                <a:cs typeface="Arial"/>
                <a:sym typeface="Arial"/>
              </a:rPr>
              <a:t>vMotion</a:t>
            </a:r>
            <a:r>
              <a:rPr lang="en-US" sz="1800" u="none" strike="noStrike" dirty="0">
                <a:solidFill>
                  <a:srgbClr val="717074"/>
                </a:solidFill>
                <a:latin typeface="Arial"/>
                <a:ea typeface="Arial"/>
                <a:cs typeface="Arial"/>
                <a:sym typeface="Arial"/>
              </a:rPr>
              <a:t> and increased uptime for AI workloads. Up to 6x reduction in </a:t>
            </a:r>
            <a:r>
              <a:rPr lang="en-US" sz="1800" u="none" strike="noStrike" dirty="0" err="1">
                <a:solidFill>
                  <a:srgbClr val="717074"/>
                </a:solidFill>
                <a:latin typeface="Arial"/>
                <a:ea typeface="Arial"/>
                <a:cs typeface="Arial"/>
                <a:sym typeface="Arial"/>
              </a:rPr>
              <a:t>vMotion</a:t>
            </a:r>
            <a:r>
              <a:rPr lang="en-US" sz="1800" u="none" strike="noStrike" dirty="0">
                <a:solidFill>
                  <a:srgbClr val="717074"/>
                </a:solidFill>
                <a:latin typeface="Arial"/>
                <a:ea typeface="Arial"/>
                <a:cs typeface="Arial"/>
                <a:sym typeface="Arial"/>
              </a:rPr>
              <a:t> time for typical </a:t>
            </a:r>
            <a:r>
              <a:rPr lang="en-US" sz="1800" u="none" strike="noStrike" dirty="0" err="1">
                <a:solidFill>
                  <a:srgbClr val="717074"/>
                </a:solidFill>
                <a:latin typeface="Arial"/>
                <a:ea typeface="Arial"/>
                <a:cs typeface="Arial"/>
                <a:sym typeface="Arial"/>
              </a:rPr>
              <a:t>vGPU</a:t>
            </a:r>
            <a:r>
              <a:rPr lang="en-US" sz="1800" u="none" strike="noStrike" dirty="0">
                <a:solidFill>
                  <a:srgbClr val="717074"/>
                </a:solidFill>
                <a:latin typeface="Arial"/>
                <a:ea typeface="Arial"/>
                <a:cs typeface="Arial"/>
                <a:sym typeface="Arial"/>
              </a:rPr>
              <a:t> profile. </a:t>
            </a:r>
            <a:endParaRPr sz="1800" dirty="0"/>
          </a:p>
          <a:p>
            <a:pPr marL="0" lvl="0" indent="0" algn="just" rtl="0">
              <a:spcBef>
                <a:spcPts val="0"/>
              </a:spcBef>
              <a:spcAft>
                <a:spcPts val="0"/>
              </a:spcAft>
              <a:buNone/>
            </a:pPr>
            <a:endParaRPr sz="1800" b="0" i="0" u="none" strike="noStrike" dirty="0">
              <a:solidFill>
                <a:srgbClr val="000000"/>
              </a:solidFill>
              <a:latin typeface="Calibri"/>
              <a:ea typeface="Calibri"/>
              <a:cs typeface="Calibri"/>
              <a:sym typeface="Calibri"/>
            </a:endParaRPr>
          </a:p>
          <a:p>
            <a:pPr marL="0" lvl="0" indent="0" algn="just" rtl="0">
              <a:spcBef>
                <a:spcPts val="0"/>
              </a:spcBef>
              <a:spcAft>
                <a:spcPts val="0"/>
              </a:spcAft>
              <a:buNone/>
            </a:pPr>
            <a:r>
              <a:rPr lang="en-US" sz="1800" b="1" i="0" u="none" strike="noStrike" dirty="0">
                <a:solidFill>
                  <a:srgbClr val="000000"/>
                </a:solidFill>
                <a:latin typeface="Calibri"/>
                <a:ea typeface="Calibri"/>
                <a:cs typeface="Calibri"/>
                <a:sym typeface="Calibri"/>
              </a:rPr>
              <a:t>Talk Track:</a:t>
            </a:r>
            <a:endParaRPr dirty="0"/>
          </a:p>
          <a:p>
            <a:pPr marL="0" marR="0" lvl="0" indent="0" algn="just" rtl="0">
              <a:lnSpc>
                <a:spcPct val="100000"/>
              </a:lnSpc>
              <a:spcBef>
                <a:spcPts val="0"/>
              </a:spcBef>
              <a:spcAft>
                <a:spcPts val="0"/>
              </a:spcAft>
              <a:buClr>
                <a:srgbClr val="000000"/>
              </a:buClr>
              <a:buSzPts val="1800"/>
              <a:buFont typeface="Calibri"/>
              <a:buNone/>
            </a:pPr>
            <a:r>
              <a:rPr lang="en-US" sz="1800" b="0" i="0" u="none" strike="noStrike" dirty="0">
                <a:solidFill>
                  <a:srgbClr val="000000"/>
                </a:solidFill>
                <a:latin typeface="Calibri"/>
                <a:ea typeface="Calibri"/>
                <a:cs typeface="Calibri"/>
                <a:sym typeface="Calibri"/>
              </a:rPr>
              <a:t>Here we show the memory of a pair of GPUs here that is associated with different VMs via the </a:t>
            </a:r>
            <a:r>
              <a:rPr lang="en-US" sz="1800" b="0" i="0" u="none" strike="noStrike" dirty="0" err="1">
                <a:solidFill>
                  <a:srgbClr val="000000"/>
                </a:solidFill>
                <a:latin typeface="Calibri"/>
                <a:ea typeface="Calibri"/>
                <a:cs typeface="Calibri"/>
                <a:sym typeface="Calibri"/>
              </a:rPr>
              <a:t>vGPU</a:t>
            </a:r>
            <a:r>
              <a:rPr lang="en-US" sz="1800" b="0" i="0" u="none" strike="noStrike" dirty="0">
                <a:solidFill>
                  <a:srgbClr val="000000"/>
                </a:solidFill>
                <a:latin typeface="Calibri"/>
                <a:ea typeface="Calibri"/>
                <a:cs typeface="Calibri"/>
                <a:sym typeface="Calibri"/>
              </a:rPr>
              <a:t> profile that was given to those VMs.. There are several choices to pick from of </a:t>
            </a:r>
            <a:r>
              <a:rPr lang="en-US" sz="1800" b="0" i="0" u="none" strike="noStrike" dirty="0" err="1">
                <a:solidFill>
                  <a:srgbClr val="000000"/>
                </a:solidFill>
                <a:latin typeface="Calibri"/>
                <a:ea typeface="Calibri"/>
                <a:cs typeface="Calibri"/>
                <a:sym typeface="Calibri"/>
              </a:rPr>
              <a:t>vGPU</a:t>
            </a:r>
            <a:r>
              <a:rPr lang="en-US" sz="1800" b="0" i="0" u="none" strike="noStrike" dirty="0">
                <a:solidFill>
                  <a:srgbClr val="000000"/>
                </a:solidFill>
                <a:latin typeface="Calibri"/>
                <a:ea typeface="Calibri"/>
                <a:cs typeface="Calibri"/>
                <a:sym typeface="Calibri"/>
              </a:rPr>
              <a:t> profile for any model of NVIDIA GPU. When one of these </a:t>
            </a:r>
            <a:r>
              <a:rPr lang="en-US" sz="1800" b="0" i="0" u="none" strike="noStrike" dirty="0" err="1">
                <a:solidFill>
                  <a:srgbClr val="000000"/>
                </a:solidFill>
                <a:latin typeface="Calibri"/>
                <a:ea typeface="Calibri"/>
                <a:cs typeface="Calibri"/>
                <a:sym typeface="Calibri"/>
              </a:rPr>
              <a:t>vGPU</a:t>
            </a:r>
            <a:r>
              <a:rPr lang="en-US" sz="1800" b="0" i="0" u="none" strike="noStrike" dirty="0">
                <a:solidFill>
                  <a:srgbClr val="000000"/>
                </a:solidFill>
                <a:latin typeface="Calibri"/>
                <a:ea typeface="Calibri"/>
                <a:cs typeface="Calibri"/>
                <a:sym typeface="Calibri"/>
              </a:rPr>
              <a:t>-aware VMs is undergoing a </a:t>
            </a:r>
            <a:r>
              <a:rPr lang="en-US" sz="1800" b="0" i="0" u="none" strike="noStrike" dirty="0" err="1">
                <a:solidFill>
                  <a:srgbClr val="000000"/>
                </a:solidFill>
                <a:latin typeface="Calibri"/>
                <a:ea typeface="Calibri"/>
                <a:cs typeface="Calibri"/>
                <a:sym typeface="Calibri"/>
              </a:rPr>
              <a:t>vMotion</a:t>
            </a:r>
            <a:r>
              <a:rPr lang="en-US" sz="1800" b="0" i="0" u="none" strike="noStrike" dirty="0">
                <a:solidFill>
                  <a:srgbClr val="000000"/>
                </a:solidFill>
                <a:latin typeface="Calibri"/>
                <a:ea typeface="Calibri"/>
                <a:cs typeface="Calibri"/>
                <a:sym typeface="Calibri"/>
              </a:rPr>
              <a:t> to a new host, the GPU memory data contents must is copied from source host machine to destination machine.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strike="noStrike" dirty="0">
              <a:solidFill>
                <a:srgbClr val="000000"/>
              </a:solidFill>
              <a:latin typeface="Calibri"/>
              <a:ea typeface="Calibri"/>
              <a:cs typeface="Calibri"/>
              <a:sym typeface="Calibri"/>
            </a:endParaRPr>
          </a:p>
          <a:p>
            <a:pPr marL="0" marR="0" lvl="0" indent="0" algn="just" rtl="0">
              <a:lnSpc>
                <a:spcPct val="100000"/>
              </a:lnSpc>
              <a:spcBef>
                <a:spcPts val="0"/>
              </a:spcBef>
              <a:spcAft>
                <a:spcPts val="0"/>
              </a:spcAft>
              <a:buClr>
                <a:srgbClr val="717074"/>
              </a:buClr>
              <a:buSzPts val="1800"/>
              <a:buFont typeface="Arial"/>
              <a:buNone/>
            </a:pPr>
            <a:r>
              <a:rPr lang="en-US" sz="1800" u="none" strike="noStrike" dirty="0" err="1">
                <a:solidFill>
                  <a:srgbClr val="717074"/>
                </a:solidFill>
                <a:latin typeface="Arial"/>
                <a:ea typeface="Arial"/>
                <a:cs typeface="Arial"/>
                <a:sym typeface="Arial"/>
              </a:rPr>
              <a:t>vMotion</a:t>
            </a:r>
            <a:r>
              <a:rPr lang="en-US" sz="1800" u="none" strike="noStrike" dirty="0">
                <a:solidFill>
                  <a:srgbClr val="717074"/>
                </a:solidFill>
                <a:latin typeface="Arial"/>
                <a:ea typeface="Arial"/>
                <a:cs typeface="Arial"/>
                <a:sym typeface="Arial"/>
              </a:rPr>
              <a:t> pre-copy is a technique used to transfer the VM memory to another host with minimal downtime. It copies both cold and hot memory in multiple passes while the VM is still running, eliminating the need to checkpoint and transfer all memory during the downtime.</a:t>
            </a:r>
            <a:endParaRPr sz="1100" b="0" dirty="0"/>
          </a:p>
          <a:p>
            <a:pPr marL="0" marR="0" lvl="0" indent="0" algn="just" rtl="0">
              <a:lnSpc>
                <a:spcPct val="100000"/>
              </a:lnSpc>
              <a:spcBef>
                <a:spcPts val="0"/>
              </a:spcBef>
              <a:spcAft>
                <a:spcPts val="0"/>
              </a:spcAft>
              <a:buClr>
                <a:schemeClr val="dk1"/>
              </a:buClr>
              <a:buSzPts val="1800"/>
              <a:buFont typeface="Arial"/>
              <a:buNone/>
            </a:pPr>
            <a:endParaRPr sz="1800" b="0" i="0" u="none" strike="noStrike" dirty="0">
              <a:solidFill>
                <a:srgbClr val="000000"/>
              </a:solidFill>
              <a:latin typeface="Calibri"/>
              <a:ea typeface="Calibri"/>
              <a:cs typeface="Calibri"/>
              <a:sym typeface="Calibri"/>
            </a:endParaRPr>
          </a:p>
          <a:p>
            <a:pPr marL="0" marR="0" lvl="0" indent="0" algn="just" rtl="0">
              <a:lnSpc>
                <a:spcPct val="100000"/>
              </a:lnSpc>
              <a:spcBef>
                <a:spcPts val="0"/>
              </a:spcBef>
              <a:spcAft>
                <a:spcPts val="0"/>
              </a:spcAft>
              <a:buClr>
                <a:srgbClr val="717074"/>
              </a:buClr>
              <a:buSzPts val="1800"/>
              <a:buFont typeface="Arial"/>
              <a:buNone/>
            </a:pPr>
            <a:r>
              <a:rPr lang="en-US" sz="1800" u="none" strike="noStrike" dirty="0" err="1">
                <a:solidFill>
                  <a:srgbClr val="717074"/>
                </a:solidFill>
                <a:latin typeface="Arial"/>
                <a:ea typeface="Arial"/>
                <a:cs typeface="Arial"/>
                <a:sym typeface="Arial"/>
              </a:rPr>
              <a:t>vGPU</a:t>
            </a:r>
            <a:r>
              <a:rPr lang="en-US" sz="1800" u="none" strike="noStrike" dirty="0">
                <a:solidFill>
                  <a:srgbClr val="717074"/>
                </a:solidFill>
                <a:latin typeface="Arial"/>
                <a:ea typeface="Arial"/>
                <a:cs typeface="Arial"/>
                <a:sym typeface="Arial"/>
              </a:rPr>
              <a:t> profiles allow for faster </a:t>
            </a:r>
            <a:r>
              <a:rPr lang="en-US" sz="1800" u="none" strike="noStrike" dirty="0" err="1">
                <a:solidFill>
                  <a:srgbClr val="717074"/>
                </a:solidFill>
                <a:latin typeface="Arial"/>
                <a:ea typeface="Arial"/>
                <a:cs typeface="Arial"/>
                <a:sym typeface="Arial"/>
              </a:rPr>
              <a:t>vMotion</a:t>
            </a:r>
            <a:r>
              <a:rPr lang="en-US" sz="1800" u="none" strike="noStrike" dirty="0">
                <a:solidFill>
                  <a:srgbClr val="717074"/>
                </a:solidFill>
                <a:latin typeface="Arial"/>
                <a:ea typeface="Arial"/>
                <a:cs typeface="Arial"/>
                <a:sym typeface="Arial"/>
              </a:rPr>
              <a:t> and increased uptime for AI workloads (up to 6x reduction in </a:t>
            </a:r>
            <a:r>
              <a:rPr lang="en-US" sz="1800" u="none" strike="noStrike" dirty="0" err="1">
                <a:solidFill>
                  <a:srgbClr val="717074"/>
                </a:solidFill>
                <a:latin typeface="Arial"/>
                <a:ea typeface="Arial"/>
                <a:cs typeface="Arial"/>
                <a:sym typeface="Arial"/>
              </a:rPr>
              <a:t>vMotion</a:t>
            </a:r>
            <a:r>
              <a:rPr lang="en-US" sz="1800" u="none" strike="noStrike" dirty="0">
                <a:solidFill>
                  <a:srgbClr val="717074"/>
                </a:solidFill>
                <a:latin typeface="Arial"/>
                <a:ea typeface="Arial"/>
                <a:cs typeface="Arial"/>
                <a:sym typeface="Arial"/>
              </a:rPr>
              <a:t> time for typical </a:t>
            </a:r>
            <a:r>
              <a:rPr lang="en-US" sz="1800" u="none" strike="noStrike" dirty="0" err="1">
                <a:solidFill>
                  <a:srgbClr val="717074"/>
                </a:solidFill>
                <a:latin typeface="Arial"/>
                <a:ea typeface="Arial"/>
                <a:cs typeface="Arial"/>
                <a:sym typeface="Arial"/>
              </a:rPr>
              <a:t>vGPU</a:t>
            </a:r>
            <a:r>
              <a:rPr lang="en-US" sz="1800" u="none" strike="noStrike" dirty="0">
                <a:solidFill>
                  <a:srgbClr val="717074"/>
                </a:solidFill>
                <a:latin typeface="Arial"/>
                <a:ea typeface="Arial"/>
                <a:cs typeface="Arial"/>
                <a:sym typeface="Arial"/>
              </a:rPr>
              <a:t> profile).</a:t>
            </a:r>
            <a:endParaRPr sz="1800" dirty="0"/>
          </a:p>
          <a:p>
            <a:pPr marL="0" lvl="0" indent="0" algn="just" rtl="0">
              <a:spcBef>
                <a:spcPts val="0"/>
              </a:spcBef>
              <a:spcAft>
                <a:spcPts val="0"/>
              </a:spcAft>
              <a:buNone/>
            </a:pPr>
            <a:endParaRPr sz="1800" b="0" i="0" u="none" strike="noStrike" dirty="0">
              <a:solidFill>
                <a:srgbClr val="000000"/>
              </a:solidFill>
              <a:latin typeface="Calibri"/>
              <a:ea typeface="Calibri"/>
              <a:cs typeface="Calibri"/>
              <a:sym typeface="Calibri"/>
            </a:endParaRPr>
          </a:p>
          <a:p>
            <a:pPr marL="0" lvl="0" indent="0" algn="just" rtl="0">
              <a:spcBef>
                <a:spcPts val="0"/>
              </a:spcBef>
              <a:spcAft>
                <a:spcPts val="0"/>
              </a:spcAft>
              <a:buNone/>
            </a:pPr>
            <a:r>
              <a:rPr lang="en-US" sz="1800" b="1" i="0" u="none" strike="noStrike" dirty="0">
                <a:solidFill>
                  <a:srgbClr val="000000"/>
                </a:solidFill>
                <a:latin typeface="Calibri"/>
                <a:ea typeface="Calibri"/>
                <a:cs typeface="Calibri"/>
                <a:sym typeface="Calibri"/>
              </a:rPr>
              <a:t>Notes:</a:t>
            </a:r>
            <a:endParaRPr dirty="0"/>
          </a:p>
          <a:p>
            <a:pPr marL="0" lvl="0" indent="0" algn="just" rtl="0">
              <a:spcBef>
                <a:spcPts val="0"/>
              </a:spcBef>
              <a:spcAft>
                <a:spcPts val="0"/>
              </a:spcAft>
              <a:buNone/>
            </a:pPr>
            <a:r>
              <a:rPr lang="en-US" sz="1800" b="0" i="0" u="none" strike="noStrike" dirty="0">
                <a:solidFill>
                  <a:srgbClr val="000000"/>
                </a:solidFill>
                <a:latin typeface="Calibri"/>
                <a:ea typeface="Calibri"/>
                <a:cs typeface="Calibri"/>
                <a:sym typeface="Calibri"/>
              </a:rPr>
              <a:t>This may mean that 80GB of data or more is copied during that time.</a:t>
            </a:r>
            <a:endParaRPr dirty="0"/>
          </a:p>
          <a:p>
            <a:pPr marL="0" lvl="0" indent="0" algn="l" rtl="0">
              <a:lnSpc>
                <a:spcPct val="80000"/>
              </a:lnSpc>
              <a:spcBef>
                <a:spcPts val="0"/>
              </a:spcBef>
              <a:spcAft>
                <a:spcPts val="0"/>
              </a:spcAft>
              <a:buClr>
                <a:srgbClr val="000000"/>
              </a:buClr>
              <a:buSzPts val="1200"/>
              <a:buFont typeface="Calibri"/>
              <a:buNone/>
            </a:pPr>
            <a:r>
              <a:rPr lang="en-US" sz="1200" b="0" i="0" u="none" strike="noStrike" dirty="0">
                <a:solidFill>
                  <a:srgbClr val="000000"/>
                </a:solidFill>
                <a:latin typeface="Calibri"/>
                <a:ea typeface="Calibri"/>
                <a:cs typeface="Calibri"/>
                <a:sym typeface="Calibri"/>
              </a:rPr>
              <a:t>A </a:t>
            </a:r>
            <a:r>
              <a:rPr lang="en-US" sz="1200" b="0" i="0" u="none" strike="noStrike" dirty="0" err="1">
                <a:solidFill>
                  <a:srgbClr val="000000"/>
                </a:solidFill>
                <a:latin typeface="Calibri"/>
                <a:ea typeface="Calibri"/>
                <a:cs typeface="Calibri"/>
                <a:sym typeface="Calibri"/>
              </a:rPr>
              <a:t>vGPU</a:t>
            </a:r>
            <a:r>
              <a:rPr lang="en-US" sz="1200" b="0" i="0" u="none" strike="noStrike" dirty="0">
                <a:solidFill>
                  <a:srgbClr val="000000"/>
                </a:solidFill>
                <a:latin typeface="Calibri"/>
                <a:ea typeface="Calibri"/>
                <a:cs typeface="Calibri"/>
                <a:sym typeface="Calibri"/>
              </a:rPr>
              <a:t> profile is assigned using the vSphere client to a powered-off virtual machine.</a:t>
            </a:r>
            <a:br>
              <a:rPr lang="en-US" sz="1200" b="0" i="0" u="none" strike="noStrike" dirty="0">
                <a:solidFill>
                  <a:srgbClr val="000000"/>
                </a:solidFill>
                <a:latin typeface="Calibri"/>
                <a:ea typeface="Calibri"/>
                <a:cs typeface="Calibri"/>
                <a:sym typeface="Calibri"/>
              </a:rPr>
            </a:br>
            <a:br>
              <a:rPr lang="en-US" sz="1200" b="0" i="0" u="none" strike="noStrike" dirty="0">
                <a:solidFill>
                  <a:srgbClr val="000000"/>
                </a:solidFill>
                <a:latin typeface="Calibri"/>
                <a:ea typeface="Calibri"/>
                <a:cs typeface="Calibri"/>
                <a:sym typeface="Calibri"/>
              </a:rPr>
            </a:br>
            <a:r>
              <a:rPr lang="en-US" sz="1200" b="1" i="0" u="none" strike="noStrike" dirty="0">
                <a:solidFill>
                  <a:srgbClr val="000000"/>
                </a:solidFill>
                <a:latin typeface="Calibri"/>
                <a:ea typeface="Calibri"/>
                <a:cs typeface="Calibri"/>
                <a:sym typeface="Calibri"/>
              </a:rPr>
              <a:t>Resources:</a:t>
            </a:r>
            <a:br>
              <a:rPr lang="en-US" sz="1200" b="0" i="0" u="none" strike="noStrike" dirty="0">
                <a:solidFill>
                  <a:srgbClr val="000000"/>
                </a:solidFill>
                <a:latin typeface="Calibri"/>
                <a:ea typeface="Calibri"/>
                <a:cs typeface="Calibri"/>
                <a:sym typeface="Calibri"/>
              </a:rPr>
            </a:br>
            <a:endParaRPr sz="1200" b="0" i="0" u="none" strike="noStrike" dirty="0">
              <a:solidFill>
                <a:srgbClr val="000000"/>
              </a:solidFill>
              <a:latin typeface="Calibri"/>
              <a:ea typeface="Calibri"/>
              <a:cs typeface="Calibri"/>
              <a:sym typeface="Calibri"/>
            </a:endParaRPr>
          </a:p>
        </p:txBody>
      </p:sp>
      <p:sp>
        <p:nvSpPr>
          <p:cNvPr id="4954" name="Google Shape;495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15</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1"/>
        <p:cNvGrpSpPr/>
        <p:nvPr/>
      </p:nvGrpSpPr>
      <p:grpSpPr>
        <a:xfrm>
          <a:off x="0" y="0"/>
          <a:ext cx="0" cy="0"/>
          <a:chOff x="0" y="0"/>
          <a:chExt cx="0" cy="0"/>
        </a:xfrm>
      </p:grpSpPr>
      <p:sp>
        <p:nvSpPr>
          <p:cNvPr id="4992" name="Google Shape;49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3" name="Google Shape;499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n-US" sz="1800" b="1" i="0" u="none" strike="noStrike" dirty="0">
                <a:solidFill>
                  <a:srgbClr val="000000"/>
                </a:solidFill>
                <a:latin typeface="Calibri"/>
                <a:ea typeface="Calibri"/>
                <a:cs typeface="Calibri"/>
                <a:sym typeface="Calibri"/>
              </a:rPr>
              <a:t>Key Message:</a:t>
            </a:r>
            <a:endParaRPr dirty="0"/>
          </a:p>
          <a:p>
            <a:pPr marL="0" marR="0" lvl="0" indent="0" algn="just" rtl="0">
              <a:lnSpc>
                <a:spcPct val="100000"/>
              </a:lnSpc>
              <a:spcBef>
                <a:spcPts val="0"/>
              </a:spcBef>
              <a:spcAft>
                <a:spcPts val="0"/>
              </a:spcAft>
              <a:buClr>
                <a:srgbClr val="1B1E35"/>
              </a:buClr>
              <a:buSzPts val="1800"/>
              <a:buFont typeface="Arial"/>
              <a:buNone/>
            </a:pPr>
            <a:r>
              <a:rPr lang="en-US" sz="1800" b="0" i="0" u="none" strike="noStrike" cap="none" dirty="0">
                <a:solidFill>
                  <a:srgbClr val="1B1E35"/>
                </a:solidFill>
                <a:latin typeface="Arial"/>
                <a:ea typeface="Arial"/>
                <a:cs typeface="Arial"/>
                <a:sym typeface="Arial"/>
              </a:rPr>
              <a:t>Reserve resource pools for AI applications for future capacity needs.</a:t>
            </a:r>
            <a:endParaRPr dirty="0"/>
          </a:p>
          <a:p>
            <a:pPr marL="0" lvl="0" indent="0" algn="just" rtl="0">
              <a:spcBef>
                <a:spcPts val="0"/>
              </a:spcBef>
              <a:spcAft>
                <a:spcPts val="0"/>
              </a:spcAft>
              <a:buNone/>
            </a:pPr>
            <a:endParaRPr sz="1800" b="0" i="0" u="none" strike="noStrike" dirty="0">
              <a:solidFill>
                <a:srgbClr val="000000"/>
              </a:solidFill>
              <a:latin typeface="Calibri"/>
              <a:ea typeface="Calibri"/>
              <a:cs typeface="Calibri"/>
              <a:sym typeface="Calibri"/>
            </a:endParaRPr>
          </a:p>
          <a:p>
            <a:pPr marL="0" lvl="0" indent="0" algn="just" rtl="0">
              <a:spcBef>
                <a:spcPts val="0"/>
              </a:spcBef>
              <a:spcAft>
                <a:spcPts val="0"/>
              </a:spcAft>
              <a:buNone/>
            </a:pPr>
            <a:r>
              <a:rPr lang="en-US" sz="1800" b="1" i="0" u="none" strike="noStrike" dirty="0">
                <a:solidFill>
                  <a:srgbClr val="000000"/>
                </a:solidFill>
                <a:latin typeface="Calibri"/>
                <a:ea typeface="Calibri"/>
                <a:cs typeface="Calibri"/>
                <a:sym typeface="Calibri"/>
              </a:rPr>
              <a:t>Talk Track:</a:t>
            </a:r>
            <a:endParaRPr dirty="0"/>
          </a:p>
          <a:p>
            <a:pPr marL="0" lvl="0" indent="0" algn="just" rtl="0">
              <a:spcBef>
                <a:spcPts val="0"/>
              </a:spcBef>
              <a:spcAft>
                <a:spcPts val="0"/>
              </a:spcAft>
              <a:buNone/>
            </a:pPr>
            <a:r>
              <a:rPr lang="en-US" sz="1800" b="0" i="0" u="none" strike="noStrike" dirty="0">
                <a:solidFill>
                  <a:srgbClr val="000000"/>
                </a:solidFill>
                <a:latin typeface="Calibri"/>
                <a:ea typeface="Calibri"/>
                <a:cs typeface="Calibri"/>
                <a:sym typeface="Calibri"/>
              </a:rPr>
              <a:t>Today, admins cannot reserve space for </a:t>
            </a:r>
            <a:r>
              <a:rPr lang="en-US" sz="1800" b="0" i="0" u="none" strike="noStrike" dirty="0" err="1">
                <a:solidFill>
                  <a:srgbClr val="000000"/>
                </a:solidFill>
                <a:latin typeface="Calibri"/>
                <a:ea typeface="Calibri"/>
                <a:cs typeface="Calibri"/>
                <a:sym typeface="Calibri"/>
              </a:rPr>
              <a:t>vGPUs</a:t>
            </a:r>
            <a:r>
              <a:rPr lang="en-US" sz="1800" b="0" i="0" u="none" strike="noStrike" dirty="0">
                <a:solidFill>
                  <a:srgbClr val="000000"/>
                </a:solidFill>
                <a:latin typeface="Calibri"/>
                <a:ea typeface="Calibri"/>
                <a:cs typeface="Calibri"/>
                <a:sym typeface="Calibri"/>
              </a:rPr>
              <a:t> for future use. This prevents them from allocating GPU space for Gen AI applications in advance, potentially causing performance issues when these applications are deployed.</a:t>
            </a:r>
            <a:endParaRPr dirty="0"/>
          </a:p>
          <a:p>
            <a:pPr marL="0" lvl="0" indent="0" algn="just" rtl="0">
              <a:spcBef>
                <a:spcPts val="0"/>
              </a:spcBef>
              <a:spcAft>
                <a:spcPts val="0"/>
              </a:spcAft>
              <a:buNone/>
            </a:pPr>
            <a:r>
              <a:rPr lang="en-US" sz="1800" b="0" i="0" u="none" strike="noStrike" dirty="0">
                <a:solidFill>
                  <a:srgbClr val="000000"/>
                </a:solidFill>
                <a:latin typeface="Calibri"/>
                <a:ea typeface="Calibri"/>
                <a:cs typeface="Calibri"/>
                <a:sym typeface="Calibri"/>
              </a:rPr>
              <a:t>GPU reservations allow admins to reserve resource pools for </a:t>
            </a:r>
            <a:r>
              <a:rPr lang="en-US" sz="1800" b="0" i="0" u="none" strike="noStrike" dirty="0" err="1">
                <a:solidFill>
                  <a:srgbClr val="000000"/>
                </a:solidFill>
                <a:latin typeface="Calibri"/>
                <a:ea typeface="Calibri"/>
                <a:cs typeface="Calibri"/>
                <a:sym typeface="Calibri"/>
              </a:rPr>
              <a:t>vGPU</a:t>
            </a:r>
            <a:r>
              <a:rPr lang="en-US" sz="1800" b="0" i="0" u="none" strike="noStrike" dirty="0">
                <a:solidFill>
                  <a:srgbClr val="000000"/>
                </a:solidFill>
                <a:latin typeface="Calibri"/>
                <a:ea typeface="Calibri"/>
                <a:cs typeface="Calibri"/>
                <a:sym typeface="Calibri"/>
              </a:rPr>
              <a:t> profiles ahead of time, for better capacity planning, and improving both performance and operational efficiency.</a:t>
            </a:r>
            <a:endParaRPr b="0" dirty="0"/>
          </a:p>
          <a:p>
            <a:pPr marL="0" marR="0" lvl="0" indent="0" algn="l" rtl="0">
              <a:lnSpc>
                <a:spcPct val="100000"/>
              </a:lnSpc>
              <a:spcBef>
                <a:spcPts val="0"/>
              </a:spcBef>
              <a:spcAft>
                <a:spcPts val="0"/>
              </a:spcAft>
              <a:buClr>
                <a:schemeClr val="dk1"/>
              </a:buClr>
              <a:buSzPts val="1200"/>
              <a:buFont typeface="Arial"/>
              <a:buNone/>
            </a:pPr>
            <a:endParaRPr sz="1200" b="0" i="0" u="none" strike="noStrike" cap="none" dirty="0">
              <a:solidFill>
                <a:srgbClr val="1B1E35"/>
              </a:solidFill>
              <a:latin typeface="Arial"/>
              <a:ea typeface="Arial"/>
              <a:cs typeface="Arial"/>
              <a:sym typeface="Arial"/>
            </a:endParaRPr>
          </a:p>
          <a:p>
            <a:pPr marL="0" marR="0" lvl="0" indent="0" algn="l" rtl="0">
              <a:lnSpc>
                <a:spcPct val="100000"/>
              </a:lnSpc>
              <a:spcBef>
                <a:spcPts val="0"/>
              </a:spcBef>
              <a:spcAft>
                <a:spcPts val="0"/>
              </a:spcAft>
              <a:buClr>
                <a:srgbClr val="1B1E35"/>
              </a:buClr>
              <a:buSzPts val="1200"/>
              <a:buFont typeface="Arial"/>
              <a:buNone/>
            </a:pPr>
            <a:r>
              <a:rPr lang="en-US" sz="1200" b="1" i="0" u="none" strike="noStrike" cap="none" dirty="0">
                <a:solidFill>
                  <a:srgbClr val="1B1E35"/>
                </a:solidFill>
                <a:latin typeface="Arial"/>
                <a:ea typeface="Arial"/>
                <a:cs typeface="Arial"/>
                <a:sym typeface="Arial"/>
              </a:rPr>
              <a:t>Notes:</a:t>
            </a:r>
            <a:br>
              <a:rPr lang="en-US" sz="1200" b="1" i="0" u="none" strike="noStrike" cap="none" dirty="0">
                <a:solidFill>
                  <a:srgbClr val="1B1E35"/>
                </a:solidFill>
                <a:latin typeface="Arial"/>
                <a:ea typeface="Arial"/>
                <a:cs typeface="Arial"/>
                <a:sym typeface="Arial"/>
              </a:rPr>
            </a:br>
            <a:r>
              <a:rPr lang="en-US" sz="1200" b="0" i="0" u="none" strike="noStrike" cap="none" dirty="0">
                <a:solidFill>
                  <a:srgbClr val="1B1E35"/>
                </a:solidFill>
                <a:latin typeface="Arial"/>
                <a:ea typeface="Arial"/>
                <a:cs typeface="Arial"/>
                <a:sym typeface="Arial"/>
              </a:rPr>
              <a:t>This feature is fully supported in VCF 9.0 as a Tech Preview</a:t>
            </a:r>
            <a:endParaRPr dirty="0"/>
          </a:p>
          <a:p>
            <a:pPr marL="0" marR="0" lvl="0" indent="0" algn="l" rtl="0">
              <a:lnSpc>
                <a:spcPct val="100000"/>
              </a:lnSpc>
              <a:spcBef>
                <a:spcPts val="0"/>
              </a:spcBef>
              <a:spcAft>
                <a:spcPts val="0"/>
              </a:spcAft>
              <a:buClr>
                <a:schemeClr val="dk1"/>
              </a:buClr>
              <a:buSzPts val="1200"/>
              <a:buFont typeface="Arial"/>
              <a:buNone/>
            </a:pPr>
            <a:endParaRPr sz="1200" b="1" i="0" u="none" strike="noStrike" cap="none" dirty="0">
              <a:solidFill>
                <a:srgbClr val="1B1E35"/>
              </a:solidFill>
              <a:latin typeface="Arial"/>
              <a:ea typeface="Arial"/>
              <a:cs typeface="Arial"/>
              <a:sym typeface="Arial"/>
            </a:endParaRPr>
          </a:p>
          <a:p>
            <a:pPr marL="0" marR="0" lvl="0" indent="0" algn="l" rtl="0">
              <a:lnSpc>
                <a:spcPct val="100000"/>
              </a:lnSpc>
              <a:spcBef>
                <a:spcPts val="0"/>
              </a:spcBef>
              <a:spcAft>
                <a:spcPts val="0"/>
              </a:spcAft>
              <a:buClr>
                <a:srgbClr val="1B1E35"/>
              </a:buClr>
              <a:buSzPts val="1200"/>
              <a:buFont typeface="Arial"/>
              <a:buNone/>
            </a:pPr>
            <a:r>
              <a:rPr lang="en-US" sz="1200" b="1" i="0" u="none" strike="noStrike" cap="none" dirty="0">
                <a:solidFill>
                  <a:srgbClr val="1B1E35"/>
                </a:solidFill>
                <a:latin typeface="Arial"/>
                <a:ea typeface="Arial"/>
                <a:cs typeface="Arial"/>
                <a:sym typeface="Arial"/>
              </a:rPr>
              <a:t>Resources:</a:t>
            </a:r>
            <a:endParaRPr dirty="0"/>
          </a:p>
          <a:p>
            <a:pPr marL="0" lvl="0" indent="0" algn="l" rtl="0">
              <a:spcBef>
                <a:spcPts val="0"/>
              </a:spcBef>
              <a:spcAft>
                <a:spcPts val="0"/>
              </a:spcAft>
              <a:buNone/>
            </a:pPr>
            <a:endParaRPr b="1" dirty="0">
              <a:latin typeface="Arial"/>
              <a:ea typeface="Arial"/>
              <a:cs typeface="Arial"/>
              <a:sym typeface="Arial"/>
            </a:endParaRPr>
          </a:p>
        </p:txBody>
      </p:sp>
      <p:sp>
        <p:nvSpPr>
          <p:cNvPr id="4994" name="Google Shape;4994;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16</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3"/>
        <p:cNvGrpSpPr/>
        <p:nvPr/>
      </p:nvGrpSpPr>
      <p:grpSpPr>
        <a:xfrm>
          <a:off x="0" y="0"/>
          <a:ext cx="0" cy="0"/>
          <a:chOff x="0" y="0"/>
          <a:chExt cx="0" cy="0"/>
        </a:xfrm>
      </p:grpSpPr>
      <p:sp>
        <p:nvSpPr>
          <p:cNvPr id="5034" name="Google Shape;5034;p1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5" name="Google Shape;5035;p1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60000"/>
              </a:lnSpc>
              <a:spcBef>
                <a:spcPts val="0"/>
              </a:spcBef>
              <a:spcAft>
                <a:spcPts val="0"/>
              </a:spcAft>
              <a:buClr>
                <a:schemeClr val="dk1"/>
              </a:buClr>
              <a:buSzPts val="740"/>
              <a:buFont typeface="Arial"/>
              <a:buNone/>
            </a:pPr>
            <a:r>
              <a:rPr lang="en-US" sz="740" b="1">
                <a:latin typeface="Arial"/>
                <a:ea typeface="Arial"/>
                <a:cs typeface="Arial"/>
                <a:sym typeface="Arial"/>
              </a:rPr>
              <a:t>Presenter Note:  This slide contains animation</a:t>
            </a:r>
            <a:endParaRPr/>
          </a:p>
          <a:p>
            <a:pPr marL="0" lvl="0" indent="0" algn="l" rtl="0">
              <a:lnSpc>
                <a:spcPct val="60000"/>
              </a:lnSpc>
              <a:spcBef>
                <a:spcPts val="0"/>
              </a:spcBef>
              <a:spcAft>
                <a:spcPts val="0"/>
              </a:spcAft>
              <a:buClr>
                <a:schemeClr val="dk1"/>
              </a:buClr>
              <a:buSzPts val="740"/>
              <a:buFont typeface="Arial"/>
              <a:buNone/>
            </a:pPr>
            <a:endParaRPr sz="740">
              <a:solidFill>
                <a:schemeClr val="dk1"/>
              </a:solidFill>
              <a:latin typeface="Arial"/>
              <a:ea typeface="Arial"/>
              <a:cs typeface="Arial"/>
              <a:sym typeface="Arial"/>
            </a:endParaRPr>
          </a:p>
          <a:p>
            <a:pPr marL="0" marR="0" lvl="0" indent="0" algn="l" rtl="0">
              <a:lnSpc>
                <a:spcPct val="60000"/>
              </a:lnSpc>
              <a:spcBef>
                <a:spcPts val="0"/>
              </a:spcBef>
              <a:spcAft>
                <a:spcPts val="0"/>
              </a:spcAft>
              <a:buClr>
                <a:schemeClr val="dk1"/>
              </a:buClr>
              <a:buSzPts val="480"/>
              <a:buFont typeface="Arial"/>
              <a:buNone/>
            </a:pPr>
            <a:r>
              <a:rPr lang="en-US" sz="740" b="1">
                <a:solidFill>
                  <a:schemeClr val="dk1"/>
                </a:solidFill>
                <a:latin typeface="Arial"/>
                <a:ea typeface="Arial"/>
                <a:cs typeface="Arial"/>
                <a:sym typeface="Arial"/>
              </a:rPr>
              <a:t>Key Message:</a:t>
            </a:r>
            <a:endParaRPr sz="1110"/>
          </a:p>
          <a:p>
            <a:pPr marL="0" marR="0" lvl="0" indent="0" algn="l" rtl="0">
              <a:lnSpc>
                <a:spcPct val="60000"/>
              </a:lnSpc>
              <a:spcBef>
                <a:spcPts val="0"/>
              </a:spcBef>
              <a:spcAft>
                <a:spcPts val="0"/>
              </a:spcAft>
              <a:buClr>
                <a:srgbClr val="717074"/>
              </a:buClr>
              <a:buSzPts val="480"/>
              <a:buFont typeface="Arial"/>
              <a:buNone/>
            </a:pPr>
            <a:r>
              <a:rPr lang="en-US" sz="740" u="none" strike="noStrike">
                <a:solidFill>
                  <a:srgbClr val="717074"/>
                </a:solidFill>
                <a:latin typeface="Arial"/>
                <a:ea typeface="Arial"/>
                <a:cs typeface="Arial"/>
                <a:sym typeface="Arial"/>
              </a:rPr>
              <a:t>Live Patch is extended to more of the ESX image, including vmkernel and NSX components. Increasing the frequency that patches can leverage live patch.</a:t>
            </a:r>
            <a:endParaRPr sz="1110"/>
          </a:p>
          <a:p>
            <a:pPr marL="0" marR="0" lvl="0" indent="0" algn="l" rtl="0">
              <a:lnSpc>
                <a:spcPct val="60000"/>
              </a:lnSpc>
              <a:spcBef>
                <a:spcPts val="0"/>
              </a:spcBef>
              <a:spcAft>
                <a:spcPts val="0"/>
              </a:spcAft>
              <a:buClr>
                <a:schemeClr val="dk1"/>
              </a:buClr>
              <a:buSzPts val="480"/>
              <a:buFont typeface="Arial"/>
              <a:buNone/>
            </a:pPr>
            <a:br>
              <a:rPr lang="en-US" sz="740">
                <a:solidFill>
                  <a:schemeClr val="dk1"/>
                </a:solidFill>
                <a:latin typeface="Arial"/>
                <a:ea typeface="Arial"/>
                <a:cs typeface="Arial"/>
                <a:sym typeface="Arial"/>
              </a:rPr>
            </a:br>
            <a:r>
              <a:rPr lang="en-US" sz="740" b="1">
                <a:solidFill>
                  <a:schemeClr val="dk1"/>
                </a:solidFill>
                <a:latin typeface="Arial"/>
                <a:ea typeface="Arial"/>
                <a:cs typeface="Arial"/>
                <a:sym typeface="Arial"/>
              </a:rPr>
              <a:t>Talk Track:</a:t>
            </a:r>
            <a:endParaRPr sz="1110"/>
          </a:p>
          <a:p>
            <a:pPr marL="0" lvl="0" indent="0" algn="l" rtl="0">
              <a:lnSpc>
                <a:spcPct val="60000"/>
              </a:lnSpc>
              <a:spcBef>
                <a:spcPts val="0"/>
              </a:spcBef>
              <a:spcAft>
                <a:spcPts val="0"/>
              </a:spcAft>
              <a:buClr>
                <a:srgbClr val="717074"/>
              </a:buClr>
              <a:buSzPts val="740"/>
              <a:buFont typeface="Arial"/>
              <a:buNone/>
            </a:pPr>
            <a:r>
              <a:rPr lang="en-US" sz="740" u="none" strike="noStrike">
                <a:solidFill>
                  <a:srgbClr val="717074"/>
                </a:solidFill>
                <a:latin typeface="Arial"/>
                <a:ea typeface="Arial"/>
                <a:cs typeface="Arial"/>
                <a:sym typeface="Arial"/>
              </a:rPr>
              <a:t>Live Patch for ESX was introduced with vSphere 8.0 Update 3 and is has now been extended to more of the ESX image, including vmkernel and NSX components. Increasing the frequency that patches can leverage live patch.</a:t>
            </a:r>
            <a:endParaRPr sz="1110"/>
          </a:p>
          <a:p>
            <a:pPr marL="0" lvl="0" indent="0" algn="l" rtl="0">
              <a:lnSpc>
                <a:spcPct val="60000"/>
              </a:lnSpc>
              <a:spcBef>
                <a:spcPts val="600"/>
              </a:spcBef>
              <a:spcAft>
                <a:spcPts val="0"/>
              </a:spcAft>
              <a:buClr>
                <a:schemeClr val="dk1"/>
              </a:buClr>
              <a:buSzPts val="2220"/>
              <a:buFont typeface="Arial"/>
              <a:buNone/>
            </a:pPr>
            <a:endParaRPr sz="2220">
              <a:latin typeface="Arial"/>
              <a:ea typeface="Arial"/>
              <a:cs typeface="Arial"/>
              <a:sym typeface="Arial"/>
            </a:endParaRPr>
          </a:p>
          <a:p>
            <a:pPr marL="0" lvl="0" indent="0" algn="l" rtl="0">
              <a:lnSpc>
                <a:spcPct val="60000"/>
              </a:lnSpc>
              <a:spcBef>
                <a:spcPts val="600"/>
              </a:spcBef>
              <a:spcAft>
                <a:spcPts val="0"/>
              </a:spcAft>
              <a:buClr>
                <a:srgbClr val="717074"/>
              </a:buClr>
              <a:buSzPts val="740"/>
              <a:buFont typeface="Arial"/>
              <a:buNone/>
            </a:pPr>
            <a:r>
              <a:rPr lang="en-US" sz="740" u="none" strike="noStrike">
                <a:solidFill>
                  <a:srgbClr val="717074"/>
                </a:solidFill>
                <a:latin typeface="Arial"/>
                <a:ea typeface="Arial"/>
                <a:cs typeface="Arial"/>
                <a:sym typeface="Arial"/>
              </a:rPr>
              <a:t>NSX components, now part of the base ESX image, can be patched using the live patch process without hosts entering maintenance mode and needing VMs to evacuate the hosts. </a:t>
            </a:r>
            <a:endParaRPr sz="1110"/>
          </a:p>
          <a:p>
            <a:pPr marL="0" lvl="0" indent="0" algn="l" rtl="0">
              <a:lnSpc>
                <a:spcPct val="60000"/>
              </a:lnSpc>
              <a:spcBef>
                <a:spcPts val="600"/>
              </a:spcBef>
              <a:spcAft>
                <a:spcPts val="0"/>
              </a:spcAft>
              <a:buClr>
                <a:schemeClr val="dk1"/>
              </a:buClr>
              <a:buSzPts val="2220"/>
              <a:buFont typeface="Arial"/>
              <a:buNone/>
            </a:pPr>
            <a:endParaRPr sz="2220">
              <a:latin typeface="Arial"/>
              <a:ea typeface="Arial"/>
              <a:cs typeface="Arial"/>
              <a:sym typeface="Arial"/>
            </a:endParaRPr>
          </a:p>
          <a:p>
            <a:pPr marL="0" lvl="0" indent="0" algn="l" rtl="0">
              <a:lnSpc>
                <a:spcPct val="60000"/>
              </a:lnSpc>
              <a:spcBef>
                <a:spcPts val="600"/>
              </a:spcBef>
              <a:spcAft>
                <a:spcPts val="0"/>
              </a:spcAft>
              <a:buClr>
                <a:srgbClr val="717074"/>
              </a:buClr>
              <a:buSzPts val="740"/>
              <a:buFont typeface="Arial"/>
              <a:buNone/>
            </a:pPr>
            <a:r>
              <a:rPr lang="en-US" sz="740" u="none" strike="noStrike">
                <a:solidFill>
                  <a:srgbClr val="717074"/>
                </a:solidFill>
                <a:latin typeface="Arial"/>
                <a:ea typeface="Arial"/>
                <a:cs typeface="Arial"/>
                <a:sym typeface="Arial"/>
              </a:rPr>
              <a:t>Vmkernel, user-space and vmx (virtual machine execution) components can also leverage live patch. ESX services (for example hostd) might require a restart during a live patch which can cause ESX hosts to briefly disconnect from vCenter. This is expected behaviour and does not impact the running virtual machines. vSphere Lifecycle Manager reports what services or daemons will be restarted as part of the live patch remediation.</a:t>
            </a:r>
            <a:endParaRPr sz="1110"/>
          </a:p>
          <a:p>
            <a:pPr marL="0" lvl="0" indent="0" algn="l" rtl="0">
              <a:lnSpc>
                <a:spcPct val="60000"/>
              </a:lnSpc>
              <a:spcBef>
                <a:spcPts val="600"/>
              </a:spcBef>
              <a:spcAft>
                <a:spcPts val="0"/>
              </a:spcAft>
              <a:buClr>
                <a:schemeClr val="dk1"/>
              </a:buClr>
              <a:buSzPts val="2220"/>
              <a:buFont typeface="Arial"/>
              <a:buNone/>
            </a:pPr>
            <a:endParaRPr sz="2220">
              <a:latin typeface="Arial"/>
              <a:ea typeface="Arial"/>
              <a:cs typeface="Arial"/>
              <a:sym typeface="Arial"/>
            </a:endParaRPr>
          </a:p>
          <a:p>
            <a:pPr marL="0" lvl="0" indent="0" algn="l" rtl="0">
              <a:lnSpc>
                <a:spcPct val="60000"/>
              </a:lnSpc>
              <a:spcBef>
                <a:spcPts val="600"/>
              </a:spcBef>
              <a:spcAft>
                <a:spcPts val="0"/>
              </a:spcAft>
              <a:buClr>
                <a:srgbClr val="717074"/>
              </a:buClr>
              <a:buSzPts val="740"/>
              <a:buFont typeface="Arial"/>
              <a:buNone/>
            </a:pPr>
            <a:r>
              <a:rPr lang="en-US" sz="740" u="none" strike="noStrike">
                <a:solidFill>
                  <a:srgbClr val="717074"/>
                </a:solidFill>
                <a:latin typeface="Arial"/>
                <a:ea typeface="Arial"/>
                <a:cs typeface="Arial"/>
                <a:sym typeface="Arial"/>
              </a:rPr>
              <a:t>If the vmx (virtual machine execution) environment is being live patches, running VMs will perform a Fast-Suspend-Resume (FSR). Live patch is compatible with vSAN clusters. vSAN witness nodes are not compatible with live patch and will undergo full reboots when patching.</a:t>
            </a:r>
            <a:endParaRPr sz="1110"/>
          </a:p>
          <a:p>
            <a:pPr marL="0" lvl="0" indent="0" algn="l" rtl="0">
              <a:lnSpc>
                <a:spcPct val="60000"/>
              </a:lnSpc>
              <a:spcBef>
                <a:spcPts val="600"/>
              </a:spcBef>
              <a:spcAft>
                <a:spcPts val="0"/>
              </a:spcAft>
              <a:buClr>
                <a:schemeClr val="dk1"/>
              </a:buClr>
              <a:buSzPts val="2220"/>
              <a:buFont typeface="Arial"/>
              <a:buNone/>
            </a:pPr>
            <a:endParaRPr sz="2220">
              <a:latin typeface="Arial"/>
              <a:ea typeface="Arial"/>
              <a:cs typeface="Arial"/>
              <a:sym typeface="Arial"/>
            </a:endParaRPr>
          </a:p>
          <a:p>
            <a:pPr marL="0" lvl="0" indent="0" algn="l" rtl="0">
              <a:lnSpc>
                <a:spcPct val="60000"/>
              </a:lnSpc>
              <a:spcBef>
                <a:spcPts val="600"/>
              </a:spcBef>
              <a:spcAft>
                <a:spcPts val="0"/>
              </a:spcAft>
              <a:buClr>
                <a:srgbClr val="717074"/>
              </a:buClr>
              <a:buSzPts val="740"/>
              <a:buFont typeface="Arial"/>
              <a:buNone/>
            </a:pPr>
            <a:r>
              <a:rPr lang="en-US" sz="740" u="none" strike="noStrike">
                <a:solidFill>
                  <a:srgbClr val="717074"/>
                </a:solidFill>
                <a:latin typeface="Arial"/>
                <a:ea typeface="Arial"/>
                <a:cs typeface="Arial"/>
                <a:sym typeface="Arial"/>
              </a:rPr>
              <a:t>Update releases (for example ESX 9 Update 1) are expected to require a full reboot as the entire ESX system is being updated.</a:t>
            </a:r>
            <a:endParaRPr sz="2220">
              <a:latin typeface="Arial"/>
              <a:ea typeface="Arial"/>
              <a:cs typeface="Arial"/>
              <a:sym typeface="Arial"/>
            </a:endParaRPr>
          </a:p>
          <a:p>
            <a:pPr marL="0" lvl="0" indent="0" algn="l" rtl="0">
              <a:lnSpc>
                <a:spcPct val="60000"/>
              </a:lnSpc>
              <a:spcBef>
                <a:spcPts val="600"/>
              </a:spcBef>
              <a:spcAft>
                <a:spcPts val="0"/>
              </a:spcAft>
              <a:buClr>
                <a:srgbClr val="717074"/>
              </a:buClr>
              <a:buSzPts val="740"/>
              <a:buFont typeface="Arial"/>
              <a:buNone/>
            </a:pPr>
            <a:r>
              <a:rPr lang="en-US" sz="740" u="none" strike="noStrike">
                <a:solidFill>
                  <a:srgbClr val="717074"/>
                </a:solidFill>
                <a:latin typeface="Arial"/>
                <a:ea typeface="Arial"/>
                <a:cs typeface="Arial"/>
                <a:sym typeface="Arial"/>
              </a:rPr>
              <a:t>Hosts using TPM and/or DPU devices are not compatible with live patching.</a:t>
            </a:r>
            <a:endParaRPr sz="2220">
              <a:latin typeface="Arial"/>
              <a:ea typeface="Arial"/>
              <a:cs typeface="Arial"/>
              <a:sym typeface="Arial"/>
            </a:endParaRPr>
          </a:p>
          <a:p>
            <a:pPr marL="0" lvl="0" indent="0" algn="l" rtl="0">
              <a:lnSpc>
                <a:spcPct val="60000"/>
              </a:lnSpc>
              <a:spcBef>
                <a:spcPts val="600"/>
              </a:spcBef>
              <a:spcAft>
                <a:spcPts val="0"/>
              </a:spcAft>
              <a:buClr>
                <a:schemeClr val="dk1"/>
              </a:buClr>
              <a:buSzPts val="740"/>
              <a:buFont typeface="Arial"/>
              <a:buNone/>
            </a:pPr>
            <a:endParaRPr sz="740" u="none" strike="noStrike">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740"/>
              <a:buFont typeface="Arial"/>
              <a:buNone/>
            </a:pPr>
            <a:r>
              <a:rPr lang="en-US" sz="740" b="1" u="none" strike="noStrike">
                <a:solidFill>
                  <a:schemeClr val="dk1"/>
                </a:solidFill>
                <a:latin typeface="Arial"/>
                <a:ea typeface="Arial"/>
                <a:cs typeface="Arial"/>
                <a:sym typeface="Arial"/>
              </a:rPr>
              <a:t>Notes:</a:t>
            </a:r>
            <a:endParaRPr sz="1110"/>
          </a:p>
          <a:p>
            <a:pPr marL="0" lvl="0" indent="0" algn="l" rtl="0">
              <a:lnSpc>
                <a:spcPct val="60000"/>
              </a:lnSpc>
              <a:spcBef>
                <a:spcPts val="0"/>
              </a:spcBef>
              <a:spcAft>
                <a:spcPts val="0"/>
              </a:spcAft>
              <a:buClr>
                <a:schemeClr val="dk1"/>
              </a:buClr>
              <a:buSzPts val="740"/>
              <a:buFont typeface="Arial"/>
              <a:buNone/>
            </a:pPr>
            <a:r>
              <a:rPr lang="en-US" sz="740">
                <a:solidFill>
                  <a:schemeClr val="dk1"/>
                </a:solidFill>
                <a:latin typeface="Arial"/>
                <a:ea typeface="Arial"/>
                <a:cs typeface="Arial"/>
                <a:sym typeface="Arial"/>
              </a:rPr>
              <a:t>1. Host enters partial maintenance mode</a:t>
            </a:r>
            <a:endParaRPr sz="1110"/>
          </a:p>
          <a:p>
            <a:pPr marL="0" lvl="0" indent="0" algn="l" rtl="0">
              <a:lnSpc>
                <a:spcPct val="60000"/>
              </a:lnSpc>
              <a:spcBef>
                <a:spcPts val="1800"/>
              </a:spcBef>
              <a:spcAft>
                <a:spcPts val="0"/>
              </a:spcAft>
              <a:buClr>
                <a:schemeClr val="dk1"/>
              </a:buClr>
              <a:buSzPts val="740"/>
              <a:buFont typeface="Arial"/>
              <a:buNone/>
            </a:pPr>
            <a:r>
              <a:rPr lang="en-US" sz="740">
                <a:solidFill>
                  <a:schemeClr val="dk1"/>
                </a:solidFill>
                <a:latin typeface="Arial"/>
                <a:ea typeface="Arial"/>
                <a:cs typeface="Arial"/>
                <a:sym typeface="Arial"/>
              </a:rPr>
              <a:t>2. New mount revision loaded</a:t>
            </a:r>
            <a:endParaRPr sz="1110"/>
          </a:p>
          <a:p>
            <a:pPr marL="0" lvl="0" indent="0" algn="l" rtl="0">
              <a:lnSpc>
                <a:spcPct val="60000"/>
              </a:lnSpc>
              <a:spcBef>
                <a:spcPts val="1800"/>
              </a:spcBef>
              <a:spcAft>
                <a:spcPts val="0"/>
              </a:spcAft>
              <a:buClr>
                <a:schemeClr val="dk1"/>
              </a:buClr>
              <a:buSzPts val="740"/>
              <a:buFont typeface="Arial"/>
              <a:buNone/>
            </a:pPr>
            <a:r>
              <a:rPr lang="en-US" sz="740">
                <a:solidFill>
                  <a:schemeClr val="dk1"/>
                </a:solidFill>
                <a:latin typeface="Arial"/>
                <a:ea typeface="Arial"/>
                <a:cs typeface="Arial"/>
                <a:sym typeface="Arial"/>
              </a:rPr>
              <a:t>3. New mount revision patched</a:t>
            </a:r>
            <a:endParaRPr sz="1110"/>
          </a:p>
          <a:p>
            <a:pPr marL="0" lvl="0" indent="0" algn="l" rtl="0">
              <a:lnSpc>
                <a:spcPct val="60000"/>
              </a:lnSpc>
              <a:spcBef>
                <a:spcPts val="1800"/>
              </a:spcBef>
              <a:spcAft>
                <a:spcPts val="0"/>
              </a:spcAft>
              <a:buClr>
                <a:schemeClr val="dk1"/>
              </a:buClr>
              <a:buSzPts val="740"/>
              <a:buFont typeface="Arial"/>
              <a:buNone/>
            </a:pPr>
            <a:r>
              <a:rPr lang="en-US" sz="740">
                <a:solidFill>
                  <a:schemeClr val="dk1"/>
                </a:solidFill>
                <a:latin typeface="Arial"/>
                <a:ea typeface="Arial"/>
                <a:cs typeface="Arial"/>
                <a:sym typeface="Arial"/>
              </a:rPr>
              <a:t>4. VMs fast-suspend-resume to consume patched mount revision</a:t>
            </a:r>
            <a:endParaRPr sz="1110"/>
          </a:p>
          <a:p>
            <a:pPr marL="0" lvl="0" indent="0" algn="l" rtl="0">
              <a:lnSpc>
                <a:spcPct val="60000"/>
              </a:lnSpc>
              <a:spcBef>
                <a:spcPts val="1800"/>
              </a:spcBef>
              <a:spcAft>
                <a:spcPts val="0"/>
              </a:spcAft>
              <a:buClr>
                <a:schemeClr val="dk1"/>
              </a:buClr>
              <a:buSzPts val="740"/>
              <a:buFont typeface="Arial"/>
              <a:buNone/>
            </a:pPr>
            <a:endParaRPr sz="740" u="none" strike="noStrike">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740"/>
              <a:buFont typeface="Arial"/>
              <a:buNone/>
            </a:pPr>
            <a:r>
              <a:rPr lang="en-US" sz="740" u="none" strike="noStrike">
                <a:solidFill>
                  <a:schemeClr val="dk1"/>
                </a:solidFill>
                <a:latin typeface="Arial"/>
                <a:ea typeface="Arial"/>
                <a:cs typeface="Arial"/>
                <a:sym typeface="Arial"/>
              </a:rPr>
              <a:t>Some virtual machines are not compatible with FSR. VMs configured with vSphere Fault Tolerance, VMs using Direct Path I/O and vSphere Pods cannot use FSR and need to be manually remediated. Manual remediation can either be done by migrating the virtual machine or by power cycling the virtual machine.</a:t>
            </a:r>
            <a:br>
              <a:rPr lang="en-US" sz="740">
                <a:solidFill>
                  <a:schemeClr val="dk1"/>
                </a:solidFill>
                <a:latin typeface="Arial"/>
                <a:ea typeface="Arial"/>
                <a:cs typeface="Arial"/>
                <a:sym typeface="Arial"/>
              </a:rPr>
            </a:br>
            <a:endParaRPr sz="740">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740"/>
              <a:buFont typeface="Arial"/>
              <a:buNone/>
            </a:pPr>
            <a:r>
              <a:rPr lang="en-US" sz="740">
                <a:solidFill>
                  <a:schemeClr val="dk1"/>
                </a:solidFill>
                <a:latin typeface="Arial"/>
                <a:ea typeface="Arial"/>
                <a:cs typeface="Arial"/>
                <a:sym typeface="Arial"/>
              </a:rPr>
              <a:t>Virtual machines that do not support FSR include VMs configured for vSphere Fault Tolerance, VMs configured with VM DirectPath I/O devices, vSphere Pods (container pods). </a:t>
            </a:r>
            <a:endParaRPr sz="1110"/>
          </a:p>
          <a:p>
            <a:pPr marL="0" marR="0" lvl="0" indent="0" algn="l" rtl="0">
              <a:lnSpc>
                <a:spcPct val="60000"/>
              </a:lnSpc>
              <a:spcBef>
                <a:spcPts val="0"/>
              </a:spcBef>
              <a:spcAft>
                <a:spcPts val="0"/>
              </a:spcAft>
              <a:buClr>
                <a:schemeClr val="dk1"/>
              </a:buClr>
              <a:buSzPts val="480"/>
              <a:buFont typeface="Arial"/>
              <a:buNone/>
            </a:pPr>
            <a:r>
              <a:rPr lang="en-US" sz="740">
                <a:solidFill>
                  <a:schemeClr val="dk1"/>
                </a:solidFill>
                <a:latin typeface="Arial"/>
                <a:ea typeface="Arial"/>
                <a:cs typeface="Arial"/>
                <a:sym typeface="Arial"/>
              </a:rPr>
              <a:t>These VMs must be manually migrated using vSphere vMotion or power cycled to pick up a new patched vmx instance.</a:t>
            </a:r>
            <a:endParaRPr sz="1110"/>
          </a:p>
          <a:p>
            <a:pPr marL="0" marR="0" lvl="0" indent="0" algn="l" rtl="0">
              <a:lnSpc>
                <a:spcPct val="60000"/>
              </a:lnSpc>
              <a:spcBef>
                <a:spcPts val="0"/>
              </a:spcBef>
              <a:spcAft>
                <a:spcPts val="0"/>
              </a:spcAft>
              <a:buClr>
                <a:schemeClr val="dk1"/>
              </a:buClr>
              <a:buSzPts val="480"/>
              <a:buFont typeface="Arial"/>
              <a:buNone/>
            </a:pPr>
            <a:br>
              <a:rPr lang="en-US" sz="740">
                <a:solidFill>
                  <a:schemeClr val="dk1"/>
                </a:solidFill>
                <a:latin typeface="Arial"/>
                <a:ea typeface="Arial"/>
                <a:cs typeface="Arial"/>
                <a:sym typeface="Arial"/>
              </a:rPr>
            </a:br>
            <a:r>
              <a:rPr lang="en-US" sz="740" b="1">
                <a:solidFill>
                  <a:schemeClr val="dk1"/>
                </a:solidFill>
                <a:latin typeface="Arial"/>
                <a:ea typeface="Arial"/>
                <a:cs typeface="Arial"/>
                <a:sym typeface="Arial"/>
              </a:rPr>
              <a:t>Resources:</a:t>
            </a:r>
            <a:endParaRPr sz="1110"/>
          </a:p>
          <a:p>
            <a:pPr marL="0" lvl="0" indent="0" algn="l" rtl="0">
              <a:lnSpc>
                <a:spcPct val="80000"/>
              </a:lnSpc>
              <a:spcBef>
                <a:spcPts val="0"/>
              </a:spcBef>
              <a:spcAft>
                <a:spcPts val="0"/>
              </a:spcAft>
              <a:buNone/>
            </a:pPr>
            <a:endParaRPr sz="1110"/>
          </a:p>
        </p:txBody>
      </p:sp>
      <p:sp>
        <p:nvSpPr>
          <p:cNvPr id="5036" name="Google Shape;5036;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17</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2"/>
        <p:cNvGrpSpPr/>
        <p:nvPr/>
      </p:nvGrpSpPr>
      <p:grpSpPr>
        <a:xfrm>
          <a:off x="0" y="0"/>
          <a:ext cx="0" cy="0"/>
          <a:chOff x="0" y="0"/>
          <a:chExt cx="0" cy="0"/>
        </a:xfrm>
      </p:grpSpPr>
      <p:sp>
        <p:nvSpPr>
          <p:cNvPr id="5093" name="Google Shape;5093;p1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94" name="Google Shape;5094;p1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1100"/>
              <a:buFont typeface="Arial"/>
              <a:buNone/>
            </a:pPr>
            <a:r>
              <a:rPr lang="en-US" sz="1100" b="1">
                <a:latin typeface="Arial"/>
                <a:ea typeface="Arial"/>
                <a:cs typeface="Arial"/>
                <a:sym typeface="Arial"/>
              </a:rPr>
              <a:t>Presenter Note:  This slide contains animation</a:t>
            </a:r>
            <a:endParaRPr/>
          </a:p>
          <a:p>
            <a:pPr marL="0" lvl="0" indent="0" algn="l" rtl="0">
              <a:lnSpc>
                <a:spcPct val="80000"/>
              </a:lnSpc>
              <a:spcBef>
                <a:spcPts val="0"/>
              </a:spcBef>
              <a:spcAft>
                <a:spcPts val="0"/>
              </a:spcAft>
              <a:buClr>
                <a:schemeClr val="dk1"/>
              </a:buClr>
              <a:buSzPts val="570"/>
              <a:buFont typeface="Arial"/>
              <a:buNone/>
            </a:pPr>
            <a:endParaRPr sz="57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570"/>
              <a:buFont typeface="Arial"/>
              <a:buNone/>
            </a:pPr>
            <a:r>
              <a:rPr lang="en-US" sz="570" b="1">
                <a:solidFill>
                  <a:schemeClr val="dk1"/>
                </a:solidFill>
                <a:latin typeface="Arial"/>
                <a:ea typeface="Arial"/>
                <a:cs typeface="Arial"/>
                <a:sym typeface="Arial"/>
              </a:rPr>
              <a:t>Key Message:</a:t>
            </a:r>
            <a:endParaRPr/>
          </a:p>
          <a:p>
            <a:pPr marL="0" marR="0" lvl="0" indent="0" algn="l" rtl="0">
              <a:lnSpc>
                <a:spcPct val="80000"/>
              </a:lnSpc>
              <a:spcBef>
                <a:spcPts val="0"/>
              </a:spcBef>
              <a:spcAft>
                <a:spcPts val="0"/>
              </a:spcAft>
              <a:buClr>
                <a:srgbClr val="717074"/>
              </a:buClr>
              <a:buSzPts val="570"/>
              <a:buFont typeface="Arial"/>
              <a:buNone/>
            </a:pPr>
            <a:r>
              <a:rPr lang="en-US" sz="570" u="none" strike="noStrike">
                <a:solidFill>
                  <a:srgbClr val="717074"/>
                </a:solidFill>
                <a:latin typeface="Arial"/>
                <a:ea typeface="Arial"/>
                <a:cs typeface="Arial"/>
                <a:sym typeface="Arial"/>
              </a:rPr>
              <a:t>Increased vCPU (960) limit for a virtual machine. Support new CPU models – AMD Zen 5 and Intel Granite Rapids.</a:t>
            </a:r>
            <a:br>
              <a:rPr lang="en-US" sz="570" u="none" strike="noStrike">
                <a:solidFill>
                  <a:srgbClr val="717074"/>
                </a:solidFill>
                <a:latin typeface="Arial"/>
                <a:ea typeface="Arial"/>
                <a:cs typeface="Arial"/>
                <a:sym typeface="Arial"/>
              </a:rPr>
            </a:br>
            <a:br>
              <a:rPr lang="en-US" sz="570">
                <a:solidFill>
                  <a:schemeClr val="dk1"/>
                </a:solidFill>
                <a:latin typeface="Arial"/>
                <a:ea typeface="Arial"/>
                <a:cs typeface="Arial"/>
                <a:sym typeface="Arial"/>
              </a:rPr>
            </a:br>
            <a:r>
              <a:rPr lang="en-US" sz="570" b="1">
                <a:solidFill>
                  <a:schemeClr val="dk1"/>
                </a:solidFill>
                <a:latin typeface="Arial"/>
                <a:ea typeface="Arial"/>
                <a:cs typeface="Arial"/>
                <a:sym typeface="Arial"/>
              </a:rPr>
              <a:t>Talk Track:</a:t>
            </a:r>
            <a:endParaRPr/>
          </a:p>
          <a:p>
            <a:pPr marL="0" lvl="0" indent="0" algn="l" rtl="0">
              <a:lnSpc>
                <a:spcPct val="80000"/>
              </a:lnSpc>
              <a:spcBef>
                <a:spcPts val="0"/>
              </a:spcBef>
              <a:spcAft>
                <a:spcPts val="0"/>
              </a:spcAft>
              <a:buClr>
                <a:srgbClr val="717074"/>
              </a:buClr>
              <a:buSzPts val="855"/>
              <a:buFont typeface="Arial"/>
              <a:buNone/>
            </a:pPr>
            <a:r>
              <a:rPr lang="en-US" sz="855" u="none" strike="noStrike">
                <a:solidFill>
                  <a:srgbClr val="717074"/>
                </a:solidFill>
                <a:latin typeface="Arial"/>
                <a:ea typeface="Arial"/>
                <a:cs typeface="Arial"/>
                <a:sym typeface="Arial"/>
              </a:rPr>
              <a:t>Increased vCPU (960) limit for a virtual machine. Support new CPU models – AMD Zen 5 and Intel Granite Rapids.</a:t>
            </a:r>
            <a:endParaRPr/>
          </a:p>
          <a:p>
            <a:pPr marL="0" lvl="0" indent="0" algn="l" rtl="0">
              <a:lnSpc>
                <a:spcPct val="80000"/>
              </a:lnSpc>
              <a:spcBef>
                <a:spcPts val="600"/>
              </a:spcBef>
              <a:spcAft>
                <a:spcPts val="0"/>
              </a:spcAft>
              <a:buClr>
                <a:srgbClr val="717074"/>
              </a:buClr>
              <a:buSzPts val="855"/>
              <a:buFont typeface="Arial"/>
              <a:buNone/>
            </a:pPr>
            <a:r>
              <a:rPr lang="en-US" sz="855" u="none" strike="noStrike">
                <a:solidFill>
                  <a:srgbClr val="717074"/>
                </a:solidFill>
                <a:latin typeface="Arial"/>
                <a:ea typeface="Arial"/>
                <a:cs typeface="Arial"/>
                <a:sym typeface="Arial"/>
              </a:rPr>
              <a:t>New Guest OS versions for new VM deployments. (see Latest Guest OS Support below)</a:t>
            </a:r>
            <a:endParaRPr sz="570" b="0"/>
          </a:p>
          <a:p>
            <a:pPr marL="0" lvl="0" indent="0" algn="l" rtl="0">
              <a:lnSpc>
                <a:spcPct val="80000"/>
              </a:lnSpc>
              <a:spcBef>
                <a:spcPts val="600"/>
              </a:spcBef>
              <a:spcAft>
                <a:spcPts val="0"/>
              </a:spcAft>
              <a:buClr>
                <a:schemeClr val="dk1"/>
              </a:buClr>
              <a:buSzPts val="855"/>
              <a:buFont typeface="Arial"/>
              <a:buNone/>
            </a:pPr>
            <a:endParaRPr sz="855" u="none" strike="noStrike">
              <a:solidFill>
                <a:srgbClr val="717074"/>
              </a:solidFill>
              <a:latin typeface="Arial"/>
              <a:ea typeface="Arial"/>
              <a:cs typeface="Arial"/>
              <a:sym typeface="Arial"/>
            </a:endParaRPr>
          </a:p>
          <a:p>
            <a:pPr marL="0" lvl="0" indent="0" algn="l" rtl="0">
              <a:lnSpc>
                <a:spcPct val="80000"/>
              </a:lnSpc>
              <a:spcBef>
                <a:spcPts val="600"/>
              </a:spcBef>
              <a:spcAft>
                <a:spcPts val="0"/>
              </a:spcAft>
              <a:buClr>
                <a:srgbClr val="717074"/>
              </a:buClr>
              <a:buSzPts val="855"/>
              <a:buFont typeface="Arial"/>
              <a:buNone/>
            </a:pPr>
            <a:r>
              <a:rPr lang="en-US" sz="855" u="none" strike="noStrike">
                <a:solidFill>
                  <a:srgbClr val="717074"/>
                </a:solidFill>
                <a:latin typeface="Arial"/>
                <a:ea typeface="Arial"/>
                <a:cs typeface="Arial"/>
                <a:sym typeface="Arial"/>
              </a:rPr>
              <a:t>Support for AMD SEV-SNP (tech preview) and Intel TDX (tech preview) for virtual machines.</a:t>
            </a:r>
            <a:endParaRPr sz="570" b="0"/>
          </a:p>
          <a:p>
            <a:pPr marL="0" lvl="0" indent="0" algn="l" rtl="0">
              <a:lnSpc>
                <a:spcPct val="80000"/>
              </a:lnSpc>
              <a:spcBef>
                <a:spcPts val="600"/>
              </a:spcBef>
              <a:spcAft>
                <a:spcPts val="0"/>
              </a:spcAft>
              <a:buClr>
                <a:schemeClr val="dk1"/>
              </a:buClr>
              <a:buSzPts val="855"/>
              <a:buFont typeface="Arial"/>
              <a:buNone/>
            </a:pPr>
            <a:endParaRPr sz="855" u="none" strike="noStrike">
              <a:solidFill>
                <a:srgbClr val="717074"/>
              </a:solidFill>
              <a:latin typeface="Arial"/>
              <a:ea typeface="Arial"/>
              <a:cs typeface="Arial"/>
              <a:sym typeface="Arial"/>
            </a:endParaRPr>
          </a:p>
          <a:p>
            <a:pPr marL="0" lvl="0" indent="0" algn="l" rtl="0">
              <a:lnSpc>
                <a:spcPct val="80000"/>
              </a:lnSpc>
              <a:spcBef>
                <a:spcPts val="600"/>
              </a:spcBef>
              <a:spcAft>
                <a:spcPts val="0"/>
              </a:spcAft>
              <a:buClr>
                <a:srgbClr val="717074"/>
              </a:buClr>
              <a:buSzPts val="855"/>
              <a:buFont typeface="Arial"/>
              <a:buNone/>
            </a:pPr>
            <a:r>
              <a:rPr lang="en-US" sz="855" u="none" strike="noStrike">
                <a:solidFill>
                  <a:srgbClr val="717074"/>
                </a:solidFill>
                <a:latin typeface="Arial"/>
                <a:ea typeface="Arial"/>
                <a:cs typeface="Arial"/>
                <a:sym typeface="Arial"/>
              </a:rPr>
              <a:t>Virtual Trusted Platform Module (vTPM) supports Trusted Platform Module (TPM) Library Specification Family 2.0 Revision 1.59. ESX 9.0 supports TPM 2.0 specification Revision 1.59, aimed to enhance your cyber security protection as you add a vTPM device to a virtual machine with hardware version 22.</a:t>
            </a:r>
            <a:endParaRPr sz="570" b="0"/>
          </a:p>
          <a:p>
            <a:pPr marL="0" lvl="0" indent="0" algn="l" rtl="0">
              <a:lnSpc>
                <a:spcPct val="80000"/>
              </a:lnSpc>
              <a:spcBef>
                <a:spcPts val="600"/>
              </a:spcBef>
              <a:spcAft>
                <a:spcPts val="0"/>
              </a:spcAft>
              <a:buClr>
                <a:schemeClr val="dk1"/>
              </a:buClr>
              <a:buSzPts val="855"/>
              <a:buFont typeface="Arial"/>
              <a:buNone/>
            </a:pPr>
            <a:endParaRPr sz="855" u="none" strike="noStrike">
              <a:solidFill>
                <a:srgbClr val="717074"/>
              </a:solidFill>
              <a:latin typeface="Arial"/>
              <a:ea typeface="Arial"/>
              <a:cs typeface="Arial"/>
              <a:sym typeface="Arial"/>
            </a:endParaRPr>
          </a:p>
          <a:p>
            <a:pPr marL="0" lvl="0" indent="0" algn="l" rtl="0">
              <a:lnSpc>
                <a:spcPct val="80000"/>
              </a:lnSpc>
              <a:spcBef>
                <a:spcPts val="600"/>
              </a:spcBef>
              <a:spcAft>
                <a:spcPts val="0"/>
              </a:spcAft>
              <a:buClr>
                <a:srgbClr val="717074"/>
              </a:buClr>
              <a:buSzPts val="855"/>
              <a:buFont typeface="Arial"/>
              <a:buNone/>
            </a:pPr>
            <a:r>
              <a:rPr lang="en-US" sz="855" u="none" strike="noStrike">
                <a:solidFill>
                  <a:srgbClr val="717074"/>
                </a:solidFill>
                <a:latin typeface="Arial"/>
                <a:ea typeface="Arial"/>
                <a:cs typeface="Arial"/>
                <a:sym typeface="Arial"/>
              </a:rPr>
              <a:t>New Guest Customization vAPIs. The newly introduced CustomizationLive API interface allows users to apply a customization specification to a VM while it is in a powered-on state. Refer to the latest vSphere Automation API documentation for VCF 9.0.</a:t>
            </a:r>
            <a:endParaRPr/>
          </a:p>
          <a:p>
            <a:pPr marL="0" lvl="0" indent="0" algn="l" rtl="0">
              <a:lnSpc>
                <a:spcPct val="80000"/>
              </a:lnSpc>
              <a:spcBef>
                <a:spcPts val="600"/>
              </a:spcBef>
              <a:spcAft>
                <a:spcPts val="0"/>
              </a:spcAft>
              <a:buClr>
                <a:schemeClr val="dk1"/>
              </a:buClr>
              <a:buSzPts val="570"/>
              <a:buFont typeface="Arial"/>
              <a:buNone/>
            </a:pPr>
            <a:endParaRPr sz="570" b="0"/>
          </a:p>
          <a:p>
            <a:pPr marL="0" lvl="0" indent="0" algn="l" rtl="0">
              <a:lnSpc>
                <a:spcPct val="80000"/>
              </a:lnSpc>
              <a:spcBef>
                <a:spcPts val="600"/>
              </a:spcBef>
              <a:spcAft>
                <a:spcPts val="0"/>
              </a:spcAft>
              <a:buClr>
                <a:srgbClr val="717074"/>
              </a:buClr>
              <a:buSzPts val="855"/>
              <a:buFont typeface="Arial"/>
              <a:buNone/>
            </a:pPr>
            <a:r>
              <a:rPr lang="en-US" sz="855" u="none" strike="noStrike">
                <a:solidFill>
                  <a:srgbClr val="717074"/>
                </a:solidFill>
                <a:latin typeface="Arial"/>
                <a:ea typeface="Arial"/>
                <a:cs typeface="Arial"/>
                <a:sym typeface="Arial"/>
              </a:rPr>
              <a:t>The newly introduced Guest Customization API allows users to determine whether a VM can be customized before applying customization.</a:t>
            </a:r>
            <a:endParaRPr sz="570" b="0"/>
          </a:p>
          <a:p>
            <a:pPr marL="0" lvl="0" indent="0" algn="l" rtl="0">
              <a:lnSpc>
                <a:spcPct val="80000"/>
              </a:lnSpc>
              <a:spcBef>
                <a:spcPts val="600"/>
              </a:spcBef>
              <a:spcAft>
                <a:spcPts val="0"/>
              </a:spcAft>
              <a:buClr>
                <a:srgbClr val="717074"/>
              </a:buClr>
              <a:buSzPts val="855"/>
              <a:buFont typeface="Arial"/>
              <a:buNone/>
            </a:pPr>
            <a:r>
              <a:rPr lang="en-US" sz="855" u="none" strike="noStrike">
                <a:solidFill>
                  <a:srgbClr val="717074"/>
                </a:solidFill>
                <a:latin typeface="Arial"/>
                <a:ea typeface="Arial"/>
                <a:cs typeface="Arial"/>
                <a:sym typeface="Arial"/>
              </a:rPr>
              <a:t>Virtual NVMe. vSphere 9 introduces Namespace Write Protection (a read-only disk) and Write Zeroes support. Namespace Write Protection allows users to hot-add independent-nonpersistent disks to a VM without incurring the overhead of delta-disk creation. Workloads needing faster application delivery would benefit from this capability. Write Zeros support provides better performance, improves storage efficiency, and enhances data management capabilities for various workloads.</a:t>
            </a:r>
            <a:endParaRPr sz="570" b="0"/>
          </a:p>
          <a:p>
            <a:pPr marL="0" lvl="0" indent="0" algn="l" rtl="0">
              <a:lnSpc>
                <a:spcPct val="80000"/>
              </a:lnSpc>
              <a:spcBef>
                <a:spcPts val="600"/>
              </a:spcBef>
              <a:spcAft>
                <a:spcPts val="0"/>
              </a:spcAft>
              <a:buClr>
                <a:schemeClr val="dk1"/>
              </a:buClr>
              <a:buSzPts val="570"/>
              <a:buFont typeface="Arial"/>
              <a:buNone/>
            </a:pPr>
            <a:endParaRPr sz="570" u="none" strike="noStrike">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570"/>
              <a:buFont typeface="Arial"/>
              <a:buNone/>
            </a:pPr>
            <a:r>
              <a:rPr lang="en-US" sz="570" b="1" u="none" strike="noStrike">
                <a:solidFill>
                  <a:schemeClr val="dk1"/>
                </a:solidFill>
                <a:latin typeface="Arial"/>
                <a:ea typeface="Arial"/>
                <a:cs typeface="Arial"/>
                <a:sym typeface="Arial"/>
              </a:rPr>
              <a:t>Notes:</a:t>
            </a:r>
            <a:endParaRPr/>
          </a:p>
          <a:p>
            <a:pPr marL="0" lvl="0" indent="0" algn="l" rtl="0">
              <a:lnSpc>
                <a:spcPct val="80000"/>
              </a:lnSpc>
              <a:spcBef>
                <a:spcPts val="800"/>
              </a:spcBef>
              <a:spcAft>
                <a:spcPts val="0"/>
              </a:spcAft>
              <a:buClr>
                <a:srgbClr val="3F3F3F"/>
              </a:buClr>
              <a:buSzPts val="855"/>
              <a:buFont typeface="Arial"/>
              <a:buNone/>
            </a:pPr>
            <a:r>
              <a:rPr lang="en-US" sz="855" u="none" strike="noStrike">
                <a:solidFill>
                  <a:srgbClr val="3F3F3F"/>
                </a:solidFill>
                <a:latin typeface="Arial"/>
                <a:ea typeface="Arial"/>
                <a:cs typeface="Arial"/>
                <a:sym typeface="Arial"/>
              </a:rPr>
              <a:t>Latest Guest OS Support</a:t>
            </a:r>
            <a:endParaRPr sz="570" b="1"/>
          </a:p>
          <a:p>
            <a:pPr marL="0" lvl="0" indent="0" algn="l" rtl="0">
              <a:lnSpc>
                <a:spcPct val="80000"/>
              </a:lnSpc>
              <a:spcBef>
                <a:spcPts val="300"/>
              </a:spcBef>
              <a:spcAft>
                <a:spcPts val="0"/>
              </a:spcAft>
              <a:buClr>
                <a:srgbClr val="717074"/>
              </a:buClr>
              <a:buSzPts val="855"/>
              <a:buFont typeface="Arial"/>
              <a:buNone/>
            </a:pPr>
            <a:r>
              <a:rPr lang="en-US" sz="855" u="none" strike="noStrike">
                <a:solidFill>
                  <a:srgbClr val="717074"/>
                </a:solidFill>
                <a:latin typeface="Arial"/>
                <a:ea typeface="Arial"/>
                <a:cs typeface="Arial"/>
                <a:sym typeface="Arial"/>
              </a:rPr>
              <a:t>Pardus, Red Hat Core OS, Miracle Linux, ProLinux, Kylin Linux, FusionOS, RHEL 10, Oracle Linux 10, Debian 13, FreeBSD 15</a:t>
            </a:r>
            <a:endParaRPr sz="570" b="0"/>
          </a:p>
          <a:p>
            <a:pPr marL="0" lvl="0" indent="0" algn="l" rtl="0">
              <a:lnSpc>
                <a:spcPct val="80000"/>
              </a:lnSpc>
              <a:spcBef>
                <a:spcPts val="600"/>
              </a:spcBef>
              <a:spcAft>
                <a:spcPts val="0"/>
              </a:spcAft>
              <a:buClr>
                <a:schemeClr val="dk1"/>
              </a:buClr>
              <a:buSzPts val="570"/>
              <a:buFont typeface="Arial"/>
              <a:buNone/>
            </a:pPr>
            <a:endParaRPr sz="570">
              <a:solidFill>
                <a:schemeClr val="dk1"/>
              </a:solidFill>
              <a:latin typeface="Arial"/>
              <a:ea typeface="Arial"/>
              <a:cs typeface="Arial"/>
              <a:sym typeface="Arial"/>
            </a:endParaRPr>
          </a:p>
          <a:p>
            <a:pPr marL="0" lvl="0" indent="0" algn="l" rtl="0">
              <a:lnSpc>
                <a:spcPct val="80000"/>
              </a:lnSpc>
              <a:spcBef>
                <a:spcPts val="800"/>
              </a:spcBef>
              <a:spcAft>
                <a:spcPts val="0"/>
              </a:spcAft>
              <a:buClr>
                <a:srgbClr val="3F3F3F"/>
              </a:buClr>
              <a:buSzPts val="855"/>
              <a:buFont typeface="Arial"/>
              <a:buNone/>
            </a:pPr>
            <a:r>
              <a:rPr lang="en-US" sz="855" u="none" strike="noStrike">
                <a:solidFill>
                  <a:srgbClr val="3F3F3F"/>
                </a:solidFill>
                <a:latin typeface="Arial"/>
                <a:ea typeface="Arial"/>
                <a:cs typeface="Arial"/>
                <a:sym typeface="Arial"/>
              </a:rPr>
              <a:t>Monster VM Limits</a:t>
            </a:r>
            <a:endParaRPr sz="570" b="1"/>
          </a:p>
          <a:p>
            <a:pPr marL="0" lvl="0" indent="0" algn="l" rtl="0">
              <a:lnSpc>
                <a:spcPct val="80000"/>
              </a:lnSpc>
              <a:spcBef>
                <a:spcPts val="300"/>
              </a:spcBef>
              <a:spcAft>
                <a:spcPts val="0"/>
              </a:spcAft>
              <a:buClr>
                <a:srgbClr val="717074"/>
              </a:buClr>
              <a:buSzPts val="855"/>
              <a:buFont typeface="Arial"/>
              <a:buNone/>
            </a:pPr>
            <a:r>
              <a:rPr lang="en-US" sz="855" u="none" strike="noStrike">
                <a:solidFill>
                  <a:srgbClr val="717074"/>
                </a:solidFill>
                <a:latin typeface="Arial"/>
                <a:ea typeface="Arial"/>
                <a:cs typeface="Arial"/>
                <a:sym typeface="Arial"/>
              </a:rPr>
              <a:t>Support up to 960 vCPU and 24TB Memory for a virtual machine.</a:t>
            </a:r>
            <a:endParaRPr sz="57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570"/>
              <a:buFont typeface="Arial"/>
              <a:buNone/>
            </a:pPr>
            <a:br>
              <a:rPr lang="en-US" sz="570">
                <a:solidFill>
                  <a:schemeClr val="dk1"/>
                </a:solidFill>
                <a:latin typeface="Arial"/>
                <a:ea typeface="Arial"/>
                <a:cs typeface="Arial"/>
                <a:sym typeface="Arial"/>
              </a:rPr>
            </a:br>
            <a:r>
              <a:rPr lang="en-US" sz="570" b="1">
                <a:solidFill>
                  <a:schemeClr val="dk1"/>
                </a:solidFill>
                <a:latin typeface="Arial"/>
                <a:ea typeface="Arial"/>
                <a:cs typeface="Arial"/>
                <a:sym typeface="Arial"/>
              </a:rPr>
              <a:t>Resources:</a:t>
            </a:r>
            <a:endParaRPr/>
          </a:p>
        </p:txBody>
      </p:sp>
      <p:sp>
        <p:nvSpPr>
          <p:cNvPr id="5095" name="Google Shape;509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u="none" strike="noStrike" cap="none">
                <a:solidFill>
                  <a:srgbClr val="717074"/>
                </a:solidFill>
              </a:rPr>
              <a:t>18</a:t>
            </a:fld>
            <a:endParaRPr sz="1200" u="none" strike="noStrike" cap="none">
              <a:solidFill>
                <a:srgbClr val="717074"/>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0"/>
        <p:cNvGrpSpPr/>
        <p:nvPr/>
      </p:nvGrpSpPr>
      <p:grpSpPr>
        <a:xfrm>
          <a:off x="0" y="0"/>
          <a:ext cx="0" cy="0"/>
          <a:chOff x="0" y="0"/>
          <a:chExt cx="0" cy="0"/>
        </a:xfrm>
      </p:grpSpPr>
      <p:sp>
        <p:nvSpPr>
          <p:cNvPr id="5131" name="Google Shape;5131;p1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2" name="Google Shape;5132;p1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50000"/>
              </a:lnSpc>
              <a:spcBef>
                <a:spcPts val="0"/>
              </a:spcBef>
              <a:spcAft>
                <a:spcPts val="0"/>
              </a:spcAft>
              <a:buClr>
                <a:schemeClr val="dk1"/>
              </a:buClr>
              <a:buSzPts val="2000"/>
              <a:buFont typeface="Arial"/>
              <a:buNone/>
            </a:pPr>
            <a:r>
              <a:rPr lang="en-US" sz="1200" b="0">
                <a:solidFill>
                  <a:schemeClr val="dk1"/>
                </a:solidFill>
                <a:latin typeface="Arial"/>
                <a:ea typeface="Arial"/>
                <a:cs typeface="Arial"/>
                <a:sym typeface="Arial"/>
              </a:rPr>
              <a:t>vSAN Cluster-wide Deduplication</a:t>
            </a:r>
            <a:endParaRPr/>
          </a:p>
          <a:p>
            <a:pPr marL="0" marR="0" lvl="0" indent="0" algn="l" rtl="0">
              <a:lnSpc>
                <a:spcPct val="150000"/>
              </a:lnSpc>
              <a:spcBef>
                <a:spcPts val="0"/>
              </a:spcBef>
              <a:spcAft>
                <a:spcPts val="0"/>
              </a:spcAft>
              <a:buClr>
                <a:schemeClr val="dk1"/>
              </a:buClr>
              <a:buSzPts val="2000"/>
              <a:buFont typeface="Arial"/>
              <a:buNone/>
            </a:pPr>
            <a:r>
              <a:rPr lang="en-US" sz="1200" b="0">
                <a:solidFill>
                  <a:schemeClr val="dk1"/>
                </a:solidFill>
                <a:latin typeface="Arial"/>
                <a:ea typeface="Arial"/>
                <a:cs typeface="Arial"/>
                <a:sym typeface="Arial"/>
              </a:rPr>
              <a:t>vSAN Storage Cluster Traffic Separation</a:t>
            </a:r>
            <a:endParaRPr/>
          </a:p>
          <a:p>
            <a:pPr marL="0" marR="0" lvl="0" indent="0" algn="l" rtl="0">
              <a:lnSpc>
                <a:spcPct val="150000"/>
              </a:lnSpc>
              <a:spcBef>
                <a:spcPts val="0"/>
              </a:spcBef>
              <a:spcAft>
                <a:spcPts val="0"/>
              </a:spcAft>
              <a:buClr>
                <a:schemeClr val="dk1"/>
              </a:buClr>
              <a:buSzPts val="2000"/>
              <a:buFont typeface="Arial"/>
              <a:buNone/>
            </a:pPr>
            <a:r>
              <a:rPr lang="en-US" sz="1200" b="0">
                <a:solidFill>
                  <a:schemeClr val="dk1"/>
                </a:solidFill>
                <a:latin typeface="Arial"/>
                <a:ea typeface="Arial"/>
                <a:cs typeface="Arial"/>
                <a:sym typeface="Arial"/>
              </a:rPr>
              <a:t>Improved Scalability with vSAN File Services</a:t>
            </a:r>
            <a:endParaRPr baseline="30000"/>
          </a:p>
          <a:p>
            <a:pPr marL="0" marR="0" lvl="0" indent="0" algn="l" rtl="0">
              <a:lnSpc>
                <a:spcPct val="150000"/>
              </a:lnSpc>
              <a:spcBef>
                <a:spcPts val="0"/>
              </a:spcBef>
              <a:spcAft>
                <a:spcPts val="0"/>
              </a:spcAft>
              <a:buClr>
                <a:schemeClr val="dk1"/>
              </a:buClr>
              <a:buSzPts val="2000"/>
              <a:buFont typeface="Arial"/>
              <a:buNone/>
            </a:pPr>
            <a:r>
              <a:rPr lang="en-US" sz="1200">
                <a:solidFill>
                  <a:schemeClr val="dk1"/>
                </a:solidFill>
                <a:latin typeface="Arial"/>
                <a:ea typeface="Arial"/>
                <a:cs typeface="Arial"/>
                <a:sym typeface="Arial"/>
              </a:rPr>
              <a:t>vSAN Stretched Cluster Enhancements</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p:txBody>
      </p:sp>
      <p:sp>
        <p:nvSpPr>
          <p:cNvPr id="5133" name="Google Shape;5133;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8"/>
        <p:cNvGrpSpPr/>
        <p:nvPr/>
      </p:nvGrpSpPr>
      <p:grpSpPr>
        <a:xfrm>
          <a:off x="0" y="0"/>
          <a:ext cx="0" cy="0"/>
          <a:chOff x="0" y="0"/>
          <a:chExt cx="0" cy="0"/>
        </a:xfrm>
      </p:grpSpPr>
      <p:sp>
        <p:nvSpPr>
          <p:cNvPr id="5139" name="Google Shape;5139;p2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40" name="Google Shape;5140;p2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390"/>
              <a:buFont typeface="Arial"/>
              <a:buNone/>
            </a:pPr>
            <a:r>
              <a:rPr lang="en-US" sz="390" b="1">
                <a:latin typeface="Arial"/>
                <a:ea typeface="Arial"/>
                <a:cs typeface="Arial"/>
                <a:sym typeface="Arial"/>
              </a:rPr>
              <a:t>Presenter Note:  This slide contains animation</a:t>
            </a:r>
            <a:endParaRPr/>
          </a:p>
          <a:p>
            <a:pPr marL="0" lvl="0" indent="0" algn="l" rtl="0">
              <a:lnSpc>
                <a:spcPct val="80000"/>
              </a:lnSpc>
              <a:spcBef>
                <a:spcPts val="0"/>
              </a:spcBef>
              <a:spcAft>
                <a:spcPts val="0"/>
              </a:spcAft>
              <a:buNone/>
            </a:pPr>
            <a:endParaRPr sz="390" b="1"/>
          </a:p>
          <a:p>
            <a:pPr marL="0" lvl="0" indent="0" algn="l" rtl="0">
              <a:lnSpc>
                <a:spcPct val="80000"/>
              </a:lnSpc>
              <a:spcBef>
                <a:spcPts val="0"/>
              </a:spcBef>
              <a:spcAft>
                <a:spcPts val="0"/>
              </a:spcAft>
              <a:buNone/>
            </a:pPr>
            <a:r>
              <a:rPr lang="en-US" sz="390" b="1"/>
              <a:t>Key Message/Talk track:</a:t>
            </a:r>
            <a:endParaRPr/>
          </a:p>
          <a:p>
            <a:pPr marL="0" lvl="0" indent="0" algn="l" rtl="0">
              <a:lnSpc>
                <a:spcPct val="80000"/>
              </a:lnSpc>
              <a:spcBef>
                <a:spcPts val="0"/>
              </a:spcBef>
              <a:spcAft>
                <a:spcPts val="0"/>
              </a:spcAft>
              <a:buNone/>
            </a:pPr>
            <a:r>
              <a:rPr lang="en-US" sz="390" b="0"/>
              <a:t>VCF 9.0 introduces deduplication when using vSAN ESA.  This is a cluster-wide deduplication technology that is designed for maximum levels of space efficiency with minimal impact on guest VM workloads.   The intelligent design of ESA’s deduplication technology will adaptively throttle the use of spare resources so that there is not a compromise in performance of guest VM workloads.  Furthermore, deduplication’s integration throughout the storage stack means that the common vSAN data services are fully compatible with deduplication.  This includes compression, snapshots and clones, erasure coding, check summing, and so on.   </a:t>
            </a:r>
            <a:r>
              <a:rPr lang="en-US" sz="390" b="1"/>
              <a:t>The new deduplication capabilities in VCF 9.0 will drive down your total cost of ownership to levels not previously possible. </a:t>
            </a:r>
            <a:endParaRPr/>
          </a:p>
          <a:p>
            <a:pPr marL="0" lvl="0" indent="0" algn="l" rtl="0">
              <a:lnSpc>
                <a:spcPct val="80000"/>
              </a:lnSpc>
              <a:spcBef>
                <a:spcPts val="0"/>
              </a:spcBef>
              <a:spcAft>
                <a:spcPts val="0"/>
              </a:spcAft>
              <a:buNone/>
            </a:pPr>
            <a:r>
              <a:rPr lang="en-US" sz="390"/>
              <a:t>----------------------------------</a:t>
            </a:r>
            <a:endParaRPr/>
          </a:p>
          <a:p>
            <a:pPr marL="0" lvl="0" indent="0" algn="l" rtl="0">
              <a:lnSpc>
                <a:spcPct val="80000"/>
              </a:lnSpc>
              <a:spcBef>
                <a:spcPts val="0"/>
              </a:spcBef>
              <a:spcAft>
                <a:spcPts val="0"/>
              </a:spcAft>
              <a:buNone/>
            </a:pPr>
            <a:r>
              <a:rPr lang="en-US" sz="390" b="1"/>
              <a:t>Overview:</a:t>
            </a:r>
            <a:endParaRPr/>
          </a:p>
          <a:p>
            <a:pPr marL="171450" lvl="0" indent="-171450" algn="l" rtl="0">
              <a:lnSpc>
                <a:spcPct val="80000"/>
              </a:lnSpc>
              <a:spcBef>
                <a:spcPts val="0"/>
              </a:spcBef>
              <a:spcAft>
                <a:spcPts val="0"/>
              </a:spcAft>
              <a:buClr>
                <a:schemeClr val="dk2"/>
              </a:buClr>
              <a:buSzPts val="390"/>
              <a:buFont typeface="Arial"/>
              <a:buChar char="•"/>
            </a:pPr>
            <a:r>
              <a:rPr lang="en-US" sz="390" b="1">
                <a:solidFill>
                  <a:schemeClr val="dk2"/>
                </a:solidFill>
              </a:rPr>
              <a:t>Effective.  </a:t>
            </a:r>
            <a:r>
              <a:rPr lang="en-US" sz="390"/>
              <a:t>Optimized for maximum space efficiency</a:t>
            </a:r>
            <a:endParaRPr/>
          </a:p>
          <a:p>
            <a:pPr marL="628650" lvl="1" indent="-171450" algn="l" rtl="0">
              <a:lnSpc>
                <a:spcPct val="80000"/>
              </a:lnSpc>
              <a:spcBef>
                <a:spcPts val="0"/>
              </a:spcBef>
              <a:spcAft>
                <a:spcPts val="0"/>
              </a:spcAft>
              <a:buClr>
                <a:schemeClr val="dk1"/>
              </a:buClr>
              <a:buSzPts val="390"/>
              <a:buFont typeface="Arial"/>
              <a:buChar char="•"/>
            </a:pPr>
            <a:r>
              <a:rPr lang="en-US" sz="390"/>
              <a:t>Uses 4KB granularity</a:t>
            </a:r>
            <a:endParaRPr/>
          </a:p>
          <a:p>
            <a:pPr marL="628650" lvl="1" indent="-171450" algn="l" rtl="0">
              <a:lnSpc>
                <a:spcPct val="80000"/>
              </a:lnSpc>
              <a:spcBef>
                <a:spcPts val="0"/>
              </a:spcBef>
              <a:spcAft>
                <a:spcPts val="0"/>
              </a:spcAft>
              <a:buClr>
                <a:schemeClr val="dk1"/>
              </a:buClr>
              <a:buSzPts val="390"/>
              <a:buFont typeface="Arial"/>
              <a:buChar char="•"/>
            </a:pPr>
            <a:r>
              <a:rPr lang="en-US" sz="390"/>
              <a:t>Cluster-wide dedup domain</a:t>
            </a:r>
            <a:endParaRPr/>
          </a:p>
          <a:p>
            <a:pPr marL="171450" lvl="0" indent="-171450" algn="l" rtl="0">
              <a:lnSpc>
                <a:spcPct val="80000"/>
              </a:lnSpc>
              <a:spcBef>
                <a:spcPts val="0"/>
              </a:spcBef>
              <a:spcAft>
                <a:spcPts val="0"/>
              </a:spcAft>
              <a:buClr>
                <a:schemeClr val="dk1"/>
              </a:buClr>
              <a:buSzPts val="390"/>
              <a:buFont typeface="Arial"/>
              <a:buChar char="•"/>
            </a:pPr>
            <a:r>
              <a:rPr lang="en-US" sz="390" b="1">
                <a:solidFill>
                  <a:schemeClr val="dk1"/>
                </a:solidFill>
              </a:rPr>
              <a:t>Runs asynchronously</a:t>
            </a:r>
            <a:endParaRPr/>
          </a:p>
          <a:p>
            <a:pPr marL="628650" lvl="1" indent="-171450" algn="l" rtl="0">
              <a:lnSpc>
                <a:spcPct val="80000"/>
              </a:lnSpc>
              <a:spcBef>
                <a:spcPts val="0"/>
              </a:spcBef>
              <a:spcAft>
                <a:spcPts val="0"/>
              </a:spcAft>
              <a:buClr>
                <a:schemeClr val="dk1"/>
              </a:buClr>
              <a:buSzPts val="390"/>
              <a:buFont typeface="Arial"/>
              <a:buChar char="•"/>
            </a:pPr>
            <a:r>
              <a:rPr lang="en-US" sz="390"/>
              <a:t>Adaptive throttling</a:t>
            </a:r>
            <a:endParaRPr/>
          </a:p>
          <a:p>
            <a:pPr marL="628650" lvl="1" indent="-171450" algn="l" rtl="0">
              <a:lnSpc>
                <a:spcPct val="80000"/>
              </a:lnSpc>
              <a:spcBef>
                <a:spcPts val="0"/>
              </a:spcBef>
              <a:spcAft>
                <a:spcPts val="0"/>
              </a:spcAft>
              <a:buClr>
                <a:schemeClr val="dk1"/>
              </a:buClr>
              <a:buSzPts val="390"/>
              <a:buFont typeface="Arial"/>
              <a:buChar char="•"/>
            </a:pPr>
            <a:r>
              <a:rPr lang="en-US" sz="390"/>
              <a:t>Minimal performance impact  </a:t>
            </a:r>
            <a:endParaRPr/>
          </a:p>
          <a:p>
            <a:pPr marL="0" lvl="0" indent="0" algn="l" rtl="0">
              <a:lnSpc>
                <a:spcPct val="80000"/>
              </a:lnSpc>
              <a:spcBef>
                <a:spcPts val="0"/>
              </a:spcBef>
              <a:spcAft>
                <a:spcPts val="0"/>
              </a:spcAft>
              <a:buClr>
                <a:schemeClr val="dk1"/>
              </a:buClr>
              <a:buSzPts val="390"/>
              <a:buFont typeface="Arial"/>
              <a:buChar char="•"/>
            </a:pPr>
            <a:r>
              <a:rPr lang="en-US" sz="390" b="1">
                <a:solidFill>
                  <a:schemeClr val="dk1"/>
                </a:solidFill>
              </a:rPr>
              <a:t>Integrated with other vSAN data services</a:t>
            </a:r>
            <a:endParaRPr sz="390" b="1"/>
          </a:p>
          <a:p>
            <a:pPr marL="628650" lvl="1" indent="-171450" algn="l" rtl="0">
              <a:lnSpc>
                <a:spcPct val="80000"/>
              </a:lnSpc>
              <a:spcBef>
                <a:spcPts val="0"/>
              </a:spcBef>
              <a:spcAft>
                <a:spcPts val="0"/>
              </a:spcAft>
              <a:buClr>
                <a:schemeClr val="dk1"/>
              </a:buClr>
              <a:buSzPts val="390"/>
              <a:buFont typeface="Arial"/>
              <a:buChar char="•"/>
            </a:pPr>
            <a:r>
              <a:rPr lang="en-US" sz="390"/>
              <a:t>Compression</a:t>
            </a:r>
            <a:endParaRPr/>
          </a:p>
          <a:p>
            <a:pPr marL="628650" lvl="1" indent="-171450" algn="l" rtl="0">
              <a:lnSpc>
                <a:spcPct val="80000"/>
              </a:lnSpc>
              <a:spcBef>
                <a:spcPts val="0"/>
              </a:spcBef>
              <a:spcAft>
                <a:spcPts val="0"/>
              </a:spcAft>
              <a:buClr>
                <a:schemeClr val="dk1"/>
              </a:buClr>
              <a:buSzPts val="390"/>
              <a:buFont typeface="Arial"/>
              <a:buChar char="•"/>
            </a:pPr>
            <a:r>
              <a:rPr lang="en-US" sz="390"/>
              <a:t>Snapshots and clones</a:t>
            </a:r>
            <a:endParaRPr/>
          </a:p>
          <a:p>
            <a:pPr marL="628650" lvl="1" indent="-171450" algn="l" rtl="0">
              <a:lnSpc>
                <a:spcPct val="80000"/>
              </a:lnSpc>
              <a:spcBef>
                <a:spcPts val="0"/>
              </a:spcBef>
              <a:spcAft>
                <a:spcPts val="0"/>
              </a:spcAft>
              <a:buClr>
                <a:schemeClr val="dk1"/>
              </a:buClr>
              <a:buSzPts val="390"/>
              <a:buFont typeface="Arial"/>
              <a:buChar char="•"/>
            </a:pPr>
            <a:r>
              <a:rPr lang="en-US" sz="390"/>
              <a:t>Erasure coding &amp; mirroring</a:t>
            </a:r>
            <a:endParaRPr/>
          </a:p>
          <a:p>
            <a:pPr marL="628650" lvl="1" indent="-171450" algn="l" rtl="0">
              <a:lnSpc>
                <a:spcPct val="80000"/>
              </a:lnSpc>
              <a:spcBef>
                <a:spcPts val="0"/>
              </a:spcBef>
              <a:spcAft>
                <a:spcPts val="0"/>
              </a:spcAft>
              <a:buClr>
                <a:schemeClr val="dk1"/>
              </a:buClr>
              <a:buSzPts val="390"/>
              <a:buFont typeface="Arial"/>
              <a:buChar char="•"/>
            </a:pPr>
            <a:r>
              <a:rPr lang="en-US" sz="390"/>
              <a:t>Data-in-Transit encryption</a:t>
            </a:r>
            <a:endParaRPr/>
          </a:p>
          <a:p>
            <a:pPr marL="0" lvl="0" indent="0" algn="l" rtl="0">
              <a:lnSpc>
                <a:spcPct val="80000"/>
              </a:lnSpc>
              <a:spcBef>
                <a:spcPts val="1779"/>
              </a:spcBef>
              <a:spcAft>
                <a:spcPts val="0"/>
              </a:spcAft>
              <a:buClr>
                <a:schemeClr val="dk1"/>
              </a:buClr>
              <a:buSzPts val="390"/>
              <a:buFont typeface="Arial"/>
              <a:buNone/>
            </a:pPr>
            <a:r>
              <a:rPr lang="en-US" sz="390"/>
              <a:t>----------------------------------</a:t>
            </a:r>
            <a:endParaRPr/>
          </a:p>
          <a:p>
            <a:pPr marL="0" lvl="0" indent="0" algn="l" rtl="0">
              <a:lnSpc>
                <a:spcPct val="80000"/>
              </a:lnSpc>
              <a:spcBef>
                <a:spcPts val="0"/>
              </a:spcBef>
              <a:spcAft>
                <a:spcPts val="0"/>
              </a:spcAft>
              <a:buNone/>
            </a:pPr>
            <a:r>
              <a:rPr lang="en-US" sz="390" b="1"/>
              <a:t>Details:</a:t>
            </a:r>
            <a:endParaRPr/>
          </a:p>
          <a:p>
            <a:pPr marL="171450" lvl="0" indent="-171450" algn="l" rtl="0">
              <a:lnSpc>
                <a:spcPct val="80000"/>
              </a:lnSpc>
              <a:spcBef>
                <a:spcPts val="0"/>
              </a:spcBef>
              <a:spcAft>
                <a:spcPts val="0"/>
              </a:spcAft>
              <a:buClr>
                <a:schemeClr val="dk1"/>
              </a:buClr>
              <a:buSzPts val="390"/>
              <a:buFont typeface="Arial"/>
              <a:buChar char="•"/>
            </a:pPr>
            <a:r>
              <a:rPr lang="en-US" sz="390" b="0"/>
              <a:t>The implementation of deduplication in vSAN OSA was reflective of capabilities and limitations of that architecture.  As a result, deduplication boundaries (domains) were limited to disk groups, which reduced the effectiveness of deduplication.  The deduplication processes occurred when the data was destaged to disk, which tended to slow the destaging process, and eventually introduced latency on the guest VM. </a:t>
            </a:r>
            <a:endParaRPr/>
          </a:p>
          <a:p>
            <a:pPr marL="171450" lvl="0" indent="-171450" algn="l" rtl="0">
              <a:lnSpc>
                <a:spcPct val="80000"/>
              </a:lnSpc>
              <a:spcBef>
                <a:spcPts val="0"/>
              </a:spcBef>
              <a:spcAft>
                <a:spcPts val="0"/>
              </a:spcAft>
              <a:buClr>
                <a:schemeClr val="dk1"/>
              </a:buClr>
              <a:buSzPts val="390"/>
              <a:buFont typeface="Arial"/>
              <a:buChar char="•"/>
            </a:pPr>
            <a:r>
              <a:rPr lang="en-US" sz="390" b="0"/>
              <a:t>vSAN ESA allows us to approach deduplication in a different way.  It does not share any characteristics with the approach used by vSAN OSA and will demonstrate much higher deduplication savings while minimizing any impact on workloads.  It is also fully integrated to work with a variety of other vSAN data services and features.  Including, but not limited to:</a:t>
            </a:r>
            <a:endParaRPr/>
          </a:p>
          <a:p>
            <a:pPr marL="628650" lvl="1" indent="-171450" algn="l" rtl="0">
              <a:lnSpc>
                <a:spcPct val="80000"/>
              </a:lnSpc>
              <a:spcBef>
                <a:spcPts val="0"/>
              </a:spcBef>
              <a:spcAft>
                <a:spcPts val="0"/>
              </a:spcAft>
              <a:buClr>
                <a:schemeClr val="dk1"/>
              </a:buClr>
              <a:buSzPts val="390"/>
              <a:buFont typeface="Arial"/>
              <a:buChar char="•"/>
            </a:pPr>
            <a:r>
              <a:rPr lang="en-US" sz="390" b="0"/>
              <a:t>Compression</a:t>
            </a:r>
            <a:endParaRPr/>
          </a:p>
          <a:p>
            <a:pPr marL="628650" lvl="1" indent="-171450" algn="l" rtl="0">
              <a:lnSpc>
                <a:spcPct val="80000"/>
              </a:lnSpc>
              <a:spcBef>
                <a:spcPts val="0"/>
              </a:spcBef>
              <a:spcAft>
                <a:spcPts val="0"/>
              </a:spcAft>
              <a:buClr>
                <a:schemeClr val="dk1"/>
              </a:buClr>
              <a:buSzPts val="390"/>
              <a:buFont typeface="Arial"/>
              <a:buChar char="•"/>
            </a:pPr>
            <a:r>
              <a:rPr lang="en-US" sz="390" b="0"/>
              <a:t>vSAN Data-at-Rest Encryption (not supported in this release)</a:t>
            </a:r>
            <a:endParaRPr/>
          </a:p>
          <a:p>
            <a:pPr marL="628650" lvl="1" indent="-171450" algn="l" rtl="0">
              <a:lnSpc>
                <a:spcPct val="80000"/>
              </a:lnSpc>
              <a:spcBef>
                <a:spcPts val="0"/>
              </a:spcBef>
              <a:spcAft>
                <a:spcPts val="0"/>
              </a:spcAft>
              <a:buClr>
                <a:schemeClr val="dk1"/>
              </a:buClr>
              <a:buSzPts val="390"/>
              <a:buFont typeface="Arial"/>
              <a:buChar char="•"/>
            </a:pPr>
            <a:r>
              <a:rPr lang="en-US" sz="390" b="0"/>
              <a:t>vSAN Data-in-Transit Encryption</a:t>
            </a:r>
            <a:endParaRPr/>
          </a:p>
          <a:p>
            <a:pPr marL="628650" lvl="1" indent="-171450" algn="l" rtl="0">
              <a:lnSpc>
                <a:spcPct val="80000"/>
              </a:lnSpc>
              <a:spcBef>
                <a:spcPts val="0"/>
              </a:spcBef>
              <a:spcAft>
                <a:spcPts val="0"/>
              </a:spcAft>
              <a:buClr>
                <a:schemeClr val="dk1"/>
              </a:buClr>
              <a:buSzPts val="390"/>
              <a:buFont typeface="Arial"/>
              <a:buChar char="•"/>
            </a:pPr>
            <a:r>
              <a:rPr lang="en-US" sz="390" b="0"/>
              <a:t>Snapshots and clones</a:t>
            </a:r>
            <a:endParaRPr/>
          </a:p>
          <a:p>
            <a:pPr marL="628650" lvl="1" indent="-171450" algn="l" rtl="0">
              <a:lnSpc>
                <a:spcPct val="80000"/>
              </a:lnSpc>
              <a:spcBef>
                <a:spcPts val="0"/>
              </a:spcBef>
              <a:spcAft>
                <a:spcPts val="0"/>
              </a:spcAft>
              <a:buClr>
                <a:schemeClr val="dk1"/>
              </a:buClr>
              <a:buSzPts val="390"/>
              <a:buFont typeface="Arial"/>
              <a:buChar char="•"/>
            </a:pPr>
            <a:r>
              <a:rPr lang="en-US" sz="390" b="0"/>
              <a:t>RAID-5/6 erasure coding and RAID-1 mirroring</a:t>
            </a:r>
            <a:endParaRPr/>
          </a:p>
          <a:p>
            <a:pPr marL="628650" lvl="1" indent="-171450" algn="l" rtl="0">
              <a:lnSpc>
                <a:spcPct val="80000"/>
              </a:lnSpc>
              <a:spcBef>
                <a:spcPts val="0"/>
              </a:spcBef>
              <a:spcAft>
                <a:spcPts val="0"/>
              </a:spcAft>
              <a:buClr>
                <a:schemeClr val="dk1"/>
              </a:buClr>
              <a:buSzPts val="390"/>
              <a:buFont typeface="Arial"/>
              <a:buChar char="•"/>
            </a:pPr>
            <a:r>
              <a:rPr lang="en-US" sz="390" b="0"/>
              <a:t>vSAN File Services</a:t>
            </a:r>
            <a:endParaRPr/>
          </a:p>
          <a:p>
            <a:pPr marL="171450" marR="0" lvl="0" indent="-171450" algn="l" rtl="0">
              <a:lnSpc>
                <a:spcPct val="80000"/>
              </a:lnSpc>
              <a:spcBef>
                <a:spcPts val="0"/>
              </a:spcBef>
              <a:spcAft>
                <a:spcPts val="0"/>
              </a:spcAft>
              <a:buClr>
                <a:schemeClr val="dk1"/>
              </a:buClr>
              <a:buSzPts val="390"/>
              <a:buFont typeface="Arial"/>
              <a:buChar char="•"/>
            </a:pPr>
            <a:r>
              <a:rPr lang="en-US" sz="390" b="0" u="none"/>
              <a:t>Notation of savings or space efficiency capabilities (deduplication, compression, or both) compressibility can be easily conflated with the different methods of stating its absolute efficiency, or its efficiency relative to the previous implementation of compression.  For example: </a:t>
            </a:r>
            <a:endParaRPr/>
          </a:p>
          <a:p>
            <a:pPr marL="628650" marR="0" lvl="1" indent="-171450" algn="l" rtl="0">
              <a:lnSpc>
                <a:spcPct val="80000"/>
              </a:lnSpc>
              <a:spcBef>
                <a:spcPts val="0"/>
              </a:spcBef>
              <a:spcAft>
                <a:spcPts val="0"/>
              </a:spcAft>
              <a:buClr>
                <a:schemeClr val="dk1"/>
              </a:buClr>
              <a:buSzPts val="390"/>
              <a:buFont typeface="Arial"/>
              <a:buChar char="•"/>
            </a:pPr>
            <a:r>
              <a:rPr lang="en-US" sz="390" b="1" u="none"/>
              <a:t>Expressed as a ratio.  </a:t>
            </a:r>
            <a:r>
              <a:rPr lang="en-US" sz="390" b="0" u="none"/>
              <a:t>[starting unit size]:[ending unit size].  A ratio of 10:1 would indicate that data that would otherwise consume 100TB would only consume 10TB after the space efficiency techniques are applied.</a:t>
            </a:r>
            <a:endParaRPr/>
          </a:p>
          <a:p>
            <a:pPr marL="628650" marR="0" lvl="1" indent="-171450" algn="l" rtl="0">
              <a:lnSpc>
                <a:spcPct val="80000"/>
              </a:lnSpc>
              <a:spcBef>
                <a:spcPts val="0"/>
              </a:spcBef>
              <a:spcAft>
                <a:spcPts val="0"/>
              </a:spcAft>
              <a:buClr>
                <a:schemeClr val="dk1"/>
              </a:buClr>
              <a:buSzPts val="390"/>
              <a:buFont typeface="Arial"/>
              <a:buChar char="•"/>
            </a:pPr>
            <a:r>
              <a:rPr lang="en-US" sz="390" b="1" u="none"/>
              <a:t>Expressed as a multiplier of reduction.  </a:t>
            </a:r>
            <a:r>
              <a:rPr lang="en-US" sz="390" b="0" u="none"/>
              <a:t>A multiplier of 10x would indicate that data that would otherwise consume 100TB would only consume 10TB after the space efficiency techniques are applied.</a:t>
            </a:r>
            <a:endParaRPr/>
          </a:p>
          <a:p>
            <a:pPr marL="628650" marR="0" lvl="1" indent="-171450" algn="l" rtl="0">
              <a:lnSpc>
                <a:spcPct val="80000"/>
              </a:lnSpc>
              <a:spcBef>
                <a:spcPts val="0"/>
              </a:spcBef>
              <a:spcAft>
                <a:spcPts val="0"/>
              </a:spcAft>
              <a:buClr>
                <a:schemeClr val="dk1"/>
              </a:buClr>
              <a:buSzPts val="390"/>
              <a:buFont typeface="Arial"/>
              <a:buChar char="•"/>
            </a:pPr>
            <a:r>
              <a:rPr lang="en-US" sz="390" b="1" u="none"/>
              <a:t>Expressed as a percentage of original size:  </a:t>
            </a:r>
            <a:r>
              <a:rPr lang="en-US" sz="390" b="0" u="none"/>
              <a:t>A percentage of 10% would indicate that data that would otherwise consume 100TB would only consume 10TB after the space efficiency techniques are applied.</a:t>
            </a:r>
            <a:endParaRPr/>
          </a:p>
          <a:p>
            <a:pPr marL="628650" marR="0" lvl="1" indent="-171450" algn="l" rtl="0">
              <a:lnSpc>
                <a:spcPct val="80000"/>
              </a:lnSpc>
              <a:spcBef>
                <a:spcPts val="0"/>
              </a:spcBef>
              <a:spcAft>
                <a:spcPts val="0"/>
              </a:spcAft>
              <a:buClr>
                <a:schemeClr val="dk1"/>
              </a:buClr>
              <a:buSzPts val="390"/>
              <a:buFont typeface="Arial"/>
              <a:buChar char="•"/>
            </a:pPr>
            <a:r>
              <a:rPr lang="en-US" sz="390" b="1" u="none"/>
              <a:t>Expressed as a percentage of savings:  </a:t>
            </a:r>
            <a:r>
              <a:rPr lang="en-US" sz="390" b="0" u="none"/>
              <a:t>A percentage of 90% would indicate that data that would otherwise consume 100TB would only consume 10TB after the space efficiency techniques are applied.</a:t>
            </a:r>
            <a:endParaRPr/>
          </a:p>
          <a:p>
            <a:pPr marL="171450" marR="0" lvl="0" indent="-171450" algn="l" rtl="0">
              <a:lnSpc>
                <a:spcPct val="80000"/>
              </a:lnSpc>
              <a:spcBef>
                <a:spcPts val="0"/>
              </a:spcBef>
              <a:spcAft>
                <a:spcPts val="0"/>
              </a:spcAft>
              <a:buClr>
                <a:schemeClr val="dk1"/>
              </a:buClr>
              <a:buSzPts val="390"/>
              <a:buFont typeface="Arial"/>
              <a:buChar char="•"/>
            </a:pPr>
            <a:r>
              <a:rPr lang="en-US" sz="390" b="0" u="none"/>
              <a:t>vSAN uses the multiplier of reduction (or savings) notation, thus, the following multipliers can mean:</a:t>
            </a:r>
            <a:endParaRPr/>
          </a:p>
          <a:p>
            <a:pPr marL="628650" marR="0" lvl="1" indent="-171450" algn="l" rtl="0">
              <a:lnSpc>
                <a:spcPct val="80000"/>
              </a:lnSpc>
              <a:spcBef>
                <a:spcPts val="0"/>
              </a:spcBef>
              <a:spcAft>
                <a:spcPts val="0"/>
              </a:spcAft>
              <a:buClr>
                <a:schemeClr val="dk1"/>
              </a:buClr>
              <a:buSzPts val="390"/>
              <a:buFont typeface="Arial"/>
              <a:buChar char="•"/>
            </a:pPr>
            <a:r>
              <a:rPr lang="en-US" sz="390" b="0" u="none"/>
              <a:t>2x multiplier of reduction means that consumption is just 50% of the original size, and a savings of 50%</a:t>
            </a:r>
            <a:endParaRPr/>
          </a:p>
          <a:p>
            <a:pPr marL="628650" marR="0" lvl="1" indent="-171450" algn="l" rtl="0">
              <a:lnSpc>
                <a:spcPct val="80000"/>
              </a:lnSpc>
              <a:spcBef>
                <a:spcPts val="0"/>
              </a:spcBef>
              <a:spcAft>
                <a:spcPts val="0"/>
              </a:spcAft>
              <a:buClr>
                <a:schemeClr val="dk1"/>
              </a:buClr>
              <a:buSzPts val="390"/>
              <a:buFont typeface="Arial"/>
              <a:buChar char="•"/>
            </a:pPr>
            <a:r>
              <a:rPr lang="en-US" sz="390" b="0" u="none"/>
              <a:t>4x multiplier of reduction means that consumption is just 25% of the original size, and a savings of 75%</a:t>
            </a:r>
            <a:endParaRPr/>
          </a:p>
          <a:p>
            <a:pPr marL="628650" marR="0" lvl="1" indent="-171450" algn="l" rtl="0">
              <a:lnSpc>
                <a:spcPct val="80000"/>
              </a:lnSpc>
              <a:spcBef>
                <a:spcPts val="0"/>
              </a:spcBef>
              <a:spcAft>
                <a:spcPts val="0"/>
              </a:spcAft>
              <a:buClr>
                <a:schemeClr val="dk1"/>
              </a:buClr>
              <a:buSzPts val="390"/>
              <a:buFont typeface="Arial"/>
              <a:buChar char="•"/>
            </a:pPr>
            <a:r>
              <a:rPr lang="en-US" sz="390" b="0" u="none"/>
              <a:t>8x multiplier of reduction means that consumption is just 12.5% of the original size, and a savings of 87.5%</a:t>
            </a:r>
            <a:endParaRPr sz="390" b="0"/>
          </a:p>
          <a:p>
            <a:pPr marL="171450" lvl="0" indent="-171450" algn="l" rtl="0">
              <a:lnSpc>
                <a:spcPct val="80000"/>
              </a:lnSpc>
              <a:spcBef>
                <a:spcPts val="0"/>
              </a:spcBef>
              <a:spcAft>
                <a:spcPts val="0"/>
              </a:spcAft>
              <a:buClr>
                <a:schemeClr val="dk1"/>
              </a:buClr>
              <a:buSzPts val="390"/>
              <a:buFont typeface="Arial"/>
              <a:buChar char="•"/>
            </a:pPr>
            <a:r>
              <a:rPr lang="en-US" sz="390" b="0"/>
              <a:t>See other slide for additional details</a:t>
            </a:r>
            <a:endParaRPr/>
          </a:p>
          <a:p>
            <a:pPr marL="171450" lvl="0" indent="-171450" algn="l" rtl="0">
              <a:lnSpc>
                <a:spcPct val="80000"/>
              </a:lnSpc>
              <a:spcBef>
                <a:spcPts val="0"/>
              </a:spcBef>
              <a:spcAft>
                <a:spcPts val="0"/>
              </a:spcAft>
              <a:buClr>
                <a:schemeClr val="dk1"/>
              </a:buClr>
              <a:buSzPts val="390"/>
              <a:buFont typeface="Arial"/>
              <a:buChar char="•"/>
            </a:pPr>
            <a:r>
              <a:rPr lang="en-US" sz="390" b="0"/>
              <a:t>The debut of vSAN ESA saw significant improvements immediately after its initial release in 8.0.  This was a result of optimizations that were not completed in time to ship in the initial GA version.  The deduplication feature of ESA will be similar.  </a:t>
            </a:r>
            <a:r>
              <a:rPr lang="en-US" sz="390" b="1"/>
              <a:t>Not all of its design characteristics will not be implemented when it debuts, but will be expected to show significant enhancements with the versions following thereafter.</a:t>
            </a:r>
            <a:endParaRPr/>
          </a:p>
          <a:p>
            <a:pPr marL="171450" marR="0" lvl="0" indent="-171450" algn="l" rtl="0">
              <a:lnSpc>
                <a:spcPct val="80000"/>
              </a:lnSpc>
              <a:spcBef>
                <a:spcPts val="0"/>
              </a:spcBef>
              <a:spcAft>
                <a:spcPts val="0"/>
              </a:spcAft>
              <a:buClr>
                <a:schemeClr val="dk1"/>
              </a:buClr>
              <a:buSzPts val="390"/>
              <a:buFont typeface="Arial"/>
              <a:buChar char="•"/>
            </a:pPr>
            <a:r>
              <a:rPr lang="en-US" sz="390" b="0"/>
              <a:t>This feature will initially debut in a limited availability in vSAN 9.0 P01 via Broadcom’s “Technical Qualification Request” (TQR) replaces VMware’s “Request for Product Qualification” (RPQ) for features that are not generally available.  To submit a TQR, please contact vSAN Product Management.  It will likely be a full feature in a release sometime after 9.0.</a:t>
            </a:r>
            <a:endParaRPr/>
          </a:p>
          <a:p>
            <a:pPr marL="171450" marR="0" lvl="0" indent="-171450" algn="l" rtl="0">
              <a:lnSpc>
                <a:spcPct val="80000"/>
              </a:lnSpc>
              <a:spcBef>
                <a:spcPts val="0"/>
              </a:spcBef>
              <a:spcAft>
                <a:spcPts val="0"/>
              </a:spcAft>
              <a:buClr>
                <a:schemeClr val="dk1"/>
              </a:buClr>
              <a:buSzPts val="390"/>
              <a:buFont typeface="Arial"/>
              <a:buChar char="•"/>
            </a:pPr>
            <a:r>
              <a:rPr lang="en-US" sz="390" b="0"/>
              <a:t>In general (for most storage systems), the effectiveness of deduplication is highly dependent on several factors, including but not limited to:</a:t>
            </a:r>
            <a:endParaRPr/>
          </a:p>
          <a:p>
            <a:pPr marL="628650" marR="0" lvl="1" indent="-171450" algn="l" rtl="0">
              <a:lnSpc>
                <a:spcPct val="80000"/>
              </a:lnSpc>
              <a:spcBef>
                <a:spcPts val="0"/>
              </a:spcBef>
              <a:spcAft>
                <a:spcPts val="0"/>
              </a:spcAft>
              <a:buClr>
                <a:schemeClr val="dk1"/>
              </a:buClr>
              <a:buSzPts val="390"/>
              <a:buFont typeface="Arial"/>
              <a:buChar char="•"/>
            </a:pPr>
            <a:r>
              <a:rPr lang="en-US" sz="390" b="1"/>
              <a:t>Design of deduplication system.  </a:t>
            </a:r>
            <a:r>
              <a:rPr lang="en-US" sz="390" b="0"/>
              <a:t>Storage systems often must be designed with a tradeoff of effectiveness versus effort.  For example, a system designed for the best possible levels of deduplication (e.g. not a single duplicate of a matching block across the dedup domain) may have too high of an overhead due to the costly algorithms and metadata management.  The additional space efficiency could have diminishing returns on space savings yet impact the performance in a manner that is not worth the capacity savings.  This is what drives different approaches to deduplication within storage solutions.  Deduplication in vSAN ESA was designed for high levels of deduplication with minimal impact on workload performance.</a:t>
            </a:r>
            <a:endParaRPr sz="390" b="1"/>
          </a:p>
          <a:p>
            <a:pPr marL="628650" marR="0" lvl="1" indent="-171450" algn="l" rtl="0">
              <a:lnSpc>
                <a:spcPct val="80000"/>
              </a:lnSpc>
              <a:spcBef>
                <a:spcPts val="0"/>
              </a:spcBef>
              <a:spcAft>
                <a:spcPts val="0"/>
              </a:spcAft>
              <a:buClr>
                <a:schemeClr val="dk1"/>
              </a:buClr>
              <a:buSzPts val="390"/>
              <a:buFont typeface="Arial"/>
              <a:buChar char="•"/>
            </a:pPr>
            <a:r>
              <a:rPr lang="en-US" sz="390" b="1"/>
              <a:t>Likeness of data.  </a:t>
            </a:r>
            <a:r>
              <a:rPr lang="en-US" sz="390" b="0"/>
              <a:t>A fragment of data must be the exact same for it to be deduplicated.  If none of the blocks of data are the same, the blocks cannot be deduplicated.  This is why some storage systems lose their ability to deduplicate data that is encrypted prior to being stored, since encrypted data always creates a unique hash.  vSAN has historically been able to maintain effectiveness even when data is encrypted using vSAN Data-at-Rest encryption.  Data-at-Rest Encryption is not yet supported for this initial release of deduplication on vSAN ESA.  </a:t>
            </a:r>
            <a:endParaRPr/>
          </a:p>
          <a:p>
            <a:pPr marL="628650" marR="0" lvl="1" indent="-171450" algn="l" rtl="0">
              <a:lnSpc>
                <a:spcPct val="80000"/>
              </a:lnSpc>
              <a:spcBef>
                <a:spcPts val="0"/>
              </a:spcBef>
              <a:spcAft>
                <a:spcPts val="0"/>
              </a:spcAft>
              <a:buClr>
                <a:schemeClr val="dk1"/>
              </a:buClr>
              <a:buSzPts val="390"/>
              <a:buFont typeface="Arial"/>
              <a:buChar char="•"/>
            </a:pPr>
            <a:r>
              <a:rPr lang="en-US" sz="390" b="1"/>
              <a:t>Characteristics of data and workloads.  </a:t>
            </a:r>
            <a:r>
              <a:rPr lang="en-US" sz="390" b="0"/>
              <a:t>Different applications and data sets may result in data that is or is not very well suited for deduplication.  Structured data like databases typically have lower deduplication rates than unstructured data, such as flat file storage consisting of various data types.  Some workload patterns such has high data change rates could also impact deduplication effectiveness, as the deduplication system may interact with high data change rates differently.  </a:t>
            </a:r>
            <a:endParaRPr/>
          </a:p>
          <a:p>
            <a:pPr marL="628650" marR="0" lvl="1" indent="-171450" algn="l" rtl="0">
              <a:lnSpc>
                <a:spcPct val="80000"/>
              </a:lnSpc>
              <a:spcBef>
                <a:spcPts val="0"/>
              </a:spcBef>
              <a:spcAft>
                <a:spcPts val="0"/>
              </a:spcAft>
              <a:buClr>
                <a:schemeClr val="dk1"/>
              </a:buClr>
              <a:buSzPts val="390"/>
              <a:buFont typeface="Arial"/>
              <a:buChar char="•"/>
            </a:pPr>
            <a:r>
              <a:rPr lang="en-US" sz="390" b="1"/>
              <a:t>Size/granularity of deduplication:  </a:t>
            </a:r>
            <a:r>
              <a:rPr lang="en-US" sz="390" b="0"/>
              <a:t>Does a system analyze data in larger chunks or smaller chunks.  This will impact the level of effectiveness with deduplication.  vSAN ESA deduplicates at a small 4KB block level, increasing the chances of matches, and improving deduplication ratios.</a:t>
            </a:r>
            <a:endParaRPr/>
          </a:p>
          <a:p>
            <a:pPr marL="628650" marR="0" lvl="1" indent="-171450" algn="l" rtl="0">
              <a:lnSpc>
                <a:spcPct val="80000"/>
              </a:lnSpc>
              <a:spcBef>
                <a:spcPts val="0"/>
              </a:spcBef>
              <a:spcAft>
                <a:spcPts val="0"/>
              </a:spcAft>
              <a:buClr>
                <a:schemeClr val="dk1"/>
              </a:buClr>
              <a:buSzPts val="390"/>
              <a:buFont typeface="Arial"/>
              <a:buChar char="•"/>
            </a:pPr>
            <a:r>
              <a:rPr lang="en-US" sz="390" b="1"/>
              <a:t>Amount of data within the deduplication domain.  </a:t>
            </a:r>
            <a:r>
              <a:rPr lang="en-US" sz="390" b="0"/>
              <a:t>A small amount of data may proportionally not have as many opportunities to deduplicate as a large amount of data.  Generally, the larger amount of data, the better the chances are that it can be deduplicated.  As a result, deduplication rates will often increase at a super-linear rate.</a:t>
            </a:r>
            <a:endParaRPr/>
          </a:p>
          <a:p>
            <a:pPr marL="0" lvl="0" indent="0" algn="l" rtl="0">
              <a:lnSpc>
                <a:spcPct val="80000"/>
              </a:lnSpc>
              <a:spcBef>
                <a:spcPts val="0"/>
              </a:spcBef>
              <a:spcAft>
                <a:spcPts val="0"/>
              </a:spcAft>
              <a:buClr>
                <a:schemeClr val="dk1"/>
              </a:buClr>
              <a:buSzPts val="390"/>
              <a:buFont typeface="Arial"/>
              <a:buNone/>
            </a:pPr>
            <a:r>
              <a:rPr lang="en-US" sz="390" b="1" u="sng"/>
              <a:t>Limitations</a:t>
            </a:r>
            <a:endParaRPr/>
          </a:p>
          <a:p>
            <a:pPr marL="171450" lvl="0" indent="-171450" algn="l" rtl="0">
              <a:lnSpc>
                <a:spcPct val="80000"/>
              </a:lnSpc>
              <a:spcBef>
                <a:spcPts val="0"/>
              </a:spcBef>
              <a:spcAft>
                <a:spcPts val="0"/>
              </a:spcAft>
              <a:buClr>
                <a:schemeClr val="dk1"/>
              </a:buClr>
              <a:buSzPts val="390"/>
              <a:buFont typeface="Arial"/>
              <a:buChar char="•"/>
            </a:pPr>
            <a:r>
              <a:rPr lang="en-US" sz="390" b="0" u="none"/>
              <a:t>Deduplication will initially be limited to vSAN ESA clusters running vSAN 9.0 P01, with customers submit a TQR and are approved for using the feature.   When customers qualify, there will be additional requirements, including but not limited to:</a:t>
            </a:r>
            <a:endParaRPr/>
          </a:p>
          <a:p>
            <a:pPr marL="628650" lvl="1" indent="-171450" algn="l" rtl="0">
              <a:lnSpc>
                <a:spcPct val="80000"/>
              </a:lnSpc>
              <a:spcBef>
                <a:spcPts val="0"/>
              </a:spcBef>
              <a:spcAft>
                <a:spcPts val="0"/>
              </a:spcAft>
              <a:buClr>
                <a:schemeClr val="dk1"/>
              </a:buClr>
              <a:buSzPts val="390"/>
              <a:buFont typeface="Arial"/>
              <a:buChar char="•"/>
            </a:pPr>
            <a:r>
              <a:rPr lang="en-US" sz="390" b="0" u="none"/>
              <a:t>25Gb or faster networking</a:t>
            </a:r>
            <a:endParaRPr/>
          </a:p>
          <a:p>
            <a:pPr marL="628650" lvl="1" indent="-171450" algn="l" rtl="0">
              <a:lnSpc>
                <a:spcPct val="80000"/>
              </a:lnSpc>
              <a:spcBef>
                <a:spcPts val="0"/>
              </a:spcBef>
              <a:spcAft>
                <a:spcPts val="0"/>
              </a:spcAft>
              <a:buClr>
                <a:schemeClr val="dk1"/>
              </a:buClr>
              <a:buSzPts val="390"/>
              <a:buFont typeface="Arial"/>
              <a:buChar char="•"/>
            </a:pPr>
            <a:r>
              <a:rPr lang="en-US" sz="390" b="0" u="none"/>
              <a:t>Maximum cluster sizes of no greater than 16 hosts</a:t>
            </a:r>
            <a:endParaRPr/>
          </a:p>
          <a:p>
            <a:pPr marL="628650" lvl="1" indent="-171450" algn="l" rtl="0">
              <a:lnSpc>
                <a:spcPct val="80000"/>
              </a:lnSpc>
              <a:spcBef>
                <a:spcPts val="0"/>
              </a:spcBef>
              <a:spcAft>
                <a:spcPts val="0"/>
              </a:spcAft>
              <a:buClr>
                <a:schemeClr val="dk1"/>
              </a:buClr>
              <a:buSzPts val="390"/>
              <a:buFont typeface="Arial"/>
              <a:buChar char="•"/>
            </a:pPr>
            <a:r>
              <a:rPr lang="en-US" sz="390" b="0" u="none"/>
              <a:t>Telemetry (CEIP) data enabled.</a:t>
            </a:r>
            <a:endParaRPr/>
          </a:p>
          <a:p>
            <a:pPr marL="171450" lvl="0" indent="-171450" algn="l" rtl="0">
              <a:lnSpc>
                <a:spcPct val="80000"/>
              </a:lnSpc>
              <a:spcBef>
                <a:spcPts val="0"/>
              </a:spcBef>
              <a:spcAft>
                <a:spcPts val="0"/>
              </a:spcAft>
              <a:buClr>
                <a:schemeClr val="dk1"/>
              </a:buClr>
              <a:buSzPts val="390"/>
              <a:buFont typeface="Arial"/>
              <a:buChar char="•"/>
            </a:pPr>
            <a:r>
              <a:rPr lang="en-US" sz="390" b="0" u="none"/>
              <a:t>The support of stretched clusters, 2-Node clusters and data-at-rest encryption will not be available upon initial release in VCF 9.0 P01</a:t>
            </a:r>
            <a:endParaRPr/>
          </a:p>
          <a:p>
            <a:pPr marL="171450" lvl="0" indent="-171450" algn="l" rtl="0">
              <a:lnSpc>
                <a:spcPct val="80000"/>
              </a:lnSpc>
              <a:spcBef>
                <a:spcPts val="0"/>
              </a:spcBef>
              <a:spcAft>
                <a:spcPts val="0"/>
              </a:spcAft>
              <a:buClr>
                <a:schemeClr val="dk1"/>
              </a:buClr>
              <a:buSzPts val="390"/>
              <a:buFont typeface="Arial"/>
              <a:buChar char="•"/>
            </a:pPr>
            <a:r>
              <a:rPr lang="en-US" sz="390" b="0" u="none"/>
              <a:t>Deduplication is not supported with clusters running vSAN data-at-rest encryption.  This is targeted for a later release.</a:t>
            </a:r>
            <a:endParaRPr/>
          </a:p>
          <a:p>
            <a:pPr marL="0" marR="0" lvl="0" indent="0" algn="l" rtl="0">
              <a:lnSpc>
                <a:spcPct val="80000"/>
              </a:lnSpc>
              <a:spcBef>
                <a:spcPts val="0"/>
              </a:spcBef>
              <a:spcAft>
                <a:spcPts val="0"/>
              </a:spcAft>
              <a:buClr>
                <a:schemeClr val="dk1"/>
              </a:buClr>
              <a:buSzPts val="390"/>
              <a:buFont typeface="Arial"/>
              <a:buNone/>
            </a:pPr>
            <a:r>
              <a:rPr lang="en-US" sz="390" b="1" u="sng"/>
              <a:t>Positioning</a:t>
            </a:r>
            <a:endParaRPr/>
          </a:p>
          <a:p>
            <a:pPr marL="171450" marR="0" lvl="0" indent="-171450" algn="l" rtl="0">
              <a:lnSpc>
                <a:spcPct val="80000"/>
              </a:lnSpc>
              <a:spcBef>
                <a:spcPts val="0"/>
              </a:spcBef>
              <a:spcAft>
                <a:spcPts val="0"/>
              </a:spcAft>
              <a:buClr>
                <a:schemeClr val="dk1"/>
              </a:buClr>
              <a:buSzPts val="390"/>
              <a:buFont typeface="Arial"/>
              <a:buChar char="•"/>
            </a:pPr>
            <a:r>
              <a:rPr lang="en-US" sz="390" b="0" u="none"/>
              <a:t>The official marketing term is “vSAN Global Deduplication” and should be used in marketing communication.  However, “cluster-wide deduplication” can be used as a more accurate descriptor of the technology, and may be more helpful to customers who are trying to understand technology.</a:t>
            </a:r>
            <a:endParaRPr/>
          </a:p>
          <a:p>
            <a:pPr marL="171450" marR="0" lvl="0" indent="-171450" algn="l" rtl="0">
              <a:lnSpc>
                <a:spcPct val="80000"/>
              </a:lnSpc>
              <a:spcBef>
                <a:spcPts val="0"/>
              </a:spcBef>
              <a:spcAft>
                <a:spcPts val="0"/>
              </a:spcAft>
              <a:buClr>
                <a:schemeClr val="dk1"/>
              </a:buClr>
              <a:buSzPts val="390"/>
              <a:buFont typeface="Arial"/>
              <a:buChar char="•"/>
            </a:pPr>
            <a:r>
              <a:rPr lang="en-US" sz="390" b="0" u="none"/>
              <a:t>The official marketing collateral for vSAN global deduplication will cite a few claims that are worthy of further explanation:</a:t>
            </a:r>
            <a:endParaRPr/>
          </a:p>
          <a:p>
            <a:pPr marL="628650" marR="0" lvl="1" indent="-171450" algn="l" rtl="0">
              <a:lnSpc>
                <a:spcPct val="80000"/>
              </a:lnSpc>
              <a:spcBef>
                <a:spcPts val="0"/>
              </a:spcBef>
              <a:spcAft>
                <a:spcPts val="0"/>
              </a:spcAft>
              <a:buClr>
                <a:schemeClr val="dk1"/>
              </a:buClr>
              <a:buSzPts val="390"/>
              <a:buFont typeface="Arial"/>
              <a:buChar char="•"/>
            </a:pPr>
            <a:r>
              <a:rPr lang="en-US" sz="390" b="1" i="1" u="none"/>
              <a:t>“Up to 8x capacity reduction.”  </a:t>
            </a:r>
            <a:r>
              <a:rPr lang="en-US" sz="390" b="0" u="none"/>
              <a:t>This is an approved claim from Engineering under certain qualifying conditions.  It could be more, or it could be less depending on the circumstances, and will depend heavily on data type.  The claim will generally include the use of ESA’s compression feature enabled.</a:t>
            </a:r>
            <a:endParaRPr/>
          </a:p>
          <a:p>
            <a:pPr marL="628650" marR="0" lvl="1" indent="-171450" algn="l" rtl="0">
              <a:lnSpc>
                <a:spcPct val="80000"/>
              </a:lnSpc>
              <a:spcBef>
                <a:spcPts val="0"/>
              </a:spcBef>
              <a:spcAft>
                <a:spcPts val="0"/>
              </a:spcAft>
              <a:buClr>
                <a:schemeClr val="dk1"/>
              </a:buClr>
              <a:buSzPts val="390"/>
              <a:buFont typeface="Arial"/>
              <a:buChar char="•"/>
            </a:pPr>
            <a:r>
              <a:rPr lang="en-US" sz="390" b="1" i="1" u="none"/>
              <a:t>“TCO savings of 34% and $10M USD.”  </a:t>
            </a:r>
            <a:r>
              <a:rPr lang="en-US" sz="390" b="0" u="none"/>
              <a:t>This is based on a modeled organization of 10,000 VCF cores.</a:t>
            </a:r>
            <a:endParaRPr/>
          </a:p>
          <a:p>
            <a:pPr marL="171450" marR="0" lvl="0" indent="-171450" algn="l" rtl="0">
              <a:lnSpc>
                <a:spcPct val="80000"/>
              </a:lnSpc>
              <a:spcBef>
                <a:spcPts val="0"/>
              </a:spcBef>
              <a:spcAft>
                <a:spcPts val="0"/>
              </a:spcAft>
              <a:buClr>
                <a:schemeClr val="dk1"/>
              </a:buClr>
              <a:buSzPts val="390"/>
              <a:buFont typeface="Arial"/>
              <a:buChar char="•"/>
            </a:pPr>
            <a:r>
              <a:rPr lang="en-US" sz="390" b="0" u="none"/>
              <a:t>In general messaging, we try not to shorten the word “deduplication” when space allows the full word.  When it does not, it should be shortened to “dedup” (with no “e”)  </a:t>
            </a:r>
            <a:endParaRPr/>
          </a:p>
          <a:p>
            <a:pPr marL="171450" marR="0" lvl="0" indent="-171450" algn="l" rtl="0">
              <a:lnSpc>
                <a:spcPct val="80000"/>
              </a:lnSpc>
              <a:spcBef>
                <a:spcPts val="0"/>
              </a:spcBef>
              <a:spcAft>
                <a:spcPts val="0"/>
              </a:spcAft>
              <a:buClr>
                <a:schemeClr val="dk1"/>
              </a:buClr>
              <a:buSzPts val="390"/>
              <a:buFont typeface="Arial"/>
              <a:buChar char="•"/>
            </a:pPr>
            <a:r>
              <a:rPr lang="en-US" sz="390" b="0" u="none"/>
              <a:t>Deduplication exists to lower the total cost of storage.  </a:t>
            </a:r>
            <a:r>
              <a:rPr lang="en-US" sz="390" b="1" u="none"/>
              <a:t>vSAN ESA uses a cluster-wide deduplication strategy that drives down the cost of storage while minimizing any impact on the running workloads.</a:t>
            </a:r>
            <a:endParaRPr/>
          </a:p>
          <a:p>
            <a:pPr marL="171450" marR="0" lvl="0" indent="-171450" algn="l" rtl="0">
              <a:lnSpc>
                <a:spcPct val="80000"/>
              </a:lnSpc>
              <a:spcBef>
                <a:spcPts val="0"/>
              </a:spcBef>
              <a:spcAft>
                <a:spcPts val="0"/>
              </a:spcAft>
              <a:buClr>
                <a:schemeClr val="dk1"/>
              </a:buClr>
              <a:buSzPts val="390"/>
              <a:buFont typeface="Arial"/>
              <a:buChar char="•"/>
            </a:pPr>
            <a:r>
              <a:rPr lang="en-US" sz="390" b="0"/>
              <a:t>The initial limited availability of this feature is so that Broadcom resources can carefully evaluate the deployment of deduplication in various customer environments.  This proactive approach allow our engineering teams to ensure configuration and eligibility requirements when in-product guardrails for its initial release may be somewhat limited.  </a:t>
            </a:r>
            <a:endParaRPr/>
          </a:p>
          <a:p>
            <a:pPr marL="171450" marR="0" lvl="0" indent="-171450" algn="l" rtl="0">
              <a:lnSpc>
                <a:spcPct val="80000"/>
              </a:lnSpc>
              <a:spcBef>
                <a:spcPts val="0"/>
              </a:spcBef>
              <a:spcAft>
                <a:spcPts val="0"/>
              </a:spcAft>
              <a:buClr>
                <a:schemeClr val="dk1"/>
              </a:buClr>
              <a:buSzPts val="390"/>
              <a:buFont typeface="Arial"/>
              <a:buChar char="•"/>
            </a:pPr>
            <a:r>
              <a:rPr lang="en-US" sz="390" b="0"/>
              <a:t>The cautious, proactive approach we are taking with deduplication also helps minimize potential issues that may arise in customer environments.  These potential issues may or may not even be related to vSAN, but could impact the success of the feature.</a:t>
            </a:r>
            <a:endParaRPr/>
          </a:p>
          <a:p>
            <a:pPr marL="171450" marR="0" lvl="0" indent="-171450" algn="l" rtl="0">
              <a:lnSpc>
                <a:spcPct val="80000"/>
              </a:lnSpc>
              <a:spcBef>
                <a:spcPts val="0"/>
              </a:spcBef>
              <a:spcAft>
                <a:spcPts val="0"/>
              </a:spcAft>
              <a:buClr>
                <a:schemeClr val="dk1"/>
              </a:buClr>
              <a:buSzPts val="390"/>
              <a:buFont typeface="Arial"/>
              <a:buChar char="•"/>
            </a:pPr>
            <a:r>
              <a:rPr lang="en-US" sz="390" b="0" u="none"/>
              <a:t>Other storage solutions will advertise their own unique way to approach deduplication.  What matters is effectiveness, and potential impact on running workloads.</a:t>
            </a:r>
            <a:endParaRPr/>
          </a:p>
          <a:p>
            <a:pPr marL="171450" marR="0" lvl="0" indent="-171450" algn="l" rtl="0">
              <a:lnSpc>
                <a:spcPct val="80000"/>
              </a:lnSpc>
              <a:spcBef>
                <a:spcPts val="0"/>
              </a:spcBef>
              <a:spcAft>
                <a:spcPts val="0"/>
              </a:spcAft>
              <a:buClr>
                <a:schemeClr val="dk1"/>
              </a:buClr>
              <a:buSzPts val="390"/>
              <a:buFont typeface="Arial"/>
              <a:buChar char="•"/>
            </a:pPr>
            <a:r>
              <a:rPr lang="en-US" sz="390" b="1"/>
              <a:t>Feature value in one sentence.</a:t>
            </a:r>
            <a:r>
              <a:rPr lang="en-US" sz="390" b="0"/>
              <a:t>  Cluster-wide deduplication offered by vSAN can dramatically reduce the cost of storage, while minimizing impact any impact on running workloads and operational complexity in their environment.</a:t>
            </a:r>
            <a:endParaRPr/>
          </a:p>
          <a:p>
            <a:pPr marL="171450" marR="0" lvl="0" indent="-171450" algn="l" rtl="0">
              <a:lnSpc>
                <a:spcPct val="80000"/>
              </a:lnSpc>
              <a:spcBef>
                <a:spcPts val="0"/>
              </a:spcBef>
              <a:spcAft>
                <a:spcPts val="0"/>
              </a:spcAft>
              <a:buClr>
                <a:schemeClr val="dk1"/>
              </a:buClr>
              <a:buSzPts val="390"/>
              <a:buFont typeface="Arial"/>
              <a:buChar char="•"/>
            </a:pPr>
            <a:r>
              <a:rPr lang="en-US" sz="390" b="1" u="none"/>
              <a:t>Common Use Cases.  </a:t>
            </a:r>
            <a:endParaRPr/>
          </a:p>
          <a:p>
            <a:pPr marL="628650" marR="0" lvl="1" indent="-171450" algn="l" rtl="0">
              <a:lnSpc>
                <a:spcPct val="80000"/>
              </a:lnSpc>
              <a:spcBef>
                <a:spcPts val="0"/>
              </a:spcBef>
              <a:spcAft>
                <a:spcPts val="0"/>
              </a:spcAft>
              <a:buClr>
                <a:schemeClr val="dk1"/>
              </a:buClr>
              <a:buSzPts val="390"/>
              <a:buFont typeface="Arial"/>
              <a:buChar char="•"/>
            </a:pPr>
            <a:r>
              <a:rPr lang="en-US" sz="390" b="0" u="none"/>
              <a:t>General purpose workloads</a:t>
            </a:r>
            <a:endParaRPr/>
          </a:p>
          <a:p>
            <a:pPr marL="628650" marR="0" lvl="1" indent="-171450" algn="l" rtl="0">
              <a:lnSpc>
                <a:spcPct val="80000"/>
              </a:lnSpc>
              <a:spcBef>
                <a:spcPts val="0"/>
              </a:spcBef>
              <a:spcAft>
                <a:spcPts val="0"/>
              </a:spcAft>
              <a:buClr>
                <a:schemeClr val="dk1"/>
              </a:buClr>
              <a:buSzPts val="390"/>
              <a:buFont typeface="Arial"/>
              <a:buChar char="•"/>
            </a:pPr>
            <a:r>
              <a:rPr lang="en-US" sz="390" b="0" u="none"/>
              <a:t>Performance focused tier-one applications</a:t>
            </a:r>
            <a:endParaRPr/>
          </a:p>
          <a:p>
            <a:pPr marL="628650" marR="0" lvl="1" indent="-171450" algn="l" rtl="0">
              <a:lnSpc>
                <a:spcPct val="80000"/>
              </a:lnSpc>
              <a:spcBef>
                <a:spcPts val="0"/>
              </a:spcBef>
              <a:spcAft>
                <a:spcPts val="0"/>
              </a:spcAft>
              <a:buClr>
                <a:schemeClr val="dk1"/>
              </a:buClr>
              <a:buSzPts val="390"/>
              <a:buFont typeface="Arial"/>
              <a:buChar char="•"/>
            </a:pPr>
            <a:r>
              <a:rPr lang="en-US" sz="390" b="0" u="none"/>
              <a:t>Large data lakes</a:t>
            </a:r>
            <a:endParaRPr/>
          </a:p>
          <a:p>
            <a:pPr marL="628650" marR="0" lvl="1" indent="-171450" algn="l" rtl="0">
              <a:lnSpc>
                <a:spcPct val="80000"/>
              </a:lnSpc>
              <a:spcBef>
                <a:spcPts val="0"/>
              </a:spcBef>
              <a:spcAft>
                <a:spcPts val="0"/>
              </a:spcAft>
              <a:buClr>
                <a:schemeClr val="dk1"/>
              </a:buClr>
              <a:buSzPts val="390"/>
              <a:buFont typeface="Arial"/>
              <a:buChar char="•"/>
            </a:pPr>
            <a:r>
              <a:rPr lang="en-US" sz="390" b="0" u="none"/>
              <a:t>VDI</a:t>
            </a:r>
            <a:endParaRPr sz="390" b="0"/>
          </a:p>
          <a:p>
            <a:pPr marL="0" marR="0" lvl="0" indent="0" algn="l" rtl="0">
              <a:lnSpc>
                <a:spcPct val="80000"/>
              </a:lnSpc>
              <a:spcBef>
                <a:spcPts val="0"/>
              </a:spcBef>
              <a:spcAft>
                <a:spcPts val="0"/>
              </a:spcAft>
              <a:buClr>
                <a:schemeClr val="dk1"/>
              </a:buClr>
              <a:buSzPts val="390"/>
              <a:buFont typeface="Arial"/>
              <a:buNone/>
            </a:pPr>
            <a:r>
              <a:rPr lang="en-US" sz="390">
                <a:solidFill>
                  <a:schemeClr val="dk1"/>
                </a:solidFill>
              </a:rPr>
              <a:t>----------------------------------</a:t>
            </a:r>
            <a:endParaRPr/>
          </a:p>
          <a:p>
            <a:pPr marL="0" lvl="0" indent="0" algn="l" rtl="0">
              <a:lnSpc>
                <a:spcPct val="80000"/>
              </a:lnSpc>
              <a:spcBef>
                <a:spcPts val="0"/>
              </a:spcBef>
              <a:spcAft>
                <a:spcPts val="0"/>
              </a:spcAft>
              <a:buNone/>
            </a:pPr>
            <a:r>
              <a:rPr lang="en-US" sz="390" b="1">
                <a:solidFill>
                  <a:schemeClr val="dk1"/>
                </a:solidFill>
              </a:rPr>
              <a:t>Additional Information:</a:t>
            </a:r>
            <a:endParaRPr/>
          </a:p>
          <a:p>
            <a:pPr marL="171450" lvl="0" indent="-171450" algn="l" rtl="0">
              <a:lnSpc>
                <a:spcPct val="80000"/>
              </a:lnSpc>
              <a:spcBef>
                <a:spcPts val="0"/>
              </a:spcBef>
              <a:spcAft>
                <a:spcPts val="0"/>
              </a:spcAft>
              <a:buClr>
                <a:schemeClr val="dk1"/>
              </a:buClr>
              <a:buSzPts val="390"/>
              <a:buFont typeface="Arial"/>
              <a:buChar char="•"/>
            </a:pPr>
            <a:r>
              <a:rPr lang="en-US" sz="390"/>
              <a:t>TBD</a:t>
            </a:r>
            <a:endParaRPr/>
          </a:p>
          <a:p>
            <a:pPr marL="0" lvl="0" indent="0" algn="l" rtl="0">
              <a:lnSpc>
                <a:spcPct val="80000"/>
              </a:lnSpc>
              <a:spcBef>
                <a:spcPts val="0"/>
              </a:spcBef>
              <a:spcAft>
                <a:spcPts val="0"/>
              </a:spcAft>
              <a:buNone/>
            </a:pPr>
            <a:endParaRPr sz="390"/>
          </a:p>
        </p:txBody>
      </p:sp>
      <p:sp>
        <p:nvSpPr>
          <p:cNvPr id="5141" name="Google Shape;5141;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7"/>
        <p:cNvGrpSpPr/>
        <p:nvPr/>
      </p:nvGrpSpPr>
      <p:grpSpPr>
        <a:xfrm>
          <a:off x="0" y="0"/>
          <a:ext cx="0" cy="0"/>
          <a:chOff x="0" y="0"/>
          <a:chExt cx="0" cy="0"/>
        </a:xfrm>
      </p:grpSpPr>
      <p:sp>
        <p:nvSpPr>
          <p:cNvPr id="5398" name="Google Shape;5398;p2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9" name="Google Shape;5399;p2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570"/>
              <a:buFont typeface="Arial"/>
              <a:buNone/>
            </a:pPr>
            <a:r>
              <a:rPr lang="en-US" sz="570" b="1">
                <a:latin typeface="Arial"/>
                <a:ea typeface="Arial"/>
                <a:cs typeface="Arial"/>
                <a:sym typeface="Arial"/>
              </a:rPr>
              <a:t>Presenter Note:  This slide contains animation</a:t>
            </a:r>
            <a:endParaRPr/>
          </a:p>
          <a:p>
            <a:pPr marL="0" lvl="0" indent="0" algn="l" rtl="0">
              <a:lnSpc>
                <a:spcPct val="80000"/>
              </a:lnSpc>
              <a:spcBef>
                <a:spcPts val="0"/>
              </a:spcBef>
              <a:spcAft>
                <a:spcPts val="0"/>
              </a:spcAft>
              <a:buNone/>
            </a:pPr>
            <a:endParaRPr sz="570" b="1"/>
          </a:p>
          <a:p>
            <a:pPr marL="0" lvl="0" indent="0" algn="l" rtl="0">
              <a:lnSpc>
                <a:spcPct val="80000"/>
              </a:lnSpc>
              <a:spcBef>
                <a:spcPts val="0"/>
              </a:spcBef>
              <a:spcAft>
                <a:spcPts val="0"/>
              </a:spcAft>
              <a:buNone/>
            </a:pPr>
            <a:r>
              <a:rPr lang="en-US" sz="570" b="1"/>
              <a:t>Key Message/Talk track:</a:t>
            </a:r>
            <a:endParaRPr/>
          </a:p>
          <a:p>
            <a:pPr marL="0" lvl="0" indent="0" algn="l" rtl="0">
              <a:lnSpc>
                <a:spcPct val="80000"/>
              </a:lnSpc>
              <a:spcBef>
                <a:spcPts val="0"/>
              </a:spcBef>
              <a:spcAft>
                <a:spcPts val="0"/>
              </a:spcAft>
              <a:buNone/>
            </a:pPr>
            <a:r>
              <a:rPr lang="en-US" sz="570" b="0"/>
              <a:t>New to vSAN storage clusters in VCF 9.0 is the ability to separate the back-end storage network traffic of the vSAN storage cluster from the front-end traffic used by the vSphere clusters mounting the datastore.  Separating traffic reduces the amount of communication to and from the vSphere clusters and keeps all of the east/west traffic for the vSAN storage cluster within its own network.  Why is this important?  If the vSAN storage cluster resides in a single rack, this means that all vSAN storage cluster traffic can be serviced by high-performing switches, with no need to leave the Top of Rack (ToR).  </a:t>
            </a:r>
            <a:r>
              <a:rPr lang="en-US" sz="570" b="1"/>
              <a:t>Network traffic separation with vSAN storage clusters allows you to deploy, and optimize a vSAN storage cluster with minimal investment, and make it easier to adapt to environments running older networking.</a:t>
            </a:r>
            <a:endParaRPr/>
          </a:p>
          <a:p>
            <a:pPr marL="0" lvl="0" indent="0" algn="l" rtl="0">
              <a:lnSpc>
                <a:spcPct val="80000"/>
              </a:lnSpc>
              <a:spcBef>
                <a:spcPts val="0"/>
              </a:spcBef>
              <a:spcAft>
                <a:spcPts val="0"/>
              </a:spcAft>
              <a:buNone/>
            </a:pPr>
            <a:r>
              <a:rPr lang="en-US" sz="570"/>
              <a:t>----------------------------------</a:t>
            </a:r>
            <a:endParaRPr/>
          </a:p>
          <a:p>
            <a:pPr marL="0" lvl="0" indent="0" algn="l" rtl="0">
              <a:lnSpc>
                <a:spcPct val="80000"/>
              </a:lnSpc>
              <a:spcBef>
                <a:spcPts val="0"/>
              </a:spcBef>
              <a:spcAft>
                <a:spcPts val="0"/>
              </a:spcAft>
              <a:buNone/>
            </a:pPr>
            <a:r>
              <a:rPr lang="en-US" sz="570" b="1"/>
              <a:t>Overview:</a:t>
            </a:r>
            <a:endParaRPr/>
          </a:p>
          <a:p>
            <a:pPr marL="171450" lvl="0" indent="-171450" algn="l" rtl="0">
              <a:lnSpc>
                <a:spcPct val="80000"/>
              </a:lnSpc>
              <a:spcBef>
                <a:spcPts val="0"/>
              </a:spcBef>
              <a:spcAft>
                <a:spcPts val="0"/>
              </a:spcAft>
              <a:buClr>
                <a:schemeClr val="dk1"/>
              </a:buClr>
              <a:buSzPts val="570"/>
              <a:buFont typeface="Arial"/>
              <a:buChar char="•"/>
            </a:pPr>
            <a:r>
              <a:rPr lang="en-US" sz="570"/>
              <a:t>vSAN </a:t>
            </a:r>
            <a:r>
              <a:rPr lang="en-US" sz="570" b="1">
                <a:solidFill>
                  <a:schemeClr val="dk1"/>
                </a:solidFill>
              </a:rPr>
              <a:t>cluster traffic isolated </a:t>
            </a:r>
            <a:r>
              <a:rPr lang="en-US" sz="570"/>
              <a:t>from </a:t>
            </a:r>
            <a:r>
              <a:rPr lang="en-US" sz="570" b="1">
                <a:solidFill>
                  <a:schemeClr val="dk1"/>
                </a:solidFill>
              </a:rPr>
              <a:t>vSphere clusters </a:t>
            </a:r>
            <a:r>
              <a:rPr lang="en-US" sz="570"/>
              <a:t>accessing datastore of the vSAN storage cluster</a:t>
            </a:r>
            <a:endParaRPr/>
          </a:p>
          <a:p>
            <a:pPr marL="171450" lvl="0" indent="-171450" algn="l" rtl="0">
              <a:lnSpc>
                <a:spcPct val="80000"/>
              </a:lnSpc>
              <a:spcBef>
                <a:spcPts val="0"/>
              </a:spcBef>
              <a:spcAft>
                <a:spcPts val="0"/>
              </a:spcAft>
              <a:buClr>
                <a:schemeClr val="dk1"/>
              </a:buClr>
              <a:buSzPts val="570"/>
              <a:buFont typeface="Arial"/>
              <a:buChar char="•"/>
            </a:pPr>
            <a:r>
              <a:rPr lang="en-US" sz="570"/>
              <a:t>Uses dedicated VMkernel interfaces for:</a:t>
            </a:r>
            <a:endParaRPr/>
          </a:p>
          <a:p>
            <a:pPr marL="628650" lvl="1" indent="-171450" algn="l" rtl="0">
              <a:lnSpc>
                <a:spcPct val="80000"/>
              </a:lnSpc>
              <a:spcBef>
                <a:spcPts val="0"/>
              </a:spcBef>
              <a:spcAft>
                <a:spcPts val="0"/>
              </a:spcAft>
              <a:buClr>
                <a:schemeClr val="dk1"/>
              </a:buClr>
              <a:buSzPts val="570"/>
              <a:buFont typeface="Arial"/>
              <a:buChar char="•"/>
            </a:pPr>
            <a:r>
              <a:rPr lang="en-US" sz="570"/>
              <a:t>vSAN cluster traffic</a:t>
            </a:r>
            <a:endParaRPr/>
          </a:p>
          <a:p>
            <a:pPr marL="628650" lvl="1" indent="-171450" algn="l" rtl="0">
              <a:lnSpc>
                <a:spcPct val="80000"/>
              </a:lnSpc>
              <a:spcBef>
                <a:spcPts val="0"/>
              </a:spcBef>
              <a:spcAft>
                <a:spcPts val="0"/>
              </a:spcAft>
              <a:buClr>
                <a:schemeClr val="dk1"/>
              </a:buClr>
              <a:buSzPts val="570"/>
              <a:buFont typeface="Arial"/>
              <a:buChar char="•"/>
            </a:pPr>
            <a:r>
              <a:rPr lang="en-US" sz="570"/>
              <a:t>vSphere client clusters mounting vSAN storage cluster datastore</a:t>
            </a:r>
            <a:endParaRPr/>
          </a:p>
          <a:p>
            <a:pPr marL="171450" lvl="0" indent="-171450" algn="l" rtl="0">
              <a:lnSpc>
                <a:spcPct val="80000"/>
              </a:lnSpc>
              <a:spcBef>
                <a:spcPts val="0"/>
              </a:spcBef>
              <a:spcAft>
                <a:spcPts val="0"/>
              </a:spcAft>
              <a:buClr>
                <a:schemeClr val="dk1"/>
              </a:buClr>
              <a:buSzPts val="570"/>
              <a:buFont typeface="Arial"/>
              <a:buChar char="•"/>
            </a:pPr>
            <a:r>
              <a:rPr lang="en-US" sz="570" b="1">
                <a:solidFill>
                  <a:schemeClr val="dk1"/>
                </a:solidFill>
              </a:rPr>
              <a:t>Improves performance </a:t>
            </a:r>
            <a:r>
              <a:rPr lang="en-US" sz="570"/>
              <a:t>and </a:t>
            </a:r>
            <a:r>
              <a:rPr lang="en-US" sz="570" b="1">
                <a:solidFill>
                  <a:schemeClr val="dk1"/>
                </a:solidFill>
              </a:rPr>
              <a:t>simplifies management</a:t>
            </a:r>
            <a:endParaRPr/>
          </a:p>
          <a:p>
            <a:pPr marL="171450" lvl="0" indent="-171450" algn="l" rtl="0">
              <a:lnSpc>
                <a:spcPct val="80000"/>
              </a:lnSpc>
              <a:spcBef>
                <a:spcPts val="0"/>
              </a:spcBef>
              <a:spcAft>
                <a:spcPts val="0"/>
              </a:spcAft>
              <a:buClr>
                <a:schemeClr val="dk1"/>
              </a:buClr>
              <a:buSzPts val="570"/>
              <a:buFont typeface="Arial"/>
              <a:buChar char="•"/>
            </a:pPr>
            <a:r>
              <a:rPr lang="en-US" sz="570" b="1">
                <a:solidFill>
                  <a:schemeClr val="dk1"/>
                </a:solidFill>
              </a:rPr>
              <a:t>Minimizes network traffic </a:t>
            </a:r>
            <a:r>
              <a:rPr lang="en-US" sz="570"/>
              <a:t>to/from client clusters</a:t>
            </a:r>
            <a:endParaRPr/>
          </a:p>
          <a:p>
            <a:pPr marL="628650" lvl="1" indent="-171450" algn="l" rtl="0">
              <a:lnSpc>
                <a:spcPct val="80000"/>
              </a:lnSpc>
              <a:spcBef>
                <a:spcPts val="0"/>
              </a:spcBef>
              <a:spcAft>
                <a:spcPts val="0"/>
              </a:spcAft>
              <a:buClr>
                <a:schemeClr val="dk1"/>
              </a:buClr>
              <a:buSzPts val="570"/>
              <a:buFont typeface="Arial"/>
              <a:buChar char="•"/>
            </a:pPr>
            <a:r>
              <a:rPr lang="en-US" sz="570"/>
              <a:t>Compressed</a:t>
            </a:r>
            <a:endParaRPr/>
          </a:p>
          <a:p>
            <a:pPr marL="628650" lvl="1" indent="-171450" algn="l" rtl="0">
              <a:lnSpc>
                <a:spcPct val="80000"/>
              </a:lnSpc>
              <a:spcBef>
                <a:spcPts val="0"/>
              </a:spcBef>
              <a:spcAft>
                <a:spcPts val="0"/>
              </a:spcAft>
              <a:buClr>
                <a:schemeClr val="dk1"/>
              </a:buClr>
              <a:buSzPts val="570"/>
              <a:buFont typeface="Arial"/>
              <a:buChar char="•"/>
            </a:pPr>
            <a:r>
              <a:rPr lang="en-US" sz="570"/>
              <a:t>Isolated </a:t>
            </a:r>
            <a:endParaRPr/>
          </a:p>
          <a:p>
            <a:pPr marL="0" lvl="0" indent="0" algn="l" rtl="0">
              <a:lnSpc>
                <a:spcPct val="80000"/>
              </a:lnSpc>
              <a:spcBef>
                <a:spcPts val="1779"/>
              </a:spcBef>
              <a:spcAft>
                <a:spcPts val="0"/>
              </a:spcAft>
              <a:buClr>
                <a:schemeClr val="dk1"/>
              </a:buClr>
              <a:buSzPts val="570"/>
              <a:buFont typeface="Arial"/>
              <a:buNone/>
            </a:pPr>
            <a:r>
              <a:rPr lang="en-US" sz="570"/>
              <a:t>----------------------------------</a:t>
            </a:r>
            <a:endParaRPr/>
          </a:p>
          <a:p>
            <a:pPr marL="0" lvl="0" indent="0" algn="l" rtl="0">
              <a:lnSpc>
                <a:spcPct val="80000"/>
              </a:lnSpc>
              <a:spcBef>
                <a:spcPts val="0"/>
              </a:spcBef>
              <a:spcAft>
                <a:spcPts val="0"/>
              </a:spcAft>
              <a:buNone/>
            </a:pPr>
            <a:r>
              <a:rPr lang="en-US" sz="570" b="1"/>
              <a:t>Details:</a:t>
            </a:r>
            <a:endParaRPr sz="570"/>
          </a:p>
          <a:p>
            <a:pPr marL="171450" lvl="0" indent="-171450" algn="l" rtl="0">
              <a:lnSpc>
                <a:spcPct val="80000"/>
              </a:lnSpc>
              <a:spcBef>
                <a:spcPts val="0"/>
              </a:spcBef>
              <a:spcAft>
                <a:spcPts val="0"/>
              </a:spcAft>
              <a:buClr>
                <a:schemeClr val="dk1"/>
              </a:buClr>
              <a:buSzPts val="570"/>
              <a:buFont typeface="Arial"/>
              <a:buChar char="•"/>
            </a:pPr>
            <a:r>
              <a:rPr lang="en-US" sz="570"/>
              <a:t>Historically, vSAN has always transmitted vSAN traffic over a single VMkernel interface.  This was a reasonable approach for aggregated vSAN HCI clusters, but not ideal for disaggregated vSAN storage clusters.  In a disaggregated environment, a single VMkernel interface meant that client cluster traffic would be sharing the same logical network as the vSAN cluster, which is responsible for all types of traffic, such as replica traffic, resynchronization traffic, and other metadata activities.  </a:t>
            </a:r>
            <a:endParaRPr/>
          </a:p>
          <a:p>
            <a:pPr marL="171450" lvl="0" indent="-171450" algn="l" rtl="0">
              <a:lnSpc>
                <a:spcPct val="80000"/>
              </a:lnSpc>
              <a:spcBef>
                <a:spcPts val="0"/>
              </a:spcBef>
              <a:spcAft>
                <a:spcPts val="0"/>
              </a:spcAft>
              <a:buClr>
                <a:schemeClr val="dk1"/>
              </a:buClr>
              <a:buSzPts val="570"/>
              <a:buFont typeface="Arial"/>
              <a:buChar char="•"/>
            </a:pPr>
            <a:r>
              <a:rPr lang="en-US" sz="570"/>
              <a:t>VCF 9.0 introduces a capability to separate traffic types when configuring a vSAN storage cluster. Hosts within a vSAN storage cluster can use VMkernel interfaces that are tagged for vSAN storage cluster traffic or tagged for cluster client traffic.  This will allow for logical separation by using two discrete VMkernel interfaces, and optionally for physical separation by using separate, dedicated uplinks for vSAN storage cluster traffic.</a:t>
            </a:r>
            <a:endParaRPr/>
          </a:p>
          <a:p>
            <a:pPr marL="171450" lvl="0" indent="-171450" algn="l" rtl="0">
              <a:lnSpc>
                <a:spcPct val="80000"/>
              </a:lnSpc>
              <a:spcBef>
                <a:spcPts val="0"/>
              </a:spcBef>
              <a:spcAft>
                <a:spcPts val="0"/>
              </a:spcAft>
              <a:buClr>
                <a:schemeClr val="dk1"/>
              </a:buClr>
              <a:buSzPts val="570"/>
              <a:buFont typeface="Arial"/>
              <a:buChar char="•"/>
            </a:pPr>
            <a:r>
              <a:rPr lang="en-US" sz="570"/>
              <a:t>The network traffic separation may be depicted using separate physical uplinks than the client cluster traffic.  </a:t>
            </a:r>
            <a:r>
              <a:rPr lang="en-US" sz="570" b="1"/>
              <a:t>While this may be ideal, it is not a hard requirement.  </a:t>
            </a:r>
            <a:r>
              <a:rPr lang="en-US" sz="570"/>
              <a:t>If a host is limited by the number of uplinks (1 NIC with 2 ports) there can be benefits of using network traffic separation feature on a single NIC.  Multiple VMkernel interfaces are much more efficient, and when they are separated, one can use their own respective VLANs that will keep the traffic limited to the ToR leaf switches.  </a:t>
            </a:r>
            <a:endParaRPr/>
          </a:p>
          <a:p>
            <a:pPr marL="171450" lvl="0" indent="-171450" algn="l" rtl="0">
              <a:lnSpc>
                <a:spcPct val="80000"/>
              </a:lnSpc>
              <a:spcBef>
                <a:spcPts val="0"/>
              </a:spcBef>
              <a:spcAft>
                <a:spcPts val="0"/>
              </a:spcAft>
              <a:buClr>
                <a:schemeClr val="dk1"/>
              </a:buClr>
              <a:buSzPts val="570"/>
              <a:buFont typeface="Arial"/>
              <a:buChar char="•"/>
            </a:pPr>
            <a:r>
              <a:rPr lang="en-US" sz="570"/>
              <a:t>When using network traffic separation, if there is only one 2 port NIC on the server, the </a:t>
            </a:r>
            <a:r>
              <a:rPr lang="en-US" sz="570" b="1"/>
              <a:t>vSAN client traffic can reside on the same uplink used by the vMotion VMkernel port, while the other port is used for vSAN traffic</a:t>
            </a:r>
            <a:r>
              <a:rPr lang="en-US" sz="570"/>
              <a:t>.   Since hosts in vSAN storage clusters will have very few to no VM instances running on the storage cluster, the vMotion VMkernel may have very little to no load. </a:t>
            </a:r>
            <a:endParaRPr/>
          </a:p>
          <a:p>
            <a:pPr marL="171450" lvl="0" indent="-171450" algn="l" rtl="0">
              <a:lnSpc>
                <a:spcPct val="80000"/>
              </a:lnSpc>
              <a:spcBef>
                <a:spcPts val="0"/>
              </a:spcBef>
              <a:spcAft>
                <a:spcPts val="0"/>
              </a:spcAft>
              <a:buClr>
                <a:schemeClr val="dk1"/>
              </a:buClr>
              <a:buSzPts val="570"/>
              <a:buFont typeface="Arial"/>
              <a:buChar char="•"/>
            </a:pPr>
            <a:r>
              <a:rPr lang="en-US" sz="570"/>
              <a:t>When using this capability, the front-end traffic to and from the guests is somewhat analogous to a vSphere cluster mounting a datastore from a storage array via iSCSI.  Note however that even though the topology is disaggregated, our native vSAN stack is used for the maximum amount of efficiency, flexibility, and performance.  See the “Disaggregation and vSAN Storage Clusters” presentation for more details.</a:t>
            </a:r>
            <a:endParaRPr/>
          </a:p>
          <a:p>
            <a:pPr marL="171450" lvl="0" indent="-171450" algn="l" rtl="0">
              <a:lnSpc>
                <a:spcPct val="80000"/>
              </a:lnSpc>
              <a:spcBef>
                <a:spcPts val="0"/>
              </a:spcBef>
              <a:spcAft>
                <a:spcPts val="0"/>
              </a:spcAft>
              <a:buClr>
                <a:schemeClr val="dk1"/>
              </a:buClr>
              <a:buSzPts val="570"/>
              <a:buFont typeface="Arial"/>
              <a:buChar char="•"/>
            </a:pPr>
            <a:r>
              <a:rPr lang="en-US" sz="570"/>
              <a:t>Traffic separation will also allow a vSAN storage cluster to use RDMA over Converged Ethernet (RoCE v2).  This would be applicable to the back-end vSAN network only.  Enabling vSAN on RDMA does require additional considerations and settings.</a:t>
            </a:r>
            <a:endParaRPr/>
          </a:p>
          <a:p>
            <a:pPr marL="171450" lvl="0" indent="-171450" algn="l" rtl="0">
              <a:lnSpc>
                <a:spcPct val="80000"/>
              </a:lnSpc>
              <a:spcBef>
                <a:spcPts val="0"/>
              </a:spcBef>
              <a:spcAft>
                <a:spcPts val="0"/>
              </a:spcAft>
              <a:buClr>
                <a:schemeClr val="dk1"/>
              </a:buClr>
              <a:buSzPts val="570"/>
              <a:buFont typeface="Arial"/>
              <a:buChar char="•"/>
            </a:pPr>
            <a:r>
              <a:rPr lang="en-US" sz="570"/>
              <a:t>Internal testing has demonstrated up to 25% performance improvement when configuring a vSAN storage cluster with network traffic separation.  The actual improvements will vary depending on the customer environment, hardware and networking, workloads, etc.</a:t>
            </a:r>
            <a:endParaRPr/>
          </a:p>
          <a:p>
            <a:pPr marL="0" lvl="0" indent="0" algn="l" rtl="0">
              <a:lnSpc>
                <a:spcPct val="80000"/>
              </a:lnSpc>
              <a:spcBef>
                <a:spcPts val="0"/>
              </a:spcBef>
              <a:spcAft>
                <a:spcPts val="0"/>
              </a:spcAft>
              <a:buClr>
                <a:schemeClr val="dk1"/>
              </a:buClr>
              <a:buSzPts val="570"/>
              <a:buFont typeface="Arial"/>
              <a:buNone/>
            </a:pPr>
            <a:r>
              <a:rPr lang="en-US" sz="570" b="1" u="sng"/>
              <a:t>Limitations</a:t>
            </a:r>
            <a:endParaRPr/>
          </a:p>
          <a:p>
            <a:pPr marL="171450" lvl="0" indent="-171450" algn="l" rtl="0">
              <a:lnSpc>
                <a:spcPct val="80000"/>
              </a:lnSpc>
              <a:spcBef>
                <a:spcPts val="0"/>
              </a:spcBef>
              <a:spcAft>
                <a:spcPts val="0"/>
              </a:spcAft>
              <a:buClr>
                <a:schemeClr val="dk1"/>
              </a:buClr>
              <a:buSzPts val="570"/>
              <a:buFont typeface="Arial"/>
              <a:buChar char="•"/>
            </a:pPr>
            <a:r>
              <a:rPr lang="en-US" sz="570" b="0" u="none"/>
              <a:t>VCF workflows may impose additional restrictions.</a:t>
            </a:r>
            <a:endParaRPr/>
          </a:p>
          <a:p>
            <a:pPr marL="0" marR="0" lvl="0" indent="0" algn="l" rtl="0">
              <a:lnSpc>
                <a:spcPct val="80000"/>
              </a:lnSpc>
              <a:spcBef>
                <a:spcPts val="0"/>
              </a:spcBef>
              <a:spcAft>
                <a:spcPts val="0"/>
              </a:spcAft>
              <a:buClr>
                <a:schemeClr val="dk1"/>
              </a:buClr>
              <a:buSzPts val="570"/>
              <a:buFont typeface="Arial"/>
              <a:buNone/>
            </a:pPr>
            <a:r>
              <a:rPr lang="en-US" sz="570" b="1" u="sng"/>
              <a:t>Positioning</a:t>
            </a:r>
            <a:endParaRPr/>
          </a:p>
          <a:p>
            <a:pPr marL="171450" marR="0" lvl="0" indent="-171450" algn="l" rtl="0">
              <a:lnSpc>
                <a:spcPct val="80000"/>
              </a:lnSpc>
              <a:spcBef>
                <a:spcPts val="0"/>
              </a:spcBef>
              <a:spcAft>
                <a:spcPts val="0"/>
              </a:spcAft>
              <a:buClr>
                <a:schemeClr val="dk1"/>
              </a:buClr>
              <a:buSzPts val="570"/>
              <a:buFont typeface="Arial"/>
              <a:buChar char="•"/>
            </a:pPr>
            <a:r>
              <a:rPr lang="en-US" sz="570" b="0"/>
              <a:t>Network traffic separation helps our customers deploy vSAN storage clusters in a manner that is more analogous to iSCSI or Fibre Channel arrays that have a dedicated storage fabric.</a:t>
            </a:r>
            <a:endParaRPr/>
          </a:p>
          <a:p>
            <a:pPr marL="171450" marR="0" lvl="0" indent="-171450" algn="l" rtl="0">
              <a:lnSpc>
                <a:spcPct val="80000"/>
              </a:lnSpc>
              <a:spcBef>
                <a:spcPts val="0"/>
              </a:spcBef>
              <a:spcAft>
                <a:spcPts val="0"/>
              </a:spcAft>
              <a:buClr>
                <a:schemeClr val="dk1"/>
              </a:buClr>
              <a:buSzPts val="570"/>
              <a:buFont typeface="Arial"/>
              <a:buChar char="•"/>
            </a:pPr>
            <a:r>
              <a:rPr lang="en-US" sz="570" b="1"/>
              <a:t>Feature value in one sentence.</a:t>
            </a:r>
            <a:r>
              <a:rPr lang="en-US" sz="570" b="0"/>
              <a:t>  Network traffic separation helps drive better performance and be more accommodating for our customer’s network topologies.</a:t>
            </a:r>
            <a:endParaRPr/>
          </a:p>
          <a:p>
            <a:pPr marL="171450" marR="0" lvl="0" indent="-171450" algn="l" rtl="0">
              <a:lnSpc>
                <a:spcPct val="80000"/>
              </a:lnSpc>
              <a:spcBef>
                <a:spcPts val="0"/>
              </a:spcBef>
              <a:spcAft>
                <a:spcPts val="0"/>
              </a:spcAft>
              <a:buClr>
                <a:schemeClr val="dk1"/>
              </a:buClr>
              <a:buSzPts val="570"/>
              <a:buFont typeface="Arial"/>
              <a:buChar char="•"/>
            </a:pPr>
            <a:r>
              <a:rPr lang="en-US" sz="570" b="1" u="none"/>
              <a:t>Common Use Cases.  </a:t>
            </a:r>
            <a:endParaRPr/>
          </a:p>
          <a:p>
            <a:pPr marL="628650" marR="0" lvl="1" indent="-171450" algn="l" rtl="0">
              <a:lnSpc>
                <a:spcPct val="80000"/>
              </a:lnSpc>
              <a:spcBef>
                <a:spcPts val="0"/>
              </a:spcBef>
              <a:spcAft>
                <a:spcPts val="0"/>
              </a:spcAft>
              <a:buClr>
                <a:schemeClr val="dk1"/>
              </a:buClr>
              <a:buSzPts val="570"/>
              <a:buFont typeface="Arial"/>
              <a:buChar char="•"/>
            </a:pPr>
            <a:r>
              <a:rPr lang="en-US" sz="570" b="0" u="none"/>
              <a:t>Driving better storage performance for vSphere hosts consuming vSAN storage.</a:t>
            </a:r>
            <a:endParaRPr/>
          </a:p>
          <a:p>
            <a:pPr marL="628650" marR="0" lvl="1" indent="-171450" algn="l" rtl="0">
              <a:lnSpc>
                <a:spcPct val="80000"/>
              </a:lnSpc>
              <a:spcBef>
                <a:spcPts val="0"/>
              </a:spcBef>
              <a:spcAft>
                <a:spcPts val="0"/>
              </a:spcAft>
              <a:buClr>
                <a:schemeClr val="dk1"/>
              </a:buClr>
              <a:buSzPts val="570"/>
              <a:buFont typeface="Arial"/>
              <a:buChar char="•"/>
            </a:pPr>
            <a:r>
              <a:rPr lang="en-US" sz="570" b="0" u="none"/>
              <a:t>Existing environments who want to integrate vSAN storage clusters into existing environments with legacy networking.</a:t>
            </a:r>
            <a:endParaRPr/>
          </a:p>
          <a:p>
            <a:pPr marL="628650" marR="0" lvl="1" indent="-171450" algn="l" rtl="0">
              <a:lnSpc>
                <a:spcPct val="80000"/>
              </a:lnSpc>
              <a:spcBef>
                <a:spcPts val="0"/>
              </a:spcBef>
              <a:spcAft>
                <a:spcPts val="0"/>
              </a:spcAft>
              <a:buClr>
                <a:schemeClr val="dk1"/>
              </a:buClr>
              <a:buSzPts val="570"/>
              <a:buFont typeface="Arial"/>
              <a:buChar char="•"/>
            </a:pPr>
            <a:r>
              <a:rPr lang="en-US" sz="570" b="0" u="none"/>
              <a:t>Customers who have stricter security requirements.</a:t>
            </a:r>
            <a:endParaRPr sz="570"/>
          </a:p>
          <a:p>
            <a:pPr marL="0" marR="0" lvl="0" indent="0" algn="l" rtl="0">
              <a:lnSpc>
                <a:spcPct val="80000"/>
              </a:lnSpc>
              <a:spcBef>
                <a:spcPts val="0"/>
              </a:spcBef>
              <a:spcAft>
                <a:spcPts val="0"/>
              </a:spcAft>
              <a:buClr>
                <a:schemeClr val="dk1"/>
              </a:buClr>
              <a:buSzPts val="570"/>
              <a:buFont typeface="Arial"/>
              <a:buNone/>
            </a:pPr>
            <a:r>
              <a:rPr lang="en-US" sz="570">
                <a:solidFill>
                  <a:schemeClr val="dk1"/>
                </a:solidFill>
              </a:rPr>
              <a:t>----------------------------------</a:t>
            </a:r>
            <a:endParaRPr/>
          </a:p>
          <a:p>
            <a:pPr marL="0" lvl="0" indent="0" algn="l" rtl="0">
              <a:lnSpc>
                <a:spcPct val="80000"/>
              </a:lnSpc>
              <a:spcBef>
                <a:spcPts val="0"/>
              </a:spcBef>
              <a:spcAft>
                <a:spcPts val="0"/>
              </a:spcAft>
              <a:buNone/>
            </a:pPr>
            <a:r>
              <a:rPr lang="en-US" sz="570" b="1">
                <a:solidFill>
                  <a:schemeClr val="dk1"/>
                </a:solidFill>
              </a:rPr>
              <a:t>Additional Information:</a:t>
            </a:r>
            <a:endParaRPr/>
          </a:p>
          <a:p>
            <a:pPr marL="171450" lvl="0" indent="-171450" algn="l" rtl="0">
              <a:lnSpc>
                <a:spcPct val="80000"/>
              </a:lnSpc>
              <a:spcBef>
                <a:spcPts val="0"/>
              </a:spcBef>
              <a:spcAft>
                <a:spcPts val="0"/>
              </a:spcAft>
              <a:buClr>
                <a:schemeClr val="dk1"/>
              </a:buClr>
              <a:buSzPts val="570"/>
              <a:buFont typeface="Arial"/>
              <a:buChar char="•"/>
            </a:pPr>
            <a:r>
              <a:rPr lang="en-US" sz="570"/>
              <a:t>Design and Operational Guidance for vSAN Storage Clusters:  https://www.vmware.com/docs/vmw-vsan-storage-clusters-design-and-operations </a:t>
            </a:r>
            <a:endParaRPr/>
          </a:p>
          <a:p>
            <a:pPr marL="0" lvl="0" indent="0" algn="l" rtl="0">
              <a:lnSpc>
                <a:spcPct val="80000"/>
              </a:lnSpc>
              <a:spcBef>
                <a:spcPts val="0"/>
              </a:spcBef>
              <a:spcAft>
                <a:spcPts val="0"/>
              </a:spcAft>
              <a:buNone/>
            </a:pPr>
            <a:endParaRPr sz="570"/>
          </a:p>
        </p:txBody>
      </p:sp>
      <p:sp>
        <p:nvSpPr>
          <p:cNvPr id="5400" name="Google Shape;5400;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3"/>
        <p:cNvGrpSpPr/>
        <p:nvPr/>
      </p:nvGrpSpPr>
      <p:grpSpPr>
        <a:xfrm>
          <a:off x="0" y="0"/>
          <a:ext cx="0" cy="0"/>
          <a:chOff x="0" y="0"/>
          <a:chExt cx="0" cy="0"/>
        </a:xfrm>
      </p:grpSpPr>
      <p:sp>
        <p:nvSpPr>
          <p:cNvPr id="5574" name="Google Shape;5574;p2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75" name="Google Shape;5575;p2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480"/>
              <a:buFont typeface="Arial"/>
              <a:buNone/>
            </a:pPr>
            <a:r>
              <a:rPr lang="en-US" sz="480" b="1">
                <a:latin typeface="Arial"/>
                <a:ea typeface="Arial"/>
                <a:cs typeface="Arial"/>
                <a:sym typeface="Arial"/>
              </a:rPr>
              <a:t>Presenter Note:  This slide contains animation</a:t>
            </a:r>
            <a:endParaRPr/>
          </a:p>
          <a:p>
            <a:pPr marL="0" lvl="0" indent="0" algn="l" rtl="0">
              <a:lnSpc>
                <a:spcPct val="80000"/>
              </a:lnSpc>
              <a:spcBef>
                <a:spcPts val="0"/>
              </a:spcBef>
              <a:spcAft>
                <a:spcPts val="0"/>
              </a:spcAft>
              <a:buNone/>
            </a:pPr>
            <a:endParaRPr sz="480" b="1"/>
          </a:p>
          <a:p>
            <a:pPr marL="0" lvl="0" indent="0" algn="l" rtl="0">
              <a:lnSpc>
                <a:spcPct val="80000"/>
              </a:lnSpc>
              <a:spcBef>
                <a:spcPts val="0"/>
              </a:spcBef>
              <a:spcAft>
                <a:spcPts val="0"/>
              </a:spcAft>
              <a:buNone/>
            </a:pPr>
            <a:r>
              <a:rPr lang="en-US" sz="480" b="1"/>
              <a:t>Key Message/Talk track:</a:t>
            </a:r>
            <a:endParaRPr/>
          </a:p>
          <a:p>
            <a:pPr marL="0" lvl="0" indent="0" algn="l" rtl="0">
              <a:lnSpc>
                <a:spcPct val="80000"/>
              </a:lnSpc>
              <a:spcBef>
                <a:spcPts val="0"/>
              </a:spcBef>
              <a:spcAft>
                <a:spcPts val="0"/>
              </a:spcAft>
              <a:buNone/>
            </a:pPr>
            <a:r>
              <a:rPr lang="en-US" sz="480" b="0"/>
              <a:t>vSAN in VCF 9 improves its native file services by increasing the maximum number of shares per cluster.  Now, customers can create as many as 500 shares per cluster, up 250 per cluster from the previous release, and 100 shares per cluster in versions prior.  This enhancement is specifically targeted at customers who use NFS exports for a variety of use cases.  </a:t>
            </a:r>
            <a:r>
              <a:rPr lang="en-US" sz="480" b="1"/>
              <a:t>Whether one chooses to use vSAN file services for departmental file shares, project collaboration, or sophisticated microservices architecture using persistent volumes, the increase scalability will help deliver these capabilities with room to grow.</a:t>
            </a:r>
            <a:r>
              <a:rPr lang="en-US" sz="480" b="0"/>
              <a:t> </a:t>
            </a:r>
            <a:endParaRPr/>
          </a:p>
          <a:p>
            <a:pPr marL="0" lvl="0" indent="0" algn="l" rtl="0">
              <a:lnSpc>
                <a:spcPct val="80000"/>
              </a:lnSpc>
              <a:spcBef>
                <a:spcPts val="0"/>
              </a:spcBef>
              <a:spcAft>
                <a:spcPts val="0"/>
              </a:spcAft>
              <a:buNone/>
            </a:pPr>
            <a:r>
              <a:rPr lang="en-US" sz="480"/>
              <a:t>----------------------------------</a:t>
            </a:r>
            <a:endParaRPr/>
          </a:p>
          <a:p>
            <a:pPr marL="0" lvl="0" indent="0" algn="l" rtl="0">
              <a:lnSpc>
                <a:spcPct val="80000"/>
              </a:lnSpc>
              <a:spcBef>
                <a:spcPts val="0"/>
              </a:spcBef>
              <a:spcAft>
                <a:spcPts val="0"/>
              </a:spcAft>
              <a:buNone/>
            </a:pPr>
            <a:r>
              <a:rPr lang="en-US" sz="480" b="1"/>
              <a:t>Overview:</a:t>
            </a:r>
            <a:endParaRPr/>
          </a:p>
          <a:p>
            <a:pPr marL="171450" lvl="0" indent="-171450" algn="l" rtl="0">
              <a:lnSpc>
                <a:spcPct val="80000"/>
              </a:lnSpc>
              <a:spcBef>
                <a:spcPts val="0"/>
              </a:spcBef>
              <a:spcAft>
                <a:spcPts val="0"/>
              </a:spcAft>
              <a:buClr>
                <a:schemeClr val="dk1"/>
              </a:buClr>
              <a:buSzPts val="480"/>
              <a:buFont typeface="Arial"/>
              <a:buChar char="•"/>
            </a:pPr>
            <a:r>
              <a:rPr lang="en-US" sz="480" b="1">
                <a:solidFill>
                  <a:schemeClr val="dk1"/>
                </a:solidFill>
              </a:rPr>
              <a:t>2x increase </a:t>
            </a:r>
            <a:r>
              <a:rPr lang="en-US" sz="480"/>
              <a:t>in number of shares supported </a:t>
            </a:r>
            <a:r>
              <a:rPr lang="en-US" sz="480" b="1">
                <a:solidFill>
                  <a:schemeClr val="dk1"/>
                </a:solidFill>
              </a:rPr>
              <a:t>per cluster </a:t>
            </a:r>
            <a:r>
              <a:rPr lang="en-US" sz="480"/>
              <a:t>in vSAN File Services</a:t>
            </a:r>
            <a:endParaRPr/>
          </a:p>
          <a:p>
            <a:pPr marL="171450" lvl="0" indent="-171450" algn="l" rtl="0">
              <a:lnSpc>
                <a:spcPct val="80000"/>
              </a:lnSpc>
              <a:spcBef>
                <a:spcPts val="0"/>
              </a:spcBef>
              <a:spcAft>
                <a:spcPts val="0"/>
              </a:spcAft>
              <a:buClr>
                <a:schemeClr val="dk1"/>
              </a:buClr>
              <a:buSzPts val="480"/>
              <a:buFont typeface="Arial"/>
              <a:buChar char="•"/>
            </a:pPr>
            <a:r>
              <a:rPr lang="en-US" sz="480" b="1">
                <a:solidFill>
                  <a:schemeClr val="dk1"/>
                </a:solidFill>
              </a:rPr>
              <a:t>Beneficial </a:t>
            </a:r>
            <a:r>
              <a:rPr lang="en-US" sz="480"/>
              <a:t>to all use cases</a:t>
            </a:r>
            <a:endParaRPr/>
          </a:p>
          <a:p>
            <a:pPr marL="628650" lvl="1" indent="-171450" algn="l" rtl="0">
              <a:lnSpc>
                <a:spcPct val="80000"/>
              </a:lnSpc>
              <a:spcBef>
                <a:spcPts val="0"/>
              </a:spcBef>
              <a:spcAft>
                <a:spcPts val="0"/>
              </a:spcAft>
              <a:buClr>
                <a:schemeClr val="dk1"/>
              </a:buClr>
              <a:buSzPts val="480"/>
              <a:buFont typeface="Arial"/>
              <a:buChar char="•"/>
            </a:pPr>
            <a:r>
              <a:rPr lang="en-US" sz="480"/>
              <a:t>Cloud native workloads using RWX persistent volumes</a:t>
            </a:r>
            <a:endParaRPr/>
          </a:p>
          <a:p>
            <a:pPr marL="628650" lvl="1" indent="-171450" algn="l" rtl="0">
              <a:lnSpc>
                <a:spcPct val="80000"/>
              </a:lnSpc>
              <a:spcBef>
                <a:spcPts val="0"/>
              </a:spcBef>
              <a:spcAft>
                <a:spcPts val="0"/>
              </a:spcAft>
              <a:buClr>
                <a:schemeClr val="dk1"/>
              </a:buClr>
              <a:buSzPts val="480"/>
              <a:buFont typeface="Arial"/>
              <a:buChar char="•"/>
            </a:pPr>
            <a:r>
              <a:rPr lang="en-US" sz="480"/>
              <a:t>NFS or SMB shares for guest VMs</a:t>
            </a:r>
            <a:endParaRPr/>
          </a:p>
          <a:p>
            <a:pPr marL="628650" lvl="1" indent="-171450" algn="l" rtl="0">
              <a:lnSpc>
                <a:spcPct val="80000"/>
              </a:lnSpc>
              <a:spcBef>
                <a:spcPts val="0"/>
              </a:spcBef>
              <a:spcAft>
                <a:spcPts val="0"/>
              </a:spcAft>
              <a:buClr>
                <a:schemeClr val="dk1"/>
              </a:buClr>
              <a:buSzPts val="480"/>
              <a:buFont typeface="Arial"/>
              <a:buChar char="•"/>
            </a:pPr>
            <a:r>
              <a:rPr lang="en-US" sz="480"/>
              <a:t>NFS or SMB for legacy physical servers</a:t>
            </a:r>
            <a:endParaRPr/>
          </a:p>
          <a:p>
            <a:pPr marL="171450" lvl="0" indent="-171450" algn="l" rtl="0">
              <a:lnSpc>
                <a:spcPct val="80000"/>
              </a:lnSpc>
              <a:spcBef>
                <a:spcPts val="0"/>
              </a:spcBef>
              <a:spcAft>
                <a:spcPts val="0"/>
              </a:spcAft>
              <a:buClr>
                <a:schemeClr val="dk1"/>
              </a:buClr>
              <a:buSzPts val="480"/>
              <a:buFont typeface="Arial"/>
              <a:buChar char="•"/>
            </a:pPr>
            <a:r>
              <a:rPr lang="en-US" sz="480"/>
              <a:t>Cluster limit can be a combination of NFS and SMB shares</a:t>
            </a:r>
            <a:endParaRPr/>
          </a:p>
          <a:p>
            <a:pPr marL="628650" lvl="1" indent="-171450" algn="l" rtl="0">
              <a:lnSpc>
                <a:spcPct val="80000"/>
              </a:lnSpc>
              <a:spcBef>
                <a:spcPts val="0"/>
              </a:spcBef>
              <a:spcAft>
                <a:spcPts val="0"/>
              </a:spcAft>
              <a:buClr>
                <a:schemeClr val="dk1"/>
              </a:buClr>
              <a:buSzPts val="480"/>
              <a:buFont typeface="Arial"/>
              <a:buChar char="•"/>
            </a:pPr>
            <a:r>
              <a:rPr lang="en-US" sz="480"/>
              <a:t>No greater than 100 SMB shares per cluster</a:t>
            </a:r>
            <a:endParaRPr/>
          </a:p>
          <a:p>
            <a:pPr marL="0" lvl="0" indent="0" algn="l" rtl="0">
              <a:lnSpc>
                <a:spcPct val="80000"/>
              </a:lnSpc>
              <a:spcBef>
                <a:spcPts val="1779"/>
              </a:spcBef>
              <a:spcAft>
                <a:spcPts val="0"/>
              </a:spcAft>
              <a:buClr>
                <a:schemeClr val="dk1"/>
              </a:buClr>
              <a:buSzPts val="480"/>
              <a:buFont typeface="Arial"/>
              <a:buNone/>
            </a:pPr>
            <a:r>
              <a:rPr lang="en-US" sz="480"/>
              <a:t>----------------------------------</a:t>
            </a:r>
            <a:endParaRPr/>
          </a:p>
          <a:p>
            <a:pPr marL="0" lvl="0" indent="0" algn="l" rtl="0">
              <a:lnSpc>
                <a:spcPct val="80000"/>
              </a:lnSpc>
              <a:spcBef>
                <a:spcPts val="0"/>
              </a:spcBef>
              <a:spcAft>
                <a:spcPts val="0"/>
              </a:spcAft>
              <a:buNone/>
            </a:pPr>
            <a:r>
              <a:rPr lang="en-US" sz="480" b="1"/>
              <a:t>Details:</a:t>
            </a:r>
            <a:endParaRPr/>
          </a:p>
          <a:p>
            <a:pPr marL="171450" lvl="0" indent="-171450" algn="l" rtl="0">
              <a:lnSpc>
                <a:spcPct val="80000"/>
              </a:lnSpc>
              <a:spcBef>
                <a:spcPts val="0"/>
              </a:spcBef>
              <a:spcAft>
                <a:spcPts val="0"/>
              </a:spcAft>
              <a:buClr>
                <a:schemeClr val="dk1"/>
              </a:buClr>
              <a:buSzPts val="480"/>
              <a:buFont typeface="Arial"/>
              <a:buChar char="•"/>
            </a:pPr>
            <a:r>
              <a:rPr lang="en-US" sz="480" b="0"/>
              <a:t>vSAN File Services was initially limited to a maximum of 100 shares per cluster in its debut in vSAN 7.  While this initial limit was sufficient for simple environments with modest needs, it was not sufficient for environments with workloads that required a lot of shares, such as persistent volumes for cloud native workload, or multi-tenant environments.  Since the limit is per cluster, the 100 share limit was especially difficult for environments that were comprised of vSAN clusters with larger host counts, as these typically provided larger capacity, and thus, a need for more shares.</a:t>
            </a:r>
            <a:endParaRPr/>
          </a:p>
          <a:p>
            <a:pPr marL="171450" lvl="0" indent="-171450" algn="l" rtl="0">
              <a:lnSpc>
                <a:spcPct val="80000"/>
              </a:lnSpc>
              <a:spcBef>
                <a:spcPts val="0"/>
              </a:spcBef>
              <a:spcAft>
                <a:spcPts val="0"/>
              </a:spcAft>
              <a:buClr>
                <a:schemeClr val="dk1"/>
              </a:buClr>
              <a:buSzPts val="480"/>
              <a:buFont typeface="Arial"/>
              <a:buChar char="•"/>
            </a:pPr>
            <a:r>
              <a:rPr lang="en-US" sz="480" b="0"/>
              <a:t>vSAN 9 increases the limit of shares per cluster to 500.  This will primarily benefit clusters that more NFS based shares (NFS exports), as a limit of 100 shares will remain for SMB connections.</a:t>
            </a:r>
            <a:endParaRPr/>
          </a:p>
          <a:p>
            <a:pPr marL="171450" lvl="0" indent="-171450" algn="l" rtl="0">
              <a:lnSpc>
                <a:spcPct val="80000"/>
              </a:lnSpc>
              <a:spcBef>
                <a:spcPts val="0"/>
              </a:spcBef>
              <a:spcAft>
                <a:spcPts val="0"/>
              </a:spcAft>
              <a:buClr>
                <a:schemeClr val="dk1"/>
              </a:buClr>
              <a:buSzPts val="480"/>
              <a:buFont typeface="Arial"/>
              <a:buChar char="•"/>
            </a:pPr>
            <a:r>
              <a:rPr lang="en-US" sz="480" b="0"/>
              <a:t>Depending on the circumstances, a container may be responsible one ore more shares.  (Note that it is the container running inside of a FSVM that provides the file service presentation layer, and not the FSVM.)  In vSAN 9, each container vSAN instantiates for file serves may be responsible for up to </a:t>
            </a:r>
            <a:r>
              <a:rPr lang="en-US" sz="480" b="1"/>
              <a:t>50 shares (up from 25 in vSAN 8 U3)</a:t>
            </a:r>
            <a:r>
              <a:rPr lang="en-US" sz="480" b="0"/>
              <a:t>, essentially serving as the mechanism for scaling the quantity of shares supported. For example, a 4 node vSAN cluster with 8 containers running as file servers would be able to provide 400 shares for the cluster.</a:t>
            </a:r>
            <a:endParaRPr/>
          </a:p>
          <a:p>
            <a:pPr marL="628650" lvl="1" indent="-171450" algn="l" rtl="0">
              <a:lnSpc>
                <a:spcPct val="80000"/>
              </a:lnSpc>
              <a:spcBef>
                <a:spcPts val="0"/>
              </a:spcBef>
              <a:spcAft>
                <a:spcPts val="0"/>
              </a:spcAft>
              <a:buClr>
                <a:schemeClr val="dk1"/>
              </a:buClr>
              <a:buSzPts val="480"/>
              <a:buFont typeface="Arial"/>
              <a:buChar char="•"/>
            </a:pPr>
            <a:r>
              <a:rPr lang="en-US" sz="480" b="0"/>
              <a:t>Adding static IP addresses for File Services:</a:t>
            </a:r>
            <a:endParaRPr/>
          </a:p>
          <a:p>
            <a:pPr marL="1085850" lvl="2" indent="-171450" algn="l" rtl="0">
              <a:lnSpc>
                <a:spcPct val="80000"/>
              </a:lnSpc>
              <a:spcBef>
                <a:spcPts val="0"/>
              </a:spcBef>
              <a:spcAft>
                <a:spcPts val="0"/>
              </a:spcAft>
              <a:buClr>
                <a:schemeClr val="dk1"/>
              </a:buClr>
              <a:buSzPts val="480"/>
              <a:buFont typeface="Arial"/>
              <a:buChar char="•"/>
            </a:pPr>
            <a:r>
              <a:rPr lang="en-US" sz="480" b="0"/>
              <a:t>Edit &gt; Edit Domain.  Networking page will list the static IPs used.  Simply add a static IP as desired.</a:t>
            </a:r>
            <a:endParaRPr/>
          </a:p>
          <a:p>
            <a:pPr marL="171450" lvl="0" indent="-171450" algn="l" rtl="0">
              <a:lnSpc>
                <a:spcPct val="80000"/>
              </a:lnSpc>
              <a:spcBef>
                <a:spcPts val="0"/>
              </a:spcBef>
              <a:spcAft>
                <a:spcPts val="0"/>
              </a:spcAft>
              <a:buClr>
                <a:schemeClr val="dk1"/>
              </a:buClr>
              <a:buSzPts val="480"/>
              <a:buFont typeface="Arial"/>
              <a:buChar char="•"/>
            </a:pPr>
            <a:r>
              <a:rPr lang="en-US" sz="480" b="0"/>
              <a:t>The behavior of containers, and the scalability of the shares is also applicable to stretched clusters.  However, with the ability to set affinity of a share on one site or the other, one may need more container file servers on each site to support the necessary number of shares during fully operational or failure conditions.</a:t>
            </a:r>
            <a:endParaRPr/>
          </a:p>
          <a:p>
            <a:pPr marL="171450" lvl="0" indent="-171450" algn="l" rtl="0">
              <a:lnSpc>
                <a:spcPct val="80000"/>
              </a:lnSpc>
              <a:spcBef>
                <a:spcPts val="0"/>
              </a:spcBef>
              <a:spcAft>
                <a:spcPts val="0"/>
              </a:spcAft>
              <a:buClr>
                <a:schemeClr val="dk1"/>
              </a:buClr>
              <a:buSzPts val="480"/>
              <a:buFont typeface="Arial"/>
              <a:buChar char="•"/>
            </a:pPr>
            <a:r>
              <a:rPr lang="en-US" sz="480" b="0"/>
              <a:t>In some circumstances there can be a potential for a failover of containers to other hosts that eventually creates an imbalance across the hosts in the cluster, which will trigger a warning.  For deployments running NFS, this warning can be disregarded, but with any blend of SMB and NFS shares, the containers may need to be manually rebalanced.</a:t>
            </a:r>
            <a:endParaRPr/>
          </a:p>
          <a:p>
            <a:pPr marL="171450" lvl="0" indent="-171450" algn="l" rtl="0">
              <a:lnSpc>
                <a:spcPct val="80000"/>
              </a:lnSpc>
              <a:spcBef>
                <a:spcPts val="0"/>
              </a:spcBef>
              <a:spcAft>
                <a:spcPts val="0"/>
              </a:spcAft>
              <a:buClr>
                <a:schemeClr val="dk1"/>
              </a:buClr>
              <a:buSzPts val="480"/>
              <a:buFont typeface="Arial"/>
              <a:buChar char="•"/>
            </a:pPr>
            <a:r>
              <a:rPr lang="en-US" sz="480" b="0"/>
              <a:t>You can view where containers are created on the FSVMs by performing the following on EACH FSVM in the cluster.</a:t>
            </a:r>
            <a:endParaRPr/>
          </a:p>
          <a:p>
            <a:pPr marL="628650" lvl="1" indent="-171450" algn="l" rtl="0">
              <a:lnSpc>
                <a:spcPct val="80000"/>
              </a:lnSpc>
              <a:spcBef>
                <a:spcPts val="0"/>
              </a:spcBef>
              <a:spcAft>
                <a:spcPts val="0"/>
              </a:spcAft>
              <a:buClr>
                <a:schemeClr val="dk1"/>
              </a:buClr>
              <a:buSzPts val="480"/>
              <a:buFont typeface="Arial"/>
              <a:buChar char="•"/>
            </a:pPr>
            <a:r>
              <a:rPr lang="en-US" sz="480" b="0"/>
              <a:t>In vCenter Server, highlight cluster</a:t>
            </a:r>
            <a:endParaRPr/>
          </a:p>
          <a:p>
            <a:pPr marL="628650" lvl="1" indent="-171450" algn="l" rtl="0">
              <a:lnSpc>
                <a:spcPct val="80000"/>
              </a:lnSpc>
              <a:spcBef>
                <a:spcPts val="0"/>
              </a:spcBef>
              <a:spcAft>
                <a:spcPts val="0"/>
              </a:spcAft>
              <a:buClr>
                <a:schemeClr val="dk1"/>
              </a:buClr>
              <a:buSzPts val="480"/>
              <a:buFont typeface="Arial"/>
              <a:buChar char="•"/>
            </a:pPr>
            <a:r>
              <a:rPr lang="en-US" sz="480" b="0"/>
              <a:t>On VM under “ESX agents” click a vSAN File Services node</a:t>
            </a:r>
            <a:endParaRPr/>
          </a:p>
          <a:p>
            <a:pPr marL="628650" lvl="1" indent="-171450" algn="l" rtl="0">
              <a:lnSpc>
                <a:spcPct val="80000"/>
              </a:lnSpc>
              <a:spcBef>
                <a:spcPts val="0"/>
              </a:spcBef>
              <a:spcAft>
                <a:spcPts val="0"/>
              </a:spcAft>
              <a:buClr>
                <a:schemeClr val="dk1"/>
              </a:buClr>
              <a:buSzPts val="480"/>
              <a:buFont typeface="Arial"/>
              <a:buChar char="•"/>
            </a:pPr>
            <a:r>
              <a:rPr lang="en-US" sz="480" b="0"/>
              <a:t>Click “Launch Web Console” and click “Yes.”</a:t>
            </a:r>
            <a:endParaRPr/>
          </a:p>
          <a:p>
            <a:pPr marL="628650" lvl="1" indent="-171450" algn="l" rtl="0">
              <a:lnSpc>
                <a:spcPct val="80000"/>
              </a:lnSpc>
              <a:spcBef>
                <a:spcPts val="0"/>
              </a:spcBef>
              <a:spcAft>
                <a:spcPts val="0"/>
              </a:spcAft>
              <a:buClr>
                <a:schemeClr val="dk1"/>
              </a:buClr>
              <a:buSzPts val="480"/>
              <a:buFont typeface="Arial"/>
              <a:buChar char="•"/>
            </a:pPr>
            <a:r>
              <a:rPr lang="en-US" sz="480" b="0"/>
              <a:t>On console tab, log in as root/vmware</a:t>
            </a:r>
            <a:endParaRPr sz="480" b="0"/>
          </a:p>
          <a:p>
            <a:pPr marL="628650" lvl="1" indent="-171450" algn="l" rtl="0">
              <a:lnSpc>
                <a:spcPct val="80000"/>
              </a:lnSpc>
              <a:spcBef>
                <a:spcPts val="0"/>
              </a:spcBef>
              <a:spcAft>
                <a:spcPts val="0"/>
              </a:spcAft>
              <a:buClr>
                <a:schemeClr val="dk1"/>
              </a:buClr>
              <a:buSzPts val="480"/>
              <a:buFont typeface="Arial"/>
              <a:buChar char="•"/>
            </a:pPr>
            <a:r>
              <a:rPr lang="en-US" sz="480" b="0"/>
              <a:t>Enter:  docker ps</a:t>
            </a:r>
            <a:endParaRPr sz="480" b="0"/>
          </a:p>
          <a:p>
            <a:pPr marL="628650" lvl="1" indent="-171450" algn="l" rtl="0">
              <a:lnSpc>
                <a:spcPct val="80000"/>
              </a:lnSpc>
              <a:spcBef>
                <a:spcPts val="0"/>
              </a:spcBef>
              <a:spcAft>
                <a:spcPts val="0"/>
              </a:spcAft>
              <a:buClr>
                <a:schemeClr val="dk1"/>
              </a:buClr>
              <a:buSzPts val="480"/>
              <a:buFont typeface="Arial"/>
              <a:buChar char="•"/>
            </a:pPr>
            <a:r>
              <a:rPr lang="en-US" sz="480" b="0"/>
              <a:t>See “created time” for all containers.</a:t>
            </a:r>
            <a:endParaRPr/>
          </a:p>
          <a:p>
            <a:pPr marL="171450" lvl="0" indent="-171450" algn="l" rtl="0">
              <a:lnSpc>
                <a:spcPct val="80000"/>
              </a:lnSpc>
              <a:spcBef>
                <a:spcPts val="0"/>
              </a:spcBef>
              <a:spcAft>
                <a:spcPts val="0"/>
              </a:spcAft>
              <a:buClr>
                <a:schemeClr val="dk1"/>
              </a:buClr>
              <a:buSzPts val="480"/>
              <a:buFont typeface="Arial"/>
              <a:buChar char="•"/>
            </a:pPr>
            <a:r>
              <a:rPr lang="en-US" sz="480" b="0"/>
              <a:t>More shares supported and used will generally equate to more memory used on the hosts, but this may be largely imperceptible. </a:t>
            </a:r>
            <a:endParaRPr/>
          </a:p>
          <a:p>
            <a:pPr marL="171450" lvl="0" indent="-171450" algn="l" rtl="0">
              <a:lnSpc>
                <a:spcPct val="80000"/>
              </a:lnSpc>
              <a:spcBef>
                <a:spcPts val="0"/>
              </a:spcBef>
              <a:spcAft>
                <a:spcPts val="0"/>
              </a:spcAft>
              <a:buClr>
                <a:schemeClr val="dk1"/>
              </a:buClr>
              <a:buSzPts val="480"/>
              <a:buFont typeface="Arial"/>
              <a:buChar char="•"/>
            </a:pPr>
            <a:r>
              <a:rPr lang="en-US" sz="480" b="0"/>
              <a:t>Support of the new limit is contingent on the following prerequisites.</a:t>
            </a:r>
            <a:endParaRPr/>
          </a:p>
          <a:p>
            <a:pPr marL="628650" lvl="1" indent="-171450" algn="l" rtl="0">
              <a:lnSpc>
                <a:spcPct val="80000"/>
              </a:lnSpc>
              <a:spcBef>
                <a:spcPts val="0"/>
              </a:spcBef>
              <a:spcAft>
                <a:spcPts val="0"/>
              </a:spcAft>
              <a:buClr>
                <a:schemeClr val="dk1"/>
              </a:buClr>
              <a:buSzPts val="480"/>
              <a:buFont typeface="Arial"/>
              <a:buChar char="•"/>
            </a:pPr>
            <a:r>
              <a:rPr lang="en-US" sz="480" b="0"/>
              <a:t>vCenter Server updated</a:t>
            </a:r>
            <a:endParaRPr/>
          </a:p>
          <a:p>
            <a:pPr marL="628650" lvl="1" indent="-171450" algn="l" rtl="0">
              <a:lnSpc>
                <a:spcPct val="80000"/>
              </a:lnSpc>
              <a:spcBef>
                <a:spcPts val="0"/>
              </a:spcBef>
              <a:spcAft>
                <a:spcPts val="0"/>
              </a:spcAft>
              <a:buClr>
                <a:schemeClr val="dk1"/>
              </a:buClr>
              <a:buSzPts val="480"/>
              <a:buFont typeface="Arial"/>
              <a:buChar char="•"/>
            </a:pPr>
            <a:r>
              <a:rPr lang="en-US" sz="480" b="0"/>
              <a:t>All ESX hosts in cluster updated</a:t>
            </a:r>
            <a:endParaRPr/>
          </a:p>
          <a:p>
            <a:pPr marL="628650" lvl="1" indent="-171450" algn="l" rtl="0">
              <a:lnSpc>
                <a:spcPct val="80000"/>
              </a:lnSpc>
              <a:spcBef>
                <a:spcPts val="0"/>
              </a:spcBef>
              <a:spcAft>
                <a:spcPts val="0"/>
              </a:spcAft>
              <a:buClr>
                <a:schemeClr val="dk1"/>
              </a:buClr>
              <a:buSzPts val="480"/>
              <a:buFont typeface="Arial"/>
              <a:buChar char="•"/>
            </a:pPr>
            <a:r>
              <a:rPr lang="en-US" sz="480" b="0"/>
              <a:t>The Disk Format Conversion (DFC) upgraded. Reported in UI.</a:t>
            </a:r>
            <a:endParaRPr/>
          </a:p>
          <a:p>
            <a:pPr marL="628650" lvl="1" indent="-171450" algn="l" rtl="0">
              <a:lnSpc>
                <a:spcPct val="80000"/>
              </a:lnSpc>
              <a:spcBef>
                <a:spcPts val="0"/>
              </a:spcBef>
              <a:spcAft>
                <a:spcPts val="0"/>
              </a:spcAft>
              <a:buClr>
                <a:schemeClr val="dk1"/>
              </a:buClr>
              <a:buSzPts val="480"/>
              <a:buFont typeface="Arial"/>
              <a:buChar char="•"/>
            </a:pPr>
            <a:r>
              <a:rPr lang="en-US" sz="480" b="0"/>
              <a:t>Any remaining updates via the File Services VMs (FSVMs).  Reported in UI.</a:t>
            </a:r>
            <a:endParaRPr/>
          </a:p>
          <a:p>
            <a:pPr marL="171450" lvl="0" indent="-171450" algn="l" rtl="0">
              <a:lnSpc>
                <a:spcPct val="80000"/>
              </a:lnSpc>
              <a:spcBef>
                <a:spcPts val="0"/>
              </a:spcBef>
              <a:spcAft>
                <a:spcPts val="0"/>
              </a:spcAft>
              <a:buClr>
                <a:schemeClr val="dk1"/>
              </a:buClr>
              <a:buSzPts val="480"/>
              <a:buFont typeface="Arial"/>
              <a:buChar char="•"/>
            </a:pPr>
            <a:r>
              <a:rPr lang="en-US" sz="480" b="0"/>
              <a:t>Common use cases for vSAN File Services under this expanded support of file shares</a:t>
            </a:r>
            <a:endParaRPr/>
          </a:p>
          <a:p>
            <a:pPr marL="628650" lvl="1" indent="-171450" algn="l" rtl="0">
              <a:lnSpc>
                <a:spcPct val="80000"/>
              </a:lnSpc>
              <a:spcBef>
                <a:spcPts val="0"/>
              </a:spcBef>
              <a:spcAft>
                <a:spcPts val="0"/>
              </a:spcAft>
              <a:buClr>
                <a:schemeClr val="dk1"/>
              </a:buClr>
              <a:buSzPts val="480"/>
              <a:buFont typeface="Arial"/>
              <a:buChar char="•"/>
            </a:pPr>
            <a:r>
              <a:rPr lang="en-US" sz="480" b="0"/>
              <a:t>General purpose file shares – flat file storage</a:t>
            </a:r>
            <a:endParaRPr/>
          </a:p>
          <a:p>
            <a:pPr marL="628650" lvl="1" indent="-171450" algn="l" rtl="0">
              <a:lnSpc>
                <a:spcPct val="80000"/>
              </a:lnSpc>
              <a:spcBef>
                <a:spcPts val="0"/>
              </a:spcBef>
              <a:spcAft>
                <a:spcPts val="0"/>
              </a:spcAft>
              <a:buClr>
                <a:schemeClr val="dk1"/>
              </a:buClr>
              <a:buSzPts val="480"/>
              <a:buFont typeface="Arial"/>
              <a:buChar char="•"/>
            </a:pPr>
            <a:r>
              <a:rPr lang="en-US" sz="480" b="0"/>
              <a:t>User home directories</a:t>
            </a:r>
            <a:endParaRPr/>
          </a:p>
          <a:p>
            <a:pPr marL="628650" lvl="1" indent="-171450" algn="l" rtl="0">
              <a:lnSpc>
                <a:spcPct val="80000"/>
              </a:lnSpc>
              <a:spcBef>
                <a:spcPts val="0"/>
              </a:spcBef>
              <a:spcAft>
                <a:spcPts val="0"/>
              </a:spcAft>
              <a:buClr>
                <a:schemeClr val="dk1"/>
              </a:buClr>
              <a:buSzPts val="480"/>
              <a:buFont typeface="Arial"/>
              <a:buChar char="•"/>
            </a:pPr>
            <a:r>
              <a:rPr lang="en-US" sz="480" b="0"/>
              <a:t>Application data</a:t>
            </a:r>
            <a:endParaRPr/>
          </a:p>
          <a:p>
            <a:pPr marL="628650" lvl="1" indent="-171450" algn="l" rtl="0">
              <a:lnSpc>
                <a:spcPct val="80000"/>
              </a:lnSpc>
              <a:spcBef>
                <a:spcPts val="0"/>
              </a:spcBef>
              <a:spcAft>
                <a:spcPts val="0"/>
              </a:spcAft>
              <a:buClr>
                <a:schemeClr val="dk1"/>
              </a:buClr>
              <a:buSzPts val="480"/>
              <a:buFont typeface="Arial"/>
              <a:buChar char="•"/>
            </a:pPr>
            <a:r>
              <a:rPr lang="en-US" sz="480" b="0"/>
              <a:t>Content repositories.  Videos, images, etc.</a:t>
            </a:r>
            <a:endParaRPr/>
          </a:p>
          <a:p>
            <a:pPr marL="628650" lvl="1" indent="-171450" algn="l" rtl="0">
              <a:lnSpc>
                <a:spcPct val="80000"/>
              </a:lnSpc>
              <a:spcBef>
                <a:spcPts val="0"/>
              </a:spcBef>
              <a:spcAft>
                <a:spcPts val="0"/>
              </a:spcAft>
              <a:buClr>
                <a:schemeClr val="dk1"/>
              </a:buClr>
              <a:buSzPts val="480"/>
              <a:buFont typeface="Arial"/>
              <a:buChar char="•"/>
            </a:pPr>
            <a:r>
              <a:rPr lang="en-US" sz="480" b="0"/>
              <a:t>Backup and archival</a:t>
            </a:r>
            <a:endParaRPr/>
          </a:p>
          <a:p>
            <a:pPr marL="628650" lvl="1" indent="-171450" algn="l" rtl="0">
              <a:lnSpc>
                <a:spcPct val="80000"/>
              </a:lnSpc>
              <a:spcBef>
                <a:spcPts val="0"/>
              </a:spcBef>
              <a:spcAft>
                <a:spcPts val="0"/>
              </a:spcAft>
              <a:buClr>
                <a:schemeClr val="dk1"/>
              </a:buClr>
              <a:buSzPts val="480"/>
              <a:buFont typeface="Arial"/>
              <a:buChar char="•"/>
            </a:pPr>
            <a:r>
              <a:rPr lang="en-US" sz="480" b="0"/>
              <a:t>Edge/remote office scenarios</a:t>
            </a:r>
            <a:endParaRPr/>
          </a:p>
          <a:p>
            <a:pPr marL="171450" lvl="0" indent="-171450" algn="l" rtl="0">
              <a:lnSpc>
                <a:spcPct val="80000"/>
              </a:lnSpc>
              <a:spcBef>
                <a:spcPts val="0"/>
              </a:spcBef>
              <a:spcAft>
                <a:spcPts val="0"/>
              </a:spcAft>
              <a:buClr>
                <a:schemeClr val="dk1"/>
              </a:buClr>
              <a:buSzPts val="480"/>
              <a:buFont typeface="Arial"/>
              <a:buChar char="•"/>
            </a:pPr>
            <a:r>
              <a:rPr lang="en-US" sz="480" b="0"/>
              <a:t>vSAN 9.0 does introduce the use of 10P for NFS servers.  This will help with metadata handling, and will make noticeable improvements in performance.  </a:t>
            </a:r>
            <a:endParaRPr/>
          </a:p>
          <a:p>
            <a:pPr marL="171450" lvl="0" indent="-171450" algn="l" rtl="0">
              <a:lnSpc>
                <a:spcPct val="80000"/>
              </a:lnSpc>
              <a:spcBef>
                <a:spcPts val="0"/>
              </a:spcBef>
              <a:spcAft>
                <a:spcPts val="0"/>
              </a:spcAft>
              <a:buClr>
                <a:schemeClr val="dk1"/>
              </a:buClr>
              <a:buSzPts val="480"/>
              <a:buFont typeface="Arial"/>
              <a:buChar char="•"/>
            </a:pPr>
            <a:r>
              <a:rPr lang="en-US" sz="480" b="0"/>
              <a:t>The support of up to 500 shares per cluster is for both aggregated vSAN HCI clusters and disaggregated vSAN storage clusters.</a:t>
            </a:r>
            <a:endParaRPr/>
          </a:p>
          <a:p>
            <a:pPr marL="171450" lvl="0" indent="-171450" algn="l" rtl="0">
              <a:lnSpc>
                <a:spcPct val="80000"/>
              </a:lnSpc>
              <a:spcBef>
                <a:spcPts val="0"/>
              </a:spcBef>
              <a:spcAft>
                <a:spcPts val="0"/>
              </a:spcAft>
              <a:buClr>
                <a:schemeClr val="dk1"/>
              </a:buClr>
              <a:buSzPts val="480"/>
              <a:buFont typeface="Arial"/>
              <a:buChar char="•"/>
            </a:pPr>
            <a:r>
              <a:rPr lang="en-US" sz="480" b="0"/>
              <a:t>Additional optimizations help reduce memory consumption in found in file services for vSAN 8 U3.</a:t>
            </a:r>
            <a:endParaRPr/>
          </a:p>
          <a:p>
            <a:pPr marL="0" lvl="0" indent="0" algn="l" rtl="0">
              <a:lnSpc>
                <a:spcPct val="80000"/>
              </a:lnSpc>
              <a:spcBef>
                <a:spcPts val="0"/>
              </a:spcBef>
              <a:spcAft>
                <a:spcPts val="0"/>
              </a:spcAft>
              <a:buClr>
                <a:schemeClr val="dk1"/>
              </a:buClr>
              <a:buSzPts val="480"/>
              <a:buFont typeface="Arial"/>
              <a:buNone/>
            </a:pPr>
            <a:r>
              <a:rPr lang="en-US" sz="480" b="1" u="sng"/>
              <a:t>Limitations</a:t>
            </a:r>
            <a:endParaRPr/>
          </a:p>
          <a:p>
            <a:pPr marL="171450" lvl="0" indent="-171450" algn="l" rtl="0">
              <a:lnSpc>
                <a:spcPct val="80000"/>
              </a:lnSpc>
              <a:spcBef>
                <a:spcPts val="0"/>
              </a:spcBef>
              <a:spcAft>
                <a:spcPts val="0"/>
              </a:spcAft>
              <a:buClr>
                <a:schemeClr val="dk1"/>
              </a:buClr>
              <a:buSzPts val="480"/>
              <a:buFont typeface="Arial"/>
              <a:buChar char="•"/>
            </a:pPr>
            <a:r>
              <a:rPr lang="en-US" sz="480" b="0" u="none"/>
              <a:t>This enhancement is limited to vSAN File Services running on a cluster powered by vSAN ESA only.  It is </a:t>
            </a:r>
            <a:r>
              <a:rPr lang="en-US" sz="480" b="0" u="sng"/>
              <a:t>not</a:t>
            </a:r>
            <a:r>
              <a:rPr lang="en-US" sz="480" b="0" u="none"/>
              <a:t> applicable to clusters running OSA.</a:t>
            </a:r>
            <a:endParaRPr/>
          </a:p>
          <a:p>
            <a:pPr marL="171450" lvl="0" indent="-171450" algn="l" rtl="0">
              <a:lnSpc>
                <a:spcPct val="80000"/>
              </a:lnSpc>
              <a:spcBef>
                <a:spcPts val="0"/>
              </a:spcBef>
              <a:spcAft>
                <a:spcPts val="0"/>
              </a:spcAft>
              <a:buClr>
                <a:schemeClr val="dk1"/>
              </a:buClr>
              <a:buSzPts val="480"/>
              <a:buFont typeface="Arial"/>
              <a:buChar char="•"/>
            </a:pPr>
            <a:r>
              <a:rPr lang="en-US" sz="480" b="0" u="none"/>
              <a:t>While the total number of shares supported has increased, the limit for SMB shares remains at 100 per cluster (hard limit). This should be sufficient in many cases since many of the scenarios for higher share counts related to the use of persistent volume.</a:t>
            </a:r>
            <a:endParaRPr/>
          </a:p>
          <a:p>
            <a:pPr marL="171450" lvl="0" indent="-171450" algn="l" rtl="0">
              <a:lnSpc>
                <a:spcPct val="80000"/>
              </a:lnSpc>
              <a:spcBef>
                <a:spcPts val="0"/>
              </a:spcBef>
              <a:spcAft>
                <a:spcPts val="0"/>
              </a:spcAft>
              <a:buClr>
                <a:schemeClr val="dk1"/>
              </a:buClr>
              <a:buSzPts val="480"/>
              <a:buFont typeface="Arial"/>
              <a:buChar char="•"/>
            </a:pPr>
            <a:r>
              <a:rPr lang="en-US" sz="480" b="0" u="none"/>
              <a:t>The containers themselves have a hard limit of 50 shares per container, but more than one container can be running on the host.  This is considered an implementation detail, and not something the customer needs to focus on.</a:t>
            </a:r>
            <a:endParaRPr/>
          </a:p>
          <a:p>
            <a:pPr marL="171450" lvl="0" indent="-171450" algn="l" rtl="0">
              <a:lnSpc>
                <a:spcPct val="80000"/>
              </a:lnSpc>
              <a:spcBef>
                <a:spcPts val="0"/>
              </a:spcBef>
              <a:spcAft>
                <a:spcPts val="0"/>
              </a:spcAft>
              <a:buClr>
                <a:schemeClr val="dk1"/>
              </a:buClr>
              <a:buSzPts val="480"/>
              <a:buFont typeface="Arial"/>
              <a:buChar char="•"/>
            </a:pPr>
            <a:r>
              <a:rPr lang="en-US" sz="480" b="0" u="none"/>
              <a:t>1,000 NFS connections per container.  Note that nuanced limitations of vSAN file services generally are not publicized for a variety of reasons, but limits such as the connections per container may be accounted for in updated health checks.</a:t>
            </a:r>
            <a:endParaRPr/>
          </a:p>
          <a:p>
            <a:pPr marL="0" marR="0" lvl="0" indent="0" algn="l" rtl="0">
              <a:lnSpc>
                <a:spcPct val="80000"/>
              </a:lnSpc>
              <a:spcBef>
                <a:spcPts val="0"/>
              </a:spcBef>
              <a:spcAft>
                <a:spcPts val="0"/>
              </a:spcAft>
              <a:buClr>
                <a:schemeClr val="dk1"/>
              </a:buClr>
              <a:buSzPts val="480"/>
              <a:buFont typeface="Arial"/>
              <a:buNone/>
            </a:pPr>
            <a:r>
              <a:rPr lang="en-US" sz="480" b="1" u="sng"/>
              <a:t>Positioning</a:t>
            </a:r>
            <a:endParaRPr/>
          </a:p>
          <a:p>
            <a:pPr marL="171450" marR="0" lvl="0" indent="-171450" algn="l" rtl="0">
              <a:lnSpc>
                <a:spcPct val="80000"/>
              </a:lnSpc>
              <a:spcBef>
                <a:spcPts val="0"/>
              </a:spcBef>
              <a:spcAft>
                <a:spcPts val="0"/>
              </a:spcAft>
              <a:buClr>
                <a:schemeClr val="dk1"/>
              </a:buClr>
              <a:buSzPts val="480"/>
              <a:buFont typeface="Arial"/>
              <a:buChar char="•"/>
            </a:pPr>
            <a:r>
              <a:rPr lang="en-US" sz="480" b="1"/>
              <a:t>Feature value in one sentence.</a:t>
            </a:r>
            <a:r>
              <a:rPr lang="en-US" sz="480" b="0"/>
              <a:t>  The improved scalability of vSAN File Services in vSAN ESA will give VMware Cloud Foundation environments a much greater ability to support their file sharing requirements.</a:t>
            </a:r>
            <a:endParaRPr/>
          </a:p>
          <a:p>
            <a:pPr marL="171450" marR="0" lvl="0" indent="-171450" algn="l" rtl="0">
              <a:lnSpc>
                <a:spcPct val="80000"/>
              </a:lnSpc>
              <a:spcBef>
                <a:spcPts val="0"/>
              </a:spcBef>
              <a:spcAft>
                <a:spcPts val="0"/>
              </a:spcAft>
              <a:buClr>
                <a:schemeClr val="dk1"/>
              </a:buClr>
              <a:buSzPts val="480"/>
              <a:buFont typeface="Arial"/>
              <a:buChar char="•"/>
            </a:pPr>
            <a:r>
              <a:rPr lang="en-US" sz="480" b="1" u="none"/>
              <a:t>Common Use Cases.</a:t>
            </a:r>
            <a:endParaRPr/>
          </a:p>
          <a:p>
            <a:pPr marL="628650" marR="0" lvl="1" indent="-171450" algn="l" rtl="0">
              <a:lnSpc>
                <a:spcPct val="80000"/>
              </a:lnSpc>
              <a:spcBef>
                <a:spcPts val="0"/>
              </a:spcBef>
              <a:spcAft>
                <a:spcPts val="0"/>
              </a:spcAft>
              <a:buClr>
                <a:schemeClr val="dk1"/>
              </a:buClr>
              <a:buSzPts val="480"/>
              <a:buFont typeface="Arial"/>
              <a:buChar char="•"/>
            </a:pPr>
            <a:r>
              <a:rPr lang="en-US" sz="480" b="0" u="none"/>
              <a:t>Cloud native workloads using RWX for persistent volumes</a:t>
            </a:r>
            <a:endParaRPr/>
          </a:p>
          <a:p>
            <a:pPr marL="628650" marR="0" lvl="1" indent="-171450" algn="l" rtl="0">
              <a:lnSpc>
                <a:spcPct val="80000"/>
              </a:lnSpc>
              <a:spcBef>
                <a:spcPts val="0"/>
              </a:spcBef>
              <a:spcAft>
                <a:spcPts val="0"/>
              </a:spcAft>
              <a:buClr>
                <a:schemeClr val="dk1"/>
              </a:buClr>
              <a:buSzPts val="480"/>
              <a:buFont typeface="Arial"/>
              <a:buChar char="•"/>
            </a:pPr>
            <a:r>
              <a:rPr lang="en-US" sz="480" b="0" u="none"/>
              <a:t>NFS or SMB shares for guest VMs</a:t>
            </a:r>
            <a:endParaRPr/>
          </a:p>
          <a:p>
            <a:pPr marL="628650" marR="0" lvl="1" indent="-171450" algn="l" rtl="0">
              <a:lnSpc>
                <a:spcPct val="80000"/>
              </a:lnSpc>
              <a:spcBef>
                <a:spcPts val="0"/>
              </a:spcBef>
              <a:spcAft>
                <a:spcPts val="0"/>
              </a:spcAft>
              <a:buClr>
                <a:schemeClr val="dk1"/>
              </a:buClr>
              <a:buSzPts val="480"/>
              <a:buFont typeface="Arial"/>
              <a:buChar char="•"/>
            </a:pPr>
            <a:r>
              <a:rPr lang="en-US" sz="480" b="0" u="none"/>
              <a:t>NFS or SMB for legacy physical servers.</a:t>
            </a:r>
            <a:endParaRPr/>
          </a:p>
          <a:p>
            <a:pPr marL="0" marR="0" lvl="0" indent="0" algn="l" rtl="0">
              <a:lnSpc>
                <a:spcPct val="80000"/>
              </a:lnSpc>
              <a:spcBef>
                <a:spcPts val="0"/>
              </a:spcBef>
              <a:spcAft>
                <a:spcPts val="0"/>
              </a:spcAft>
              <a:buClr>
                <a:schemeClr val="dk1"/>
              </a:buClr>
              <a:buSzPts val="480"/>
              <a:buFont typeface="Arial"/>
              <a:buNone/>
            </a:pPr>
            <a:r>
              <a:rPr lang="en-US" sz="480">
                <a:solidFill>
                  <a:schemeClr val="dk1"/>
                </a:solidFill>
              </a:rPr>
              <a:t>----------------------------------</a:t>
            </a:r>
            <a:endParaRPr/>
          </a:p>
          <a:p>
            <a:pPr marL="0" lvl="0" indent="0" algn="l" rtl="0">
              <a:lnSpc>
                <a:spcPct val="80000"/>
              </a:lnSpc>
              <a:spcBef>
                <a:spcPts val="0"/>
              </a:spcBef>
              <a:spcAft>
                <a:spcPts val="0"/>
              </a:spcAft>
              <a:buNone/>
            </a:pPr>
            <a:r>
              <a:rPr lang="en-US" sz="480" b="1">
                <a:solidFill>
                  <a:schemeClr val="dk1"/>
                </a:solidFill>
              </a:rPr>
              <a:t>Additional Information:</a:t>
            </a:r>
            <a:endParaRPr/>
          </a:p>
        </p:txBody>
      </p:sp>
      <p:sp>
        <p:nvSpPr>
          <p:cNvPr id="5576" name="Google Shape;5576;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7"/>
        <p:cNvGrpSpPr/>
        <p:nvPr/>
      </p:nvGrpSpPr>
      <p:grpSpPr>
        <a:xfrm>
          <a:off x="0" y="0"/>
          <a:ext cx="0" cy="0"/>
          <a:chOff x="0" y="0"/>
          <a:chExt cx="0" cy="0"/>
        </a:xfrm>
      </p:grpSpPr>
      <p:sp>
        <p:nvSpPr>
          <p:cNvPr id="5818" name="Google Shape;5818;p2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19" name="Google Shape;5819;p2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chemeClr val="dk1"/>
              </a:buClr>
              <a:buSzPts val="660"/>
              <a:buFont typeface="Arial"/>
              <a:buNone/>
            </a:pPr>
            <a:r>
              <a:rPr lang="en-US" sz="660" b="1">
                <a:latin typeface="Arial"/>
                <a:ea typeface="Arial"/>
                <a:cs typeface="Arial"/>
                <a:sym typeface="Arial"/>
              </a:rPr>
              <a:t>Presenter Note:  This slide contains animation</a:t>
            </a:r>
            <a:endParaRPr/>
          </a:p>
          <a:p>
            <a:pPr marL="0" lvl="0" indent="0" algn="l" rtl="0">
              <a:lnSpc>
                <a:spcPct val="80000"/>
              </a:lnSpc>
              <a:spcBef>
                <a:spcPts val="0"/>
              </a:spcBef>
              <a:spcAft>
                <a:spcPts val="0"/>
              </a:spcAft>
              <a:buNone/>
            </a:pPr>
            <a:endParaRPr sz="660" b="1"/>
          </a:p>
          <a:p>
            <a:pPr marL="0" lvl="0" indent="0" algn="l" rtl="0">
              <a:lnSpc>
                <a:spcPct val="80000"/>
              </a:lnSpc>
              <a:spcBef>
                <a:spcPts val="0"/>
              </a:spcBef>
              <a:spcAft>
                <a:spcPts val="0"/>
              </a:spcAft>
              <a:buNone/>
            </a:pPr>
            <a:r>
              <a:rPr lang="en-US" sz="660" b="1"/>
              <a:t>Key Message/Talk track:</a:t>
            </a:r>
            <a:endParaRPr/>
          </a:p>
          <a:p>
            <a:pPr marL="0" lvl="0" indent="0" algn="l" rtl="0">
              <a:lnSpc>
                <a:spcPct val="80000"/>
              </a:lnSpc>
              <a:spcBef>
                <a:spcPts val="0"/>
              </a:spcBef>
              <a:spcAft>
                <a:spcPts val="0"/>
              </a:spcAft>
              <a:buNone/>
            </a:pPr>
            <a:r>
              <a:rPr lang="en-US" sz="660" b="0"/>
              <a:t>vSAN stretched clusters are an extraordinarily popular topology deployed by a large percentage of our customers.  Stretched clusters have proven to be an easy and reliable way to achieve site-level resilience without some of the complexity associated with metro storage clusters using storage arrays.  </a:t>
            </a:r>
            <a:r>
              <a:rPr lang="en-US" sz="660" b="1"/>
              <a:t>For VCF 9.0, vSAN introduces new features that improve the flexibility, uptime, and operational tasks for stretched clusters.  </a:t>
            </a:r>
            <a:r>
              <a:rPr lang="en-US" sz="660" b="0"/>
              <a:t>First, is the support of stretched compute clusters mounting the datastore of a stretched vSAN storage cluster, making stretched clustering for vSphere clusters easy.   Next, the new site-wide maintenance capability takes the concept of “maintenance mode” to the site level for a stretched cluster.  And third, the manual site takeover feature gives the administrator a self-service way to recover a single site in the event of a severe double site failure of a stretched cluster.  We’ll elaborate on these features in the following slides, but you can already see how these enhancements show our commitment to making stretched clusters flexible and resilient for all of our customers.</a:t>
            </a:r>
            <a:endParaRPr/>
          </a:p>
          <a:p>
            <a:pPr marL="0" lvl="0" indent="0" algn="l" rtl="0">
              <a:lnSpc>
                <a:spcPct val="80000"/>
              </a:lnSpc>
              <a:spcBef>
                <a:spcPts val="0"/>
              </a:spcBef>
              <a:spcAft>
                <a:spcPts val="0"/>
              </a:spcAft>
              <a:buNone/>
            </a:pPr>
            <a:r>
              <a:rPr lang="en-US" sz="660"/>
              <a:t>----------------------------------</a:t>
            </a:r>
            <a:endParaRPr/>
          </a:p>
          <a:p>
            <a:pPr marL="0" lvl="0" indent="0" algn="l" rtl="0">
              <a:lnSpc>
                <a:spcPct val="80000"/>
              </a:lnSpc>
              <a:spcBef>
                <a:spcPts val="0"/>
              </a:spcBef>
              <a:spcAft>
                <a:spcPts val="0"/>
              </a:spcAft>
              <a:buNone/>
            </a:pPr>
            <a:r>
              <a:rPr lang="en-US" sz="660" b="1"/>
              <a:t>Overview:</a:t>
            </a:r>
            <a:endParaRPr/>
          </a:p>
          <a:p>
            <a:pPr marL="171450" lvl="0" indent="-171450" algn="l" rtl="0">
              <a:lnSpc>
                <a:spcPct val="80000"/>
              </a:lnSpc>
              <a:spcBef>
                <a:spcPts val="0"/>
              </a:spcBef>
              <a:spcAft>
                <a:spcPts val="0"/>
              </a:spcAft>
              <a:buClr>
                <a:schemeClr val="dk1"/>
              </a:buClr>
              <a:buSzPts val="660"/>
              <a:buFont typeface="Arial"/>
              <a:buChar char="•"/>
            </a:pPr>
            <a:r>
              <a:rPr lang="en-US" sz="660"/>
              <a:t>Stretched vSphere and vSAN storage cluster</a:t>
            </a:r>
            <a:endParaRPr/>
          </a:p>
          <a:p>
            <a:pPr marL="628650" lvl="1" indent="-171450" algn="l" rtl="0">
              <a:lnSpc>
                <a:spcPct val="80000"/>
              </a:lnSpc>
              <a:spcBef>
                <a:spcPts val="0"/>
              </a:spcBef>
              <a:spcAft>
                <a:spcPts val="0"/>
              </a:spcAft>
              <a:buClr>
                <a:schemeClr val="dk1"/>
              </a:buClr>
              <a:buSzPts val="660"/>
              <a:buFont typeface="Arial"/>
              <a:buChar char="•"/>
            </a:pPr>
            <a:r>
              <a:rPr lang="en-US" sz="660"/>
              <a:t>Site resilience of compute and disaggregated storage</a:t>
            </a:r>
            <a:endParaRPr/>
          </a:p>
          <a:p>
            <a:pPr marL="171450" lvl="0" indent="-171450" algn="l" rtl="0">
              <a:lnSpc>
                <a:spcPct val="80000"/>
              </a:lnSpc>
              <a:spcBef>
                <a:spcPts val="0"/>
              </a:spcBef>
              <a:spcAft>
                <a:spcPts val="0"/>
              </a:spcAft>
              <a:buClr>
                <a:schemeClr val="dk1"/>
              </a:buClr>
              <a:buSzPts val="660"/>
              <a:buFont typeface="Arial"/>
              <a:buChar char="•"/>
            </a:pPr>
            <a:r>
              <a:rPr lang="en-US" sz="660"/>
              <a:t>Site-Wide Maintenance</a:t>
            </a:r>
            <a:endParaRPr/>
          </a:p>
          <a:p>
            <a:pPr marL="628650" lvl="1" indent="-171450" algn="l" rtl="0">
              <a:lnSpc>
                <a:spcPct val="80000"/>
              </a:lnSpc>
              <a:spcBef>
                <a:spcPts val="0"/>
              </a:spcBef>
              <a:spcAft>
                <a:spcPts val="0"/>
              </a:spcAft>
              <a:buClr>
                <a:schemeClr val="dk1"/>
              </a:buClr>
              <a:buSzPts val="660"/>
              <a:buFont typeface="Arial"/>
              <a:buChar char="•"/>
            </a:pPr>
            <a:r>
              <a:rPr lang="en-US" sz="660"/>
              <a:t>Easily place entire an entire site into maintenance mode</a:t>
            </a:r>
            <a:endParaRPr/>
          </a:p>
          <a:p>
            <a:pPr marL="171450" lvl="0" indent="-171450" algn="l" rtl="0">
              <a:lnSpc>
                <a:spcPct val="80000"/>
              </a:lnSpc>
              <a:spcBef>
                <a:spcPts val="0"/>
              </a:spcBef>
              <a:spcAft>
                <a:spcPts val="0"/>
              </a:spcAft>
              <a:buClr>
                <a:schemeClr val="dk1"/>
              </a:buClr>
              <a:buSzPts val="660"/>
              <a:buFont typeface="Arial"/>
              <a:buChar char="•"/>
            </a:pPr>
            <a:r>
              <a:rPr lang="en-US" sz="660"/>
              <a:t>Manual Site Takeover</a:t>
            </a:r>
            <a:endParaRPr/>
          </a:p>
          <a:p>
            <a:pPr marL="628650" lvl="1" indent="-171450" algn="l" rtl="0">
              <a:lnSpc>
                <a:spcPct val="80000"/>
              </a:lnSpc>
              <a:spcBef>
                <a:spcPts val="0"/>
              </a:spcBef>
              <a:spcAft>
                <a:spcPts val="0"/>
              </a:spcAft>
              <a:buClr>
                <a:schemeClr val="dk1"/>
              </a:buClr>
              <a:buSzPts val="660"/>
              <a:buFont typeface="Arial"/>
              <a:buChar char="•"/>
            </a:pPr>
            <a:r>
              <a:rPr lang="en-US" sz="660"/>
              <a:t>Self-service way to regain site availability after a severe outage</a:t>
            </a:r>
            <a:endParaRPr/>
          </a:p>
          <a:p>
            <a:pPr marL="0" lvl="0" indent="0" algn="l" rtl="0">
              <a:lnSpc>
                <a:spcPct val="80000"/>
              </a:lnSpc>
              <a:spcBef>
                <a:spcPts val="1779"/>
              </a:spcBef>
              <a:spcAft>
                <a:spcPts val="0"/>
              </a:spcAft>
              <a:buClr>
                <a:schemeClr val="dk1"/>
              </a:buClr>
              <a:buSzPts val="660"/>
              <a:buFont typeface="Arial"/>
              <a:buNone/>
            </a:pPr>
            <a:r>
              <a:rPr lang="en-US" sz="660"/>
              <a:t>----------------------------------</a:t>
            </a:r>
            <a:endParaRPr/>
          </a:p>
          <a:p>
            <a:pPr marL="0" lvl="0" indent="0" algn="l" rtl="0">
              <a:lnSpc>
                <a:spcPct val="80000"/>
              </a:lnSpc>
              <a:spcBef>
                <a:spcPts val="0"/>
              </a:spcBef>
              <a:spcAft>
                <a:spcPts val="0"/>
              </a:spcAft>
              <a:buNone/>
            </a:pPr>
            <a:r>
              <a:rPr lang="en-US" sz="660" b="1"/>
              <a:t>Details:</a:t>
            </a:r>
            <a:endParaRPr/>
          </a:p>
          <a:p>
            <a:pPr marL="171450" marR="0" lvl="0" indent="-171450" algn="l" rtl="0">
              <a:lnSpc>
                <a:spcPct val="80000"/>
              </a:lnSpc>
              <a:spcBef>
                <a:spcPts val="0"/>
              </a:spcBef>
              <a:spcAft>
                <a:spcPts val="0"/>
              </a:spcAft>
              <a:buClr>
                <a:schemeClr val="dk1"/>
              </a:buClr>
              <a:buSzPts val="660"/>
              <a:buFont typeface="Arial"/>
              <a:buChar char="•"/>
            </a:pPr>
            <a:r>
              <a:rPr lang="en-US" sz="660" b="0"/>
              <a:t>While vSAN stretched clusters have been extremely popular with our customer base, two of the most common requests often came up.  Is there a way to recover the one remaining data site if I have a severe outage that takes out the two other sites simultaneously?  And is there a way that I can perform site maintenance in my stretched cluster?  In the event of a simultaneous double site failure, there was no way for customers to bring the one remaining site back online without contacting Global Support Services (GS).  Even then, this was a time consuming, manual process performed by the SRE.  Site-wide maintenance could be preformed by the administrator, but it involved several manual steps that were prone to error.  </a:t>
            </a:r>
            <a:endParaRPr/>
          </a:p>
          <a:p>
            <a:pPr marL="171450" marR="0" lvl="0" indent="-171450" algn="l" rtl="0">
              <a:lnSpc>
                <a:spcPct val="80000"/>
              </a:lnSpc>
              <a:spcBef>
                <a:spcPts val="0"/>
              </a:spcBef>
              <a:spcAft>
                <a:spcPts val="0"/>
              </a:spcAft>
              <a:buClr>
                <a:schemeClr val="dk1"/>
              </a:buClr>
              <a:buSzPts val="660"/>
              <a:buFont typeface="Arial"/>
              <a:buChar char="•"/>
            </a:pPr>
            <a:r>
              <a:rPr lang="en-US" sz="660" b="0"/>
              <a:t>vSAN in VCF 9.0 helps address these two use cases with the manual site takeover and site wide maintenance mode respectively.  We also enhance vSAN storage clusters so that vSphere clusters can also be stretched.  </a:t>
            </a:r>
            <a:endParaRPr/>
          </a:p>
          <a:p>
            <a:pPr marL="171450" marR="0" lvl="0" indent="-171450" algn="l" rtl="0">
              <a:lnSpc>
                <a:spcPct val="80000"/>
              </a:lnSpc>
              <a:spcBef>
                <a:spcPts val="0"/>
              </a:spcBef>
              <a:spcAft>
                <a:spcPts val="0"/>
              </a:spcAft>
              <a:buClr>
                <a:schemeClr val="dk1"/>
              </a:buClr>
              <a:buSzPts val="660"/>
              <a:buFont typeface="Arial"/>
              <a:buChar char="•"/>
            </a:pPr>
            <a:r>
              <a:rPr lang="en-US" sz="660" b="1"/>
              <a:t>For more detailed information on these two new capabilities, see the dedicated slides for each respective feature.</a:t>
            </a:r>
            <a:endParaRPr/>
          </a:p>
          <a:p>
            <a:pPr marL="171450" marR="0" lvl="0" indent="-171450" algn="l" rtl="0">
              <a:lnSpc>
                <a:spcPct val="80000"/>
              </a:lnSpc>
              <a:spcBef>
                <a:spcPts val="0"/>
              </a:spcBef>
              <a:spcAft>
                <a:spcPts val="0"/>
              </a:spcAft>
              <a:buClr>
                <a:schemeClr val="dk1"/>
              </a:buClr>
              <a:buSzPts val="660"/>
              <a:buFont typeface="Arial"/>
              <a:buChar char="•"/>
            </a:pPr>
            <a:r>
              <a:rPr lang="en-US" sz="660" b="0"/>
              <a:t>The “site-wide maintenance mode” feature uses some of the framework used by the “manual site takeover” feature but does so in the “non-destructive mode.”  This is what allows for proper data consistency during the maintenance mode event, and the graceful exiting from maintenance mode when the tasks are complete.</a:t>
            </a:r>
            <a:endParaRPr/>
          </a:p>
          <a:p>
            <a:pPr marL="171450" marR="0" lvl="0" indent="-171450" algn="l" rtl="0">
              <a:lnSpc>
                <a:spcPct val="80000"/>
              </a:lnSpc>
              <a:spcBef>
                <a:spcPts val="0"/>
              </a:spcBef>
              <a:spcAft>
                <a:spcPts val="0"/>
              </a:spcAft>
              <a:buClr>
                <a:schemeClr val="dk1"/>
              </a:buClr>
              <a:buSzPts val="660"/>
              <a:buFont typeface="Arial"/>
              <a:buChar char="•"/>
            </a:pPr>
            <a:r>
              <a:rPr lang="en-US" sz="660" b="0"/>
              <a:t>Broadcom’s “Technical Qualification Request” (TQR) replaces VMware’s “Request for Product Qualification” (RPQ) for features that are not generally available.  To submit a TQR, please contact vSAN Product Management.</a:t>
            </a:r>
            <a:endParaRPr/>
          </a:p>
          <a:p>
            <a:pPr marL="0" lvl="0" indent="0" algn="l" rtl="0">
              <a:lnSpc>
                <a:spcPct val="80000"/>
              </a:lnSpc>
              <a:spcBef>
                <a:spcPts val="0"/>
              </a:spcBef>
              <a:spcAft>
                <a:spcPts val="0"/>
              </a:spcAft>
              <a:buClr>
                <a:schemeClr val="dk1"/>
              </a:buClr>
              <a:buSzPts val="660"/>
              <a:buFont typeface="Arial"/>
              <a:buNone/>
            </a:pPr>
            <a:r>
              <a:rPr lang="en-US" sz="660" b="1" u="sng"/>
              <a:t>Limitations</a:t>
            </a:r>
            <a:endParaRPr/>
          </a:p>
          <a:p>
            <a:pPr marL="171450" marR="0" lvl="0" indent="-171450" algn="l" rtl="0">
              <a:lnSpc>
                <a:spcPct val="80000"/>
              </a:lnSpc>
              <a:spcBef>
                <a:spcPts val="0"/>
              </a:spcBef>
              <a:spcAft>
                <a:spcPts val="0"/>
              </a:spcAft>
              <a:buClr>
                <a:schemeClr val="dk1"/>
              </a:buClr>
              <a:buSzPts val="660"/>
              <a:buFont typeface="Arial"/>
              <a:buChar char="•"/>
            </a:pPr>
            <a:r>
              <a:rPr lang="en-US" sz="660" b="0"/>
              <a:t>For more detailed information on these two new capabilities, see the dedicated slides for each respective feature.</a:t>
            </a:r>
            <a:endParaRPr/>
          </a:p>
          <a:p>
            <a:pPr marL="171450" marR="0" lvl="0" indent="-171450" algn="l" rtl="0">
              <a:lnSpc>
                <a:spcPct val="80000"/>
              </a:lnSpc>
              <a:spcBef>
                <a:spcPts val="0"/>
              </a:spcBef>
              <a:spcAft>
                <a:spcPts val="0"/>
              </a:spcAft>
              <a:buClr>
                <a:schemeClr val="dk1"/>
              </a:buClr>
              <a:buSzPts val="660"/>
              <a:buFont typeface="Arial"/>
              <a:buChar char="•"/>
            </a:pPr>
            <a:r>
              <a:rPr lang="en-US" sz="660" b="0"/>
              <a:t>The site-wide maintenance mode and manual site takeover capabilities are only supported in vSAN OSA at this time.</a:t>
            </a:r>
            <a:endParaRPr/>
          </a:p>
          <a:p>
            <a:pPr marL="0" marR="0" lvl="0" indent="0" algn="l" rtl="0">
              <a:lnSpc>
                <a:spcPct val="80000"/>
              </a:lnSpc>
              <a:spcBef>
                <a:spcPts val="0"/>
              </a:spcBef>
              <a:spcAft>
                <a:spcPts val="0"/>
              </a:spcAft>
              <a:buClr>
                <a:schemeClr val="dk1"/>
              </a:buClr>
              <a:buSzPts val="660"/>
              <a:buFont typeface="Arial"/>
              <a:buNone/>
            </a:pPr>
            <a:r>
              <a:rPr lang="en-US" sz="660" b="1" u="sng"/>
              <a:t>Positioning</a:t>
            </a:r>
            <a:endParaRPr/>
          </a:p>
          <a:p>
            <a:pPr marL="171450" marR="0" lvl="0" indent="-171450" algn="l" rtl="0">
              <a:lnSpc>
                <a:spcPct val="80000"/>
              </a:lnSpc>
              <a:spcBef>
                <a:spcPts val="0"/>
              </a:spcBef>
              <a:spcAft>
                <a:spcPts val="0"/>
              </a:spcAft>
              <a:buClr>
                <a:schemeClr val="dk1"/>
              </a:buClr>
              <a:buSzPts val="660"/>
              <a:buFont typeface="Arial"/>
              <a:buChar char="•"/>
            </a:pPr>
            <a:r>
              <a:rPr lang="en-US" sz="660" b="0"/>
              <a:t>These two features help use fill the gap against array-based solutions set up in a metro storage cluster.  Even though those can be complex to deploy and operate, these were often two capabilities that were available with array-based solutions.</a:t>
            </a:r>
            <a:endParaRPr/>
          </a:p>
          <a:p>
            <a:pPr marL="171450" marR="0" lvl="0" indent="-171450" algn="l" rtl="0">
              <a:lnSpc>
                <a:spcPct val="80000"/>
              </a:lnSpc>
              <a:spcBef>
                <a:spcPts val="0"/>
              </a:spcBef>
              <a:spcAft>
                <a:spcPts val="0"/>
              </a:spcAft>
              <a:buClr>
                <a:schemeClr val="dk1"/>
              </a:buClr>
              <a:buSzPts val="660"/>
              <a:buFont typeface="Arial"/>
              <a:buChar char="•"/>
            </a:pPr>
            <a:r>
              <a:rPr lang="en-US" sz="660" b="1"/>
              <a:t>Feature value in one sentence.</a:t>
            </a:r>
            <a:r>
              <a:rPr lang="en-US" sz="660" b="0"/>
              <a:t> Manual site takeover and site-wide maintenance make vSAN stretched clusters, and more resilient.</a:t>
            </a:r>
            <a:endParaRPr/>
          </a:p>
          <a:p>
            <a:pPr marL="171450" marR="0" lvl="0" indent="-171450" algn="l" rtl="0">
              <a:lnSpc>
                <a:spcPct val="80000"/>
              </a:lnSpc>
              <a:spcBef>
                <a:spcPts val="0"/>
              </a:spcBef>
              <a:spcAft>
                <a:spcPts val="0"/>
              </a:spcAft>
              <a:buClr>
                <a:schemeClr val="dk1"/>
              </a:buClr>
              <a:buSzPts val="660"/>
              <a:buFont typeface="Arial"/>
              <a:buChar char="•"/>
            </a:pPr>
            <a:r>
              <a:rPr lang="en-US" sz="660" b="1" u="none"/>
              <a:t>Common Use Cases.  </a:t>
            </a:r>
            <a:endParaRPr/>
          </a:p>
          <a:p>
            <a:pPr marL="628650" marR="0" lvl="1" indent="-171450" algn="l" rtl="0">
              <a:lnSpc>
                <a:spcPct val="80000"/>
              </a:lnSpc>
              <a:spcBef>
                <a:spcPts val="0"/>
              </a:spcBef>
              <a:spcAft>
                <a:spcPts val="0"/>
              </a:spcAft>
              <a:buClr>
                <a:schemeClr val="dk1"/>
              </a:buClr>
              <a:buSzPts val="660"/>
              <a:buFont typeface="Arial"/>
              <a:buChar char="•"/>
            </a:pPr>
            <a:r>
              <a:rPr lang="en-US" sz="660" b="0" u="none"/>
              <a:t>(See feature specific slides)</a:t>
            </a:r>
            <a:endParaRPr sz="660" b="1" u="none"/>
          </a:p>
          <a:p>
            <a:pPr marL="0" marR="0" lvl="0" indent="0" algn="l" rtl="0">
              <a:lnSpc>
                <a:spcPct val="80000"/>
              </a:lnSpc>
              <a:spcBef>
                <a:spcPts val="0"/>
              </a:spcBef>
              <a:spcAft>
                <a:spcPts val="0"/>
              </a:spcAft>
              <a:buClr>
                <a:schemeClr val="dk1"/>
              </a:buClr>
              <a:buSzPts val="660"/>
              <a:buFont typeface="Arial"/>
              <a:buNone/>
            </a:pPr>
            <a:r>
              <a:rPr lang="en-US" sz="660">
                <a:solidFill>
                  <a:schemeClr val="dk1"/>
                </a:solidFill>
              </a:rPr>
              <a:t>----------------------------------</a:t>
            </a:r>
            <a:endParaRPr/>
          </a:p>
          <a:p>
            <a:pPr marL="0" lvl="0" indent="0" algn="l" rtl="0">
              <a:lnSpc>
                <a:spcPct val="80000"/>
              </a:lnSpc>
              <a:spcBef>
                <a:spcPts val="0"/>
              </a:spcBef>
              <a:spcAft>
                <a:spcPts val="0"/>
              </a:spcAft>
              <a:buNone/>
            </a:pPr>
            <a:r>
              <a:rPr lang="en-US" sz="660" b="1">
                <a:solidFill>
                  <a:schemeClr val="dk1"/>
                </a:solidFill>
              </a:rPr>
              <a:t>Additional Information:</a:t>
            </a:r>
            <a:endParaRPr/>
          </a:p>
          <a:p>
            <a:pPr marL="171450" lvl="0" indent="-171450" algn="l" rtl="0">
              <a:lnSpc>
                <a:spcPct val="80000"/>
              </a:lnSpc>
              <a:spcBef>
                <a:spcPts val="0"/>
              </a:spcBef>
              <a:spcAft>
                <a:spcPts val="0"/>
              </a:spcAft>
              <a:buClr>
                <a:schemeClr val="dk1"/>
              </a:buClr>
              <a:buSzPts val="660"/>
              <a:buFont typeface="Arial"/>
              <a:buChar char="•"/>
            </a:pPr>
            <a:r>
              <a:rPr lang="en-US" sz="660"/>
              <a:t>TBD</a:t>
            </a:r>
            <a:endParaRPr/>
          </a:p>
          <a:p>
            <a:pPr marL="0" lvl="0" indent="0" algn="l" rtl="0">
              <a:lnSpc>
                <a:spcPct val="80000"/>
              </a:lnSpc>
              <a:spcBef>
                <a:spcPts val="0"/>
              </a:spcBef>
              <a:spcAft>
                <a:spcPts val="0"/>
              </a:spcAft>
              <a:buNone/>
            </a:pPr>
            <a:endParaRPr sz="660"/>
          </a:p>
        </p:txBody>
      </p:sp>
      <p:sp>
        <p:nvSpPr>
          <p:cNvPr id="5820" name="Google Shape;5820;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0"/>
        <p:cNvGrpSpPr/>
        <p:nvPr/>
      </p:nvGrpSpPr>
      <p:grpSpPr>
        <a:xfrm>
          <a:off x="0" y="0"/>
          <a:ext cx="0" cy="0"/>
          <a:chOff x="0" y="0"/>
          <a:chExt cx="0" cy="0"/>
        </a:xfrm>
      </p:grpSpPr>
      <p:sp>
        <p:nvSpPr>
          <p:cNvPr id="5921" name="Google Shape;5921;p2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2" name="Google Shape;5922;p2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50000"/>
              </a:lnSpc>
              <a:spcBef>
                <a:spcPts val="0"/>
              </a:spcBef>
              <a:spcAft>
                <a:spcPts val="0"/>
              </a:spcAft>
              <a:buClr>
                <a:schemeClr val="dk1"/>
              </a:buClr>
              <a:buSzPts val="2000"/>
              <a:buFont typeface="Arial"/>
              <a:buNone/>
            </a:pPr>
            <a:r>
              <a:rPr lang="en-US" sz="1200">
                <a:solidFill>
                  <a:schemeClr val="dk1"/>
                </a:solidFill>
                <a:latin typeface="Arial"/>
                <a:ea typeface="Arial"/>
                <a:cs typeface="Arial"/>
                <a:sym typeface="Arial"/>
              </a:rPr>
              <a:t>Simple Networking with Virtual Private Clouds</a:t>
            </a:r>
            <a:endParaRPr/>
          </a:p>
          <a:p>
            <a:pPr marL="0" marR="0" lvl="0" indent="0" algn="l" rtl="0">
              <a:lnSpc>
                <a:spcPct val="150000"/>
              </a:lnSpc>
              <a:spcBef>
                <a:spcPts val="0"/>
              </a:spcBef>
              <a:spcAft>
                <a:spcPts val="0"/>
              </a:spcAft>
              <a:buClr>
                <a:schemeClr val="dk1"/>
              </a:buClr>
              <a:buSzPts val="2000"/>
              <a:buFont typeface="Arial"/>
              <a:buNone/>
            </a:pPr>
            <a:r>
              <a:rPr lang="en-US" sz="1200" b="0" i="0" u="none">
                <a:solidFill>
                  <a:schemeClr val="dk1"/>
                </a:solidFill>
                <a:latin typeface="Arial"/>
                <a:ea typeface="Arial"/>
                <a:cs typeface="Arial"/>
                <a:sym typeface="Arial"/>
              </a:rPr>
              <a:t>Consume VPCs in vCenter and VCF Automation</a:t>
            </a:r>
            <a:endParaRPr sz="1200">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2000"/>
              <a:buFont typeface="Arial"/>
              <a:buNone/>
            </a:pPr>
            <a:r>
              <a:rPr lang="en-US" sz="1200">
                <a:solidFill>
                  <a:schemeClr val="dk1"/>
                </a:solidFill>
                <a:latin typeface="Arial"/>
                <a:ea typeface="Arial"/>
                <a:cs typeface="Arial"/>
                <a:sym typeface="Arial"/>
              </a:rPr>
              <a:t>Deploy</a:t>
            </a:r>
            <a:r>
              <a:rPr lang="en-US" sz="1200" b="0" i="0" u="none" strike="noStrike">
                <a:solidFill>
                  <a:schemeClr val="dk1"/>
                </a:solidFill>
                <a:latin typeface="Arial"/>
                <a:ea typeface="Arial"/>
                <a:cs typeface="Arial"/>
                <a:sym typeface="Arial"/>
              </a:rPr>
              <a:t> NSX Edges Easily</a:t>
            </a:r>
            <a:r>
              <a:rPr lang="en-US" sz="1200">
                <a:solidFill>
                  <a:schemeClr val="dk1"/>
                </a:solidFill>
                <a:latin typeface="Arial"/>
                <a:ea typeface="Arial"/>
                <a:cs typeface="Arial"/>
                <a:sym typeface="Arial"/>
              </a:rPr>
              <a:t> </a:t>
            </a:r>
            <a:endParaRPr/>
          </a:p>
          <a:p>
            <a:pPr marL="0" marR="0" lvl="0" indent="0" algn="l" rtl="0">
              <a:lnSpc>
                <a:spcPct val="150000"/>
              </a:lnSpc>
              <a:spcBef>
                <a:spcPts val="0"/>
              </a:spcBef>
              <a:spcAft>
                <a:spcPts val="0"/>
              </a:spcAft>
              <a:buClr>
                <a:schemeClr val="dk1"/>
              </a:buClr>
              <a:buSzPts val="2000"/>
              <a:buFont typeface="Arial"/>
              <a:buNone/>
            </a:pPr>
            <a:r>
              <a:rPr lang="en-US" sz="1200">
                <a:solidFill>
                  <a:schemeClr val="dk1"/>
                </a:solidFill>
                <a:latin typeface="Arial"/>
                <a:ea typeface="Arial"/>
                <a:cs typeface="Arial"/>
                <a:sym typeface="Arial"/>
              </a:rPr>
              <a:t>Independent Connectivity Options for each Tier</a:t>
            </a:r>
            <a:endParaRPr/>
          </a:p>
          <a:p>
            <a:pPr marL="0" marR="0" lvl="0" indent="0" algn="l" rtl="0">
              <a:lnSpc>
                <a:spcPct val="150000"/>
              </a:lnSpc>
              <a:spcBef>
                <a:spcPts val="0"/>
              </a:spcBef>
              <a:spcAft>
                <a:spcPts val="0"/>
              </a:spcAft>
              <a:buClr>
                <a:schemeClr val="dk1"/>
              </a:buClr>
              <a:buSzPts val="2000"/>
              <a:buFont typeface="Arial"/>
              <a:buNone/>
            </a:pPr>
            <a:r>
              <a:rPr lang="en-US" sz="1200">
                <a:solidFill>
                  <a:schemeClr val="dk1"/>
                </a:solidFill>
                <a:latin typeface="Arial"/>
                <a:ea typeface="Arial"/>
                <a:cs typeface="Arial"/>
                <a:sym typeface="Arial"/>
              </a:rPr>
              <a:t>External Connectivity with Centralized Services</a:t>
            </a:r>
            <a:endParaRPr/>
          </a:p>
          <a:p>
            <a:pPr marL="0" marR="0" lvl="0" indent="0" algn="l" rtl="0">
              <a:lnSpc>
                <a:spcPct val="150000"/>
              </a:lnSpc>
              <a:spcBef>
                <a:spcPts val="0"/>
              </a:spcBef>
              <a:spcAft>
                <a:spcPts val="0"/>
              </a:spcAft>
              <a:buClr>
                <a:schemeClr val="dk1"/>
              </a:buClr>
              <a:buSzPts val="2000"/>
              <a:buFont typeface="Arial"/>
              <a:buNone/>
            </a:pPr>
            <a:r>
              <a:rPr lang="en-US" sz="1200">
                <a:solidFill>
                  <a:schemeClr val="dk1"/>
                </a:solidFill>
                <a:latin typeface="Arial"/>
                <a:ea typeface="Arial"/>
                <a:cs typeface="Arial"/>
                <a:sym typeface="Arial"/>
              </a:rPr>
              <a:t>External Connectivity with NSX Edges</a:t>
            </a:r>
            <a:endParaRPr/>
          </a:p>
          <a:p>
            <a:pPr marL="0" marR="0" lvl="0" indent="0" algn="l" rtl="0">
              <a:lnSpc>
                <a:spcPct val="150000"/>
              </a:lnSpc>
              <a:spcBef>
                <a:spcPts val="0"/>
              </a:spcBef>
              <a:spcAft>
                <a:spcPts val="0"/>
              </a:spcAft>
              <a:buClr>
                <a:schemeClr val="dk1"/>
              </a:buClr>
              <a:buSzPts val="2000"/>
              <a:buFont typeface="Arial"/>
              <a:buNone/>
            </a:pPr>
            <a:r>
              <a:rPr lang="en-US" sz="1200" b="0" i="0" u="none" strike="noStrike">
                <a:solidFill>
                  <a:schemeClr val="dk1"/>
                </a:solidFill>
                <a:latin typeface="Arial"/>
                <a:ea typeface="Arial"/>
                <a:cs typeface="Arial"/>
                <a:sym typeface="Arial"/>
              </a:rPr>
              <a:t>High Performance </a:t>
            </a:r>
            <a:r>
              <a:rPr lang="en-US" sz="1200">
                <a:solidFill>
                  <a:schemeClr val="dk1"/>
                </a:solidFill>
                <a:latin typeface="Arial"/>
                <a:ea typeface="Arial"/>
                <a:cs typeface="Arial"/>
                <a:sym typeface="Arial"/>
              </a:rPr>
              <a:t>Switching</a:t>
            </a:r>
            <a:r>
              <a:rPr lang="en-US" sz="1200" b="0" i="0" u="none" strike="noStrike">
                <a:solidFill>
                  <a:schemeClr val="dk1"/>
                </a:solidFill>
                <a:latin typeface="Arial"/>
                <a:ea typeface="Arial"/>
                <a:cs typeface="Arial"/>
                <a:sym typeface="Arial"/>
              </a:rPr>
              <a:t> (EDP)</a:t>
            </a:r>
            <a:endParaRPr/>
          </a:p>
          <a:p>
            <a:pPr marL="0" lvl="0" indent="0" algn="l" rtl="0">
              <a:spcBef>
                <a:spcPts val="0"/>
              </a:spcBef>
              <a:spcAft>
                <a:spcPts val="0"/>
              </a:spcAft>
              <a:buClr>
                <a:schemeClr val="dk1"/>
              </a:buClr>
              <a:buSzPts val="1200"/>
              <a:buFont typeface="Arial"/>
              <a:buNone/>
            </a:pPr>
            <a:endParaRPr/>
          </a:p>
        </p:txBody>
      </p:sp>
      <p:sp>
        <p:nvSpPr>
          <p:cNvPr id="5923" name="Google Shape;5923;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18436-BF6B-878C-81F0-1D87B55A92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9714D-0702-75F0-E039-69CE78E325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143B3-AAD4-2DED-A6FA-E20DEDFF7432}"/>
              </a:ext>
            </a:extLst>
          </p:cNvPr>
          <p:cNvSpPr>
            <a:spLocks noGrp="1"/>
          </p:cNvSpPr>
          <p:nvPr>
            <p:ph type="body" idx="1"/>
          </p:nvPr>
        </p:nvSpPr>
        <p:spPr/>
        <p:txBody>
          <a:bodyPr>
            <a:normAutofit fontScale="70000" lnSpcReduction="2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spcBef>
                <a:spcPts val="0"/>
              </a:spcBef>
              <a:spcAft>
                <a:spcPts val="0"/>
              </a:spcAft>
              <a:buNone/>
            </a:pPr>
            <a:endParaRPr lang="en-US"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Key Message:</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Virtual Private Cloud configuration is split into multiple roles, matching the different responsibilities required in a multi-tenant environment. </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One of the main benefit of this model is that it shields VPC admin (a VI admin for example) from complex networking configurations that are pre-configured by the upper tiers (enterprise admin/project admin.)</a:t>
            </a:r>
            <a:endParaRPr lang="en-US" b="0" dirty="0"/>
          </a:p>
          <a:p>
            <a:pPr marL="0" lvl="0" indent="0" algn="l" rtl="0">
              <a:spcBef>
                <a:spcPts val="0"/>
              </a:spcBef>
              <a:spcAft>
                <a:spcPts val="0"/>
              </a:spcAft>
              <a:buNone/>
            </a:pPr>
            <a:br>
              <a:rPr lang="en-US" sz="1200" b="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A Virtual Private Cloud, or VPC, is a logically isolated, tenant-specific virtual network that provides dedicated routing, switching, and security services.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In VCF 9.0, VPCs are implemented consistently across the entire platform—not just within NSX.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model defines clear roles to support multi-tenancy and enables self-service capabilities for end users.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The first role is the </a:t>
            </a:r>
            <a:r>
              <a:rPr lang="en-US" b="1" dirty="0"/>
              <a:t>Enterprise Admin</a:t>
            </a:r>
            <a:r>
              <a:rPr lang="en-US" dirty="0"/>
              <a:t>, who owns the VCF infrastructure and manages the connection to the physical network.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&lt;click 1&gt;</a:t>
            </a:r>
          </a:p>
          <a:p>
            <a:pPr marL="0" lvl="0" indent="0" algn="l" rtl="0">
              <a:spcBef>
                <a:spcPts val="0"/>
              </a:spcBef>
              <a:spcAft>
                <a:spcPts val="0"/>
              </a:spcAft>
              <a:buNone/>
            </a:pPr>
            <a:r>
              <a:rPr lang="en-US" dirty="0"/>
              <a:t>The Enterprise Admin is responsible for coordinating with the physical network to ensure proper connectivity.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They also create "projects," which represent the first level of tenancy, and define external IP blocks that allow communication between the virtual and physical networks.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These external IP blocks are then distributed to the individual projects, and quotas can be applied as needed. Importantly, the Enterprise Admin maintains full control over all networking resources.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2&gt;</a:t>
            </a:r>
          </a:p>
          <a:p>
            <a:pPr marL="0" indent="0">
              <a:buFont typeface="Arial" panose="020B0604020202020204" pitchFamily="34" charset="0"/>
              <a:buNone/>
            </a:pPr>
            <a:r>
              <a:rPr lang="en-US" dirty="0"/>
              <a:t>Next, the </a:t>
            </a:r>
            <a:r>
              <a:rPr lang="en-US" b="1" dirty="0"/>
              <a:t>Project Admin </a:t>
            </a:r>
            <a:r>
              <a:rPr lang="en-US" dirty="0"/>
              <a:t>steps in to manage the resources delegated by the Enterprise Admin, but without direct access to the physical infrastructure.</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3&gt;</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The Project Admin is responsible for creating and managing VPCs, which represent the second level of tenancy.</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They also allocate resources, such as IP pools, and apply quotas to individual VPCs.</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4&gt;</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Finally, we have the </a:t>
            </a:r>
            <a:r>
              <a:rPr lang="en-US" b="1" dirty="0"/>
              <a:t>VPC Admin</a:t>
            </a:r>
            <a:r>
              <a:rPr lang="en-US" dirty="0"/>
              <a:t>, who acts as the end user in this model.</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indent="0">
              <a:buFont typeface="Arial" panose="020B0604020202020204" pitchFamily="34" charset="0"/>
              <a:buNone/>
            </a:pPr>
            <a:r>
              <a:rPr lang="en-US" dirty="0"/>
              <a:t>The VPC Admin can independently create virtual networks—called subnets—</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and easily attach workloads to these networks.</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5&gt;</a:t>
            </a:r>
          </a:p>
          <a:p>
            <a:pPr marL="0" indent="0">
              <a:buFont typeface="Arial" panose="020B0604020202020204" pitchFamily="34" charset="0"/>
              <a:buNone/>
            </a:pPr>
            <a:r>
              <a:rPr lang="en-US" dirty="0"/>
              <a:t>A key benefit of this model is that the VPC Admin can fully leverage networking services without requiring in-depth networking expertise. </a:t>
            </a:r>
          </a:p>
          <a:p>
            <a:pPr marL="0" indent="0">
              <a:buFont typeface="Arial" panose="020B0604020202020204" pitchFamily="34" charset="0"/>
              <a:buNone/>
            </a:pPr>
            <a:r>
              <a:rPr lang="en-US" dirty="0"/>
              <a:t>This is possible because the Enterprise and Project Admins pre-configure the underlying network and resource allocations, enabling true self-service with minimal need for additional support.</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Notes:</a:t>
            </a:r>
          </a:p>
          <a:p>
            <a:pPr marL="0" indent="0">
              <a:buFont typeface="Arial" panose="020B0604020202020204" pitchFamily="34" charset="0"/>
              <a:buNone/>
            </a:pPr>
            <a:endParaRPr lang="en-US" b="1" dirty="0"/>
          </a:p>
          <a:p>
            <a:pPr marL="0" indent="0">
              <a:buFont typeface="Arial" panose="020B0604020202020204" pitchFamily="34" charset="0"/>
              <a:buNone/>
            </a:pPr>
            <a:r>
              <a:rPr lang="en-US" b="1" dirty="0"/>
              <a:t>Resources:</a:t>
            </a:r>
          </a:p>
          <a:p>
            <a:endParaRPr lang="en-US" dirty="0"/>
          </a:p>
        </p:txBody>
      </p:sp>
      <p:sp>
        <p:nvSpPr>
          <p:cNvPr id="4" name="Slide Number Placeholder 3">
            <a:extLst>
              <a:ext uri="{FF2B5EF4-FFF2-40B4-BE49-F238E27FC236}">
                <a16:creationId xmlns:a16="http://schemas.microsoft.com/office/drawing/2014/main" id="{50178436-CB6D-1F0D-6F8E-97B4A77A40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7315543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3"/>
        <p:cNvGrpSpPr/>
        <p:nvPr/>
      </p:nvGrpSpPr>
      <p:grpSpPr>
        <a:xfrm>
          <a:off x="0" y="0"/>
          <a:ext cx="0" cy="0"/>
          <a:chOff x="0" y="0"/>
          <a:chExt cx="0" cy="0"/>
        </a:xfrm>
      </p:grpSpPr>
      <p:sp>
        <p:nvSpPr>
          <p:cNvPr id="6014" name="Google Shape;6014;p2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5" name="Google Shape;6015;p2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Presenter Note:  </a:t>
            </a:r>
            <a:r>
              <a:rPr lang="en-US" sz="1200" b="1">
                <a:latin typeface="Arial"/>
                <a:ea typeface="Arial"/>
                <a:cs typeface="Arial"/>
                <a:sym typeface="Arial"/>
              </a:rPr>
              <a:t>This slide contains animation</a:t>
            </a:r>
            <a:endParaRPr sz="1200" b="1">
              <a:solidFill>
                <a:schemeClr val="dk1"/>
              </a:solidFill>
              <a:latin typeface="Arial"/>
              <a:ea typeface="Arial"/>
              <a:cs typeface="Arial"/>
              <a:sym typeface="Arial"/>
            </a:endParaRPr>
          </a:p>
          <a:p>
            <a:pPr marL="0" lvl="0" indent="0" algn="l" rtl="0">
              <a:lnSpc>
                <a:spcPct val="9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Key Message:</a:t>
            </a:r>
            <a:endParaRPr/>
          </a:p>
          <a:p>
            <a:pPr marL="0" marR="0" lvl="0" indent="0" algn="l" rtl="0">
              <a:lnSpc>
                <a:spcPct val="90000"/>
              </a:lnSpc>
              <a:spcBef>
                <a:spcPts val="0"/>
              </a:spcBef>
              <a:spcAft>
                <a:spcPts val="0"/>
              </a:spcAft>
              <a:buClr>
                <a:schemeClr val="dk1"/>
              </a:buClr>
              <a:buSzPts val="1200"/>
              <a:buFont typeface="Arial"/>
              <a:buNone/>
            </a:pPr>
            <a:r>
              <a:rPr lang="en-US"/>
              <a:t>With VCF 9.0, VPCs are fully integrated across the platform, exposed as first-class objects in vCenter where the default project is fully configurable by the vCenter Admin, who can easily connect VMs to subnets or DVPGs directly from the UI.</a:t>
            </a:r>
            <a:endParaRPr sz="1200" b="0">
              <a:solidFill>
                <a:schemeClr val="dk1"/>
              </a:solidFill>
              <a:latin typeface="Arial"/>
              <a:ea typeface="Arial"/>
              <a:cs typeface="Arial"/>
              <a:sym typeface="Arial"/>
            </a:endParaRPr>
          </a:p>
          <a:p>
            <a:pPr marL="0" lvl="0" indent="0" algn="l" rtl="0">
              <a:lnSpc>
                <a:spcPct val="90000"/>
              </a:lnSpc>
              <a:spcBef>
                <a:spcPts val="0"/>
              </a:spcBef>
              <a:spcAft>
                <a:spcPts val="0"/>
              </a:spcAft>
              <a:buClr>
                <a:schemeClr val="dk1"/>
              </a:buClr>
              <a:buSzPts val="1200"/>
              <a:buFont typeface="Arial"/>
              <a:buNone/>
            </a:pPr>
            <a:br>
              <a:rPr lang="en-US" sz="1200">
                <a:solidFill>
                  <a:schemeClr val="dk1"/>
                </a:solidFill>
                <a:latin typeface="Arial"/>
                <a:ea typeface="Arial"/>
                <a:cs typeface="Arial"/>
                <a:sym typeface="Arial"/>
              </a:rPr>
            </a:br>
            <a:r>
              <a:rPr lang="en-US" sz="1200" b="1">
                <a:solidFill>
                  <a:schemeClr val="dk1"/>
                </a:solidFill>
                <a:latin typeface="Arial"/>
                <a:ea typeface="Arial"/>
                <a:cs typeface="Arial"/>
                <a:sym typeface="Arial"/>
              </a:rPr>
              <a:t>Talk Track:</a:t>
            </a:r>
            <a:endParaRPr/>
          </a:p>
          <a:p>
            <a:pPr marL="0" lvl="0" indent="0" algn="l" rtl="0">
              <a:lnSpc>
                <a:spcPct val="90000"/>
              </a:lnSpc>
              <a:spcBef>
                <a:spcPts val="0"/>
              </a:spcBef>
              <a:spcAft>
                <a:spcPts val="0"/>
              </a:spcAft>
              <a:buClr>
                <a:schemeClr val="dk1"/>
              </a:buClr>
              <a:buSzPts val="1200"/>
              <a:buFont typeface="Arial"/>
              <a:buNone/>
            </a:pPr>
            <a:r>
              <a:rPr lang="en-US"/>
              <a:t>The VPC concept has long existed within NSX, but with VCF 9.0, it is now fully integrated and consumable across other components of the platform. </a:t>
            </a:r>
            <a:endParaRPr/>
          </a:p>
          <a:p>
            <a:pPr marL="0" lvl="0" indent="0" algn="l" rtl="0">
              <a:lnSpc>
                <a:spcPct val="90000"/>
              </a:lnSpc>
              <a:spcBef>
                <a:spcPts val="0"/>
              </a:spcBef>
              <a:spcAft>
                <a:spcPts val="0"/>
              </a:spcAft>
              <a:buClr>
                <a:schemeClr val="dk1"/>
              </a:buClr>
              <a:buSzPts val="1200"/>
              <a:buFont typeface="Arial"/>
              <a:buNone/>
            </a:pPr>
            <a:r>
              <a:rPr lang="en-US"/>
              <a:t>VCF automation leverages VPC objects, and VPCs are now exposed as first-class objects directly within vCenter.</a:t>
            </a:r>
            <a:endParaRPr/>
          </a:p>
          <a:p>
            <a:pPr marL="0" lvl="0" indent="0" algn="l" rtl="0">
              <a:lnSpc>
                <a:spcPct val="90000"/>
              </a:lnSpc>
              <a:spcBef>
                <a:spcPts val="0"/>
              </a:spcBef>
              <a:spcAft>
                <a:spcPts val="0"/>
              </a:spcAft>
              <a:buClr>
                <a:schemeClr val="dk1"/>
              </a:buClr>
              <a:buSzPts val="1200"/>
              <a:buFont typeface="Arial"/>
              <a:buNone/>
            </a:pPr>
            <a:r>
              <a:rPr lang="en-US"/>
              <a:t>By default, NSX creates a default project that is fully configurable by the vCenter Admin, who in this case serves as the Enterprise Admin, Project Admin, and VPC Admin all at once. </a:t>
            </a:r>
            <a:endParaRPr/>
          </a:p>
          <a:p>
            <a:pPr marL="0" lvl="0" indent="0" algn="l" rtl="0">
              <a:lnSpc>
                <a:spcPct val="90000"/>
              </a:lnSpc>
              <a:spcBef>
                <a:spcPts val="0"/>
              </a:spcBef>
              <a:spcAft>
                <a:spcPts val="0"/>
              </a:spcAft>
              <a:buClr>
                <a:schemeClr val="dk1"/>
              </a:buClr>
              <a:buSzPts val="1200"/>
              <a:buFont typeface="Arial"/>
              <a:buNone/>
            </a:pPr>
            <a:r>
              <a:rPr lang="en-US"/>
              <a:t>Other, non-default projects appear in vCenter as read-only and cannot be modified from there.</a:t>
            </a:r>
            <a:endParaRPr/>
          </a:p>
          <a:p>
            <a:pPr marL="0" lvl="0" indent="0" algn="l" rtl="0">
              <a:lnSpc>
                <a:spcPct val="90000"/>
              </a:lnSpc>
              <a:spcBef>
                <a:spcPts val="0"/>
              </a:spcBef>
              <a:spcAft>
                <a:spcPts val="0"/>
              </a:spcAft>
              <a:buClr>
                <a:schemeClr val="dk1"/>
              </a:buClr>
              <a:buSzPts val="1200"/>
              <a:buFont typeface="Arial"/>
              <a:buNone/>
            </a:pPr>
            <a:endParaRPr/>
          </a:p>
          <a:p>
            <a:pPr marL="0" marR="0" lvl="0" indent="0" algn="l" rtl="0">
              <a:lnSpc>
                <a:spcPct val="90000"/>
              </a:lnSpc>
              <a:spcBef>
                <a:spcPts val="0"/>
              </a:spcBef>
              <a:spcAft>
                <a:spcPts val="0"/>
              </a:spcAft>
              <a:buClr>
                <a:srgbClr val="000000"/>
              </a:buClr>
              <a:buSzPts val="1400"/>
              <a:buFont typeface="Arial"/>
              <a:buNone/>
            </a:pPr>
            <a:r>
              <a:rPr lang="en-US"/>
              <a:t>&lt;click 1&gt;</a:t>
            </a:r>
            <a:endParaRPr/>
          </a:p>
          <a:p>
            <a:pPr marL="0" marR="0" lvl="0" indent="0" algn="l" rtl="0">
              <a:lnSpc>
                <a:spcPct val="90000"/>
              </a:lnSpc>
              <a:spcBef>
                <a:spcPts val="0"/>
              </a:spcBef>
              <a:spcAft>
                <a:spcPts val="0"/>
              </a:spcAft>
              <a:buClr>
                <a:srgbClr val="000000"/>
              </a:buClr>
              <a:buSzPts val="1400"/>
              <a:buFont typeface="Arial"/>
              <a:buNone/>
            </a:pPr>
            <a:r>
              <a:rPr lang="en-US"/>
              <a:t>vCenter also displays subnets directly in the UI, allowing you to easily connect a VM to a subnet, similar to how you would attach a VM to a DVPG. </a:t>
            </a:r>
            <a:endParaRPr/>
          </a:p>
          <a:p>
            <a:pPr marL="0" marR="0" lvl="0" indent="0" algn="l" rtl="0">
              <a:lnSpc>
                <a:spcPct val="90000"/>
              </a:lnSpc>
              <a:spcBef>
                <a:spcPts val="0"/>
              </a:spcBef>
              <a:spcAft>
                <a:spcPts val="0"/>
              </a:spcAft>
              <a:buClr>
                <a:srgbClr val="000000"/>
              </a:buClr>
              <a:buSzPts val="1400"/>
              <a:buFont typeface="Arial"/>
              <a:buNone/>
            </a:pPr>
            <a:r>
              <a:rPr lang="en-US"/>
              <a:t>In fact, both options are available side by side in the interface.</a:t>
            </a:r>
            <a:endParaRPr/>
          </a:p>
          <a:p>
            <a:pPr marL="0" lvl="0" indent="0" algn="l" rtl="0">
              <a:lnSpc>
                <a:spcPct val="90000"/>
              </a:lnSpc>
              <a:spcBef>
                <a:spcPts val="0"/>
              </a:spcBef>
              <a:spcAft>
                <a:spcPts val="0"/>
              </a:spcAft>
              <a:buClr>
                <a:schemeClr val="dk1"/>
              </a:buClr>
              <a:buSzPts val="1200"/>
              <a:buFont typeface="Arial"/>
              <a:buNone/>
            </a:pPr>
            <a:endParaRPr b="1"/>
          </a:p>
          <a:p>
            <a:pPr marL="0" lvl="0" indent="0" algn="l" rtl="0">
              <a:lnSpc>
                <a:spcPct val="90000"/>
              </a:lnSpc>
              <a:spcBef>
                <a:spcPts val="0"/>
              </a:spcBef>
              <a:spcAft>
                <a:spcPts val="0"/>
              </a:spcAft>
              <a:buClr>
                <a:schemeClr val="dk1"/>
              </a:buClr>
              <a:buSzPts val="1200"/>
              <a:buFont typeface="Arial"/>
              <a:buNone/>
            </a:pPr>
            <a:r>
              <a:rPr lang="en-US" b="1"/>
              <a:t>Notes:</a:t>
            </a:r>
            <a:br>
              <a:rPr lang="en-US"/>
            </a:br>
            <a:endParaRPr/>
          </a:p>
          <a:p>
            <a:pPr marL="0" lvl="0" indent="0" algn="l" rtl="0">
              <a:lnSpc>
                <a:spcPct val="90000"/>
              </a:lnSpc>
              <a:spcBef>
                <a:spcPts val="0"/>
              </a:spcBef>
              <a:spcAft>
                <a:spcPts val="0"/>
              </a:spcAft>
              <a:buClr>
                <a:schemeClr val="dk1"/>
              </a:buClr>
              <a:buSzPts val="1200"/>
              <a:buFont typeface="Arial"/>
              <a:buNone/>
            </a:pPr>
            <a:r>
              <a:rPr lang="en-US" b="1"/>
              <a:t>Resources:</a:t>
            </a:r>
            <a:br>
              <a:rPr lang="en-US"/>
            </a:br>
            <a:endParaRPr/>
          </a:p>
        </p:txBody>
      </p:sp>
      <p:sp>
        <p:nvSpPr>
          <p:cNvPr id="6016" name="Google Shape;6016;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4"/>
        <p:cNvGrpSpPr/>
        <p:nvPr/>
      </p:nvGrpSpPr>
      <p:grpSpPr>
        <a:xfrm>
          <a:off x="0" y="0"/>
          <a:ext cx="0" cy="0"/>
          <a:chOff x="0" y="0"/>
          <a:chExt cx="0" cy="0"/>
        </a:xfrm>
      </p:grpSpPr>
      <p:sp>
        <p:nvSpPr>
          <p:cNvPr id="6035" name="Google Shape;6035;p2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6" name="Google Shape;6036;p2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Key Message:</a:t>
            </a:r>
            <a:endParaRPr/>
          </a:p>
          <a:p>
            <a:pPr marL="0" marR="0" lvl="0" indent="0" algn="l" rtl="0">
              <a:lnSpc>
                <a:spcPct val="100000"/>
              </a:lnSpc>
              <a:spcBef>
                <a:spcPts val="0"/>
              </a:spcBef>
              <a:spcAft>
                <a:spcPts val="0"/>
              </a:spcAft>
              <a:buClr>
                <a:schemeClr val="dk1"/>
              </a:buClr>
              <a:buSzPts val="1200"/>
              <a:buFont typeface="Arial"/>
              <a:buNone/>
            </a:pPr>
            <a:r>
              <a:rPr lang="en-US"/>
              <a:t>The new vCenter-integrated workflow simplifies NSX Edge deployment by guiding users through input, automating vSphere and NSX object mapping, and visually displaying configurations, reducing complexity for non-expert users.</a:t>
            </a:r>
            <a:br>
              <a:rPr lang="en-US" sz="1200">
                <a:solidFill>
                  <a:schemeClr val="dk1"/>
                </a:solidFill>
                <a:latin typeface="Arial"/>
                <a:ea typeface="Arial"/>
                <a:cs typeface="Arial"/>
                <a:sym typeface="Arial"/>
              </a:rPr>
            </a:b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Talk Track:</a:t>
            </a:r>
            <a:endParaRPr/>
          </a:p>
          <a:p>
            <a:pPr marL="0" lvl="0" indent="0" algn="l" rtl="0">
              <a:spcBef>
                <a:spcPts val="0"/>
              </a:spcBef>
              <a:spcAft>
                <a:spcPts val="0"/>
              </a:spcAft>
              <a:buClr>
                <a:schemeClr val="dk1"/>
              </a:buClr>
              <a:buSzPts val="1200"/>
              <a:buFont typeface="Arial"/>
              <a:buNone/>
            </a:pPr>
            <a:r>
              <a:rPr lang="en-US"/>
              <a:t>NSX Edges are essential service appliances within the NSX architecture. </a:t>
            </a:r>
            <a:endParaRPr/>
          </a:p>
          <a:p>
            <a:pPr marL="0" lvl="0" indent="0" algn="l" rtl="0">
              <a:spcBef>
                <a:spcPts val="0"/>
              </a:spcBef>
              <a:spcAft>
                <a:spcPts val="0"/>
              </a:spcAft>
              <a:buClr>
                <a:schemeClr val="dk1"/>
              </a:buClr>
              <a:buSzPts val="1200"/>
              <a:buFont typeface="Arial"/>
              <a:buNone/>
            </a:pPr>
            <a:r>
              <a:rPr lang="en-US"/>
              <a:t>Their deployment requires careful alignment between dvPortGroups and VDS uplinks on ESX hosts and NSX Edge fast-path interfaces - an often-complex task for less experienced users. </a:t>
            </a:r>
            <a:endParaRPr/>
          </a:p>
          <a:p>
            <a:pPr marL="0" lvl="0" indent="0" algn="l" rtl="0">
              <a:spcBef>
                <a:spcPts val="0"/>
              </a:spcBef>
              <a:spcAft>
                <a:spcPts val="0"/>
              </a:spcAft>
              <a:buClr>
                <a:schemeClr val="dk1"/>
              </a:buClr>
              <a:buSzPts val="1200"/>
              <a:buFont typeface="Arial"/>
              <a:buNone/>
            </a:pPr>
            <a:r>
              <a:rPr lang="en-US"/>
              <a:t>A new deployment workflow, now integrated into the vCenter UI, simplifies this process by guiding users through the necessary inputs, automatically mapping vSphere and NSX objects, and providing a real-time visual representation of the configuration. </a:t>
            </a:r>
            <a:endParaRPr/>
          </a:p>
          <a:p>
            <a:pPr marL="0" lvl="0" indent="0" algn="l" rtl="0">
              <a:spcBef>
                <a:spcPts val="0"/>
              </a:spcBef>
              <a:spcAft>
                <a:spcPts val="0"/>
              </a:spcAft>
              <a:buClr>
                <a:schemeClr val="dk1"/>
              </a:buClr>
              <a:buSzPts val="1200"/>
              <a:buFont typeface="Arial"/>
              <a:buNone/>
            </a:pPr>
            <a:r>
              <a:rPr lang="en-US"/>
              <a:t>This significantly streamlines the deployment of Edge VMs, a critical component of NSX.</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b="1"/>
              <a:t>Notes:</a:t>
            </a:r>
            <a:br>
              <a:rPr lang="en-US"/>
            </a:br>
            <a:endParaRPr/>
          </a:p>
          <a:p>
            <a:pPr marL="0" lvl="0" indent="0" algn="l" rtl="0">
              <a:spcBef>
                <a:spcPts val="0"/>
              </a:spcBef>
              <a:spcAft>
                <a:spcPts val="0"/>
              </a:spcAft>
              <a:buClr>
                <a:schemeClr val="dk1"/>
              </a:buClr>
              <a:buSzPts val="1200"/>
              <a:buFont typeface="Arial"/>
              <a:buNone/>
            </a:pPr>
            <a:r>
              <a:rPr lang="en-US" b="1"/>
              <a:t>Resources:</a:t>
            </a:r>
            <a:br>
              <a:rPr lang="en-US"/>
            </a:br>
            <a:endParaRPr/>
          </a:p>
          <a:p>
            <a:pPr marL="0" lvl="0" indent="0" algn="l" rtl="0">
              <a:spcBef>
                <a:spcPts val="0"/>
              </a:spcBef>
              <a:spcAft>
                <a:spcPts val="0"/>
              </a:spcAft>
              <a:buNone/>
            </a:pPr>
            <a:endParaRPr/>
          </a:p>
        </p:txBody>
      </p:sp>
      <p:sp>
        <p:nvSpPr>
          <p:cNvPr id="6037" name="Google Shape;6037;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3"/>
        <p:cNvGrpSpPr/>
        <p:nvPr/>
      </p:nvGrpSpPr>
      <p:grpSpPr>
        <a:xfrm>
          <a:off x="0" y="0"/>
          <a:ext cx="0" cy="0"/>
          <a:chOff x="0" y="0"/>
          <a:chExt cx="0" cy="0"/>
        </a:xfrm>
      </p:grpSpPr>
      <p:sp>
        <p:nvSpPr>
          <p:cNvPr id="6054" name="Google Shape;6054;p2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55" name="Google Shape;6055;p2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1020"/>
              <a:buFont typeface="Arial"/>
              <a:buNone/>
            </a:pPr>
            <a:r>
              <a:rPr lang="en-US" sz="1020" b="1">
                <a:solidFill>
                  <a:schemeClr val="dk1"/>
                </a:solidFill>
                <a:latin typeface="Arial"/>
                <a:ea typeface="Arial"/>
                <a:cs typeface="Arial"/>
                <a:sym typeface="Arial"/>
              </a:rPr>
              <a:t>Presenter Note:  </a:t>
            </a:r>
            <a:r>
              <a:rPr lang="en-US" sz="1020" b="1">
                <a:latin typeface="Arial"/>
                <a:ea typeface="Arial"/>
                <a:cs typeface="Arial"/>
                <a:sym typeface="Arial"/>
              </a:rPr>
              <a:t>This slide contains animation</a:t>
            </a:r>
            <a:endParaRPr sz="1020" b="1">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1020"/>
              <a:buFont typeface="Arial"/>
              <a:buNone/>
            </a:pPr>
            <a:endParaRPr sz="102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200"/>
              <a:buFont typeface="Arial"/>
              <a:buNone/>
            </a:pPr>
            <a:r>
              <a:rPr lang="en-US" sz="1020" b="1">
                <a:solidFill>
                  <a:schemeClr val="dk1"/>
                </a:solidFill>
                <a:latin typeface="Arial"/>
                <a:ea typeface="Arial"/>
                <a:cs typeface="Arial"/>
                <a:sym typeface="Arial"/>
              </a:rPr>
              <a:t>Key Message:</a:t>
            </a:r>
            <a:endParaRPr/>
          </a:p>
          <a:p>
            <a:pPr marL="0" marR="0" lvl="0" indent="0" algn="l" rtl="0">
              <a:lnSpc>
                <a:spcPct val="80000"/>
              </a:lnSpc>
              <a:spcBef>
                <a:spcPts val="0"/>
              </a:spcBef>
              <a:spcAft>
                <a:spcPts val="0"/>
              </a:spcAft>
              <a:buClr>
                <a:schemeClr val="dk1"/>
              </a:buClr>
              <a:buSzPts val="1200"/>
              <a:buFont typeface="Arial"/>
              <a:buNone/>
            </a:pPr>
            <a:r>
              <a:rPr lang="en-US" sz="1020"/>
              <a:t>The multi-tier gateway model enables Enterprise, Project, and VPC Admins to make independent connectivity decisions, with Project Admins using transit gateways to connect projects to external networks, and VPC Admins leveraging VPC gateways to connect subnets within each VPC.</a:t>
            </a:r>
            <a:endParaRPr sz="102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1200"/>
              <a:buFont typeface="Arial"/>
              <a:buNone/>
            </a:pPr>
            <a:br>
              <a:rPr lang="en-US" sz="1020">
                <a:solidFill>
                  <a:schemeClr val="dk1"/>
                </a:solidFill>
                <a:latin typeface="Arial"/>
                <a:ea typeface="Arial"/>
                <a:cs typeface="Arial"/>
                <a:sym typeface="Arial"/>
              </a:rPr>
            </a:br>
            <a:r>
              <a:rPr lang="en-US" sz="1020" b="1">
                <a:solidFill>
                  <a:schemeClr val="dk1"/>
                </a:solidFill>
                <a:latin typeface="Arial"/>
                <a:ea typeface="Arial"/>
                <a:cs typeface="Arial"/>
                <a:sym typeface="Arial"/>
              </a:rPr>
              <a:t>Talk Track:</a:t>
            </a:r>
            <a:endParaRPr/>
          </a:p>
          <a:p>
            <a:pPr marL="0" lvl="0" indent="0" algn="l" rtl="0">
              <a:lnSpc>
                <a:spcPct val="80000"/>
              </a:lnSpc>
              <a:spcBef>
                <a:spcPts val="0"/>
              </a:spcBef>
              <a:spcAft>
                <a:spcPts val="0"/>
              </a:spcAft>
              <a:buClr>
                <a:schemeClr val="dk1"/>
              </a:buClr>
              <a:buSzPts val="1020"/>
              <a:buFont typeface="Arial"/>
              <a:buNone/>
            </a:pPr>
            <a:r>
              <a:rPr lang="en-US" sz="1020"/>
              <a:t>We’ve seen that the VPC model defines three distinct roles, each with clear responsibilities. </a:t>
            </a:r>
            <a:endParaRPr/>
          </a:p>
          <a:p>
            <a:pPr marL="0" lvl="0" indent="0" algn="l" rtl="0">
              <a:lnSpc>
                <a:spcPct val="80000"/>
              </a:lnSpc>
              <a:spcBef>
                <a:spcPts val="0"/>
              </a:spcBef>
              <a:spcAft>
                <a:spcPts val="0"/>
              </a:spcAft>
              <a:buClr>
                <a:schemeClr val="dk1"/>
              </a:buClr>
              <a:buSzPts val="1020"/>
              <a:buFont typeface="Arial"/>
              <a:buNone/>
            </a:pPr>
            <a:r>
              <a:rPr lang="en-US" sz="1020"/>
              <a:t>Now, let’s look at how these roles work together to establish connectivity, and the key objects involved in making that happen. </a:t>
            </a:r>
            <a:endParaRPr/>
          </a:p>
          <a:p>
            <a:pPr marL="0" lvl="0" indent="0" algn="l" rtl="0">
              <a:lnSpc>
                <a:spcPct val="80000"/>
              </a:lnSpc>
              <a:spcBef>
                <a:spcPts val="0"/>
              </a:spcBef>
              <a:spcAft>
                <a:spcPts val="0"/>
              </a:spcAft>
              <a:buClr>
                <a:schemeClr val="dk1"/>
              </a:buClr>
              <a:buSzPts val="1020"/>
              <a:buFont typeface="Arial"/>
              <a:buNone/>
            </a:pPr>
            <a:r>
              <a:rPr lang="en-US" sz="1020"/>
              <a:t>The Enterprise Admin manages interactions with the physical network and provides connectivity options to Project Admins by defining "</a:t>
            </a:r>
            <a:r>
              <a:rPr lang="en-US" sz="1020" b="1"/>
              <a:t>external connections</a:t>
            </a:r>
            <a:r>
              <a:rPr lang="en-US" sz="1020"/>
              <a:t>." </a:t>
            </a:r>
            <a:endParaRPr/>
          </a:p>
          <a:p>
            <a:pPr marL="0" lvl="0" indent="0" algn="l" rtl="0">
              <a:lnSpc>
                <a:spcPct val="80000"/>
              </a:lnSpc>
              <a:spcBef>
                <a:spcPts val="0"/>
              </a:spcBef>
              <a:spcAft>
                <a:spcPts val="0"/>
              </a:spcAft>
              <a:buClr>
                <a:schemeClr val="dk1"/>
              </a:buClr>
              <a:buSzPts val="1020"/>
              <a:buFont typeface="Arial"/>
              <a:buNone/>
            </a:pPr>
            <a:r>
              <a:rPr lang="en-US" sz="1020"/>
              <a:t>These external connections are profiles that describe how access to the physical network is delivered.</a:t>
            </a:r>
            <a:endParaRPr/>
          </a:p>
          <a:p>
            <a:pPr marL="0" lvl="0" indent="0" algn="l" rtl="0">
              <a:lnSpc>
                <a:spcPct val="80000"/>
              </a:lnSpc>
              <a:spcBef>
                <a:spcPts val="0"/>
              </a:spcBef>
              <a:spcAft>
                <a:spcPts val="0"/>
              </a:spcAft>
              <a:buClr>
                <a:schemeClr val="dk1"/>
              </a:buClr>
              <a:buSzPts val="1020"/>
              <a:buFont typeface="Arial"/>
              <a:buNone/>
            </a:pPr>
            <a:endParaRPr sz="1020"/>
          </a:p>
          <a:p>
            <a:pPr marL="0" lvl="0" indent="0" algn="l" rtl="0">
              <a:lnSpc>
                <a:spcPct val="80000"/>
              </a:lnSpc>
              <a:spcBef>
                <a:spcPts val="0"/>
              </a:spcBef>
              <a:spcAft>
                <a:spcPts val="0"/>
              </a:spcAft>
              <a:buClr>
                <a:schemeClr val="dk1"/>
              </a:buClr>
              <a:buSzPts val="1020"/>
              <a:buFont typeface="Arial"/>
              <a:buNone/>
            </a:pPr>
            <a:r>
              <a:rPr lang="en-US" sz="1020"/>
              <a:t>&lt;click 1&gt;</a:t>
            </a:r>
            <a:endParaRPr/>
          </a:p>
          <a:p>
            <a:pPr marL="0" lvl="0" indent="0" algn="l" rtl="0">
              <a:lnSpc>
                <a:spcPct val="80000"/>
              </a:lnSpc>
              <a:spcBef>
                <a:spcPts val="0"/>
              </a:spcBef>
              <a:spcAft>
                <a:spcPts val="0"/>
              </a:spcAft>
              <a:buClr>
                <a:schemeClr val="dk1"/>
              </a:buClr>
              <a:buSzPts val="1020"/>
              <a:buFont typeface="Arial"/>
              <a:buNone/>
            </a:pPr>
            <a:r>
              <a:rPr lang="en-US" sz="1020"/>
              <a:t>An external connection can represent either a connection centralized through a Tier-0 gateway on an edge node or distributed direct access via a VLAN.</a:t>
            </a:r>
            <a:endParaRPr/>
          </a:p>
          <a:p>
            <a:pPr marL="0" lvl="0" indent="0" algn="l" rtl="0">
              <a:lnSpc>
                <a:spcPct val="80000"/>
              </a:lnSpc>
              <a:spcBef>
                <a:spcPts val="0"/>
              </a:spcBef>
              <a:spcAft>
                <a:spcPts val="0"/>
              </a:spcAft>
              <a:buClr>
                <a:schemeClr val="dk1"/>
              </a:buClr>
              <a:buSzPts val="1020"/>
              <a:buFont typeface="Arial"/>
              <a:buNone/>
            </a:pPr>
            <a:endParaRPr sz="1020"/>
          </a:p>
          <a:p>
            <a:pPr marL="0" lvl="0" indent="0" algn="l" rtl="0">
              <a:lnSpc>
                <a:spcPct val="80000"/>
              </a:lnSpc>
              <a:spcBef>
                <a:spcPts val="0"/>
              </a:spcBef>
              <a:spcAft>
                <a:spcPts val="0"/>
              </a:spcAft>
              <a:buClr>
                <a:schemeClr val="dk1"/>
              </a:buClr>
              <a:buSzPts val="1020"/>
              <a:buFont typeface="Arial"/>
              <a:buNone/>
            </a:pPr>
            <a:r>
              <a:rPr lang="en-US" sz="1020"/>
              <a:t>&lt;click 2&gt;</a:t>
            </a:r>
            <a:endParaRPr/>
          </a:p>
          <a:p>
            <a:pPr marL="0" lvl="0" indent="0" algn="l" rtl="0">
              <a:lnSpc>
                <a:spcPct val="80000"/>
              </a:lnSpc>
              <a:spcBef>
                <a:spcPts val="0"/>
              </a:spcBef>
              <a:spcAft>
                <a:spcPts val="0"/>
              </a:spcAft>
              <a:buClr>
                <a:schemeClr val="dk1"/>
              </a:buClr>
              <a:buSzPts val="1020"/>
              <a:buFont typeface="Arial"/>
              <a:buNone/>
            </a:pPr>
            <a:r>
              <a:rPr lang="en-US" sz="1020"/>
              <a:t>The Project Admin, who has no direct access to the physical infrastructure, manages a new type of gateway called the </a:t>
            </a:r>
            <a:r>
              <a:rPr lang="en-US" sz="1020" b="1"/>
              <a:t>transit gateway</a:t>
            </a:r>
            <a:r>
              <a:rPr lang="en-US" sz="1020"/>
              <a:t>. </a:t>
            </a:r>
            <a:endParaRPr/>
          </a:p>
          <a:p>
            <a:pPr marL="0" lvl="0" indent="0" algn="l" rtl="0">
              <a:lnSpc>
                <a:spcPct val="80000"/>
              </a:lnSpc>
              <a:spcBef>
                <a:spcPts val="0"/>
              </a:spcBef>
              <a:spcAft>
                <a:spcPts val="0"/>
              </a:spcAft>
              <a:buClr>
                <a:schemeClr val="dk1"/>
              </a:buClr>
              <a:buSzPts val="1020"/>
              <a:buFont typeface="Arial"/>
              <a:buNone/>
            </a:pPr>
            <a:r>
              <a:rPr lang="en-US" sz="1020"/>
              <a:t>By attaching the transit gateway to an external connection exposed by the Enterprise Admin, the Project Admin defines how the project connects to the external network. </a:t>
            </a:r>
            <a:endParaRPr/>
          </a:p>
          <a:p>
            <a:pPr marL="0" lvl="0" indent="0" algn="l" rtl="0">
              <a:lnSpc>
                <a:spcPct val="80000"/>
              </a:lnSpc>
              <a:spcBef>
                <a:spcPts val="0"/>
              </a:spcBef>
              <a:spcAft>
                <a:spcPts val="0"/>
              </a:spcAft>
              <a:buClr>
                <a:schemeClr val="dk1"/>
              </a:buClr>
              <a:buSzPts val="1020"/>
              <a:buFont typeface="Arial"/>
              <a:buNone/>
            </a:pPr>
            <a:r>
              <a:rPr lang="en-US" sz="1020"/>
              <a:t>The choice of external connection also determines whether the transit gateway will function in a distributed or centralized mode.</a:t>
            </a:r>
            <a:endParaRPr/>
          </a:p>
          <a:p>
            <a:pPr marL="0" lvl="0" indent="0" algn="l" rtl="0">
              <a:lnSpc>
                <a:spcPct val="80000"/>
              </a:lnSpc>
              <a:spcBef>
                <a:spcPts val="0"/>
              </a:spcBef>
              <a:spcAft>
                <a:spcPts val="0"/>
              </a:spcAft>
              <a:buClr>
                <a:schemeClr val="dk1"/>
              </a:buClr>
              <a:buSzPts val="1020"/>
              <a:buFont typeface="Arial"/>
              <a:buNone/>
            </a:pPr>
            <a:endParaRPr sz="1020"/>
          </a:p>
          <a:p>
            <a:pPr marL="0" lvl="0" indent="0" algn="l" rtl="0">
              <a:lnSpc>
                <a:spcPct val="80000"/>
              </a:lnSpc>
              <a:spcBef>
                <a:spcPts val="0"/>
              </a:spcBef>
              <a:spcAft>
                <a:spcPts val="0"/>
              </a:spcAft>
              <a:buClr>
                <a:schemeClr val="dk1"/>
              </a:buClr>
              <a:buSzPts val="1020"/>
              <a:buFont typeface="Arial"/>
              <a:buNone/>
            </a:pPr>
            <a:r>
              <a:rPr lang="en-US" sz="1020"/>
              <a:t>&lt;click 3&gt;</a:t>
            </a:r>
            <a:endParaRPr/>
          </a:p>
          <a:p>
            <a:pPr marL="0" lvl="0" indent="0" algn="l" rtl="0">
              <a:lnSpc>
                <a:spcPct val="80000"/>
              </a:lnSpc>
              <a:spcBef>
                <a:spcPts val="0"/>
              </a:spcBef>
              <a:spcAft>
                <a:spcPts val="0"/>
              </a:spcAft>
              <a:buClr>
                <a:schemeClr val="dk1"/>
              </a:buClr>
              <a:buSzPts val="1020"/>
              <a:buFont typeface="Arial"/>
              <a:buNone/>
            </a:pPr>
            <a:r>
              <a:rPr lang="en-US" sz="1020"/>
              <a:t>Finally, within each VPC, a </a:t>
            </a:r>
            <a:r>
              <a:rPr lang="en-US" sz="1020" b="1"/>
              <a:t>VPC gateway</a:t>
            </a:r>
            <a:r>
              <a:rPr lang="en-US" sz="1020"/>
              <a:t> is deployed. </a:t>
            </a:r>
            <a:endParaRPr/>
          </a:p>
          <a:p>
            <a:pPr marL="0" lvl="0" indent="0" algn="l" rtl="0">
              <a:lnSpc>
                <a:spcPct val="80000"/>
              </a:lnSpc>
              <a:spcBef>
                <a:spcPts val="0"/>
              </a:spcBef>
              <a:spcAft>
                <a:spcPts val="0"/>
              </a:spcAft>
              <a:buClr>
                <a:schemeClr val="dk1"/>
              </a:buClr>
              <a:buSzPts val="1020"/>
              <a:buFont typeface="Arial"/>
              <a:buNone/>
            </a:pPr>
            <a:r>
              <a:rPr lang="en-US" sz="1020"/>
              <a:t>The VPC gateway connects internal subnets and provides external connectivity by routing through the transit gateway.</a:t>
            </a:r>
            <a:endParaRPr/>
          </a:p>
          <a:p>
            <a:pPr marL="0" lvl="0" indent="0" algn="l" rtl="0">
              <a:lnSpc>
                <a:spcPct val="80000"/>
              </a:lnSpc>
              <a:spcBef>
                <a:spcPts val="0"/>
              </a:spcBef>
              <a:spcAft>
                <a:spcPts val="0"/>
              </a:spcAft>
              <a:buClr>
                <a:schemeClr val="dk1"/>
              </a:buClr>
              <a:buSzPts val="1020"/>
              <a:buFont typeface="Arial"/>
              <a:buNone/>
            </a:pPr>
            <a:endParaRPr sz="1020"/>
          </a:p>
          <a:p>
            <a:pPr marL="0" lvl="0" indent="0" algn="l" rtl="0">
              <a:lnSpc>
                <a:spcPct val="80000"/>
              </a:lnSpc>
              <a:spcBef>
                <a:spcPts val="0"/>
              </a:spcBef>
              <a:spcAft>
                <a:spcPts val="0"/>
              </a:spcAft>
              <a:buClr>
                <a:schemeClr val="dk1"/>
              </a:buClr>
              <a:buSzPts val="1020"/>
              <a:buFont typeface="Arial"/>
              <a:buNone/>
            </a:pPr>
            <a:r>
              <a:rPr lang="en-US" sz="1020" b="1"/>
              <a:t>Notes:</a:t>
            </a:r>
            <a:br>
              <a:rPr lang="en-US" sz="1020"/>
            </a:br>
            <a:endParaRPr sz="1020"/>
          </a:p>
          <a:p>
            <a:pPr marL="0" lvl="0" indent="0" algn="l" rtl="0">
              <a:lnSpc>
                <a:spcPct val="80000"/>
              </a:lnSpc>
              <a:spcBef>
                <a:spcPts val="0"/>
              </a:spcBef>
              <a:spcAft>
                <a:spcPts val="0"/>
              </a:spcAft>
              <a:buClr>
                <a:schemeClr val="dk1"/>
              </a:buClr>
              <a:buSzPts val="1020"/>
              <a:buFont typeface="Arial"/>
              <a:buNone/>
            </a:pPr>
            <a:r>
              <a:rPr lang="en-US" sz="1020" b="1"/>
              <a:t>Resources:</a:t>
            </a:r>
            <a:br>
              <a:rPr lang="en-US" sz="1020"/>
            </a:br>
            <a:endParaRPr sz="1020"/>
          </a:p>
          <a:p>
            <a:pPr marL="0" lvl="0" indent="0" algn="l" rtl="0">
              <a:lnSpc>
                <a:spcPct val="80000"/>
              </a:lnSpc>
              <a:spcBef>
                <a:spcPts val="0"/>
              </a:spcBef>
              <a:spcAft>
                <a:spcPts val="0"/>
              </a:spcAft>
              <a:buNone/>
            </a:pPr>
            <a:endParaRPr sz="1020"/>
          </a:p>
          <a:p>
            <a:pPr marL="0" lvl="0" indent="0" algn="l" rtl="0">
              <a:lnSpc>
                <a:spcPct val="80000"/>
              </a:lnSpc>
              <a:spcBef>
                <a:spcPts val="0"/>
              </a:spcBef>
              <a:spcAft>
                <a:spcPts val="0"/>
              </a:spcAft>
              <a:buNone/>
            </a:pPr>
            <a:endParaRPr sz="1020"/>
          </a:p>
        </p:txBody>
      </p:sp>
      <p:sp>
        <p:nvSpPr>
          <p:cNvPr id="6056" name="Google Shape;6056;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2"/>
        <p:cNvGrpSpPr/>
        <p:nvPr/>
      </p:nvGrpSpPr>
      <p:grpSpPr>
        <a:xfrm>
          <a:off x="0" y="0"/>
          <a:ext cx="0" cy="0"/>
          <a:chOff x="0" y="0"/>
          <a:chExt cx="0" cy="0"/>
        </a:xfrm>
      </p:grpSpPr>
      <p:sp>
        <p:nvSpPr>
          <p:cNvPr id="6113" name="Google Shape;6113;p2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4" name="Google Shape;6114;p2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chemeClr val="dk1"/>
              </a:buClr>
              <a:buSzPts val="1110"/>
              <a:buFont typeface="Arial"/>
              <a:buNone/>
            </a:pPr>
            <a:r>
              <a:rPr lang="en-US" sz="1110" b="1">
                <a:solidFill>
                  <a:schemeClr val="dk1"/>
                </a:solidFill>
                <a:latin typeface="Arial"/>
                <a:ea typeface="Arial"/>
                <a:cs typeface="Arial"/>
                <a:sym typeface="Arial"/>
              </a:rPr>
              <a:t>Presenter Note:  </a:t>
            </a:r>
            <a:r>
              <a:rPr lang="en-US" sz="1110" b="1">
                <a:latin typeface="Arial"/>
                <a:ea typeface="Arial"/>
                <a:cs typeface="Arial"/>
                <a:sym typeface="Arial"/>
              </a:rPr>
              <a:t>This slide contains animation</a:t>
            </a:r>
            <a:endParaRPr sz="1110" b="1">
              <a:solidFill>
                <a:schemeClr val="dk1"/>
              </a:solidFill>
              <a:latin typeface="Arial"/>
              <a:ea typeface="Arial"/>
              <a:cs typeface="Arial"/>
              <a:sym typeface="Arial"/>
            </a:endParaRPr>
          </a:p>
          <a:p>
            <a:pPr marL="0" lvl="0" indent="0" algn="l" rtl="0">
              <a:lnSpc>
                <a:spcPct val="90000"/>
              </a:lnSpc>
              <a:spcBef>
                <a:spcPts val="0"/>
              </a:spcBef>
              <a:spcAft>
                <a:spcPts val="0"/>
              </a:spcAft>
              <a:buClr>
                <a:schemeClr val="dk1"/>
              </a:buClr>
              <a:buSzPts val="1110"/>
              <a:buFont typeface="Arial"/>
              <a:buNone/>
            </a:pPr>
            <a:endParaRPr sz="1110">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1200"/>
              <a:buFont typeface="Arial"/>
              <a:buNone/>
            </a:pPr>
            <a:r>
              <a:rPr lang="en-US" sz="1110" b="1">
                <a:solidFill>
                  <a:schemeClr val="dk1"/>
                </a:solidFill>
                <a:latin typeface="Arial"/>
                <a:ea typeface="Arial"/>
                <a:cs typeface="Arial"/>
                <a:sym typeface="Arial"/>
              </a:rPr>
              <a:t>Key Message:</a:t>
            </a:r>
            <a:endParaRPr sz="1110">
              <a:solidFill>
                <a:schemeClr val="dk1"/>
              </a:solidFill>
              <a:latin typeface="Arial"/>
              <a:ea typeface="Arial"/>
              <a:cs typeface="Arial"/>
              <a:sym typeface="Arial"/>
            </a:endParaRPr>
          </a:p>
          <a:p>
            <a:pPr marL="0" lvl="0" indent="0" algn="l" rtl="0">
              <a:lnSpc>
                <a:spcPct val="90000"/>
              </a:lnSpc>
              <a:spcBef>
                <a:spcPts val="0"/>
              </a:spcBef>
              <a:spcAft>
                <a:spcPts val="0"/>
              </a:spcAft>
              <a:buClr>
                <a:schemeClr val="dk1"/>
              </a:buClr>
              <a:buSzPts val="1110"/>
              <a:buFont typeface="Arial"/>
              <a:buNone/>
            </a:pPr>
            <a:r>
              <a:rPr lang="en-US" sz="1110">
                <a:solidFill>
                  <a:schemeClr val="dk1"/>
                </a:solidFill>
                <a:latin typeface="Arial"/>
                <a:ea typeface="Arial"/>
                <a:cs typeface="Arial"/>
                <a:sym typeface="Arial"/>
              </a:rPr>
              <a:t>When attaching to a centralized external connection, the transit gateway is implemented as a Tier0 VRF. </a:t>
            </a:r>
            <a:endParaRPr/>
          </a:p>
          <a:p>
            <a:pPr marL="0" lvl="0" indent="0" algn="l" rtl="0">
              <a:lnSpc>
                <a:spcPct val="90000"/>
              </a:lnSpc>
              <a:spcBef>
                <a:spcPts val="0"/>
              </a:spcBef>
              <a:spcAft>
                <a:spcPts val="0"/>
              </a:spcAft>
              <a:buClr>
                <a:schemeClr val="dk1"/>
              </a:buClr>
              <a:buSzPts val="1110"/>
              <a:buFont typeface="Arial"/>
              <a:buNone/>
            </a:pPr>
            <a:r>
              <a:rPr lang="en-US" sz="1110">
                <a:solidFill>
                  <a:schemeClr val="dk1"/>
                </a:solidFill>
                <a:latin typeface="Arial"/>
                <a:ea typeface="Arial"/>
                <a:cs typeface="Arial"/>
                <a:sym typeface="Arial"/>
              </a:rPr>
              <a:t>Based on the Tier0, it can offer stateful services. </a:t>
            </a:r>
            <a:endParaRPr/>
          </a:p>
          <a:p>
            <a:pPr marL="0" lvl="0" indent="0" algn="l" rtl="0">
              <a:lnSpc>
                <a:spcPct val="90000"/>
              </a:lnSpc>
              <a:spcBef>
                <a:spcPts val="0"/>
              </a:spcBef>
              <a:spcAft>
                <a:spcPts val="0"/>
              </a:spcAft>
              <a:buClr>
                <a:schemeClr val="dk1"/>
              </a:buClr>
              <a:buSzPts val="1110"/>
              <a:buFont typeface="Arial"/>
              <a:buNone/>
            </a:pPr>
            <a:r>
              <a:rPr lang="en-US" sz="1110">
                <a:solidFill>
                  <a:schemeClr val="dk1"/>
                </a:solidFill>
                <a:latin typeface="Arial"/>
                <a:ea typeface="Arial"/>
                <a:cs typeface="Arial"/>
                <a:sym typeface="Arial"/>
              </a:rPr>
              <a:t>This is the most traditional connectivity model offered by NSX. It requires NSX edges.</a:t>
            </a:r>
            <a:endParaRPr/>
          </a:p>
          <a:p>
            <a:pPr marL="0" lvl="0" indent="0" algn="l" rtl="0">
              <a:lnSpc>
                <a:spcPct val="90000"/>
              </a:lnSpc>
              <a:spcBef>
                <a:spcPts val="0"/>
              </a:spcBef>
              <a:spcAft>
                <a:spcPts val="0"/>
              </a:spcAft>
              <a:buClr>
                <a:schemeClr val="dk1"/>
              </a:buClr>
              <a:buSzPts val="1110"/>
              <a:buFont typeface="Arial"/>
              <a:buNone/>
            </a:pPr>
            <a:br>
              <a:rPr lang="en-US" sz="1110">
                <a:solidFill>
                  <a:schemeClr val="dk1"/>
                </a:solidFill>
                <a:latin typeface="Arial"/>
                <a:ea typeface="Arial"/>
                <a:cs typeface="Arial"/>
                <a:sym typeface="Arial"/>
              </a:rPr>
            </a:br>
            <a:r>
              <a:rPr lang="en-US" sz="1110" b="1">
                <a:solidFill>
                  <a:schemeClr val="dk1"/>
                </a:solidFill>
                <a:latin typeface="Arial"/>
                <a:ea typeface="Arial"/>
                <a:cs typeface="Arial"/>
                <a:sym typeface="Arial"/>
              </a:rPr>
              <a:t>Talk Track:</a:t>
            </a:r>
            <a:endParaRPr/>
          </a:p>
          <a:p>
            <a:pPr marL="0" lvl="0" indent="0" algn="l" rtl="0">
              <a:lnSpc>
                <a:spcPct val="90000"/>
              </a:lnSpc>
              <a:spcBef>
                <a:spcPts val="0"/>
              </a:spcBef>
              <a:spcAft>
                <a:spcPts val="0"/>
              </a:spcAft>
              <a:buClr>
                <a:schemeClr val="dk1"/>
              </a:buClr>
              <a:buSzPts val="1110"/>
              <a:buFont typeface="Arial"/>
              <a:buNone/>
            </a:pPr>
            <a:r>
              <a:rPr lang="en-US" sz="1110"/>
              <a:t>When attached to a centralized external connection, the transit gateway is associated with a Tier-0 gateway on an Edge node—effectively acting as a VRF of the Tier-0 for those familiar with NSX. </a:t>
            </a:r>
            <a:endParaRPr/>
          </a:p>
          <a:p>
            <a:pPr marL="0" lvl="0" indent="0" algn="l" rtl="0">
              <a:lnSpc>
                <a:spcPct val="90000"/>
              </a:lnSpc>
              <a:spcBef>
                <a:spcPts val="0"/>
              </a:spcBef>
              <a:spcAft>
                <a:spcPts val="0"/>
              </a:spcAft>
              <a:buClr>
                <a:schemeClr val="dk1"/>
              </a:buClr>
              <a:buSzPts val="1110"/>
              <a:buFont typeface="Arial"/>
              <a:buNone/>
            </a:pPr>
            <a:r>
              <a:rPr lang="en-US" sz="1110"/>
              <a:t>This tight integration means that all north-south traffic through the transit gateway also flows through the Tier-0 gateway and inherits its redundancy model, whether active/active or active/standby. </a:t>
            </a:r>
            <a:endParaRPr/>
          </a:p>
          <a:p>
            <a:pPr marL="0" lvl="0" indent="0" algn="l" rtl="0">
              <a:lnSpc>
                <a:spcPct val="90000"/>
              </a:lnSpc>
              <a:spcBef>
                <a:spcPts val="0"/>
              </a:spcBef>
              <a:spcAft>
                <a:spcPts val="0"/>
              </a:spcAft>
              <a:buClr>
                <a:schemeClr val="dk1"/>
              </a:buClr>
              <a:buSzPts val="1110"/>
              <a:buFont typeface="Arial"/>
              <a:buNone/>
            </a:pPr>
            <a:r>
              <a:rPr lang="en-US" sz="1110"/>
              <a:t>This has direct implications on the services the transit gateway can deliver: stateful services are not supported when operating in active/active mode.</a:t>
            </a:r>
            <a:endParaRPr/>
          </a:p>
          <a:p>
            <a:pPr marL="0" lvl="0" indent="0" algn="l" rtl="0">
              <a:lnSpc>
                <a:spcPct val="90000"/>
              </a:lnSpc>
              <a:spcBef>
                <a:spcPts val="0"/>
              </a:spcBef>
              <a:spcAft>
                <a:spcPts val="0"/>
              </a:spcAft>
              <a:buClr>
                <a:schemeClr val="dk1"/>
              </a:buClr>
              <a:buSzPts val="1110"/>
              <a:buFont typeface="Arial"/>
              <a:buNone/>
            </a:pPr>
            <a:endParaRPr sz="1110"/>
          </a:p>
          <a:p>
            <a:pPr marL="0" lvl="0" indent="0" algn="l" rtl="0">
              <a:lnSpc>
                <a:spcPct val="90000"/>
              </a:lnSpc>
              <a:spcBef>
                <a:spcPts val="0"/>
              </a:spcBef>
              <a:spcAft>
                <a:spcPts val="0"/>
              </a:spcAft>
              <a:buClr>
                <a:schemeClr val="dk1"/>
              </a:buClr>
              <a:buSzPts val="1110"/>
              <a:buFont typeface="Arial"/>
              <a:buNone/>
            </a:pPr>
            <a:r>
              <a:rPr lang="en-US" sz="1110"/>
              <a:t>&lt;click 1&gt; </a:t>
            </a:r>
            <a:endParaRPr/>
          </a:p>
          <a:p>
            <a:pPr marL="0" lvl="0" indent="0" algn="l" rtl="0">
              <a:lnSpc>
                <a:spcPct val="90000"/>
              </a:lnSpc>
              <a:spcBef>
                <a:spcPts val="0"/>
              </a:spcBef>
              <a:spcAft>
                <a:spcPts val="0"/>
              </a:spcAft>
              <a:buClr>
                <a:schemeClr val="dk1"/>
              </a:buClr>
              <a:buSzPts val="1110"/>
              <a:buFont typeface="Arial"/>
              <a:buNone/>
            </a:pPr>
            <a:r>
              <a:rPr lang="en-US" sz="1110"/>
              <a:t>Similarly, VPC gateways also require a centralized component on an Edge node to run stateful services. </a:t>
            </a:r>
            <a:endParaRPr/>
          </a:p>
          <a:p>
            <a:pPr marL="0" lvl="0" indent="0" algn="l" rtl="0">
              <a:lnSpc>
                <a:spcPct val="90000"/>
              </a:lnSpc>
              <a:spcBef>
                <a:spcPts val="0"/>
              </a:spcBef>
              <a:spcAft>
                <a:spcPts val="0"/>
              </a:spcAft>
              <a:buClr>
                <a:schemeClr val="dk1"/>
              </a:buClr>
              <a:buSzPts val="1110"/>
              <a:buFont typeface="Arial"/>
              <a:buNone/>
            </a:pPr>
            <a:r>
              <a:rPr lang="en-US" sz="1110"/>
              <a:t>However, VPC gateways can be assigned Edge resources independently of those used by the transit gateway in a centralized external connection setup. </a:t>
            </a:r>
            <a:endParaRPr/>
          </a:p>
          <a:p>
            <a:pPr marL="0" lvl="0" indent="0" algn="l" rtl="0">
              <a:lnSpc>
                <a:spcPct val="90000"/>
              </a:lnSpc>
              <a:spcBef>
                <a:spcPts val="0"/>
              </a:spcBef>
              <a:spcAft>
                <a:spcPts val="0"/>
              </a:spcAft>
              <a:buClr>
                <a:schemeClr val="dk1"/>
              </a:buClr>
              <a:buSzPts val="1110"/>
              <a:buFont typeface="Arial"/>
              <a:buNone/>
            </a:pPr>
            <a:r>
              <a:rPr lang="en-US" sz="1110"/>
              <a:t>Services such as SNAT/DNAT, DHCP, QoS, Gateway Firewall, Supervisor Cluster integration, and VCF automation with the modern UI all rely on Edge nodes.</a:t>
            </a:r>
            <a:endParaRPr/>
          </a:p>
          <a:p>
            <a:pPr marL="0" marR="0" lvl="0" indent="0" algn="l" rtl="0">
              <a:lnSpc>
                <a:spcPct val="90000"/>
              </a:lnSpc>
              <a:spcBef>
                <a:spcPts val="0"/>
              </a:spcBef>
              <a:spcAft>
                <a:spcPts val="0"/>
              </a:spcAft>
              <a:buClr>
                <a:schemeClr val="dk1"/>
              </a:buClr>
              <a:buSzPts val="1110"/>
              <a:buFont typeface="Arial"/>
              <a:buNone/>
            </a:pPr>
            <a:endParaRPr sz="1110"/>
          </a:p>
          <a:p>
            <a:pPr marL="0" lvl="0" indent="0" algn="l" rtl="0">
              <a:lnSpc>
                <a:spcPct val="90000"/>
              </a:lnSpc>
              <a:spcBef>
                <a:spcPts val="0"/>
              </a:spcBef>
              <a:spcAft>
                <a:spcPts val="0"/>
              </a:spcAft>
              <a:buClr>
                <a:schemeClr val="dk1"/>
              </a:buClr>
              <a:buSzPts val="1110"/>
              <a:buFont typeface="Arial"/>
              <a:buNone/>
            </a:pPr>
            <a:r>
              <a:rPr lang="en-US" sz="1110" b="1"/>
              <a:t>Notes:</a:t>
            </a:r>
            <a:br>
              <a:rPr lang="en-US" sz="1110"/>
            </a:br>
            <a:endParaRPr sz="1110"/>
          </a:p>
          <a:p>
            <a:pPr marL="0" lvl="0" indent="0" algn="l" rtl="0">
              <a:lnSpc>
                <a:spcPct val="90000"/>
              </a:lnSpc>
              <a:spcBef>
                <a:spcPts val="0"/>
              </a:spcBef>
              <a:spcAft>
                <a:spcPts val="0"/>
              </a:spcAft>
              <a:buClr>
                <a:schemeClr val="dk1"/>
              </a:buClr>
              <a:buSzPts val="1110"/>
              <a:buFont typeface="Arial"/>
              <a:buNone/>
            </a:pPr>
            <a:r>
              <a:rPr lang="en-US" sz="1110" b="1"/>
              <a:t>Resources:</a:t>
            </a:r>
            <a:br>
              <a:rPr lang="en-US" sz="1110"/>
            </a:br>
            <a:endParaRPr sz="1110"/>
          </a:p>
          <a:p>
            <a:pPr marL="0" lvl="0" indent="0" algn="l" rtl="0">
              <a:lnSpc>
                <a:spcPct val="90000"/>
              </a:lnSpc>
              <a:spcBef>
                <a:spcPts val="0"/>
              </a:spcBef>
              <a:spcAft>
                <a:spcPts val="0"/>
              </a:spcAft>
              <a:buNone/>
            </a:pPr>
            <a:endParaRPr sz="1110"/>
          </a:p>
        </p:txBody>
      </p:sp>
      <p:sp>
        <p:nvSpPr>
          <p:cNvPr id="6115" name="Google Shape;6115;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9"/>
        <p:cNvGrpSpPr/>
        <p:nvPr/>
      </p:nvGrpSpPr>
      <p:grpSpPr>
        <a:xfrm>
          <a:off x="0" y="0"/>
          <a:ext cx="0" cy="0"/>
          <a:chOff x="0" y="0"/>
          <a:chExt cx="0" cy="0"/>
        </a:xfrm>
      </p:grpSpPr>
      <p:sp>
        <p:nvSpPr>
          <p:cNvPr id="6250" name="Google Shape;6250;p3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51" name="Google Shape;6251;p3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Key Message:</a:t>
            </a:r>
            <a:endParaRPr sz="1200" b="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b="0"/>
              <a:t>VCF 9.0 simplifies VPC deployment by removing the need for NSX Edge appliances, allowing ESX hosts to route external traffic directly via a distributed external connection. </a:t>
            </a:r>
            <a:endParaRPr/>
          </a:p>
          <a:p>
            <a:pPr marL="0" marR="0" lvl="0" indent="0" algn="l" rtl="0">
              <a:lnSpc>
                <a:spcPct val="100000"/>
              </a:lnSpc>
              <a:spcBef>
                <a:spcPts val="0"/>
              </a:spcBef>
              <a:spcAft>
                <a:spcPts val="0"/>
              </a:spcAft>
              <a:buClr>
                <a:schemeClr val="dk1"/>
              </a:buClr>
              <a:buSzPts val="1200"/>
              <a:buFont typeface="Arial"/>
              <a:buNone/>
            </a:pPr>
            <a:r>
              <a:rPr lang="en-US" b="0"/>
              <a:t>This reduces complexity but limits services to reflexive NAT and distributed DHCP, while requiring a shared Layer 2 VLAN across all hosts.</a:t>
            </a:r>
            <a:endParaRPr/>
          </a:p>
          <a:p>
            <a:pPr marL="0" lvl="0" indent="0" algn="l" rtl="0">
              <a:spcBef>
                <a:spcPts val="0"/>
              </a:spcBef>
              <a:spcAft>
                <a:spcPts val="0"/>
              </a:spcAft>
              <a:buClr>
                <a:schemeClr val="dk1"/>
              </a:buClr>
              <a:buSzPts val="1200"/>
              <a:buFont typeface="Arial"/>
              <a:buNone/>
            </a:pPr>
            <a:br>
              <a:rPr lang="en-US" sz="1200" b="0">
                <a:solidFill>
                  <a:schemeClr val="dk1"/>
                </a:solidFill>
                <a:latin typeface="Arial"/>
                <a:ea typeface="Arial"/>
                <a:cs typeface="Arial"/>
                <a:sym typeface="Arial"/>
              </a:rPr>
            </a:br>
            <a:r>
              <a:rPr lang="en-US" sz="1200" b="1">
                <a:solidFill>
                  <a:schemeClr val="dk1"/>
                </a:solidFill>
                <a:latin typeface="Arial"/>
                <a:ea typeface="Arial"/>
                <a:cs typeface="Arial"/>
                <a:sym typeface="Arial"/>
              </a:rPr>
              <a:t>Talk Track:</a:t>
            </a:r>
            <a:endParaRPr/>
          </a:p>
          <a:p>
            <a:pPr marL="0" lvl="0" indent="0" algn="l" rtl="0">
              <a:spcBef>
                <a:spcPts val="0"/>
              </a:spcBef>
              <a:spcAft>
                <a:spcPts val="0"/>
              </a:spcAft>
              <a:buClr>
                <a:schemeClr val="dk1"/>
              </a:buClr>
              <a:buSzPts val="1200"/>
              <a:buFont typeface="Arial"/>
              <a:buNone/>
            </a:pPr>
            <a:r>
              <a:rPr lang="en-US"/>
              <a:t>VCF 9.0 introduces the capability to deploy VPCs without requiring NSX Edge appliances, significantly simplifying one of the most complex tasks in NSX. </a:t>
            </a:r>
            <a:endParaRPr/>
          </a:p>
          <a:p>
            <a:pPr marL="0" lvl="0" indent="0" algn="l" rtl="0">
              <a:spcBef>
                <a:spcPts val="0"/>
              </a:spcBef>
              <a:spcAft>
                <a:spcPts val="0"/>
              </a:spcAft>
              <a:buClr>
                <a:schemeClr val="dk1"/>
              </a:buClr>
              <a:buSzPts val="1200"/>
              <a:buFont typeface="Arial"/>
              <a:buNone/>
            </a:pPr>
            <a:r>
              <a:rPr lang="en-US"/>
              <a:t>By attaching a transit gateway to a distributed external connection, each ESX host can independently route VM traffic to external destinations. </a:t>
            </a:r>
            <a:endParaRPr/>
          </a:p>
          <a:p>
            <a:pPr marL="0" lvl="0" indent="0" algn="l" rtl="0">
              <a:spcBef>
                <a:spcPts val="0"/>
              </a:spcBef>
              <a:spcAft>
                <a:spcPts val="0"/>
              </a:spcAft>
              <a:buClr>
                <a:schemeClr val="dk1"/>
              </a:buClr>
              <a:buSzPts val="1200"/>
              <a:buFont typeface="Arial"/>
              <a:buNone/>
            </a:pPr>
            <a:r>
              <a:rPr lang="en-US"/>
              <a:t>However, this model comes with trade-offs: </a:t>
            </a:r>
            <a:endParaRPr/>
          </a:p>
          <a:p>
            <a:pPr marL="171450" lvl="0" indent="-171450" algn="l" rtl="0">
              <a:spcBef>
                <a:spcPts val="0"/>
              </a:spcBef>
              <a:spcAft>
                <a:spcPts val="0"/>
              </a:spcAft>
              <a:buClr>
                <a:schemeClr val="dk1"/>
              </a:buClr>
              <a:buSzPts val="1200"/>
              <a:buFont typeface="Arial"/>
              <a:buChar char="•"/>
            </a:pPr>
            <a:r>
              <a:rPr lang="en-US"/>
              <a:t>only basic services like reflexive (1:1) NAT and distributed DHCP are available, </a:t>
            </a:r>
            <a:endParaRPr/>
          </a:p>
          <a:p>
            <a:pPr marL="171450" lvl="0" indent="-171450" algn="l" rtl="0">
              <a:spcBef>
                <a:spcPts val="0"/>
              </a:spcBef>
              <a:spcAft>
                <a:spcPts val="0"/>
              </a:spcAft>
              <a:buClr>
                <a:schemeClr val="dk1"/>
              </a:buClr>
              <a:buSzPts val="1200"/>
              <a:buFont typeface="Arial"/>
              <a:buChar char="•"/>
            </a:pPr>
            <a:r>
              <a:rPr lang="en-US"/>
              <a:t>and the physical network must provide a shared Layer 2 domain across all ESX hosts. Unlike traditional NSX overlay networking, this approach requires external VLANs to be extended to each host.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b="1"/>
              <a:t>Notes:</a:t>
            </a:r>
            <a:br>
              <a:rPr lang="en-US"/>
            </a:br>
            <a:endParaRPr/>
          </a:p>
          <a:p>
            <a:pPr marL="0" lvl="0" indent="0" algn="l" rtl="0">
              <a:spcBef>
                <a:spcPts val="0"/>
              </a:spcBef>
              <a:spcAft>
                <a:spcPts val="0"/>
              </a:spcAft>
              <a:buClr>
                <a:schemeClr val="dk1"/>
              </a:buClr>
              <a:buSzPts val="1200"/>
              <a:buFont typeface="Arial"/>
              <a:buNone/>
            </a:pPr>
            <a:r>
              <a:rPr lang="en-US" b="1"/>
              <a:t>Resources:</a:t>
            </a:r>
            <a:br>
              <a:rPr lang="en-US"/>
            </a:br>
            <a:endParaRPr/>
          </a:p>
        </p:txBody>
      </p:sp>
      <p:sp>
        <p:nvSpPr>
          <p:cNvPr id="6252" name="Google Shape;6252;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3A9D2-7E4C-E73C-8C5C-EB88EA50F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AFCA68-4799-E298-D1DF-CF12EEDBB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402D0-CD8F-412C-DEB8-15758F5C5AA6}"/>
              </a:ext>
            </a:extLst>
          </p:cNvPr>
          <p:cNvSpPr>
            <a:spLocks noGrp="1"/>
          </p:cNvSpPr>
          <p:nvPr>
            <p:ph type="body" idx="1"/>
          </p:nvPr>
        </p:nvSpPr>
        <p:spPr/>
        <p:txBody>
          <a:bodyPr>
            <a:normAutofit fontScale="85000" lnSpcReduction="20000"/>
          </a:bodyPr>
          <a:lstStyle/>
          <a:p>
            <a:pPr marL="0" lvl="0" indent="0" algn="l" rtl="0">
              <a:spcBef>
                <a:spcPts val="0"/>
              </a:spcBef>
              <a:spcAft>
                <a:spcPts val="0"/>
              </a:spcAft>
              <a:buNone/>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lvl="0" indent="0" algn="l" rtl="0">
              <a:spcBef>
                <a:spcPts val="0"/>
              </a:spcBef>
              <a:spcAft>
                <a:spcPts val="0"/>
              </a:spcAft>
              <a:buNone/>
            </a:pPr>
            <a:endParaRPr lang="en-US" sz="12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1" dirty="0">
                <a:solidFill>
                  <a:schemeClr val="dk1"/>
                </a:solidFill>
                <a:latin typeface="Arial"/>
                <a:ea typeface="Arial"/>
                <a:cs typeface="Arial"/>
                <a:sym typeface="Arial"/>
              </a:rPr>
              <a:t>Key Message:</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The enhanced data path VDS is an improvement over the “legacy” VDS in every respect. </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It’s been available for several years and VCF 9.0 makes it now the default for new VDS deployments. </a:t>
            </a:r>
          </a:p>
          <a:p>
            <a:pPr marL="0" marR="0" lvl="0" indent="0" algn="l" rtl="0">
              <a:lnSpc>
                <a:spcPct val="100000"/>
              </a:lnSpc>
              <a:spcBef>
                <a:spcPts val="0"/>
              </a:spcBef>
              <a:spcAft>
                <a:spcPts val="0"/>
              </a:spcAft>
              <a:buClr>
                <a:schemeClr val="dk1"/>
              </a:buClr>
              <a:buSzPts val="1200"/>
              <a:buFont typeface="Arial"/>
              <a:buNone/>
            </a:pPr>
            <a:r>
              <a:rPr lang="en-US" sz="1200" b="0" dirty="0">
                <a:solidFill>
                  <a:schemeClr val="dk1"/>
                </a:solidFill>
                <a:latin typeface="Arial"/>
                <a:cs typeface="Arial"/>
                <a:sym typeface="Arial"/>
              </a:rPr>
              <a:t>VDS that are imported into VCF 9.0 (converging, importing or upgrading for example) are left unchanged.</a:t>
            </a:r>
            <a:endParaRPr lang="en-US" b="0" dirty="0"/>
          </a:p>
          <a:p>
            <a:pPr marL="0" lvl="0" indent="0" algn="l" rtl="0">
              <a:spcBef>
                <a:spcPts val="0"/>
              </a:spcBef>
              <a:spcAft>
                <a:spcPts val="0"/>
              </a:spcAft>
              <a:buNone/>
            </a:pPr>
            <a:br>
              <a:rPr lang="en-US" sz="1200" dirty="0">
                <a:solidFill>
                  <a:schemeClr val="dk1"/>
                </a:solidFill>
                <a:latin typeface="Arial"/>
                <a:ea typeface="Arial"/>
                <a:cs typeface="Arial"/>
                <a:sym typeface="Arial"/>
              </a:rPr>
            </a:br>
            <a:r>
              <a:rPr lang="en-US" sz="1200" b="1" dirty="0">
                <a:solidFill>
                  <a:schemeClr val="dk1"/>
                </a:solidFill>
                <a:latin typeface="Arial"/>
                <a:ea typeface="Arial"/>
                <a:cs typeface="Arial"/>
                <a:sym typeface="Arial"/>
              </a:rPr>
              <a:t>Talk Track:</a:t>
            </a:r>
            <a:endParaRPr lang="en-US" sz="1200" b="0" dirty="0">
              <a:solidFill>
                <a:schemeClr val="dk1"/>
              </a:solidFill>
              <a:latin typeface="Arial"/>
              <a:ea typeface="Arial"/>
              <a:cs typeface="Arial"/>
              <a:sym typeface="Arial"/>
            </a:endParaRPr>
          </a:p>
          <a:p>
            <a:pPr marL="0" lvl="0" indent="0" algn="l" rtl="0">
              <a:spcBef>
                <a:spcPts val="0"/>
              </a:spcBef>
              <a:spcAft>
                <a:spcPts val="0"/>
              </a:spcAft>
              <a:buNone/>
            </a:pPr>
            <a:r>
              <a:rPr lang="en-US" b="0" u="sng" dirty="0"/>
              <a:t>Enhanced Data Path (EDP) </a:t>
            </a:r>
            <a:r>
              <a:rPr lang="en-US" dirty="0"/>
              <a:t>is a high-performance virtual switch with two modes of operation: </a:t>
            </a:r>
            <a:r>
              <a:rPr lang="en-US" b="0" u="sng" dirty="0"/>
              <a:t>standard</a:t>
            </a:r>
            <a:r>
              <a:rPr lang="en-US" dirty="0"/>
              <a:t> and </a:t>
            </a:r>
            <a:r>
              <a:rPr lang="en-US" b="0" u="sng" dirty="0"/>
              <a:t>dedicated. </a:t>
            </a:r>
          </a:p>
          <a:p>
            <a:pPr marL="0" lvl="0" indent="0" algn="l" rtl="0">
              <a:spcBef>
                <a:spcPts val="0"/>
              </a:spcBef>
              <a:spcAft>
                <a:spcPts val="0"/>
              </a:spcAft>
              <a:buNone/>
            </a:pPr>
            <a:r>
              <a:rPr lang="en-US" dirty="0"/>
              <a:t>By default, new VCF 9.0 deployments run EDP standard mode on the VDS, while upgrading to VCF 9.0 will not change the VDS mode. </a:t>
            </a:r>
          </a:p>
          <a:p>
            <a:pPr marL="0" lvl="0" indent="0" algn="l" rtl="0">
              <a:spcBef>
                <a:spcPts val="0"/>
              </a:spcBef>
              <a:spcAft>
                <a:spcPts val="0"/>
              </a:spcAft>
              <a:buNone/>
            </a:pPr>
            <a:r>
              <a:rPr lang="en-US" dirty="0"/>
              <a:t>Like the legacy VDS, the EDP VDS is interrupt-driven and uses CPU cores on demand. </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1&gt;</a:t>
            </a:r>
          </a:p>
          <a:p>
            <a:pPr marL="0" indent="0">
              <a:buFont typeface="Arial" panose="020B0604020202020204" pitchFamily="34" charset="0"/>
              <a:buNone/>
            </a:pPr>
            <a:r>
              <a:rPr lang="en-US" dirty="0"/>
              <a:t>However, with its DPDK-based operations and packet data structure, it offers higher performance across all workloads without tuning. </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2&gt;</a:t>
            </a:r>
          </a:p>
          <a:p>
            <a:pPr marL="0" indent="0">
              <a:buFont typeface="Arial" panose="020B0604020202020204" pitchFamily="34" charset="0"/>
              <a:buNone/>
            </a:pPr>
            <a:r>
              <a:rPr lang="en-US" dirty="0"/>
              <a:t>EDP delivers a </a:t>
            </a:r>
            <a:r>
              <a:rPr lang="en-US" b="0" u="sng" dirty="0"/>
              <a:t>50-70% increase in performance</a:t>
            </a:r>
            <a:r>
              <a:rPr lang="en-US" dirty="0"/>
              <a:t>, improving both bandwidth for large-flow workloads and packets per second for workloads exchanging a high rate of small packets.</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3&gt;</a:t>
            </a:r>
          </a:p>
          <a:p>
            <a:pPr marL="0" indent="0">
              <a:buFont typeface="Arial" panose="020B0604020202020204" pitchFamily="34" charset="0"/>
              <a:buNone/>
            </a:pPr>
            <a:r>
              <a:rPr lang="en-US" dirty="0"/>
              <a:t>EDP drivers optimize </a:t>
            </a:r>
            <a:r>
              <a:rPr lang="en-US" dirty="0" err="1"/>
              <a:t>pNIC</a:t>
            </a:r>
            <a:r>
              <a:rPr lang="en-US" dirty="0"/>
              <a:t> performance. </a:t>
            </a:r>
          </a:p>
          <a:p>
            <a:pPr marL="0" indent="0">
              <a:buFont typeface="Arial" panose="020B0604020202020204" pitchFamily="34" charset="0"/>
              <a:buNone/>
            </a:pPr>
            <a:r>
              <a:rPr lang="en-US" dirty="0"/>
              <a:t>Even for older </a:t>
            </a:r>
            <a:r>
              <a:rPr lang="en-US" dirty="0" err="1"/>
              <a:t>pNICs</a:t>
            </a:r>
            <a:r>
              <a:rPr lang="en-US" dirty="0"/>
              <a:t> with limited features will see an improvement compared to legacy standard VDS.</a:t>
            </a:r>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US" dirty="0"/>
              <a:t>&lt;click 4&gt;</a:t>
            </a:r>
          </a:p>
          <a:p>
            <a:pPr marL="0" indent="0">
              <a:buFont typeface="Arial" panose="020B0604020202020204" pitchFamily="34" charset="0"/>
              <a:buNone/>
            </a:pPr>
            <a:r>
              <a:rPr lang="en-US" dirty="0"/>
              <a:t>The </a:t>
            </a:r>
            <a:r>
              <a:rPr lang="en-US" b="0" u="sng" dirty="0"/>
              <a:t>dedicated mode </a:t>
            </a:r>
            <a:r>
              <a:rPr lang="en-US" dirty="0"/>
              <a:t>assigns specific CPU cores for packet processing, offering even better performance for specialized workloads. </a:t>
            </a:r>
          </a:p>
          <a:p>
            <a:pPr marL="0" indent="0">
              <a:buFont typeface="Arial" panose="020B0604020202020204" pitchFamily="34" charset="0"/>
              <a:buNone/>
            </a:pPr>
            <a:r>
              <a:rPr lang="en-US" dirty="0"/>
              <a:t>It requires tuning based on careful consideration of traffic type and average packet size and is typically used in Telco environments. </a:t>
            </a:r>
          </a:p>
          <a:p>
            <a:pPr marL="0" indent="0">
              <a:buFont typeface="Arial" panose="020B0604020202020204" pitchFamily="34" charset="0"/>
              <a:buNone/>
            </a:pPr>
            <a:r>
              <a:rPr lang="en-US" dirty="0"/>
              <a:t>The legacy standard, non-EDP, VDS mode remains available.</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Notes:</a:t>
            </a:r>
            <a:br>
              <a:rPr lang="en-US" dirty="0"/>
            </a:br>
            <a:r>
              <a:rPr lang="en-US" dirty="0"/>
              <a:t>- In VCF 9 EDP is the default choice when configuring a Virtual Distributed switch.</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Resources:</a:t>
            </a:r>
            <a:br>
              <a:rPr lang="en-US" dirty="0"/>
            </a:br>
            <a:r>
              <a:rPr lang="en-US" dirty="0"/>
              <a:t>For further detail on configuring EDP please refer to :</a:t>
            </a:r>
          </a:p>
          <a:p>
            <a:pPr marL="0" indent="0">
              <a:buFont typeface="Arial" panose="020B0604020202020204" pitchFamily="34" charset="0"/>
              <a:buNone/>
            </a:pPr>
            <a:r>
              <a:rPr lang="en-US" dirty="0"/>
              <a:t>https://</a:t>
            </a:r>
            <a:r>
              <a:rPr lang="en-US" dirty="0" err="1"/>
              <a:t>techdocs.broadcom.com</a:t>
            </a:r>
            <a:r>
              <a:rPr lang="en-US" dirty="0"/>
              <a:t>/us/</a:t>
            </a:r>
            <a:r>
              <a:rPr lang="en-US" dirty="0" err="1"/>
              <a:t>en</a:t>
            </a:r>
            <a:r>
              <a:rPr lang="en-US" dirty="0"/>
              <a:t>/</a:t>
            </a:r>
            <a:r>
              <a:rPr lang="en-US" dirty="0" err="1"/>
              <a:t>vmware</a:t>
            </a:r>
            <a:r>
              <a:rPr lang="en-US" dirty="0"/>
              <a:t>-cis/</a:t>
            </a:r>
            <a:r>
              <a:rPr lang="en-US" dirty="0" err="1"/>
              <a:t>nsx</a:t>
            </a:r>
            <a:r>
              <a:rPr lang="en-US" dirty="0"/>
              <a:t>/</a:t>
            </a:r>
            <a:r>
              <a:rPr lang="en-US" dirty="0" err="1"/>
              <a:t>vmware-nsx</a:t>
            </a:r>
            <a:r>
              <a:rPr lang="en-US" dirty="0"/>
              <a:t>/4-2/installation-guide/transport-zones-and-transport-nodes/enhanced-datapath-1.html</a:t>
            </a:r>
          </a:p>
        </p:txBody>
      </p:sp>
      <p:sp>
        <p:nvSpPr>
          <p:cNvPr id="4" name="Slide Number Placeholder 3">
            <a:extLst>
              <a:ext uri="{FF2B5EF4-FFF2-40B4-BE49-F238E27FC236}">
                <a16:creationId xmlns:a16="http://schemas.microsoft.com/office/drawing/2014/main" id="{3A68F0E4-365F-5E13-804E-8DEDD04877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9009100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4"/>
        <p:cNvGrpSpPr/>
        <p:nvPr/>
      </p:nvGrpSpPr>
      <p:grpSpPr>
        <a:xfrm>
          <a:off x="0" y="0"/>
          <a:ext cx="0" cy="0"/>
          <a:chOff x="0" y="0"/>
          <a:chExt cx="0" cy="0"/>
        </a:xfrm>
      </p:grpSpPr>
      <p:sp>
        <p:nvSpPr>
          <p:cNvPr id="6415" name="Google Shape;6415;p3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6" name="Google Shape;6416;p3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rgbClr val="666666"/>
              </a:buClr>
              <a:buSzPts val="1800"/>
              <a:buFont typeface="Arial"/>
              <a:buNone/>
            </a:pPr>
            <a:r>
              <a:rPr lang="en-US" sz="1200">
                <a:solidFill>
                  <a:schemeClr val="dk1"/>
                </a:solidFill>
                <a:latin typeface="Arial"/>
                <a:ea typeface="Arial"/>
                <a:cs typeface="Arial"/>
                <a:sym typeface="Arial"/>
              </a:rPr>
              <a:t>Unified Operations Experience</a:t>
            </a:r>
            <a:endParaRPr/>
          </a:p>
          <a:p>
            <a:pPr marL="0" marR="0" lvl="0" indent="0" algn="l" rtl="0">
              <a:lnSpc>
                <a:spcPct val="100000"/>
              </a:lnSpc>
              <a:spcBef>
                <a:spcPts val="600"/>
              </a:spcBef>
              <a:spcAft>
                <a:spcPts val="0"/>
              </a:spcAft>
              <a:buClr>
                <a:srgbClr val="666666"/>
              </a:buClr>
              <a:buSzPts val="1800"/>
              <a:buFont typeface="Arial"/>
              <a:buNone/>
            </a:pPr>
            <a:r>
              <a:rPr lang="en-US" sz="1200">
                <a:solidFill>
                  <a:schemeClr val="dk1"/>
                </a:solidFill>
                <a:latin typeface="Arial"/>
                <a:ea typeface="Arial"/>
                <a:cs typeface="Arial"/>
                <a:sym typeface="Arial"/>
              </a:rPr>
              <a:t>Centralized Fleet Lifecycle Management</a:t>
            </a:r>
            <a:endParaRPr/>
          </a:p>
          <a:p>
            <a:pPr marL="0" marR="0" lvl="0" indent="0" algn="l" rtl="0">
              <a:lnSpc>
                <a:spcPct val="100000"/>
              </a:lnSpc>
              <a:spcBef>
                <a:spcPts val="600"/>
              </a:spcBef>
              <a:spcAft>
                <a:spcPts val="0"/>
              </a:spcAft>
              <a:buClr>
                <a:srgbClr val="666666"/>
              </a:buClr>
              <a:buSzPts val="1800"/>
              <a:buFont typeface="Arial"/>
              <a:buNone/>
            </a:pPr>
            <a:r>
              <a:rPr lang="en-US" sz="1200">
                <a:solidFill>
                  <a:schemeClr val="dk1"/>
                </a:solidFill>
                <a:latin typeface="Arial"/>
                <a:ea typeface="Arial"/>
                <a:cs typeface="Arial"/>
                <a:sym typeface="Arial"/>
              </a:rPr>
              <a:t>Non-disruptive Upgrades </a:t>
            </a:r>
            <a:endParaRPr/>
          </a:p>
          <a:p>
            <a:pPr marL="0" marR="0" lvl="0" indent="0" algn="l" rtl="0">
              <a:lnSpc>
                <a:spcPct val="100000"/>
              </a:lnSpc>
              <a:spcBef>
                <a:spcPts val="600"/>
              </a:spcBef>
              <a:spcAft>
                <a:spcPts val="0"/>
              </a:spcAft>
              <a:buClr>
                <a:srgbClr val="666666"/>
              </a:buClr>
              <a:buSzPts val="1800"/>
              <a:buFont typeface="Arial"/>
              <a:buNone/>
            </a:pPr>
            <a:r>
              <a:rPr lang="en-US" sz="1200">
                <a:solidFill>
                  <a:schemeClr val="dk1"/>
                </a:solidFill>
                <a:latin typeface="Arial"/>
                <a:ea typeface="Arial"/>
                <a:cs typeface="Arial"/>
                <a:sym typeface="Arial"/>
              </a:rPr>
              <a:t>Single Sign-on for Administrator Access</a:t>
            </a:r>
            <a:endParaRPr/>
          </a:p>
          <a:p>
            <a:pPr marL="0" marR="0" lvl="0" indent="0" algn="l" rtl="0">
              <a:lnSpc>
                <a:spcPct val="100000"/>
              </a:lnSpc>
              <a:spcBef>
                <a:spcPts val="600"/>
              </a:spcBef>
              <a:spcAft>
                <a:spcPts val="0"/>
              </a:spcAft>
              <a:buClr>
                <a:srgbClr val="666666"/>
              </a:buClr>
              <a:buSzPts val="1800"/>
              <a:buFont typeface="Arial"/>
              <a:buNone/>
            </a:pPr>
            <a:r>
              <a:rPr lang="en-US" sz="1200">
                <a:solidFill>
                  <a:schemeClr val="dk1"/>
                </a:solidFill>
                <a:latin typeface="Arial"/>
                <a:ea typeface="Arial"/>
                <a:cs typeface="Arial"/>
                <a:sym typeface="Arial"/>
              </a:rPr>
              <a:t>Centralized Certificate Management</a:t>
            </a:r>
            <a:endParaRPr/>
          </a:p>
          <a:p>
            <a:pPr marL="0" marR="0" lvl="0" indent="0" algn="l" rtl="0">
              <a:lnSpc>
                <a:spcPct val="100000"/>
              </a:lnSpc>
              <a:spcBef>
                <a:spcPts val="600"/>
              </a:spcBef>
              <a:spcAft>
                <a:spcPts val="0"/>
              </a:spcAft>
              <a:buClr>
                <a:srgbClr val="666666"/>
              </a:buClr>
              <a:buSzPts val="1800"/>
              <a:buFont typeface="Arial"/>
              <a:buNone/>
            </a:pPr>
            <a:r>
              <a:rPr lang="en-US" sz="1200">
                <a:solidFill>
                  <a:schemeClr val="dk1"/>
                </a:solidFill>
                <a:latin typeface="Arial"/>
                <a:ea typeface="Arial"/>
                <a:cs typeface="Arial"/>
                <a:sym typeface="Arial"/>
              </a:rPr>
              <a:t>Centralized Password Management</a:t>
            </a:r>
            <a:endParaRPr/>
          </a:p>
          <a:p>
            <a:pPr marL="0" marR="0" lvl="0" indent="0" algn="l" rtl="0">
              <a:lnSpc>
                <a:spcPct val="100000"/>
              </a:lnSpc>
              <a:spcBef>
                <a:spcPts val="600"/>
              </a:spcBef>
              <a:spcAft>
                <a:spcPts val="0"/>
              </a:spcAft>
              <a:buClr>
                <a:srgbClr val="666666"/>
              </a:buClr>
              <a:buSzPts val="1800"/>
              <a:buFont typeface="Arial"/>
              <a:buNone/>
            </a:pPr>
            <a:r>
              <a:rPr lang="en-US" sz="1200">
                <a:solidFill>
                  <a:schemeClr val="dk1"/>
                </a:solidFill>
                <a:latin typeface="Arial"/>
                <a:ea typeface="Arial"/>
                <a:cs typeface="Arial"/>
                <a:sym typeface="Arial"/>
              </a:rPr>
              <a:t>Configuration Drift Management and Assessment</a:t>
            </a:r>
            <a:endParaRPr/>
          </a:p>
          <a:p>
            <a:pPr marL="0" marR="0" lvl="0" indent="0" algn="l" rtl="0">
              <a:lnSpc>
                <a:spcPct val="100000"/>
              </a:lnSpc>
              <a:spcBef>
                <a:spcPts val="600"/>
              </a:spcBef>
              <a:spcAft>
                <a:spcPts val="0"/>
              </a:spcAft>
              <a:buClr>
                <a:srgbClr val="666666"/>
              </a:buClr>
              <a:buSzPts val="1800"/>
              <a:buFont typeface="Arial"/>
              <a:buNone/>
            </a:pPr>
            <a:r>
              <a:rPr lang="en-US" sz="1200">
                <a:solidFill>
                  <a:schemeClr val="dk1"/>
                </a:solidFill>
                <a:latin typeface="Arial"/>
                <a:ea typeface="Arial"/>
                <a:cs typeface="Arial"/>
                <a:sym typeface="Arial"/>
              </a:rPr>
              <a:t>Unified Tag Management</a:t>
            </a:r>
            <a:endParaRPr/>
          </a:p>
          <a:p>
            <a:pPr marL="0" marR="0" lvl="0" indent="0" algn="l" rtl="0">
              <a:lnSpc>
                <a:spcPct val="100000"/>
              </a:lnSpc>
              <a:spcBef>
                <a:spcPts val="600"/>
              </a:spcBef>
              <a:spcAft>
                <a:spcPts val="0"/>
              </a:spcAft>
              <a:buClr>
                <a:srgbClr val="666666"/>
              </a:buClr>
              <a:buSzPts val="1800"/>
              <a:buFont typeface="Arial"/>
              <a:buNone/>
            </a:pPr>
            <a:r>
              <a:rPr lang="en-US" sz="1200">
                <a:solidFill>
                  <a:schemeClr val="dk1"/>
                </a:solidFill>
                <a:latin typeface="Arial"/>
                <a:ea typeface="Arial"/>
                <a:cs typeface="Arial"/>
                <a:sym typeface="Arial"/>
              </a:rPr>
              <a:t>VCF Download Tool for Disconnected Sites</a:t>
            </a:r>
            <a:endParaRPr/>
          </a:p>
          <a:p>
            <a:pPr marL="0" lvl="0" indent="0" algn="l" rtl="0">
              <a:spcBef>
                <a:spcPts val="0"/>
              </a:spcBef>
              <a:spcAft>
                <a:spcPts val="0"/>
              </a:spcAft>
              <a:buClr>
                <a:schemeClr val="dk1"/>
              </a:buClr>
              <a:buSzPts val="1200"/>
              <a:buFont typeface="Arial"/>
              <a:buNone/>
            </a:pPr>
            <a:endParaRPr/>
          </a:p>
        </p:txBody>
      </p:sp>
      <p:sp>
        <p:nvSpPr>
          <p:cNvPr id="6417" name="Google Shape;6417;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32</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0"/>
        <p:cNvGrpSpPr/>
        <p:nvPr/>
      </p:nvGrpSpPr>
      <p:grpSpPr>
        <a:xfrm>
          <a:off x="0" y="0"/>
          <a:ext cx="0" cy="0"/>
          <a:chOff x="0" y="0"/>
          <a:chExt cx="0" cy="0"/>
        </a:xfrm>
      </p:grpSpPr>
      <p:sp>
        <p:nvSpPr>
          <p:cNvPr id="2851" name="Google Shape;2851;p26: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2" name="Google Shape;2852;p2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fontScale="77500" lnSpcReduction="20000"/>
          </a:bodyPr>
          <a:lstStyle/>
          <a:p>
            <a:pPr marL="0" marR="0" lvl="0" indent="0" algn="l" defTabSz="914400" rtl="0" eaLnBrk="1" fontAlgn="auto" latinLnBrk="0" hangingPunct="1">
              <a:lnSpc>
                <a:spcPct val="80000"/>
              </a:lnSpc>
              <a:spcBef>
                <a:spcPts val="0"/>
              </a:spcBef>
              <a:spcAft>
                <a:spcPts val="0"/>
              </a:spcAft>
              <a:buClr>
                <a:schemeClr val="dk1"/>
              </a:buClr>
              <a:buSzPts val="800"/>
              <a:buFont typeface="Arial"/>
              <a:buNone/>
              <a:tabLst/>
              <a:defRPr/>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Key Message:</a:t>
            </a:r>
            <a:br>
              <a:rPr lang="en-US" sz="1200" b="1" u="none" strike="noStrike" dirty="0">
                <a:solidFill>
                  <a:schemeClr val="dk1"/>
                </a:solidFill>
                <a:latin typeface="Arial"/>
                <a:ea typeface="Arial"/>
                <a:cs typeface="Arial"/>
                <a:sym typeface="Arial"/>
              </a:rPr>
            </a:br>
            <a:r>
              <a:rPr lang="en-US" sz="1200" dirty="0">
                <a:solidFill>
                  <a:schemeClr val="dk1"/>
                </a:solidFill>
              </a:rPr>
              <a:t>From VCF 9 private cloud operations and management is performed using the VCF Operations Console. </a:t>
            </a:r>
            <a:endParaRPr lang="en-US" dirty="0"/>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VCF Operations provides Administrators with a unified and feature rich operations experience for fleet management which spans identity and access management, certificate management, password management, tag management, configuration drift and lifecycle management.</a:t>
            </a:r>
            <a:endParaRPr lang="en-US" dirty="0"/>
          </a:p>
          <a:p>
            <a:pPr marL="0" marR="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Talk Track:</a:t>
            </a:r>
            <a:endParaRPr lang="en-US" sz="1200" u="none" strike="noStrike"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r>
              <a:rPr lang="en-US" sz="1200" dirty="0">
                <a:latin typeface="Arial"/>
                <a:ea typeface="Arial"/>
                <a:cs typeface="Arial"/>
                <a:sym typeface="Arial"/>
              </a:rPr>
              <a:t>VMware Cloud Foundation provides IT Teams with everything they need to build, deploy and operate a vSphere-based on-premises private cloud infrastructure.</a:t>
            </a:r>
            <a:br>
              <a:rPr lang="en-US" sz="1200" dirty="0">
                <a:latin typeface="Arial"/>
                <a:ea typeface="Arial"/>
                <a:cs typeface="Arial"/>
                <a:sym typeface="Arial"/>
              </a:rPr>
            </a:br>
            <a:br>
              <a:rPr lang="en-US" sz="1200" dirty="0">
                <a:latin typeface="Arial"/>
                <a:ea typeface="Arial"/>
                <a:cs typeface="Arial"/>
                <a:sym typeface="Arial"/>
              </a:rPr>
            </a:br>
            <a:r>
              <a:rPr lang="en-US" sz="1200" dirty="0">
                <a:latin typeface="Arial"/>
                <a:ea typeface="Arial"/>
                <a:cs typeface="Arial"/>
                <a:sym typeface="Arial"/>
              </a:rPr>
              <a:t>&lt;click 1&gt;</a:t>
            </a:r>
            <a:br>
              <a:rPr lang="en-US" sz="1200" b="1" u="none" strike="noStrike" dirty="0">
                <a:solidFill>
                  <a:schemeClr val="dk1"/>
                </a:solidFill>
                <a:latin typeface="Arial"/>
                <a:ea typeface="Arial"/>
                <a:cs typeface="Arial"/>
                <a:sym typeface="Arial"/>
              </a:rPr>
            </a:br>
            <a:r>
              <a:rPr lang="en-US" sz="1200" b="0" u="none" strike="noStrike" dirty="0">
                <a:solidFill>
                  <a:schemeClr val="dk1"/>
                </a:solidFill>
                <a:latin typeface="Arial"/>
                <a:ea typeface="Arial"/>
                <a:cs typeface="Arial"/>
                <a:sym typeface="Arial"/>
              </a:rPr>
              <a:t>VCF Operations</a:t>
            </a:r>
            <a:r>
              <a:rPr lang="en-US" sz="1200" b="0" dirty="0">
                <a:solidFill>
                  <a:schemeClr val="dk1"/>
                </a:solidFill>
              </a:rPr>
              <a:t> provides a</a:t>
            </a:r>
            <a:r>
              <a:rPr lang="en-US" sz="1200" dirty="0">
                <a:solidFill>
                  <a:schemeClr val="dk1"/>
                </a:solidFill>
              </a:rPr>
              <a:t>dmins with a unified and feature rich operations experience which expands upon the familiar capacity management and performance monitoring capabilities included in prior versions of Aria Operations. VCF Health and diagnostics has also been adapted from Skyline and is has now also been integrated.</a:t>
            </a:r>
          </a:p>
          <a:p>
            <a:pPr marL="0" marR="0" lvl="0" indent="0" algn="l" rtl="0">
              <a:lnSpc>
                <a:spcPct val="80000"/>
              </a:lnSpc>
              <a:spcBef>
                <a:spcPts val="0"/>
              </a:spcBef>
              <a:spcAft>
                <a:spcPts val="0"/>
              </a:spcAft>
              <a:buClr>
                <a:schemeClr val="dk1"/>
              </a:buClr>
              <a:buSzPts val="800"/>
              <a:buFont typeface="Arial"/>
              <a:buNone/>
            </a:pPr>
            <a:endParaRPr lang="en-US" sz="1200" dirty="0">
              <a:solidFill>
                <a:schemeClr val="dk1"/>
              </a:solidFill>
            </a:endParaRPr>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&lt;click 2&gt;</a:t>
            </a:r>
            <a:endParaRPr lang="en-US" sz="1200" dirty="0"/>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From VCF 9, private cloud operations and management traditionally serviced from SDDC Manager is now also performed using the VCF Operations Console as part of Fleet Management. </a:t>
            </a:r>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Noting that Host and cluster infrastructure-level configuration is now managed from the vSphere client.</a:t>
            </a:r>
          </a:p>
          <a:p>
            <a:pPr marL="0" marR="0" lvl="0" indent="0" algn="l" rtl="0">
              <a:lnSpc>
                <a:spcPct val="80000"/>
              </a:lnSpc>
              <a:spcBef>
                <a:spcPts val="0"/>
              </a:spcBef>
              <a:spcAft>
                <a:spcPts val="0"/>
              </a:spcAft>
              <a:buClr>
                <a:schemeClr val="dk1"/>
              </a:buClr>
              <a:buSzPts val="800"/>
              <a:buFont typeface="Arial"/>
              <a:buNone/>
            </a:pPr>
            <a:endParaRPr lang="en-US" sz="1200" dirty="0">
              <a:solidFill>
                <a:schemeClr val="dk1"/>
              </a:solidFill>
            </a:endParaRPr>
          </a:p>
          <a:p>
            <a:pPr marL="0" lvl="0" indent="0" algn="l" rtl="0">
              <a:lnSpc>
                <a:spcPct val="80000"/>
              </a:lnSpc>
              <a:spcBef>
                <a:spcPts val="0"/>
              </a:spcBef>
              <a:spcAft>
                <a:spcPts val="0"/>
              </a:spcAft>
              <a:buClr>
                <a:schemeClr val="dk1"/>
              </a:buClr>
              <a:buSzPts val="800"/>
              <a:buFont typeface="Arial"/>
              <a:buNone/>
            </a:pPr>
            <a:r>
              <a:rPr lang="en-US" sz="1200" dirty="0">
                <a:solidFill>
                  <a:schemeClr val="dk1"/>
                </a:solidFill>
              </a:rPr>
              <a:t>VCF Operations Fleet management provides Admins with a unified and feature rich operations experience.  This single console spans workload domain deployment, the ability to perform an import of an existing vCenter environment into VCF, identity and access management, certificate management, password management, tag management, configuration management &amp; drift assessment, licensing and lifecycle management </a:t>
            </a:r>
            <a:r>
              <a:rPr lang="en-US" sz="1200" strike="noStrike" dirty="0">
                <a:solidFill>
                  <a:schemeClr val="dk1"/>
                </a:solidFill>
              </a:rPr>
              <a:t>of the full VCF stack.</a:t>
            </a:r>
          </a:p>
          <a:p>
            <a:pPr marL="0" lvl="0" indent="0" algn="l" rtl="0">
              <a:lnSpc>
                <a:spcPct val="80000"/>
              </a:lnSpc>
              <a:spcBef>
                <a:spcPts val="0"/>
              </a:spcBef>
              <a:spcAft>
                <a:spcPts val="0"/>
              </a:spcAft>
              <a:buClr>
                <a:schemeClr val="dk1"/>
              </a:buClr>
              <a:buSzPts val="800"/>
              <a:buFont typeface="Arial"/>
              <a:buNone/>
            </a:pPr>
            <a:endParaRPr lang="en-US" sz="1200" strike="noStrike" dirty="0">
              <a:solidFill>
                <a:schemeClr val="dk1"/>
              </a:solidFill>
            </a:endParaRPr>
          </a:p>
          <a:p>
            <a:pPr marL="0" lvl="0" indent="0" algn="l" rtl="0">
              <a:lnSpc>
                <a:spcPct val="80000"/>
              </a:lnSpc>
              <a:spcBef>
                <a:spcPts val="0"/>
              </a:spcBef>
              <a:spcAft>
                <a:spcPts val="0"/>
              </a:spcAft>
              <a:buClr>
                <a:schemeClr val="dk1"/>
              </a:buClr>
              <a:buSzPts val="800"/>
              <a:buFont typeface="Arial"/>
              <a:buNone/>
            </a:pPr>
            <a:r>
              <a:rPr lang="en-US" sz="1200" strike="noStrike" dirty="0">
                <a:solidFill>
                  <a:schemeClr val="dk1"/>
                </a:solidFill>
              </a:rPr>
              <a:t>&lt;click 3&gt;</a:t>
            </a:r>
          </a:p>
          <a:p>
            <a:pPr marL="0" marR="0" lvl="0" indent="0" algn="l" defTabSz="914400" rtl="0" eaLnBrk="1" fontAlgn="auto" latinLnBrk="0" hangingPunct="1">
              <a:lnSpc>
                <a:spcPct val="80000"/>
              </a:lnSpc>
              <a:spcBef>
                <a:spcPts val="0"/>
              </a:spcBef>
              <a:spcAft>
                <a:spcPts val="0"/>
              </a:spcAft>
              <a:buClr>
                <a:schemeClr val="dk1"/>
              </a:buClr>
              <a:buSzPts val="800"/>
              <a:buFont typeface="Arial"/>
              <a:buNone/>
              <a:tabLst/>
              <a:defRPr/>
            </a:pPr>
            <a:r>
              <a:rPr lang="en-US" sz="1200" strike="noStrike" dirty="0">
                <a:solidFill>
                  <a:schemeClr val="dk1"/>
                </a:solidFill>
              </a:rPr>
              <a:t>Keeping in mind what we discussed earlier - </a:t>
            </a:r>
            <a:r>
              <a:rPr lang="en-US" sz="2400" b="0" strike="noStrike" dirty="0">
                <a:solidFill>
                  <a:schemeClr val="accent2"/>
                </a:solidFill>
              </a:rPr>
              <a:t>that a</a:t>
            </a:r>
            <a:r>
              <a:rPr lang="en-US" sz="2400" b="0" dirty="0">
                <a:solidFill>
                  <a:schemeClr val="accent2"/>
                </a:solidFill>
              </a:rPr>
              <a:t> VCF Fleet can consist of multiple VCF deployments which can leverage common VCF Operations and VCF Automations instances.</a:t>
            </a:r>
            <a:endParaRPr lang="en-US" sz="2400" b="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endParaRPr lang="en-US" sz="1200" strike="noStrike" dirty="0">
              <a:solidFill>
                <a:schemeClr val="dk1"/>
              </a:solidFill>
            </a:endParaRPr>
          </a:p>
          <a:p>
            <a:pPr marL="0" lvl="0" indent="0" algn="l" rtl="0">
              <a:lnSpc>
                <a:spcPct val="80000"/>
              </a:lnSpc>
              <a:spcBef>
                <a:spcPts val="0"/>
              </a:spcBef>
              <a:spcAft>
                <a:spcPts val="0"/>
              </a:spcAft>
              <a:buClr>
                <a:schemeClr val="dk1"/>
              </a:buClr>
              <a:buSzPts val="800"/>
              <a:buFont typeface="Arial"/>
              <a:buNone/>
            </a:pPr>
            <a:r>
              <a:rPr lang="en-US" sz="1200" strike="noStrike" dirty="0">
                <a:solidFill>
                  <a:schemeClr val="dk1"/>
                </a:solidFill>
              </a:rPr>
              <a:t>&lt;click 4&gt;</a:t>
            </a:r>
            <a:br>
              <a:rPr lang="en-US" sz="1200" strike="noStrike" dirty="0">
                <a:solidFill>
                  <a:schemeClr val="dk1"/>
                </a:solidFill>
              </a:rPr>
            </a:br>
            <a:r>
              <a:rPr lang="en-US" sz="1200" strike="noStrike" dirty="0">
                <a:solidFill>
                  <a:schemeClr val="dk1"/>
                </a:solidFill>
              </a:rPr>
              <a:t>Let’s take a closer look at the components of VCF Fleet Management</a:t>
            </a:r>
            <a:endParaRPr lang="en-US" sz="1200" dirty="0"/>
          </a:p>
          <a:p>
            <a:pPr marL="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Notes:</a:t>
            </a:r>
          </a:p>
          <a:p>
            <a:pPr marL="171450" marR="0" lvl="0" indent="-171450" algn="l" rtl="0">
              <a:lnSpc>
                <a:spcPct val="60000"/>
              </a:lnSpc>
              <a:spcBef>
                <a:spcPts val="0"/>
              </a:spcBef>
              <a:spcAft>
                <a:spcPts val="0"/>
              </a:spcAft>
              <a:buClr>
                <a:schemeClr val="dk1"/>
              </a:buClr>
              <a:buSzPts val="930"/>
              <a:buFont typeface="Arial"/>
              <a:buChar char="-"/>
            </a:pPr>
            <a:r>
              <a:rPr lang="en-US" sz="2400" b="0" u="none" strike="noStrike" dirty="0">
                <a:solidFill>
                  <a:schemeClr val="dk1"/>
                </a:solidFill>
                <a:latin typeface="Arial"/>
                <a:ea typeface="Arial"/>
                <a:cs typeface="Arial"/>
                <a:sym typeface="Arial"/>
              </a:rPr>
              <a:t>From VCF 9 VCF Operations is used to manage one or more VCF instances.  </a:t>
            </a:r>
          </a:p>
          <a:p>
            <a:pPr marL="171450" marR="0" lvl="0" indent="-171450" algn="l" rtl="0">
              <a:lnSpc>
                <a:spcPct val="60000"/>
              </a:lnSpc>
              <a:spcBef>
                <a:spcPts val="0"/>
              </a:spcBef>
              <a:spcAft>
                <a:spcPts val="0"/>
              </a:spcAft>
              <a:buClr>
                <a:schemeClr val="dk1"/>
              </a:buClr>
              <a:buSzPts val="930"/>
              <a:buFont typeface="Arial"/>
              <a:buChar char="-"/>
            </a:pPr>
            <a:r>
              <a:rPr lang="en-US" sz="2400" b="0" dirty="0">
                <a:solidFill>
                  <a:schemeClr val="accent2"/>
                </a:solidFill>
              </a:rPr>
              <a:t>A VCF Fleet may consist of multiple VCF deployments which can leverage common VCF Operations and VCF Automations instances.</a:t>
            </a:r>
            <a:endParaRPr lang="en-US" sz="2400" b="0" u="none" strike="noStrike" dirty="0">
              <a:solidFill>
                <a:schemeClr val="dk1"/>
              </a:solidFill>
              <a:latin typeface="Arial"/>
              <a:ea typeface="Arial"/>
              <a:cs typeface="Arial"/>
              <a:sym typeface="Arial"/>
            </a:endParaRPr>
          </a:p>
          <a:p>
            <a:pPr marL="171450" marR="0" lvl="0" indent="-171450" algn="l" rtl="0">
              <a:lnSpc>
                <a:spcPct val="60000"/>
              </a:lnSpc>
              <a:spcBef>
                <a:spcPts val="0"/>
              </a:spcBef>
              <a:spcAft>
                <a:spcPts val="0"/>
              </a:spcAft>
              <a:buClr>
                <a:schemeClr val="dk1"/>
              </a:buClr>
              <a:buSzPts val="930"/>
              <a:buFont typeface="Arial"/>
              <a:buChar char="-"/>
            </a:pPr>
            <a:r>
              <a:rPr lang="en-US" sz="2400" b="0" dirty="0">
                <a:latin typeface="Arial"/>
                <a:ea typeface="Arial"/>
                <a:cs typeface="Arial"/>
                <a:sym typeface="Arial"/>
              </a:rPr>
              <a:t>SDDC Manager 9 is installed or upgraded as a component of any VCF 9 instance. SDDC Manager will be deprecated in a future release.</a:t>
            </a:r>
            <a:endParaRPr lang="en-US" sz="2400" b="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endParaRPr lang="en-US" sz="1200" dirty="0">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Resources:</a:t>
            </a:r>
            <a:endParaRPr lang="en-US" dirty="0"/>
          </a:p>
          <a:p>
            <a:pPr marL="0" marR="0" lvl="0" indent="0" algn="l" rtl="0">
              <a:lnSpc>
                <a:spcPct val="80000"/>
              </a:lnSpc>
              <a:spcBef>
                <a:spcPts val="0"/>
              </a:spcBef>
              <a:spcAft>
                <a:spcPts val="0"/>
              </a:spcAft>
              <a:buClr>
                <a:schemeClr val="dk1"/>
              </a:buClr>
              <a:buSzPts val="570"/>
              <a:buFont typeface="Arial"/>
              <a:buNone/>
            </a:pPr>
            <a:endParaRPr lang="en-US" sz="1200" dirty="0">
              <a:latin typeface="Arial"/>
              <a:ea typeface="Arial"/>
              <a:cs typeface="Arial"/>
              <a:sym typeface="Arial"/>
            </a:endParaRPr>
          </a:p>
          <a:p>
            <a:pPr marL="0" lvl="0" indent="0" algn="l" rtl="0">
              <a:spcBef>
                <a:spcPts val="0"/>
              </a:spcBef>
              <a:spcAft>
                <a:spcPts val="0"/>
              </a:spcAft>
              <a:buNone/>
            </a:pPr>
            <a:endParaRPr lang="en-US" dirty="0"/>
          </a:p>
          <a:p>
            <a:pPr marL="0" lvl="0" indent="0" algn="l" rtl="0">
              <a:spcBef>
                <a:spcPts val="0"/>
              </a:spcBef>
              <a:spcAft>
                <a:spcPts val="0"/>
              </a:spcAft>
              <a:buClr>
                <a:schemeClr val="dk1"/>
              </a:buClr>
              <a:buSzPts val="1200"/>
              <a:buFont typeface="Arial"/>
              <a:buNone/>
            </a:pPr>
            <a:endParaRPr dirty="0"/>
          </a:p>
        </p:txBody>
      </p:sp>
      <p:sp>
        <p:nvSpPr>
          <p:cNvPr id="2853" name="Google Shape;2853;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33</a:t>
            </a:fld>
            <a:endParaRPr kumimoji="0"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3"/>
        <p:cNvGrpSpPr/>
        <p:nvPr/>
      </p:nvGrpSpPr>
      <p:grpSpPr>
        <a:xfrm>
          <a:off x="0" y="0"/>
          <a:ext cx="0" cy="0"/>
          <a:chOff x="0" y="0"/>
          <a:chExt cx="0" cy="0"/>
        </a:xfrm>
      </p:grpSpPr>
      <p:sp>
        <p:nvSpPr>
          <p:cNvPr id="6514" name="Google Shape;6514;p3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15" name="Google Shape;6515;p3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40000"/>
              </a:lnSpc>
              <a:spcBef>
                <a:spcPts val="0"/>
              </a:spcBef>
              <a:spcAft>
                <a:spcPts val="0"/>
              </a:spcAft>
              <a:buClr>
                <a:schemeClr val="dk1"/>
              </a:buClr>
              <a:buSzPts val="713"/>
              <a:buFont typeface="Arial"/>
              <a:buNone/>
            </a:pPr>
            <a:r>
              <a:rPr lang="en-US" sz="700" b="1">
                <a:latin typeface="Arial"/>
                <a:ea typeface="Arial"/>
                <a:cs typeface="Arial"/>
                <a:sym typeface="Arial"/>
              </a:rPr>
              <a:t>Presenter Note:  This slide contains animation</a:t>
            </a:r>
            <a:endParaRPr sz="100" b="1">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endParaRPr sz="100" b="1">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r>
              <a:rPr lang="en-US" sz="100" b="1">
                <a:latin typeface="Arial"/>
                <a:ea typeface="Arial"/>
                <a:cs typeface="Arial"/>
                <a:sym typeface="Arial"/>
              </a:rPr>
              <a:t>Key Message:</a:t>
            </a:r>
            <a:endParaRPr sz="200" b="1">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r>
              <a:rPr lang="en-US" sz="350"/>
              <a:t>Suite Lifecycle convergence into VCF Operations console through the VCF Ops Fleet management appliance.</a:t>
            </a:r>
            <a:endParaRPr sz="100">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br>
              <a:rPr lang="en-US" sz="100">
                <a:latin typeface="Arial"/>
                <a:ea typeface="Arial"/>
                <a:cs typeface="Arial"/>
                <a:sym typeface="Arial"/>
              </a:rPr>
            </a:br>
            <a:r>
              <a:rPr lang="en-US" sz="100" b="1">
                <a:latin typeface="Arial"/>
                <a:ea typeface="Arial"/>
                <a:cs typeface="Arial"/>
                <a:sym typeface="Arial"/>
              </a:rPr>
              <a:t>Talk Track:</a:t>
            </a:r>
            <a:br>
              <a:rPr lang="en-US" sz="100" b="1">
                <a:latin typeface="Arial"/>
                <a:ea typeface="Arial"/>
                <a:cs typeface="Arial"/>
                <a:sym typeface="Arial"/>
              </a:rPr>
            </a:br>
            <a:r>
              <a:rPr lang="en-US" sz="448" b="0" i="0" u="none" strike="noStrike">
                <a:solidFill>
                  <a:srgbClr val="000000"/>
                </a:solidFill>
                <a:latin typeface="Arial"/>
                <a:ea typeface="Arial"/>
                <a:cs typeface="Arial"/>
                <a:sym typeface="Arial"/>
              </a:rPr>
              <a:t>The VCF Operations fleet management serves as a lifecycle manager for management components, facilitating Day-2 operations such as upgrades, certificate and password management, patching, scaling (up and out), snapshot management, marketplace integration and Git integration management. </a:t>
            </a:r>
            <a:endParaRPr/>
          </a:p>
          <a:p>
            <a:pPr marL="0" lvl="0" indent="0" algn="l" rtl="0">
              <a:lnSpc>
                <a:spcPct val="40000"/>
              </a:lnSpc>
              <a:spcBef>
                <a:spcPts val="0"/>
              </a:spcBef>
              <a:spcAft>
                <a:spcPts val="0"/>
              </a:spcAft>
              <a:buClr>
                <a:schemeClr val="dk1"/>
              </a:buClr>
              <a:buSzPts val="713"/>
              <a:buFont typeface="Arial"/>
              <a:buNone/>
            </a:pPr>
            <a:endParaRPr sz="448" b="0" i="0" u="none" strike="noStrike">
              <a:solidFill>
                <a:srgbClr val="000000"/>
              </a:solidFill>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r>
              <a:rPr lang="en-US" sz="448" b="0" i="0" u="none" strike="noStrike">
                <a:solidFill>
                  <a:srgbClr val="000000"/>
                </a:solidFill>
                <a:latin typeface="Arial"/>
                <a:ea typeface="Arial"/>
                <a:cs typeface="Arial"/>
                <a:sym typeface="Arial"/>
              </a:rPr>
              <a:t>Fleet Management provides lifecycle capabilities for: </a:t>
            </a:r>
            <a:endParaRPr sz="448" b="0" i="0" u="none" strike="noStrike">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a:solidFill>
                  <a:srgbClr val="000000"/>
                </a:solidFill>
                <a:latin typeface="Arial"/>
                <a:ea typeface="Arial"/>
                <a:cs typeface="Arial"/>
                <a:sym typeface="Arial"/>
              </a:rPr>
              <a:t>Operations</a:t>
            </a:r>
            <a:endParaRPr sz="448" b="0" i="0" u="none" strike="noStrike">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a:solidFill>
                  <a:srgbClr val="000000"/>
                </a:solidFill>
                <a:latin typeface="Arial"/>
                <a:ea typeface="Arial"/>
                <a:cs typeface="Arial"/>
                <a:sym typeface="Arial"/>
              </a:rPr>
              <a:t>Operations for Networks</a:t>
            </a:r>
            <a:endParaRPr sz="448" b="0" i="0" u="none" strike="noStrike">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a:solidFill>
                  <a:srgbClr val="000000"/>
                </a:solidFill>
                <a:latin typeface="Arial"/>
                <a:ea typeface="Arial"/>
                <a:cs typeface="Arial"/>
                <a:sym typeface="Arial"/>
              </a:rPr>
              <a:t>Operations for Logs</a:t>
            </a:r>
            <a:endParaRPr sz="448" b="0" i="0" u="none" strike="noStrike">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a:solidFill>
                  <a:srgbClr val="000000"/>
                </a:solidFill>
                <a:latin typeface="Arial"/>
                <a:ea typeface="Arial"/>
                <a:cs typeface="Arial"/>
                <a:sym typeface="Arial"/>
              </a:rPr>
              <a:t>Automation</a:t>
            </a:r>
            <a:endParaRPr sz="448" b="0" i="0" u="none" strike="noStrike">
              <a:solidFill>
                <a:srgbClr val="CC092F"/>
              </a:solidFill>
              <a:latin typeface="Arial"/>
              <a:ea typeface="Arial"/>
              <a:cs typeface="Arial"/>
              <a:sym typeface="Arial"/>
            </a:endParaRPr>
          </a:p>
          <a:p>
            <a:pPr marL="742950" lvl="1" indent="-285750" algn="l" rtl="0">
              <a:lnSpc>
                <a:spcPct val="80000"/>
              </a:lnSpc>
              <a:spcBef>
                <a:spcPts val="0"/>
              </a:spcBef>
              <a:spcAft>
                <a:spcPts val="0"/>
              </a:spcAft>
              <a:buClr>
                <a:srgbClr val="000000"/>
              </a:buClr>
              <a:buSzPts val="449"/>
              <a:buFont typeface="Arial"/>
              <a:buChar char="•"/>
            </a:pPr>
            <a:r>
              <a:rPr lang="en-US" sz="448" b="0" i="0" u="none" strike="noStrike">
                <a:solidFill>
                  <a:srgbClr val="000000"/>
                </a:solidFill>
                <a:latin typeface="Arial"/>
                <a:ea typeface="Arial"/>
                <a:cs typeface="Arial"/>
                <a:sym typeface="Arial"/>
              </a:rPr>
              <a:t>Identity Broker</a:t>
            </a:r>
            <a:endParaRPr/>
          </a:p>
          <a:p>
            <a:pPr marL="742950" lvl="1" indent="-257237" algn="l" rtl="0">
              <a:lnSpc>
                <a:spcPct val="80000"/>
              </a:lnSpc>
              <a:spcBef>
                <a:spcPts val="0"/>
              </a:spcBef>
              <a:spcAft>
                <a:spcPts val="0"/>
              </a:spcAft>
              <a:buClr>
                <a:schemeClr val="dk1"/>
              </a:buClr>
              <a:buSzPts val="449"/>
              <a:buFont typeface="Arial"/>
              <a:buNone/>
            </a:pPr>
            <a:endParaRPr sz="448" b="0" i="0" u="none" strike="noStrike">
              <a:solidFill>
                <a:srgbClr val="000000"/>
              </a:solidFill>
              <a:latin typeface="Arial"/>
              <a:ea typeface="Arial"/>
              <a:cs typeface="Arial"/>
              <a:sym typeface="Arial"/>
            </a:endParaRPr>
          </a:p>
          <a:p>
            <a:pPr marL="0" lvl="0" indent="0" algn="l" rtl="0">
              <a:lnSpc>
                <a:spcPct val="80000"/>
              </a:lnSpc>
              <a:spcBef>
                <a:spcPts val="1500"/>
              </a:spcBef>
              <a:spcAft>
                <a:spcPts val="0"/>
              </a:spcAft>
              <a:buClr>
                <a:srgbClr val="000000"/>
              </a:buClr>
              <a:buSzPts val="450"/>
              <a:buFont typeface="Arial"/>
              <a:buNone/>
            </a:pPr>
            <a:r>
              <a:rPr lang="en-US" sz="450" b="0" i="0" u="none" strike="noStrike">
                <a:solidFill>
                  <a:srgbClr val="000000"/>
                </a:solidFill>
                <a:latin typeface="Arial"/>
                <a:ea typeface="Arial"/>
                <a:cs typeface="Arial"/>
                <a:sym typeface="Arial"/>
              </a:rPr>
              <a:t>The Overview page provides a single pane view of all the features which are enabled.</a:t>
            </a:r>
            <a:endParaRPr sz="700" b="0"/>
          </a:p>
          <a:p>
            <a:pPr marL="0" lvl="0" indent="0" algn="l" rtl="0">
              <a:lnSpc>
                <a:spcPct val="80000"/>
              </a:lnSpc>
              <a:spcBef>
                <a:spcPts val="1500"/>
              </a:spcBef>
              <a:spcAft>
                <a:spcPts val="0"/>
              </a:spcAft>
              <a:buClr>
                <a:schemeClr val="dk1"/>
              </a:buClr>
              <a:buSzPts val="700"/>
              <a:buFont typeface="Arial"/>
              <a:buNone/>
            </a:pPr>
            <a:br>
              <a:rPr lang="en-US" sz="700"/>
            </a:br>
            <a:r>
              <a:rPr lang="en-US" sz="448" b="0" i="0" u="none" strike="noStrike">
                <a:solidFill>
                  <a:srgbClr val="000000"/>
                </a:solidFill>
                <a:latin typeface="Arial"/>
                <a:ea typeface="Arial"/>
                <a:cs typeface="Arial"/>
                <a:sym typeface="Arial"/>
              </a:rPr>
              <a:t>&lt;click 1&gt;</a:t>
            </a:r>
            <a:endParaRPr/>
          </a:p>
          <a:p>
            <a:pPr marL="0" lvl="0" indent="0" algn="l" rtl="0">
              <a:lnSpc>
                <a:spcPct val="80000"/>
              </a:lnSpc>
              <a:spcBef>
                <a:spcPts val="1200"/>
              </a:spcBef>
              <a:spcAft>
                <a:spcPts val="0"/>
              </a:spcAft>
              <a:buClr>
                <a:srgbClr val="000000"/>
              </a:buClr>
              <a:buSzPts val="325"/>
              <a:buFont typeface="Arial"/>
              <a:buNone/>
            </a:pPr>
            <a:r>
              <a:rPr lang="en-US" sz="325" b="0" i="0" u="none" strike="noStrike">
                <a:solidFill>
                  <a:srgbClr val="000000"/>
                </a:solidFill>
                <a:latin typeface="Arial"/>
                <a:ea typeface="Arial"/>
                <a:cs typeface="Arial"/>
                <a:sym typeface="Arial"/>
              </a:rPr>
              <a:t>There are two types of depot configurations:</a:t>
            </a:r>
            <a:endParaRPr sz="300" b="0"/>
          </a:p>
          <a:p>
            <a:pPr marL="0" lvl="0" indent="0" algn="l" rtl="0">
              <a:lnSpc>
                <a:spcPct val="80000"/>
              </a:lnSpc>
              <a:spcBef>
                <a:spcPts val="1200"/>
              </a:spcBef>
              <a:spcAft>
                <a:spcPts val="0"/>
              </a:spcAft>
              <a:buClr>
                <a:srgbClr val="000000"/>
              </a:buClr>
              <a:buSzPts val="325"/>
              <a:buFont typeface="Arial"/>
              <a:buNone/>
            </a:pPr>
            <a:r>
              <a:rPr lang="en-US" sz="325" b="0" i="0" u="sng" strike="noStrike">
                <a:solidFill>
                  <a:srgbClr val="000000"/>
                </a:solidFill>
                <a:latin typeface="Arial"/>
                <a:ea typeface="Arial"/>
                <a:cs typeface="Arial"/>
                <a:sym typeface="Arial"/>
              </a:rPr>
              <a:t>Online Depot:</a:t>
            </a:r>
            <a:endParaRPr sz="300" b="0" u="sng"/>
          </a:p>
          <a:p>
            <a:pPr marL="0" lvl="0" indent="-20637" algn="l" rtl="0">
              <a:lnSpc>
                <a:spcPct val="80000"/>
              </a:lnSpc>
              <a:spcBef>
                <a:spcPts val="1200"/>
              </a:spcBef>
              <a:spcAft>
                <a:spcPts val="0"/>
              </a:spcAft>
              <a:buClr>
                <a:srgbClr val="000000"/>
              </a:buClr>
              <a:buSzPts val="325"/>
              <a:buFont typeface="Arial"/>
              <a:buChar char="•"/>
            </a:pPr>
            <a:r>
              <a:rPr lang="en-US" sz="325" b="0" i="0" u="none" strike="noStrike">
                <a:solidFill>
                  <a:srgbClr val="000000"/>
                </a:solidFill>
                <a:latin typeface="Arial"/>
                <a:ea typeface="Arial"/>
                <a:cs typeface="Arial"/>
                <a:sym typeface="Arial"/>
              </a:rPr>
              <a:t>If fleet management is connected to the internet, then: </a:t>
            </a:r>
            <a:endParaRPr/>
          </a:p>
          <a:p>
            <a:pPr marL="742950" lvl="1" indent="-285750" algn="l" rtl="0">
              <a:lnSpc>
                <a:spcPct val="80000"/>
              </a:lnSpc>
              <a:spcBef>
                <a:spcPts val="0"/>
              </a:spcBef>
              <a:spcAft>
                <a:spcPts val="0"/>
              </a:spcAft>
              <a:buClr>
                <a:srgbClr val="000000"/>
              </a:buClr>
              <a:buSzPts val="325"/>
              <a:buFont typeface="Arial"/>
              <a:buChar char="•"/>
            </a:pPr>
            <a:r>
              <a:rPr lang="en-US" sz="325" b="0" i="0" u="none" strike="noStrike">
                <a:solidFill>
                  <a:srgbClr val="000000"/>
                </a:solidFill>
                <a:latin typeface="Arial"/>
                <a:ea typeface="Arial"/>
                <a:cs typeface="Arial"/>
                <a:sym typeface="Arial"/>
              </a:rPr>
              <a:t>Generate Unique ID from Broadcom Support Portal</a:t>
            </a:r>
            <a:endParaRPr/>
          </a:p>
          <a:p>
            <a:pPr marL="742950" lvl="1" indent="-285750" algn="l" rtl="0">
              <a:lnSpc>
                <a:spcPct val="80000"/>
              </a:lnSpc>
              <a:spcBef>
                <a:spcPts val="0"/>
              </a:spcBef>
              <a:spcAft>
                <a:spcPts val="0"/>
              </a:spcAft>
              <a:buClr>
                <a:srgbClr val="000000"/>
              </a:buClr>
              <a:buSzPts val="325"/>
              <a:buFont typeface="Arial"/>
              <a:buChar char="•"/>
            </a:pPr>
            <a:r>
              <a:rPr lang="en-US" sz="325" b="0" i="0" u="none" strike="noStrike">
                <a:solidFill>
                  <a:srgbClr val="000000"/>
                </a:solidFill>
                <a:latin typeface="Arial"/>
                <a:ea typeface="Arial"/>
                <a:cs typeface="Arial"/>
                <a:sym typeface="Arial"/>
              </a:rPr>
              <a:t>Save the configuration after accepting certificate</a:t>
            </a:r>
            <a:endParaRPr/>
          </a:p>
          <a:p>
            <a:pPr marL="742950" lvl="1" indent="-285750" algn="l" rtl="0">
              <a:lnSpc>
                <a:spcPct val="80000"/>
              </a:lnSpc>
              <a:spcBef>
                <a:spcPts val="0"/>
              </a:spcBef>
              <a:spcAft>
                <a:spcPts val="0"/>
              </a:spcAft>
              <a:buClr>
                <a:srgbClr val="000000"/>
              </a:buClr>
              <a:buSzPts val="325"/>
              <a:buFont typeface="Arial"/>
              <a:buChar char="•"/>
            </a:pPr>
            <a:r>
              <a:rPr lang="en-US" sz="325" b="0" i="0" u="none" strike="noStrike">
                <a:solidFill>
                  <a:srgbClr val="000000"/>
                </a:solidFill>
                <a:latin typeface="Arial"/>
                <a:ea typeface="Arial"/>
                <a:cs typeface="Arial"/>
                <a:sym typeface="Arial"/>
              </a:rPr>
              <a:t>The connection between FL and the depot is established</a:t>
            </a:r>
            <a:endParaRPr/>
          </a:p>
          <a:p>
            <a:pPr marL="0" lvl="0" indent="-20637" algn="l" rtl="0">
              <a:lnSpc>
                <a:spcPct val="80000"/>
              </a:lnSpc>
              <a:spcBef>
                <a:spcPts val="0"/>
              </a:spcBef>
              <a:spcAft>
                <a:spcPts val="0"/>
              </a:spcAft>
              <a:buClr>
                <a:srgbClr val="000000"/>
              </a:buClr>
              <a:buSzPts val="325"/>
              <a:buFont typeface="Arial"/>
              <a:buChar char="•"/>
            </a:pPr>
            <a:r>
              <a:rPr lang="en-US" sz="325" b="0" i="0" u="none" strike="noStrike">
                <a:solidFill>
                  <a:srgbClr val="000000"/>
                </a:solidFill>
                <a:latin typeface="Arial"/>
                <a:ea typeface="Arial"/>
                <a:cs typeface="Arial"/>
                <a:sym typeface="Arial"/>
              </a:rPr>
              <a:t>Binaries of Install, patch and Upgrade will now be available for downloads</a:t>
            </a:r>
            <a:endParaRPr/>
          </a:p>
          <a:p>
            <a:pPr marL="0" lvl="0" indent="0" algn="l" rtl="0">
              <a:lnSpc>
                <a:spcPct val="80000"/>
              </a:lnSpc>
              <a:spcBef>
                <a:spcPts val="1200"/>
              </a:spcBef>
              <a:spcAft>
                <a:spcPts val="0"/>
              </a:spcAft>
              <a:buClr>
                <a:schemeClr val="dk1"/>
              </a:buClr>
              <a:buSzPts val="325"/>
              <a:buFont typeface="Arial"/>
              <a:buNone/>
            </a:pPr>
            <a:endParaRPr sz="325" b="0" i="0" u="none" strike="noStrike">
              <a:solidFill>
                <a:srgbClr val="000000"/>
              </a:solidFill>
              <a:latin typeface="Arial"/>
              <a:ea typeface="Arial"/>
              <a:cs typeface="Arial"/>
              <a:sym typeface="Arial"/>
            </a:endParaRPr>
          </a:p>
          <a:p>
            <a:pPr marL="0" lvl="0" indent="0" algn="l" rtl="0">
              <a:lnSpc>
                <a:spcPct val="80000"/>
              </a:lnSpc>
              <a:spcBef>
                <a:spcPts val="1200"/>
              </a:spcBef>
              <a:spcAft>
                <a:spcPts val="0"/>
              </a:spcAft>
              <a:buClr>
                <a:srgbClr val="000000"/>
              </a:buClr>
              <a:buSzPts val="325"/>
              <a:buFont typeface="Arial"/>
              <a:buNone/>
            </a:pPr>
            <a:r>
              <a:rPr lang="en-US" sz="325" b="0" i="0" u="sng" strike="noStrike">
                <a:solidFill>
                  <a:srgbClr val="000000"/>
                </a:solidFill>
                <a:latin typeface="Arial"/>
                <a:ea typeface="Arial"/>
                <a:cs typeface="Arial"/>
                <a:sym typeface="Arial"/>
              </a:rPr>
              <a:t>Offline Depot:</a:t>
            </a:r>
            <a:endParaRPr sz="300" b="0" u="sng"/>
          </a:p>
          <a:p>
            <a:pPr marL="0" lvl="0" indent="-20637" algn="l" rtl="0">
              <a:lnSpc>
                <a:spcPct val="80000"/>
              </a:lnSpc>
              <a:spcBef>
                <a:spcPts val="1200"/>
              </a:spcBef>
              <a:spcAft>
                <a:spcPts val="0"/>
              </a:spcAft>
              <a:buClr>
                <a:srgbClr val="000000"/>
              </a:buClr>
              <a:buSzPts val="325"/>
              <a:buFont typeface="Arial"/>
              <a:buChar char="•"/>
            </a:pPr>
            <a:r>
              <a:rPr lang="en-US" sz="325" b="0" i="0" u="none" strike="noStrike">
                <a:solidFill>
                  <a:srgbClr val="000000"/>
                </a:solidFill>
                <a:latin typeface="Arial"/>
                <a:ea typeface="Arial"/>
                <a:cs typeface="Arial"/>
                <a:sym typeface="Arial"/>
              </a:rPr>
              <a:t>Download bundles using OBTU and expose it to fleet management via a web server. This is an air-gapped scenario.</a:t>
            </a:r>
            <a:endParaRPr/>
          </a:p>
          <a:p>
            <a:pPr marL="0" lvl="0" indent="-20637" algn="l" rtl="0">
              <a:lnSpc>
                <a:spcPct val="80000"/>
              </a:lnSpc>
              <a:spcBef>
                <a:spcPts val="0"/>
              </a:spcBef>
              <a:spcAft>
                <a:spcPts val="0"/>
              </a:spcAft>
              <a:buClr>
                <a:srgbClr val="000000"/>
              </a:buClr>
              <a:buSzPts val="325"/>
              <a:buFont typeface="Arial"/>
              <a:buChar char="•"/>
            </a:pPr>
            <a:r>
              <a:rPr lang="en-US" sz="325" b="0" i="0" u="none" strike="noStrike">
                <a:solidFill>
                  <a:srgbClr val="000000"/>
                </a:solidFill>
                <a:latin typeface="Arial"/>
                <a:ea typeface="Arial"/>
                <a:cs typeface="Arial"/>
                <a:sym typeface="Arial"/>
              </a:rPr>
              <a:t>Download bundles on OBTU &amp; transfer them over to fleet management to map them locally. This is a dark site scenario.</a:t>
            </a:r>
            <a:endParaRPr/>
          </a:p>
          <a:p>
            <a:pPr marL="0" lvl="0" indent="0" algn="l" rtl="0">
              <a:lnSpc>
                <a:spcPct val="80000"/>
              </a:lnSpc>
              <a:spcBef>
                <a:spcPts val="0"/>
              </a:spcBef>
              <a:spcAft>
                <a:spcPts val="0"/>
              </a:spcAft>
              <a:buClr>
                <a:schemeClr val="dk1"/>
              </a:buClr>
              <a:buSzPts val="449"/>
              <a:buFont typeface="Arial"/>
              <a:buNone/>
            </a:pPr>
            <a:endParaRPr sz="448" b="0" i="0" u="none" strike="noStrike">
              <a:solidFill>
                <a:srgbClr val="000000"/>
              </a:solidFill>
              <a:latin typeface="Arial"/>
              <a:ea typeface="Arial"/>
              <a:cs typeface="Arial"/>
              <a:sym typeface="Arial"/>
            </a:endParaRPr>
          </a:p>
          <a:p>
            <a:pPr marL="0" lvl="0" indent="0" algn="l" rtl="0">
              <a:lnSpc>
                <a:spcPct val="80000"/>
              </a:lnSpc>
              <a:spcBef>
                <a:spcPts val="1200"/>
              </a:spcBef>
              <a:spcAft>
                <a:spcPts val="0"/>
              </a:spcAft>
              <a:buClr>
                <a:srgbClr val="000000"/>
              </a:buClr>
              <a:buSzPts val="450"/>
              <a:buFont typeface="Arial"/>
              <a:buNone/>
            </a:pPr>
            <a:r>
              <a:rPr lang="en-US" sz="450" b="0" i="0" u="none" strike="noStrike">
                <a:solidFill>
                  <a:srgbClr val="000000"/>
                </a:solidFill>
                <a:latin typeface="Arial"/>
                <a:ea typeface="Arial"/>
                <a:cs typeface="Arial"/>
                <a:sym typeface="Arial"/>
              </a:rPr>
              <a:t>Once the Depot is configured, fleet management will download the manifest as needed and then display all available and applicable binaries for installs, upgrades or patches.</a:t>
            </a:r>
            <a:endParaRPr sz="448" b="0" i="0" u="none" strike="noStrike">
              <a:solidFill>
                <a:srgbClr val="000000"/>
              </a:solidFill>
              <a:latin typeface="Arial"/>
              <a:ea typeface="Arial"/>
              <a:cs typeface="Arial"/>
              <a:sym typeface="Arial"/>
            </a:endParaRPr>
          </a:p>
          <a:p>
            <a:pPr marL="0" lvl="0" indent="0" algn="l" rtl="0">
              <a:lnSpc>
                <a:spcPct val="80000"/>
              </a:lnSpc>
              <a:spcBef>
                <a:spcPts val="0"/>
              </a:spcBef>
              <a:spcAft>
                <a:spcPts val="0"/>
              </a:spcAft>
              <a:buClr>
                <a:schemeClr val="dk1"/>
              </a:buClr>
              <a:buSzPts val="449"/>
              <a:buFont typeface="Arial"/>
              <a:buNone/>
            </a:pPr>
            <a:endParaRPr sz="448" b="0" i="0" u="none" strike="noStrike">
              <a:solidFill>
                <a:srgbClr val="000000"/>
              </a:solidFill>
              <a:latin typeface="Arial"/>
              <a:ea typeface="Arial"/>
              <a:cs typeface="Arial"/>
              <a:sym typeface="Arial"/>
            </a:endParaRPr>
          </a:p>
          <a:p>
            <a:pPr marL="0" lvl="0" indent="0" algn="l" rtl="0">
              <a:lnSpc>
                <a:spcPct val="80000"/>
              </a:lnSpc>
              <a:spcBef>
                <a:spcPts val="0"/>
              </a:spcBef>
              <a:spcAft>
                <a:spcPts val="0"/>
              </a:spcAft>
              <a:buClr>
                <a:srgbClr val="000000"/>
              </a:buClr>
              <a:buSzPts val="448"/>
              <a:buFont typeface="Arial"/>
              <a:buNone/>
            </a:pPr>
            <a:r>
              <a:rPr lang="en-US" sz="448" b="0" i="0" u="none" strike="noStrike">
                <a:solidFill>
                  <a:srgbClr val="000000"/>
                </a:solidFill>
                <a:latin typeface="Arial"/>
                <a:ea typeface="Arial"/>
                <a:cs typeface="Arial"/>
                <a:sym typeface="Arial"/>
              </a:rPr>
              <a:t>&lt;click 2&gt;</a:t>
            </a:r>
            <a:endParaRPr/>
          </a:p>
          <a:p>
            <a:pPr marL="0" lvl="0" indent="0" algn="l" rtl="0">
              <a:lnSpc>
                <a:spcPct val="80000"/>
              </a:lnSpc>
              <a:spcBef>
                <a:spcPts val="1500"/>
              </a:spcBef>
              <a:spcAft>
                <a:spcPts val="0"/>
              </a:spcAft>
              <a:buClr>
                <a:srgbClr val="000000"/>
              </a:buClr>
              <a:buSzPts val="448"/>
              <a:buFont typeface="Arial"/>
              <a:buNone/>
            </a:pPr>
            <a:r>
              <a:rPr lang="en-US" sz="448" b="0" i="0" u="none" strike="noStrike">
                <a:solidFill>
                  <a:srgbClr val="000000"/>
                </a:solidFill>
                <a:latin typeface="Arial"/>
                <a:ea typeface="Arial"/>
                <a:cs typeface="Arial"/>
                <a:sym typeface="Arial"/>
              </a:rPr>
              <a:t>The </a:t>
            </a:r>
            <a:r>
              <a:rPr lang="en-US" sz="448" b="0" i="0" u="sng" strike="noStrike">
                <a:solidFill>
                  <a:srgbClr val="000000"/>
                </a:solidFill>
                <a:latin typeface="Arial"/>
                <a:ea typeface="Arial"/>
                <a:cs typeface="Arial"/>
                <a:sym typeface="Arial"/>
              </a:rPr>
              <a:t>Tasks</a:t>
            </a:r>
            <a:r>
              <a:rPr lang="en-US" sz="448" b="0" i="0" u="none" strike="noStrike">
                <a:solidFill>
                  <a:srgbClr val="000000"/>
                </a:solidFill>
                <a:latin typeface="Arial"/>
                <a:ea typeface="Arial"/>
                <a:cs typeface="Arial"/>
                <a:sym typeface="Arial"/>
              </a:rPr>
              <a:t> tab </a:t>
            </a:r>
            <a:r>
              <a:rPr lang="en-US" sz="450" b="0" i="0" u="none" strike="noStrike">
                <a:solidFill>
                  <a:srgbClr val="000000"/>
                </a:solidFill>
                <a:latin typeface="Arial"/>
                <a:ea typeface="Arial"/>
                <a:cs typeface="Arial"/>
                <a:sym typeface="Arial"/>
              </a:rPr>
              <a:t>displays all tasks executed by fleet management.</a:t>
            </a:r>
            <a:r>
              <a:rPr lang="en-US" sz="700" b="0" i="0" u="none" strike="noStrike">
                <a:solidFill>
                  <a:schemeClr val="dk1"/>
                </a:solidFill>
                <a:latin typeface="Arial"/>
                <a:ea typeface="Arial"/>
                <a:cs typeface="Arial"/>
                <a:sym typeface="Arial"/>
              </a:rPr>
              <a:t> </a:t>
            </a:r>
            <a:r>
              <a:rPr lang="en-US" sz="450" b="0" i="0" u="none" strike="noStrike">
                <a:solidFill>
                  <a:srgbClr val="000000"/>
                </a:solidFill>
                <a:latin typeface="Arial"/>
                <a:ea typeface="Arial"/>
                <a:cs typeface="Arial"/>
                <a:sym typeface="Arial"/>
              </a:rPr>
              <a:t>Each task can have multiple statuses and you can track the progress and manage every deployments from this page. </a:t>
            </a:r>
            <a:br>
              <a:rPr lang="en-US" sz="700"/>
            </a:br>
            <a:endParaRPr sz="448" b="0" i="0" u="none" strike="noStrike">
              <a:solidFill>
                <a:srgbClr val="000000"/>
              </a:solidFill>
              <a:latin typeface="Arial"/>
              <a:ea typeface="Arial"/>
              <a:cs typeface="Arial"/>
              <a:sym typeface="Arial"/>
            </a:endParaRPr>
          </a:p>
          <a:p>
            <a:pPr marL="0" lvl="0" indent="0" algn="l" rtl="0">
              <a:lnSpc>
                <a:spcPct val="80000"/>
              </a:lnSpc>
              <a:spcBef>
                <a:spcPts val="3000"/>
              </a:spcBef>
              <a:spcAft>
                <a:spcPts val="0"/>
              </a:spcAft>
              <a:buClr>
                <a:srgbClr val="000000"/>
              </a:buClr>
              <a:buSzPts val="448"/>
              <a:buFont typeface="Arial"/>
              <a:buNone/>
            </a:pPr>
            <a:r>
              <a:rPr lang="en-US" sz="448" b="0" i="0" u="none" strike="noStrike">
                <a:solidFill>
                  <a:srgbClr val="000000"/>
                </a:solidFill>
                <a:latin typeface="Arial"/>
                <a:ea typeface="Arial"/>
                <a:cs typeface="Arial"/>
                <a:sym typeface="Arial"/>
              </a:rPr>
              <a:t>It also provides Backup and Restore mechanism for Automation, Identity Broker and Fleet Management itself.</a:t>
            </a:r>
            <a:endParaRPr sz="448" b="0" i="0" u="none" strike="noStrike">
              <a:solidFill>
                <a:srgbClr val="CC092F"/>
              </a:solidFill>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endParaRPr sz="208"/>
          </a:p>
          <a:p>
            <a:pPr marL="0" marR="0" lvl="0" indent="0" algn="l" rtl="0">
              <a:lnSpc>
                <a:spcPct val="100000"/>
              </a:lnSpc>
              <a:spcBef>
                <a:spcPts val="0"/>
              </a:spcBef>
              <a:spcAft>
                <a:spcPts val="0"/>
              </a:spcAft>
              <a:buClr>
                <a:schemeClr val="dk1"/>
              </a:buClr>
              <a:buSzPts val="800"/>
              <a:buFont typeface="Arial"/>
              <a:buNone/>
            </a:pPr>
            <a:r>
              <a:rPr lang="en-US" sz="800" b="1" u="none" strike="noStrike">
                <a:solidFill>
                  <a:schemeClr val="dk1"/>
                </a:solidFill>
              </a:rPr>
              <a:t>Notes:</a:t>
            </a:r>
            <a:r>
              <a:rPr lang="en-US" sz="800" u="none" strike="noStrike">
                <a:solidFill>
                  <a:schemeClr val="dk1"/>
                </a:solidFill>
              </a:rPr>
              <a:t> </a:t>
            </a:r>
            <a:endParaRPr/>
          </a:p>
          <a:p>
            <a:pPr marL="0" marR="0" lvl="0" indent="0" algn="l" rtl="0">
              <a:lnSpc>
                <a:spcPct val="100000"/>
              </a:lnSpc>
              <a:spcBef>
                <a:spcPts val="0"/>
              </a:spcBef>
              <a:spcAft>
                <a:spcPts val="0"/>
              </a:spcAft>
              <a:buClr>
                <a:schemeClr val="dk1"/>
              </a:buClr>
              <a:buSzPts val="800"/>
              <a:buFont typeface="Arial"/>
              <a:buNone/>
            </a:pPr>
            <a:endParaRPr sz="800" u="none" strike="noStrike">
              <a:solidFill>
                <a:schemeClr val="dk1"/>
              </a:solidFill>
            </a:endParaRPr>
          </a:p>
          <a:p>
            <a:pPr marL="0" lvl="0" indent="0" algn="l" rtl="0">
              <a:spcBef>
                <a:spcPts val="0"/>
              </a:spcBef>
              <a:spcAft>
                <a:spcPts val="0"/>
              </a:spcAft>
              <a:buClr>
                <a:schemeClr val="dk1"/>
              </a:buClr>
              <a:buSzPts val="800"/>
              <a:buFont typeface="Arial"/>
              <a:buNone/>
            </a:pPr>
            <a:r>
              <a:rPr lang="en-US" sz="800" b="1" u="none" strike="noStrike">
                <a:solidFill>
                  <a:schemeClr val="dk1"/>
                </a:solidFill>
              </a:rPr>
              <a:t>Resources:</a:t>
            </a:r>
            <a:br>
              <a:rPr lang="en-US" sz="800" b="1" u="none" strike="noStrike">
                <a:solidFill>
                  <a:schemeClr val="dk1"/>
                </a:solidFill>
              </a:rPr>
            </a:br>
            <a:endParaRPr sz="800">
              <a:solidFill>
                <a:srgbClr val="DCA10D"/>
              </a:solidFill>
              <a:latin typeface="Helvetica Neue"/>
              <a:ea typeface="Helvetica Neue"/>
              <a:cs typeface="Helvetica Neue"/>
              <a:sym typeface="Helvetica Neue"/>
            </a:endParaRPr>
          </a:p>
          <a:p>
            <a:pPr marL="0" lvl="0" indent="0" algn="l" rtl="0">
              <a:lnSpc>
                <a:spcPct val="40000"/>
              </a:lnSpc>
              <a:spcBef>
                <a:spcPts val="0"/>
              </a:spcBef>
              <a:spcAft>
                <a:spcPts val="0"/>
              </a:spcAft>
              <a:buClr>
                <a:schemeClr val="dk1"/>
              </a:buClr>
              <a:buSzPts val="713"/>
              <a:buFont typeface="Arial"/>
              <a:buNone/>
            </a:pPr>
            <a:endParaRPr sz="208"/>
          </a:p>
          <a:p>
            <a:pPr marL="0" lvl="0" indent="0" algn="l" rtl="0">
              <a:spcBef>
                <a:spcPts val="0"/>
              </a:spcBef>
              <a:spcAft>
                <a:spcPts val="0"/>
              </a:spcAft>
              <a:buNone/>
            </a:pPr>
            <a:endParaRPr/>
          </a:p>
        </p:txBody>
      </p:sp>
      <p:sp>
        <p:nvSpPr>
          <p:cNvPr id="6516" name="Google Shape;6516;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34</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7"/>
        <p:cNvGrpSpPr/>
        <p:nvPr/>
      </p:nvGrpSpPr>
      <p:grpSpPr>
        <a:xfrm>
          <a:off x="0" y="0"/>
          <a:ext cx="0" cy="0"/>
          <a:chOff x="0" y="0"/>
          <a:chExt cx="0" cy="0"/>
        </a:xfrm>
      </p:grpSpPr>
      <p:sp>
        <p:nvSpPr>
          <p:cNvPr id="6528" name="Google Shape;6528;p3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29" name="Google Shape;6529;p3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None/>
            </a:pPr>
            <a:r>
              <a:rPr lang="en-US" sz="930" b="1" u="none" strike="noStrike">
                <a:solidFill>
                  <a:schemeClr val="dk1"/>
                </a:solidFill>
              </a:rPr>
              <a:t>Key Message:</a:t>
            </a:r>
            <a:br>
              <a:rPr lang="en-US" sz="930" u="none" strike="noStrike">
                <a:solidFill>
                  <a:schemeClr val="dk1"/>
                </a:solidFill>
              </a:rPr>
            </a:br>
            <a:r>
              <a:rPr lang="en-US" sz="930"/>
              <a:t>VCF Upgrade Journey From 5.x to 9</a:t>
            </a:r>
            <a:endParaRPr/>
          </a:p>
          <a:p>
            <a:pPr marL="0" lvl="0" indent="0" algn="l" rtl="0">
              <a:lnSpc>
                <a:spcPct val="80000"/>
              </a:lnSpc>
              <a:spcBef>
                <a:spcPts val="0"/>
              </a:spcBef>
              <a:spcAft>
                <a:spcPts val="0"/>
              </a:spcAft>
              <a:buNone/>
            </a:pPr>
            <a:endParaRPr sz="930" u="none" strike="noStrike">
              <a:solidFill>
                <a:schemeClr val="dk1"/>
              </a:solidFill>
            </a:endParaRPr>
          </a:p>
          <a:p>
            <a:pPr marL="0" marR="0" lvl="0" indent="0" algn="l" rtl="0">
              <a:lnSpc>
                <a:spcPct val="80000"/>
              </a:lnSpc>
              <a:spcBef>
                <a:spcPts val="0"/>
              </a:spcBef>
              <a:spcAft>
                <a:spcPts val="0"/>
              </a:spcAft>
              <a:buClr>
                <a:schemeClr val="dk1"/>
              </a:buClr>
              <a:buSzPts val="930"/>
              <a:buFont typeface="Arial"/>
              <a:buNone/>
            </a:pPr>
            <a:r>
              <a:rPr lang="en-US" sz="930" b="1" u="none" strike="noStrike">
                <a:solidFill>
                  <a:schemeClr val="dk1"/>
                </a:solidFill>
              </a:rPr>
              <a:t>Talk Track: </a:t>
            </a:r>
            <a:endParaRPr/>
          </a:p>
          <a:p>
            <a:pPr marL="0" marR="0" lvl="0" indent="0" algn="l" rtl="0">
              <a:lnSpc>
                <a:spcPct val="80000"/>
              </a:lnSpc>
              <a:spcBef>
                <a:spcPts val="0"/>
              </a:spcBef>
              <a:spcAft>
                <a:spcPts val="0"/>
              </a:spcAft>
              <a:buClr>
                <a:schemeClr val="dk1"/>
              </a:buClr>
              <a:buSzPts val="930"/>
              <a:buFont typeface="Arial"/>
              <a:buNone/>
            </a:pPr>
            <a:r>
              <a:rPr lang="en-US" sz="930" b="0" u="none" strike="noStrike">
                <a:solidFill>
                  <a:schemeClr val="dk1"/>
                </a:solidFill>
              </a:rPr>
              <a:t>VCF 5.x can be upgraded to VCF 9 without a </a:t>
            </a:r>
            <a:r>
              <a:rPr lang="en-US" sz="930"/>
              <a:t>"forklift upgrade". No complex migration or conversion steps are required, so you can move directly to VCF 9 without any additional hardware investments. This allows you to unlock the full potential of VCF 9's new features and capabilities right away. The upgrade process is straightforward and involves a series of well-defined steps: </a:t>
            </a:r>
            <a:endParaRPr/>
          </a:p>
          <a:p>
            <a:pPr marL="0" lvl="0" indent="0" algn="l" rtl="0">
              <a:lnSpc>
                <a:spcPct val="80000"/>
              </a:lnSpc>
              <a:spcBef>
                <a:spcPts val="0"/>
              </a:spcBef>
              <a:spcAft>
                <a:spcPts val="0"/>
              </a:spcAft>
              <a:buNone/>
            </a:pPr>
            <a:endParaRPr sz="930"/>
          </a:p>
          <a:p>
            <a:pPr marL="0" lvl="0" indent="0" algn="l" rtl="0">
              <a:lnSpc>
                <a:spcPct val="80000"/>
              </a:lnSpc>
              <a:spcBef>
                <a:spcPts val="0"/>
              </a:spcBef>
              <a:spcAft>
                <a:spcPts val="0"/>
              </a:spcAft>
              <a:buNone/>
            </a:pPr>
            <a:r>
              <a:rPr lang="en-US" sz="930"/>
              <a:t>Step 1: Update Aria Suite Lifecycle: First, update Aria Suite Lifecycle to version 8.18 Patch 2. This version is the key to unlocking the VCF 9 upgrade. </a:t>
            </a:r>
            <a:endParaRPr/>
          </a:p>
          <a:p>
            <a:pPr marL="0" lvl="0" indent="0" algn="l" rtl="0">
              <a:lnSpc>
                <a:spcPct val="80000"/>
              </a:lnSpc>
              <a:spcBef>
                <a:spcPts val="0"/>
              </a:spcBef>
              <a:spcAft>
                <a:spcPts val="0"/>
              </a:spcAft>
              <a:buNone/>
            </a:pPr>
            <a:endParaRPr sz="930"/>
          </a:p>
          <a:p>
            <a:pPr marL="0" lvl="0" indent="0" algn="l" rtl="0">
              <a:lnSpc>
                <a:spcPct val="80000"/>
              </a:lnSpc>
              <a:spcBef>
                <a:spcPts val="0"/>
              </a:spcBef>
              <a:spcAft>
                <a:spcPts val="0"/>
              </a:spcAft>
              <a:buNone/>
            </a:pPr>
            <a:r>
              <a:rPr lang="en-US" sz="930"/>
              <a:t>It does two important things: </a:t>
            </a:r>
            <a:endParaRPr/>
          </a:p>
          <a:p>
            <a:pPr marL="171450" lvl="0" indent="-171450" algn="l" rtl="0">
              <a:lnSpc>
                <a:spcPct val="80000"/>
              </a:lnSpc>
              <a:spcBef>
                <a:spcPts val="0"/>
              </a:spcBef>
              <a:spcAft>
                <a:spcPts val="0"/>
              </a:spcAft>
              <a:buClr>
                <a:schemeClr val="dk1"/>
              </a:buClr>
              <a:buSzPts val="930"/>
              <a:buFont typeface="Arial"/>
              <a:buChar char="•"/>
            </a:pPr>
            <a:r>
              <a:rPr lang="en-US" sz="930"/>
              <a:t>Enables upgrade of Aria Operations 8.18.x to VCF Operations 9: This smoothly transitions your management layer to the latest version, setting the stage for a more streamlined experience. </a:t>
            </a:r>
            <a:endParaRPr/>
          </a:p>
          <a:p>
            <a:pPr marL="171450" lvl="0" indent="-171450" algn="l" rtl="0">
              <a:lnSpc>
                <a:spcPct val="80000"/>
              </a:lnSpc>
              <a:spcBef>
                <a:spcPts val="0"/>
              </a:spcBef>
              <a:spcAft>
                <a:spcPts val="0"/>
              </a:spcAft>
              <a:buClr>
                <a:schemeClr val="dk1"/>
              </a:buClr>
              <a:buSzPts val="930"/>
              <a:buFont typeface="Arial"/>
              <a:buChar char="•"/>
            </a:pPr>
            <a:r>
              <a:rPr lang="en-US" sz="930"/>
              <a:t>Deploys the Fleet Management Appliance: This is a new management appliance for the VCF 9 environment. This appliance manages and orchestrates all your VCF management components. </a:t>
            </a:r>
            <a:endParaRPr/>
          </a:p>
          <a:p>
            <a:pPr marL="0" lvl="0" indent="0" algn="l" rtl="0">
              <a:lnSpc>
                <a:spcPct val="80000"/>
              </a:lnSpc>
              <a:spcBef>
                <a:spcPts val="0"/>
              </a:spcBef>
              <a:spcAft>
                <a:spcPts val="0"/>
              </a:spcAft>
              <a:buNone/>
            </a:pPr>
            <a:endParaRPr sz="930"/>
          </a:p>
          <a:p>
            <a:pPr marL="0" lvl="0" indent="0" algn="l" rtl="0">
              <a:lnSpc>
                <a:spcPct val="80000"/>
              </a:lnSpc>
              <a:spcBef>
                <a:spcPts val="0"/>
              </a:spcBef>
              <a:spcAft>
                <a:spcPts val="0"/>
              </a:spcAft>
              <a:buNone/>
            </a:pPr>
            <a:r>
              <a:rPr lang="en-US" sz="930"/>
              <a:t>Step 2: SDDC Manager Upgrade: Once VCF Operations is up to speed, upgrade SDDC Manager from version 5 to 9. This upgrade is completed through the familiar SDDC Manager interface, making it a simple and straightforward process. </a:t>
            </a:r>
            <a:endParaRPr/>
          </a:p>
          <a:p>
            <a:pPr marL="0" lvl="0" indent="0" algn="l" rtl="0">
              <a:lnSpc>
                <a:spcPct val="80000"/>
              </a:lnSpc>
              <a:spcBef>
                <a:spcPts val="0"/>
              </a:spcBef>
              <a:spcAft>
                <a:spcPts val="0"/>
              </a:spcAft>
              <a:buNone/>
            </a:pPr>
            <a:endParaRPr sz="930"/>
          </a:p>
          <a:p>
            <a:pPr marL="0" lvl="0" indent="0" algn="l" rtl="0">
              <a:lnSpc>
                <a:spcPct val="80000"/>
              </a:lnSpc>
              <a:spcBef>
                <a:spcPts val="0"/>
              </a:spcBef>
              <a:spcAft>
                <a:spcPts val="0"/>
              </a:spcAft>
              <a:buNone/>
            </a:pPr>
            <a:r>
              <a:rPr lang="en-US" sz="930"/>
              <a:t>Step 3: The VCF Infrastructure Component Update: This final stage involves a slight shift in management approach. In VCF 9, we move from SDDC Manager to the new VCF Ops interface for managing your VCF infrastructure components (vCenter, ESX, and NSX). This modern interface offers a more efficient and streamlined management experience. </a:t>
            </a:r>
            <a:endParaRPr/>
          </a:p>
          <a:p>
            <a:pPr marL="0" lvl="0" indent="0" algn="l" rtl="0">
              <a:lnSpc>
                <a:spcPct val="80000"/>
              </a:lnSpc>
              <a:spcBef>
                <a:spcPts val="0"/>
              </a:spcBef>
              <a:spcAft>
                <a:spcPts val="0"/>
              </a:spcAft>
              <a:buNone/>
            </a:pPr>
            <a:endParaRPr sz="930"/>
          </a:p>
          <a:p>
            <a:pPr marL="0" lvl="0" indent="0" algn="l" rtl="0">
              <a:lnSpc>
                <a:spcPct val="80000"/>
              </a:lnSpc>
              <a:spcBef>
                <a:spcPts val="0"/>
              </a:spcBef>
              <a:spcAft>
                <a:spcPts val="0"/>
              </a:spcAft>
              <a:buNone/>
            </a:pPr>
            <a:r>
              <a:rPr lang="en-US" sz="930"/>
              <a:t>This is a smooth, well-defined path to bring VCF up to date with the latest advancements. By taking advantage of this upgrade journey, you can unlock the full potential of VCF 9 and elevate your cloud infrastructure to new heights.</a:t>
            </a:r>
            <a:endParaRPr/>
          </a:p>
          <a:p>
            <a:pPr marL="0" lvl="0" indent="0" algn="l" rtl="0">
              <a:lnSpc>
                <a:spcPct val="80000"/>
              </a:lnSpc>
              <a:spcBef>
                <a:spcPts val="0"/>
              </a:spcBef>
              <a:spcAft>
                <a:spcPts val="0"/>
              </a:spcAft>
              <a:buNone/>
            </a:pPr>
            <a:endParaRPr sz="930"/>
          </a:p>
          <a:p>
            <a:pPr marL="0" marR="0" lvl="0" indent="0" algn="l" rtl="0">
              <a:lnSpc>
                <a:spcPct val="80000"/>
              </a:lnSpc>
              <a:spcBef>
                <a:spcPts val="0"/>
              </a:spcBef>
              <a:spcAft>
                <a:spcPts val="0"/>
              </a:spcAft>
              <a:buClr>
                <a:schemeClr val="dk1"/>
              </a:buClr>
              <a:buSzPts val="930"/>
              <a:buFont typeface="Arial"/>
              <a:buNone/>
            </a:pPr>
            <a:r>
              <a:rPr lang="en-US" sz="930" b="1" u="none" strike="noStrike">
                <a:solidFill>
                  <a:schemeClr val="dk1"/>
                </a:solidFill>
              </a:rPr>
              <a:t>Notes:</a:t>
            </a:r>
            <a:endParaRPr/>
          </a:p>
          <a:p>
            <a:pPr marL="0" marR="0" lvl="0" indent="0" algn="l" rtl="0">
              <a:lnSpc>
                <a:spcPct val="80000"/>
              </a:lnSpc>
              <a:spcBef>
                <a:spcPts val="0"/>
              </a:spcBef>
              <a:spcAft>
                <a:spcPts val="0"/>
              </a:spcAft>
              <a:buClr>
                <a:schemeClr val="dk1"/>
              </a:buClr>
              <a:buSzPts val="930"/>
              <a:buFont typeface="Arial"/>
              <a:buNone/>
            </a:pPr>
            <a:r>
              <a:rPr lang="en-US" sz="930" b="0" u="none" strike="noStrike">
                <a:solidFill>
                  <a:schemeClr val="dk1"/>
                </a:solidFill>
              </a:rPr>
              <a:t>Keep in mind that migration at this scale has numerous moving parts, this is a simplified overview to introduce the required workflow.  Certain other elements will be expanded upon in other technical collateral.</a:t>
            </a:r>
            <a:endParaRPr/>
          </a:p>
          <a:p>
            <a:pPr marL="0" marR="0" lvl="0" indent="0" algn="l" rtl="0">
              <a:lnSpc>
                <a:spcPct val="80000"/>
              </a:lnSpc>
              <a:spcBef>
                <a:spcPts val="0"/>
              </a:spcBef>
              <a:spcAft>
                <a:spcPts val="0"/>
              </a:spcAft>
              <a:buClr>
                <a:schemeClr val="dk1"/>
              </a:buClr>
              <a:buSzPts val="930"/>
              <a:buFont typeface="Arial"/>
              <a:buNone/>
            </a:pPr>
            <a:br>
              <a:rPr lang="en-US" sz="930" u="none" strike="noStrike">
                <a:solidFill>
                  <a:schemeClr val="dk1"/>
                </a:solidFill>
              </a:rPr>
            </a:br>
            <a:r>
              <a:rPr lang="en-US" sz="930" u="none" strike="noStrike">
                <a:solidFill>
                  <a:schemeClr val="dk1"/>
                </a:solidFill>
              </a:rPr>
              <a:t>Aria Suite Lifecycle (or vRSLCM) remains as-is until it is no longer needed. For example, it may be required for managing a VIDM deployment, which is not upgradable to VCF 9.</a:t>
            </a:r>
            <a:endParaRPr/>
          </a:p>
          <a:p>
            <a:pPr marL="0" marR="0" lvl="0" indent="0" algn="l" rtl="0">
              <a:lnSpc>
                <a:spcPct val="80000"/>
              </a:lnSpc>
              <a:spcBef>
                <a:spcPts val="0"/>
              </a:spcBef>
              <a:spcAft>
                <a:spcPts val="0"/>
              </a:spcAft>
              <a:buClr>
                <a:schemeClr val="dk1"/>
              </a:buClr>
              <a:buSzPts val="930"/>
              <a:buFont typeface="Arial"/>
              <a:buNone/>
            </a:pPr>
            <a:endParaRPr sz="930" u="none" strike="noStrike">
              <a:solidFill>
                <a:schemeClr val="dk1"/>
              </a:solidFill>
            </a:endParaRPr>
          </a:p>
          <a:p>
            <a:pPr marL="0" marR="0" lvl="0" indent="0" algn="l" rtl="0">
              <a:lnSpc>
                <a:spcPct val="80000"/>
              </a:lnSpc>
              <a:spcBef>
                <a:spcPts val="0"/>
              </a:spcBef>
              <a:spcAft>
                <a:spcPts val="0"/>
              </a:spcAft>
              <a:buClr>
                <a:schemeClr val="dk1"/>
              </a:buClr>
              <a:buSzPts val="930"/>
              <a:buFont typeface="Arial"/>
              <a:buNone/>
            </a:pPr>
            <a:r>
              <a:rPr lang="en-US" sz="930" u="none" strike="noStrike">
                <a:solidFill>
                  <a:schemeClr val="dk1"/>
                </a:solidFill>
              </a:rPr>
              <a:t>The new VCF 9 licensing model is all new and must be applied after the upgrade is finished. The deployment will be in evaluation mode after the upgrade.</a:t>
            </a:r>
            <a:endParaRPr/>
          </a:p>
          <a:p>
            <a:pPr marL="0" marR="0" lvl="0" indent="0" algn="l" rtl="0">
              <a:lnSpc>
                <a:spcPct val="80000"/>
              </a:lnSpc>
              <a:spcBef>
                <a:spcPts val="0"/>
              </a:spcBef>
              <a:spcAft>
                <a:spcPts val="0"/>
              </a:spcAft>
              <a:buClr>
                <a:schemeClr val="dk1"/>
              </a:buClr>
              <a:buSzPts val="930"/>
              <a:buFont typeface="Arial"/>
              <a:buNone/>
            </a:pPr>
            <a:endParaRPr sz="930" u="none" strike="noStrike">
              <a:solidFill>
                <a:schemeClr val="dk1"/>
              </a:solidFill>
            </a:endParaRPr>
          </a:p>
          <a:p>
            <a:pPr marL="0" lvl="0" indent="0" algn="l" rtl="0">
              <a:lnSpc>
                <a:spcPct val="80000"/>
              </a:lnSpc>
              <a:spcBef>
                <a:spcPts val="0"/>
              </a:spcBef>
              <a:spcAft>
                <a:spcPts val="0"/>
              </a:spcAft>
              <a:buNone/>
            </a:pPr>
            <a:r>
              <a:rPr lang="en-US" sz="930" b="1" u="none" strike="noStrike">
                <a:solidFill>
                  <a:schemeClr val="dk1"/>
                </a:solidFill>
              </a:rPr>
              <a:t>Resources:</a:t>
            </a:r>
            <a:br>
              <a:rPr lang="en-US" sz="930" b="1" u="none" strike="noStrike">
                <a:solidFill>
                  <a:schemeClr val="dk1"/>
                </a:solidFill>
              </a:rPr>
            </a:br>
            <a:endParaRPr sz="930"/>
          </a:p>
          <a:p>
            <a:pPr marL="0" lvl="0" indent="0" algn="l" rtl="0">
              <a:lnSpc>
                <a:spcPct val="80000"/>
              </a:lnSpc>
              <a:spcBef>
                <a:spcPts val="0"/>
              </a:spcBef>
              <a:spcAft>
                <a:spcPts val="0"/>
              </a:spcAft>
              <a:buNone/>
            </a:pPr>
            <a:endParaRPr sz="930"/>
          </a:p>
        </p:txBody>
      </p:sp>
      <p:sp>
        <p:nvSpPr>
          <p:cNvPr id="6530" name="Google Shape;6530;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35</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0D369-33F9-48D3-132D-EF85652BE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FD340-B231-EB93-CABA-7474D4A64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7A39A-4936-C195-43EE-F9D9315F61E3}"/>
              </a:ext>
            </a:extLst>
          </p:cNvPr>
          <p:cNvSpPr>
            <a:spLocks noGrp="1"/>
          </p:cNvSpPr>
          <p:nvPr>
            <p:ph type="body" idx="1"/>
          </p:nvPr>
        </p:nvSpPr>
        <p:spPr/>
        <p:txBody>
          <a:bodyP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VCF 9: Enhanced Identity and Access Management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b="1" u="none" strike="noStrike" kern="1200" dirty="0">
                <a:solidFill>
                  <a:schemeClr val="tx1"/>
                </a:solidFill>
                <a:effectLst/>
              </a:rPr>
            </a:br>
            <a:r>
              <a:rPr lang="en-US" sz="1200" b="1" u="none" strike="noStrike" kern="1200" dirty="0">
                <a:solidFill>
                  <a:schemeClr val="tx1"/>
                </a:solidFill>
                <a:effectLst/>
              </a:rPr>
              <a:t>Talk Track: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VCF 9 introduces a significant upgrade to identity and access management, bringing enhanced security and streamlined administration to your private cloud environment.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This new VIDB single sign-on service replaces the previous </a:t>
            </a:r>
            <a:r>
              <a:rPr lang="en-US" b="0" i="0" dirty="0" err="1">
                <a:solidFill>
                  <a:srgbClr val="1F1F1F"/>
                </a:solidFill>
                <a:effectLst/>
                <a:latin typeface="Arial" panose="020B0604020202020204" pitchFamily="34" charset="0"/>
              </a:rPr>
              <a:t>vIDM</a:t>
            </a:r>
            <a:r>
              <a:rPr lang="en-US" b="0" i="0" dirty="0">
                <a:solidFill>
                  <a:srgbClr val="1F1F1F"/>
                </a:solidFill>
                <a:effectLst/>
                <a:latin typeface="Arial" panose="020B0604020202020204" pitchFamily="34" charset="0"/>
              </a:rPr>
              <a:t> solution and is built upon modern identity provider technology. VIDB can be deployed in two distinct modes: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 Embedded: Running directly on the management domain vCenter Server, offering out-of-the-box simplicity.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 External Appliance Cluster: Provides scalability and flexibility for larger deployments, where a single VIDB instance can support multiple VCF environments.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VIDB leverages the intuitive VCF Operations interface for easy setup. For the external appliance mode, deployment is managed through the VCF lifecycle management workflow. Once configured, VIDB seamlessly integrates with key VCF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 vCenter Server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 NSX Manager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 VCF Operations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 VCF Automation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This enables centralized identity management and automatic single sign-on across your critical cloud infrastructure.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VIDB supports a wide range of industry-standard modern identity providers, offering flexibility and compatibility with your existing security solutions: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 SAML 2.0 and OIDC: For modern cloud-based identity providers like Okta, Ping Identity, Microsoft Entra ID, or any SAML 2.0 provider.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 AD/LDAP: For traditional directory-based authentication.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dirty="0">
                <a:solidFill>
                  <a:srgbClr val="1F1F1F"/>
                </a:solidFill>
                <a:effectLst/>
                <a:latin typeface="Arial" panose="020B0604020202020204" pitchFamily="34" charset="0"/>
              </a:rPr>
              <a:t>This empowers administrators with granular control over user privileges, enabling role-based access for different VCF components based on user or group membership.</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dirty="0">
                <a:solidFill>
                  <a:srgbClr val="1F1F1F"/>
                </a:solidFill>
                <a:effectLst/>
                <a:latin typeface="Arial" panose="020B0604020202020204" pitchFamily="34" charset="0"/>
              </a:rPr>
              <a:t>VIDB’s simplified architecture no longer requires individual component to be configured separately with an identity provider, streamlining administration and reducing potential vulnerabilities. Plus, it is deployed inside the firewall, enabling direct communication with identity providers and eliminating the need for external connectors.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br>
              <a:rPr lang="en-US" sz="1200" u="none" strike="noStrike" kern="1200" dirty="0">
                <a:solidFill>
                  <a:schemeClr val="tx1"/>
                </a:solidFill>
                <a:effectLst/>
              </a:rPr>
            </a:br>
            <a:r>
              <a:rPr lang="en-US" b="0" i="0" dirty="0" err="1">
                <a:solidFill>
                  <a:srgbClr val="1F1F1F"/>
                </a:solidFill>
                <a:effectLst/>
                <a:latin typeface="Arial" panose="020B0604020202020204" pitchFamily="34" charset="0"/>
              </a:rPr>
              <a:t>vIDM</a:t>
            </a:r>
            <a:r>
              <a:rPr lang="en-US" b="0" i="0" dirty="0">
                <a:solidFill>
                  <a:srgbClr val="1F1F1F"/>
                </a:solidFill>
                <a:effectLst/>
                <a:latin typeface="Arial" panose="020B0604020202020204" pitchFamily="34" charset="0"/>
              </a:rPr>
              <a:t> is not directly upgradeable to VIDB.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rgbClr val="1F1F1F"/>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Resources:</a:t>
            </a:r>
            <a:br>
              <a:rPr lang="en-US" sz="1200" b="1" u="none" strike="noStrike" kern="1200" dirty="0">
                <a:solidFill>
                  <a:schemeClr val="tx1"/>
                </a:solidFill>
                <a:effectLst/>
              </a:rPr>
            </a:br>
            <a:endParaRPr lang="en-AU" dirty="0">
              <a:solidFill>
                <a:srgbClr val="DCA10D"/>
              </a:solidFill>
              <a:effectLst/>
              <a:latin typeface="Helvetica Neue" panose="02000503000000020004" pitchFamily="2" charset="0"/>
            </a:endParaRPr>
          </a:p>
          <a:p>
            <a:endParaRPr lang="en-US" dirty="0"/>
          </a:p>
        </p:txBody>
      </p:sp>
      <p:sp>
        <p:nvSpPr>
          <p:cNvPr id="4" name="Slide Number Placeholder 3">
            <a:extLst>
              <a:ext uri="{FF2B5EF4-FFF2-40B4-BE49-F238E27FC236}">
                <a16:creationId xmlns:a16="http://schemas.microsoft.com/office/drawing/2014/main" id="{021D41B3-0E81-7518-9F3D-9893E5FC80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3717471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8"/>
        <p:cNvGrpSpPr/>
        <p:nvPr/>
      </p:nvGrpSpPr>
      <p:grpSpPr>
        <a:xfrm>
          <a:off x="0" y="0"/>
          <a:ext cx="0" cy="0"/>
          <a:chOff x="0" y="0"/>
          <a:chExt cx="0" cy="0"/>
        </a:xfrm>
      </p:grpSpPr>
      <p:sp>
        <p:nvSpPr>
          <p:cNvPr id="6619" name="Google Shape;6619;p3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20" name="Google Shape;6620;p3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None/>
            </a:pPr>
            <a:r>
              <a:rPr lang="en-US" sz="1110" b="1" u="none" strike="noStrike" dirty="0">
                <a:solidFill>
                  <a:schemeClr val="dk1"/>
                </a:solidFill>
              </a:rPr>
              <a:t>Key Message:</a:t>
            </a:r>
            <a:endParaRPr sz="1110" u="none" strike="noStrike" dirty="0">
              <a:solidFill>
                <a:schemeClr val="dk1"/>
              </a:solidFill>
            </a:endParaRPr>
          </a:p>
          <a:p>
            <a:pPr marL="0" lvl="0" indent="0" algn="l" rtl="0">
              <a:lnSpc>
                <a:spcPct val="80000"/>
              </a:lnSpc>
              <a:spcBef>
                <a:spcPts val="0"/>
              </a:spcBef>
              <a:spcAft>
                <a:spcPts val="0"/>
              </a:spcAft>
              <a:buNone/>
            </a:pPr>
            <a:r>
              <a:rPr lang="en-US" sz="1110" dirty="0"/>
              <a:t>VMware Cloud Foundation 9 Delivers A Powerful New Approach to Certificate Management</a:t>
            </a:r>
            <a:endParaRPr dirty="0"/>
          </a:p>
          <a:p>
            <a:pPr marL="0" lvl="0" indent="0" algn="l" rtl="0">
              <a:lnSpc>
                <a:spcPct val="80000"/>
              </a:lnSpc>
              <a:spcBef>
                <a:spcPts val="0"/>
              </a:spcBef>
              <a:spcAft>
                <a:spcPts val="0"/>
              </a:spcAft>
              <a:buNone/>
            </a:pPr>
            <a:endParaRPr sz="1110" dirty="0"/>
          </a:p>
          <a:p>
            <a:pPr marL="0" marR="0" lvl="0" indent="0" algn="l" rtl="0">
              <a:lnSpc>
                <a:spcPct val="80000"/>
              </a:lnSpc>
              <a:spcBef>
                <a:spcPts val="0"/>
              </a:spcBef>
              <a:spcAft>
                <a:spcPts val="0"/>
              </a:spcAft>
              <a:buClr>
                <a:schemeClr val="dk1"/>
              </a:buClr>
              <a:buSzPts val="1110"/>
              <a:buFont typeface="Arial"/>
              <a:buNone/>
            </a:pPr>
            <a:r>
              <a:rPr lang="en-US" sz="1110" b="1" u="none" strike="noStrike" dirty="0">
                <a:solidFill>
                  <a:schemeClr val="dk1"/>
                </a:solidFill>
              </a:rPr>
              <a:t>Talk Track: </a:t>
            </a:r>
            <a:endParaRPr sz="1110" dirty="0"/>
          </a:p>
          <a:p>
            <a:pPr marL="0" lvl="0" indent="0" algn="l" rtl="0">
              <a:lnSpc>
                <a:spcPct val="80000"/>
              </a:lnSpc>
              <a:spcBef>
                <a:spcPts val="0"/>
              </a:spcBef>
              <a:spcAft>
                <a:spcPts val="0"/>
              </a:spcAft>
              <a:buNone/>
            </a:pPr>
            <a:r>
              <a:rPr lang="en-US" sz="1110" dirty="0"/>
              <a:t>In VMware Cloud Foundation 9, we're excited to introduce a completely revamped certificate management experience, bringing both the infrastructure and management components under one umbrella. Administrators now have greater flexibility in their certificate management approach, with the ability to leverage existing Microsoft Active Directory Certificate Services CAs, utilize the open-source OpenSSL for certificate generation, or even generate certificate requests for use with external CAs.</a:t>
            </a:r>
            <a:endParaRPr dirty="0"/>
          </a:p>
          <a:p>
            <a:pPr marL="0" lvl="0" indent="0" algn="l" rtl="0">
              <a:lnSpc>
                <a:spcPct val="80000"/>
              </a:lnSpc>
              <a:spcBef>
                <a:spcPts val="0"/>
              </a:spcBef>
              <a:spcAft>
                <a:spcPts val="0"/>
              </a:spcAft>
              <a:buNone/>
            </a:pPr>
            <a:endParaRPr lang="en-AU" sz="1110" dirty="0"/>
          </a:p>
          <a:p>
            <a:pPr marL="0" lvl="0" indent="0" algn="l" rtl="0">
              <a:lnSpc>
                <a:spcPct val="80000"/>
              </a:lnSpc>
              <a:spcBef>
                <a:spcPts val="0"/>
              </a:spcBef>
              <a:spcAft>
                <a:spcPts val="0"/>
              </a:spcAft>
              <a:buNone/>
            </a:pPr>
            <a:r>
              <a:rPr lang="en-AU" sz="1110" dirty="0"/>
              <a:t>&lt;click&gt;</a:t>
            </a:r>
            <a:endParaRPr sz="1110" dirty="0"/>
          </a:p>
          <a:p>
            <a:pPr marL="0" lvl="0" indent="0" algn="l" rtl="0">
              <a:lnSpc>
                <a:spcPct val="80000"/>
              </a:lnSpc>
              <a:spcBef>
                <a:spcPts val="0"/>
              </a:spcBef>
              <a:spcAft>
                <a:spcPts val="0"/>
              </a:spcAft>
              <a:buNone/>
            </a:pPr>
            <a:r>
              <a:rPr lang="en-US" sz="1110" dirty="0"/>
              <a:t>One of the key enhancements in VCF 9 is the automatic certificate renewal functionality when using integrated CAs. This streamlines the process, ensuring certificates are automatically renewed and replaced for compatible components, eliminating the need for manual intervention. The new certificate management infrastructure also integrates with VCF Operations alerts, providing timely notifications about expiring certificates and upcoming renewals, enabling proactive management and minimizing potential disruptions.</a:t>
            </a:r>
            <a:endParaRPr dirty="0"/>
          </a:p>
          <a:p>
            <a:pPr marL="0" lvl="0" indent="0" algn="l" rtl="0">
              <a:lnSpc>
                <a:spcPct val="80000"/>
              </a:lnSpc>
              <a:spcBef>
                <a:spcPts val="0"/>
              </a:spcBef>
              <a:spcAft>
                <a:spcPts val="0"/>
              </a:spcAft>
              <a:buNone/>
            </a:pPr>
            <a:endParaRPr sz="1110" dirty="0"/>
          </a:p>
          <a:p>
            <a:pPr marL="0" lvl="0" indent="0" algn="l" rtl="0">
              <a:lnSpc>
                <a:spcPct val="80000"/>
              </a:lnSpc>
              <a:spcBef>
                <a:spcPts val="0"/>
              </a:spcBef>
              <a:spcAft>
                <a:spcPts val="0"/>
              </a:spcAft>
              <a:buNone/>
            </a:pPr>
            <a:r>
              <a:rPr lang="en-US" sz="1110" dirty="0"/>
              <a:t>The non-disruptive certificate (NDC) architecture makes it fast and safe to update certs on the components without requiring any maintenance windows for the management interfaces.</a:t>
            </a:r>
            <a:endParaRPr dirty="0"/>
          </a:p>
          <a:p>
            <a:pPr marL="0" lvl="0" indent="0" algn="l" rtl="0">
              <a:lnSpc>
                <a:spcPct val="80000"/>
              </a:lnSpc>
              <a:spcBef>
                <a:spcPts val="0"/>
              </a:spcBef>
              <a:spcAft>
                <a:spcPts val="0"/>
              </a:spcAft>
              <a:buNone/>
            </a:pPr>
            <a:endParaRPr sz="1110" dirty="0"/>
          </a:p>
          <a:p>
            <a:pPr marL="0" lvl="0" indent="0" algn="l" rtl="0">
              <a:lnSpc>
                <a:spcPct val="80000"/>
              </a:lnSpc>
              <a:spcBef>
                <a:spcPts val="0"/>
              </a:spcBef>
              <a:spcAft>
                <a:spcPts val="0"/>
              </a:spcAft>
              <a:buNone/>
            </a:pPr>
            <a:r>
              <a:rPr lang="en-US" sz="1110" dirty="0"/>
              <a:t>For organizations with high compliance requirements, VCF 9 also introduces the ability to issue signed certificates to VMware ESX hosts. This ensures that your virtualized environment is compliant with the most stringent security standards, further bolstering your overall security posture.</a:t>
            </a:r>
            <a:endParaRPr dirty="0"/>
          </a:p>
          <a:p>
            <a:pPr marL="0" lvl="0" indent="0" algn="l" rtl="0">
              <a:lnSpc>
                <a:spcPct val="80000"/>
              </a:lnSpc>
              <a:spcBef>
                <a:spcPts val="0"/>
              </a:spcBef>
              <a:spcAft>
                <a:spcPts val="0"/>
              </a:spcAft>
              <a:buNone/>
            </a:pPr>
            <a:endParaRPr sz="1110" dirty="0"/>
          </a:p>
          <a:p>
            <a:pPr marL="0" lvl="0" indent="0" algn="l" rtl="0">
              <a:lnSpc>
                <a:spcPct val="80000"/>
              </a:lnSpc>
              <a:spcBef>
                <a:spcPts val="0"/>
              </a:spcBef>
              <a:spcAft>
                <a:spcPts val="0"/>
              </a:spcAft>
              <a:buNone/>
            </a:pPr>
            <a:r>
              <a:rPr lang="en-US" sz="1110" dirty="0"/>
              <a:t>Overall, VCF 9's certificate management capabilities represent a significant step forward in managing and securing your cloud infrastructure. This new approach delivers enhanced flexibility, increased automation, and improved compliance, ultimately making your cloud environment more secure and efficient.</a:t>
            </a:r>
            <a:endParaRPr dirty="0"/>
          </a:p>
          <a:p>
            <a:pPr marL="0" marR="0" lvl="0" indent="0" algn="l" rtl="0">
              <a:lnSpc>
                <a:spcPct val="80000"/>
              </a:lnSpc>
              <a:spcBef>
                <a:spcPts val="0"/>
              </a:spcBef>
              <a:spcAft>
                <a:spcPts val="0"/>
              </a:spcAft>
              <a:buClr>
                <a:schemeClr val="dk1"/>
              </a:buClr>
              <a:buSzPts val="1110"/>
              <a:buFont typeface="Arial"/>
              <a:buNone/>
            </a:pPr>
            <a:endParaRPr sz="1110" b="1" u="none" strike="noStrike" dirty="0">
              <a:solidFill>
                <a:schemeClr val="dk1"/>
              </a:solidFill>
            </a:endParaRPr>
          </a:p>
          <a:p>
            <a:pPr marL="0" marR="0" lvl="0" indent="0" algn="l" rtl="0">
              <a:lnSpc>
                <a:spcPct val="80000"/>
              </a:lnSpc>
              <a:spcBef>
                <a:spcPts val="0"/>
              </a:spcBef>
              <a:spcAft>
                <a:spcPts val="0"/>
              </a:spcAft>
              <a:buClr>
                <a:schemeClr val="dk1"/>
              </a:buClr>
              <a:buSzPts val="1110"/>
              <a:buFont typeface="Arial"/>
              <a:buNone/>
            </a:pPr>
            <a:r>
              <a:rPr lang="en-US" sz="1110" b="1" u="none" strike="noStrike" dirty="0">
                <a:solidFill>
                  <a:schemeClr val="dk1"/>
                </a:solidFill>
              </a:rPr>
              <a:t>Notes:</a:t>
            </a:r>
            <a:endParaRPr sz="1110" u="none" strike="noStrike" dirty="0">
              <a:solidFill>
                <a:schemeClr val="dk1"/>
              </a:solidFill>
            </a:endParaRPr>
          </a:p>
          <a:p>
            <a:pPr marL="0" marR="0" lvl="0" indent="0" algn="l" rtl="0">
              <a:lnSpc>
                <a:spcPct val="80000"/>
              </a:lnSpc>
              <a:spcBef>
                <a:spcPts val="0"/>
              </a:spcBef>
              <a:spcAft>
                <a:spcPts val="0"/>
              </a:spcAft>
              <a:buClr>
                <a:schemeClr val="dk1"/>
              </a:buClr>
              <a:buSzPts val="1110"/>
              <a:buFont typeface="Arial"/>
              <a:buNone/>
            </a:pPr>
            <a:endParaRPr sz="1110" u="none" strike="noStrike" dirty="0">
              <a:solidFill>
                <a:schemeClr val="dk1"/>
              </a:solidFill>
            </a:endParaRPr>
          </a:p>
          <a:p>
            <a:pPr marL="0" lvl="0" indent="0" algn="l" rtl="0">
              <a:lnSpc>
                <a:spcPct val="80000"/>
              </a:lnSpc>
              <a:spcBef>
                <a:spcPts val="0"/>
              </a:spcBef>
              <a:spcAft>
                <a:spcPts val="0"/>
              </a:spcAft>
              <a:buNone/>
            </a:pPr>
            <a:r>
              <a:rPr lang="en-US" sz="1110" b="1" u="none" strike="noStrike" dirty="0">
                <a:solidFill>
                  <a:schemeClr val="dk1"/>
                </a:solidFill>
              </a:rPr>
              <a:t>Resources:</a:t>
            </a:r>
            <a:endParaRPr sz="1110" dirty="0">
              <a:solidFill>
                <a:srgbClr val="DCA10D"/>
              </a:solidFill>
              <a:latin typeface="Helvetica Neue"/>
              <a:ea typeface="Helvetica Neue"/>
              <a:cs typeface="Helvetica Neue"/>
              <a:sym typeface="Helvetica Neue"/>
            </a:endParaRPr>
          </a:p>
          <a:p>
            <a:pPr marL="0" lvl="0" indent="0" algn="l" rtl="0">
              <a:lnSpc>
                <a:spcPct val="80000"/>
              </a:lnSpc>
              <a:spcBef>
                <a:spcPts val="0"/>
              </a:spcBef>
              <a:spcAft>
                <a:spcPts val="0"/>
              </a:spcAft>
              <a:buNone/>
            </a:pPr>
            <a:endParaRPr sz="1110" dirty="0"/>
          </a:p>
        </p:txBody>
      </p:sp>
      <p:sp>
        <p:nvSpPr>
          <p:cNvPr id="6621" name="Google Shape;6621;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37</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2"/>
        <p:cNvGrpSpPr/>
        <p:nvPr/>
      </p:nvGrpSpPr>
      <p:grpSpPr>
        <a:xfrm>
          <a:off x="0" y="0"/>
          <a:ext cx="0" cy="0"/>
          <a:chOff x="0" y="0"/>
          <a:chExt cx="0" cy="0"/>
        </a:xfrm>
      </p:grpSpPr>
      <p:sp>
        <p:nvSpPr>
          <p:cNvPr id="6633" name="Google Shape;6633;p3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34" name="Google Shape;6634;p3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0"/>
              </a:spcBef>
              <a:spcAft>
                <a:spcPts val="0"/>
              </a:spcAft>
              <a:buClr>
                <a:schemeClr val="dk1"/>
              </a:buClr>
              <a:buSzPts val="1200"/>
              <a:buFont typeface="Arial"/>
              <a:buNone/>
            </a:pPr>
            <a:r>
              <a:rPr lang="en-US" sz="1200" b="1" u="none" strike="noStrike">
                <a:solidFill>
                  <a:schemeClr val="dk1"/>
                </a:solidFill>
              </a:rPr>
              <a:t>Key Message:</a:t>
            </a:r>
            <a:br>
              <a:rPr lang="en-US" sz="1200" u="none" strike="noStrike">
                <a:solidFill>
                  <a:schemeClr val="dk1"/>
                </a:solidFill>
              </a:rPr>
            </a:br>
            <a:r>
              <a:rPr lang="en-US" sz="1200" b="0" u="none" strike="noStrike">
                <a:solidFill>
                  <a:schemeClr val="dk1"/>
                </a:solidFill>
              </a:rPr>
              <a:t>Streamlined Password Management for Enhanced Security and Efficiency</a:t>
            </a:r>
            <a:endParaRPr/>
          </a:p>
          <a:p>
            <a:pPr marL="0" lvl="0" indent="0" algn="l" rtl="0">
              <a:lnSpc>
                <a:spcPct val="90000"/>
              </a:lnSpc>
              <a:spcBef>
                <a:spcPts val="0"/>
              </a:spcBef>
              <a:spcAft>
                <a:spcPts val="0"/>
              </a:spcAft>
              <a:buNone/>
            </a:pPr>
            <a:endParaRPr sz="1200" u="none" strike="noStrike">
              <a:solidFill>
                <a:schemeClr val="dk1"/>
              </a:solidFill>
            </a:endParaRPr>
          </a:p>
          <a:p>
            <a:pPr marL="0" marR="0" lvl="0" indent="0" algn="l" rtl="0">
              <a:lnSpc>
                <a:spcPct val="90000"/>
              </a:lnSpc>
              <a:spcBef>
                <a:spcPts val="0"/>
              </a:spcBef>
              <a:spcAft>
                <a:spcPts val="0"/>
              </a:spcAft>
              <a:buClr>
                <a:schemeClr val="dk1"/>
              </a:buClr>
              <a:buSzPts val="1200"/>
              <a:buFont typeface="Arial"/>
              <a:buNone/>
            </a:pPr>
            <a:r>
              <a:rPr lang="en-US" sz="1200" b="1" u="none" strike="noStrike">
                <a:solidFill>
                  <a:schemeClr val="dk1"/>
                </a:solidFill>
              </a:rPr>
              <a:t>Talk Track: </a:t>
            </a:r>
            <a:endParaRPr/>
          </a:p>
          <a:p>
            <a:pPr marL="0" marR="0" lvl="0" indent="0" algn="l" rtl="0">
              <a:lnSpc>
                <a:spcPct val="90000"/>
              </a:lnSpc>
              <a:spcBef>
                <a:spcPts val="0"/>
              </a:spcBef>
              <a:spcAft>
                <a:spcPts val="0"/>
              </a:spcAft>
              <a:buClr>
                <a:schemeClr val="dk1"/>
              </a:buClr>
              <a:buSzPts val="1200"/>
              <a:buFont typeface="Arial"/>
              <a:buNone/>
            </a:pPr>
            <a:r>
              <a:rPr lang="en-US" sz="1200" b="0" u="none" strike="noStrike">
                <a:solidFill>
                  <a:schemeClr val="dk1"/>
                </a:solidFill>
              </a:rPr>
              <a:t>VMware Cloud Foundation 9 introduces a centralized and unified password management experience, simplifying and securing your VCF environment.</a:t>
            </a:r>
            <a:endParaRPr/>
          </a:p>
          <a:p>
            <a:pPr marL="0" marR="0" lvl="0" indent="0" algn="l" rtl="0">
              <a:lnSpc>
                <a:spcPct val="90000"/>
              </a:lnSpc>
              <a:spcBef>
                <a:spcPts val="0"/>
              </a:spcBef>
              <a:spcAft>
                <a:spcPts val="0"/>
              </a:spcAft>
              <a:buClr>
                <a:schemeClr val="dk1"/>
              </a:buClr>
              <a:buSzPts val="1200"/>
              <a:buFont typeface="Arial"/>
              <a:buNone/>
            </a:pPr>
            <a:endParaRPr sz="1200" b="0" u="none" strike="noStrike">
              <a:solidFill>
                <a:schemeClr val="dk1"/>
              </a:solidFill>
            </a:endParaRPr>
          </a:p>
          <a:p>
            <a:pPr marL="0" marR="0" lvl="0" indent="0" algn="l" rtl="0">
              <a:lnSpc>
                <a:spcPct val="90000"/>
              </a:lnSpc>
              <a:spcBef>
                <a:spcPts val="0"/>
              </a:spcBef>
              <a:spcAft>
                <a:spcPts val="0"/>
              </a:spcAft>
              <a:buClr>
                <a:schemeClr val="dk1"/>
              </a:buClr>
              <a:buSzPts val="1200"/>
              <a:buFont typeface="Arial"/>
              <a:buNone/>
            </a:pPr>
            <a:r>
              <a:rPr lang="en-US" sz="1200" b="0" u="none" strike="noStrike">
                <a:solidFill>
                  <a:schemeClr val="dk1"/>
                </a:solidFill>
              </a:rPr>
              <a:t>The new VCF Operations interface brings centralized control: Manage passwords for both infrastructure and management components from a single location.</a:t>
            </a:r>
            <a:endParaRPr/>
          </a:p>
          <a:p>
            <a:pPr marL="0" marR="0" lvl="0" indent="0" algn="l" rtl="0">
              <a:lnSpc>
                <a:spcPct val="90000"/>
              </a:lnSpc>
              <a:spcBef>
                <a:spcPts val="0"/>
              </a:spcBef>
              <a:spcAft>
                <a:spcPts val="0"/>
              </a:spcAft>
              <a:buClr>
                <a:schemeClr val="dk1"/>
              </a:buClr>
              <a:buSzPts val="1200"/>
              <a:buFont typeface="Arial"/>
              <a:buNone/>
            </a:pPr>
            <a:endParaRPr sz="1200" b="0" u="none" strike="noStrike">
              <a:solidFill>
                <a:schemeClr val="dk1"/>
              </a:solidFill>
            </a:endParaRPr>
          </a:p>
          <a:p>
            <a:pPr marL="0" marR="0" lvl="0" indent="0" algn="l" rtl="0">
              <a:lnSpc>
                <a:spcPct val="90000"/>
              </a:lnSpc>
              <a:spcBef>
                <a:spcPts val="0"/>
              </a:spcBef>
              <a:spcAft>
                <a:spcPts val="0"/>
              </a:spcAft>
              <a:buClr>
                <a:schemeClr val="dk1"/>
              </a:buClr>
              <a:buSzPts val="1200"/>
              <a:buFont typeface="Arial"/>
              <a:buNone/>
            </a:pPr>
            <a:r>
              <a:rPr lang="en-US" sz="1200" b="0" u="none" strike="noStrike">
                <a:solidFill>
                  <a:schemeClr val="dk1"/>
                </a:solidFill>
              </a:rPr>
              <a:t>Eliminate Password Rotations: Service accounts for inter-component communication are automatically provisioned and managed to eliminate the need for manual password management, reducing administrative overhead.</a:t>
            </a:r>
            <a:endParaRPr/>
          </a:p>
          <a:p>
            <a:pPr marL="0" marR="0" lvl="0" indent="0" algn="l" rtl="0">
              <a:lnSpc>
                <a:spcPct val="90000"/>
              </a:lnSpc>
              <a:spcBef>
                <a:spcPts val="0"/>
              </a:spcBef>
              <a:spcAft>
                <a:spcPts val="0"/>
              </a:spcAft>
              <a:buClr>
                <a:schemeClr val="dk1"/>
              </a:buClr>
              <a:buSzPts val="1200"/>
              <a:buFont typeface="Arial"/>
              <a:buNone/>
            </a:pPr>
            <a:endParaRPr sz="1200" b="0" u="none" strike="noStrike">
              <a:solidFill>
                <a:schemeClr val="dk1"/>
              </a:solidFill>
            </a:endParaRPr>
          </a:p>
          <a:p>
            <a:pPr marL="0" marR="0" lvl="0" indent="0" algn="l" rtl="0">
              <a:lnSpc>
                <a:spcPct val="90000"/>
              </a:lnSpc>
              <a:spcBef>
                <a:spcPts val="0"/>
              </a:spcBef>
              <a:spcAft>
                <a:spcPts val="0"/>
              </a:spcAft>
              <a:buClr>
                <a:schemeClr val="dk1"/>
              </a:buClr>
              <a:buSzPts val="1200"/>
              <a:buFont typeface="Arial"/>
              <a:buNone/>
            </a:pPr>
            <a:r>
              <a:rPr lang="en-US" sz="1200" b="0" u="none" strike="noStrike">
                <a:solidFill>
                  <a:schemeClr val="dk1"/>
                </a:solidFill>
              </a:rPr>
              <a:t>The password management user experienced has been simplified to two operations:</a:t>
            </a:r>
            <a:endParaRPr/>
          </a:p>
          <a:p>
            <a:pPr marL="0" marR="0" lvl="0" indent="0" algn="l" rtl="0">
              <a:lnSpc>
                <a:spcPct val="90000"/>
              </a:lnSpc>
              <a:spcBef>
                <a:spcPts val="0"/>
              </a:spcBef>
              <a:spcAft>
                <a:spcPts val="0"/>
              </a:spcAft>
              <a:buClr>
                <a:schemeClr val="dk1"/>
              </a:buClr>
              <a:buSzPts val="1200"/>
              <a:buFont typeface="Arial"/>
              <a:buNone/>
            </a:pPr>
            <a:endParaRPr sz="1200" b="0" u="none" strike="noStrike">
              <a:solidFill>
                <a:schemeClr val="dk1"/>
              </a:solidFill>
            </a:endParaRPr>
          </a:p>
          <a:p>
            <a:pPr marL="171450" marR="0" lvl="0" indent="-171450" algn="l" rtl="0">
              <a:lnSpc>
                <a:spcPct val="90000"/>
              </a:lnSpc>
              <a:spcBef>
                <a:spcPts val="0"/>
              </a:spcBef>
              <a:spcAft>
                <a:spcPts val="0"/>
              </a:spcAft>
              <a:buClr>
                <a:schemeClr val="dk1"/>
              </a:buClr>
              <a:buSzPts val="1200"/>
              <a:buFont typeface="Arial"/>
              <a:buChar char="•"/>
            </a:pPr>
            <a:r>
              <a:rPr lang="en-US" sz="1200" b="0" u="none" strike="noStrike">
                <a:solidFill>
                  <a:schemeClr val="dk1"/>
                </a:solidFill>
              </a:rPr>
              <a:t>Update Password: Easily reset forgotten passwords through the user interface.</a:t>
            </a:r>
            <a:endParaRPr/>
          </a:p>
          <a:p>
            <a:pPr marL="171450" marR="0" lvl="0" indent="-171450" algn="l" rtl="0">
              <a:lnSpc>
                <a:spcPct val="90000"/>
              </a:lnSpc>
              <a:spcBef>
                <a:spcPts val="0"/>
              </a:spcBef>
              <a:spcAft>
                <a:spcPts val="0"/>
              </a:spcAft>
              <a:buClr>
                <a:schemeClr val="dk1"/>
              </a:buClr>
              <a:buSzPts val="1200"/>
              <a:buFont typeface="Arial"/>
              <a:buChar char="•"/>
            </a:pPr>
            <a:r>
              <a:rPr lang="en-US" sz="1200" b="0" u="none" strike="noStrike">
                <a:solidFill>
                  <a:schemeClr val="dk1"/>
                </a:solidFill>
              </a:rPr>
              <a:t>Remediate Password: Synchronize passwords that were changed outside of VCF, ensuring alignment with current configurations.</a:t>
            </a:r>
            <a:endParaRPr/>
          </a:p>
          <a:p>
            <a:pPr marL="0" marR="0" lvl="0" indent="0" algn="l" rtl="0">
              <a:lnSpc>
                <a:spcPct val="90000"/>
              </a:lnSpc>
              <a:spcBef>
                <a:spcPts val="0"/>
              </a:spcBef>
              <a:spcAft>
                <a:spcPts val="0"/>
              </a:spcAft>
              <a:buClr>
                <a:schemeClr val="dk1"/>
              </a:buClr>
              <a:buSzPts val="1200"/>
              <a:buFont typeface="Arial"/>
              <a:buNone/>
            </a:pPr>
            <a:endParaRPr sz="1200" b="0" u="none" strike="noStrike">
              <a:solidFill>
                <a:schemeClr val="dk1"/>
              </a:solidFill>
            </a:endParaRPr>
          </a:p>
          <a:p>
            <a:pPr marL="0" marR="0" lvl="0" indent="0" algn="l" rtl="0">
              <a:lnSpc>
                <a:spcPct val="90000"/>
              </a:lnSpc>
              <a:spcBef>
                <a:spcPts val="0"/>
              </a:spcBef>
              <a:spcAft>
                <a:spcPts val="0"/>
              </a:spcAft>
              <a:buClr>
                <a:schemeClr val="dk1"/>
              </a:buClr>
              <a:buSzPts val="1200"/>
              <a:buFont typeface="Arial"/>
              <a:buNone/>
            </a:pPr>
            <a:r>
              <a:rPr lang="en-US" sz="1200" b="0" u="none" strike="noStrike">
                <a:solidFill>
                  <a:schemeClr val="dk1"/>
                </a:solidFill>
              </a:rPr>
              <a:t>Integration with VCF Operations also brings another benefit: Administrators will receive timely alerts when passwords are approaching expiration, minimizing security risks and downtime.</a:t>
            </a:r>
            <a:endParaRPr/>
          </a:p>
          <a:p>
            <a:pPr marL="0" lvl="0" indent="0" algn="l" rtl="0">
              <a:lnSpc>
                <a:spcPct val="90000"/>
              </a:lnSpc>
              <a:spcBef>
                <a:spcPts val="0"/>
              </a:spcBef>
              <a:spcAft>
                <a:spcPts val="0"/>
              </a:spcAft>
              <a:buNone/>
            </a:pPr>
            <a:endParaRPr/>
          </a:p>
          <a:p>
            <a:pPr marL="0" marR="0" lvl="0" indent="0" algn="l" rtl="0">
              <a:lnSpc>
                <a:spcPct val="90000"/>
              </a:lnSpc>
              <a:spcBef>
                <a:spcPts val="0"/>
              </a:spcBef>
              <a:spcAft>
                <a:spcPts val="0"/>
              </a:spcAft>
              <a:buClr>
                <a:schemeClr val="dk1"/>
              </a:buClr>
              <a:buSzPts val="1200"/>
              <a:buFont typeface="Arial"/>
              <a:buNone/>
            </a:pPr>
            <a:r>
              <a:rPr lang="en-US" sz="1200" b="1" u="none" strike="noStrike">
                <a:solidFill>
                  <a:schemeClr val="dk1"/>
                </a:solidFill>
              </a:rPr>
              <a:t>Notes:</a:t>
            </a:r>
            <a:endParaRPr sz="1200" u="none" strike="noStrike">
              <a:solidFill>
                <a:schemeClr val="dk1"/>
              </a:solidFill>
            </a:endParaRPr>
          </a:p>
          <a:p>
            <a:pPr marL="0" marR="0" lvl="0" indent="0" algn="l" rtl="0">
              <a:lnSpc>
                <a:spcPct val="90000"/>
              </a:lnSpc>
              <a:spcBef>
                <a:spcPts val="0"/>
              </a:spcBef>
              <a:spcAft>
                <a:spcPts val="0"/>
              </a:spcAft>
              <a:buClr>
                <a:schemeClr val="dk1"/>
              </a:buClr>
              <a:buSzPts val="1200"/>
              <a:buFont typeface="Arial"/>
              <a:buNone/>
            </a:pPr>
            <a:endParaRPr sz="1200" u="none" strike="noStrike">
              <a:solidFill>
                <a:schemeClr val="dk1"/>
              </a:solidFill>
            </a:endParaRPr>
          </a:p>
          <a:p>
            <a:pPr marL="0" lvl="0" indent="0" algn="l" rtl="0">
              <a:lnSpc>
                <a:spcPct val="90000"/>
              </a:lnSpc>
              <a:spcBef>
                <a:spcPts val="0"/>
              </a:spcBef>
              <a:spcAft>
                <a:spcPts val="0"/>
              </a:spcAft>
              <a:buNone/>
            </a:pPr>
            <a:r>
              <a:rPr lang="en-US" sz="1200" b="1" u="none" strike="noStrike">
                <a:solidFill>
                  <a:schemeClr val="dk1"/>
                </a:solidFill>
              </a:rPr>
              <a:t>Resources:</a:t>
            </a:r>
            <a:endParaRPr>
              <a:solidFill>
                <a:srgbClr val="DCA10D"/>
              </a:solidFill>
              <a:latin typeface="Helvetica Neue"/>
              <a:ea typeface="Helvetica Neue"/>
              <a:cs typeface="Helvetica Neue"/>
              <a:sym typeface="Helvetica Neue"/>
            </a:endParaRPr>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None/>
            </a:pPr>
            <a:endParaRPr/>
          </a:p>
        </p:txBody>
      </p:sp>
      <p:sp>
        <p:nvSpPr>
          <p:cNvPr id="6635" name="Google Shape;6635;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38</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2"/>
        <p:cNvGrpSpPr/>
        <p:nvPr/>
      </p:nvGrpSpPr>
      <p:grpSpPr>
        <a:xfrm>
          <a:off x="0" y="0"/>
          <a:ext cx="0" cy="0"/>
          <a:chOff x="0" y="0"/>
          <a:chExt cx="0" cy="0"/>
        </a:xfrm>
      </p:grpSpPr>
      <p:sp>
        <p:nvSpPr>
          <p:cNvPr id="6643" name="Google Shape;6643;p3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4" name="Google Shape;6644;p3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50000"/>
              </a:lnSpc>
              <a:spcBef>
                <a:spcPts val="0"/>
              </a:spcBef>
              <a:spcAft>
                <a:spcPts val="0"/>
              </a:spcAft>
              <a:buClr>
                <a:schemeClr val="dk1"/>
              </a:buClr>
              <a:buSzPts val="713"/>
              <a:buFont typeface="Arial"/>
              <a:buNone/>
            </a:pPr>
            <a:r>
              <a:rPr lang="en-US" sz="1200" b="1">
                <a:solidFill>
                  <a:schemeClr val="dk1"/>
                </a:solidFill>
                <a:latin typeface="Arial"/>
                <a:ea typeface="Arial"/>
                <a:cs typeface="Arial"/>
                <a:sym typeface="Arial"/>
              </a:rPr>
              <a:t>Key Message:</a:t>
            </a:r>
            <a:endParaRPr/>
          </a:p>
          <a:p>
            <a:pPr marL="0" lvl="0" indent="0" algn="l" rtl="0">
              <a:lnSpc>
                <a:spcPct val="50000"/>
              </a:lnSpc>
              <a:spcBef>
                <a:spcPts val="0"/>
              </a:spcBef>
              <a:spcAft>
                <a:spcPts val="0"/>
              </a:spcAft>
              <a:buClr>
                <a:schemeClr val="dk1"/>
              </a:buClr>
              <a:buSzPts val="713"/>
              <a:buFont typeface="Arial"/>
              <a:buNone/>
            </a:pPr>
            <a:r>
              <a:rPr lang="en-US" sz="1200" b="0">
                <a:solidFill>
                  <a:schemeClr val="dk1"/>
                </a:solidFill>
                <a:latin typeface="Arial"/>
                <a:ea typeface="Arial"/>
                <a:cs typeface="Arial"/>
                <a:sym typeface="Arial"/>
              </a:rPr>
              <a:t>VCF allows you to monitor configuration drifts in your environment over time in a central location and allows you to compare those changes a standardized template that you define, based on your company standards. It helps to prevent misconfiguration from going unnoticed, reduces the risk of security breaches, and keeps the environment running smoothly.</a:t>
            </a:r>
            <a:br>
              <a:rPr lang="en-US" sz="1200" b="0">
                <a:solidFill>
                  <a:schemeClr val="dk1"/>
                </a:solidFill>
                <a:latin typeface="Arial"/>
                <a:ea typeface="Arial"/>
                <a:cs typeface="Arial"/>
                <a:sym typeface="Arial"/>
              </a:rPr>
            </a:br>
            <a:endParaRPr sz="1200" b="0">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713"/>
              <a:buFont typeface="Arial"/>
              <a:buNone/>
            </a:pPr>
            <a:r>
              <a:rPr lang="en-US" sz="1200" b="1">
                <a:solidFill>
                  <a:schemeClr val="dk1"/>
                </a:solidFill>
                <a:latin typeface="Arial"/>
                <a:ea typeface="Arial"/>
                <a:cs typeface="Arial"/>
                <a:sym typeface="Arial"/>
              </a:rPr>
              <a:t>Talk Track:</a:t>
            </a:r>
            <a:endParaRPr/>
          </a:p>
          <a:p>
            <a:pPr marL="0" lvl="0" indent="0" algn="l" rtl="0">
              <a:lnSpc>
                <a:spcPct val="50000"/>
              </a:lnSpc>
              <a:spcBef>
                <a:spcPts val="0"/>
              </a:spcBef>
              <a:spcAft>
                <a:spcPts val="0"/>
              </a:spcAft>
              <a:buClr>
                <a:schemeClr val="dk1"/>
              </a:buClr>
              <a:buSzPts val="713"/>
              <a:buFont typeface="Arial"/>
              <a:buNone/>
            </a:pPr>
            <a:r>
              <a:rPr lang="en-US" sz="1200" b="0">
                <a:solidFill>
                  <a:schemeClr val="dk1"/>
                </a:solidFill>
                <a:latin typeface="Arial"/>
                <a:ea typeface="Arial"/>
                <a:cs typeface="Arial"/>
                <a:sym typeface="Arial"/>
              </a:rPr>
              <a:t>When it comes to Configuration Management, Admins face the challenge of enforcing global and regional standards as they struggle to manage configuration drifts across hosts, clusters, VCs, and SDDCs. The process is manual, tedious, prone to error, hard-to-track, and often requires them to use multiple technologies and interfaces. </a:t>
            </a:r>
            <a:endParaRPr/>
          </a:p>
          <a:p>
            <a:pPr marL="0" lvl="0" indent="0" algn="l" rtl="0">
              <a:lnSpc>
                <a:spcPct val="50000"/>
              </a:lnSpc>
              <a:spcBef>
                <a:spcPts val="0"/>
              </a:spcBef>
              <a:spcAft>
                <a:spcPts val="0"/>
              </a:spcAft>
              <a:buClr>
                <a:schemeClr val="dk1"/>
              </a:buClr>
              <a:buSzPts val="713"/>
              <a:buFont typeface="Arial"/>
              <a:buNone/>
            </a:pPr>
            <a:endParaRPr sz="1200" b="0">
              <a:solidFill>
                <a:schemeClr val="dk1"/>
              </a:solidFill>
              <a:latin typeface="Arial"/>
              <a:ea typeface="Arial"/>
              <a:cs typeface="Arial"/>
              <a:sym typeface="Arial"/>
            </a:endParaRPr>
          </a:p>
          <a:p>
            <a:pPr marL="0" marR="0" lvl="0" indent="0" algn="l" rtl="0">
              <a:lnSpc>
                <a:spcPct val="50000"/>
              </a:lnSpc>
              <a:spcBef>
                <a:spcPts val="0"/>
              </a:spcBef>
              <a:spcAft>
                <a:spcPts val="0"/>
              </a:spcAft>
              <a:buClr>
                <a:schemeClr val="dk1"/>
              </a:buClr>
              <a:buSzPts val="713"/>
              <a:buFont typeface="Arial"/>
              <a:buNone/>
            </a:pPr>
            <a:r>
              <a:rPr lang="en-US" sz="1200" b="0">
                <a:solidFill>
                  <a:schemeClr val="dk1"/>
                </a:solidFill>
                <a:latin typeface="Arial"/>
                <a:ea typeface="Arial"/>
                <a:cs typeface="Arial"/>
                <a:sym typeface="Arial"/>
              </a:rPr>
              <a:t>Unified Configuration Management within VCF alleviates these challenges by preventing misconfiguration from going unnoticed, reducing the risk of security breaches, and keeping their environment running smoothly with the following enhancements and capabilities:</a:t>
            </a:r>
            <a:endParaRPr/>
          </a:p>
          <a:p>
            <a:pPr marL="0" marR="0" lvl="0" indent="0" algn="l" rtl="0">
              <a:lnSpc>
                <a:spcPct val="50000"/>
              </a:lnSpc>
              <a:spcBef>
                <a:spcPts val="0"/>
              </a:spcBef>
              <a:spcAft>
                <a:spcPts val="0"/>
              </a:spcAft>
              <a:buClr>
                <a:schemeClr val="dk1"/>
              </a:buClr>
              <a:buSzPts val="713"/>
              <a:buFont typeface="Arial"/>
              <a:buNone/>
            </a:pPr>
            <a:endParaRPr sz="1200" b="0">
              <a:solidFill>
                <a:schemeClr val="dk1"/>
              </a:solidFill>
              <a:latin typeface="Arial"/>
              <a:ea typeface="Arial"/>
              <a:cs typeface="Arial"/>
              <a:sym typeface="Arial"/>
            </a:endParaRPr>
          </a:p>
          <a:p>
            <a:pPr marL="171450" marR="0" lvl="0" indent="-171450" algn="l" rtl="0">
              <a:lnSpc>
                <a:spcPct val="50000"/>
              </a:lnSpc>
              <a:spcBef>
                <a:spcPts val="0"/>
              </a:spcBef>
              <a:spcAft>
                <a:spcPts val="0"/>
              </a:spcAft>
              <a:buClr>
                <a:schemeClr val="dk1"/>
              </a:buClr>
              <a:buSzPts val="713"/>
              <a:buFont typeface="Arial"/>
              <a:buChar char="•"/>
            </a:pPr>
            <a:r>
              <a:rPr lang="en-US" sz="1200" b="0">
                <a:solidFill>
                  <a:schemeClr val="dk1"/>
                </a:solidFill>
                <a:latin typeface="Arial"/>
                <a:ea typeface="Arial"/>
                <a:cs typeface="Arial"/>
                <a:sym typeface="Arial"/>
              </a:rPr>
              <a:t>Schedule Drift Detection: Ability to use the VCF  Operations console to schedule a Drift Detection job based on the vCenters scoped in a Policy with activated Templates. You can perform an on-demand job, schedule a single job in the future, or a repeatable Drift Detection job. You can see a list of active jobs and historical Drift Detection jobs in the Automation/Orchestration service. The drift status of each vCenter will be stored by the VCF Operations console.</a:t>
            </a:r>
            <a:endParaRPr/>
          </a:p>
          <a:p>
            <a:pPr marL="171450" marR="0" lvl="0" indent="-171450" algn="l" rtl="0">
              <a:lnSpc>
                <a:spcPct val="50000"/>
              </a:lnSpc>
              <a:spcBef>
                <a:spcPts val="0"/>
              </a:spcBef>
              <a:spcAft>
                <a:spcPts val="0"/>
              </a:spcAft>
              <a:buClr>
                <a:schemeClr val="dk1"/>
              </a:buClr>
              <a:buSzPts val="713"/>
              <a:buFont typeface="Arial"/>
              <a:buChar char="•"/>
            </a:pPr>
            <a:r>
              <a:rPr lang="en-US" sz="1200" b="0">
                <a:solidFill>
                  <a:schemeClr val="dk1"/>
                </a:solidFill>
                <a:latin typeface="Arial"/>
                <a:ea typeface="Arial"/>
                <a:cs typeface="Arial"/>
                <a:sym typeface="Arial"/>
              </a:rPr>
              <a:t>Download the Drift Status Report: Ability to select one or more vCenters with the associated templates and download a PDF report containing the Template drift status of each vCenter within the Configuration Drift Management retention period.</a:t>
            </a:r>
            <a:endParaRPr/>
          </a:p>
          <a:p>
            <a:pPr marL="171450" marR="0" lvl="0" indent="-171450" algn="l" rtl="0">
              <a:lnSpc>
                <a:spcPct val="50000"/>
              </a:lnSpc>
              <a:spcBef>
                <a:spcPts val="0"/>
              </a:spcBef>
              <a:spcAft>
                <a:spcPts val="0"/>
              </a:spcAft>
              <a:buClr>
                <a:schemeClr val="dk1"/>
              </a:buClr>
              <a:buSzPts val="713"/>
              <a:buFont typeface="Arial"/>
              <a:buChar char="•"/>
            </a:pPr>
            <a:r>
              <a:rPr lang="en-US" sz="1200" b="0">
                <a:solidFill>
                  <a:schemeClr val="dk1"/>
                </a:solidFill>
                <a:latin typeface="Arial"/>
                <a:ea typeface="Arial"/>
                <a:cs typeface="Arial"/>
                <a:sym typeface="Arial"/>
              </a:rPr>
              <a:t>Git Repo Integration: The VCF Operations console retains, displays, and uses one local copy of a Template. In order to perform advanced Template functions like versioning, you can connect the Configuration Template service with a third-party Git-based repository. On successful connection, the VCF Operations console automatically creates a merge request when a Configuration Template is created or modified in the VCF Operations console. The connected Git repository becomes the primary owner of the Templates when the connection is established. Hence, although Templates can be edited and created in the VCF Operations console, you must pull any merged requests from the Git repository.</a:t>
            </a:r>
            <a:endParaRPr/>
          </a:p>
          <a:p>
            <a:pPr marL="171450" marR="0" lvl="0" indent="-171450" algn="l" rtl="0">
              <a:lnSpc>
                <a:spcPct val="50000"/>
              </a:lnSpc>
              <a:spcBef>
                <a:spcPts val="0"/>
              </a:spcBef>
              <a:spcAft>
                <a:spcPts val="0"/>
              </a:spcAft>
              <a:buClr>
                <a:schemeClr val="dk1"/>
              </a:buClr>
              <a:buSzPts val="713"/>
              <a:buFont typeface="Arial"/>
              <a:buChar char="•"/>
            </a:pPr>
            <a:r>
              <a:rPr lang="en-US" sz="1200" b="0">
                <a:solidFill>
                  <a:schemeClr val="dk1"/>
                </a:solidFill>
                <a:latin typeface="Arial"/>
                <a:ea typeface="Arial"/>
                <a:cs typeface="Arial"/>
                <a:sym typeface="Arial"/>
              </a:rPr>
              <a:t>vSphere Configuration Profile-Enabled Cluster Status: For clusters activated with vSphere Configuration Profiles (VCP), the Configuration Drifts service lists and displays the VCP Drift status of all activated clusters in an aggregated view based on global VCF instances, specific VCF instances, or specific Workload domains. </a:t>
            </a:r>
            <a:endParaRPr/>
          </a:p>
          <a:p>
            <a:pPr marL="171450" marR="0" lvl="0" indent="-171450" algn="l" rtl="0">
              <a:lnSpc>
                <a:spcPct val="50000"/>
              </a:lnSpc>
              <a:spcBef>
                <a:spcPts val="0"/>
              </a:spcBef>
              <a:spcAft>
                <a:spcPts val="0"/>
              </a:spcAft>
              <a:buClr>
                <a:schemeClr val="dk1"/>
              </a:buClr>
              <a:buSzPts val="713"/>
              <a:buFont typeface="Arial"/>
              <a:buChar char="•"/>
            </a:pPr>
            <a:r>
              <a:rPr lang="en-US" sz="1200" b="0">
                <a:solidFill>
                  <a:schemeClr val="dk1"/>
                </a:solidFill>
                <a:latin typeface="Arial"/>
                <a:ea typeface="Arial"/>
                <a:cs typeface="Arial"/>
                <a:sym typeface="Arial"/>
              </a:rPr>
              <a:t>Edit Configuration Templates: Ability to edit Configuration templates. The Edit template capability allows you to remove and add vCenter Schema Configuration items to an existing Template. Additionally, you can edit values of existing or new vCenter Schema Configuration items. The VCF Operations console validates the edited values before changes are saved.</a:t>
            </a:r>
            <a:endParaRPr/>
          </a:p>
          <a:p>
            <a:pPr marL="171450" marR="0" lvl="0" indent="-126174" algn="l" rtl="0">
              <a:lnSpc>
                <a:spcPct val="50000"/>
              </a:lnSpc>
              <a:spcBef>
                <a:spcPts val="0"/>
              </a:spcBef>
              <a:spcAft>
                <a:spcPts val="0"/>
              </a:spcAft>
              <a:buClr>
                <a:schemeClr val="dk1"/>
              </a:buClr>
              <a:buSzPts val="713"/>
              <a:buFont typeface="Arial"/>
              <a:buNone/>
            </a:pPr>
            <a:endParaRPr sz="1200" b="0">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1110"/>
              <a:buFont typeface="Arial"/>
              <a:buNone/>
            </a:pPr>
            <a:r>
              <a:rPr lang="en-US" sz="1200" b="1" u="none" strike="noStrike">
                <a:solidFill>
                  <a:schemeClr val="dk1"/>
                </a:solidFill>
              </a:rPr>
              <a:t>Notes:</a:t>
            </a:r>
            <a:endParaRPr/>
          </a:p>
          <a:p>
            <a:pPr marL="0" marR="0" lvl="0" indent="0" algn="l" rtl="0">
              <a:lnSpc>
                <a:spcPct val="90000"/>
              </a:lnSpc>
              <a:spcBef>
                <a:spcPts val="0"/>
              </a:spcBef>
              <a:spcAft>
                <a:spcPts val="0"/>
              </a:spcAft>
              <a:buClr>
                <a:schemeClr val="dk1"/>
              </a:buClr>
              <a:buSzPts val="1110"/>
              <a:buFont typeface="Arial"/>
              <a:buNone/>
            </a:pPr>
            <a:endParaRPr sz="1200" u="none" strike="noStrike">
              <a:solidFill>
                <a:schemeClr val="dk1"/>
              </a:solidFill>
            </a:endParaRPr>
          </a:p>
          <a:p>
            <a:pPr marL="0" lvl="0" indent="0" algn="l" rtl="0">
              <a:lnSpc>
                <a:spcPct val="90000"/>
              </a:lnSpc>
              <a:spcBef>
                <a:spcPts val="0"/>
              </a:spcBef>
              <a:spcAft>
                <a:spcPts val="0"/>
              </a:spcAft>
              <a:buClr>
                <a:schemeClr val="dk1"/>
              </a:buClr>
              <a:buSzPts val="1200"/>
              <a:buFont typeface="Arial"/>
              <a:buNone/>
            </a:pPr>
            <a:r>
              <a:rPr lang="en-US" sz="1200" b="1" u="none" strike="noStrike">
                <a:solidFill>
                  <a:schemeClr val="dk1"/>
                </a:solidFill>
              </a:rPr>
              <a:t>Resources:</a:t>
            </a:r>
            <a:endParaRPr sz="1200">
              <a:solidFill>
                <a:srgbClr val="DCA10D"/>
              </a:solidFill>
              <a:latin typeface="Helvetica Neue"/>
              <a:ea typeface="Helvetica Neue"/>
              <a:cs typeface="Helvetica Neue"/>
              <a:sym typeface="Helvetica Neue"/>
            </a:endParaRPr>
          </a:p>
          <a:p>
            <a:pPr marL="171450" marR="0" lvl="0" indent="-126174" algn="l" rtl="0">
              <a:lnSpc>
                <a:spcPct val="50000"/>
              </a:lnSpc>
              <a:spcBef>
                <a:spcPts val="0"/>
              </a:spcBef>
              <a:spcAft>
                <a:spcPts val="0"/>
              </a:spcAft>
              <a:buClr>
                <a:schemeClr val="dk1"/>
              </a:buClr>
              <a:buSzPts val="713"/>
              <a:buFont typeface="Arial"/>
              <a:buNone/>
            </a:pPr>
            <a:endParaRPr sz="1200" b="0">
              <a:solidFill>
                <a:schemeClr val="dk1"/>
              </a:solidFill>
              <a:latin typeface="Arial"/>
              <a:ea typeface="Arial"/>
              <a:cs typeface="Arial"/>
              <a:sym typeface="Arial"/>
            </a:endParaRPr>
          </a:p>
          <a:p>
            <a:pPr marL="0" lvl="0" indent="0" algn="l" rtl="0">
              <a:lnSpc>
                <a:spcPct val="50000"/>
              </a:lnSpc>
              <a:spcBef>
                <a:spcPts val="0"/>
              </a:spcBef>
              <a:spcAft>
                <a:spcPts val="0"/>
              </a:spcAft>
              <a:buClr>
                <a:schemeClr val="dk1"/>
              </a:buClr>
              <a:buSzPts val="713"/>
              <a:buFont typeface="Arial"/>
              <a:buNone/>
            </a:pPr>
            <a:endParaRPr sz="1200">
              <a:latin typeface="Arial"/>
              <a:ea typeface="Arial"/>
              <a:cs typeface="Arial"/>
              <a:sym typeface="Arial"/>
            </a:endParaRPr>
          </a:p>
          <a:p>
            <a:pPr marL="0" lvl="0" indent="0" algn="l" rtl="0">
              <a:lnSpc>
                <a:spcPct val="70000"/>
              </a:lnSpc>
              <a:spcBef>
                <a:spcPts val="0"/>
              </a:spcBef>
              <a:spcAft>
                <a:spcPts val="0"/>
              </a:spcAft>
              <a:buClr>
                <a:schemeClr val="dk1"/>
              </a:buClr>
              <a:buSzPts val="1295"/>
              <a:buFont typeface="Arial"/>
              <a:buNone/>
            </a:pPr>
            <a:endParaRPr sz="1400"/>
          </a:p>
          <a:p>
            <a:pPr marL="0" lvl="0" indent="0" algn="l" rtl="0">
              <a:lnSpc>
                <a:spcPct val="90000"/>
              </a:lnSpc>
              <a:spcBef>
                <a:spcPts val="0"/>
              </a:spcBef>
              <a:spcAft>
                <a:spcPts val="0"/>
              </a:spcAft>
              <a:buClr>
                <a:schemeClr val="dk1"/>
              </a:buClr>
              <a:buSzPts val="1200"/>
              <a:buFont typeface="Arial"/>
              <a:buNone/>
            </a:pPr>
            <a:endParaRPr sz="1200"/>
          </a:p>
          <a:p>
            <a:pPr marL="0" lvl="0" indent="0" algn="l" rtl="0">
              <a:spcBef>
                <a:spcPts val="0"/>
              </a:spcBef>
              <a:spcAft>
                <a:spcPts val="0"/>
              </a:spcAft>
              <a:buNone/>
            </a:pPr>
            <a:endParaRPr/>
          </a:p>
        </p:txBody>
      </p:sp>
      <p:sp>
        <p:nvSpPr>
          <p:cNvPr id="6645" name="Google Shape;6645;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39</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4"/>
        <p:cNvGrpSpPr/>
        <p:nvPr/>
      </p:nvGrpSpPr>
      <p:grpSpPr>
        <a:xfrm>
          <a:off x="0" y="0"/>
          <a:ext cx="0" cy="0"/>
          <a:chOff x="0" y="0"/>
          <a:chExt cx="0" cy="0"/>
        </a:xfrm>
      </p:grpSpPr>
      <p:sp>
        <p:nvSpPr>
          <p:cNvPr id="6655" name="Google Shape;6655;p4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6" name="Google Shape;6656;p4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60000"/>
              </a:lnSpc>
              <a:spcBef>
                <a:spcPts val="0"/>
              </a:spcBef>
              <a:spcAft>
                <a:spcPts val="0"/>
              </a:spcAft>
              <a:buClr>
                <a:schemeClr val="dk1"/>
              </a:buClr>
              <a:buSzPts val="713"/>
              <a:buFont typeface="Arial"/>
              <a:buNone/>
            </a:pPr>
            <a:r>
              <a:rPr lang="en-US" sz="800" b="1">
                <a:latin typeface="Arial"/>
                <a:ea typeface="Arial"/>
                <a:cs typeface="Arial"/>
                <a:sym typeface="Arial"/>
              </a:rPr>
              <a:t>Key Message:</a:t>
            </a:r>
            <a:endParaRPr/>
          </a:p>
          <a:p>
            <a:pPr marL="0" lvl="0" indent="0" algn="l" rtl="0">
              <a:lnSpc>
                <a:spcPct val="60000"/>
              </a:lnSpc>
              <a:spcBef>
                <a:spcPts val="0"/>
              </a:spcBef>
              <a:spcAft>
                <a:spcPts val="0"/>
              </a:spcAft>
              <a:buClr>
                <a:schemeClr val="dk1"/>
              </a:buClr>
              <a:buSzPts val="713"/>
              <a:buFont typeface="Arial"/>
              <a:buNone/>
            </a:pPr>
            <a:r>
              <a:rPr lang="en-US" b="0" i="0">
                <a:solidFill>
                  <a:srgbClr val="172B4D"/>
                </a:solidFill>
                <a:latin typeface="Arial"/>
                <a:ea typeface="Arial"/>
                <a:cs typeface="Arial"/>
                <a:sym typeface="Arial"/>
              </a:rPr>
              <a:t>Customers, the ability to manage tags end to end for all objects, without having to switch consoles.</a:t>
            </a:r>
            <a:endParaRPr sz="800" b="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endParaRPr sz="800" b="1">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r>
              <a:rPr lang="en-US" sz="800" b="1">
                <a:latin typeface="Arial"/>
                <a:ea typeface="Arial"/>
                <a:cs typeface="Arial"/>
                <a:sym typeface="Arial"/>
              </a:rPr>
              <a:t>Talk Track:</a:t>
            </a:r>
            <a:endParaRPr/>
          </a:p>
          <a:p>
            <a:pPr marL="0" marR="0" lvl="0" indent="0" algn="l" rtl="0">
              <a:lnSpc>
                <a:spcPct val="60000"/>
              </a:lnSpc>
              <a:spcBef>
                <a:spcPts val="0"/>
              </a:spcBef>
              <a:spcAft>
                <a:spcPts val="0"/>
              </a:spcAft>
              <a:buClr>
                <a:schemeClr val="dk1"/>
              </a:buClr>
              <a:buSzPts val="713"/>
              <a:buFont typeface="Arial"/>
              <a:buNone/>
            </a:pPr>
            <a:r>
              <a:rPr lang="en-US" sz="1000" b="0" i="0">
                <a:solidFill>
                  <a:srgbClr val="172B4D"/>
                </a:solidFill>
                <a:latin typeface="Arial"/>
                <a:ea typeface="Arial"/>
                <a:cs typeface="Arial"/>
                <a:sym typeface="Arial"/>
              </a:rPr>
              <a:t>Tags can help you manage, identify, organize, search for, and filter resources. </a:t>
            </a:r>
            <a:r>
              <a:rPr lang="en-US" sz="1200" b="0" i="0">
                <a:solidFill>
                  <a:srgbClr val="172B4D"/>
                </a:solidFill>
                <a:latin typeface="Arial"/>
                <a:ea typeface="Arial"/>
                <a:cs typeface="Arial"/>
                <a:sym typeface="Arial"/>
              </a:rPr>
              <a:t>Prior to VCF 9, there were multiple different tagging/grouping solutions across vSphere, NSX, vROps, vRA which created some challenges, including Tag Duplication, Tag Loss (if VMs were moved across vCenters), </a:t>
            </a:r>
            <a:r>
              <a:rPr lang="en-US" sz="1200" b="0" i="0" u="sng">
                <a:solidFill>
                  <a:srgbClr val="172B4D"/>
                </a:solidFill>
                <a:latin typeface="Arial"/>
                <a:ea typeface="Arial"/>
                <a:cs typeface="Arial"/>
                <a:sym typeface="Arial"/>
              </a:rPr>
              <a:t> and Tag Inconsistency</a:t>
            </a:r>
            <a:endParaRPr sz="1200" b="0" i="0" u="sng">
              <a:solidFill>
                <a:srgbClr val="172B4D"/>
              </a:solidFill>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endParaRPr sz="1200" b="0" i="0" u="sng">
              <a:solidFill>
                <a:srgbClr val="172B4D"/>
              </a:solidFill>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r>
              <a:rPr lang="en-US" sz="1000" b="0" i="0">
                <a:solidFill>
                  <a:srgbClr val="172B4D"/>
                </a:solidFill>
                <a:latin typeface="Arial"/>
                <a:ea typeface="Arial"/>
                <a:cs typeface="Arial"/>
                <a:sym typeface="Arial"/>
              </a:rPr>
              <a:t>Now that these solutions are now unified as VMware Cloud Foundation (VCF), VCF 9 address these challenges by providing customers a </a:t>
            </a:r>
            <a:r>
              <a:rPr lang="en-US" sz="1200" b="0" i="0">
                <a:solidFill>
                  <a:srgbClr val="172B4D"/>
                </a:solidFill>
                <a:latin typeface="Arial"/>
                <a:ea typeface="Arial"/>
                <a:cs typeface="Arial"/>
                <a:sym typeface="Arial"/>
              </a:rPr>
              <a:t>Unified E2E workflow to create, manage, assign tags, resolve conflicts without the need for them to manage tags in multiple locations. </a:t>
            </a:r>
            <a:endParaRPr/>
          </a:p>
          <a:p>
            <a:pPr marL="0" marR="0" lvl="0" indent="0" algn="l" rtl="0">
              <a:lnSpc>
                <a:spcPct val="60000"/>
              </a:lnSpc>
              <a:spcBef>
                <a:spcPts val="0"/>
              </a:spcBef>
              <a:spcAft>
                <a:spcPts val="0"/>
              </a:spcAft>
              <a:buClr>
                <a:schemeClr val="dk1"/>
              </a:buClr>
              <a:buSzPts val="713"/>
              <a:buFont typeface="Arial"/>
              <a:buNone/>
            </a:pPr>
            <a:endParaRPr sz="1200" b="0" i="0">
              <a:solidFill>
                <a:srgbClr val="172B4D"/>
              </a:solidFill>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r>
              <a:rPr lang="en-US" sz="1200" b="0" i="0">
                <a:solidFill>
                  <a:srgbClr val="172B4D"/>
                </a:solidFill>
                <a:latin typeface="Arial"/>
                <a:ea typeface="Arial"/>
                <a:cs typeface="Arial"/>
                <a:sym typeface="Arial"/>
              </a:rPr>
              <a:t>With VCF 9, customers can:</a:t>
            </a:r>
            <a:endParaRPr/>
          </a:p>
          <a:p>
            <a:pPr marL="457200" marR="0" lvl="0" indent="-457200" algn="l" rtl="0">
              <a:lnSpc>
                <a:spcPct val="60000"/>
              </a:lnSpc>
              <a:spcBef>
                <a:spcPts val="0"/>
              </a:spcBef>
              <a:spcAft>
                <a:spcPts val="0"/>
              </a:spcAft>
              <a:buClr>
                <a:schemeClr val="dk1"/>
              </a:buClr>
              <a:buSzPts val="713"/>
              <a:buFont typeface="Arial"/>
              <a:buChar char="•"/>
            </a:pPr>
            <a:r>
              <a:rPr lang="en-US" sz="1100"/>
              <a:t>Create, edit, delete categories and tags from a single pane of glass</a:t>
            </a:r>
            <a:endParaRPr/>
          </a:p>
          <a:p>
            <a:pPr marL="457200" marR="0" lvl="0" indent="-457200" algn="l" rtl="0">
              <a:lnSpc>
                <a:spcPct val="60000"/>
              </a:lnSpc>
              <a:spcBef>
                <a:spcPts val="0"/>
              </a:spcBef>
              <a:spcAft>
                <a:spcPts val="0"/>
              </a:spcAft>
              <a:buClr>
                <a:schemeClr val="dk1"/>
              </a:buClr>
              <a:buSzPts val="713"/>
              <a:buFont typeface="Arial"/>
              <a:buChar char="•"/>
            </a:pPr>
            <a:r>
              <a:rPr lang="en-US" sz="1100"/>
              <a:t>Import brownfield categories and tags from vCenters and evaluate conflicts</a:t>
            </a:r>
            <a:endParaRPr/>
          </a:p>
          <a:p>
            <a:pPr marL="457200" marR="0" lvl="0" indent="-457200" algn="l" rtl="0">
              <a:lnSpc>
                <a:spcPct val="60000"/>
              </a:lnSpc>
              <a:spcBef>
                <a:spcPts val="0"/>
              </a:spcBef>
              <a:spcAft>
                <a:spcPts val="0"/>
              </a:spcAft>
              <a:buClr>
                <a:schemeClr val="dk1"/>
              </a:buClr>
              <a:buSzPts val="713"/>
              <a:buFont typeface="Arial"/>
              <a:buChar char="•"/>
            </a:pPr>
            <a:r>
              <a:rPr lang="en-US" sz="1100"/>
              <a:t>Push categories and tags to vCenters</a:t>
            </a:r>
            <a:endParaRPr sz="1100">
              <a:solidFill>
                <a:schemeClr val="dk1"/>
              </a:solidFill>
            </a:endParaRPr>
          </a:p>
          <a:p>
            <a:pPr marL="457200" marR="0" lvl="0" indent="-457200" algn="l" rtl="0">
              <a:lnSpc>
                <a:spcPct val="60000"/>
              </a:lnSpc>
              <a:spcBef>
                <a:spcPts val="0"/>
              </a:spcBef>
              <a:spcAft>
                <a:spcPts val="0"/>
              </a:spcAft>
              <a:buClr>
                <a:schemeClr val="dk1"/>
              </a:buClr>
              <a:buSzPts val="713"/>
              <a:buFont typeface="Arial"/>
              <a:buChar char="•"/>
            </a:pPr>
            <a:r>
              <a:rPr lang="en-US" sz="1100"/>
              <a:t>Pushed tags are persisted across vCenters after vMotion</a:t>
            </a:r>
            <a:endParaRPr sz="1100"/>
          </a:p>
          <a:p>
            <a:pPr marL="0" marR="0" lvl="0" indent="0" algn="l" rtl="0">
              <a:lnSpc>
                <a:spcPct val="60000"/>
              </a:lnSpc>
              <a:spcBef>
                <a:spcPts val="0"/>
              </a:spcBef>
              <a:spcAft>
                <a:spcPts val="0"/>
              </a:spcAft>
              <a:buClr>
                <a:schemeClr val="dk1"/>
              </a:buClr>
              <a:buSzPts val="713"/>
              <a:buFont typeface="Arial"/>
              <a:buNone/>
            </a:pPr>
            <a:endParaRPr sz="1100"/>
          </a:p>
          <a:p>
            <a:pPr marL="0" marR="0" lvl="0" indent="0" algn="l" rtl="0">
              <a:lnSpc>
                <a:spcPct val="60000"/>
              </a:lnSpc>
              <a:spcBef>
                <a:spcPts val="0"/>
              </a:spcBef>
              <a:spcAft>
                <a:spcPts val="0"/>
              </a:spcAft>
              <a:buClr>
                <a:schemeClr val="dk1"/>
              </a:buClr>
              <a:buSzPts val="713"/>
              <a:buFont typeface="Arial"/>
              <a:buNone/>
            </a:pPr>
            <a:r>
              <a:rPr lang="en-US" sz="1100"/>
              <a:t>And, as a result of these new capabilities, customers will be able to</a:t>
            </a:r>
            <a:endParaRPr/>
          </a:p>
          <a:p>
            <a:pPr marL="457200" marR="0" lvl="0" indent="-457200" algn="l" rtl="0">
              <a:lnSpc>
                <a:spcPct val="60000"/>
              </a:lnSpc>
              <a:spcBef>
                <a:spcPts val="0"/>
              </a:spcBef>
              <a:spcAft>
                <a:spcPts val="0"/>
              </a:spcAft>
              <a:buClr>
                <a:schemeClr val="dk1"/>
              </a:buClr>
              <a:buSzPts val="713"/>
              <a:buFont typeface="Arial"/>
              <a:buChar char="•"/>
            </a:pPr>
            <a:r>
              <a:rPr lang="en-US" sz="1100"/>
              <a:t>Ensure consistent behavior across services to create and manage tags</a:t>
            </a:r>
            <a:endParaRPr/>
          </a:p>
          <a:p>
            <a:pPr marL="457200" marR="0" lvl="0" indent="-457200" algn="l" rtl="0">
              <a:lnSpc>
                <a:spcPct val="60000"/>
              </a:lnSpc>
              <a:spcBef>
                <a:spcPts val="0"/>
              </a:spcBef>
              <a:spcAft>
                <a:spcPts val="0"/>
              </a:spcAft>
              <a:buClr>
                <a:schemeClr val="dk1"/>
              </a:buClr>
              <a:buSzPts val="713"/>
              <a:buFont typeface="Arial"/>
              <a:buChar char="•"/>
            </a:pPr>
            <a:r>
              <a:rPr lang="en-US" sz="1100"/>
              <a:t>Easily identify and eliminate duplicate tags across vCenter server </a:t>
            </a:r>
            <a:endParaRPr/>
          </a:p>
          <a:p>
            <a:pPr marL="0" marR="0" lvl="0" indent="0" algn="l" rtl="0">
              <a:lnSpc>
                <a:spcPct val="60000"/>
              </a:lnSpc>
              <a:spcBef>
                <a:spcPts val="0"/>
              </a:spcBef>
              <a:spcAft>
                <a:spcPts val="0"/>
              </a:spcAft>
              <a:buClr>
                <a:schemeClr val="dk1"/>
              </a:buClr>
              <a:buSzPts val="713"/>
              <a:buFont typeface="Arial"/>
              <a:buNone/>
            </a:pPr>
            <a:endParaRPr sz="1000" b="0" i="0">
              <a:solidFill>
                <a:srgbClr val="172B4D"/>
              </a:solidFill>
              <a:latin typeface="Arial"/>
              <a:ea typeface="Arial"/>
              <a:cs typeface="Arial"/>
              <a:sym typeface="Arial"/>
            </a:endParaRPr>
          </a:p>
          <a:p>
            <a:pPr marL="0" lvl="0" indent="0" algn="l" rtl="0">
              <a:spcBef>
                <a:spcPts val="0"/>
              </a:spcBef>
              <a:spcAft>
                <a:spcPts val="0"/>
              </a:spcAft>
              <a:buClr>
                <a:schemeClr val="dk1"/>
              </a:buClr>
              <a:buSzPts val="800"/>
              <a:buFont typeface="Arial"/>
              <a:buNone/>
            </a:pPr>
            <a:r>
              <a:rPr lang="en-US" sz="800" b="1" u="none" strike="noStrike">
                <a:solidFill>
                  <a:schemeClr val="dk1"/>
                </a:solidFill>
                <a:latin typeface="Arial"/>
                <a:ea typeface="Arial"/>
                <a:cs typeface="Arial"/>
                <a:sym typeface="Arial"/>
              </a:rPr>
              <a:t>Notes:</a:t>
            </a:r>
            <a:endParaRPr/>
          </a:p>
          <a:p>
            <a:pPr marL="0" lvl="0" indent="0" algn="l" rtl="0">
              <a:spcBef>
                <a:spcPts val="0"/>
              </a:spcBef>
              <a:spcAft>
                <a:spcPts val="0"/>
              </a:spcAft>
              <a:buClr>
                <a:schemeClr val="dk1"/>
              </a:buClr>
              <a:buSzPts val="800"/>
              <a:buFont typeface="Arial"/>
              <a:buNone/>
            </a:pPr>
            <a:endParaRPr sz="800" b="0" u="none" strike="noStrike">
              <a:solidFill>
                <a:schemeClr val="dk1"/>
              </a:solidFill>
              <a:latin typeface="Arial"/>
              <a:ea typeface="Arial"/>
              <a:cs typeface="Arial"/>
              <a:sym typeface="Arial"/>
            </a:endParaRPr>
          </a:p>
          <a:p>
            <a:pPr marL="0" lvl="0" indent="0" algn="l" rtl="0">
              <a:spcBef>
                <a:spcPts val="0"/>
              </a:spcBef>
              <a:spcAft>
                <a:spcPts val="0"/>
              </a:spcAft>
              <a:buClr>
                <a:schemeClr val="dk1"/>
              </a:buClr>
              <a:buSzPts val="800"/>
              <a:buFont typeface="Arial"/>
              <a:buNone/>
            </a:pPr>
            <a:r>
              <a:rPr lang="en-US" sz="800" b="1" u="none" strike="noStrike">
                <a:solidFill>
                  <a:schemeClr val="dk1"/>
                </a:solidFill>
                <a:latin typeface="Arial"/>
                <a:ea typeface="Arial"/>
                <a:cs typeface="Arial"/>
                <a:sym typeface="Arial"/>
              </a:rPr>
              <a:t>Resources:</a:t>
            </a:r>
            <a:endParaRPr/>
          </a:p>
          <a:p>
            <a:pPr marL="0" marR="0" lvl="0" indent="0" algn="l" rtl="0">
              <a:lnSpc>
                <a:spcPct val="60000"/>
              </a:lnSpc>
              <a:spcBef>
                <a:spcPts val="0"/>
              </a:spcBef>
              <a:spcAft>
                <a:spcPts val="0"/>
              </a:spcAft>
              <a:buClr>
                <a:schemeClr val="dk1"/>
              </a:buClr>
              <a:buSzPts val="713"/>
              <a:buFont typeface="Arial"/>
              <a:buNone/>
            </a:pPr>
            <a:endParaRPr sz="800"/>
          </a:p>
          <a:p>
            <a:pPr marL="285750" marR="0" lvl="0" indent="-209550" algn="l" rtl="0">
              <a:lnSpc>
                <a:spcPct val="120000"/>
              </a:lnSpc>
              <a:spcBef>
                <a:spcPts val="0"/>
              </a:spcBef>
              <a:spcAft>
                <a:spcPts val="0"/>
              </a:spcAft>
              <a:buClr>
                <a:srgbClr val="61A00A"/>
              </a:buClr>
              <a:buSzPts val="1200"/>
              <a:buFont typeface="Arial"/>
              <a:buNone/>
            </a:pPr>
            <a:endParaRPr sz="800" b="0" i="0" u="none" strike="noStrike" cap="none">
              <a:solidFill>
                <a:srgbClr val="000000"/>
              </a:solidFill>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endParaRPr/>
          </a:p>
          <a:p>
            <a:pPr marL="0" lvl="0" indent="0" algn="l" rtl="0">
              <a:spcBef>
                <a:spcPts val="0"/>
              </a:spcBef>
              <a:spcAft>
                <a:spcPts val="0"/>
              </a:spcAft>
              <a:buNone/>
            </a:pPr>
            <a:endParaRPr/>
          </a:p>
        </p:txBody>
      </p:sp>
      <p:sp>
        <p:nvSpPr>
          <p:cNvPr id="6657" name="Google Shape;6657;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40</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4"/>
        <p:cNvGrpSpPr/>
        <p:nvPr/>
      </p:nvGrpSpPr>
      <p:grpSpPr>
        <a:xfrm>
          <a:off x="0" y="0"/>
          <a:ext cx="0" cy="0"/>
          <a:chOff x="0" y="0"/>
          <a:chExt cx="0" cy="0"/>
        </a:xfrm>
      </p:grpSpPr>
      <p:sp>
        <p:nvSpPr>
          <p:cNvPr id="6665" name="Google Shape;6665;p4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66" name="Google Shape;6666;p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b="1" u="none" strike="noStrike">
                <a:solidFill>
                  <a:schemeClr val="dk1"/>
                </a:solidFill>
              </a:rPr>
              <a:t>Key Message:</a:t>
            </a:r>
            <a:br>
              <a:rPr lang="en-US" sz="1200" u="none" strike="noStrike">
                <a:solidFill>
                  <a:schemeClr val="dk1"/>
                </a:solidFill>
              </a:rPr>
            </a:br>
            <a:r>
              <a:rPr lang="en-US" sz="1200" u="none" strike="noStrike">
                <a:solidFill>
                  <a:schemeClr val="dk1"/>
                </a:solidFill>
              </a:rPr>
              <a:t>New VMware Cloud Foundation Download Tool (VDT) supports disconnected sites</a:t>
            </a:r>
            <a:endParaRPr/>
          </a:p>
          <a:p>
            <a:pPr marL="0" lvl="0" indent="0" algn="l" rtl="0">
              <a:spcBef>
                <a:spcPts val="0"/>
              </a:spcBef>
              <a:spcAft>
                <a:spcPts val="0"/>
              </a:spcAft>
              <a:buNone/>
            </a:pP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Talk Track: </a:t>
            </a:r>
            <a:endParaRPr/>
          </a:p>
          <a:p>
            <a:pPr marL="0" lvl="0" indent="0" algn="l" rtl="0">
              <a:spcBef>
                <a:spcPts val="0"/>
              </a:spcBef>
              <a:spcAft>
                <a:spcPts val="0"/>
              </a:spcAft>
              <a:buNone/>
            </a:pPr>
            <a:r>
              <a:rPr lang="en-US"/>
              <a:t>There are many customers that are not willing or able to allow VCF to directly connect to the Broadcom software depot in order to download software binaries for install, upgrade, and patching.</a:t>
            </a:r>
            <a:endParaRPr/>
          </a:p>
          <a:p>
            <a:pPr marL="0" lvl="0" indent="0" algn="l" rtl="0">
              <a:spcBef>
                <a:spcPts val="0"/>
              </a:spcBef>
              <a:spcAft>
                <a:spcPts val="0"/>
              </a:spcAft>
              <a:buNone/>
            </a:pPr>
            <a:endParaRPr/>
          </a:p>
          <a:p>
            <a:pPr marL="0" lvl="0" indent="0" algn="l" rtl="0">
              <a:spcBef>
                <a:spcPts val="0"/>
              </a:spcBef>
              <a:spcAft>
                <a:spcPts val="0"/>
              </a:spcAft>
              <a:buNone/>
            </a:pPr>
            <a:r>
              <a:rPr lang="en-US"/>
              <a:t>In these scenarios, admins of disconnected sites can create their own private offline depot with the new VDT. This tool is the successor to the Offline Bundle Transfer Utility (OBTU), and the two tools will coexist, with VDT being for VCF 9+ and OBTU for VCF 5.x and below. Offline depots help provide control and consistency as well as scale to environments with many instances of VCF deployed.</a:t>
            </a:r>
            <a:endParaRPr/>
          </a:p>
          <a:p>
            <a:pPr marL="0" lvl="0" indent="0" algn="l" rtl="0">
              <a:spcBef>
                <a:spcPts val="0"/>
              </a:spcBef>
              <a:spcAft>
                <a:spcPts val="0"/>
              </a:spcAft>
              <a:buNone/>
            </a:pPr>
            <a:endParaRPr/>
          </a:p>
          <a:p>
            <a:pPr marL="0" lvl="0" indent="0" algn="l" rtl="0">
              <a:spcBef>
                <a:spcPts val="0"/>
              </a:spcBef>
              <a:spcAft>
                <a:spcPts val="0"/>
              </a:spcAft>
              <a:buNone/>
            </a:pPr>
            <a:r>
              <a:rPr lang="en-US"/>
              <a:t>In addition to generating a mirror of the online depot, VDT can also be used to import bundles directly into SDDC Manager, without the need to create an additional internal web server to host the offline depot.</a:t>
            </a: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Arial"/>
              <a:buNone/>
            </a:pPr>
            <a:r>
              <a:rPr lang="en-US" sz="1200" b="1" u="none" strike="noStrike">
                <a:solidFill>
                  <a:schemeClr val="dk1"/>
                </a:solidFill>
              </a:rPr>
              <a:t>Notes:</a:t>
            </a:r>
            <a:endParaRPr sz="1200" u="none" strike="noStrike">
              <a:solidFill>
                <a:schemeClr val="dk1"/>
              </a:solidFill>
            </a:endParaRPr>
          </a:p>
          <a:p>
            <a:pPr marL="0" marR="0" lvl="0" indent="0" algn="l" rtl="0">
              <a:lnSpc>
                <a:spcPct val="100000"/>
              </a:lnSpc>
              <a:spcBef>
                <a:spcPts val="0"/>
              </a:spcBef>
              <a:spcAft>
                <a:spcPts val="0"/>
              </a:spcAft>
              <a:buClr>
                <a:schemeClr val="dk1"/>
              </a:buClr>
              <a:buSzPts val="1200"/>
              <a:buFont typeface="Arial"/>
              <a:buNone/>
            </a:pPr>
            <a:endParaRPr sz="1200" u="none" strike="noStrike">
              <a:solidFill>
                <a:schemeClr val="dk1"/>
              </a:solidFill>
            </a:endParaRPr>
          </a:p>
          <a:p>
            <a:pPr marL="0" lvl="0" indent="0" algn="l" rtl="0">
              <a:spcBef>
                <a:spcPts val="0"/>
              </a:spcBef>
              <a:spcAft>
                <a:spcPts val="0"/>
              </a:spcAft>
              <a:buNone/>
            </a:pPr>
            <a:r>
              <a:rPr lang="en-US" sz="1200" b="1" u="none" strike="noStrike">
                <a:solidFill>
                  <a:schemeClr val="dk1"/>
                </a:solidFill>
              </a:rPr>
              <a:t>Resources:</a:t>
            </a:r>
            <a:endParaRPr>
              <a:solidFill>
                <a:srgbClr val="DCA10D"/>
              </a:solidFill>
              <a:latin typeface="Helvetica Neue"/>
              <a:ea typeface="Helvetica Neue"/>
              <a:cs typeface="Helvetica Neue"/>
              <a:sym typeface="Helvetica Neue"/>
            </a:endParaRPr>
          </a:p>
          <a:p>
            <a:pPr marL="0" lvl="0" indent="0" algn="l" rtl="0">
              <a:spcBef>
                <a:spcPts val="0"/>
              </a:spcBef>
              <a:spcAft>
                <a:spcPts val="0"/>
              </a:spcAft>
              <a:buNone/>
            </a:pPr>
            <a:endParaRPr/>
          </a:p>
        </p:txBody>
      </p:sp>
      <p:sp>
        <p:nvSpPr>
          <p:cNvPr id="6667" name="Google Shape;6667;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41</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5"/>
        <p:cNvGrpSpPr/>
        <p:nvPr/>
      </p:nvGrpSpPr>
      <p:grpSpPr>
        <a:xfrm>
          <a:off x="0" y="0"/>
          <a:ext cx="0" cy="0"/>
          <a:chOff x="0" y="0"/>
          <a:chExt cx="0" cy="0"/>
        </a:xfrm>
      </p:grpSpPr>
      <p:sp>
        <p:nvSpPr>
          <p:cNvPr id="6676" name="Google Shape;6676;p4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77" name="Google Shape;6677;p4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dk1"/>
              </a:buClr>
              <a:buSzPts val="1200"/>
              <a:buFont typeface="Arial"/>
              <a:buNone/>
            </a:pPr>
            <a:endParaRPr/>
          </a:p>
        </p:txBody>
      </p:sp>
      <p:sp>
        <p:nvSpPr>
          <p:cNvPr id="6678" name="Google Shape;6678;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0">
          <a:extLst>
            <a:ext uri="{FF2B5EF4-FFF2-40B4-BE49-F238E27FC236}">
              <a16:creationId xmlns:a16="http://schemas.microsoft.com/office/drawing/2014/main" id="{83C8DC69-4C08-D16A-E3C5-9EE46BA247BF}"/>
            </a:ext>
          </a:extLst>
        </p:cNvPr>
        <p:cNvGrpSpPr/>
        <p:nvPr/>
      </p:nvGrpSpPr>
      <p:grpSpPr>
        <a:xfrm>
          <a:off x="0" y="0"/>
          <a:ext cx="0" cy="0"/>
          <a:chOff x="0" y="0"/>
          <a:chExt cx="0" cy="0"/>
        </a:xfrm>
      </p:grpSpPr>
      <p:sp>
        <p:nvSpPr>
          <p:cNvPr id="2851" name="Google Shape;2851;p26:notes">
            <a:extLst>
              <a:ext uri="{FF2B5EF4-FFF2-40B4-BE49-F238E27FC236}">
                <a16:creationId xmlns:a16="http://schemas.microsoft.com/office/drawing/2014/main" id="{708EA4F5-6F70-745E-740C-1816A5BAF4C6}"/>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2" name="Google Shape;2852;p26:notes">
            <a:extLst>
              <a:ext uri="{FF2B5EF4-FFF2-40B4-BE49-F238E27FC236}">
                <a16:creationId xmlns:a16="http://schemas.microsoft.com/office/drawing/2014/main" id="{6F9E1A18-12EF-D02B-CA07-2481FF4C955F}"/>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defTabSz="914400" rtl="0" eaLnBrk="1" fontAlgn="auto" latinLnBrk="0" hangingPunct="1">
              <a:lnSpc>
                <a:spcPct val="80000"/>
              </a:lnSpc>
              <a:spcBef>
                <a:spcPts val="0"/>
              </a:spcBef>
              <a:spcAft>
                <a:spcPts val="0"/>
              </a:spcAft>
              <a:buClr>
                <a:schemeClr val="dk1"/>
              </a:buClr>
              <a:buSzPts val="800"/>
              <a:buFont typeface="Arial"/>
              <a:buNone/>
              <a:tabLst/>
              <a:defRPr/>
            </a:pPr>
            <a:r>
              <a:rPr lang="en-US" sz="1200" b="1" dirty="0">
                <a:solidFill>
                  <a:schemeClr val="dk1"/>
                </a:solidFill>
                <a:latin typeface="Arial"/>
                <a:ea typeface="Arial"/>
                <a:cs typeface="Arial"/>
                <a:sym typeface="Arial"/>
              </a:rPr>
              <a:t>Presenter Note:  </a:t>
            </a:r>
            <a:r>
              <a:rPr lang="en-US" sz="1200" b="1" dirty="0">
                <a:latin typeface="Arial"/>
                <a:ea typeface="Arial"/>
                <a:cs typeface="Arial"/>
                <a:sym typeface="Arial"/>
              </a:rPr>
              <a:t>This slide contains animation</a:t>
            </a:r>
            <a:endParaRPr lang="en-US" sz="1200" b="1"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Key Message:</a:t>
            </a:r>
            <a:br>
              <a:rPr lang="en-US" sz="1200" b="1" u="none" strike="noStrike" dirty="0">
                <a:solidFill>
                  <a:schemeClr val="dk1"/>
                </a:solidFill>
                <a:latin typeface="Arial"/>
                <a:ea typeface="Arial"/>
                <a:cs typeface="Arial"/>
                <a:sym typeface="Arial"/>
              </a:rPr>
            </a:br>
            <a:r>
              <a:rPr lang="en-US" sz="1200" dirty="0">
                <a:solidFill>
                  <a:schemeClr val="dk1"/>
                </a:solidFill>
              </a:rPr>
              <a:t>From VCF 9 private cloud operations and management is performed using the VCF Operations Console. </a:t>
            </a:r>
            <a:endParaRPr lang="en-US" dirty="0"/>
          </a:p>
          <a:p>
            <a:pPr marL="0" marR="0" lvl="0" indent="0" algn="l" rtl="0">
              <a:lnSpc>
                <a:spcPct val="80000"/>
              </a:lnSpc>
              <a:spcBef>
                <a:spcPts val="0"/>
              </a:spcBef>
              <a:spcAft>
                <a:spcPts val="0"/>
              </a:spcAft>
              <a:buClr>
                <a:schemeClr val="dk1"/>
              </a:buClr>
              <a:buSzPts val="800"/>
              <a:buFont typeface="Arial"/>
              <a:buNone/>
            </a:pPr>
            <a:r>
              <a:rPr lang="en-US" sz="1200" dirty="0">
                <a:solidFill>
                  <a:schemeClr val="dk1"/>
                </a:solidFill>
              </a:rPr>
              <a:t>VCF Operations provides Administrators with a unified and feature rich operations experience for fleet management which spans identity and access management, certificate management, password management, tag management, configuration drift and lifecycle management.</a:t>
            </a:r>
            <a:endParaRPr lang="en-US" dirty="0"/>
          </a:p>
          <a:p>
            <a:pPr marL="0" marR="0" lvl="0" indent="0" algn="l" rtl="0">
              <a:lnSpc>
                <a:spcPct val="80000"/>
              </a:lnSpc>
              <a:spcBef>
                <a:spcPts val="0"/>
              </a:spcBef>
              <a:spcAft>
                <a:spcPts val="0"/>
              </a:spcAft>
              <a:buClr>
                <a:schemeClr val="dk1"/>
              </a:buClr>
              <a:buSzPts val="800"/>
              <a:buFont typeface="Arial"/>
              <a:buNone/>
            </a:pPr>
            <a:endParaRPr lang="en-US" sz="1200" b="1"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Talk Track:</a:t>
            </a:r>
          </a:p>
          <a:p>
            <a:pPr marL="0" lvl="0" indent="0" algn="l" rtl="0">
              <a:lnSpc>
                <a:spcPct val="80000"/>
              </a:lnSpc>
              <a:spcBef>
                <a:spcPts val="0"/>
              </a:spcBef>
              <a:spcAft>
                <a:spcPts val="0"/>
              </a:spcAft>
              <a:buClr>
                <a:schemeClr val="dk1"/>
              </a:buClr>
              <a:buSzPts val="800"/>
              <a:buFont typeface="Arial"/>
              <a:buNone/>
            </a:pPr>
            <a:r>
              <a:rPr lang="en-US" sz="1200" b="0" u="none" strike="noStrike" dirty="0">
                <a:solidFill>
                  <a:schemeClr val="dk1"/>
                </a:solidFill>
                <a:latin typeface="Arial"/>
                <a:cs typeface="Arial"/>
                <a:sym typeface="Arial"/>
              </a:rPr>
              <a:t>Lets now take a closer look at closer look VCF Operations, formerly known as VMware Aria Operations.</a:t>
            </a:r>
            <a:endParaRPr lang="en-US" b="0" dirty="0"/>
          </a:p>
          <a:p>
            <a:pPr marL="0" lvl="0" indent="0" algn="l" rtl="0">
              <a:lnSpc>
                <a:spcPct val="80000"/>
              </a:lnSpc>
              <a:spcBef>
                <a:spcPts val="0"/>
              </a:spcBef>
              <a:spcAft>
                <a:spcPts val="0"/>
              </a:spcAft>
              <a:buClr>
                <a:schemeClr val="dk1"/>
              </a:buClr>
              <a:buSzPts val="800"/>
              <a:buFont typeface="Arial"/>
              <a:buNone/>
            </a:pPr>
            <a:endParaRPr lang="en-US" sz="1200" u="none" strike="noStrike" dirty="0">
              <a:solidFill>
                <a:schemeClr val="dk1"/>
              </a:solidFill>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Notes:</a:t>
            </a:r>
          </a:p>
          <a:p>
            <a:pPr marL="0" lvl="0" indent="0" algn="l" rtl="0">
              <a:lnSpc>
                <a:spcPct val="80000"/>
              </a:lnSpc>
              <a:spcBef>
                <a:spcPts val="0"/>
              </a:spcBef>
              <a:spcAft>
                <a:spcPts val="0"/>
              </a:spcAft>
              <a:buClr>
                <a:schemeClr val="dk1"/>
              </a:buClr>
              <a:buSzPts val="800"/>
              <a:buFont typeface="Arial"/>
              <a:buNone/>
            </a:pPr>
            <a:endParaRPr lang="en-US" sz="1200" dirty="0">
              <a:latin typeface="Arial"/>
              <a:ea typeface="Arial"/>
              <a:cs typeface="Arial"/>
              <a:sym typeface="Arial"/>
            </a:endParaRPr>
          </a:p>
          <a:p>
            <a:pPr marL="0" lvl="0" indent="0" algn="l" rtl="0">
              <a:lnSpc>
                <a:spcPct val="80000"/>
              </a:lnSpc>
              <a:spcBef>
                <a:spcPts val="0"/>
              </a:spcBef>
              <a:spcAft>
                <a:spcPts val="0"/>
              </a:spcAft>
              <a:buClr>
                <a:schemeClr val="dk1"/>
              </a:buClr>
              <a:buSzPts val="800"/>
              <a:buFont typeface="Arial"/>
              <a:buNone/>
            </a:pPr>
            <a:r>
              <a:rPr lang="en-US" sz="1200" b="1" u="none" strike="noStrike" dirty="0">
                <a:solidFill>
                  <a:schemeClr val="dk1"/>
                </a:solidFill>
                <a:latin typeface="Arial"/>
                <a:ea typeface="Arial"/>
                <a:cs typeface="Arial"/>
                <a:sym typeface="Arial"/>
              </a:rPr>
              <a:t>Resources:</a:t>
            </a:r>
            <a:endParaRPr lang="en-US" dirty="0"/>
          </a:p>
          <a:p>
            <a:pPr marL="0" lvl="0" indent="0" algn="l" rtl="0">
              <a:spcBef>
                <a:spcPts val="0"/>
              </a:spcBef>
              <a:spcAft>
                <a:spcPts val="0"/>
              </a:spcAft>
              <a:buClr>
                <a:schemeClr val="dk1"/>
              </a:buClr>
              <a:buSzPts val="1200"/>
              <a:buFont typeface="Arial"/>
              <a:buNone/>
            </a:pPr>
            <a:endParaRPr dirty="0"/>
          </a:p>
        </p:txBody>
      </p:sp>
      <p:sp>
        <p:nvSpPr>
          <p:cNvPr id="2853" name="Google Shape;2853;p26:notes">
            <a:extLst>
              <a:ext uri="{FF2B5EF4-FFF2-40B4-BE49-F238E27FC236}">
                <a16:creationId xmlns:a16="http://schemas.microsoft.com/office/drawing/2014/main" id="{8EB3B3C8-34EC-D096-8A9A-32C886BBF51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43</a:t>
            </a:fld>
            <a:endParaRPr kumimoji="0" sz="1200" b="0" i="0" u="none" strike="noStrike" kern="1200" cap="none" spc="0" normalizeH="0" baseline="0" noProof="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32248050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2"/>
        <p:cNvGrpSpPr/>
        <p:nvPr/>
      </p:nvGrpSpPr>
      <p:grpSpPr>
        <a:xfrm>
          <a:off x="0" y="0"/>
          <a:ext cx="0" cy="0"/>
          <a:chOff x="0" y="0"/>
          <a:chExt cx="0" cy="0"/>
        </a:xfrm>
      </p:grpSpPr>
      <p:sp>
        <p:nvSpPr>
          <p:cNvPr id="6773" name="Google Shape;6773;p4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4" name="Google Shape;6774;p4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40000"/>
              </a:lnSpc>
              <a:spcBef>
                <a:spcPts val="0"/>
              </a:spcBef>
              <a:spcAft>
                <a:spcPts val="0"/>
              </a:spcAft>
              <a:buClr>
                <a:schemeClr val="dk1"/>
              </a:buClr>
              <a:buSzPts val="713"/>
              <a:buFont typeface="Arial"/>
              <a:buNone/>
            </a:pPr>
            <a:r>
              <a:rPr lang="en-US" sz="700" b="1" dirty="0">
                <a:latin typeface="Arial"/>
                <a:ea typeface="Arial"/>
                <a:cs typeface="Arial"/>
                <a:sym typeface="Arial"/>
              </a:rPr>
              <a:t>Presenter Note:  This slide contains animation</a:t>
            </a:r>
            <a:endParaRPr dirty="0"/>
          </a:p>
          <a:p>
            <a:pPr marL="0" lvl="0" indent="0" algn="l" rtl="0">
              <a:lnSpc>
                <a:spcPct val="40000"/>
              </a:lnSpc>
              <a:spcBef>
                <a:spcPts val="0"/>
              </a:spcBef>
              <a:spcAft>
                <a:spcPts val="0"/>
              </a:spcAft>
              <a:buClr>
                <a:schemeClr val="dk1"/>
              </a:buClr>
              <a:buSzPts val="713"/>
              <a:buFont typeface="Arial"/>
              <a:buNone/>
            </a:pPr>
            <a:endParaRPr sz="600" b="1" dirty="0">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r>
              <a:rPr lang="en-US" sz="600" b="1" dirty="0">
                <a:latin typeface="Arial"/>
                <a:ea typeface="Arial"/>
                <a:cs typeface="Arial"/>
                <a:sym typeface="Arial"/>
              </a:rPr>
              <a:t>Key Message:</a:t>
            </a:r>
            <a:endParaRPr dirty="0"/>
          </a:p>
          <a:p>
            <a:pPr marL="0" lvl="0" indent="0" algn="l" rtl="0">
              <a:lnSpc>
                <a:spcPct val="80000"/>
              </a:lnSpc>
              <a:spcBef>
                <a:spcPts val="0"/>
              </a:spcBef>
              <a:spcAft>
                <a:spcPts val="0"/>
              </a:spcAft>
              <a:buClr>
                <a:schemeClr val="dk1"/>
              </a:buClr>
              <a:buSzPts val="100"/>
              <a:buFont typeface="Arial"/>
              <a:buNone/>
            </a:pPr>
            <a:r>
              <a:rPr lang="en-US" sz="600" dirty="0">
                <a:latin typeface="Arial"/>
                <a:ea typeface="Arial"/>
                <a:cs typeface="Arial"/>
                <a:sym typeface="Arial"/>
              </a:rPr>
              <a:t>VCF Operations 9.0 provides a single pane of glass view of Network Operations to improve Performance and reduce network downtimes</a:t>
            </a:r>
            <a:br>
              <a:rPr lang="en-US" sz="600" dirty="0">
                <a:latin typeface="Arial"/>
                <a:ea typeface="Arial"/>
                <a:cs typeface="Arial"/>
                <a:sym typeface="Arial"/>
              </a:rPr>
            </a:br>
            <a:br>
              <a:rPr lang="en-US" sz="600" dirty="0">
                <a:latin typeface="Arial"/>
                <a:ea typeface="Arial"/>
                <a:cs typeface="Arial"/>
                <a:sym typeface="Arial"/>
              </a:rPr>
            </a:br>
            <a:r>
              <a:rPr lang="en-US" sz="600" b="1" dirty="0">
                <a:latin typeface="Arial"/>
                <a:ea typeface="Arial"/>
                <a:cs typeface="Arial"/>
                <a:sym typeface="Arial"/>
              </a:rPr>
              <a:t>Talk Track:</a:t>
            </a:r>
            <a:br>
              <a:rPr lang="en-US" sz="600" b="1" dirty="0">
                <a:latin typeface="Arial"/>
                <a:ea typeface="Arial"/>
                <a:cs typeface="Arial"/>
                <a:sym typeface="Arial"/>
              </a:rPr>
            </a:br>
            <a:r>
              <a:rPr lang="en-US" sz="700" dirty="0">
                <a:solidFill>
                  <a:srgbClr val="001D35"/>
                </a:solidFill>
                <a:latin typeface="Quattrocento Sans"/>
                <a:ea typeface="Quattrocento Sans"/>
                <a:cs typeface="Quattrocento Sans"/>
                <a:sym typeface="Quattrocento Sans"/>
              </a:rPr>
              <a:t>VMware Cloud Foundation (VCF) is </a:t>
            </a:r>
            <a:r>
              <a:rPr lang="en-US" sz="700" dirty="0">
                <a:solidFill>
                  <a:srgbClr val="040C28"/>
                </a:solidFill>
                <a:latin typeface="Quattrocento Sans"/>
                <a:ea typeface="Quattrocento Sans"/>
                <a:cs typeface="Quattrocento Sans"/>
                <a:sym typeface="Quattrocento Sans"/>
              </a:rPr>
              <a:t>a full-stack, secure private cloud solution </a:t>
            </a:r>
            <a:r>
              <a:rPr lang="en-US" sz="700" dirty="0">
                <a:solidFill>
                  <a:srgbClr val="001D35"/>
                </a:solidFill>
                <a:latin typeface="Quattrocento Sans"/>
                <a:ea typeface="Quattrocento Sans"/>
                <a:cs typeface="Quattrocento Sans"/>
                <a:sym typeface="Quattrocento Sans"/>
              </a:rPr>
              <a:t>that combines storage, networking, computing with cloud management capabilities</a:t>
            </a:r>
            <a:r>
              <a:rPr lang="en-US" sz="700" dirty="0">
                <a:latin typeface="Quattrocento Sans"/>
                <a:ea typeface="Quattrocento Sans"/>
                <a:cs typeface="Quattrocento Sans"/>
                <a:sym typeface="Quattrocento Sans"/>
              </a:rPr>
              <a:t>. So, Now with VCF Operations 9.0, no matter what you are looking at we have ONE PLACE for you to look at it"</a:t>
            </a:r>
            <a:endParaRPr sz="700" dirty="0">
              <a:latin typeface="Times New Roman"/>
              <a:ea typeface="Times New Roman"/>
              <a:cs typeface="Times New Roman"/>
              <a:sym typeface="Times New Roman"/>
            </a:endParaRPr>
          </a:p>
          <a:p>
            <a:pPr marL="0" lvl="0" indent="0" algn="l" rtl="0">
              <a:lnSpc>
                <a:spcPct val="40000"/>
              </a:lnSpc>
              <a:spcBef>
                <a:spcPts val="0"/>
              </a:spcBef>
              <a:spcAft>
                <a:spcPts val="0"/>
              </a:spcAft>
              <a:buClr>
                <a:schemeClr val="dk1"/>
              </a:buClr>
              <a:buSzPts val="713"/>
              <a:buFont typeface="Arial"/>
              <a:buNone/>
            </a:pPr>
            <a:endParaRPr sz="600" b="1" dirty="0">
              <a:latin typeface="Arial"/>
              <a:ea typeface="Arial"/>
              <a:cs typeface="Arial"/>
              <a:sym typeface="Arial"/>
            </a:endParaRPr>
          </a:p>
          <a:p>
            <a:pPr marL="0" marR="0" lvl="0" indent="0" algn="l" rtl="0">
              <a:lnSpc>
                <a:spcPct val="40000"/>
              </a:lnSpc>
              <a:spcBef>
                <a:spcPts val="0"/>
              </a:spcBef>
              <a:spcAft>
                <a:spcPts val="0"/>
              </a:spcAft>
              <a:buClr>
                <a:schemeClr val="dk1"/>
              </a:buClr>
              <a:buSzPts val="713"/>
              <a:buFont typeface="Arial"/>
              <a:buNone/>
            </a:pPr>
            <a:r>
              <a:rPr lang="en-US" sz="700" dirty="0">
                <a:solidFill>
                  <a:srgbClr val="172B4D"/>
                </a:solidFill>
                <a:latin typeface="Quattrocento Sans"/>
                <a:ea typeface="Quattrocento Sans"/>
                <a:cs typeface="Quattrocento Sans"/>
                <a:sym typeface="Quattrocento Sans"/>
              </a:rPr>
              <a:t>You can monitor the entire VCF environment with a single configuration made in the operations console.</a:t>
            </a:r>
            <a:endParaRPr sz="600" b="1" dirty="0">
              <a:latin typeface="Arial"/>
              <a:ea typeface="Arial"/>
              <a:cs typeface="Arial"/>
              <a:sym typeface="Arial"/>
            </a:endParaRPr>
          </a:p>
          <a:p>
            <a:pPr marL="0" marR="0" lvl="0" indent="0" algn="l" rtl="0">
              <a:lnSpc>
                <a:spcPct val="40000"/>
              </a:lnSpc>
              <a:spcBef>
                <a:spcPts val="0"/>
              </a:spcBef>
              <a:spcAft>
                <a:spcPts val="0"/>
              </a:spcAft>
              <a:buClr>
                <a:schemeClr val="dk1"/>
              </a:buClr>
              <a:buSzPts val="713"/>
              <a:buFont typeface="Arial"/>
              <a:buNone/>
            </a:pPr>
            <a:endParaRPr sz="700" dirty="0">
              <a:solidFill>
                <a:srgbClr val="172B4D"/>
              </a:solidFill>
              <a:latin typeface="Quattrocento Sans"/>
              <a:ea typeface="Quattrocento Sans"/>
              <a:cs typeface="Quattrocento Sans"/>
              <a:sym typeface="Quattrocento Sans"/>
            </a:endParaRPr>
          </a:p>
          <a:p>
            <a:pPr marL="0" lvl="0" indent="0" algn="l" rtl="0">
              <a:lnSpc>
                <a:spcPct val="80000"/>
              </a:lnSpc>
              <a:spcBef>
                <a:spcPts val="0"/>
              </a:spcBef>
              <a:spcAft>
                <a:spcPts val="0"/>
              </a:spcAft>
              <a:buClr>
                <a:schemeClr val="dk1"/>
              </a:buClr>
              <a:buSzPts val="200"/>
              <a:buFont typeface="Times New Roman"/>
              <a:buNone/>
            </a:pPr>
            <a:r>
              <a:rPr lang="en-US" sz="700" dirty="0">
                <a:latin typeface="Times New Roman"/>
                <a:ea typeface="Times New Roman"/>
                <a:cs typeface="Times New Roman"/>
                <a:sym typeface="Times New Roman"/>
              </a:rPr>
              <a:t>With the new </a:t>
            </a:r>
            <a:r>
              <a:rPr lang="en-US" sz="700" dirty="0">
                <a:solidFill>
                  <a:srgbClr val="121F3C"/>
                </a:solidFill>
                <a:latin typeface="Quattrocento Sans"/>
                <a:ea typeface="Quattrocento Sans"/>
                <a:cs typeface="Quattrocento Sans"/>
                <a:sym typeface="Quattrocento Sans"/>
              </a:rPr>
              <a:t>Network Operations Home page </a:t>
            </a:r>
            <a:r>
              <a:rPr lang="en-US" sz="700" dirty="0">
                <a:latin typeface="Times New Roman"/>
                <a:ea typeface="Times New Roman"/>
                <a:cs typeface="Times New Roman"/>
                <a:sym typeface="Times New Roman"/>
              </a:rPr>
              <a:t>under Infrastructure Operations, VCF Operations offers </a:t>
            </a:r>
            <a:r>
              <a:rPr lang="en-US" sz="700" dirty="0">
                <a:solidFill>
                  <a:srgbClr val="121F3C"/>
                </a:solidFill>
                <a:latin typeface="Quattrocento Sans"/>
                <a:ea typeface="Quattrocento Sans"/>
                <a:cs typeface="Quattrocento Sans"/>
                <a:sym typeface="Quattrocento Sans"/>
              </a:rPr>
              <a:t>enhanced network visibility, network troubleshooting, optimization planning and workload migrations.</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121F3C"/>
              </a:buClr>
              <a:buSzPts val="200"/>
              <a:buFont typeface="Quattrocento Sans"/>
              <a:buNone/>
            </a:pPr>
            <a:r>
              <a:rPr lang="en-US" sz="700" dirty="0">
                <a:solidFill>
                  <a:srgbClr val="121F3C"/>
                </a:solidFill>
                <a:latin typeface="Quattrocento Sans"/>
                <a:ea typeface="Quattrocento Sans"/>
                <a:cs typeface="Quattrocento Sans"/>
                <a:sym typeface="Quattrocento Sans"/>
              </a:rPr>
              <a:t> </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121F3C"/>
              </a:buClr>
              <a:buSzPts val="200"/>
              <a:buFont typeface="Quattrocento Sans"/>
              <a:buNone/>
            </a:pPr>
            <a:r>
              <a:rPr lang="en-US" sz="700" dirty="0">
                <a:solidFill>
                  <a:srgbClr val="121F3C"/>
                </a:solidFill>
                <a:latin typeface="Quattrocento Sans"/>
                <a:ea typeface="Quattrocento Sans"/>
                <a:cs typeface="Quattrocento Sans"/>
                <a:sym typeface="Quattrocento Sans"/>
              </a:rPr>
              <a:t>One of the pre-requisites is to get the VCF Operations for Network appliance deployed. So, with its integration, you see an</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181818"/>
              </a:buClr>
              <a:buSzPts val="200"/>
              <a:buFont typeface="Quattrocento Sans"/>
              <a:buNone/>
            </a:pPr>
            <a:r>
              <a:rPr lang="en-US" sz="700" dirty="0">
                <a:solidFill>
                  <a:srgbClr val="181818"/>
                </a:solidFill>
                <a:latin typeface="Quattrocento Sans"/>
                <a:ea typeface="Quattrocento Sans"/>
                <a:cs typeface="Quattrocento Sans"/>
                <a:sym typeface="Quattrocento Sans"/>
              </a:rPr>
              <a:t>  *Overview of VCF network inventory </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181818"/>
              </a:buClr>
              <a:buSzPts val="200"/>
              <a:buFont typeface="Quattrocento Sans"/>
              <a:buNone/>
            </a:pPr>
            <a:r>
              <a:rPr lang="en-US" sz="700" dirty="0">
                <a:solidFill>
                  <a:srgbClr val="181818"/>
                </a:solidFill>
                <a:latin typeface="Quattrocento Sans"/>
                <a:ea typeface="Quattrocento Sans"/>
                <a:cs typeface="Quattrocento Sans"/>
                <a:sym typeface="Quattrocento Sans"/>
              </a:rPr>
              <a:t>  </a:t>
            </a:r>
            <a:r>
              <a:rPr lang="en-US" sz="700" dirty="0">
                <a:solidFill>
                  <a:srgbClr val="21333B"/>
                </a:solidFill>
                <a:latin typeface="Quattrocento Sans"/>
                <a:ea typeface="Quattrocento Sans"/>
                <a:cs typeface="Quattrocento Sans"/>
                <a:sym typeface="Quattrocento Sans"/>
              </a:rPr>
              <a:t>*</a:t>
            </a:r>
            <a:r>
              <a:rPr lang="en-US" sz="700" dirty="0">
                <a:solidFill>
                  <a:srgbClr val="181818"/>
                </a:solidFill>
                <a:latin typeface="Quattrocento Sans"/>
                <a:ea typeface="Quattrocento Sans"/>
                <a:cs typeface="Quattrocento Sans"/>
                <a:sym typeface="Quattrocento Sans"/>
              </a:rPr>
              <a:t>NSX inventory (transport nodes, edge clusters, GW, VPCs), </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181818"/>
              </a:buClr>
              <a:buSzPts val="200"/>
              <a:buFont typeface="Quattrocento Sans"/>
              <a:buNone/>
            </a:pPr>
            <a:r>
              <a:rPr lang="en-US" sz="700" dirty="0">
                <a:solidFill>
                  <a:srgbClr val="181818"/>
                </a:solidFill>
                <a:latin typeface="Quattrocento Sans"/>
                <a:ea typeface="Quattrocento Sans"/>
                <a:cs typeface="Quattrocento Sans"/>
                <a:sym typeface="Quattrocento Sans"/>
              </a:rPr>
              <a:t>  *Network Alerts (</a:t>
            </a:r>
            <a:r>
              <a:rPr lang="en-US" sz="700" dirty="0">
                <a:solidFill>
                  <a:srgbClr val="21333B"/>
                </a:solidFill>
                <a:latin typeface="Quattrocento Sans"/>
                <a:ea typeface="Quattrocento Sans"/>
                <a:cs typeface="Quattrocento Sans"/>
                <a:sym typeface="Quattrocento Sans"/>
              </a:rPr>
              <a:t>Alerts on network elements including VCF network and third party.)</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181818"/>
              </a:buClr>
              <a:buSzPts val="200"/>
              <a:buFont typeface="Quattrocento Sans"/>
              <a:buNone/>
            </a:pPr>
            <a:r>
              <a:rPr lang="en-US" sz="700" dirty="0">
                <a:solidFill>
                  <a:srgbClr val="181818"/>
                </a:solidFill>
                <a:latin typeface="Quattrocento Sans"/>
                <a:ea typeface="Quattrocento Sans"/>
                <a:cs typeface="Quattrocento Sans"/>
                <a:sym typeface="Quattrocento Sans"/>
              </a:rPr>
              <a:t>  *NSX Managers with VPC enabled</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181818"/>
              </a:buClr>
              <a:buSzPts val="200"/>
              <a:buFont typeface="Quattrocento Sans"/>
              <a:buNone/>
            </a:pPr>
            <a:r>
              <a:rPr lang="en-US" sz="700" dirty="0">
                <a:solidFill>
                  <a:srgbClr val="181818"/>
                </a:solidFill>
                <a:latin typeface="Quattrocento Sans"/>
                <a:ea typeface="Quattrocento Sans"/>
                <a:cs typeface="Quattrocento Sans"/>
                <a:sym typeface="Quattrocento Sans"/>
              </a:rPr>
              <a:t>  *Monitoring health of the NSX components and diagnostics capabilities</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181818"/>
              </a:buClr>
              <a:buSzPts val="200"/>
              <a:buFont typeface="Quattrocento Sans"/>
              <a:buNone/>
            </a:pPr>
            <a:r>
              <a:rPr lang="en-US" sz="700" dirty="0">
                <a:solidFill>
                  <a:srgbClr val="181818"/>
                </a:solidFill>
                <a:latin typeface="Quattrocento Sans"/>
                <a:ea typeface="Quattrocento Sans"/>
                <a:cs typeface="Quattrocento Sans"/>
                <a:sym typeface="Quattrocento Sans"/>
              </a:rPr>
              <a:t>     </a:t>
            </a:r>
            <a:endParaRPr dirty="0"/>
          </a:p>
          <a:p>
            <a:pPr marL="0" lvl="0" indent="0" algn="l" rtl="0">
              <a:lnSpc>
                <a:spcPct val="80000"/>
              </a:lnSpc>
              <a:spcBef>
                <a:spcPts val="0"/>
              </a:spcBef>
              <a:spcAft>
                <a:spcPts val="0"/>
              </a:spcAft>
              <a:buClr>
                <a:srgbClr val="181818"/>
              </a:buClr>
              <a:buSzPts val="200"/>
              <a:buFont typeface="Quattrocento Sans"/>
              <a:buNone/>
            </a:pPr>
            <a:r>
              <a:rPr lang="en-US" sz="700" dirty="0">
                <a:solidFill>
                  <a:srgbClr val="181818"/>
                </a:solidFill>
                <a:latin typeface="Quattrocento Sans"/>
                <a:ea typeface="Quattrocento Sans"/>
                <a:cs typeface="Quattrocento Sans"/>
                <a:sym typeface="Quattrocento Sans"/>
              </a:rPr>
              <a:t>&lt;click&gt;</a:t>
            </a:r>
            <a:endParaRPr sz="700" b="0" dirty="0">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200"/>
              <a:buFont typeface="Arial"/>
              <a:buNone/>
            </a:pPr>
            <a:r>
              <a:rPr lang="en-US" sz="700" b="0" dirty="0">
                <a:solidFill>
                  <a:srgbClr val="000000"/>
                </a:solidFill>
                <a:latin typeface="Arial"/>
                <a:ea typeface="Arial"/>
                <a:cs typeface="Arial"/>
                <a:sym typeface="Arial"/>
              </a:rPr>
              <a:t>The </a:t>
            </a:r>
            <a:r>
              <a:rPr lang="en-US" sz="700" b="0" u="sng" dirty="0">
                <a:solidFill>
                  <a:srgbClr val="000000"/>
                </a:solidFill>
                <a:latin typeface="Arial"/>
                <a:ea typeface="Arial"/>
                <a:cs typeface="Arial"/>
                <a:sym typeface="Arial"/>
              </a:rPr>
              <a:t>Top Talkers widget </a:t>
            </a:r>
            <a:r>
              <a:rPr lang="en-US" sz="700" dirty="0">
                <a:solidFill>
                  <a:srgbClr val="000000"/>
                </a:solidFill>
                <a:latin typeface="Arial"/>
                <a:ea typeface="Arial"/>
                <a:cs typeface="Arial"/>
                <a:sym typeface="Arial"/>
              </a:rPr>
              <a:t>can help find busiest entities within the VCF deployment like VMs and containers within an application or k8s cluster, busiest traffic by flow volume, traffic rate, session count, flows count in your environment. Similarly, you get insight into abnormal flows, outliers in addition to metrics and logs.</a:t>
            </a:r>
            <a:endParaRPr sz="700" dirty="0">
              <a:solidFill>
                <a:srgbClr val="181818"/>
              </a:solidFill>
              <a:latin typeface="Quattrocento Sans"/>
              <a:ea typeface="Quattrocento Sans"/>
              <a:cs typeface="Quattrocento Sans"/>
              <a:sym typeface="Quattrocento Sans"/>
            </a:endParaRPr>
          </a:p>
          <a:p>
            <a:pPr marL="0" lvl="0" indent="0" algn="l" rtl="0">
              <a:lnSpc>
                <a:spcPct val="80000"/>
              </a:lnSpc>
              <a:spcBef>
                <a:spcPts val="0"/>
              </a:spcBef>
              <a:spcAft>
                <a:spcPts val="0"/>
              </a:spcAft>
              <a:buClr>
                <a:schemeClr val="dk1"/>
              </a:buClr>
              <a:buSzPts val="200"/>
              <a:buFont typeface="Arial"/>
              <a:buNone/>
            </a:pPr>
            <a:endParaRPr sz="700" dirty="0">
              <a:solidFill>
                <a:srgbClr val="181818"/>
              </a:solidFill>
              <a:latin typeface="Quattrocento Sans"/>
              <a:ea typeface="Quattrocento Sans"/>
              <a:cs typeface="Quattrocento Sans"/>
              <a:sym typeface="Quattrocento Sans"/>
            </a:endParaRPr>
          </a:p>
          <a:p>
            <a:pPr marL="0" marR="0" lvl="0" indent="0" algn="l" rtl="0">
              <a:lnSpc>
                <a:spcPct val="80000"/>
              </a:lnSpc>
              <a:spcBef>
                <a:spcPts val="0"/>
              </a:spcBef>
              <a:spcAft>
                <a:spcPts val="0"/>
              </a:spcAft>
              <a:buClr>
                <a:schemeClr val="dk1"/>
              </a:buClr>
              <a:buSzPts val="200"/>
              <a:buFont typeface="Arial"/>
              <a:buNone/>
            </a:pPr>
            <a:r>
              <a:rPr lang="en-US" sz="700" dirty="0">
                <a:solidFill>
                  <a:srgbClr val="181818"/>
                </a:solidFill>
                <a:latin typeface="Quattrocento Sans"/>
                <a:ea typeface="Quattrocento Sans"/>
                <a:cs typeface="Quattrocento Sans"/>
                <a:sym typeface="Quattrocento Sans"/>
              </a:rPr>
              <a:t>&lt;click&gt;</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181818"/>
              </a:buClr>
              <a:buSzPts val="200"/>
              <a:buFont typeface="Quattrocento Sans"/>
              <a:buNone/>
            </a:pPr>
            <a:r>
              <a:rPr lang="en-US" sz="700" dirty="0">
                <a:solidFill>
                  <a:srgbClr val="181818"/>
                </a:solidFill>
                <a:latin typeface="Quattrocento Sans"/>
                <a:ea typeface="Quattrocento Sans"/>
                <a:cs typeface="Quattrocento Sans"/>
                <a:sym typeface="Quattrocento Sans"/>
              </a:rPr>
              <a:t>The VM to VM Path analysis helps to plot the network hops or path a source entity takes to reach the destination entity over the network. </a:t>
            </a:r>
            <a:r>
              <a:rPr lang="en-US" sz="700" dirty="0">
                <a:solidFill>
                  <a:srgbClr val="000000"/>
                </a:solidFill>
                <a:latin typeface="Arial"/>
                <a:ea typeface="Arial"/>
                <a:cs typeface="Arial"/>
                <a:sym typeface="Arial"/>
              </a:rPr>
              <a:t>We can find out how a VM or container is communicating to say a DB instance on a virtual machine and hops involved like Logical port -&gt; Logical switch -&gt; Physical switch device to reach out to internet. </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000000"/>
              </a:buClr>
              <a:buSzPts val="200"/>
              <a:buFont typeface="Arial"/>
              <a:buNone/>
            </a:pPr>
            <a:r>
              <a:rPr lang="en-US" sz="700" dirty="0">
                <a:solidFill>
                  <a:srgbClr val="000000"/>
                </a:solidFill>
                <a:latin typeface="Arial"/>
                <a:ea typeface="Arial"/>
                <a:cs typeface="Arial"/>
                <a:sym typeface="Arial"/>
              </a:rPr>
              <a:t> </a:t>
            </a:r>
            <a:endParaRPr sz="700" dirty="0">
              <a:latin typeface="Times New Roman"/>
              <a:ea typeface="Times New Roman"/>
              <a:cs typeface="Times New Roman"/>
              <a:sym typeface="Times New Roman"/>
            </a:endParaRPr>
          </a:p>
          <a:p>
            <a:pPr marL="0" lvl="0" indent="0" algn="l" rtl="0">
              <a:lnSpc>
                <a:spcPct val="80000"/>
              </a:lnSpc>
              <a:spcBef>
                <a:spcPts val="0"/>
              </a:spcBef>
              <a:spcAft>
                <a:spcPts val="0"/>
              </a:spcAft>
              <a:buClr>
                <a:srgbClr val="000000"/>
              </a:buClr>
              <a:buSzPts val="200"/>
              <a:buFont typeface="Arial"/>
              <a:buNone/>
            </a:pPr>
            <a:r>
              <a:rPr lang="en-US" sz="700" dirty="0">
                <a:solidFill>
                  <a:srgbClr val="000000"/>
                </a:solidFill>
                <a:latin typeface="Arial"/>
                <a:ea typeface="Arial"/>
                <a:cs typeface="Arial"/>
                <a:sym typeface="Arial"/>
              </a:rPr>
              <a:t>VCF Operations extends visibility to your NSX networks and physical networks </a:t>
            </a:r>
            <a:r>
              <a:rPr lang="en-US" sz="700" b="0" u="sng" dirty="0">
                <a:solidFill>
                  <a:srgbClr val="FF0000"/>
                </a:solidFill>
                <a:latin typeface="Arial"/>
                <a:ea typeface="Arial"/>
                <a:cs typeface="Arial"/>
                <a:sym typeface="Arial"/>
              </a:rPr>
              <a:t>tying that picture ALL TOGETHER </a:t>
            </a:r>
            <a:r>
              <a:rPr lang="en-US" sz="700" dirty="0">
                <a:solidFill>
                  <a:srgbClr val="FF0000"/>
                </a:solidFill>
                <a:latin typeface="Arial"/>
                <a:ea typeface="Arial"/>
                <a:cs typeface="Arial"/>
                <a:sym typeface="Arial"/>
              </a:rPr>
              <a:t>so that you have single Pane of Glass view able to monitor network operations within your VCF infrastructure.</a:t>
            </a:r>
            <a:endParaRPr sz="700" dirty="0">
              <a:solidFill>
                <a:srgbClr val="181818"/>
              </a:solidFill>
              <a:latin typeface="Quattrocento Sans"/>
              <a:ea typeface="Quattrocento Sans"/>
              <a:cs typeface="Quattrocento Sans"/>
              <a:sym typeface="Quattrocento Sans"/>
            </a:endParaRPr>
          </a:p>
          <a:p>
            <a:pPr marL="0" lvl="0" indent="0" algn="l" rtl="0">
              <a:lnSpc>
                <a:spcPct val="80000"/>
              </a:lnSpc>
              <a:spcBef>
                <a:spcPts val="0"/>
              </a:spcBef>
              <a:spcAft>
                <a:spcPts val="0"/>
              </a:spcAft>
              <a:buClr>
                <a:schemeClr val="dk1"/>
              </a:buClr>
              <a:buSzPts val="200"/>
              <a:buFont typeface="Arial"/>
              <a:buNone/>
            </a:pPr>
            <a:endParaRPr sz="700" dirty="0">
              <a:solidFill>
                <a:srgbClr val="181818"/>
              </a:solidFill>
              <a:latin typeface="Quattrocento Sans"/>
              <a:ea typeface="Quattrocento Sans"/>
              <a:cs typeface="Quattrocento Sans"/>
              <a:sym typeface="Quattrocento Sans"/>
            </a:endParaRPr>
          </a:p>
          <a:p>
            <a:pPr marL="0" marR="0" lvl="0" indent="0" algn="l" rtl="0">
              <a:lnSpc>
                <a:spcPct val="80000"/>
              </a:lnSpc>
              <a:spcBef>
                <a:spcPts val="0"/>
              </a:spcBef>
              <a:spcAft>
                <a:spcPts val="0"/>
              </a:spcAft>
              <a:buClr>
                <a:schemeClr val="dk1"/>
              </a:buClr>
              <a:buSzPts val="200"/>
              <a:buFont typeface="Arial"/>
              <a:buNone/>
            </a:pPr>
            <a:r>
              <a:rPr lang="en-US" sz="700" dirty="0">
                <a:solidFill>
                  <a:srgbClr val="181818"/>
                </a:solidFill>
                <a:latin typeface="Quattrocento Sans"/>
                <a:ea typeface="Quattrocento Sans"/>
                <a:cs typeface="Quattrocento Sans"/>
                <a:sym typeface="Quattrocento Sans"/>
              </a:rPr>
              <a:t>&lt;click&gt;</a:t>
            </a:r>
            <a:endParaRPr sz="700" dirty="0">
              <a:solidFill>
                <a:srgbClr val="181818"/>
              </a:solidFill>
              <a:latin typeface="Quattrocento Sans"/>
              <a:ea typeface="Quattrocento Sans"/>
              <a:cs typeface="Quattrocento Sans"/>
              <a:sym typeface="Quattrocento Sans"/>
            </a:endParaRPr>
          </a:p>
          <a:p>
            <a:pPr marL="0" lvl="0" indent="0" algn="l" rtl="0">
              <a:lnSpc>
                <a:spcPct val="80000"/>
              </a:lnSpc>
              <a:spcBef>
                <a:spcPts val="1500"/>
              </a:spcBef>
              <a:spcAft>
                <a:spcPts val="0"/>
              </a:spcAft>
              <a:buClr>
                <a:srgbClr val="000000"/>
              </a:buClr>
              <a:buSzPts val="200"/>
              <a:buFont typeface="Arial"/>
              <a:buNone/>
            </a:pPr>
            <a:r>
              <a:rPr lang="en-US" sz="700" dirty="0">
                <a:solidFill>
                  <a:srgbClr val="000000"/>
                </a:solidFill>
                <a:latin typeface="Arial"/>
                <a:ea typeface="Arial"/>
                <a:cs typeface="Arial"/>
                <a:sym typeface="Arial"/>
              </a:rPr>
              <a:t>So, with VCF Operations 9.0, you can now discover applications using the Flow based application discovery (FBAD) which internally uses Machine Learning algorithm to identify network traffic patterns and group the VMs together.</a:t>
            </a:r>
            <a:endParaRPr sz="700" dirty="0">
              <a:latin typeface="Times New Roman"/>
              <a:ea typeface="Times New Roman"/>
              <a:cs typeface="Times New Roman"/>
              <a:sym typeface="Times New Roman"/>
            </a:endParaRPr>
          </a:p>
          <a:p>
            <a:pPr marL="0" lvl="0" indent="0" algn="l" rtl="0">
              <a:lnSpc>
                <a:spcPct val="80000"/>
              </a:lnSpc>
              <a:spcBef>
                <a:spcPts val="1500"/>
              </a:spcBef>
              <a:spcAft>
                <a:spcPts val="0"/>
              </a:spcAft>
              <a:buClr>
                <a:srgbClr val="000000"/>
              </a:buClr>
              <a:buSzPts val="200"/>
              <a:buFont typeface="Arial"/>
              <a:buNone/>
            </a:pPr>
            <a:r>
              <a:rPr lang="en-US" sz="700" dirty="0">
                <a:solidFill>
                  <a:srgbClr val="000000"/>
                </a:solidFill>
                <a:latin typeface="Arial"/>
                <a:ea typeface="Arial"/>
                <a:cs typeface="Arial"/>
                <a:sym typeface="Arial"/>
              </a:rPr>
              <a:t>Using the network traffic flows from either the vSphere Distributed Switch(</a:t>
            </a:r>
            <a:r>
              <a:rPr lang="en-US" sz="700" dirty="0" err="1">
                <a:solidFill>
                  <a:srgbClr val="000000"/>
                </a:solidFill>
                <a:latin typeface="Arial"/>
                <a:ea typeface="Arial"/>
                <a:cs typeface="Arial"/>
                <a:sym typeface="Arial"/>
              </a:rPr>
              <a:t>vDS</a:t>
            </a:r>
            <a:r>
              <a:rPr lang="en-US" sz="700" dirty="0">
                <a:solidFill>
                  <a:srgbClr val="000000"/>
                </a:solidFill>
                <a:latin typeface="Arial"/>
                <a:ea typeface="Arial"/>
                <a:cs typeface="Arial"/>
                <a:sym typeface="Arial"/>
              </a:rPr>
              <a:t>) or NSX, this method uses Machine Learning techniques to discover application boundaries and tiers and helps in defining application portfolio. It also helps in keeping applications up to date with new changes by automatically detecting new flow patterns and topology changes.</a:t>
            </a:r>
            <a:endParaRPr dirty="0"/>
          </a:p>
          <a:p>
            <a:pPr marL="0" lvl="0" indent="0" algn="l" rtl="0">
              <a:lnSpc>
                <a:spcPct val="80000"/>
              </a:lnSpc>
              <a:spcBef>
                <a:spcPts val="1500"/>
              </a:spcBef>
              <a:spcAft>
                <a:spcPts val="0"/>
              </a:spcAft>
              <a:buClr>
                <a:srgbClr val="000000"/>
              </a:buClr>
              <a:buSzPts val="200"/>
              <a:buFont typeface="Arial"/>
              <a:buNone/>
            </a:pPr>
            <a:endParaRPr sz="7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r>
              <a:rPr lang="en-US" sz="800" b="1" u="none" strike="noStrike" dirty="0">
                <a:solidFill>
                  <a:schemeClr val="dk1"/>
                </a:solidFill>
              </a:rPr>
              <a:t>Notes:</a:t>
            </a:r>
            <a:br>
              <a:rPr lang="en-US" sz="800" u="none" strike="noStrike" dirty="0">
                <a:solidFill>
                  <a:schemeClr val="dk1"/>
                </a:solidFill>
              </a:rPr>
            </a:br>
            <a:r>
              <a:rPr lang="en-US" sz="800" u="none" strike="noStrike" dirty="0">
                <a:solidFill>
                  <a:schemeClr val="dk1"/>
                </a:solidFill>
              </a:rPr>
              <a:t>x</a:t>
            </a:r>
            <a:endParaRPr dirty="0"/>
          </a:p>
          <a:p>
            <a:pPr marL="0" marR="0" lvl="0" indent="0" algn="l" rtl="0">
              <a:lnSpc>
                <a:spcPct val="100000"/>
              </a:lnSpc>
              <a:spcBef>
                <a:spcPts val="0"/>
              </a:spcBef>
              <a:spcAft>
                <a:spcPts val="0"/>
              </a:spcAft>
              <a:buClr>
                <a:schemeClr val="dk1"/>
              </a:buClr>
              <a:buSzPts val="800"/>
              <a:buFont typeface="Arial"/>
              <a:buNone/>
            </a:pPr>
            <a:endParaRPr sz="800" u="none" strike="noStrike" dirty="0">
              <a:solidFill>
                <a:schemeClr val="dk1"/>
              </a:solidFill>
            </a:endParaRPr>
          </a:p>
          <a:p>
            <a:pPr marL="0" lvl="0" indent="0" algn="l" rtl="0">
              <a:spcBef>
                <a:spcPts val="0"/>
              </a:spcBef>
              <a:spcAft>
                <a:spcPts val="0"/>
              </a:spcAft>
              <a:buNone/>
            </a:pPr>
            <a:r>
              <a:rPr lang="en-US" sz="800" b="1" u="none" strike="noStrike" dirty="0">
                <a:solidFill>
                  <a:schemeClr val="dk1"/>
                </a:solidFill>
              </a:rPr>
              <a:t>Resources:</a:t>
            </a:r>
            <a:br>
              <a:rPr lang="en-US" sz="800" b="1" u="none" strike="noStrike" dirty="0">
                <a:solidFill>
                  <a:schemeClr val="dk1"/>
                </a:solidFill>
              </a:rPr>
            </a:br>
            <a:r>
              <a:rPr lang="en-US" sz="800" b="0" u="none" strike="noStrike" dirty="0">
                <a:solidFill>
                  <a:schemeClr val="dk1"/>
                </a:solidFill>
              </a:rPr>
              <a:t>x</a:t>
            </a:r>
            <a:endParaRPr sz="800" dirty="0">
              <a:solidFill>
                <a:srgbClr val="DCA10D"/>
              </a:solidFill>
              <a:latin typeface="Helvetica Neue"/>
              <a:ea typeface="Helvetica Neue"/>
              <a:cs typeface="Helvetica Neue"/>
              <a:sym typeface="Helvetica Neue"/>
            </a:endParaRPr>
          </a:p>
          <a:p>
            <a:pPr marL="0" lvl="0" indent="0" algn="l" rtl="0">
              <a:lnSpc>
                <a:spcPct val="80000"/>
              </a:lnSpc>
              <a:spcBef>
                <a:spcPts val="1500"/>
              </a:spcBef>
              <a:spcAft>
                <a:spcPts val="0"/>
              </a:spcAft>
              <a:buClr>
                <a:srgbClr val="000000"/>
              </a:buClr>
              <a:buSzPts val="200"/>
              <a:buFont typeface="Arial"/>
              <a:buNone/>
            </a:pPr>
            <a:endParaRPr sz="700" dirty="0">
              <a:latin typeface="Times New Roman"/>
              <a:ea typeface="Times New Roman"/>
              <a:cs typeface="Times New Roman"/>
              <a:sym typeface="Times New Roman"/>
            </a:endParaRPr>
          </a:p>
          <a:p>
            <a:pPr marL="0" lvl="0" indent="0" algn="l" rtl="0">
              <a:spcBef>
                <a:spcPts val="0"/>
              </a:spcBef>
              <a:spcAft>
                <a:spcPts val="0"/>
              </a:spcAft>
              <a:buNone/>
            </a:pPr>
            <a:endParaRPr dirty="0"/>
          </a:p>
        </p:txBody>
      </p:sp>
      <p:sp>
        <p:nvSpPr>
          <p:cNvPr id="6775" name="Google Shape;6775;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7"/>
        <p:cNvGrpSpPr/>
        <p:nvPr/>
      </p:nvGrpSpPr>
      <p:grpSpPr>
        <a:xfrm>
          <a:off x="0" y="0"/>
          <a:ext cx="0" cy="0"/>
          <a:chOff x="0" y="0"/>
          <a:chExt cx="0" cy="0"/>
        </a:xfrm>
      </p:grpSpPr>
      <p:sp>
        <p:nvSpPr>
          <p:cNvPr id="6788" name="Google Shape;6788;p4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89" name="Google Shape;6789;p4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20000"/>
              </a:lnSpc>
              <a:spcBef>
                <a:spcPts val="0"/>
              </a:spcBef>
              <a:spcAft>
                <a:spcPts val="0"/>
              </a:spcAft>
              <a:buClr>
                <a:schemeClr val="dk1"/>
              </a:buClr>
              <a:buSzPts val="713"/>
              <a:buFont typeface="Arial"/>
              <a:buNone/>
            </a:pPr>
            <a:r>
              <a:rPr lang="en-US" sz="320" b="1">
                <a:latin typeface="Arial"/>
                <a:ea typeface="Arial"/>
                <a:cs typeface="Arial"/>
                <a:sym typeface="Arial"/>
              </a:rPr>
              <a:t>Presenter Note:  This slide contains animation</a:t>
            </a:r>
            <a:endParaRPr/>
          </a:p>
          <a:p>
            <a:pPr marL="0" lvl="0" indent="0" algn="l" rtl="0">
              <a:lnSpc>
                <a:spcPct val="20000"/>
              </a:lnSpc>
              <a:spcBef>
                <a:spcPts val="0"/>
              </a:spcBef>
              <a:spcAft>
                <a:spcPts val="0"/>
              </a:spcAft>
              <a:buClr>
                <a:schemeClr val="dk1"/>
              </a:buClr>
              <a:buSzPts val="713"/>
              <a:buFont typeface="Arial"/>
              <a:buNone/>
            </a:pPr>
            <a:endParaRPr sz="320" b="1">
              <a:latin typeface="Arial"/>
              <a:ea typeface="Arial"/>
              <a:cs typeface="Arial"/>
              <a:sym typeface="Arial"/>
            </a:endParaRPr>
          </a:p>
          <a:p>
            <a:pPr marL="0" lvl="0" indent="0" algn="l" rtl="0">
              <a:lnSpc>
                <a:spcPct val="20000"/>
              </a:lnSpc>
              <a:spcBef>
                <a:spcPts val="0"/>
              </a:spcBef>
              <a:spcAft>
                <a:spcPts val="0"/>
              </a:spcAft>
              <a:buClr>
                <a:schemeClr val="dk1"/>
              </a:buClr>
              <a:buSzPts val="713"/>
              <a:buFont typeface="Arial"/>
              <a:buNone/>
            </a:pPr>
            <a:r>
              <a:rPr lang="en-US" sz="320" b="1">
                <a:latin typeface="Arial"/>
                <a:ea typeface="Arial"/>
                <a:cs typeface="Arial"/>
                <a:sym typeface="Arial"/>
              </a:rPr>
              <a:t>Key Message:</a:t>
            </a:r>
            <a:endParaRPr sz="480"/>
          </a:p>
          <a:p>
            <a:pPr marL="0" lvl="0" indent="0" algn="l" rtl="0">
              <a:lnSpc>
                <a:spcPct val="20000"/>
              </a:lnSpc>
              <a:spcBef>
                <a:spcPts val="0"/>
              </a:spcBef>
              <a:spcAft>
                <a:spcPts val="0"/>
              </a:spcAft>
              <a:buClr>
                <a:schemeClr val="dk1"/>
              </a:buClr>
              <a:buSzPts val="713"/>
              <a:buFont typeface="Arial"/>
              <a:buNone/>
            </a:pPr>
            <a:r>
              <a:rPr lang="en-US" sz="320">
                <a:latin typeface="Arial"/>
                <a:ea typeface="Arial"/>
                <a:cs typeface="Arial"/>
                <a:sym typeface="Arial"/>
              </a:rPr>
              <a:t>VCF Operations 9.0 provides a single pane of glass view for Storage Operations to improve Performance and reduce storage related downtimes</a:t>
            </a:r>
            <a:endParaRPr sz="480" b="1"/>
          </a:p>
          <a:p>
            <a:pPr marL="0" lvl="0" indent="0" algn="l" rtl="0">
              <a:lnSpc>
                <a:spcPct val="80000"/>
              </a:lnSpc>
              <a:spcBef>
                <a:spcPts val="0"/>
              </a:spcBef>
              <a:spcAft>
                <a:spcPts val="0"/>
              </a:spcAft>
              <a:buNone/>
            </a:pPr>
            <a:endParaRPr sz="480" b="1"/>
          </a:p>
          <a:p>
            <a:pPr marL="0" lvl="0" indent="0" algn="l" rtl="0">
              <a:lnSpc>
                <a:spcPct val="80000"/>
              </a:lnSpc>
              <a:spcBef>
                <a:spcPts val="0"/>
              </a:spcBef>
              <a:spcAft>
                <a:spcPts val="0"/>
              </a:spcAft>
              <a:buNone/>
            </a:pPr>
            <a:r>
              <a:rPr lang="en-US" sz="480" b="1"/>
              <a:t>Talk track:</a:t>
            </a:r>
            <a:endParaRPr/>
          </a:p>
          <a:p>
            <a:pPr marL="0" lvl="0" indent="0" algn="l" rtl="0">
              <a:lnSpc>
                <a:spcPct val="80000"/>
              </a:lnSpc>
              <a:spcBef>
                <a:spcPts val="0"/>
              </a:spcBef>
              <a:spcAft>
                <a:spcPts val="0"/>
              </a:spcAft>
              <a:buNone/>
            </a:pPr>
            <a:r>
              <a:rPr lang="en-US" sz="480" b="0"/>
              <a:t>Global visibility and insight for storage has been improved in VMware Cloud Foundation 9.0.  </a:t>
            </a:r>
            <a:r>
              <a:rPr lang="en-US" sz="480" b="1"/>
              <a:t>Three new dashboards are available to help take some of the mystery out of storage administration within your VCF deployment.  </a:t>
            </a:r>
            <a:r>
              <a:rPr lang="en-US" sz="480" b="0"/>
              <a:t>A storage operations overview will be your go-to dashboard for at-a-glance viewing of your storage environment.  A vSAN performance page will allow you to easily summarize the performance condition of a selected cluster.  While the vSAN performance diagnostics page will let you easily test new clusters entering production, or existing cluster already in production to understand their health and performance readiness.</a:t>
            </a:r>
            <a:endParaRPr sz="480" b="1"/>
          </a:p>
          <a:p>
            <a:pPr marL="0" lvl="0" indent="0" algn="l" rtl="0">
              <a:lnSpc>
                <a:spcPct val="80000"/>
              </a:lnSpc>
              <a:spcBef>
                <a:spcPts val="0"/>
              </a:spcBef>
              <a:spcAft>
                <a:spcPts val="0"/>
              </a:spcAft>
              <a:buNone/>
            </a:pPr>
            <a:r>
              <a:rPr lang="en-US" sz="480"/>
              <a:t>----------------------------------</a:t>
            </a:r>
            <a:endParaRPr/>
          </a:p>
          <a:p>
            <a:pPr marL="0" lvl="0" indent="0" algn="l" rtl="0">
              <a:lnSpc>
                <a:spcPct val="80000"/>
              </a:lnSpc>
              <a:spcBef>
                <a:spcPts val="0"/>
              </a:spcBef>
              <a:spcAft>
                <a:spcPts val="0"/>
              </a:spcAft>
              <a:buNone/>
            </a:pPr>
            <a:r>
              <a:rPr lang="en-US" sz="480" b="1"/>
              <a:t>Overview:</a:t>
            </a:r>
            <a:endParaRPr/>
          </a:p>
          <a:p>
            <a:pPr marL="171450" lvl="0" indent="-171450" algn="l" rtl="0">
              <a:lnSpc>
                <a:spcPct val="80000"/>
              </a:lnSpc>
              <a:spcBef>
                <a:spcPts val="0"/>
              </a:spcBef>
              <a:spcAft>
                <a:spcPts val="0"/>
              </a:spcAft>
              <a:buClr>
                <a:schemeClr val="dk1"/>
              </a:buClr>
              <a:buSzPts val="480"/>
              <a:buFont typeface="Arial"/>
              <a:buChar char="•"/>
            </a:pPr>
            <a:r>
              <a:rPr lang="en-US" sz="480"/>
              <a:t>All new dashboards to </a:t>
            </a:r>
            <a:r>
              <a:rPr lang="en-US" sz="480">
                <a:solidFill>
                  <a:schemeClr val="dk1"/>
                </a:solidFill>
                <a:latin typeface="Arial"/>
                <a:ea typeface="Arial"/>
                <a:cs typeface="Arial"/>
                <a:sym typeface="Arial"/>
              </a:rPr>
              <a:t>monitor storage </a:t>
            </a:r>
            <a:r>
              <a:rPr lang="en-US" sz="480"/>
              <a:t>powering VMware Cloud Foundation</a:t>
            </a:r>
            <a:endParaRPr/>
          </a:p>
          <a:p>
            <a:pPr marL="628650" lvl="1" indent="-171450" algn="l" rtl="0">
              <a:lnSpc>
                <a:spcPct val="80000"/>
              </a:lnSpc>
              <a:spcBef>
                <a:spcPts val="0"/>
              </a:spcBef>
              <a:spcAft>
                <a:spcPts val="0"/>
              </a:spcAft>
              <a:buClr>
                <a:schemeClr val="dk1"/>
              </a:buClr>
              <a:buSzPts val="480"/>
              <a:buFont typeface="Arial"/>
              <a:buChar char="•"/>
            </a:pPr>
            <a:r>
              <a:rPr lang="en-US" sz="480"/>
              <a:t>Storage Operations Overview</a:t>
            </a:r>
            <a:endParaRPr/>
          </a:p>
          <a:p>
            <a:pPr marL="628650" lvl="1" indent="-171450" algn="l" rtl="0">
              <a:lnSpc>
                <a:spcPct val="80000"/>
              </a:lnSpc>
              <a:spcBef>
                <a:spcPts val="0"/>
              </a:spcBef>
              <a:spcAft>
                <a:spcPts val="0"/>
              </a:spcAft>
              <a:buClr>
                <a:schemeClr val="dk1"/>
              </a:buClr>
              <a:buSzPts val="480"/>
              <a:buFont typeface="Arial"/>
              <a:buChar char="•"/>
            </a:pPr>
            <a:r>
              <a:rPr lang="en-US" sz="480"/>
              <a:t>vSAN Performance</a:t>
            </a:r>
            <a:endParaRPr/>
          </a:p>
          <a:p>
            <a:pPr marL="628650" lvl="1" indent="-171450" algn="l" rtl="0">
              <a:lnSpc>
                <a:spcPct val="80000"/>
              </a:lnSpc>
              <a:spcBef>
                <a:spcPts val="0"/>
              </a:spcBef>
              <a:spcAft>
                <a:spcPts val="0"/>
              </a:spcAft>
              <a:buClr>
                <a:schemeClr val="dk1"/>
              </a:buClr>
              <a:buSzPts val="480"/>
              <a:buFont typeface="Arial"/>
              <a:buChar char="•"/>
            </a:pPr>
            <a:r>
              <a:rPr lang="en-US" sz="480"/>
              <a:t>vSAN Performance Diagnostics</a:t>
            </a:r>
            <a:endParaRPr/>
          </a:p>
          <a:p>
            <a:pPr marL="171450" lvl="0" indent="-171450" algn="l" rtl="0">
              <a:lnSpc>
                <a:spcPct val="80000"/>
              </a:lnSpc>
              <a:spcBef>
                <a:spcPts val="0"/>
              </a:spcBef>
              <a:spcAft>
                <a:spcPts val="0"/>
              </a:spcAft>
              <a:buClr>
                <a:schemeClr val="dk1"/>
              </a:buClr>
              <a:buSzPts val="480"/>
              <a:buFont typeface="Arial"/>
              <a:buChar char="•"/>
            </a:pPr>
            <a:r>
              <a:rPr lang="en-US" sz="480">
                <a:solidFill>
                  <a:schemeClr val="dk1"/>
                </a:solidFill>
                <a:latin typeface="Arial"/>
                <a:ea typeface="Arial"/>
                <a:cs typeface="Arial"/>
                <a:sym typeface="Arial"/>
              </a:rPr>
              <a:t>Holistic views </a:t>
            </a:r>
            <a:r>
              <a:rPr lang="en-US" sz="480"/>
              <a:t>provide at-a-glance conditions </a:t>
            </a:r>
            <a:r>
              <a:rPr lang="en-US" sz="480">
                <a:solidFill>
                  <a:schemeClr val="dk1"/>
                </a:solidFill>
                <a:latin typeface="Arial"/>
                <a:ea typeface="Arial"/>
                <a:cs typeface="Arial"/>
                <a:sym typeface="Arial"/>
              </a:rPr>
              <a:t>across multiple clusters</a:t>
            </a:r>
            <a:endParaRPr/>
          </a:p>
          <a:p>
            <a:pPr marL="171450" lvl="0" indent="-171450" algn="l" rtl="0">
              <a:lnSpc>
                <a:spcPct val="80000"/>
              </a:lnSpc>
              <a:spcBef>
                <a:spcPts val="0"/>
              </a:spcBef>
              <a:spcAft>
                <a:spcPts val="0"/>
              </a:spcAft>
              <a:buClr>
                <a:schemeClr val="dk1"/>
              </a:buClr>
              <a:buSzPts val="480"/>
              <a:buFont typeface="Arial"/>
              <a:buChar char="•"/>
            </a:pPr>
            <a:r>
              <a:rPr lang="en-US" sz="480">
                <a:solidFill>
                  <a:schemeClr val="dk1"/>
                </a:solidFill>
                <a:latin typeface="Arial"/>
                <a:ea typeface="Arial"/>
                <a:cs typeface="Arial"/>
                <a:sym typeface="Arial"/>
              </a:rPr>
              <a:t>Key metrics </a:t>
            </a:r>
            <a:r>
              <a:rPr lang="en-US" sz="480"/>
              <a:t>and </a:t>
            </a:r>
            <a:r>
              <a:rPr lang="en-US" sz="480">
                <a:solidFill>
                  <a:schemeClr val="dk1"/>
                </a:solidFill>
                <a:latin typeface="Arial"/>
                <a:ea typeface="Arial"/>
                <a:cs typeface="Arial"/>
                <a:sym typeface="Arial"/>
              </a:rPr>
              <a:t>health information </a:t>
            </a:r>
            <a:r>
              <a:rPr lang="en-US" sz="480"/>
              <a:t>retrieved from vSAN APIs</a:t>
            </a:r>
            <a:endParaRPr/>
          </a:p>
          <a:p>
            <a:pPr marL="0" lvl="0" indent="0" algn="l" rtl="0">
              <a:lnSpc>
                <a:spcPct val="80000"/>
              </a:lnSpc>
              <a:spcBef>
                <a:spcPts val="1779"/>
              </a:spcBef>
              <a:spcAft>
                <a:spcPts val="0"/>
              </a:spcAft>
              <a:buClr>
                <a:schemeClr val="dk1"/>
              </a:buClr>
              <a:buSzPts val="480"/>
              <a:buFont typeface="Arial"/>
              <a:buNone/>
            </a:pPr>
            <a:r>
              <a:rPr lang="en-US" sz="480"/>
              <a:t>----------------------------------</a:t>
            </a:r>
            <a:endParaRPr/>
          </a:p>
          <a:p>
            <a:pPr marL="0" lvl="0" indent="0" algn="l" rtl="0">
              <a:lnSpc>
                <a:spcPct val="80000"/>
              </a:lnSpc>
              <a:spcBef>
                <a:spcPts val="0"/>
              </a:spcBef>
              <a:spcAft>
                <a:spcPts val="0"/>
              </a:spcAft>
              <a:buNone/>
            </a:pPr>
            <a:r>
              <a:rPr lang="en-US" sz="480" b="1"/>
              <a:t>Details:</a:t>
            </a:r>
            <a:endParaRPr/>
          </a:p>
          <a:p>
            <a:pPr marL="171450" lvl="0" indent="-171450" algn="l" rtl="0">
              <a:lnSpc>
                <a:spcPct val="80000"/>
              </a:lnSpc>
              <a:spcBef>
                <a:spcPts val="0"/>
              </a:spcBef>
              <a:spcAft>
                <a:spcPts val="0"/>
              </a:spcAft>
              <a:buClr>
                <a:schemeClr val="dk1"/>
              </a:buClr>
              <a:buSzPts val="480"/>
              <a:buFont typeface="Arial"/>
              <a:buChar char="•"/>
            </a:pPr>
            <a:r>
              <a:rPr lang="en-US" sz="480" b="0"/>
              <a:t>vSAN has always provided a wealth of heath and performance information in vCenter Server.  The level of detail paired with our unique ability to understand the storage path from end-to-end means that vCenter Server can provide storage related insight not possible with other solutions.  Unfortunately, vCenter Server is unable to show meaningful metrics beyond the cluster level.  It is an even greater challenge with more than one vCenter Server in the mix.  For VCF installations that are comprised of many vSAN and vSphere clusters, this can make it challenging for administrators to get a simple at-a-glance view of their entire data center.  </a:t>
            </a:r>
            <a:endParaRPr/>
          </a:p>
          <a:p>
            <a:pPr marL="171450" lvl="0" indent="-171450" algn="l" rtl="0">
              <a:lnSpc>
                <a:spcPct val="80000"/>
              </a:lnSpc>
              <a:spcBef>
                <a:spcPts val="0"/>
              </a:spcBef>
              <a:spcAft>
                <a:spcPts val="0"/>
              </a:spcAft>
              <a:buClr>
                <a:schemeClr val="dk1"/>
              </a:buClr>
              <a:buSzPts val="480"/>
              <a:buFont typeface="Arial"/>
              <a:buChar char="•"/>
            </a:pPr>
            <a:r>
              <a:rPr lang="en-US" sz="480" b="0"/>
              <a:t>VCF Operations in VCF 9 addresses this challenge.  VCF Ops now provides three new dashboards that aim to provide the most important storage-related information easily, and quickly across your VCF instance.   This helps provide a centralized location for improving the simplicity of day-to-day storage administration.</a:t>
            </a:r>
            <a:endParaRPr/>
          </a:p>
          <a:p>
            <a:pPr marL="171450" lvl="0" indent="-171450" algn="l" rtl="0">
              <a:lnSpc>
                <a:spcPct val="80000"/>
              </a:lnSpc>
              <a:spcBef>
                <a:spcPts val="0"/>
              </a:spcBef>
              <a:spcAft>
                <a:spcPts val="0"/>
              </a:spcAft>
              <a:buClr>
                <a:schemeClr val="dk1"/>
              </a:buClr>
              <a:buSzPts val="480"/>
              <a:buFont typeface="Arial"/>
              <a:buChar char="•"/>
            </a:pPr>
            <a:r>
              <a:rPr lang="en-US" sz="480" b="0"/>
              <a:t>There are three new storage dashboards included in VCF Operations</a:t>
            </a:r>
            <a:endParaRPr/>
          </a:p>
          <a:p>
            <a:pPr marL="628650" lvl="1" indent="-171450" algn="l" rtl="0">
              <a:lnSpc>
                <a:spcPct val="80000"/>
              </a:lnSpc>
              <a:spcBef>
                <a:spcPts val="0"/>
              </a:spcBef>
              <a:spcAft>
                <a:spcPts val="0"/>
              </a:spcAft>
              <a:buClr>
                <a:schemeClr val="dk1"/>
              </a:buClr>
              <a:buSzPts val="480"/>
              <a:buFont typeface="Arial"/>
              <a:buChar char="•"/>
            </a:pPr>
            <a:r>
              <a:rPr lang="en-US" sz="480" b="1"/>
              <a:t>Storage Operations Overview.  </a:t>
            </a:r>
            <a:r>
              <a:rPr lang="en-US" sz="480" b="0"/>
              <a:t>This provides the following information across multiple clusters, included in the following widgets:</a:t>
            </a:r>
            <a:endParaRPr/>
          </a:p>
          <a:p>
            <a:pPr marL="1085850" lvl="2" indent="-171450" algn="l" rtl="0">
              <a:lnSpc>
                <a:spcPct val="80000"/>
              </a:lnSpc>
              <a:spcBef>
                <a:spcPts val="0"/>
              </a:spcBef>
              <a:spcAft>
                <a:spcPts val="0"/>
              </a:spcAft>
              <a:buClr>
                <a:schemeClr val="dk1"/>
              </a:buClr>
              <a:buSzPts val="480"/>
              <a:buFont typeface="Arial"/>
              <a:buChar char="•"/>
            </a:pPr>
            <a:r>
              <a:rPr lang="en-US" sz="480" b="1"/>
              <a:t>Storage alert trends.  </a:t>
            </a:r>
            <a:r>
              <a:rPr lang="en-US" sz="480" b="0"/>
              <a:t>This shows the number of critical alerts and warnings in a stacked bar chart over a given time period</a:t>
            </a:r>
            <a:endParaRPr/>
          </a:p>
          <a:p>
            <a:pPr marL="1085850" lvl="2" indent="-171450" algn="l" rtl="0">
              <a:lnSpc>
                <a:spcPct val="80000"/>
              </a:lnSpc>
              <a:spcBef>
                <a:spcPts val="0"/>
              </a:spcBef>
              <a:spcAft>
                <a:spcPts val="0"/>
              </a:spcAft>
              <a:buClr>
                <a:schemeClr val="dk1"/>
              </a:buClr>
              <a:buSzPts val="480"/>
              <a:buFont typeface="Arial"/>
              <a:buChar char="•"/>
            </a:pPr>
            <a:r>
              <a:rPr lang="en-US" sz="480" b="0"/>
              <a:t>Usage and distribution.  This will show the total amount of used capacity against the total amount of free capacity in a bar chart.  It will denote the usage for vSAN clusters in a different bar chart than the other datastores used in the VCF instance.</a:t>
            </a:r>
            <a:endParaRPr/>
          </a:p>
          <a:p>
            <a:pPr marL="1085850" lvl="2" indent="-171450" algn="l" rtl="0">
              <a:lnSpc>
                <a:spcPct val="80000"/>
              </a:lnSpc>
              <a:spcBef>
                <a:spcPts val="0"/>
              </a:spcBef>
              <a:spcAft>
                <a:spcPts val="0"/>
              </a:spcAft>
              <a:buClr>
                <a:schemeClr val="dk1"/>
              </a:buClr>
              <a:buSzPts val="480"/>
              <a:buFont typeface="Arial"/>
              <a:buChar char="•"/>
            </a:pPr>
            <a:r>
              <a:rPr lang="en-US" sz="480" b="1"/>
              <a:t>vSAN Cluster Health Score.  </a:t>
            </a:r>
            <a:r>
              <a:rPr lang="en-US" sz="480" b="0"/>
              <a:t>This will show a bar chart of the number of clusters and their cluster health score, but will only list clusters running 8.0 or later.  It will be divided into three bars.  One representing the number of clusters with a cluster health score of 0-60 (attention required), another representing 60-80 (attention recommended), and another representing 80-100 (healthy).  This helps one easily determine the status of cluster health in a single location.</a:t>
            </a:r>
            <a:endParaRPr/>
          </a:p>
          <a:p>
            <a:pPr marL="1085850" lvl="2" indent="-171450" algn="l" rtl="0">
              <a:lnSpc>
                <a:spcPct val="80000"/>
              </a:lnSpc>
              <a:spcBef>
                <a:spcPts val="0"/>
              </a:spcBef>
              <a:spcAft>
                <a:spcPts val="0"/>
              </a:spcAft>
              <a:buClr>
                <a:schemeClr val="dk1"/>
              </a:buClr>
              <a:buSzPts val="480"/>
              <a:buFont typeface="Arial"/>
              <a:buChar char="•"/>
            </a:pPr>
            <a:r>
              <a:rPr lang="en-US" sz="480" b="1"/>
              <a:t>vSAN Cluster Types.  </a:t>
            </a:r>
            <a:r>
              <a:rPr lang="en-US" sz="480" b="0"/>
              <a:t>This will provide a pie/donut graph breaking down the cluster count of OSA clusters, ESA clusters, compute clusters, and storage clusters.</a:t>
            </a:r>
            <a:endParaRPr/>
          </a:p>
          <a:p>
            <a:pPr marL="1085850" lvl="2" indent="-171450" algn="l" rtl="0">
              <a:lnSpc>
                <a:spcPct val="80000"/>
              </a:lnSpc>
              <a:spcBef>
                <a:spcPts val="0"/>
              </a:spcBef>
              <a:spcAft>
                <a:spcPts val="0"/>
              </a:spcAft>
              <a:buClr>
                <a:schemeClr val="dk1"/>
              </a:buClr>
              <a:buSzPts val="480"/>
              <a:buFont typeface="Arial"/>
              <a:buChar char="•"/>
            </a:pPr>
            <a:r>
              <a:rPr lang="en-US" sz="480" b="1"/>
              <a:t>vSAN cluster performance.  </a:t>
            </a:r>
            <a:r>
              <a:rPr lang="en-US" sz="480" b="0"/>
              <a:t>This will show a scatter-plot of cluster performance that measures latency on the Y axis, and IOPS on the x-axis.  </a:t>
            </a:r>
            <a:endParaRPr/>
          </a:p>
          <a:p>
            <a:pPr marL="1085850" lvl="2" indent="-171450" algn="l" rtl="0">
              <a:lnSpc>
                <a:spcPct val="80000"/>
              </a:lnSpc>
              <a:spcBef>
                <a:spcPts val="0"/>
              </a:spcBef>
              <a:spcAft>
                <a:spcPts val="0"/>
              </a:spcAft>
              <a:buClr>
                <a:schemeClr val="dk1"/>
              </a:buClr>
              <a:buSzPts val="480"/>
              <a:buFont typeface="Arial"/>
              <a:buChar char="•"/>
            </a:pPr>
            <a:r>
              <a:rPr lang="en-US" sz="480" b="0"/>
              <a:t>vSAN cluster information.  This will show vSAN clusters in a tabular format that summarizes the information clearly, including items such as:</a:t>
            </a:r>
            <a:endParaRPr/>
          </a:p>
          <a:p>
            <a:pPr marL="1543050" lvl="3" indent="-171450" algn="l" rtl="0">
              <a:lnSpc>
                <a:spcPct val="80000"/>
              </a:lnSpc>
              <a:spcBef>
                <a:spcPts val="0"/>
              </a:spcBef>
              <a:spcAft>
                <a:spcPts val="0"/>
              </a:spcAft>
              <a:buClr>
                <a:schemeClr val="dk1"/>
              </a:buClr>
              <a:buSzPts val="480"/>
              <a:buFont typeface="Arial"/>
              <a:buChar char="•"/>
            </a:pPr>
            <a:r>
              <a:rPr lang="en-US" sz="480" b="0"/>
              <a:t>Cluster name</a:t>
            </a:r>
            <a:endParaRPr/>
          </a:p>
          <a:p>
            <a:pPr marL="1543050" lvl="3" indent="-171450" algn="l" rtl="0">
              <a:lnSpc>
                <a:spcPct val="80000"/>
              </a:lnSpc>
              <a:spcBef>
                <a:spcPts val="0"/>
              </a:spcBef>
              <a:spcAft>
                <a:spcPts val="0"/>
              </a:spcAft>
              <a:buClr>
                <a:schemeClr val="dk1"/>
              </a:buClr>
              <a:buSzPts val="480"/>
              <a:buFont typeface="Arial"/>
              <a:buChar char="•"/>
            </a:pPr>
            <a:r>
              <a:rPr lang="en-US" sz="480" b="0"/>
              <a:t>Associated vCenter Server</a:t>
            </a:r>
            <a:endParaRPr/>
          </a:p>
          <a:p>
            <a:pPr marL="1543050" lvl="3" indent="-171450" algn="l" rtl="0">
              <a:lnSpc>
                <a:spcPct val="80000"/>
              </a:lnSpc>
              <a:spcBef>
                <a:spcPts val="0"/>
              </a:spcBef>
              <a:spcAft>
                <a:spcPts val="0"/>
              </a:spcAft>
              <a:buClr>
                <a:schemeClr val="dk1"/>
              </a:buClr>
              <a:buSzPts val="480"/>
              <a:buFont typeface="Arial"/>
              <a:buChar char="•"/>
            </a:pPr>
            <a:r>
              <a:rPr lang="en-US" sz="480" b="0"/>
              <a:t>OSA vs ESA</a:t>
            </a:r>
            <a:endParaRPr/>
          </a:p>
          <a:p>
            <a:pPr marL="1543050" lvl="3" indent="-171450" algn="l" rtl="0">
              <a:lnSpc>
                <a:spcPct val="80000"/>
              </a:lnSpc>
              <a:spcBef>
                <a:spcPts val="0"/>
              </a:spcBef>
              <a:spcAft>
                <a:spcPts val="0"/>
              </a:spcAft>
              <a:buClr>
                <a:schemeClr val="dk1"/>
              </a:buClr>
              <a:buSzPts val="480"/>
              <a:buFont typeface="Arial"/>
              <a:buChar char="•"/>
            </a:pPr>
            <a:r>
              <a:rPr lang="en-US" sz="480" b="0"/>
              <a:t>Cluster health score</a:t>
            </a:r>
            <a:endParaRPr/>
          </a:p>
          <a:p>
            <a:pPr marL="1543050" lvl="3" indent="-171450" algn="l" rtl="0">
              <a:lnSpc>
                <a:spcPct val="80000"/>
              </a:lnSpc>
              <a:spcBef>
                <a:spcPts val="0"/>
              </a:spcBef>
              <a:spcAft>
                <a:spcPts val="0"/>
              </a:spcAft>
              <a:buClr>
                <a:schemeClr val="dk1"/>
              </a:buClr>
              <a:buSzPts val="480"/>
              <a:buFont typeface="Arial"/>
              <a:buChar char="•"/>
            </a:pPr>
            <a:r>
              <a:rPr lang="en-US" sz="480" b="0"/>
              <a:t>Number of hosts</a:t>
            </a:r>
            <a:endParaRPr/>
          </a:p>
          <a:p>
            <a:pPr marL="1543050" lvl="3" indent="-171450" algn="l" rtl="0">
              <a:lnSpc>
                <a:spcPct val="80000"/>
              </a:lnSpc>
              <a:spcBef>
                <a:spcPts val="0"/>
              </a:spcBef>
              <a:spcAft>
                <a:spcPts val="0"/>
              </a:spcAft>
              <a:buClr>
                <a:schemeClr val="dk1"/>
              </a:buClr>
              <a:buSzPts val="480"/>
              <a:buFont typeface="Arial"/>
              <a:buChar char="•"/>
            </a:pPr>
            <a:r>
              <a:rPr lang="en-US" sz="480" b="0"/>
              <a:t>Number of VMs</a:t>
            </a:r>
            <a:endParaRPr/>
          </a:p>
          <a:p>
            <a:pPr marL="1543050" lvl="3" indent="-171450" algn="l" rtl="0">
              <a:lnSpc>
                <a:spcPct val="80000"/>
              </a:lnSpc>
              <a:spcBef>
                <a:spcPts val="0"/>
              </a:spcBef>
              <a:spcAft>
                <a:spcPts val="0"/>
              </a:spcAft>
              <a:buClr>
                <a:schemeClr val="dk1"/>
              </a:buClr>
              <a:buSzPts val="480"/>
              <a:buFont typeface="Arial"/>
              <a:buChar char="•"/>
            </a:pPr>
            <a:r>
              <a:rPr lang="en-US" sz="480" b="0"/>
              <a:t>Capacity usage</a:t>
            </a:r>
            <a:endParaRPr/>
          </a:p>
          <a:p>
            <a:pPr marL="1543050" lvl="3" indent="-171450" algn="l" rtl="0">
              <a:lnSpc>
                <a:spcPct val="80000"/>
              </a:lnSpc>
              <a:spcBef>
                <a:spcPts val="0"/>
              </a:spcBef>
              <a:spcAft>
                <a:spcPts val="0"/>
              </a:spcAft>
              <a:buClr>
                <a:schemeClr val="dk1"/>
              </a:buClr>
              <a:buSzPts val="480"/>
              <a:buFont typeface="Arial"/>
              <a:buChar char="•"/>
            </a:pPr>
            <a:r>
              <a:rPr lang="en-US" sz="480" b="0"/>
              <a:t>Space efficiency ratio</a:t>
            </a:r>
            <a:endParaRPr/>
          </a:p>
          <a:p>
            <a:pPr marL="1543050" lvl="3" indent="-171450" algn="l" rtl="0">
              <a:lnSpc>
                <a:spcPct val="80000"/>
              </a:lnSpc>
              <a:spcBef>
                <a:spcPts val="0"/>
              </a:spcBef>
              <a:spcAft>
                <a:spcPts val="0"/>
              </a:spcAft>
              <a:buClr>
                <a:schemeClr val="dk1"/>
              </a:buClr>
              <a:buSzPts val="480"/>
              <a:buFont typeface="Arial"/>
              <a:buChar char="•"/>
            </a:pPr>
            <a:r>
              <a:rPr lang="en-US" sz="480" b="0"/>
              <a:t>IOPS</a:t>
            </a:r>
            <a:endParaRPr/>
          </a:p>
          <a:p>
            <a:pPr marL="1543050" lvl="3" indent="-171450" algn="l" rtl="0">
              <a:lnSpc>
                <a:spcPct val="80000"/>
              </a:lnSpc>
              <a:spcBef>
                <a:spcPts val="0"/>
              </a:spcBef>
              <a:spcAft>
                <a:spcPts val="0"/>
              </a:spcAft>
              <a:buClr>
                <a:schemeClr val="dk1"/>
              </a:buClr>
              <a:buSzPts val="480"/>
              <a:buFont typeface="Arial"/>
              <a:buChar char="•"/>
            </a:pPr>
            <a:r>
              <a:rPr lang="en-US" sz="480" b="0"/>
              <a:t>Latency</a:t>
            </a:r>
            <a:endParaRPr/>
          </a:p>
          <a:p>
            <a:pPr marL="1543050" lvl="3" indent="-171450" algn="l" rtl="0">
              <a:lnSpc>
                <a:spcPct val="80000"/>
              </a:lnSpc>
              <a:spcBef>
                <a:spcPts val="0"/>
              </a:spcBef>
              <a:spcAft>
                <a:spcPts val="0"/>
              </a:spcAft>
              <a:buClr>
                <a:schemeClr val="dk1"/>
              </a:buClr>
              <a:buSzPts val="480"/>
              <a:buFont typeface="Arial"/>
              <a:buChar char="•"/>
            </a:pPr>
            <a:r>
              <a:rPr lang="en-US" sz="480" b="0"/>
              <a:t>Data-at-Rest encryption enabled/disabled</a:t>
            </a:r>
            <a:endParaRPr/>
          </a:p>
          <a:p>
            <a:pPr marL="1543050" lvl="3" indent="-171450" algn="l" rtl="0">
              <a:lnSpc>
                <a:spcPct val="80000"/>
              </a:lnSpc>
              <a:spcBef>
                <a:spcPts val="0"/>
              </a:spcBef>
              <a:spcAft>
                <a:spcPts val="0"/>
              </a:spcAft>
              <a:buClr>
                <a:schemeClr val="dk1"/>
              </a:buClr>
              <a:buSzPts val="480"/>
              <a:buFont typeface="Arial"/>
              <a:buChar char="•"/>
            </a:pPr>
            <a:r>
              <a:rPr lang="en-US" sz="480" b="0"/>
              <a:t>Data-in-Transit encryption enabled/disabled.</a:t>
            </a:r>
            <a:endParaRPr/>
          </a:p>
          <a:p>
            <a:pPr marL="628650" lvl="1" indent="-171450" algn="l" rtl="0">
              <a:lnSpc>
                <a:spcPct val="80000"/>
              </a:lnSpc>
              <a:spcBef>
                <a:spcPts val="0"/>
              </a:spcBef>
              <a:spcAft>
                <a:spcPts val="0"/>
              </a:spcAft>
              <a:buClr>
                <a:schemeClr val="dk1"/>
              </a:buClr>
              <a:buSzPts val="480"/>
              <a:buFont typeface="Arial"/>
              <a:buChar char="•"/>
            </a:pPr>
            <a:r>
              <a:rPr lang="en-US" sz="480" b="1"/>
              <a:t>vSAN Performance. </a:t>
            </a:r>
            <a:r>
              <a:rPr lang="en-US" sz="480" b="0"/>
              <a:t>This provides a performance focused summary of vSAN clusters.  It provides a single location to identify issues with vSAN performance.  They are broken down into the following widgets</a:t>
            </a:r>
            <a:endParaRPr/>
          </a:p>
          <a:p>
            <a:pPr marL="1085850" lvl="2" indent="-171450" algn="l" rtl="0">
              <a:lnSpc>
                <a:spcPct val="80000"/>
              </a:lnSpc>
              <a:spcBef>
                <a:spcPts val="0"/>
              </a:spcBef>
              <a:spcAft>
                <a:spcPts val="0"/>
              </a:spcAft>
              <a:buClr>
                <a:schemeClr val="dk1"/>
              </a:buClr>
              <a:buSzPts val="480"/>
              <a:buFont typeface="Arial"/>
              <a:buChar char="•"/>
            </a:pPr>
            <a:r>
              <a:rPr lang="en-US" sz="480" b="1"/>
              <a:t>Selection of a vSAN cluster.  </a:t>
            </a:r>
            <a:r>
              <a:rPr lang="en-US" sz="480" b="0"/>
              <a:t>This provides a list of vSAN clusters in tabular form, and includes basic metrics including controlling vCenter Server, latency, IOPS, etc.  Whatever cluster is selected in this widget will dictate the performance information in the other widgets in the dashboard.</a:t>
            </a:r>
            <a:endParaRPr/>
          </a:p>
          <a:p>
            <a:pPr marL="1085850" lvl="2" indent="-171450" algn="l" rtl="0">
              <a:lnSpc>
                <a:spcPct val="80000"/>
              </a:lnSpc>
              <a:spcBef>
                <a:spcPts val="0"/>
              </a:spcBef>
              <a:spcAft>
                <a:spcPts val="0"/>
              </a:spcAft>
              <a:buClr>
                <a:schemeClr val="dk1"/>
              </a:buClr>
              <a:buSzPts val="480"/>
              <a:buFont typeface="Arial"/>
              <a:buChar char="•"/>
            </a:pPr>
            <a:r>
              <a:rPr lang="en-US" sz="480" b="1"/>
              <a:t>Top-N VMs.  </a:t>
            </a:r>
            <a:r>
              <a:rPr lang="en-US" sz="480" b="0"/>
              <a:t>This will show a list of VMs with a horizontal stacked bar chart that will display the total latency</a:t>
            </a:r>
            <a:endParaRPr/>
          </a:p>
          <a:p>
            <a:pPr marL="1085850" lvl="2" indent="-171450" algn="l" rtl="0">
              <a:lnSpc>
                <a:spcPct val="80000"/>
              </a:lnSpc>
              <a:spcBef>
                <a:spcPts val="0"/>
              </a:spcBef>
              <a:spcAft>
                <a:spcPts val="0"/>
              </a:spcAft>
              <a:buClr>
                <a:schemeClr val="dk1"/>
              </a:buClr>
              <a:buSzPts val="480"/>
              <a:buFont typeface="Arial"/>
              <a:buChar char="•"/>
            </a:pPr>
            <a:r>
              <a:rPr lang="en-US" sz="480" b="1"/>
              <a:t>Top-N Hosts.  </a:t>
            </a:r>
            <a:r>
              <a:rPr lang="en-US" sz="480" b="0"/>
              <a:t>This will show a list of hosts with a horizontal stacked bar chart that will display the total latency</a:t>
            </a:r>
            <a:endParaRPr/>
          </a:p>
          <a:p>
            <a:pPr marL="1085850" lvl="2" indent="-171450" algn="l" rtl="0">
              <a:lnSpc>
                <a:spcPct val="80000"/>
              </a:lnSpc>
              <a:spcBef>
                <a:spcPts val="0"/>
              </a:spcBef>
              <a:spcAft>
                <a:spcPts val="0"/>
              </a:spcAft>
              <a:buClr>
                <a:schemeClr val="dk1"/>
              </a:buClr>
              <a:buSzPts val="480"/>
              <a:buFont typeface="Arial"/>
              <a:buChar char="•"/>
            </a:pPr>
            <a:r>
              <a:rPr lang="en-US" sz="480" b="1"/>
              <a:t>Top-N Disk groups (OSA).  </a:t>
            </a:r>
            <a:r>
              <a:rPr lang="en-US" sz="480" b="0"/>
              <a:t>This will show a list of disk groups with a horizontal stacked bar chart that will display the total latency.</a:t>
            </a:r>
            <a:endParaRPr/>
          </a:p>
          <a:p>
            <a:pPr marL="1085850" lvl="2" indent="-171450" algn="l" rtl="0">
              <a:lnSpc>
                <a:spcPct val="80000"/>
              </a:lnSpc>
              <a:spcBef>
                <a:spcPts val="0"/>
              </a:spcBef>
              <a:spcAft>
                <a:spcPts val="0"/>
              </a:spcAft>
              <a:buClr>
                <a:schemeClr val="dk1"/>
              </a:buClr>
              <a:buSzPts val="480"/>
              <a:buFont typeface="Arial"/>
              <a:buChar char="•"/>
            </a:pPr>
            <a:r>
              <a:rPr lang="en-US" sz="480" b="1"/>
              <a:t>Metrics Picker.  </a:t>
            </a:r>
            <a:r>
              <a:rPr lang="en-US" sz="480" b="0"/>
              <a:t>This gives a hierarchical listing of metrics that can be dragged and dropped into the adjacent time based line graphs to the right.  This provides an easy way for administrators to customize a view without extensive expertise in creating dashboards.</a:t>
            </a:r>
            <a:endParaRPr sz="480" b="1"/>
          </a:p>
          <a:p>
            <a:pPr marL="628650" lvl="1" indent="-171450" algn="l" rtl="0">
              <a:lnSpc>
                <a:spcPct val="80000"/>
              </a:lnSpc>
              <a:spcBef>
                <a:spcPts val="0"/>
              </a:spcBef>
              <a:spcAft>
                <a:spcPts val="0"/>
              </a:spcAft>
              <a:buClr>
                <a:schemeClr val="dk1"/>
              </a:buClr>
              <a:buSzPts val="480"/>
              <a:buFont typeface="Arial"/>
              <a:buChar char="•"/>
            </a:pPr>
            <a:r>
              <a:rPr lang="en-US" sz="480" b="1"/>
              <a:t>vSAN Performance Diagnostics.</a:t>
            </a:r>
            <a:r>
              <a:rPr lang="en-US" sz="480" b="0"/>
              <a:t>  This capability will allow a diagnostics report to be run on a selected vSAN cluster.  A user can set the time range for the test to be performed, with a “benchmarking goal” where a user could select IOPS, throughput, etc.  It will also allow the administrator to set the “diagnostics goal” of the test, including:</a:t>
            </a:r>
            <a:endParaRPr/>
          </a:p>
          <a:p>
            <a:pPr marL="1085850" lvl="2" indent="-171450" algn="l" rtl="0">
              <a:lnSpc>
                <a:spcPct val="80000"/>
              </a:lnSpc>
              <a:spcBef>
                <a:spcPts val="0"/>
              </a:spcBef>
              <a:spcAft>
                <a:spcPts val="0"/>
              </a:spcAft>
              <a:buClr>
                <a:schemeClr val="dk1"/>
              </a:buClr>
              <a:buSzPts val="480"/>
              <a:buFont typeface="Arial"/>
              <a:buChar char="•"/>
            </a:pPr>
            <a:r>
              <a:rPr lang="en-US" sz="480" b="0"/>
              <a:t>Troubleshooting (production cluster)</a:t>
            </a:r>
            <a:endParaRPr/>
          </a:p>
          <a:p>
            <a:pPr marL="1085850" lvl="2" indent="-171450" algn="l" rtl="0">
              <a:lnSpc>
                <a:spcPct val="80000"/>
              </a:lnSpc>
              <a:spcBef>
                <a:spcPts val="0"/>
              </a:spcBef>
              <a:spcAft>
                <a:spcPts val="0"/>
              </a:spcAft>
              <a:buClr>
                <a:schemeClr val="dk1"/>
              </a:buClr>
              <a:buSzPts val="480"/>
              <a:buFont typeface="Arial"/>
              <a:buChar char="•"/>
            </a:pPr>
            <a:r>
              <a:rPr lang="en-US" sz="480" b="0"/>
              <a:t>Benchmarking and Optimization (new cluster).</a:t>
            </a:r>
            <a:endParaRPr sz="480" b="1"/>
          </a:p>
          <a:p>
            <a:pPr marL="171450" lvl="0" indent="-171450" algn="l" rtl="0">
              <a:lnSpc>
                <a:spcPct val="80000"/>
              </a:lnSpc>
              <a:spcBef>
                <a:spcPts val="0"/>
              </a:spcBef>
              <a:spcAft>
                <a:spcPts val="0"/>
              </a:spcAft>
              <a:buClr>
                <a:schemeClr val="dk1"/>
              </a:buClr>
              <a:buSzPts val="480"/>
              <a:buFont typeface="Arial"/>
              <a:buChar char="•"/>
            </a:pPr>
            <a:r>
              <a:rPr lang="en-US" sz="480" b="0"/>
              <a:t>The vast majority of vSAN-related metrics gathered and rendered by VCF operations are fetched via vSAN APIs.  This helps provide consistent measurements, and reduces computational activities for VCF Ops.</a:t>
            </a:r>
            <a:endParaRPr/>
          </a:p>
          <a:p>
            <a:pPr marL="0" lvl="0" indent="0" algn="l" rtl="0">
              <a:lnSpc>
                <a:spcPct val="80000"/>
              </a:lnSpc>
              <a:spcBef>
                <a:spcPts val="0"/>
              </a:spcBef>
              <a:spcAft>
                <a:spcPts val="0"/>
              </a:spcAft>
              <a:buClr>
                <a:schemeClr val="dk1"/>
              </a:buClr>
              <a:buSzPts val="480"/>
              <a:buFont typeface="Arial"/>
              <a:buNone/>
            </a:pPr>
            <a:r>
              <a:rPr lang="en-US" sz="480" b="1" u="sng"/>
              <a:t>Limitations</a:t>
            </a:r>
            <a:endParaRPr/>
          </a:p>
          <a:p>
            <a:pPr marL="171450" lvl="0" indent="-171450" algn="l" rtl="0">
              <a:lnSpc>
                <a:spcPct val="80000"/>
              </a:lnSpc>
              <a:spcBef>
                <a:spcPts val="0"/>
              </a:spcBef>
              <a:spcAft>
                <a:spcPts val="0"/>
              </a:spcAft>
              <a:buClr>
                <a:schemeClr val="dk1"/>
              </a:buClr>
              <a:buSzPts val="480"/>
              <a:buFont typeface="Arial"/>
              <a:buChar char="•"/>
            </a:pPr>
            <a:r>
              <a:rPr lang="en-US" sz="480" b="0" u="none"/>
              <a:t>TBD</a:t>
            </a:r>
            <a:endParaRPr/>
          </a:p>
          <a:p>
            <a:pPr marL="0" marR="0" lvl="0" indent="0" algn="l" rtl="0">
              <a:lnSpc>
                <a:spcPct val="80000"/>
              </a:lnSpc>
              <a:spcBef>
                <a:spcPts val="0"/>
              </a:spcBef>
              <a:spcAft>
                <a:spcPts val="0"/>
              </a:spcAft>
              <a:buClr>
                <a:schemeClr val="dk1"/>
              </a:buClr>
              <a:buSzPts val="480"/>
              <a:buFont typeface="Arial"/>
              <a:buNone/>
            </a:pPr>
            <a:r>
              <a:rPr lang="en-US" sz="480" b="1" u="sng"/>
              <a:t>Positioning</a:t>
            </a:r>
            <a:endParaRPr/>
          </a:p>
          <a:p>
            <a:pPr marL="171450" marR="0" lvl="0" indent="-171450" algn="l" rtl="0">
              <a:lnSpc>
                <a:spcPct val="80000"/>
              </a:lnSpc>
              <a:spcBef>
                <a:spcPts val="0"/>
              </a:spcBef>
              <a:spcAft>
                <a:spcPts val="0"/>
              </a:spcAft>
              <a:buClr>
                <a:schemeClr val="dk1"/>
              </a:buClr>
              <a:buSzPts val="480"/>
              <a:buFont typeface="Arial"/>
              <a:buChar char="•"/>
            </a:pPr>
            <a:r>
              <a:rPr lang="en-US" sz="480" b="0"/>
              <a:t>VCF Operations (previously Aria Operations, and vRealize Operations) has had a dubious history of providing insight that is actually helpful to our customers. The new storage dashboards have been built from the ground up to offer insight that isn’t easily attained in vCenter Server, but using the very same metrics.</a:t>
            </a:r>
            <a:endParaRPr/>
          </a:p>
          <a:p>
            <a:pPr marL="171450" marR="0" lvl="0" indent="-171450" algn="l" rtl="0">
              <a:lnSpc>
                <a:spcPct val="80000"/>
              </a:lnSpc>
              <a:spcBef>
                <a:spcPts val="0"/>
              </a:spcBef>
              <a:spcAft>
                <a:spcPts val="0"/>
              </a:spcAft>
              <a:buClr>
                <a:schemeClr val="dk1"/>
              </a:buClr>
              <a:buSzPts val="480"/>
              <a:buFont typeface="Arial"/>
              <a:buChar char="•"/>
            </a:pPr>
            <a:r>
              <a:rPr lang="en-US" sz="480" b="1"/>
              <a:t>Feature value in one sentence.</a:t>
            </a:r>
            <a:r>
              <a:rPr lang="en-US" sz="480" b="0"/>
              <a:t>  The new storage dashboards in VCF Operations simplifies storage administration for your VCF environment.</a:t>
            </a:r>
            <a:endParaRPr/>
          </a:p>
          <a:p>
            <a:pPr marL="171450" marR="0" lvl="0" indent="-171450" algn="l" rtl="0">
              <a:lnSpc>
                <a:spcPct val="80000"/>
              </a:lnSpc>
              <a:spcBef>
                <a:spcPts val="0"/>
              </a:spcBef>
              <a:spcAft>
                <a:spcPts val="0"/>
              </a:spcAft>
              <a:buClr>
                <a:schemeClr val="dk1"/>
              </a:buClr>
              <a:buSzPts val="480"/>
              <a:buFont typeface="Arial"/>
              <a:buChar char="•"/>
            </a:pPr>
            <a:r>
              <a:rPr lang="en-US" sz="480" b="1" u="none"/>
              <a:t>Common Use Cases.  </a:t>
            </a:r>
            <a:endParaRPr/>
          </a:p>
          <a:p>
            <a:pPr marL="628650" marR="0" lvl="1" indent="-171450" algn="l" rtl="0">
              <a:lnSpc>
                <a:spcPct val="80000"/>
              </a:lnSpc>
              <a:spcBef>
                <a:spcPts val="0"/>
              </a:spcBef>
              <a:spcAft>
                <a:spcPts val="0"/>
              </a:spcAft>
              <a:buClr>
                <a:schemeClr val="dk1"/>
              </a:buClr>
              <a:buSzPts val="480"/>
              <a:buFont typeface="Arial"/>
              <a:buChar char="•"/>
            </a:pPr>
            <a:r>
              <a:rPr lang="en-US" sz="480" b="0" u="none"/>
              <a:t>TBD</a:t>
            </a:r>
            <a:endParaRPr sz="480" b="1" u="none"/>
          </a:p>
          <a:p>
            <a:pPr marL="0" marR="0" lvl="0" indent="0" algn="l" rtl="0">
              <a:lnSpc>
                <a:spcPct val="80000"/>
              </a:lnSpc>
              <a:spcBef>
                <a:spcPts val="0"/>
              </a:spcBef>
              <a:spcAft>
                <a:spcPts val="0"/>
              </a:spcAft>
              <a:buClr>
                <a:schemeClr val="dk1"/>
              </a:buClr>
              <a:buSzPts val="480"/>
              <a:buFont typeface="Arial"/>
              <a:buNone/>
            </a:pPr>
            <a:r>
              <a:rPr lang="en-US" sz="480">
                <a:solidFill>
                  <a:schemeClr val="dk1"/>
                </a:solidFill>
              </a:rPr>
              <a:t>----------------------------------</a:t>
            </a:r>
            <a:endParaRPr/>
          </a:p>
          <a:p>
            <a:pPr marL="0" lvl="0" indent="0" algn="l" rtl="0">
              <a:lnSpc>
                <a:spcPct val="80000"/>
              </a:lnSpc>
              <a:spcBef>
                <a:spcPts val="0"/>
              </a:spcBef>
              <a:spcAft>
                <a:spcPts val="0"/>
              </a:spcAft>
              <a:buNone/>
            </a:pPr>
            <a:r>
              <a:rPr lang="en-US" sz="480" b="1">
                <a:solidFill>
                  <a:schemeClr val="dk1"/>
                </a:solidFill>
              </a:rPr>
              <a:t>Additional Information:</a:t>
            </a:r>
            <a:endParaRPr/>
          </a:p>
          <a:p>
            <a:pPr marL="171450" lvl="0" indent="-171450" algn="l" rtl="0">
              <a:lnSpc>
                <a:spcPct val="80000"/>
              </a:lnSpc>
              <a:spcBef>
                <a:spcPts val="0"/>
              </a:spcBef>
              <a:spcAft>
                <a:spcPts val="0"/>
              </a:spcAft>
              <a:buClr>
                <a:schemeClr val="dk1"/>
              </a:buClr>
              <a:buSzPts val="480"/>
              <a:buFont typeface="Arial"/>
              <a:buChar char="•"/>
            </a:pPr>
            <a:r>
              <a:rPr lang="en-US" sz="480"/>
              <a:t>TBD</a:t>
            </a:r>
            <a:endParaRPr/>
          </a:p>
          <a:p>
            <a:pPr marL="0" lvl="0" indent="0" algn="l" rtl="0">
              <a:lnSpc>
                <a:spcPct val="80000"/>
              </a:lnSpc>
              <a:spcBef>
                <a:spcPts val="0"/>
              </a:spcBef>
              <a:spcAft>
                <a:spcPts val="0"/>
              </a:spcAft>
              <a:buNone/>
            </a:pPr>
            <a:endParaRPr sz="480"/>
          </a:p>
        </p:txBody>
      </p:sp>
      <p:sp>
        <p:nvSpPr>
          <p:cNvPr id="6790" name="Google Shape;6790;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5"/>
        <p:cNvGrpSpPr/>
        <p:nvPr/>
      </p:nvGrpSpPr>
      <p:grpSpPr>
        <a:xfrm>
          <a:off x="0" y="0"/>
          <a:ext cx="0" cy="0"/>
          <a:chOff x="0" y="0"/>
          <a:chExt cx="0" cy="0"/>
        </a:xfrm>
      </p:grpSpPr>
      <p:sp>
        <p:nvSpPr>
          <p:cNvPr id="7016" name="Google Shape;7016;p4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17" name="Google Shape;7017;p4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40000"/>
              </a:lnSpc>
              <a:spcBef>
                <a:spcPts val="0"/>
              </a:spcBef>
              <a:spcAft>
                <a:spcPts val="0"/>
              </a:spcAft>
              <a:buClr>
                <a:schemeClr val="dk1"/>
              </a:buClr>
              <a:buSzPts val="713"/>
              <a:buFont typeface="Arial"/>
              <a:buNone/>
            </a:pPr>
            <a:r>
              <a:rPr lang="en-US" sz="800" b="1">
                <a:latin typeface="Arial"/>
                <a:ea typeface="Arial"/>
                <a:cs typeface="Arial"/>
                <a:sym typeface="Arial"/>
              </a:rPr>
              <a:t>Presenter Note:  This slide contains animation</a:t>
            </a:r>
            <a:endParaRPr/>
          </a:p>
          <a:p>
            <a:pPr marL="0" lvl="0" indent="0" algn="l" rtl="0">
              <a:lnSpc>
                <a:spcPct val="40000"/>
              </a:lnSpc>
              <a:spcBef>
                <a:spcPts val="0"/>
              </a:spcBef>
              <a:spcAft>
                <a:spcPts val="0"/>
              </a:spcAft>
              <a:buClr>
                <a:schemeClr val="dk1"/>
              </a:buClr>
              <a:buSzPts val="713"/>
              <a:buFont typeface="Arial"/>
              <a:buNone/>
            </a:pPr>
            <a:endParaRPr sz="600" b="1">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r>
              <a:rPr lang="en-US" sz="600" b="1">
                <a:latin typeface="Arial"/>
                <a:ea typeface="Arial"/>
                <a:cs typeface="Arial"/>
                <a:sym typeface="Arial"/>
              </a:rPr>
              <a:t>Key Message:</a:t>
            </a:r>
            <a:endParaRPr/>
          </a:p>
          <a:p>
            <a:pPr marL="0" lvl="0" indent="0" algn="l" rtl="0">
              <a:lnSpc>
                <a:spcPct val="40000"/>
              </a:lnSpc>
              <a:spcBef>
                <a:spcPts val="0"/>
              </a:spcBef>
              <a:spcAft>
                <a:spcPts val="0"/>
              </a:spcAft>
              <a:buClr>
                <a:schemeClr val="dk1"/>
              </a:buClr>
              <a:buSzPts val="713"/>
              <a:buFont typeface="Arial"/>
              <a:buNone/>
            </a:pPr>
            <a:r>
              <a:rPr lang="en-US" sz="600">
                <a:latin typeface="Arial"/>
                <a:ea typeface="Arial"/>
                <a:cs typeface="Arial"/>
                <a:sym typeface="Arial"/>
              </a:rPr>
              <a:t>VCF Operations 9.0 converges Operations for Logs User experience with ability to access and manage log data directly into VCF Operations console</a:t>
            </a:r>
            <a:endParaRPr/>
          </a:p>
          <a:p>
            <a:pPr marL="0" lvl="0" indent="0" algn="l" rtl="0">
              <a:lnSpc>
                <a:spcPct val="80000"/>
              </a:lnSpc>
              <a:spcBef>
                <a:spcPts val="0"/>
              </a:spcBef>
              <a:spcAft>
                <a:spcPts val="0"/>
              </a:spcAft>
              <a:buClr>
                <a:schemeClr val="dk1"/>
              </a:buClr>
              <a:buSzPts val="100"/>
              <a:buFont typeface="Arial"/>
              <a:buNone/>
            </a:pPr>
            <a:br>
              <a:rPr lang="en-US" sz="600">
                <a:latin typeface="Arial"/>
                <a:ea typeface="Arial"/>
                <a:cs typeface="Arial"/>
                <a:sym typeface="Arial"/>
              </a:rPr>
            </a:br>
            <a:r>
              <a:rPr lang="en-US" sz="600" b="1">
                <a:latin typeface="Arial"/>
                <a:ea typeface="Arial"/>
                <a:cs typeface="Arial"/>
                <a:sym typeface="Arial"/>
              </a:rPr>
              <a:t>Talk Track:</a:t>
            </a:r>
            <a:br>
              <a:rPr lang="en-US" sz="600" b="0">
                <a:latin typeface="Arial"/>
                <a:ea typeface="Arial"/>
                <a:cs typeface="Arial"/>
                <a:sym typeface="Arial"/>
              </a:rPr>
            </a:br>
            <a:r>
              <a:rPr lang="en-US" sz="600" b="0">
                <a:latin typeface="Arial"/>
                <a:ea typeface="Arial"/>
                <a:cs typeface="Arial"/>
                <a:sym typeface="Arial"/>
              </a:rPr>
              <a:t>With VCF Operations 9.0, you get a New integrated experience into VCF Operations with ability to filter and search log events, ability to analyze logs based on powerful queries and virtualization charts. </a:t>
            </a:r>
            <a:r>
              <a:rPr lang="en-US" sz="700" b="0" i="0">
                <a:solidFill>
                  <a:srgbClr val="1E1E1E"/>
                </a:solidFill>
                <a:latin typeface="Arial"/>
                <a:ea typeface="Arial"/>
                <a:cs typeface="Arial"/>
                <a:sym typeface="Arial"/>
              </a:rPr>
              <a:t>In the </a:t>
            </a:r>
            <a:r>
              <a:rPr lang="en-US" sz="700" b="0" i="0" u="sng">
                <a:solidFill>
                  <a:srgbClr val="1E1E1E"/>
                </a:solidFill>
                <a:latin typeface="Arial"/>
                <a:ea typeface="Arial"/>
                <a:cs typeface="Arial"/>
                <a:sym typeface="Arial"/>
              </a:rPr>
              <a:t>Analyze Logs</a:t>
            </a:r>
            <a:r>
              <a:rPr lang="en-US" sz="700" b="1" i="0">
                <a:solidFill>
                  <a:srgbClr val="1E1E1E"/>
                </a:solidFill>
                <a:latin typeface="Arial"/>
                <a:ea typeface="Arial"/>
                <a:cs typeface="Arial"/>
                <a:sym typeface="Arial"/>
              </a:rPr>
              <a:t> </a:t>
            </a:r>
            <a:r>
              <a:rPr lang="en-US" sz="700" b="0" i="0">
                <a:solidFill>
                  <a:srgbClr val="1E1E1E"/>
                </a:solidFill>
                <a:latin typeface="Arial"/>
                <a:ea typeface="Arial"/>
                <a:cs typeface="Arial"/>
                <a:sym typeface="Arial"/>
              </a:rPr>
              <a:t>page, you can search and filter log events, and create queries to extract events based on timestamp, text, source, and fields in log events.</a:t>
            </a:r>
            <a:endParaRPr/>
          </a:p>
          <a:p>
            <a:pPr marL="0" lvl="0" indent="0" algn="l" rtl="0">
              <a:lnSpc>
                <a:spcPct val="80000"/>
              </a:lnSpc>
              <a:spcBef>
                <a:spcPts val="0"/>
              </a:spcBef>
              <a:spcAft>
                <a:spcPts val="0"/>
              </a:spcAft>
              <a:buClr>
                <a:schemeClr val="dk1"/>
              </a:buClr>
              <a:buSzPts val="200"/>
              <a:buFont typeface="Arial"/>
              <a:buNone/>
            </a:pPr>
            <a:endParaRPr sz="700" b="0" i="0">
              <a:solidFill>
                <a:srgbClr val="1E1E1E"/>
              </a:solidFill>
              <a:latin typeface="Arial"/>
              <a:ea typeface="Arial"/>
              <a:cs typeface="Arial"/>
              <a:sym typeface="Arial"/>
            </a:endParaRPr>
          </a:p>
          <a:p>
            <a:pPr marL="0" lvl="0" indent="0" algn="l" rtl="0">
              <a:lnSpc>
                <a:spcPct val="80000"/>
              </a:lnSpc>
              <a:spcBef>
                <a:spcPts val="0"/>
              </a:spcBef>
              <a:spcAft>
                <a:spcPts val="0"/>
              </a:spcAft>
              <a:buClr>
                <a:srgbClr val="181818"/>
              </a:buClr>
              <a:buSzPts val="200"/>
              <a:buFont typeface="Quattrocento Sans"/>
              <a:buNone/>
            </a:pPr>
            <a:r>
              <a:rPr lang="en-US" sz="700">
                <a:solidFill>
                  <a:srgbClr val="181818"/>
                </a:solidFill>
                <a:latin typeface="Quattrocento Sans"/>
                <a:ea typeface="Quattrocento Sans"/>
                <a:cs typeface="Quattrocento Sans"/>
                <a:sym typeface="Quattrocento Sans"/>
              </a:rPr>
              <a:t>&lt;click 1&gt;</a:t>
            </a:r>
            <a:endParaRPr sz="700" b="0" i="0">
              <a:solidFill>
                <a:srgbClr val="1E1E1E"/>
              </a:solidFill>
              <a:latin typeface="Arial"/>
              <a:ea typeface="Arial"/>
              <a:cs typeface="Arial"/>
              <a:sym typeface="Arial"/>
            </a:endParaRPr>
          </a:p>
          <a:p>
            <a:pPr marL="0" lvl="0" indent="0" algn="l" rtl="0">
              <a:lnSpc>
                <a:spcPct val="80000"/>
              </a:lnSpc>
              <a:spcBef>
                <a:spcPts val="0"/>
              </a:spcBef>
              <a:spcAft>
                <a:spcPts val="0"/>
              </a:spcAft>
              <a:buClr>
                <a:srgbClr val="1E1E1E"/>
              </a:buClr>
              <a:buSzPts val="200"/>
              <a:buFont typeface="Arial"/>
              <a:buNone/>
            </a:pPr>
            <a:r>
              <a:rPr lang="en-US" sz="700" b="0" i="0">
                <a:solidFill>
                  <a:srgbClr val="1E1E1E"/>
                </a:solidFill>
                <a:latin typeface="Arial"/>
                <a:ea typeface="Arial"/>
                <a:cs typeface="Arial"/>
                <a:sym typeface="Arial"/>
              </a:rPr>
              <a:t>The Log Analysis widget within the Dashboard gets new powerful filters with support for different event types and trends with filters. This helps to uncover insights into logs through the queries and charts.</a:t>
            </a:r>
            <a:endParaRPr/>
          </a:p>
          <a:p>
            <a:pPr marL="0" lvl="0" indent="0" algn="l" rtl="0">
              <a:lnSpc>
                <a:spcPct val="80000"/>
              </a:lnSpc>
              <a:spcBef>
                <a:spcPts val="0"/>
              </a:spcBef>
              <a:spcAft>
                <a:spcPts val="0"/>
              </a:spcAft>
              <a:buClr>
                <a:schemeClr val="dk1"/>
              </a:buClr>
              <a:buSzPts val="200"/>
              <a:buFont typeface="Arial"/>
              <a:buNone/>
            </a:pPr>
            <a:endParaRPr sz="700" b="0" i="0">
              <a:solidFill>
                <a:srgbClr val="1E1E1E"/>
              </a:solidFill>
              <a:latin typeface="Arial"/>
              <a:ea typeface="Arial"/>
              <a:cs typeface="Arial"/>
              <a:sym typeface="Arial"/>
            </a:endParaRPr>
          </a:p>
          <a:p>
            <a:pPr marL="0" marR="0" lvl="0" indent="0" algn="l" rtl="0">
              <a:lnSpc>
                <a:spcPct val="80000"/>
              </a:lnSpc>
              <a:spcBef>
                <a:spcPts val="0"/>
              </a:spcBef>
              <a:spcAft>
                <a:spcPts val="0"/>
              </a:spcAft>
              <a:buClr>
                <a:schemeClr val="dk1"/>
              </a:buClr>
              <a:buSzPts val="200"/>
              <a:buFont typeface="Arial"/>
              <a:buNone/>
            </a:pPr>
            <a:r>
              <a:rPr lang="en-US" sz="700">
                <a:solidFill>
                  <a:srgbClr val="181818"/>
                </a:solidFill>
                <a:latin typeface="Quattrocento Sans"/>
                <a:ea typeface="Quattrocento Sans"/>
                <a:cs typeface="Quattrocento Sans"/>
                <a:sym typeface="Quattrocento Sans"/>
              </a:rPr>
              <a:t>&lt;click 2&gt;</a:t>
            </a:r>
            <a:endParaRPr sz="700" b="0" i="0">
              <a:solidFill>
                <a:srgbClr val="1E1E1E"/>
              </a:solidFill>
              <a:latin typeface="Arial"/>
              <a:ea typeface="Arial"/>
              <a:cs typeface="Arial"/>
              <a:sym typeface="Arial"/>
            </a:endParaRPr>
          </a:p>
          <a:p>
            <a:pPr marL="0" lvl="0" indent="0" algn="l" rtl="0">
              <a:lnSpc>
                <a:spcPct val="80000"/>
              </a:lnSpc>
              <a:spcBef>
                <a:spcPts val="0"/>
              </a:spcBef>
              <a:spcAft>
                <a:spcPts val="0"/>
              </a:spcAft>
              <a:buClr>
                <a:srgbClr val="1E1E1E"/>
              </a:buClr>
              <a:buSzPts val="200"/>
              <a:buFont typeface="Arial"/>
              <a:buNone/>
            </a:pPr>
            <a:r>
              <a:rPr lang="en-US" sz="700" b="0" i="0">
                <a:solidFill>
                  <a:srgbClr val="1E1E1E"/>
                </a:solidFill>
                <a:latin typeface="Arial"/>
                <a:ea typeface="Arial"/>
                <a:cs typeface="Arial"/>
                <a:sym typeface="Arial"/>
              </a:rPr>
              <a:t>You now get ability to define new alerts based on logs. Alerts can be triggered based on log events over time. Unifying </a:t>
            </a:r>
            <a:r>
              <a:rPr lang="en-US" sz="700">
                <a:solidFill>
                  <a:srgbClr val="000000"/>
                </a:solidFill>
                <a:latin typeface="Roboto"/>
                <a:ea typeface="Roboto"/>
                <a:cs typeface="Roboto"/>
                <a:sym typeface="Roboto"/>
              </a:rPr>
              <a:t>Alerts and metrics with Log Queries provides comprehensive Monitoring and proactively identifies potential problems for early issue detection</a:t>
            </a:r>
            <a:endParaRPr/>
          </a:p>
          <a:p>
            <a:pPr marL="0" lvl="0" indent="0" algn="l" rtl="0">
              <a:lnSpc>
                <a:spcPct val="80000"/>
              </a:lnSpc>
              <a:spcBef>
                <a:spcPts val="0"/>
              </a:spcBef>
              <a:spcAft>
                <a:spcPts val="0"/>
              </a:spcAft>
              <a:buClr>
                <a:schemeClr val="dk1"/>
              </a:buClr>
              <a:buSzPts val="200"/>
              <a:buFont typeface="Arial"/>
              <a:buNone/>
            </a:pPr>
            <a:endParaRPr sz="700"/>
          </a:p>
          <a:p>
            <a:pPr marL="0" lvl="0" indent="0" algn="l" rtl="0">
              <a:lnSpc>
                <a:spcPct val="80000"/>
              </a:lnSpc>
              <a:spcBef>
                <a:spcPts val="0"/>
              </a:spcBef>
              <a:spcAft>
                <a:spcPts val="0"/>
              </a:spcAft>
              <a:buClr>
                <a:srgbClr val="181818"/>
              </a:buClr>
              <a:buSzPts val="200"/>
              <a:buFont typeface="Quattrocento Sans"/>
              <a:buNone/>
            </a:pPr>
            <a:r>
              <a:rPr lang="en-US" sz="700">
                <a:solidFill>
                  <a:srgbClr val="181818"/>
                </a:solidFill>
                <a:latin typeface="Quattrocento Sans"/>
                <a:ea typeface="Quattrocento Sans"/>
                <a:cs typeface="Quattrocento Sans"/>
                <a:sym typeface="Quattrocento Sans"/>
              </a:rPr>
              <a:t>&lt;click 3&gt;</a:t>
            </a:r>
            <a:endParaRPr sz="700"/>
          </a:p>
          <a:p>
            <a:pPr marL="0" marR="0" lvl="0" indent="0" algn="l" rtl="0">
              <a:lnSpc>
                <a:spcPct val="80000"/>
              </a:lnSpc>
              <a:spcBef>
                <a:spcPts val="0"/>
              </a:spcBef>
              <a:spcAft>
                <a:spcPts val="0"/>
              </a:spcAft>
              <a:buClr>
                <a:schemeClr val="dk1"/>
              </a:buClr>
              <a:buSzPts val="200"/>
              <a:buFont typeface="Arial"/>
              <a:buNone/>
            </a:pPr>
            <a:r>
              <a:rPr lang="en-US" sz="700"/>
              <a:t>You can now compare logs from different time periods or log sources to identify anomalies. It helps to determine problems due to new deployments or change windows by reviewing difference in log streams. Using </a:t>
            </a:r>
            <a:r>
              <a:rPr lang="en-US" sz="700" b="0" u="sng"/>
              <a:t>Log Compare </a:t>
            </a:r>
            <a:r>
              <a:rPr lang="en-US" sz="700"/>
              <a:t>capability, users can quickly detect and resolve issues through side-by-side comparison. Currently you can compare up to four log streams simultaneously.  </a:t>
            </a:r>
            <a:r>
              <a:rPr lang="en-US" sz="800"/>
              <a:t>Transfer logs up to 90 days from 8.x Logs to VCF Operations</a:t>
            </a:r>
            <a:endParaRPr/>
          </a:p>
          <a:p>
            <a:pPr marL="0" marR="0" lvl="0" indent="0" algn="l" rtl="0">
              <a:lnSpc>
                <a:spcPct val="100000"/>
              </a:lnSpc>
              <a:spcBef>
                <a:spcPts val="0"/>
              </a:spcBef>
              <a:spcAft>
                <a:spcPts val="0"/>
              </a:spcAft>
              <a:buClr>
                <a:schemeClr val="dk1"/>
              </a:buClr>
              <a:buSzPts val="700"/>
              <a:buFont typeface="Arial"/>
              <a:buNone/>
            </a:pPr>
            <a:br>
              <a:rPr lang="en-US" sz="700"/>
            </a:br>
            <a:r>
              <a:rPr lang="en-US" sz="800" b="1" u="none" strike="noStrike">
                <a:solidFill>
                  <a:schemeClr val="dk1"/>
                </a:solidFill>
              </a:rPr>
              <a:t>Notes:</a:t>
            </a:r>
            <a:br>
              <a:rPr lang="en-US" sz="800" u="none" strike="noStrike">
                <a:solidFill>
                  <a:schemeClr val="dk1"/>
                </a:solidFill>
              </a:rPr>
            </a:br>
            <a:r>
              <a:rPr lang="en-US" sz="800" u="none" strike="noStrike">
                <a:solidFill>
                  <a:schemeClr val="dk1"/>
                </a:solidFill>
              </a:rPr>
              <a:t>x</a:t>
            </a:r>
            <a:endParaRPr/>
          </a:p>
          <a:p>
            <a:pPr marL="0" marR="0" lvl="0" indent="0" algn="l" rtl="0">
              <a:lnSpc>
                <a:spcPct val="100000"/>
              </a:lnSpc>
              <a:spcBef>
                <a:spcPts val="0"/>
              </a:spcBef>
              <a:spcAft>
                <a:spcPts val="0"/>
              </a:spcAft>
              <a:buClr>
                <a:schemeClr val="dk1"/>
              </a:buClr>
              <a:buSzPts val="800"/>
              <a:buFont typeface="Arial"/>
              <a:buNone/>
            </a:pPr>
            <a:endParaRPr sz="800" u="none" strike="noStrike">
              <a:solidFill>
                <a:schemeClr val="dk1"/>
              </a:solidFill>
            </a:endParaRPr>
          </a:p>
          <a:p>
            <a:pPr marL="0" lvl="0" indent="0" algn="l" rtl="0">
              <a:spcBef>
                <a:spcPts val="0"/>
              </a:spcBef>
              <a:spcAft>
                <a:spcPts val="0"/>
              </a:spcAft>
              <a:buNone/>
            </a:pPr>
            <a:r>
              <a:rPr lang="en-US" sz="800" b="1" u="none" strike="noStrike">
                <a:solidFill>
                  <a:schemeClr val="dk1"/>
                </a:solidFill>
              </a:rPr>
              <a:t>Resources:</a:t>
            </a:r>
            <a:br>
              <a:rPr lang="en-US" sz="800" b="1" u="none" strike="noStrike">
                <a:solidFill>
                  <a:schemeClr val="dk1"/>
                </a:solidFill>
              </a:rPr>
            </a:br>
            <a:r>
              <a:rPr lang="en-US" sz="800" b="0" u="none" strike="noStrike">
                <a:solidFill>
                  <a:schemeClr val="dk1"/>
                </a:solidFill>
              </a:rPr>
              <a:t>x</a:t>
            </a:r>
            <a:endParaRPr sz="800">
              <a:solidFill>
                <a:srgbClr val="DCA10D"/>
              </a:solidFill>
              <a:latin typeface="Helvetica Neue"/>
              <a:ea typeface="Helvetica Neue"/>
              <a:cs typeface="Helvetica Neue"/>
              <a:sym typeface="Helvetica Neue"/>
            </a:endParaRPr>
          </a:p>
          <a:p>
            <a:pPr marL="0" lvl="0" indent="0" algn="l" rtl="0">
              <a:spcBef>
                <a:spcPts val="0"/>
              </a:spcBef>
              <a:spcAft>
                <a:spcPts val="0"/>
              </a:spcAft>
              <a:buNone/>
            </a:pPr>
            <a:endParaRPr/>
          </a:p>
        </p:txBody>
      </p:sp>
      <p:sp>
        <p:nvSpPr>
          <p:cNvPr id="7018" name="Google Shape;7018;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8"/>
        <p:cNvGrpSpPr/>
        <p:nvPr/>
      </p:nvGrpSpPr>
      <p:grpSpPr>
        <a:xfrm>
          <a:off x="0" y="0"/>
          <a:ext cx="0" cy="0"/>
          <a:chOff x="0" y="0"/>
          <a:chExt cx="0" cy="0"/>
        </a:xfrm>
      </p:grpSpPr>
      <p:sp>
        <p:nvSpPr>
          <p:cNvPr id="7029" name="Google Shape;7029;p4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0" name="Google Shape;7030;p4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50000"/>
              </a:lnSpc>
              <a:spcBef>
                <a:spcPts val="0"/>
              </a:spcBef>
              <a:spcAft>
                <a:spcPts val="0"/>
              </a:spcAft>
              <a:buClr>
                <a:schemeClr val="dk1"/>
              </a:buClr>
              <a:buSzPts val="713"/>
              <a:buFont typeface="Arial"/>
              <a:buNone/>
            </a:pPr>
            <a:r>
              <a:rPr lang="en-US" sz="1110" b="1">
                <a:latin typeface="Arial"/>
                <a:ea typeface="Arial"/>
                <a:cs typeface="Arial"/>
                <a:sym typeface="Arial"/>
              </a:rPr>
              <a:t>Presenter Note:  This slide contains animation</a:t>
            </a:r>
            <a:endParaRPr/>
          </a:p>
          <a:p>
            <a:pPr marL="0" lvl="0" indent="0" algn="l" rtl="0">
              <a:lnSpc>
                <a:spcPct val="50000"/>
              </a:lnSpc>
              <a:spcBef>
                <a:spcPts val="0"/>
              </a:spcBef>
              <a:spcAft>
                <a:spcPts val="0"/>
              </a:spcAft>
              <a:buClr>
                <a:schemeClr val="dk1"/>
              </a:buClr>
              <a:buSzPts val="713"/>
              <a:buFont typeface="Arial"/>
              <a:buNone/>
            </a:pPr>
            <a:endParaRPr sz="1110" b="1">
              <a:latin typeface="Arial"/>
              <a:ea typeface="Arial"/>
              <a:cs typeface="Arial"/>
              <a:sym typeface="Arial"/>
            </a:endParaRPr>
          </a:p>
          <a:p>
            <a:pPr marL="0" lvl="0" indent="0" algn="l" rtl="0">
              <a:lnSpc>
                <a:spcPct val="50000"/>
              </a:lnSpc>
              <a:spcBef>
                <a:spcPts val="0"/>
              </a:spcBef>
              <a:spcAft>
                <a:spcPts val="0"/>
              </a:spcAft>
              <a:buClr>
                <a:schemeClr val="dk1"/>
              </a:buClr>
              <a:buSzPts val="713"/>
              <a:buFont typeface="Arial"/>
              <a:buNone/>
            </a:pPr>
            <a:r>
              <a:rPr lang="en-US" sz="1110" b="1">
                <a:latin typeface="Arial"/>
                <a:ea typeface="Arial"/>
                <a:cs typeface="Arial"/>
                <a:sym typeface="Arial"/>
              </a:rPr>
              <a:t>Key Message:</a:t>
            </a:r>
            <a:endParaRPr/>
          </a:p>
          <a:p>
            <a:pPr marL="0" marR="0" lvl="0" indent="0" algn="l" rtl="0">
              <a:lnSpc>
                <a:spcPct val="50000"/>
              </a:lnSpc>
              <a:spcBef>
                <a:spcPts val="0"/>
              </a:spcBef>
              <a:spcAft>
                <a:spcPts val="0"/>
              </a:spcAft>
              <a:buClr>
                <a:schemeClr val="dk1"/>
              </a:buClr>
              <a:buSzPts val="713"/>
              <a:buFont typeface="Arial"/>
              <a:buNone/>
            </a:pPr>
            <a:r>
              <a:rPr lang="en-US" sz="1110"/>
              <a:t>VCF’s Diagnostic Findings and VCF Health provides a </a:t>
            </a:r>
            <a:r>
              <a:rPr lang="en-US" sz="1110">
                <a:latin typeface="Calibri"/>
                <a:ea typeface="Calibri"/>
                <a:cs typeface="Calibri"/>
                <a:sym typeface="Calibri"/>
              </a:rPr>
              <a:t>single-pane-of-glass to correlate issues across your infrastructure.</a:t>
            </a:r>
            <a:endParaRPr/>
          </a:p>
          <a:p>
            <a:pPr marL="0" lvl="0" indent="0" algn="l" rtl="0">
              <a:lnSpc>
                <a:spcPct val="50000"/>
              </a:lnSpc>
              <a:spcBef>
                <a:spcPts val="0"/>
              </a:spcBef>
              <a:spcAft>
                <a:spcPts val="0"/>
              </a:spcAft>
              <a:buClr>
                <a:schemeClr val="dk1"/>
              </a:buClr>
              <a:buSzPts val="713"/>
              <a:buFont typeface="Arial"/>
              <a:buNone/>
            </a:pPr>
            <a:br>
              <a:rPr lang="en-US" sz="1110">
                <a:latin typeface="Arial"/>
                <a:ea typeface="Arial"/>
                <a:cs typeface="Arial"/>
                <a:sym typeface="Arial"/>
              </a:rPr>
            </a:br>
            <a:r>
              <a:rPr lang="en-US" sz="1110" b="1">
                <a:latin typeface="Arial"/>
                <a:ea typeface="Arial"/>
                <a:cs typeface="Arial"/>
                <a:sym typeface="Arial"/>
              </a:rPr>
              <a:t>Talk Track:</a:t>
            </a:r>
            <a:br>
              <a:rPr lang="en-US" sz="1110" b="1">
                <a:latin typeface="Arial"/>
                <a:ea typeface="Arial"/>
                <a:cs typeface="Arial"/>
                <a:sym typeface="Arial"/>
              </a:rPr>
            </a:br>
            <a:r>
              <a:rPr lang="en-US" sz="1110" b="0">
                <a:latin typeface="Arial"/>
                <a:ea typeface="Arial"/>
                <a:cs typeface="Arial"/>
                <a:sym typeface="Arial"/>
              </a:rPr>
              <a:t>Maintaining a stable, secure, and a resilient environment is a constant challenge for Sys Admins. They need tools that will </a:t>
            </a:r>
            <a:r>
              <a:rPr lang="en-US" sz="1110" b="0" i="0" u="none" strike="noStrike" cap="none">
                <a:solidFill>
                  <a:schemeClr val="dk2"/>
                </a:solidFill>
                <a:latin typeface="Arial"/>
                <a:ea typeface="Arial"/>
                <a:cs typeface="Arial"/>
                <a:sym typeface="Arial"/>
              </a:rPr>
              <a:t>accelerate the discovery and prevention of costly issues before they occur and speed SLAs, with the help of Broadcom Support, when they can resolve issues on their own.</a:t>
            </a:r>
            <a:endParaRPr/>
          </a:p>
          <a:p>
            <a:pPr marL="0" lvl="0" indent="0" algn="l" rtl="0">
              <a:lnSpc>
                <a:spcPct val="50000"/>
              </a:lnSpc>
              <a:spcBef>
                <a:spcPts val="0"/>
              </a:spcBef>
              <a:spcAft>
                <a:spcPts val="0"/>
              </a:spcAft>
              <a:buClr>
                <a:schemeClr val="dk1"/>
              </a:buClr>
              <a:buSzPts val="713"/>
              <a:buFont typeface="Arial"/>
              <a:buNone/>
            </a:pPr>
            <a:endParaRPr sz="1110" b="0" i="0" u="none" strike="noStrike" cap="none">
              <a:solidFill>
                <a:schemeClr val="dk2"/>
              </a:solidFill>
              <a:latin typeface="Arial"/>
              <a:ea typeface="Arial"/>
              <a:cs typeface="Arial"/>
              <a:sym typeface="Arial"/>
            </a:endParaRPr>
          </a:p>
          <a:p>
            <a:pPr marL="0" lvl="0" indent="0" algn="l" rtl="0">
              <a:lnSpc>
                <a:spcPct val="50000"/>
              </a:lnSpc>
              <a:spcBef>
                <a:spcPts val="0"/>
              </a:spcBef>
              <a:spcAft>
                <a:spcPts val="0"/>
              </a:spcAft>
              <a:buClr>
                <a:schemeClr val="dk1"/>
              </a:buClr>
              <a:buSzPts val="713"/>
              <a:buFont typeface="Arial"/>
              <a:buNone/>
            </a:pPr>
            <a:r>
              <a:rPr lang="en-US" sz="1110" b="0" i="0" u="none" strike="noStrike" cap="none">
                <a:solidFill>
                  <a:schemeClr val="dk2"/>
                </a:solidFill>
                <a:latin typeface="Arial"/>
                <a:ea typeface="Arial"/>
                <a:cs typeface="Arial"/>
                <a:sym typeface="Arial"/>
              </a:rPr>
              <a:t>VCF Health and Diagnostics addresses these challenges with the following capabilities:</a:t>
            </a:r>
            <a:endParaRPr/>
          </a:p>
          <a:p>
            <a:pPr marL="171450" marR="0" lvl="0" indent="-171450" algn="l" rtl="0">
              <a:lnSpc>
                <a:spcPct val="50000"/>
              </a:lnSpc>
              <a:spcBef>
                <a:spcPts val="0"/>
              </a:spcBef>
              <a:spcAft>
                <a:spcPts val="0"/>
              </a:spcAft>
              <a:buClr>
                <a:schemeClr val="dk1"/>
              </a:buClr>
              <a:buSzPts val="713"/>
              <a:buFont typeface="Arial"/>
              <a:buChar char="•"/>
            </a:pPr>
            <a:r>
              <a:rPr lang="en-US" sz="1110">
                <a:latin typeface="Arial"/>
                <a:ea typeface="Arial"/>
                <a:cs typeface="Arial"/>
                <a:sym typeface="Arial"/>
              </a:rPr>
              <a:t>Diagnose known issues impacting VCF software in a centralized location (single-pane-of-glass)</a:t>
            </a:r>
            <a:endParaRPr/>
          </a:p>
          <a:p>
            <a:pPr marL="171450" marR="0" lvl="0" indent="-171450" algn="l" rtl="0">
              <a:lnSpc>
                <a:spcPct val="50000"/>
              </a:lnSpc>
              <a:spcBef>
                <a:spcPts val="0"/>
              </a:spcBef>
              <a:spcAft>
                <a:spcPts val="0"/>
              </a:spcAft>
              <a:buClr>
                <a:schemeClr val="dk1"/>
              </a:buClr>
              <a:buSzPts val="713"/>
              <a:buFont typeface="Arial"/>
              <a:buChar char="•"/>
            </a:pPr>
            <a:r>
              <a:rPr lang="en-US" sz="1110">
                <a:latin typeface="Arial"/>
                <a:ea typeface="Arial"/>
                <a:cs typeface="Arial"/>
                <a:sym typeface="Arial"/>
              </a:rPr>
              <a:t>View security risks based on CVE and VMSA</a:t>
            </a:r>
            <a:endParaRPr/>
          </a:p>
          <a:p>
            <a:pPr marL="171450" marR="0" lvl="0" indent="-126174" algn="l" rtl="0">
              <a:lnSpc>
                <a:spcPct val="50000"/>
              </a:lnSpc>
              <a:spcBef>
                <a:spcPts val="0"/>
              </a:spcBef>
              <a:spcAft>
                <a:spcPts val="0"/>
              </a:spcAft>
              <a:buClr>
                <a:schemeClr val="dk1"/>
              </a:buClr>
              <a:buSzPts val="713"/>
              <a:buFont typeface="Arial"/>
              <a:buNone/>
            </a:pPr>
            <a:endParaRPr sz="1110">
              <a:latin typeface="Arial"/>
              <a:ea typeface="Arial"/>
              <a:cs typeface="Arial"/>
              <a:sym typeface="Arial"/>
            </a:endParaRPr>
          </a:p>
          <a:p>
            <a:pPr marL="0" lvl="0" indent="0" algn="l" rtl="0">
              <a:lnSpc>
                <a:spcPct val="70000"/>
              </a:lnSpc>
              <a:spcBef>
                <a:spcPts val="0"/>
              </a:spcBef>
              <a:spcAft>
                <a:spcPts val="0"/>
              </a:spcAft>
              <a:buClr>
                <a:srgbClr val="181818"/>
              </a:buClr>
              <a:buSzPts val="200"/>
              <a:buFont typeface="Quattrocento Sans"/>
              <a:buNone/>
            </a:pPr>
            <a:r>
              <a:rPr lang="en-US" sz="740">
                <a:solidFill>
                  <a:srgbClr val="181818"/>
                </a:solidFill>
                <a:latin typeface="Quattrocento Sans"/>
                <a:ea typeface="Quattrocento Sans"/>
                <a:cs typeface="Quattrocento Sans"/>
                <a:sym typeface="Quattrocento Sans"/>
              </a:rPr>
              <a:t>&lt;click 1&gt;</a:t>
            </a:r>
            <a:endParaRPr sz="740" b="0">
              <a:solidFill>
                <a:srgbClr val="000000"/>
              </a:solidFill>
              <a:latin typeface="Arial"/>
              <a:ea typeface="Arial"/>
              <a:cs typeface="Arial"/>
              <a:sym typeface="Arial"/>
            </a:endParaRPr>
          </a:p>
          <a:p>
            <a:pPr marL="171450" marR="0" lvl="0" indent="-171450" algn="l" rtl="0">
              <a:lnSpc>
                <a:spcPct val="50000"/>
              </a:lnSpc>
              <a:spcBef>
                <a:spcPts val="0"/>
              </a:spcBef>
              <a:spcAft>
                <a:spcPts val="0"/>
              </a:spcAft>
              <a:buClr>
                <a:schemeClr val="dk1"/>
              </a:buClr>
              <a:buSzPts val="713"/>
              <a:buFont typeface="Arial"/>
              <a:buChar char="•"/>
            </a:pPr>
            <a:r>
              <a:rPr lang="en-US" sz="1110">
                <a:latin typeface="Arial"/>
                <a:ea typeface="Arial"/>
                <a:cs typeface="Arial"/>
                <a:sym typeface="Arial"/>
              </a:rPr>
              <a:t>Understand impacted components with curated remediation steps, including </a:t>
            </a:r>
            <a:r>
              <a:rPr lang="en-US" sz="1110" b="0" i="0">
                <a:solidFill>
                  <a:srgbClr val="21333B"/>
                </a:solidFill>
                <a:latin typeface="Arial"/>
                <a:ea typeface="Arial"/>
                <a:cs typeface="Arial"/>
                <a:sym typeface="Arial"/>
              </a:rPr>
              <a:t>ESX unresponsive hosts, vSAN &amp; NSX health, significant NTP issues, DNS lookup failures, vCenter connectivity, utilization and availability, and VMs that need snapshot consolidation.</a:t>
            </a:r>
            <a:endParaRPr/>
          </a:p>
          <a:p>
            <a:pPr marL="171450" marR="0" lvl="0" indent="-171450" algn="l" rtl="0">
              <a:lnSpc>
                <a:spcPct val="50000"/>
              </a:lnSpc>
              <a:spcBef>
                <a:spcPts val="0"/>
              </a:spcBef>
              <a:spcAft>
                <a:spcPts val="0"/>
              </a:spcAft>
              <a:buClr>
                <a:schemeClr val="dk1"/>
              </a:buClr>
              <a:buSzPts val="713"/>
              <a:buFont typeface="Arial"/>
              <a:buChar char="•"/>
            </a:pPr>
            <a:r>
              <a:rPr lang="en-US" sz="1110" b="0" i="0">
                <a:solidFill>
                  <a:srgbClr val="F1F6F8"/>
                </a:solidFill>
                <a:latin typeface="Arial"/>
                <a:ea typeface="Arial"/>
                <a:cs typeface="Arial"/>
                <a:sym typeface="Arial"/>
              </a:rPr>
              <a:t>And if an issue, such as a Security Advisory Finding that requires immediate attention is identified, you can see impacted objects and get recommendations on how to remediate the issue yourself. </a:t>
            </a:r>
            <a:endParaRPr/>
          </a:p>
          <a:p>
            <a:pPr marL="171450" marR="0" lvl="0" indent="-126174" algn="l" rtl="0">
              <a:lnSpc>
                <a:spcPct val="50000"/>
              </a:lnSpc>
              <a:spcBef>
                <a:spcPts val="0"/>
              </a:spcBef>
              <a:spcAft>
                <a:spcPts val="0"/>
              </a:spcAft>
              <a:buClr>
                <a:schemeClr val="dk1"/>
              </a:buClr>
              <a:buSzPts val="713"/>
              <a:buFont typeface="Arial"/>
              <a:buNone/>
            </a:pPr>
            <a:endParaRPr sz="1110">
              <a:latin typeface="Arial"/>
              <a:ea typeface="Arial"/>
              <a:cs typeface="Arial"/>
              <a:sym typeface="Arial"/>
            </a:endParaRPr>
          </a:p>
          <a:p>
            <a:pPr marL="0" lvl="0" indent="0" algn="l" rtl="0">
              <a:lnSpc>
                <a:spcPct val="70000"/>
              </a:lnSpc>
              <a:spcBef>
                <a:spcPts val="0"/>
              </a:spcBef>
              <a:spcAft>
                <a:spcPts val="0"/>
              </a:spcAft>
              <a:buClr>
                <a:srgbClr val="181818"/>
              </a:buClr>
              <a:buSzPts val="200"/>
              <a:buFont typeface="Quattrocento Sans"/>
              <a:buNone/>
            </a:pPr>
            <a:r>
              <a:rPr lang="en-US" sz="740">
                <a:solidFill>
                  <a:srgbClr val="181818"/>
                </a:solidFill>
                <a:latin typeface="Quattrocento Sans"/>
                <a:ea typeface="Quattrocento Sans"/>
                <a:cs typeface="Quattrocento Sans"/>
                <a:sym typeface="Quattrocento Sans"/>
              </a:rPr>
              <a:t>&lt;click 2&gt;</a:t>
            </a:r>
            <a:endParaRPr sz="740" b="0">
              <a:solidFill>
                <a:srgbClr val="000000"/>
              </a:solidFill>
              <a:latin typeface="Arial"/>
              <a:ea typeface="Arial"/>
              <a:cs typeface="Arial"/>
              <a:sym typeface="Arial"/>
            </a:endParaRPr>
          </a:p>
          <a:p>
            <a:pPr marL="171450" marR="0" lvl="0" indent="-171450" algn="l" rtl="0">
              <a:lnSpc>
                <a:spcPct val="50000"/>
              </a:lnSpc>
              <a:spcBef>
                <a:spcPts val="0"/>
              </a:spcBef>
              <a:spcAft>
                <a:spcPts val="0"/>
              </a:spcAft>
              <a:buClr>
                <a:schemeClr val="dk1"/>
              </a:buClr>
              <a:buSzPts val="713"/>
              <a:buFont typeface="Arial"/>
              <a:buChar char="•"/>
            </a:pPr>
            <a:r>
              <a:rPr lang="en-US" sz="1110">
                <a:latin typeface="Arial"/>
                <a:ea typeface="Arial"/>
                <a:cs typeface="Arial"/>
                <a:sym typeface="Arial"/>
              </a:rPr>
              <a:t>Package and send relevant Log data, with VCF’s Log Assist capability, to Tech Support to speed issue discovery and drive faster SLAs.</a:t>
            </a:r>
            <a:endParaRPr/>
          </a:p>
          <a:p>
            <a:pPr marL="0" lvl="0" indent="0" algn="l" rtl="0">
              <a:lnSpc>
                <a:spcPct val="90000"/>
              </a:lnSpc>
              <a:spcBef>
                <a:spcPts val="0"/>
              </a:spcBef>
              <a:spcAft>
                <a:spcPts val="0"/>
              </a:spcAft>
              <a:buNone/>
            </a:pPr>
            <a:endParaRPr sz="1295"/>
          </a:p>
          <a:p>
            <a:pPr marL="0" lvl="0" indent="0" algn="l" rtl="0">
              <a:lnSpc>
                <a:spcPct val="90000"/>
              </a:lnSpc>
              <a:spcBef>
                <a:spcPts val="0"/>
              </a:spcBef>
              <a:spcAft>
                <a:spcPts val="0"/>
              </a:spcAft>
              <a:buNone/>
            </a:pPr>
            <a:r>
              <a:rPr lang="en-US" sz="1295" b="1" u="none" strike="noStrike">
                <a:solidFill>
                  <a:schemeClr val="dk1"/>
                </a:solidFill>
              </a:rPr>
              <a:t>Extended Talk Track:</a:t>
            </a:r>
            <a:endParaRPr/>
          </a:p>
          <a:p>
            <a:pPr marL="0" marR="0" lvl="0" indent="0" algn="l" rtl="0">
              <a:lnSpc>
                <a:spcPct val="90000"/>
              </a:lnSpc>
              <a:spcBef>
                <a:spcPts val="0"/>
              </a:spcBef>
              <a:spcAft>
                <a:spcPts val="0"/>
              </a:spcAft>
              <a:buClr>
                <a:srgbClr val="000000"/>
              </a:buClr>
              <a:buSzPts val="1295"/>
              <a:buFont typeface="Arial"/>
              <a:buNone/>
            </a:pPr>
            <a:r>
              <a:rPr lang="en-US" sz="1295" b="0" i="0">
                <a:solidFill>
                  <a:srgbClr val="000000"/>
                </a:solidFill>
                <a:latin typeface="Arial"/>
                <a:ea typeface="Arial"/>
                <a:cs typeface="Arial"/>
                <a:sym typeface="Arial"/>
              </a:rPr>
              <a:t>Reduce service requests and drive faster SLAs with VCF Health &amp; Diagnostics.  VCF Operations provides </a:t>
            </a:r>
            <a:r>
              <a:rPr lang="en-US" sz="1295" b="0" i="0">
                <a:solidFill>
                  <a:srgbClr val="1A428A"/>
                </a:solidFill>
                <a:latin typeface="Arial"/>
                <a:ea typeface="Arial"/>
                <a:cs typeface="Arial"/>
                <a:sym typeface="Arial"/>
              </a:rPr>
              <a:t>g</a:t>
            </a:r>
            <a:r>
              <a:rPr lang="en-US" sz="1295">
                <a:solidFill>
                  <a:srgbClr val="1A428A"/>
                </a:solidFill>
                <a:latin typeface="Arial"/>
                <a:ea typeface="Arial"/>
                <a:cs typeface="Arial"/>
                <a:sym typeface="Arial"/>
              </a:rPr>
              <a:t>ranular visibility into the overall health of your environment. This feature leverages </a:t>
            </a:r>
            <a:r>
              <a:rPr lang="en-US" sz="1295" b="0" i="0">
                <a:solidFill>
                  <a:srgbClr val="000000"/>
                </a:solidFill>
                <a:latin typeface="Arial"/>
                <a:ea typeface="Arial"/>
                <a:cs typeface="Arial"/>
                <a:sym typeface="Arial"/>
              </a:rPr>
              <a:t>log data to detect both potential and active configuration and security issues, and it also suggests relevant Knowledge Base articles or steps to remediate the issues on your own. </a:t>
            </a:r>
            <a:endParaRPr/>
          </a:p>
          <a:p>
            <a:pPr marL="0" lvl="0" indent="0" algn="l" rtl="0">
              <a:lnSpc>
                <a:spcPct val="90000"/>
              </a:lnSpc>
              <a:spcBef>
                <a:spcPts val="0"/>
              </a:spcBef>
              <a:spcAft>
                <a:spcPts val="0"/>
              </a:spcAft>
              <a:buNone/>
            </a:pPr>
            <a:br>
              <a:rPr lang="en-US" sz="1295" b="1" u="none" strike="noStrike">
                <a:solidFill>
                  <a:schemeClr val="dk1"/>
                </a:solidFill>
              </a:rPr>
            </a:br>
            <a:r>
              <a:rPr lang="en-US" sz="1295" b="1" u="none" strike="noStrike">
                <a:solidFill>
                  <a:schemeClr val="dk1"/>
                </a:solidFill>
              </a:rPr>
              <a:t>Notes:</a:t>
            </a:r>
            <a:endParaRPr sz="1295" u="none" strike="noStrike">
              <a:solidFill>
                <a:schemeClr val="dk1"/>
              </a:solidFill>
            </a:endParaRPr>
          </a:p>
          <a:p>
            <a:pPr marL="0" marR="0" lvl="0" indent="0" algn="l" rtl="0">
              <a:lnSpc>
                <a:spcPct val="90000"/>
              </a:lnSpc>
              <a:spcBef>
                <a:spcPts val="0"/>
              </a:spcBef>
              <a:spcAft>
                <a:spcPts val="0"/>
              </a:spcAft>
              <a:buClr>
                <a:schemeClr val="dk1"/>
              </a:buClr>
              <a:buSzPts val="1295"/>
              <a:buFont typeface="Arial"/>
              <a:buNone/>
            </a:pPr>
            <a:endParaRPr sz="1295" u="none" strike="noStrike">
              <a:solidFill>
                <a:schemeClr val="dk1"/>
              </a:solidFill>
            </a:endParaRPr>
          </a:p>
          <a:p>
            <a:pPr marL="0" lvl="0" indent="0" algn="l" rtl="0">
              <a:lnSpc>
                <a:spcPct val="90000"/>
              </a:lnSpc>
              <a:spcBef>
                <a:spcPts val="0"/>
              </a:spcBef>
              <a:spcAft>
                <a:spcPts val="0"/>
              </a:spcAft>
              <a:buNone/>
            </a:pPr>
            <a:r>
              <a:rPr lang="en-US" sz="1295" b="1" u="none" strike="noStrike">
                <a:solidFill>
                  <a:schemeClr val="dk1"/>
                </a:solidFill>
              </a:rPr>
              <a:t>Resources:</a:t>
            </a:r>
            <a:endParaRPr sz="1295">
              <a:solidFill>
                <a:srgbClr val="DCA10D"/>
              </a:solidFill>
              <a:latin typeface="Helvetica Neue"/>
              <a:ea typeface="Helvetica Neue"/>
              <a:cs typeface="Helvetica Neue"/>
              <a:sym typeface="Helvetica Neue"/>
            </a:endParaRPr>
          </a:p>
          <a:p>
            <a:pPr marL="0" lvl="0" indent="0" algn="l" rtl="0">
              <a:lnSpc>
                <a:spcPct val="90000"/>
              </a:lnSpc>
              <a:spcBef>
                <a:spcPts val="0"/>
              </a:spcBef>
              <a:spcAft>
                <a:spcPts val="0"/>
              </a:spcAft>
              <a:buNone/>
            </a:pPr>
            <a:endParaRPr sz="1295"/>
          </a:p>
          <a:p>
            <a:pPr marL="285750" marR="0" lvl="0" indent="-209550" algn="l" rtl="0">
              <a:lnSpc>
                <a:spcPct val="110000"/>
              </a:lnSpc>
              <a:spcBef>
                <a:spcPts val="0"/>
              </a:spcBef>
              <a:spcAft>
                <a:spcPts val="0"/>
              </a:spcAft>
              <a:buClr>
                <a:srgbClr val="61A00A"/>
              </a:buClr>
              <a:buSzPts val="1200"/>
              <a:buFont typeface="Arial"/>
              <a:buNone/>
            </a:pPr>
            <a:endParaRPr sz="1295"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None/>
            </a:pPr>
            <a:endParaRPr sz="1295"/>
          </a:p>
          <a:p>
            <a:pPr marL="0" lvl="0" indent="0" algn="l" rtl="0">
              <a:lnSpc>
                <a:spcPct val="50000"/>
              </a:lnSpc>
              <a:spcBef>
                <a:spcPts val="0"/>
              </a:spcBef>
              <a:spcAft>
                <a:spcPts val="0"/>
              </a:spcAft>
              <a:buClr>
                <a:schemeClr val="dk1"/>
              </a:buClr>
              <a:buSzPts val="713"/>
              <a:buFont typeface="Arial"/>
              <a:buNone/>
            </a:pPr>
            <a:endParaRPr sz="1295" b="0" i="0" u="none" strike="noStrike" cap="none">
              <a:solidFill>
                <a:schemeClr val="dk2"/>
              </a:solidFill>
              <a:latin typeface="Arial"/>
              <a:ea typeface="Arial"/>
              <a:cs typeface="Arial"/>
              <a:sym typeface="Arial"/>
            </a:endParaRPr>
          </a:p>
          <a:p>
            <a:pPr marL="0" lvl="0" indent="0" algn="l" rtl="0">
              <a:lnSpc>
                <a:spcPct val="50000"/>
              </a:lnSpc>
              <a:spcBef>
                <a:spcPts val="0"/>
              </a:spcBef>
              <a:spcAft>
                <a:spcPts val="0"/>
              </a:spcAft>
              <a:buClr>
                <a:schemeClr val="dk1"/>
              </a:buClr>
              <a:buSzPts val="713"/>
              <a:buFont typeface="Arial"/>
              <a:buNone/>
            </a:pPr>
            <a:endParaRPr sz="1295"/>
          </a:p>
          <a:p>
            <a:pPr marL="0" lvl="0" indent="0" algn="l" rtl="0">
              <a:lnSpc>
                <a:spcPct val="70000"/>
              </a:lnSpc>
              <a:spcBef>
                <a:spcPts val="0"/>
              </a:spcBef>
              <a:spcAft>
                <a:spcPts val="0"/>
              </a:spcAft>
              <a:buClr>
                <a:schemeClr val="dk1"/>
              </a:buClr>
              <a:buSzPts val="1295"/>
              <a:buFont typeface="Arial"/>
              <a:buNone/>
            </a:pPr>
            <a:endParaRPr sz="1295"/>
          </a:p>
          <a:p>
            <a:pPr marL="0" lvl="0" indent="0" algn="l" rtl="0">
              <a:lnSpc>
                <a:spcPct val="90000"/>
              </a:lnSpc>
              <a:spcBef>
                <a:spcPts val="0"/>
              </a:spcBef>
              <a:spcAft>
                <a:spcPts val="0"/>
              </a:spcAft>
              <a:buNone/>
            </a:pPr>
            <a:endParaRPr sz="1110"/>
          </a:p>
        </p:txBody>
      </p:sp>
      <p:sp>
        <p:nvSpPr>
          <p:cNvPr id="7031" name="Google Shape;7031;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1"/>
        <p:cNvGrpSpPr/>
        <p:nvPr/>
      </p:nvGrpSpPr>
      <p:grpSpPr>
        <a:xfrm>
          <a:off x="0" y="0"/>
          <a:ext cx="0" cy="0"/>
          <a:chOff x="0" y="0"/>
          <a:chExt cx="0" cy="0"/>
        </a:xfrm>
      </p:grpSpPr>
      <p:sp>
        <p:nvSpPr>
          <p:cNvPr id="7042" name="Google Shape;7042;p4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3" name="Google Shape;7043;p4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60000"/>
              </a:lnSpc>
              <a:spcBef>
                <a:spcPts val="0"/>
              </a:spcBef>
              <a:spcAft>
                <a:spcPts val="0"/>
              </a:spcAft>
              <a:buClr>
                <a:schemeClr val="dk1"/>
              </a:buClr>
              <a:buSzPts val="713"/>
              <a:buFont typeface="Arial"/>
              <a:buNone/>
            </a:pPr>
            <a:r>
              <a:rPr lang="en-US" sz="1200" b="1">
                <a:solidFill>
                  <a:schemeClr val="dk1"/>
                </a:solidFill>
                <a:latin typeface="Arial"/>
                <a:ea typeface="Arial"/>
                <a:cs typeface="Arial"/>
                <a:sym typeface="Arial"/>
              </a:rPr>
              <a:t>Key Message:</a:t>
            </a:r>
            <a:endParaRPr/>
          </a:p>
          <a:p>
            <a:pPr marL="0" lvl="0" indent="0" algn="l" rtl="0">
              <a:lnSpc>
                <a:spcPct val="60000"/>
              </a:lnSpc>
              <a:spcBef>
                <a:spcPts val="0"/>
              </a:spcBef>
              <a:spcAft>
                <a:spcPts val="0"/>
              </a:spcAft>
              <a:buClr>
                <a:schemeClr val="dk1"/>
              </a:buClr>
              <a:buSzPts val="713"/>
              <a:buFont typeface="Arial"/>
              <a:buNone/>
            </a:pPr>
            <a:r>
              <a:rPr lang="en-US" sz="1200" b="0">
                <a:solidFill>
                  <a:schemeClr val="dk1"/>
                </a:solidFill>
                <a:latin typeface="Arial"/>
                <a:ea typeface="Arial"/>
                <a:cs typeface="Arial"/>
                <a:sym typeface="Arial"/>
              </a:rPr>
              <a:t>VCF Chargeback gives customers the ability to generate and communicate accurate billing information to their tenants, based on their actual use of resources, as well as provide tenants with the confidence that the billing is accurate. </a:t>
            </a:r>
            <a:endParaRPr/>
          </a:p>
          <a:p>
            <a:pPr marL="0" marR="0" lvl="0" indent="0" algn="l" rtl="0">
              <a:lnSpc>
                <a:spcPct val="60000"/>
              </a:lnSpc>
              <a:spcBef>
                <a:spcPts val="0"/>
              </a:spcBef>
              <a:spcAft>
                <a:spcPts val="0"/>
              </a:spcAft>
              <a:buClr>
                <a:schemeClr val="dk1"/>
              </a:buClr>
              <a:buSzPts val="713"/>
              <a:buFont typeface="Arial"/>
              <a:buNone/>
            </a:pPr>
            <a:br>
              <a:rPr lang="en-US" sz="1200" b="0">
                <a:solidFill>
                  <a:schemeClr val="dk1"/>
                </a:solidFill>
                <a:latin typeface="Arial"/>
                <a:ea typeface="Arial"/>
                <a:cs typeface="Arial"/>
                <a:sym typeface="Arial"/>
              </a:rPr>
            </a:br>
            <a:r>
              <a:rPr lang="en-US" sz="1200" b="1">
                <a:solidFill>
                  <a:schemeClr val="dk1"/>
                </a:solidFill>
                <a:latin typeface="Arial"/>
                <a:ea typeface="Arial"/>
                <a:cs typeface="Arial"/>
                <a:sym typeface="Arial"/>
              </a:rPr>
              <a:t>Talk Track:</a:t>
            </a:r>
            <a:br>
              <a:rPr lang="en-US" sz="1200" b="0">
                <a:solidFill>
                  <a:schemeClr val="dk1"/>
                </a:solidFill>
                <a:latin typeface="Arial"/>
                <a:ea typeface="Arial"/>
                <a:cs typeface="Arial"/>
                <a:sym typeface="Arial"/>
              </a:rPr>
            </a:br>
            <a:r>
              <a:rPr lang="en-US" sz="1200" b="0">
                <a:solidFill>
                  <a:schemeClr val="dk1"/>
                </a:solidFill>
                <a:latin typeface="Arial"/>
                <a:ea typeface="Arial"/>
                <a:cs typeface="Arial"/>
                <a:sym typeface="Arial"/>
              </a:rPr>
              <a:t>Customers face the challenge of balancing operational efficiency and fairness when setting of chargebacks for the purpose of billing their tenants. And without the proper tools in place, chargebacks can be a very manual, time-consuming process that, not only, impacts operational efficiency, but can also lead to disputes with tenants who don’t have the transparency they need to understand their bill.  </a:t>
            </a:r>
            <a:endParaRPr/>
          </a:p>
          <a:p>
            <a:pPr marL="0" lvl="0" indent="0" algn="l" rtl="0">
              <a:lnSpc>
                <a:spcPct val="60000"/>
              </a:lnSpc>
              <a:spcBef>
                <a:spcPts val="0"/>
              </a:spcBef>
              <a:spcAft>
                <a:spcPts val="0"/>
              </a:spcAft>
              <a:buClr>
                <a:schemeClr val="dk1"/>
              </a:buClr>
              <a:buSzPts val="1200"/>
              <a:buFont typeface="Arial"/>
              <a:buNone/>
            </a:pPr>
            <a:endParaRPr sz="1200" b="0">
              <a:solidFill>
                <a:schemeClr val="dk1"/>
              </a:solidFill>
              <a:latin typeface="Arial"/>
              <a:ea typeface="Arial"/>
              <a:cs typeface="Arial"/>
              <a:sym typeface="Arial"/>
            </a:endParaRPr>
          </a:p>
          <a:p>
            <a:pPr marL="0" lvl="0" indent="0" algn="l" rtl="0">
              <a:lnSpc>
                <a:spcPct val="60000"/>
              </a:lnSpc>
              <a:spcBef>
                <a:spcPts val="0"/>
              </a:spcBef>
              <a:spcAft>
                <a:spcPts val="0"/>
              </a:spcAft>
              <a:buClr>
                <a:schemeClr val="dk1"/>
              </a:buClr>
              <a:buSzPts val="1200"/>
              <a:buFont typeface="Arial"/>
              <a:buNone/>
            </a:pPr>
            <a:r>
              <a:rPr lang="en-US" sz="1200" b="0">
                <a:solidFill>
                  <a:schemeClr val="dk1"/>
                </a:solidFill>
                <a:latin typeface="Arial"/>
                <a:ea typeface="Arial"/>
                <a:cs typeface="Arial"/>
                <a:sym typeface="Arial"/>
              </a:rPr>
              <a:t>Chargeback in VCF alleviates these challenges with the following capabilities: </a:t>
            </a:r>
            <a:endParaRPr/>
          </a:p>
          <a:p>
            <a:pPr marL="171450" lvl="0" indent="-171450" algn="l" rtl="0">
              <a:lnSpc>
                <a:spcPct val="60000"/>
              </a:lnSpc>
              <a:spcBef>
                <a:spcPts val="0"/>
              </a:spcBef>
              <a:spcAft>
                <a:spcPts val="0"/>
              </a:spcAft>
              <a:buClr>
                <a:schemeClr val="dk1"/>
              </a:buClr>
              <a:buSzPts val="713"/>
              <a:buFont typeface="Arial"/>
              <a:buChar char="•"/>
            </a:pPr>
            <a:r>
              <a:rPr lang="en-US" sz="1200" b="0">
                <a:solidFill>
                  <a:schemeClr val="dk1"/>
                </a:solidFill>
                <a:latin typeface="Arial"/>
                <a:ea typeface="Arial"/>
                <a:cs typeface="Arial"/>
                <a:sym typeface="Arial"/>
              </a:rPr>
              <a:t>Define Rate Cards: Providers can define Rate Cards that calculate metering rates for Compute, storage, and networking, as well as other agreed-upon costs for any org-region combination.</a:t>
            </a:r>
            <a:endParaRPr/>
          </a:p>
          <a:p>
            <a:pPr marL="171450" lvl="0" indent="-171450" algn="l" rtl="0">
              <a:lnSpc>
                <a:spcPct val="60000"/>
              </a:lnSpc>
              <a:spcBef>
                <a:spcPts val="0"/>
              </a:spcBef>
              <a:spcAft>
                <a:spcPts val="0"/>
              </a:spcAft>
              <a:buClr>
                <a:schemeClr val="dk1"/>
              </a:buClr>
              <a:buSzPts val="713"/>
              <a:buFont typeface="Arial"/>
              <a:buChar char="•"/>
            </a:pPr>
            <a:r>
              <a:rPr lang="en-US" sz="1200" b="0">
                <a:solidFill>
                  <a:schemeClr val="dk1"/>
                </a:solidFill>
                <a:latin typeface="Arial"/>
                <a:ea typeface="Arial"/>
                <a:cs typeface="Arial"/>
                <a:sym typeface="Arial"/>
              </a:rPr>
              <a:t>Generate Bills (On Demand or Scheduled) : Providers can generate bills for tenants as there are needed, as well as automate their creation with its scheduling capability.</a:t>
            </a:r>
            <a:endParaRPr/>
          </a:p>
          <a:p>
            <a:pPr marL="171450" marR="0" lvl="0" indent="-171450" algn="l" rtl="0">
              <a:lnSpc>
                <a:spcPct val="60000"/>
              </a:lnSpc>
              <a:spcBef>
                <a:spcPts val="0"/>
              </a:spcBef>
              <a:spcAft>
                <a:spcPts val="0"/>
              </a:spcAft>
              <a:buClr>
                <a:schemeClr val="dk1"/>
              </a:buClr>
              <a:buSzPts val="713"/>
              <a:buFont typeface="Arial"/>
              <a:buChar char="•"/>
            </a:pPr>
            <a:r>
              <a:rPr lang="en-US" sz="1200" b="0">
                <a:solidFill>
                  <a:schemeClr val="dk1"/>
                </a:solidFill>
                <a:latin typeface="Arial"/>
                <a:ea typeface="Arial"/>
                <a:cs typeface="Arial"/>
                <a:sym typeface="Arial"/>
              </a:rPr>
              <a:t>Share generated bills with tenants: Once a bill is generated, tenants can see a detailed breakdown of their costs via the Automation Console in VCF. </a:t>
            </a:r>
            <a:endParaRPr/>
          </a:p>
          <a:p>
            <a:pPr marL="171450" lvl="0" indent="-118172" algn="l" rtl="0">
              <a:spcBef>
                <a:spcPts val="750"/>
              </a:spcBef>
              <a:spcAft>
                <a:spcPts val="0"/>
              </a:spcAft>
              <a:buClr>
                <a:schemeClr val="dk1"/>
              </a:buClr>
              <a:buSzPts val="839"/>
              <a:buFont typeface="Arial"/>
              <a:buNone/>
            </a:pPr>
            <a:endParaRPr sz="1400"/>
          </a:p>
          <a:p>
            <a:pPr marL="0" marR="0" lvl="0" indent="0" algn="l" rtl="0">
              <a:lnSpc>
                <a:spcPct val="100000"/>
              </a:lnSpc>
              <a:spcBef>
                <a:spcPts val="0"/>
              </a:spcBef>
              <a:spcAft>
                <a:spcPts val="0"/>
              </a:spcAft>
              <a:buClr>
                <a:schemeClr val="dk1"/>
              </a:buClr>
              <a:buSzPts val="1400"/>
              <a:buFont typeface="Arial"/>
              <a:buNone/>
            </a:pPr>
            <a:r>
              <a:rPr lang="en-US" sz="1400" b="1" u="none" strike="noStrike">
                <a:solidFill>
                  <a:schemeClr val="dk1"/>
                </a:solidFill>
              </a:rPr>
              <a:t>Notes:</a:t>
            </a:r>
            <a:endParaRPr sz="1400" u="none" strike="noStrike">
              <a:solidFill>
                <a:schemeClr val="dk1"/>
              </a:solidFill>
            </a:endParaRPr>
          </a:p>
          <a:p>
            <a:pPr marL="0" marR="0" lvl="0" indent="0" algn="l" rtl="0">
              <a:lnSpc>
                <a:spcPct val="100000"/>
              </a:lnSpc>
              <a:spcBef>
                <a:spcPts val="0"/>
              </a:spcBef>
              <a:spcAft>
                <a:spcPts val="0"/>
              </a:spcAft>
              <a:buClr>
                <a:schemeClr val="dk1"/>
              </a:buClr>
              <a:buSzPts val="1400"/>
              <a:buFont typeface="Arial"/>
              <a:buNone/>
            </a:pPr>
            <a:endParaRPr sz="1400" u="none" strike="noStrike">
              <a:solidFill>
                <a:schemeClr val="dk1"/>
              </a:solidFill>
            </a:endParaRPr>
          </a:p>
          <a:p>
            <a:pPr marL="0" lvl="0" indent="0" algn="l" rtl="0">
              <a:spcBef>
                <a:spcPts val="0"/>
              </a:spcBef>
              <a:spcAft>
                <a:spcPts val="0"/>
              </a:spcAft>
              <a:buNone/>
            </a:pPr>
            <a:r>
              <a:rPr lang="en-US" sz="1400" b="1" u="none" strike="noStrike">
                <a:solidFill>
                  <a:schemeClr val="dk1"/>
                </a:solidFill>
              </a:rPr>
              <a:t>Resources:</a:t>
            </a:r>
            <a:br>
              <a:rPr lang="en-US" sz="1400" b="1" u="none" strike="noStrike">
                <a:solidFill>
                  <a:schemeClr val="dk1"/>
                </a:solidFill>
              </a:rPr>
            </a:br>
            <a:endParaRPr sz="1400">
              <a:solidFill>
                <a:srgbClr val="DCA10D"/>
              </a:solidFill>
              <a:latin typeface="Helvetica Neue"/>
              <a:ea typeface="Helvetica Neue"/>
              <a:cs typeface="Helvetica Neue"/>
              <a:sym typeface="Helvetica Neue"/>
            </a:endParaRPr>
          </a:p>
          <a:p>
            <a:pPr marL="0" lvl="0" indent="0" algn="l" rtl="0">
              <a:lnSpc>
                <a:spcPct val="80000"/>
              </a:lnSpc>
              <a:spcBef>
                <a:spcPts val="0"/>
              </a:spcBef>
              <a:spcAft>
                <a:spcPts val="0"/>
              </a:spcAft>
              <a:buClr>
                <a:schemeClr val="dk1"/>
              </a:buClr>
              <a:buSzPts val="839"/>
              <a:buFont typeface="Arial"/>
              <a:buNone/>
            </a:pPr>
            <a:endParaRPr sz="1400"/>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7044" name="Google Shape;7044;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3"/>
        <p:cNvGrpSpPr/>
        <p:nvPr/>
      </p:nvGrpSpPr>
      <p:grpSpPr>
        <a:xfrm>
          <a:off x="0" y="0"/>
          <a:ext cx="0" cy="0"/>
          <a:chOff x="0" y="0"/>
          <a:chExt cx="0" cy="0"/>
        </a:xfrm>
      </p:grpSpPr>
      <p:sp>
        <p:nvSpPr>
          <p:cNvPr id="7054" name="Google Shape;7054;p4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55" name="Google Shape;7055;p4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40000"/>
              </a:lnSpc>
              <a:spcBef>
                <a:spcPts val="0"/>
              </a:spcBef>
              <a:spcAft>
                <a:spcPts val="0"/>
              </a:spcAft>
              <a:buClr>
                <a:schemeClr val="dk1"/>
              </a:buClr>
              <a:buSzPts val="713"/>
              <a:buFont typeface="Arial"/>
              <a:buNone/>
            </a:pPr>
            <a:r>
              <a:rPr lang="en-US" sz="542" b="1">
                <a:latin typeface="Arial"/>
                <a:ea typeface="Arial"/>
                <a:cs typeface="Arial"/>
                <a:sym typeface="Arial"/>
              </a:rPr>
              <a:t>Key Message: </a:t>
            </a:r>
            <a:endParaRPr sz="930"/>
          </a:p>
          <a:p>
            <a:pPr marL="0" marR="0" lvl="0" indent="0" algn="l" rtl="0">
              <a:lnSpc>
                <a:spcPct val="40000"/>
              </a:lnSpc>
              <a:spcBef>
                <a:spcPts val="0"/>
              </a:spcBef>
              <a:spcAft>
                <a:spcPts val="0"/>
              </a:spcAft>
              <a:buClr>
                <a:schemeClr val="dk1"/>
              </a:buClr>
              <a:buSzPts val="713"/>
              <a:buFont typeface="Arial"/>
              <a:buNone/>
            </a:pPr>
            <a:r>
              <a:rPr lang="en-US" sz="930"/>
              <a:t>VMware’s migration planning process provides an </a:t>
            </a:r>
            <a:r>
              <a:rPr lang="en-US" sz="930" b="1"/>
              <a:t>end-to-end</a:t>
            </a:r>
            <a:r>
              <a:rPr lang="en-US" sz="930"/>
              <a:t> solution for planning, scheduling, and migrating workloads at scale. The structured approach ensures minimal disruption, improved efficiency, and a seamless transition to VCF (VMware Cloud Foundation).</a:t>
            </a:r>
            <a:endParaRPr sz="930"/>
          </a:p>
          <a:p>
            <a:pPr marL="0" lvl="0" indent="0" algn="l" rtl="0">
              <a:lnSpc>
                <a:spcPct val="40000"/>
              </a:lnSpc>
              <a:spcBef>
                <a:spcPts val="0"/>
              </a:spcBef>
              <a:spcAft>
                <a:spcPts val="0"/>
              </a:spcAft>
              <a:buClr>
                <a:schemeClr val="dk1"/>
              </a:buClr>
              <a:buSzPts val="713"/>
              <a:buFont typeface="Arial"/>
              <a:buNone/>
            </a:pPr>
            <a:endParaRPr sz="620" b="1">
              <a:latin typeface="Arial"/>
              <a:ea typeface="Arial"/>
              <a:cs typeface="Arial"/>
              <a:sym typeface="Arial"/>
            </a:endParaRPr>
          </a:p>
          <a:p>
            <a:pPr marL="0" lvl="0" indent="0" algn="l" rtl="0">
              <a:lnSpc>
                <a:spcPct val="40000"/>
              </a:lnSpc>
              <a:spcBef>
                <a:spcPts val="0"/>
              </a:spcBef>
              <a:spcAft>
                <a:spcPts val="0"/>
              </a:spcAft>
              <a:buClr>
                <a:schemeClr val="dk1"/>
              </a:buClr>
              <a:buSzPts val="713"/>
              <a:buFont typeface="Arial"/>
              <a:buNone/>
            </a:pPr>
            <a:r>
              <a:rPr lang="en-US" sz="542" b="1">
                <a:latin typeface="Arial"/>
                <a:ea typeface="Arial"/>
                <a:cs typeface="Arial"/>
                <a:sym typeface="Arial"/>
              </a:rPr>
              <a:t>Talk Track: </a:t>
            </a:r>
            <a:endParaRPr sz="930"/>
          </a:p>
          <a:p>
            <a:pPr marL="0" lvl="0" indent="0" algn="l" rtl="0">
              <a:lnSpc>
                <a:spcPct val="80000"/>
              </a:lnSpc>
              <a:spcBef>
                <a:spcPts val="0"/>
              </a:spcBef>
              <a:spcAft>
                <a:spcPts val="0"/>
              </a:spcAft>
              <a:buClr>
                <a:schemeClr val="dk1"/>
              </a:buClr>
              <a:buSzPts val="930"/>
              <a:buFont typeface="Arial"/>
              <a:buNone/>
            </a:pPr>
            <a:r>
              <a:rPr lang="en-US" sz="930" b="0"/>
              <a:t>1. </a:t>
            </a:r>
            <a:r>
              <a:rPr lang="en-US" sz="930" b="0" u="sng"/>
              <a:t>Introduction to Workload Migration Planning</a:t>
            </a:r>
            <a:endParaRPr/>
          </a:p>
          <a:p>
            <a:pPr marL="0" lvl="0" indent="0" algn="l" rtl="0">
              <a:lnSpc>
                <a:spcPct val="80000"/>
              </a:lnSpc>
              <a:spcBef>
                <a:spcPts val="0"/>
              </a:spcBef>
              <a:spcAft>
                <a:spcPts val="0"/>
              </a:spcAft>
              <a:buClr>
                <a:schemeClr val="dk1"/>
              </a:buClr>
              <a:buSzPts val="930"/>
              <a:buFont typeface="Arial"/>
              <a:buNone/>
            </a:pPr>
            <a:r>
              <a:rPr lang="en-US" sz="930"/>
              <a:t>• Many organizations face challenges when migrating workloads at scale, including application dependencies, resource allocation, and ensuring a smooth transition.</a:t>
            </a:r>
            <a:endParaRPr sz="930"/>
          </a:p>
          <a:p>
            <a:pPr marL="0" lvl="0" indent="0" algn="l" rtl="0">
              <a:lnSpc>
                <a:spcPct val="80000"/>
              </a:lnSpc>
              <a:spcBef>
                <a:spcPts val="0"/>
              </a:spcBef>
              <a:spcAft>
                <a:spcPts val="0"/>
              </a:spcAft>
              <a:buClr>
                <a:schemeClr val="dk1"/>
              </a:buClr>
              <a:buSzPts val="930"/>
              <a:buFont typeface="Arial"/>
              <a:buNone/>
            </a:pPr>
            <a:r>
              <a:rPr lang="en-US" sz="930"/>
              <a:t>• This solution simplifies and streamlines migration with a guided step-by-step workflow.</a:t>
            </a:r>
            <a:endParaRPr sz="930"/>
          </a:p>
          <a:p>
            <a:pPr marL="0" lvl="0" indent="0" algn="l" rtl="0">
              <a:lnSpc>
                <a:spcPct val="80000"/>
              </a:lnSpc>
              <a:spcBef>
                <a:spcPts val="0"/>
              </a:spcBef>
              <a:spcAft>
                <a:spcPts val="0"/>
              </a:spcAft>
              <a:buClr>
                <a:schemeClr val="dk1"/>
              </a:buClr>
              <a:buSzPts val="930"/>
              <a:buFont typeface="Arial"/>
              <a:buNone/>
            </a:pPr>
            <a:endParaRPr sz="930"/>
          </a:p>
          <a:p>
            <a:pPr marL="0" lvl="0" indent="0" algn="l" rtl="0">
              <a:lnSpc>
                <a:spcPct val="80000"/>
              </a:lnSpc>
              <a:spcBef>
                <a:spcPts val="0"/>
              </a:spcBef>
              <a:spcAft>
                <a:spcPts val="0"/>
              </a:spcAft>
              <a:buClr>
                <a:schemeClr val="dk1"/>
              </a:buClr>
              <a:buSzPts val="930"/>
              <a:buFont typeface="Arial"/>
              <a:buNone/>
            </a:pPr>
            <a:r>
              <a:rPr lang="en-US" sz="930"/>
              <a:t>2. </a:t>
            </a:r>
            <a:r>
              <a:rPr lang="en-US" sz="930" b="0" u="sng"/>
              <a:t>Migration Planning Process</a:t>
            </a:r>
            <a:endParaRPr/>
          </a:p>
          <a:p>
            <a:pPr marL="0" lvl="0" indent="0" algn="l" rtl="0">
              <a:lnSpc>
                <a:spcPct val="80000"/>
              </a:lnSpc>
              <a:spcBef>
                <a:spcPts val="0"/>
              </a:spcBef>
              <a:spcAft>
                <a:spcPts val="0"/>
              </a:spcAft>
              <a:buClr>
                <a:schemeClr val="dk1"/>
              </a:buClr>
              <a:buSzPts val="930"/>
              <a:buFont typeface="Arial"/>
              <a:buNone/>
            </a:pPr>
            <a:r>
              <a:rPr lang="en-US" sz="930"/>
              <a:t>• </a:t>
            </a:r>
            <a:r>
              <a:rPr lang="en-US" sz="930" b="0" u="sng"/>
              <a:t>Define Scope: </a:t>
            </a:r>
            <a:r>
              <a:rPr lang="en-US" sz="930"/>
              <a:t>We begin by identifying applications or members of applications that need migration.</a:t>
            </a:r>
            <a:endParaRPr sz="930"/>
          </a:p>
          <a:p>
            <a:pPr marL="0" lvl="0" indent="0" algn="l" rtl="0">
              <a:lnSpc>
                <a:spcPct val="80000"/>
              </a:lnSpc>
              <a:spcBef>
                <a:spcPts val="0"/>
              </a:spcBef>
              <a:spcAft>
                <a:spcPts val="0"/>
              </a:spcAft>
              <a:buClr>
                <a:schemeClr val="dk1"/>
              </a:buClr>
              <a:buSzPts val="930"/>
              <a:buFont typeface="Arial"/>
              <a:buNone/>
            </a:pPr>
            <a:r>
              <a:rPr lang="en-US" sz="930"/>
              <a:t>• </a:t>
            </a:r>
            <a:r>
              <a:rPr lang="en-US" sz="930" b="0" u="sng"/>
              <a:t>Discover Dependencies: </a:t>
            </a:r>
            <a:r>
              <a:rPr lang="en-US" sz="930"/>
              <a:t>A crucial step is mapping out application and network dependencies to ensure seamless migration without breaking critical services.</a:t>
            </a:r>
            <a:endParaRPr sz="930"/>
          </a:p>
          <a:p>
            <a:pPr marL="0" lvl="0" indent="0" algn="l" rtl="0">
              <a:lnSpc>
                <a:spcPct val="80000"/>
              </a:lnSpc>
              <a:spcBef>
                <a:spcPts val="0"/>
              </a:spcBef>
              <a:spcAft>
                <a:spcPts val="0"/>
              </a:spcAft>
              <a:buClr>
                <a:schemeClr val="dk1"/>
              </a:buClr>
              <a:buSzPts val="930"/>
              <a:buFont typeface="Arial"/>
              <a:buNone/>
            </a:pPr>
            <a:r>
              <a:rPr lang="en-US" sz="930"/>
              <a:t>• </a:t>
            </a:r>
            <a:r>
              <a:rPr lang="en-US" sz="930" b="0" u="sng"/>
              <a:t>Create Migration Waves: </a:t>
            </a:r>
            <a:r>
              <a:rPr lang="en-US" sz="930"/>
              <a:t>Workloads are grouped into logical migration waves, ensuring controlled execution.</a:t>
            </a:r>
            <a:endParaRPr sz="930"/>
          </a:p>
          <a:p>
            <a:pPr marL="0" lvl="0" indent="0" algn="l" rtl="0">
              <a:lnSpc>
                <a:spcPct val="80000"/>
              </a:lnSpc>
              <a:spcBef>
                <a:spcPts val="0"/>
              </a:spcBef>
              <a:spcAft>
                <a:spcPts val="0"/>
              </a:spcAft>
              <a:buClr>
                <a:schemeClr val="dk1"/>
              </a:buClr>
              <a:buSzPts val="930"/>
              <a:buFont typeface="Arial"/>
              <a:buNone/>
            </a:pPr>
            <a:r>
              <a:rPr lang="en-US" sz="930"/>
              <a:t>• </a:t>
            </a:r>
            <a:r>
              <a:rPr lang="en-US" sz="930" b="0" u="sng"/>
              <a:t>Resource Overview: </a:t>
            </a:r>
            <a:r>
              <a:rPr lang="en-US" sz="930"/>
              <a:t>The platform provides a comprehensive view of memory, cores, and storage required for the migration.</a:t>
            </a:r>
            <a:endParaRPr sz="930"/>
          </a:p>
          <a:p>
            <a:pPr marL="0" lvl="0" indent="0" algn="l" rtl="0">
              <a:lnSpc>
                <a:spcPct val="80000"/>
              </a:lnSpc>
              <a:spcBef>
                <a:spcPts val="0"/>
              </a:spcBef>
              <a:spcAft>
                <a:spcPts val="0"/>
              </a:spcAft>
              <a:buClr>
                <a:schemeClr val="dk1"/>
              </a:buClr>
              <a:buSzPts val="930"/>
              <a:buFont typeface="Arial"/>
              <a:buNone/>
            </a:pPr>
            <a:r>
              <a:rPr lang="en-US" sz="930"/>
              <a:t>• </a:t>
            </a:r>
            <a:r>
              <a:rPr lang="en-US" sz="930" b="0" u="sng"/>
              <a:t>Create Mobility Groups &amp; Commit to HCX: </a:t>
            </a:r>
            <a:r>
              <a:rPr lang="en-US" sz="930"/>
              <a:t>We ensure optimized workload movement by creating mobility groups while leveraging HCX for migration execution.</a:t>
            </a:r>
            <a:endParaRPr sz="930"/>
          </a:p>
          <a:p>
            <a:pPr marL="0" lvl="0" indent="0" algn="l" rtl="0">
              <a:lnSpc>
                <a:spcPct val="80000"/>
              </a:lnSpc>
              <a:spcBef>
                <a:spcPts val="0"/>
              </a:spcBef>
              <a:spcAft>
                <a:spcPts val="0"/>
              </a:spcAft>
              <a:buClr>
                <a:schemeClr val="dk1"/>
              </a:buClr>
              <a:buSzPts val="930"/>
              <a:buFont typeface="Arial"/>
              <a:buNone/>
            </a:pPr>
            <a:endParaRPr sz="930"/>
          </a:p>
          <a:p>
            <a:pPr marL="0" lvl="0" indent="0" algn="l" rtl="0">
              <a:lnSpc>
                <a:spcPct val="80000"/>
              </a:lnSpc>
              <a:spcBef>
                <a:spcPts val="0"/>
              </a:spcBef>
              <a:spcAft>
                <a:spcPts val="0"/>
              </a:spcAft>
              <a:buClr>
                <a:schemeClr val="dk1"/>
              </a:buClr>
              <a:buSzPts val="930"/>
              <a:buFont typeface="Arial"/>
              <a:buNone/>
            </a:pPr>
            <a:r>
              <a:rPr lang="en-US" sz="930" b="0"/>
              <a:t>3. </a:t>
            </a:r>
            <a:r>
              <a:rPr lang="en-US" sz="930" b="0" u="sng"/>
              <a:t>Supported Migration Scenarios</a:t>
            </a:r>
            <a:endParaRPr/>
          </a:p>
          <a:p>
            <a:pPr marL="0" lvl="0" indent="0" algn="l" rtl="0">
              <a:lnSpc>
                <a:spcPct val="80000"/>
              </a:lnSpc>
              <a:spcBef>
                <a:spcPts val="0"/>
              </a:spcBef>
              <a:spcAft>
                <a:spcPts val="0"/>
              </a:spcAft>
              <a:buClr>
                <a:schemeClr val="dk1"/>
              </a:buClr>
              <a:buSzPts val="930"/>
              <a:buFont typeface="Arial"/>
              <a:buNone/>
            </a:pPr>
            <a:r>
              <a:rPr lang="en-US" sz="930"/>
              <a:t>• This approach supports </a:t>
            </a:r>
            <a:r>
              <a:rPr lang="en-US" sz="930" b="0" u="sng"/>
              <a:t>on-premises vSphere migrations</a:t>
            </a:r>
            <a:r>
              <a:rPr lang="en-US" sz="930"/>
              <a:t>, including transitions from </a:t>
            </a:r>
            <a:r>
              <a:rPr lang="en-US" sz="930" b="0" u="sng"/>
              <a:t>non-VCF vSphere/vCenter environments to VCF</a:t>
            </a:r>
            <a:r>
              <a:rPr lang="en-US" sz="930" b="1"/>
              <a:t> - </a:t>
            </a:r>
            <a:r>
              <a:rPr lang="en-US" sz="930"/>
              <a:t>ideal for M&amp;A activities or data center consolidation.</a:t>
            </a:r>
            <a:endParaRPr sz="930"/>
          </a:p>
          <a:p>
            <a:pPr marL="0" lvl="0" indent="0" algn="l" rtl="0">
              <a:lnSpc>
                <a:spcPct val="80000"/>
              </a:lnSpc>
              <a:spcBef>
                <a:spcPts val="0"/>
              </a:spcBef>
              <a:spcAft>
                <a:spcPts val="0"/>
              </a:spcAft>
              <a:buClr>
                <a:schemeClr val="dk1"/>
              </a:buClr>
              <a:buSzPts val="542"/>
              <a:buFont typeface="Arial"/>
              <a:buNone/>
            </a:pPr>
            <a:endParaRPr sz="542" b="1">
              <a:latin typeface="Arial"/>
              <a:ea typeface="Arial"/>
              <a:cs typeface="Arial"/>
              <a:sym typeface="Arial"/>
            </a:endParaRPr>
          </a:p>
          <a:p>
            <a:pPr marL="0" lvl="0" indent="0" algn="l" rtl="0">
              <a:lnSpc>
                <a:spcPct val="80000"/>
              </a:lnSpc>
              <a:spcBef>
                <a:spcPts val="0"/>
              </a:spcBef>
              <a:spcAft>
                <a:spcPts val="0"/>
              </a:spcAft>
              <a:buClr>
                <a:schemeClr val="dk1"/>
              </a:buClr>
              <a:buSzPts val="1085"/>
              <a:buFont typeface="Arial"/>
              <a:buNone/>
            </a:pPr>
            <a:r>
              <a:rPr lang="en-US" sz="1085" b="0" u="sng"/>
              <a:t>Benefits:</a:t>
            </a:r>
            <a:endParaRPr/>
          </a:p>
          <a:p>
            <a:pPr marL="0" lvl="0" indent="0" algn="l" rtl="0">
              <a:lnSpc>
                <a:spcPct val="80000"/>
              </a:lnSpc>
              <a:spcBef>
                <a:spcPts val="0"/>
              </a:spcBef>
              <a:spcAft>
                <a:spcPts val="0"/>
              </a:spcAft>
              <a:buClr>
                <a:schemeClr val="dk1"/>
              </a:buClr>
              <a:buSzPts val="1085"/>
              <a:buFont typeface="Arial"/>
              <a:buNone/>
            </a:pPr>
            <a:r>
              <a:rPr lang="en-US" sz="1085"/>
              <a:t>• </a:t>
            </a:r>
            <a:r>
              <a:rPr lang="en-US" sz="1085" b="0" u="sng"/>
              <a:t>Reduces Complexity </a:t>
            </a:r>
            <a:r>
              <a:rPr lang="en-US" sz="1085"/>
              <a:t>– Provides a structured workflow to manage large-scale migrations efficiently.</a:t>
            </a:r>
            <a:endParaRPr sz="930"/>
          </a:p>
          <a:p>
            <a:pPr marL="0" lvl="0" indent="0" algn="l" rtl="0">
              <a:lnSpc>
                <a:spcPct val="80000"/>
              </a:lnSpc>
              <a:spcBef>
                <a:spcPts val="0"/>
              </a:spcBef>
              <a:spcAft>
                <a:spcPts val="0"/>
              </a:spcAft>
              <a:buClr>
                <a:schemeClr val="dk1"/>
              </a:buClr>
              <a:buSzPts val="1085"/>
              <a:buFont typeface="Arial"/>
              <a:buNone/>
            </a:pPr>
            <a:r>
              <a:rPr lang="en-US" sz="1085"/>
              <a:t>• </a:t>
            </a:r>
            <a:r>
              <a:rPr lang="en-US" sz="1085" b="0" u="sng"/>
              <a:t>Minimizes Downtime </a:t>
            </a:r>
            <a:r>
              <a:rPr lang="en-US" sz="1085"/>
              <a:t>– Through dependency discovery and well-planned migration waves, we ensure minimal impact to business operations.</a:t>
            </a:r>
            <a:endParaRPr sz="930"/>
          </a:p>
          <a:p>
            <a:pPr marL="0" lvl="0" indent="0" algn="l" rtl="0">
              <a:lnSpc>
                <a:spcPct val="80000"/>
              </a:lnSpc>
              <a:spcBef>
                <a:spcPts val="0"/>
              </a:spcBef>
              <a:spcAft>
                <a:spcPts val="0"/>
              </a:spcAft>
              <a:buClr>
                <a:schemeClr val="dk1"/>
              </a:buClr>
              <a:buSzPts val="1085"/>
              <a:buFont typeface="Arial"/>
              <a:buNone/>
            </a:pPr>
            <a:r>
              <a:rPr lang="en-US" sz="1085"/>
              <a:t>• </a:t>
            </a:r>
            <a:r>
              <a:rPr lang="en-US" sz="1085" b="0" u="sng"/>
              <a:t>Resource Optimization </a:t>
            </a:r>
            <a:r>
              <a:rPr lang="en-US" sz="1085"/>
              <a:t>– The platform offers insights into required resources, avoiding bottlenecks and over-provisioning.</a:t>
            </a:r>
            <a:endParaRPr sz="930"/>
          </a:p>
          <a:p>
            <a:pPr marL="0" lvl="0" indent="0" algn="l" rtl="0">
              <a:lnSpc>
                <a:spcPct val="80000"/>
              </a:lnSpc>
              <a:spcBef>
                <a:spcPts val="0"/>
              </a:spcBef>
              <a:spcAft>
                <a:spcPts val="0"/>
              </a:spcAft>
              <a:buClr>
                <a:schemeClr val="dk1"/>
              </a:buClr>
              <a:buSzPts val="1085"/>
              <a:buFont typeface="Arial"/>
              <a:buNone/>
            </a:pPr>
            <a:r>
              <a:rPr lang="en-US" sz="1085"/>
              <a:t>• </a:t>
            </a:r>
            <a:r>
              <a:rPr lang="en-US" sz="1085" b="0" u="sng"/>
              <a:t>Scalability &amp; Efficiency </a:t>
            </a:r>
            <a:r>
              <a:rPr lang="en-US" sz="1085"/>
              <a:t>– Designed to handle migrations at scale, supporting enterprises undergoing infrastructure modernization.</a:t>
            </a:r>
            <a:endParaRPr sz="930"/>
          </a:p>
          <a:p>
            <a:pPr marL="0" lvl="0" indent="0" algn="l" rtl="0">
              <a:lnSpc>
                <a:spcPct val="80000"/>
              </a:lnSpc>
              <a:spcBef>
                <a:spcPts val="0"/>
              </a:spcBef>
              <a:spcAft>
                <a:spcPts val="0"/>
              </a:spcAft>
              <a:buClr>
                <a:schemeClr val="dk1"/>
              </a:buClr>
              <a:buSzPts val="1085"/>
              <a:buFont typeface="Arial"/>
              <a:buNone/>
            </a:pPr>
            <a:r>
              <a:rPr lang="en-US" sz="1085"/>
              <a:t>• </a:t>
            </a:r>
            <a:r>
              <a:rPr lang="en-US" sz="1085" b="0" u="sng"/>
              <a:t>Seamless Integration with HCX </a:t>
            </a:r>
            <a:r>
              <a:rPr lang="en-US" sz="1085"/>
              <a:t>– Ensures workload mobility without extensive manual intervention.</a:t>
            </a:r>
            <a:endParaRPr sz="930"/>
          </a:p>
          <a:p>
            <a:pPr marL="0" lvl="0" indent="0" algn="l" rtl="0">
              <a:lnSpc>
                <a:spcPct val="40000"/>
              </a:lnSpc>
              <a:spcBef>
                <a:spcPts val="0"/>
              </a:spcBef>
              <a:spcAft>
                <a:spcPts val="0"/>
              </a:spcAft>
              <a:buClr>
                <a:schemeClr val="dk1"/>
              </a:buClr>
              <a:buSzPts val="713"/>
              <a:buFont typeface="Arial"/>
              <a:buNone/>
            </a:pPr>
            <a:endParaRPr sz="620"/>
          </a:p>
          <a:p>
            <a:pPr marL="0" marR="0" lvl="0" indent="0" algn="l" rtl="0">
              <a:lnSpc>
                <a:spcPct val="80000"/>
              </a:lnSpc>
              <a:spcBef>
                <a:spcPts val="0"/>
              </a:spcBef>
              <a:spcAft>
                <a:spcPts val="0"/>
              </a:spcAft>
              <a:buClr>
                <a:schemeClr val="dk1"/>
              </a:buClr>
              <a:buSzPts val="930"/>
              <a:buFont typeface="Arial"/>
              <a:buNone/>
            </a:pPr>
            <a:r>
              <a:rPr lang="en-US" sz="930" b="1" u="none" strike="noStrike">
                <a:solidFill>
                  <a:schemeClr val="dk1"/>
                </a:solidFill>
              </a:rPr>
              <a:t>Notes:</a:t>
            </a:r>
            <a:br>
              <a:rPr lang="en-US" sz="930" u="none" strike="noStrike">
                <a:solidFill>
                  <a:schemeClr val="dk1"/>
                </a:solidFill>
              </a:rPr>
            </a:br>
            <a:r>
              <a:rPr lang="en-US" sz="930" u="none" strike="noStrike">
                <a:solidFill>
                  <a:schemeClr val="dk1"/>
                </a:solidFill>
              </a:rPr>
              <a:t>x</a:t>
            </a:r>
            <a:endParaRPr/>
          </a:p>
          <a:p>
            <a:pPr marL="0" marR="0" lvl="0" indent="0" algn="l" rtl="0">
              <a:lnSpc>
                <a:spcPct val="80000"/>
              </a:lnSpc>
              <a:spcBef>
                <a:spcPts val="0"/>
              </a:spcBef>
              <a:spcAft>
                <a:spcPts val="0"/>
              </a:spcAft>
              <a:buClr>
                <a:schemeClr val="dk1"/>
              </a:buClr>
              <a:buSzPts val="930"/>
              <a:buFont typeface="Arial"/>
              <a:buNone/>
            </a:pPr>
            <a:endParaRPr sz="930" u="none" strike="noStrike">
              <a:solidFill>
                <a:schemeClr val="dk1"/>
              </a:solidFill>
            </a:endParaRPr>
          </a:p>
          <a:p>
            <a:pPr marL="0" lvl="0" indent="0" algn="l" rtl="0">
              <a:lnSpc>
                <a:spcPct val="80000"/>
              </a:lnSpc>
              <a:spcBef>
                <a:spcPts val="0"/>
              </a:spcBef>
              <a:spcAft>
                <a:spcPts val="0"/>
              </a:spcAft>
              <a:buNone/>
            </a:pPr>
            <a:r>
              <a:rPr lang="en-US" sz="930" b="1" u="none" strike="noStrike">
                <a:solidFill>
                  <a:schemeClr val="dk1"/>
                </a:solidFill>
              </a:rPr>
              <a:t>Resources:</a:t>
            </a:r>
            <a:br>
              <a:rPr lang="en-US" sz="930" b="1" u="none" strike="noStrike">
                <a:solidFill>
                  <a:schemeClr val="dk1"/>
                </a:solidFill>
              </a:rPr>
            </a:br>
            <a:r>
              <a:rPr lang="en-US" sz="930" b="0" u="none" strike="noStrike">
                <a:solidFill>
                  <a:schemeClr val="dk1"/>
                </a:solidFill>
              </a:rPr>
              <a:t>x</a:t>
            </a:r>
            <a:endParaRPr sz="930">
              <a:solidFill>
                <a:srgbClr val="DCA10D"/>
              </a:solidFill>
              <a:latin typeface="Helvetica Neue"/>
              <a:ea typeface="Helvetica Neue"/>
              <a:cs typeface="Helvetica Neue"/>
              <a:sym typeface="Helvetica Neue"/>
            </a:endParaRPr>
          </a:p>
          <a:p>
            <a:pPr marL="0" lvl="0" indent="0" algn="l" rtl="0">
              <a:lnSpc>
                <a:spcPct val="80000"/>
              </a:lnSpc>
              <a:spcBef>
                <a:spcPts val="0"/>
              </a:spcBef>
              <a:spcAft>
                <a:spcPts val="0"/>
              </a:spcAft>
              <a:buNone/>
            </a:pPr>
            <a:endParaRPr sz="930"/>
          </a:p>
        </p:txBody>
      </p:sp>
      <p:sp>
        <p:nvSpPr>
          <p:cNvPr id="7056" name="Google Shape;7056;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4"/>
        <p:cNvGrpSpPr/>
        <p:nvPr/>
      </p:nvGrpSpPr>
      <p:grpSpPr>
        <a:xfrm>
          <a:off x="0" y="0"/>
          <a:ext cx="0" cy="0"/>
          <a:chOff x="0" y="0"/>
          <a:chExt cx="0" cy="0"/>
        </a:xfrm>
      </p:grpSpPr>
      <p:sp>
        <p:nvSpPr>
          <p:cNvPr id="35" name="Google Shape;35;p10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0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37" name="Google Shape;37;p10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 Plum">
  <p:cSld name="1_Title Slide – Plum">
    <p:spTree>
      <p:nvGrpSpPr>
        <p:cNvPr id="1" name="Shape 38"/>
        <p:cNvGrpSpPr/>
        <p:nvPr/>
      </p:nvGrpSpPr>
      <p:grpSpPr>
        <a:xfrm>
          <a:off x="0" y="0"/>
          <a:ext cx="0" cy="0"/>
          <a:chOff x="0" y="0"/>
          <a:chExt cx="0" cy="0"/>
        </a:xfrm>
      </p:grpSpPr>
      <p:pic>
        <p:nvPicPr>
          <p:cNvPr id="39" name="Google Shape;39;p103"/>
          <p:cNvPicPr preferRelativeResize="0"/>
          <p:nvPr/>
        </p:nvPicPr>
        <p:blipFill rotWithShape="1">
          <a:blip r:embed="rId2">
            <a:alphaModFix/>
          </a:blip>
          <a:srcRect l="1042" r="1971" b="1787"/>
          <a:stretch/>
        </p:blipFill>
        <p:spPr>
          <a:xfrm>
            <a:off x="0" y="658109"/>
            <a:ext cx="12188825" cy="6205839"/>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4509"/>
              </a:schemeClr>
            </a:outerShdw>
          </a:effectLst>
        </p:spPr>
      </p:pic>
      <p:sp>
        <p:nvSpPr>
          <p:cNvPr id="40" name="Google Shape;40;p103"/>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5"/>
              </a:gs>
              <a:gs pos="16000">
                <a:schemeClr val="accent5"/>
              </a:gs>
              <a:gs pos="45000">
                <a:srgbClr val="4764A1"/>
              </a:gs>
              <a:gs pos="90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1" name="Google Shape;41;p103"/>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2" name="Google Shape;42;p103"/>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3" name="Google Shape;43;p103"/>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grpSp>
        <p:nvGrpSpPr>
          <p:cNvPr id="44" name="Google Shape;44;p103"/>
          <p:cNvGrpSpPr/>
          <p:nvPr/>
        </p:nvGrpSpPr>
        <p:grpSpPr>
          <a:xfrm>
            <a:off x="265625" y="6323271"/>
            <a:ext cx="1249222" cy="369649"/>
            <a:chOff x="265625" y="6323271"/>
            <a:chExt cx="1249222" cy="369649"/>
          </a:xfrm>
        </p:grpSpPr>
        <p:grpSp>
          <p:nvGrpSpPr>
            <p:cNvPr id="45" name="Google Shape;45;p103"/>
            <p:cNvGrpSpPr/>
            <p:nvPr/>
          </p:nvGrpSpPr>
          <p:grpSpPr>
            <a:xfrm>
              <a:off x="745455" y="6594444"/>
              <a:ext cx="722663" cy="98476"/>
              <a:chOff x="745455" y="6594444"/>
              <a:chExt cx="722663" cy="98476"/>
            </a:xfrm>
          </p:grpSpPr>
          <p:sp>
            <p:nvSpPr>
              <p:cNvPr id="46" name="Google Shape;46;p10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7" name="Google Shape;47;p10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8" name="Google Shape;48;p10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9" name="Google Shape;49;p10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0" name="Google Shape;50;p10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1" name="Google Shape;51;p10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2" name="Google Shape;52;p10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3" name="Google Shape;53;p10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4" name="Google Shape;54;p10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5" name="Google Shape;55;p10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nvGrpSpPr>
            <p:cNvPr id="56" name="Google Shape;56;p103"/>
            <p:cNvGrpSpPr/>
            <p:nvPr/>
          </p:nvGrpSpPr>
          <p:grpSpPr>
            <a:xfrm>
              <a:off x="265625" y="6323271"/>
              <a:ext cx="1249222" cy="190348"/>
              <a:chOff x="265625" y="6323271"/>
              <a:chExt cx="1249222" cy="190348"/>
            </a:xfrm>
          </p:grpSpPr>
          <p:sp>
            <p:nvSpPr>
              <p:cNvPr id="57" name="Google Shape;57;p10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8" name="Google Shape;58;p10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9" name="Google Shape;59;p10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0" name="Google Shape;60;p10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1" name="Google Shape;61;p10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2" name="Google Shape;62;p10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3" name="Google Shape;63;p10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sp>
        <p:nvSpPr>
          <p:cNvPr id="64" name="Google Shape;64;p103"/>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03"/>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6" name="Google Shape;66;p103"/>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nvGrpSpPr>
          <p:cNvPr id="67" name="Google Shape;67;p103"/>
          <p:cNvGrpSpPr/>
          <p:nvPr/>
        </p:nvGrpSpPr>
        <p:grpSpPr>
          <a:xfrm>
            <a:off x="265625" y="6323271"/>
            <a:ext cx="1249222" cy="369649"/>
            <a:chOff x="265625" y="6323271"/>
            <a:chExt cx="1249222" cy="369649"/>
          </a:xfrm>
        </p:grpSpPr>
        <p:grpSp>
          <p:nvGrpSpPr>
            <p:cNvPr id="68" name="Google Shape;68;p103"/>
            <p:cNvGrpSpPr/>
            <p:nvPr/>
          </p:nvGrpSpPr>
          <p:grpSpPr>
            <a:xfrm>
              <a:off x="745455" y="6594444"/>
              <a:ext cx="722663" cy="98476"/>
              <a:chOff x="745455" y="6594444"/>
              <a:chExt cx="722663" cy="98476"/>
            </a:xfrm>
          </p:grpSpPr>
          <p:sp>
            <p:nvSpPr>
              <p:cNvPr id="69" name="Google Shape;69;p10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0" name="Google Shape;70;p10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1" name="Google Shape;71;p10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2" name="Google Shape;72;p10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3" name="Google Shape;73;p10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4" name="Google Shape;74;p10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5" name="Google Shape;75;p10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6" name="Google Shape;76;p10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7" name="Google Shape;77;p10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8" name="Google Shape;78;p10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nvGrpSpPr>
            <p:cNvPr id="79" name="Google Shape;79;p103"/>
            <p:cNvGrpSpPr/>
            <p:nvPr/>
          </p:nvGrpSpPr>
          <p:grpSpPr>
            <a:xfrm>
              <a:off x="265625" y="6323271"/>
              <a:ext cx="1249222" cy="190348"/>
              <a:chOff x="265625" y="6323271"/>
              <a:chExt cx="1249222" cy="190348"/>
            </a:xfrm>
          </p:grpSpPr>
          <p:sp>
            <p:nvSpPr>
              <p:cNvPr id="80" name="Google Shape;80;p10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1" name="Google Shape;81;p10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2" name="Google Shape;82;p10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3" name="Google Shape;83;p10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4" name="Google Shape;84;p10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5" name="Google Shape;85;p10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6" name="Google Shape;86;p10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sp>
        <p:nvSpPr>
          <p:cNvPr id="87" name="Google Shape;87;p103"/>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8" name="Google Shape;88;p103"/>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Broadcom Proprietary and Confidential. Copyright © 2025 Broadcom.  </a:t>
            </a: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9"/>
        <p:cNvGrpSpPr/>
        <p:nvPr/>
      </p:nvGrpSpPr>
      <p:grpSpPr>
        <a:xfrm>
          <a:off x="0" y="0"/>
          <a:ext cx="0" cy="0"/>
          <a:chOff x="0" y="0"/>
          <a:chExt cx="0" cy="0"/>
        </a:xfrm>
      </p:grpSpPr>
      <p:sp>
        <p:nvSpPr>
          <p:cNvPr id="90" name="Google Shape;90;p10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1" name="Google Shape;91;p10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gram with Content on Right">
  <p:cSld name="Diagram with Content on Right">
    <p:spTree>
      <p:nvGrpSpPr>
        <p:cNvPr id="1" name="Shape 92"/>
        <p:cNvGrpSpPr/>
        <p:nvPr/>
      </p:nvGrpSpPr>
      <p:grpSpPr>
        <a:xfrm>
          <a:off x="0" y="0"/>
          <a:ext cx="0" cy="0"/>
          <a:chOff x="0" y="0"/>
          <a:chExt cx="0" cy="0"/>
        </a:xfrm>
      </p:grpSpPr>
      <p:sp>
        <p:nvSpPr>
          <p:cNvPr id="93" name="Google Shape;93;p10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0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5" name="Google Shape;95;p105"/>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96" name="Google Shape;96;p105"/>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lvl1pPr marL="457200" lvl="0" indent="-320040" algn="l">
              <a:lnSpc>
                <a:spcPct val="100000"/>
              </a:lnSpc>
              <a:spcBef>
                <a:spcPts val="0"/>
              </a:spcBef>
              <a:spcAft>
                <a:spcPts val="0"/>
              </a:spcAft>
              <a:buSzPts val="1440"/>
              <a:buChar char="​"/>
              <a:defRPr sz="1600">
                <a:solidFill>
                  <a:schemeClr val="accent2"/>
                </a:solidFill>
              </a:defRPr>
            </a:lvl1pPr>
            <a:lvl2pPr marL="914400" lvl="1" indent="-308610" algn="l">
              <a:lnSpc>
                <a:spcPct val="100000"/>
              </a:lnSpc>
              <a:spcBef>
                <a:spcPts val="1200"/>
              </a:spcBef>
              <a:spcAft>
                <a:spcPts val="0"/>
              </a:spcAft>
              <a:buClr>
                <a:schemeClr val="accent2"/>
              </a:buClr>
              <a:buSzPts val="1260"/>
              <a:buChar char="•"/>
              <a:defRPr sz="1400">
                <a:solidFill>
                  <a:schemeClr val="accent2"/>
                </a:solidFill>
              </a:defRPr>
            </a:lvl2pPr>
            <a:lvl3pPr marL="1371600" lvl="2" indent="-297180" algn="l">
              <a:lnSpc>
                <a:spcPct val="100000"/>
              </a:lnSpc>
              <a:spcBef>
                <a:spcPts val="1200"/>
              </a:spcBef>
              <a:spcAft>
                <a:spcPts val="0"/>
              </a:spcAft>
              <a:buClr>
                <a:schemeClr val="accent2"/>
              </a:buClr>
              <a:buSzPts val="1080"/>
              <a:buChar char="–"/>
              <a:defRPr sz="1200">
                <a:solidFill>
                  <a:schemeClr val="accent2"/>
                </a:solidFill>
              </a:defRPr>
            </a:lvl3pPr>
            <a:lvl4pPr marL="1828800" lvl="3" indent="-291464" algn="l">
              <a:lnSpc>
                <a:spcPct val="100000"/>
              </a:lnSpc>
              <a:spcBef>
                <a:spcPts val="1200"/>
              </a:spcBef>
              <a:spcAft>
                <a:spcPts val="0"/>
              </a:spcAft>
              <a:buClr>
                <a:schemeClr val="accent2"/>
              </a:buClr>
              <a:buSzPts val="990"/>
              <a:buChar char="•"/>
              <a:defRPr sz="1100">
                <a:solidFill>
                  <a:schemeClr val="accent2"/>
                </a:solidFill>
              </a:defRPr>
            </a:lvl4pPr>
            <a:lvl5pPr marL="2286000" lvl="4" indent="-291464" algn="l">
              <a:lnSpc>
                <a:spcPct val="100000"/>
              </a:lnSpc>
              <a:spcBef>
                <a:spcPts val="1200"/>
              </a:spcBef>
              <a:spcAft>
                <a:spcPts val="0"/>
              </a:spcAft>
              <a:buClr>
                <a:schemeClr val="accent2"/>
              </a:buClr>
              <a:buSzPts val="990"/>
              <a:buChar char="–"/>
              <a:defRPr sz="1100">
                <a:solidFill>
                  <a:schemeClr val="accent2"/>
                </a:solidFill>
              </a:defRPr>
            </a:lvl5pPr>
            <a:lvl6pPr marL="2743200" lvl="5" indent="-291464" algn="l">
              <a:lnSpc>
                <a:spcPct val="100000"/>
              </a:lnSpc>
              <a:spcBef>
                <a:spcPts val="1200"/>
              </a:spcBef>
              <a:spcAft>
                <a:spcPts val="0"/>
              </a:spcAft>
              <a:buClr>
                <a:schemeClr val="accent2"/>
              </a:buClr>
              <a:buSzPts val="990"/>
              <a:buChar char="•"/>
              <a:defRPr sz="1100">
                <a:solidFill>
                  <a:schemeClr val="accent2"/>
                </a:solidFill>
              </a:defRPr>
            </a:lvl6pPr>
            <a:lvl7pPr marL="3200400" lvl="6" indent="-291464" algn="l">
              <a:lnSpc>
                <a:spcPct val="100000"/>
              </a:lnSpc>
              <a:spcBef>
                <a:spcPts val="1200"/>
              </a:spcBef>
              <a:spcAft>
                <a:spcPts val="0"/>
              </a:spcAft>
              <a:buClr>
                <a:schemeClr val="accent2"/>
              </a:buClr>
              <a:buSzPts val="990"/>
              <a:buChar char="-"/>
              <a:defRPr sz="1100">
                <a:solidFill>
                  <a:schemeClr val="accent2"/>
                </a:solidFill>
              </a:defRPr>
            </a:lvl7pPr>
            <a:lvl8pPr marL="3657600" lvl="7" indent="-291465" algn="l">
              <a:lnSpc>
                <a:spcPct val="100000"/>
              </a:lnSpc>
              <a:spcBef>
                <a:spcPts val="1200"/>
              </a:spcBef>
              <a:spcAft>
                <a:spcPts val="0"/>
              </a:spcAft>
              <a:buClr>
                <a:schemeClr val="accent2"/>
              </a:buClr>
              <a:buSzPts val="990"/>
              <a:buChar char="•"/>
              <a:defRPr sz="1100">
                <a:solidFill>
                  <a:schemeClr val="accent2"/>
                </a:solidFill>
              </a:defRPr>
            </a:lvl8pPr>
            <a:lvl9pPr marL="4114800" lvl="8" indent="-291465" algn="l">
              <a:lnSpc>
                <a:spcPct val="100000"/>
              </a:lnSpc>
              <a:spcBef>
                <a:spcPts val="1200"/>
              </a:spcBef>
              <a:spcAft>
                <a:spcPts val="1200"/>
              </a:spcAft>
              <a:buClr>
                <a:schemeClr val="accent2"/>
              </a:buClr>
              <a:buSzPts val="990"/>
              <a:buChar char="-"/>
              <a:defRPr sz="1100">
                <a:solidFill>
                  <a:schemeClr val="accent2"/>
                </a:solidFill>
              </a:defRPr>
            </a:lvl9pPr>
          </a:lstStyle>
          <a:p>
            <a:endParaRPr/>
          </a:p>
        </p:txBody>
      </p:sp>
      <p:sp>
        <p:nvSpPr>
          <p:cNvPr id="97" name="Google Shape;97;p10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8" name="Google Shape;98;p105"/>
          <p:cNvSpPr txBox="1">
            <a:spLocks noGrp="1"/>
          </p:cNvSpPr>
          <p:nvPr>
            <p:ph type="body" idx="3"/>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sp>
        <p:nvSpPr>
          <p:cNvPr id="99" name="Google Shape;99;p105"/>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100" name="Google Shape;100;p10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101"/>
        <p:cNvGrpSpPr/>
        <p:nvPr/>
      </p:nvGrpSpPr>
      <p:grpSpPr>
        <a:xfrm>
          <a:off x="0" y="0"/>
          <a:ext cx="0" cy="0"/>
          <a:chOff x="0" y="0"/>
          <a:chExt cx="0" cy="0"/>
        </a:xfrm>
      </p:grpSpPr>
      <p:sp>
        <p:nvSpPr>
          <p:cNvPr id="102" name="Google Shape;102;p10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106"/>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04" name="Google Shape;104;p10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05" name="Google Shape;105;p10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Content Balanced Color on Left">
  <p:cSld name="Two-Content Balanced Color on Left">
    <p:spTree>
      <p:nvGrpSpPr>
        <p:cNvPr id="1" name="Shape 106"/>
        <p:cNvGrpSpPr/>
        <p:nvPr/>
      </p:nvGrpSpPr>
      <p:grpSpPr>
        <a:xfrm>
          <a:off x="0" y="0"/>
          <a:ext cx="0" cy="0"/>
          <a:chOff x="0" y="0"/>
          <a:chExt cx="0" cy="0"/>
        </a:xfrm>
      </p:grpSpPr>
      <p:sp>
        <p:nvSpPr>
          <p:cNvPr id="107" name="Google Shape;107;p10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0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09" name="Google Shape;109;p10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10" name="Google Shape;110;p107"/>
          <p:cNvSpPr txBox="1">
            <a:spLocks noGrp="1"/>
          </p:cNvSpPr>
          <p:nvPr>
            <p:ph type="body" idx="2"/>
          </p:nvPr>
        </p:nvSpPr>
        <p:spPr>
          <a:xfrm>
            <a:off x="6323381" y="1600201"/>
            <a:ext cx="5865445" cy="4572000"/>
          </a:xfrm>
          <a:prstGeom prst="rect">
            <a:avLst/>
          </a:prstGeom>
          <a:noFill/>
          <a:ln>
            <a:noFill/>
          </a:ln>
        </p:spPr>
        <p:txBody>
          <a:bodyPr spcFirstLastPara="1" wrap="square" lIns="4572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111" name="Google Shape;111;p107"/>
          <p:cNvSpPr txBox="1">
            <a:spLocks noGrp="1"/>
          </p:cNvSpPr>
          <p:nvPr>
            <p:ph type="body" idx="3"/>
          </p:nvPr>
        </p:nvSpPr>
        <p:spPr>
          <a:xfrm>
            <a:off x="0" y="1600201"/>
            <a:ext cx="5893593" cy="4572000"/>
          </a:xfrm>
          <a:prstGeom prst="rect">
            <a:avLst/>
          </a:prstGeom>
          <a:solidFill>
            <a:srgbClr val="F4F8FA"/>
          </a:solidFill>
          <a:ln>
            <a:noFill/>
          </a:ln>
        </p:spPr>
        <p:txBody>
          <a:bodyPr spcFirstLastPara="1" wrap="square" lIns="59435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112" name="Google Shape;112;p10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 Plum">
  <p:cSld name="1_Section Header – Plum">
    <p:spTree>
      <p:nvGrpSpPr>
        <p:cNvPr id="1" name="Shape 113"/>
        <p:cNvGrpSpPr/>
        <p:nvPr/>
      </p:nvGrpSpPr>
      <p:grpSpPr>
        <a:xfrm>
          <a:off x="0" y="0"/>
          <a:ext cx="0" cy="0"/>
          <a:chOff x="0" y="0"/>
          <a:chExt cx="0" cy="0"/>
        </a:xfrm>
      </p:grpSpPr>
      <p:sp>
        <p:nvSpPr>
          <p:cNvPr id="114" name="Google Shape;114;p108"/>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108"/>
          <p:cNvSpPr txBox="1">
            <a:spLocks noGrp="1"/>
          </p:cNvSpPr>
          <p:nvPr>
            <p:ph type="subTitle" idx="1"/>
          </p:nvPr>
        </p:nvSpPr>
        <p:spPr>
          <a:xfrm>
            <a:off x="602966" y="2267712"/>
            <a:ext cx="654211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6" name="Google Shape;116;p10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17" name="Google Shape;117;p108"/>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5"/>
              </a:gs>
              <a:gs pos="21000">
                <a:schemeClr val="accent5"/>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18" name="Google Shape;118;p10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agram with Content on Right">
  <p:cSld name="1_Diagram with Content on Right">
    <p:spTree>
      <p:nvGrpSpPr>
        <p:cNvPr id="1" name="Shape 119"/>
        <p:cNvGrpSpPr/>
        <p:nvPr/>
      </p:nvGrpSpPr>
      <p:grpSpPr>
        <a:xfrm>
          <a:off x="0" y="0"/>
          <a:ext cx="0" cy="0"/>
          <a:chOff x="0" y="0"/>
          <a:chExt cx="0" cy="0"/>
        </a:xfrm>
      </p:grpSpPr>
      <p:sp>
        <p:nvSpPr>
          <p:cNvPr id="120" name="Google Shape;120;p10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10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22" name="Google Shape;122;p109"/>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0" marR="0" lvl="0" indent="0" algn="ctr" rtl="0">
              <a:spcBef>
                <a:spcPts val="60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123" name="Google Shape;123;p109"/>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lvl1pPr marL="457200" lvl="0" indent="-320040" algn="l">
              <a:lnSpc>
                <a:spcPct val="100000"/>
              </a:lnSpc>
              <a:spcBef>
                <a:spcPts val="0"/>
              </a:spcBef>
              <a:spcAft>
                <a:spcPts val="0"/>
              </a:spcAft>
              <a:buSzPts val="1440"/>
              <a:buChar char="​"/>
              <a:defRPr sz="1600">
                <a:solidFill>
                  <a:schemeClr val="accent2"/>
                </a:solidFill>
              </a:defRPr>
            </a:lvl1pPr>
            <a:lvl2pPr marL="914400" lvl="1" indent="-308610" algn="l">
              <a:lnSpc>
                <a:spcPct val="100000"/>
              </a:lnSpc>
              <a:spcBef>
                <a:spcPts val="1200"/>
              </a:spcBef>
              <a:spcAft>
                <a:spcPts val="0"/>
              </a:spcAft>
              <a:buClr>
                <a:schemeClr val="accent2"/>
              </a:buClr>
              <a:buSzPts val="1260"/>
              <a:buChar char="•"/>
              <a:defRPr sz="1400">
                <a:solidFill>
                  <a:schemeClr val="accent2"/>
                </a:solidFill>
              </a:defRPr>
            </a:lvl2pPr>
            <a:lvl3pPr marL="1371600" lvl="2" indent="-297180" algn="l">
              <a:lnSpc>
                <a:spcPct val="100000"/>
              </a:lnSpc>
              <a:spcBef>
                <a:spcPts val="1200"/>
              </a:spcBef>
              <a:spcAft>
                <a:spcPts val="0"/>
              </a:spcAft>
              <a:buClr>
                <a:schemeClr val="accent2"/>
              </a:buClr>
              <a:buSzPts val="1080"/>
              <a:buChar char="–"/>
              <a:defRPr sz="1200">
                <a:solidFill>
                  <a:schemeClr val="accent2"/>
                </a:solidFill>
              </a:defRPr>
            </a:lvl3pPr>
            <a:lvl4pPr marL="1828800" lvl="3" indent="-291464" algn="l">
              <a:lnSpc>
                <a:spcPct val="100000"/>
              </a:lnSpc>
              <a:spcBef>
                <a:spcPts val="1200"/>
              </a:spcBef>
              <a:spcAft>
                <a:spcPts val="0"/>
              </a:spcAft>
              <a:buClr>
                <a:schemeClr val="accent2"/>
              </a:buClr>
              <a:buSzPts val="990"/>
              <a:buChar char="•"/>
              <a:defRPr sz="1100">
                <a:solidFill>
                  <a:schemeClr val="accent2"/>
                </a:solidFill>
              </a:defRPr>
            </a:lvl4pPr>
            <a:lvl5pPr marL="2286000" lvl="4" indent="-291464" algn="l">
              <a:lnSpc>
                <a:spcPct val="100000"/>
              </a:lnSpc>
              <a:spcBef>
                <a:spcPts val="1200"/>
              </a:spcBef>
              <a:spcAft>
                <a:spcPts val="0"/>
              </a:spcAft>
              <a:buClr>
                <a:schemeClr val="accent2"/>
              </a:buClr>
              <a:buSzPts val="990"/>
              <a:buChar char="–"/>
              <a:defRPr sz="1100">
                <a:solidFill>
                  <a:schemeClr val="accent2"/>
                </a:solidFill>
              </a:defRPr>
            </a:lvl5pPr>
            <a:lvl6pPr marL="2743200" lvl="5" indent="-291464" algn="l">
              <a:lnSpc>
                <a:spcPct val="100000"/>
              </a:lnSpc>
              <a:spcBef>
                <a:spcPts val="1200"/>
              </a:spcBef>
              <a:spcAft>
                <a:spcPts val="0"/>
              </a:spcAft>
              <a:buClr>
                <a:schemeClr val="accent2"/>
              </a:buClr>
              <a:buSzPts val="990"/>
              <a:buChar char="•"/>
              <a:defRPr sz="1100">
                <a:solidFill>
                  <a:schemeClr val="accent2"/>
                </a:solidFill>
              </a:defRPr>
            </a:lvl6pPr>
            <a:lvl7pPr marL="3200400" lvl="6" indent="-291464" algn="l">
              <a:lnSpc>
                <a:spcPct val="100000"/>
              </a:lnSpc>
              <a:spcBef>
                <a:spcPts val="1200"/>
              </a:spcBef>
              <a:spcAft>
                <a:spcPts val="0"/>
              </a:spcAft>
              <a:buClr>
                <a:schemeClr val="accent2"/>
              </a:buClr>
              <a:buSzPts val="990"/>
              <a:buChar char="-"/>
              <a:defRPr sz="1100">
                <a:solidFill>
                  <a:schemeClr val="accent2"/>
                </a:solidFill>
              </a:defRPr>
            </a:lvl7pPr>
            <a:lvl8pPr marL="3657600" lvl="7" indent="-291465" algn="l">
              <a:lnSpc>
                <a:spcPct val="100000"/>
              </a:lnSpc>
              <a:spcBef>
                <a:spcPts val="1200"/>
              </a:spcBef>
              <a:spcAft>
                <a:spcPts val="0"/>
              </a:spcAft>
              <a:buClr>
                <a:schemeClr val="accent2"/>
              </a:buClr>
              <a:buSzPts val="990"/>
              <a:buChar char="•"/>
              <a:defRPr sz="1100">
                <a:solidFill>
                  <a:schemeClr val="accent2"/>
                </a:solidFill>
              </a:defRPr>
            </a:lvl8pPr>
            <a:lvl9pPr marL="4114800" lvl="8" indent="-291465" algn="l">
              <a:lnSpc>
                <a:spcPct val="100000"/>
              </a:lnSpc>
              <a:spcBef>
                <a:spcPts val="1200"/>
              </a:spcBef>
              <a:spcAft>
                <a:spcPts val="1200"/>
              </a:spcAft>
              <a:buClr>
                <a:schemeClr val="accent2"/>
              </a:buClr>
              <a:buSzPts val="990"/>
              <a:buChar char="-"/>
              <a:defRPr sz="1100">
                <a:solidFill>
                  <a:schemeClr val="accent2"/>
                </a:solidFill>
              </a:defRPr>
            </a:lvl9pPr>
          </a:lstStyle>
          <a:p>
            <a:endParaRPr/>
          </a:p>
        </p:txBody>
      </p:sp>
      <p:sp>
        <p:nvSpPr>
          <p:cNvPr id="124" name="Google Shape;124;p10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25" name="Google Shape;125;p109"/>
          <p:cNvSpPr txBox="1">
            <a:spLocks noGrp="1"/>
          </p:cNvSpPr>
          <p:nvPr>
            <p:ph type="body" idx="3"/>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sp>
        <p:nvSpPr>
          <p:cNvPr id="126" name="Google Shape;126;p109"/>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0" marR="0" lvl="0" indent="0" algn="ctr" rtl="0">
              <a:spcBef>
                <a:spcPts val="60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127" name="Google Shape;127;p10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Dynamic – Right">
  <p:cSld name="Two Content Dynamic – Right">
    <p:spTree>
      <p:nvGrpSpPr>
        <p:cNvPr id="1" name="Shape 128"/>
        <p:cNvGrpSpPr/>
        <p:nvPr/>
      </p:nvGrpSpPr>
      <p:grpSpPr>
        <a:xfrm>
          <a:off x="0" y="0"/>
          <a:ext cx="0" cy="0"/>
          <a:chOff x="0" y="0"/>
          <a:chExt cx="0" cy="0"/>
        </a:xfrm>
      </p:grpSpPr>
      <p:sp>
        <p:nvSpPr>
          <p:cNvPr id="129" name="Google Shape;129;p11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11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31" name="Google Shape;131;p11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32" name="Google Shape;132;p110"/>
          <p:cNvSpPr/>
          <p:nvPr/>
        </p:nvSpPr>
        <p:spPr>
          <a:xfrm rot="10800000" flipH="1">
            <a:off x="9294812" y="1552601"/>
            <a:ext cx="2894012" cy="5486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133" name="Google Shape;133;p110"/>
          <p:cNvSpPr txBox="1">
            <a:spLocks noGrp="1"/>
          </p:cNvSpPr>
          <p:nvPr>
            <p:ph type="body" idx="2"/>
          </p:nvPr>
        </p:nvSpPr>
        <p:spPr>
          <a:xfrm>
            <a:off x="9294812" y="1609531"/>
            <a:ext cx="2894013" cy="4572000"/>
          </a:xfrm>
          <a:prstGeom prst="rect">
            <a:avLst/>
          </a:prstGeom>
          <a:solidFill>
            <a:srgbClr val="F4F8FA"/>
          </a:solidFill>
          <a:ln>
            <a:noFill/>
          </a:ln>
        </p:spPr>
        <p:txBody>
          <a:bodyPr spcFirstLastPara="1" wrap="square" lIns="2743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20040" algn="l">
              <a:lnSpc>
                <a:spcPct val="100000"/>
              </a:lnSpc>
              <a:spcBef>
                <a:spcPts val="1200"/>
              </a:spcBef>
              <a:spcAft>
                <a:spcPts val="0"/>
              </a:spcAft>
              <a:buClr>
                <a:schemeClr val="accent2"/>
              </a:buClr>
              <a:buSzPts val="1440"/>
              <a:buChar char="•"/>
              <a:defRPr sz="1600">
                <a:solidFill>
                  <a:schemeClr val="accent2"/>
                </a:solidFill>
              </a:defRPr>
            </a:lvl2pPr>
            <a:lvl3pPr marL="1371600" lvl="2" indent="-308610" algn="l">
              <a:lnSpc>
                <a:spcPct val="100000"/>
              </a:lnSpc>
              <a:spcBef>
                <a:spcPts val="1200"/>
              </a:spcBef>
              <a:spcAft>
                <a:spcPts val="0"/>
              </a:spcAft>
              <a:buClr>
                <a:schemeClr val="accent2"/>
              </a:buClr>
              <a:buSzPts val="1260"/>
              <a:buChar char="–"/>
              <a:defRPr sz="1400">
                <a:solidFill>
                  <a:schemeClr val="accent2"/>
                </a:solidFill>
              </a:defRPr>
            </a:lvl3pPr>
            <a:lvl4pPr marL="1828800" lvl="3" indent="-297180" algn="l">
              <a:lnSpc>
                <a:spcPct val="100000"/>
              </a:lnSpc>
              <a:spcBef>
                <a:spcPts val="1200"/>
              </a:spcBef>
              <a:spcAft>
                <a:spcPts val="0"/>
              </a:spcAft>
              <a:buClr>
                <a:schemeClr val="accent2"/>
              </a:buClr>
              <a:buSzPts val="1080"/>
              <a:buChar char="•"/>
              <a:defRPr sz="1200">
                <a:solidFill>
                  <a:schemeClr val="accent2"/>
                </a:solidFill>
              </a:defRPr>
            </a:lvl4pPr>
            <a:lvl5pPr marL="2286000" lvl="4" indent="-297179" algn="l">
              <a:lnSpc>
                <a:spcPct val="100000"/>
              </a:lnSpc>
              <a:spcBef>
                <a:spcPts val="1200"/>
              </a:spcBef>
              <a:spcAft>
                <a:spcPts val="0"/>
              </a:spcAft>
              <a:buClr>
                <a:schemeClr val="accent2"/>
              </a:buClr>
              <a:buSzPts val="1080"/>
              <a:buChar char="–"/>
              <a:defRPr sz="1200">
                <a:solidFill>
                  <a:schemeClr val="accent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4" name="Google Shape;134;p110"/>
          <p:cNvSpPr txBox="1">
            <a:spLocks noGrp="1"/>
          </p:cNvSpPr>
          <p:nvPr>
            <p:ph type="body" idx="3"/>
          </p:nvPr>
        </p:nvSpPr>
        <p:spPr>
          <a:xfrm>
            <a:off x="0" y="1609531"/>
            <a:ext cx="8229600" cy="4572000"/>
          </a:xfrm>
          <a:prstGeom prst="rect">
            <a:avLst/>
          </a:prstGeom>
          <a:noFill/>
          <a:ln>
            <a:noFill/>
          </a:ln>
        </p:spPr>
        <p:txBody>
          <a:bodyPr spcFirstLastPara="1" wrap="square" lIns="594350" tIns="45720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SzPts val="1620"/>
              <a:buChar char="•"/>
              <a:defRPr>
                <a:solidFill>
                  <a:schemeClr val="dk1"/>
                </a:solidFill>
              </a:defRPr>
            </a:lvl2pPr>
            <a:lvl3pPr marL="1371600" lvl="2" indent="-320039" algn="l">
              <a:lnSpc>
                <a:spcPct val="100000"/>
              </a:lnSpc>
              <a:spcBef>
                <a:spcPts val="1200"/>
              </a:spcBef>
              <a:spcAft>
                <a:spcPts val="0"/>
              </a:spcAft>
              <a:buSzPts val="1440"/>
              <a:buChar char="–"/>
              <a:defRPr>
                <a:solidFill>
                  <a:schemeClr val="dk1"/>
                </a:solidFill>
              </a:defRPr>
            </a:lvl3pPr>
            <a:lvl4pPr marL="1828800" lvl="3" indent="-308610" algn="l">
              <a:lnSpc>
                <a:spcPct val="100000"/>
              </a:lnSpc>
              <a:spcBef>
                <a:spcPts val="1200"/>
              </a:spcBef>
              <a:spcAft>
                <a:spcPts val="0"/>
              </a:spcAft>
              <a:buSzPts val="1260"/>
              <a:buChar char="•"/>
              <a:defRPr>
                <a:solidFill>
                  <a:schemeClr val="dk1"/>
                </a:solidFill>
              </a:defRPr>
            </a:lvl4pPr>
            <a:lvl5pPr marL="2286000" lvl="4" indent="-308610" algn="l">
              <a:lnSpc>
                <a:spcPct val="100000"/>
              </a:lnSpc>
              <a:spcBef>
                <a:spcPts val="1200"/>
              </a:spcBef>
              <a:spcAft>
                <a:spcPts val="0"/>
              </a:spcAft>
              <a:buSzPts val="1260"/>
              <a:buChar char="–"/>
              <a:defRPr>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31470" algn="l">
              <a:lnSpc>
                <a:spcPct val="100000"/>
              </a:lnSpc>
              <a:spcBef>
                <a:spcPts val="1200"/>
              </a:spcBef>
              <a:spcAft>
                <a:spcPts val="1200"/>
              </a:spcAft>
              <a:buSzPts val="1620"/>
              <a:buChar char="-"/>
              <a:defRPr/>
            </a:lvl9pPr>
          </a:lstStyle>
          <a:p>
            <a:endParaRPr/>
          </a:p>
        </p:txBody>
      </p:sp>
      <p:sp>
        <p:nvSpPr>
          <p:cNvPr id="135" name="Google Shape;135;p11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36" name="Google Shape;136;p110"/>
          <p:cNvSpPr/>
          <p:nvPr/>
        </p:nvSpPr>
        <p:spPr>
          <a:xfrm rot="10800000" flipH="1">
            <a:off x="9294812" y="1552601"/>
            <a:ext cx="2894012" cy="5486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37"/>
        <p:cNvGrpSpPr/>
        <p:nvPr/>
      </p:nvGrpSpPr>
      <p:grpSpPr>
        <a:xfrm>
          <a:off x="0" y="0"/>
          <a:ext cx="0" cy="0"/>
          <a:chOff x="0" y="0"/>
          <a:chExt cx="0" cy="0"/>
        </a:xfrm>
      </p:grpSpPr>
      <p:sp>
        <p:nvSpPr>
          <p:cNvPr id="138" name="Google Shape;138;p11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11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40" name="Google Shape;140;p11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41" name="Google Shape;141;p11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dk2"/>
              </a:buClr>
              <a:buSzPts val="800"/>
              <a:buFont typeface="Arial"/>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142"/>
        <p:cNvGrpSpPr/>
        <p:nvPr/>
      </p:nvGrpSpPr>
      <p:grpSpPr>
        <a:xfrm>
          <a:off x="0" y="0"/>
          <a:ext cx="0" cy="0"/>
          <a:chOff x="0" y="0"/>
          <a:chExt cx="0" cy="0"/>
        </a:xfrm>
      </p:grpSpPr>
      <p:sp>
        <p:nvSpPr>
          <p:cNvPr id="143" name="Google Shape;143;p11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p112"/>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45" name="Google Shape;145;p112"/>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Clr>
                <a:srgbClr val="3B3B3B"/>
              </a:buClr>
              <a:buSzPts val="1620"/>
              <a:buChar char="•"/>
              <a:defRPr>
                <a:solidFill>
                  <a:schemeClr val="dk1"/>
                </a:solidFill>
              </a:defRPr>
            </a:lvl2pPr>
            <a:lvl3pPr marL="1371600" lvl="2" indent="-320039" algn="l">
              <a:lnSpc>
                <a:spcPct val="100000"/>
              </a:lnSpc>
              <a:spcBef>
                <a:spcPts val="1200"/>
              </a:spcBef>
              <a:spcAft>
                <a:spcPts val="0"/>
              </a:spcAft>
              <a:buClr>
                <a:srgbClr val="3B3B3B"/>
              </a:buClr>
              <a:buSzPts val="1440"/>
              <a:buChar char="–"/>
              <a:defRPr>
                <a:solidFill>
                  <a:schemeClr val="dk1"/>
                </a:solidFill>
              </a:defRPr>
            </a:lvl3pPr>
            <a:lvl4pPr marL="1828800" lvl="3" indent="-308610" algn="l">
              <a:lnSpc>
                <a:spcPct val="100000"/>
              </a:lnSpc>
              <a:spcBef>
                <a:spcPts val="1200"/>
              </a:spcBef>
              <a:spcAft>
                <a:spcPts val="0"/>
              </a:spcAft>
              <a:buClr>
                <a:srgbClr val="3B3B3B"/>
              </a:buClr>
              <a:buSzPts val="1260"/>
              <a:buChar char="•"/>
              <a:defRPr>
                <a:solidFill>
                  <a:schemeClr val="dk1"/>
                </a:solidFill>
              </a:defRPr>
            </a:lvl4pPr>
            <a:lvl5pPr marL="2286000" lvl="4" indent="-308610" algn="l">
              <a:lnSpc>
                <a:spcPct val="100000"/>
              </a:lnSpc>
              <a:spcBef>
                <a:spcPts val="1200"/>
              </a:spcBef>
              <a:spcAft>
                <a:spcPts val="0"/>
              </a:spcAft>
              <a:buClr>
                <a:srgbClr val="3B3B3B"/>
              </a:buClr>
              <a:buSzPts val="1260"/>
              <a:buChar char="–"/>
              <a:defRPr>
                <a:solidFill>
                  <a:schemeClr val="dk1"/>
                </a:solidFill>
              </a:defRPr>
            </a:lvl5pPr>
            <a:lvl6pPr marL="2743200" lvl="5" indent="-308610" algn="l">
              <a:lnSpc>
                <a:spcPct val="100000"/>
              </a:lnSpc>
              <a:spcBef>
                <a:spcPts val="1200"/>
              </a:spcBef>
              <a:spcAft>
                <a:spcPts val="0"/>
              </a:spcAft>
              <a:buClr>
                <a:srgbClr val="3B3B3B"/>
              </a:buClr>
              <a:buSzPts val="1260"/>
              <a:buChar char="•"/>
              <a:defRPr>
                <a:solidFill>
                  <a:srgbClr val="3B3B3B"/>
                </a:solidFill>
              </a:defRPr>
            </a:lvl6pPr>
            <a:lvl7pPr marL="3200400" lvl="6" indent="-308610" algn="l">
              <a:lnSpc>
                <a:spcPct val="100000"/>
              </a:lnSpc>
              <a:spcBef>
                <a:spcPts val="1200"/>
              </a:spcBef>
              <a:spcAft>
                <a:spcPts val="0"/>
              </a:spcAft>
              <a:buSzPts val="1260"/>
              <a:buChar char="-"/>
              <a:defRPr/>
            </a:lvl7pPr>
            <a:lvl8pPr marL="3657600" lvl="7" indent="-308609" algn="l">
              <a:lnSpc>
                <a:spcPct val="100000"/>
              </a:lnSpc>
              <a:spcBef>
                <a:spcPts val="1200"/>
              </a:spcBef>
              <a:spcAft>
                <a:spcPts val="0"/>
              </a:spcAft>
              <a:buSzPts val="126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46" name="Google Shape;146;p11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147" name="Google Shape;147;p11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gram with Outcome, Benefit">
  <p:cSld name="1_Diagram with Outcome, Benefit">
    <p:spTree>
      <p:nvGrpSpPr>
        <p:cNvPr id="1" name="Shape 148"/>
        <p:cNvGrpSpPr/>
        <p:nvPr/>
      </p:nvGrpSpPr>
      <p:grpSpPr>
        <a:xfrm>
          <a:off x="0" y="0"/>
          <a:ext cx="0" cy="0"/>
          <a:chOff x="0" y="0"/>
          <a:chExt cx="0" cy="0"/>
        </a:xfrm>
      </p:grpSpPr>
      <p:sp>
        <p:nvSpPr>
          <p:cNvPr id="149" name="Google Shape;149;p113"/>
          <p:cNvSpPr txBox="1">
            <a:spLocks noGrp="1"/>
          </p:cNvSpPr>
          <p:nvPr>
            <p:ph type="title"/>
          </p:nvPr>
        </p:nvSpPr>
        <p:spPr>
          <a:xfrm>
            <a:off x="579809" y="412751"/>
            <a:ext cx="1100113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2800"/>
              <a:buFont typeface="Arial"/>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113"/>
          <p:cNvSpPr txBox="1">
            <a:spLocks noGrp="1"/>
          </p:cNvSpPr>
          <p:nvPr>
            <p:ph type="subTitle" idx="1"/>
          </p:nvPr>
        </p:nvSpPr>
        <p:spPr>
          <a:xfrm>
            <a:off x="592867" y="811831"/>
            <a:ext cx="10962744"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1999">
                <a:solidFill>
                  <a:schemeClr val="accent5"/>
                </a:solidFill>
                <a:latin typeface="Arial"/>
                <a:ea typeface="Arial"/>
                <a:cs typeface="Arial"/>
                <a:sym typeface="Arial"/>
              </a:defRPr>
            </a:lvl1pPr>
            <a:lvl2pPr lvl="1" algn="ctr">
              <a:lnSpc>
                <a:spcPct val="100000"/>
              </a:lnSpc>
              <a:spcBef>
                <a:spcPts val="1200"/>
              </a:spcBef>
              <a:spcAft>
                <a:spcPts val="0"/>
              </a:spcAft>
              <a:buSzPts val="1800"/>
              <a:buNone/>
              <a:defRPr sz="1999"/>
            </a:lvl2pPr>
            <a:lvl3pPr lvl="2" algn="ctr">
              <a:lnSpc>
                <a:spcPct val="100000"/>
              </a:lnSpc>
              <a:spcBef>
                <a:spcPts val="1200"/>
              </a:spcBef>
              <a:spcAft>
                <a:spcPts val="0"/>
              </a:spcAft>
              <a:buSzPts val="1620"/>
              <a:buNone/>
              <a:defRPr sz="1799"/>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0"/>
              </a:spcAft>
              <a:buSzPts val="1440"/>
              <a:buNone/>
              <a:defRPr sz="1600"/>
            </a:lvl9pPr>
          </a:lstStyle>
          <a:p>
            <a:endParaRPr/>
          </a:p>
        </p:txBody>
      </p:sp>
      <p:sp>
        <p:nvSpPr>
          <p:cNvPr id="151" name="Google Shape;151;p113"/>
          <p:cNvSpPr txBox="1">
            <a:spLocks noGrp="1"/>
          </p:cNvSpPr>
          <p:nvPr>
            <p:ph type="body" idx="2"/>
          </p:nvPr>
        </p:nvSpPr>
        <p:spPr>
          <a:xfrm>
            <a:off x="595424" y="1600201"/>
            <a:ext cx="7410770" cy="4572000"/>
          </a:xfrm>
          <a:prstGeom prst="rect">
            <a:avLst/>
          </a:prstGeom>
          <a:noFill/>
          <a:ln>
            <a:noFill/>
          </a:ln>
        </p:spPr>
        <p:txBody>
          <a:bodyPr spcFirstLastPara="1" wrap="square" lIns="594350" tIns="457200" rIns="457200" bIns="457200" anchor="t" anchorCtr="0">
            <a:noAutofit/>
          </a:bodyPr>
          <a:lstStyle>
            <a:lvl1pPr marL="457200" lvl="0" indent="-331470" algn="l">
              <a:lnSpc>
                <a:spcPct val="100000"/>
              </a:lnSpc>
              <a:spcBef>
                <a:spcPts val="1200"/>
              </a:spcBef>
              <a:spcAft>
                <a:spcPts val="0"/>
              </a:spcAft>
              <a:buSzPts val="1620"/>
              <a:buChar char="​"/>
              <a:defRPr sz="1799">
                <a:solidFill>
                  <a:srgbClr val="F4F8FA"/>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799">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0"/>
              </a:spcAft>
              <a:buClr>
                <a:schemeClr val="lt1"/>
              </a:buClr>
              <a:buSzPts val="1620"/>
              <a:buChar char="-"/>
              <a:defRPr sz="1799">
                <a:solidFill>
                  <a:schemeClr val="lt1"/>
                </a:solidFill>
              </a:defRPr>
            </a:lvl9pPr>
          </a:lstStyle>
          <a:p>
            <a:endParaRPr/>
          </a:p>
        </p:txBody>
      </p:sp>
      <p:cxnSp>
        <p:nvCxnSpPr>
          <p:cNvPr id="152" name="Google Shape;152;p113"/>
          <p:cNvCxnSpPr/>
          <p:nvPr/>
        </p:nvCxnSpPr>
        <p:spPr>
          <a:xfrm>
            <a:off x="8380413" y="1608668"/>
            <a:ext cx="3808408" cy="0"/>
          </a:xfrm>
          <a:prstGeom prst="straightConnector1">
            <a:avLst/>
          </a:prstGeom>
          <a:noFill/>
          <a:ln w="25400" cap="flat" cmpd="sng">
            <a:solidFill>
              <a:schemeClr val="accent1"/>
            </a:solidFill>
            <a:prstDash val="solid"/>
            <a:miter lim="800000"/>
            <a:headEnd type="none" w="sm" len="sm"/>
            <a:tailEnd type="none" w="sm" len="sm"/>
          </a:ln>
        </p:spPr>
      </p:cxnSp>
      <p:sp>
        <p:nvSpPr>
          <p:cNvPr id="153" name="Google Shape;153;p113"/>
          <p:cNvSpPr txBox="1">
            <a:spLocks noGrp="1"/>
          </p:cNvSpPr>
          <p:nvPr>
            <p:ph type="body" idx="3"/>
          </p:nvPr>
        </p:nvSpPr>
        <p:spPr>
          <a:xfrm>
            <a:off x="8380413" y="1699688"/>
            <a:ext cx="3681445" cy="286362"/>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1200"/>
              </a:spcBef>
              <a:spcAft>
                <a:spcPts val="0"/>
              </a:spcAft>
              <a:buSzPts val="1620"/>
              <a:buChar char="​"/>
              <a:defRPr sz="1799">
                <a:solidFill>
                  <a:schemeClr val="accent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0"/>
              </a:spcAft>
              <a:buSzPts val="1620"/>
              <a:buChar char="-"/>
              <a:defRPr/>
            </a:lvl9pPr>
          </a:lstStyle>
          <a:p>
            <a:endParaRPr/>
          </a:p>
        </p:txBody>
      </p:sp>
      <p:sp>
        <p:nvSpPr>
          <p:cNvPr id="154" name="Google Shape;154;p113"/>
          <p:cNvSpPr txBox="1">
            <a:spLocks noGrp="1"/>
          </p:cNvSpPr>
          <p:nvPr>
            <p:ph type="body" idx="4"/>
          </p:nvPr>
        </p:nvSpPr>
        <p:spPr>
          <a:xfrm>
            <a:off x="8378825" y="2063048"/>
            <a:ext cx="3683033"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1200"/>
              </a:spcBef>
              <a:spcAft>
                <a:spcPts val="0"/>
              </a:spcAft>
              <a:buSzPts val="1440"/>
              <a:buChar char="​"/>
              <a:defRPr sz="1600">
                <a:solidFill>
                  <a:srgbClr val="3C3C3C"/>
                </a:solidFill>
              </a:defRPr>
            </a:lvl1pPr>
            <a:lvl2pPr marL="914400" lvl="1" indent="-308610" algn="l">
              <a:lnSpc>
                <a:spcPct val="100000"/>
              </a:lnSpc>
              <a:spcBef>
                <a:spcPts val="1200"/>
              </a:spcBef>
              <a:spcAft>
                <a:spcPts val="0"/>
              </a:spcAft>
              <a:buSzPts val="1260"/>
              <a:buChar char="•"/>
              <a:defRPr sz="1400">
                <a:solidFill>
                  <a:srgbClr val="3C3C3C"/>
                </a:solidFill>
              </a:defRPr>
            </a:lvl2pPr>
            <a:lvl3pPr marL="1371600" lvl="2" indent="-308610" algn="l">
              <a:lnSpc>
                <a:spcPct val="100000"/>
              </a:lnSpc>
              <a:spcBef>
                <a:spcPts val="1200"/>
              </a:spcBef>
              <a:spcAft>
                <a:spcPts val="0"/>
              </a:spcAft>
              <a:buSzPts val="1260"/>
              <a:buChar char="–"/>
              <a:defRPr sz="1400">
                <a:solidFill>
                  <a:srgbClr val="3C3C3C"/>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0"/>
              </a:spcAft>
              <a:buSzPts val="1620"/>
              <a:buChar char="-"/>
              <a:defRPr/>
            </a:lvl9pPr>
          </a:lstStyle>
          <a:p>
            <a:endParaRPr/>
          </a:p>
        </p:txBody>
      </p:sp>
      <p:cxnSp>
        <p:nvCxnSpPr>
          <p:cNvPr id="155" name="Google Shape;155;p113"/>
          <p:cNvCxnSpPr/>
          <p:nvPr/>
        </p:nvCxnSpPr>
        <p:spPr>
          <a:xfrm>
            <a:off x="8380413" y="3872441"/>
            <a:ext cx="3808408" cy="0"/>
          </a:xfrm>
          <a:prstGeom prst="straightConnector1">
            <a:avLst/>
          </a:prstGeom>
          <a:noFill/>
          <a:ln w="25400" cap="flat" cmpd="sng">
            <a:solidFill>
              <a:schemeClr val="accent5"/>
            </a:solidFill>
            <a:prstDash val="solid"/>
            <a:miter lim="800000"/>
            <a:headEnd type="none" w="sm" len="sm"/>
            <a:tailEnd type="none" w="sm" len="sm"/>
          </a:ln>
        </p:spPr>
      </p:cxnSp>
      <p:sp>
        <p:nvSpPr>
          <p:cNvPr id="156" name="Google Shape;156;p113"/>
          <p:cNvSpPr txBox="1">
            <a:spLocks noGrp="1"/>
          </p:cNvSpPr>
          <p:nvPr>
            <p:ph type="body" idx="5"/>
          </p:nvPr>
        </p:nvSpPr>
        <p:spPr>
          <a:xfrm>
            <a:off x="8380413" y="3972470"/>
            <a:ext cx="3681445" cy="277353"/>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1200"/>
              </a:spcBef>
              <a:spcAft>
                <a:spcPts val="0"/>
              </a:spcAft>
              <a:buSzPts val="1620"/>
              <a:buChar char="​"/>
              <a:defRPr sz="1799">
                <a:solidFill>
                  <a:schemeClr val="accent5"/>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0"/>
              </a:spcAft>
              <a:buSzPts val="1620"/>
              <a:buChar char="-"/>
              <a:defRPr/>
            </a:lvl9pPr>
          </a:lstStyle>
          <a:p>
            <a:endParaRPr/>
          </a:p>
        </p:txBody>
      </p:sp>
      <p:sp>
        <p:nvSpPr>
          <p:cNvPr id="157" name="Google Shape;157;p113"/>
          <p:cNvSpPr txBox="1">
            <a:spLocks noGrp="1"/>
          </p:cNvSpPr>
          <p:nvPr>
            <p:ph type="body" idx="6"/>
          </p:nvPr>
        </p:nvSpPr>
        <p:spPr>
          <a:xfrm>
            <a:off x="8378825" y="4347904"/>
            <a:ext cx="3683033"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1200"/>
              </a:spcBef>
              <a:spcAft>
                <a:spcPts val="0"/>
              </a:spcAft>
              <a:buSzPts val="1440"/>
              <a:buChar char="​"/>
              <a:defRPr sz="1600">
                <a:solidFill>
                  <a:srgbClr val="3C3C3C"/>
                </a:solidFill>
              </a:defRPr>
            </a:lvl1pPr>
            <a:lvl2pPr marL="914400" lvl="1" indent="-308610" algn="l">
              <a:lnSpc>
                <a:spcPct val="100000"/>
              </a:lnSpc>
              <a:spcBef>
                <a:spcPts val="1200"/>
              </a:spcBef>
              <a:spcAft>
                <a:spcPts val="0"/>
              </a:spcAft>
              <a:buSzPts val="1260"/>
              <a:buChar char="•"/>
              <a:defRPr sz="1400">
                <a:solidFill>
                  <a:srgbClr val="3C3C3C"/>
                </a:solidFill>
              </a:defRPr>
            </a:lvl2pPr>
            <a:lvl3pPr marL="1371600" lvl="2" indent="-308610" algn="l">
              <a:lnSpc>
                <a:spcPct val="100000"/>
              </a:lnSpc>
              <a:spcBef>
                <a:spcPts val="1200"/>
              </a:spcBef>
              <a:spcAft>
                <a:spcPts val="0"/>
              </a:spcAft>
              <a:buSzPts val="1260"/>
              <a:buChar char="–"/>
              <a:defRPr sz="1400">
                <a:solidFill>
                  <a:srgbClr val="3C3C3C"/>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0"/>
              </a:spcAft>
              <a:buSzPts val="1620"/>
              <a:buChar char="-"/>
              <a:defRPr/>
            </a:lvl9pPr>
          </a:lstStyle>
          <a:p>
            <a:endParaRPr/>
          </a:p>
        </p:txBody>
      </p:sp>
      <p:sp>
        <p:nvSpPr>
          <p:cNvPr id="158" name="Google Shape;158;p113"/>
          <p:cNvSpPr txBox="1"/>
          <p:nvPr/>
        </p:nvSpPr>
        <p:spPr>
          <a:xfrm>
            <a:off x="11490941" y="6464808"/>
            <a:ext cx="437886"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Slide – Leaf">
  <p:cSld name="Title Slide – Leaf">
    <p:spTree>
      <p:nvGrpSpPr>
        <p:cNvPr id="1" name="Shape 241"/>
        <p:cNvGrpSpPr/>
        <p:nvPr/>
      </p:nvGrpSpPr>
      <p:grpSpPr>
        <a:xfrm>
          <a:off x="0" y="0"/>
          <a:ext cx="0" cy="0"/>
          <a:chOff x="0" y="0"/>
          <a:chExt cx="0" cy="0"/>
        </a:xfrm>
      </p:grpSpPr>
      <p:sp>
        <p:nvSpPr>
          <p:cNvPr id="242" name="Google Shape;242;p126"/>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4"/>
              </a:gs>
              <a:gs pos="7000">
                <a:schemeClr val="accent4"/>
              </a:gs>
              <a:gs pos="83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3" name="Google Shape;243;p126"/>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4" name="Google Shape;244;p126"/>
          <p:cNvSpPr txBox="1">
            <a:spLocks noGrp="1"/>
          </p:cNvSpPr>
          <p:nvPr>
            <p:ph type="subTitle" idx="1"/>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245" name="Google Shape;245;p126"/>
          <p:cNvSpPr txBox="1">
            <a:spLocks noGrp="1"/>
          </p:cNvSpPr>
          <p:nvPr>
            <p:ph type="body" idx="2"/>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46" name="Google Shape;246;p126"/>
          <p:cNvSpPr txBox="1">
            <a:spLocks noGrp="1"/>
          </p:cNvSpPr>
          <p:nvPr>
            <p:ph type="body" idx="3"/>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47" name="Google Shape;247;p126"/>
          <p:cNvSpPr txBox="1">
            <a:spLocks noGrp="1"/>
          </p:cNvSpPr>
          <p:nvPr>
            <p:ph type="body" idx="4"/>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grpSp>
        <p:nvGrpSpPr>
          <p:cNvPr id="248" name="Google Shape;248;p126"/>
          <p:cNvGrpSpPr/>
          <p:nvPr/>
        </p:nvGrpSpPr>
        <p:grpSpPr>
          <a:xfrm>
            <a:off x="265625" y="6323271"/>
            <a:ext cx="1249222" cy="369649"/>
            <a:chOff x="265625" y="6323271"/>
            <a:chExt cx="1249222" cy="369649"/>
          </a:xfrm>
        </p:grpSpPr>
        <p:grpSp>
          <p:nvGrpSpPr>
            <p:cNvPr id="249" name="Google Shape;249;p126"/>
            <p:cNvGrpSpPr/>
            <p:nvPr/>
          </p:nvGrpSpPr>
          <p:grpSpPr>
            <a:xfrm>
              <a:off x="745455" y="6594444"/>
              <a:ext cx="722663" cy="98476"/>
              <a:chOff x="745455" y="6594444"/>
              <a:chExt cx="722663" cy="98476"/>
            </a:xfrm>
          </p:grpSpPr>
          <p:sp>
            <p:nvSpPr>
              <p:cNvPr id="250" name="Google Shape;250;p126"/>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 name="Google Shape;251;p126"/>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2" name="Google Shape;252;p126"/>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3" name="Google Shape;253;p126"/>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4" name="Google Shape;254;p126"/>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5" name="Google Shape;255;p126"/>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6" name="Google Shape;256;p126"/>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7" name="Google Shape;257;p126"/>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8" name="Google Shape;258;p126"/>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9" name="Google Shape;259;p126"/>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60" name="Google Shape;260;p126"/>
            <p:cNvGrpSpPr/>
            <p:nvPr/>
          </p:nvGrpSpPr>
          <p:grpSpPr>
            <a:xfrm>
              <a:off x="265625" y="6323271"/>
              <a:ext cx="1249222" cy="190348"/>
              <a:chOff x="265625" y="6323271"/>
              <a:chExt cx="1249222" cy="190348"/>
            </a:xfrm>
          </p:grpSpPr>
          <p:sp>
            <p:nvSpPr>
              <p:cNvPr id="261" name="Google Shape;261;p126"/>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2" name="Google Shape;262;p126"/>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3" name="Google Shape;263;p126"/>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4" name="Google Shape;264;p126"/>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5" name="Google Shape;265;p126"/>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6" name="Google Shape;266;p126"/>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 name="Google Shape;267;p126"/>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268" name="Google Shape;268;p126"/>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4"/>
              </a:gs>
              <a:gs pos="7000">
                <a:schemeClr val="accent4"/>
              </a:gs>
              <a:gs pos="83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9" name="Google Shape;269;p126"/>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270" name="Google Shape;270;p126"/>
          <p:cNvGrpSpPr/>
          <p:nvPr/>
        </p:nvGrpSpPr>
        <p:grpSpPr>
          <a:xfrm>
            <a:off x="265625" y="6323271"/>
            <a:ext cx="1249222" cy="369649"/>
            <a:chOff x="265625" y="6323271"/>
            <a:chExt cx="1249222" cy="369649"/>
          </a:xfrm>
        </p:grpSpPr>
        <p:grpSp>
          <p:nvGrpSpPr>
            <p:cNvPr id="271" name="Google Shape;271;p126"/>
            <p:cNvGrpSpPr/>
            <p:nvPr/>
          </p:nvGrpSpPr>
          <p:grpSpPr>
            <a:xfrm>
              <a:off x="745455" y="6594444"/>
              <a:ext cx="722663" cy="98476"/>
              <a:chOff x="745455" y="6594444"/>
              <a:chExt cx="722663" cy="98476"/>
            </a:xfrm>
          </p:grpSpPr>
          <p:sp>
            <p:nvSpPr>
              <p:cNvPr id="272" name="Google Shape;272;p126"/>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3" name="Google Shape;273;p126"/>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4" name="Google Shape;274;p126"/>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5" name="Google Shape;275;p126"/>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6" name="Google Shape;276;p126"/>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7" name="Google Shape;277;p126"/>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8" name="Google Shape;278;p126"/>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9" name="Google Shape;279;p126"/>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0" name="Google Shape;280;p126"/>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1" name="Google Shape;281;p126"/>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82" name="Google Shape;282;p126"/>
            <p:cNvGrpSpPr/>
            <p:nvPr/>
          </p:nvGrpSpPr>
          <p:grpSpPr>
            <a:xfrm>
              <a:off x="265625" y="6323271"/>
              <a:ext cx="1249222" cy="190348"/>
              <a:chOff x="265625" y="6323271"/>
              <a:chExt cx="1249222" cy="190348"/>
            </a:xfrm>
          </p:grpSpPr>
          <p:sp>
            <p:nvSpPr>
              <p:cNvPr id="283" name="Google Shape;283;p126"/>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4" name="Google Shape;284;p126"/>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5" name="Google Shape;285;p126"/>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6" name="Google Shape;286;p126"/>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7" name="Google Shape;287;p126"/>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8" name="Google Shape;288;p126"/>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9" name="Google Shape;289;p126"/>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290" name="Google Shape;290;p126"/>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Slide – Aqua">
  <p:cSld name="Title Slide – Aqua">
    <p:spTree>
      <p:nvGrpSpPr>
        <p:cNvPr id="1" name="Shape 291"/>
        <p:cNvGrpSpPr/>
        <p:nvPr/>
      </p:nvGrpSpPr>
      <p:grpSpPr>
        <a:xfrm>
          <a:off x="0" y="0"/>
          <a:ext cx="0" cy="0"/>
          <a:chOff x="0" y="0"/>
          <a:chExt cx="0" cy="0"/>
        </a:xfrm>
      </p:grpSpPr>
      <p:pic>
        <p:nvPicPr>
          <p:cNvPr id="292" name="Google Shape;292;p127"/>
          <p:cNvPicPr preferRelativeResize="0"/>
          <p:nvPr/>
        </p:nvPicPr>
        <p:blipFill rotWithShape="1">
          <a:blip r:embed="rId2">
            <a:alphaModFix/>
          </a:blip>
          <a:srcRect l="1042" r="1972" b="1787"/>
          <a:stretch/>
        </p:blipFill>
        <p:spPr>
          <a:xfrm>
            <a:off x="0" y="658109"/>
            <a:ext cx="12188825" cy="6205839"/>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4901"/>
              </a:schemeClr>
            </a:outerShdw>
          </a:effectLst>
        </p:spPr>
      </p:pic>
      <p:sp>
        <p:nvSpPr>
          <p:cNvPr id="293" name="Google Shape;293;p127"/>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2"/>
              </a:gs>
              <a:gs pos="16000">
                <a:schemeClr val="accent2"/>
              </a:gs>
              <a:gs pos="90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4" name="Google Shape;294;p127"/>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5" name="Google Shape;295;p127"/>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96" name="Google Shape;296;p127"/>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97" name="Google Shape;297;p127"/>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grpSp>
        <p:nvGrpSpPr>
          <p:cNvPr id="298" name="Google Shape;298;p127"/>
          <p:cNvGrpSpPr/>
          <p:nvPr/>
        </p:nvGrpSpPr>
        <p:grpSpPr>
          <a:xfrm>
            <a:off x="265625" y="6323271"/>
            <a:ext cx="1249222" cy="369649"/>
            <a:chOff x="265625" y="6323271"/>
            <a:chExt cx="1249222" cy="369649"/>
          </a:xfrm>
        </p:grpSpPr>
        <p:grpSp>
          <p:nvGrpSpPr>
            <p:cNvPr id="299" name="Google Shape;299;p127"/>
            <p:cNvGrpSpPr/>
            <p:nvPr/>
          </p:nvGrpSpPr>
          <p:grpSpPr>
            <a:xfrm>
              <a:off x="745455" y="6594444"/>
              <a:ext cx="722663" cy="98476"/>
              <a:chOff x="745455" y="6594444"/>
              <a:chExt cx="722663" cy="98476"/>
            </a:xfrm>
          </p:grpSpPr>
          <p:sp>
            <p:nvSpPr>
              <p:cNvPr id="300" name="Google Shape;300;p12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1" name="Google Shape;301;p12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2" name="Google Shape;302;p12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3" name="Google Shape;303;p12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4" name="Google Shape;304;p12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5" name="Google Shape;305;p12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6" name="Google Shape;306;p12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7" name="Google Shape;307;p12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8" name="Google Shape;308;p12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9" name="Google Shape;309;p12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10" name="Google Shape;310;p127"/>
            <p:cNvGrpSpPr/>
            <p:nvPr/>
          </p:nvGrpSpPr>
          <p:grpSpPr>
            <a:xfrm>
              <a:off x="265625" y="6323271"/>
              <a:ext cx="1249222" cy="190348"/>
              <a:chOff x="265625" y="6323271"/>
              <a:chExt cx="1249222" cy="190348"/>
            </a:xfrm>
          </p:grpSpPr>
          <p:sp>
            <p:nvSpPr>
              <p:cNvPr id="311" name="Google Shape;311;p12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2" name="Google Shape;312;p12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3" name="Google Shape;313;p12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4" name="Google Shape;314;p12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5" name="Google Shape;315;p12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6" name="Google Shape;316;p12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7" name="Google Shape;317;p12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18" name="Google Shape;318;p127"/>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9" name="Google Shape;319;p127"/>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20" name="Google Shape;320;p127"/>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21" name="Google Shape;321;p127"/>
          <p:cNvGrpSpPr/>
          <p:nvPr/>
        </p:nvGrpSpPr>
        <p:grpSpPr>
          <a:xfrm>
            <a:off x="265625" y="6323271"/>
            <a:ext cx="1249222" cy="369649"/>
            <a:chOff x="265625" y="6323271"/>
            <a:chExt cx="1249222" cy="369649"/>
          </a:xfrm>
        </p:grpSpPr>
        <p:grpSp>
          <p:nvGrpSpPr>
            <p:cNvPr id="322" name="Google Shape;322;p127"/>
            <p:cNvGrpSpPr/>
            <p:nvPr/>
          </p:nvGrpSpPr>
          <p:grpSpPr>
            <a:xfrm>
              <a:off x="745455" y="6594444"/>
              <a:ext cx="722663" cy="98476"/>
              <a:chOff x="745455" y="6594444"/>
              <a:chExt cx="722663" cy="98476"/>
            </a:xfrm>
          </p:grpSpPr>
          <p:sp>
            <p:nvSpPr>
              <p:cNvPr id="323" name="Google Shape;323;p12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4" name="Google Shape;324;p12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5" name="Google Shape;325;p12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6" name="Google Shape;326;p12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7" name="Google Shape;327;p12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8" name="Google Shape;328;p12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9" name="Google Shape;329;p12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0" name="Google Shape;330;p12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1" name="Google Shape;331;p12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2" name="Google Shape;332;p12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33" name="Google Shape;333;p127"/>
            <p:cNvGrpSpPr/>
            <p:nvPr/>
          </p:nvGrpSpPr>
          <p:grpSpPr>
            <a:xfrm>
              <a:off x="265625" y="6323271"/>
              <a:ext cx="1249222" cy="190348"/>
              <a:chOff x="265625" y="6323271"/>
              <a:chExt cx="1249222" cy="190348"/>
            </a:xfrm>
          </p:grpSpPr>
          <p:sp>
            <p:nvSpPr>
              <p:cNvPr id="334" name="Google Shape;334;p12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5" name="Google Shape;335;p12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6" name="Google Shape;336;p12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7" name="Google Shape;337;p12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8" name="Google Shape;338;p12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9" name="Google Shape;339;p12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0" name="Google Shape;340;p12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41" name="Google Shape;341;p127"/>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Slide – Plum">
  <p:cSld name="Title Slide – Plum">
    <p:spTree>
      <p:nvGrpSpPr>
        <p:cNvPr id="1" name="Shape 342"/>
        <p:cNvGrpSpPr/>
        <p:nvPr/>
      </p:nvGrpSpPr>
      <p:grpSpPr>
        <a:xfrm>
          <a:off x="0" y="0"/>
          <a:ext cx="0" cy="0"/>
          <a:chOff x="0" y="0"/>
          <a:chExt cx="0" cy="0"/>
        </a:xfrm>
      </p:grpSpPr>
      <p:pic>
        <p:nvPicPr>
          <p:cNvPr id="343" name="Google Shape;343;p128"/>
          <p:cNvPicPr preferRelativeResize="0"/>
          <p:nvPr/>
        </p:nvPicPr>
        <p:blipFill rotWithShape="1">
          <a:blip r:embed="rId2">
            <a:alphaModFix/>
          </a:blip>
          <a:srcRect l="1042" r="1972" b="1787"/>
          <a:stretch/>
        </p:blipFill>
        <p:spPr>
          <a:xfrm>
            <a:off x="0" y="658109"/>
            <a:ext cx="12188825" cy="6205839"/>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4901"/>
              </a:schemeClr>
            </a:outerShdw>
          </a:effectLst>
        </p:spPr>
      </p:pic>
      <p:sp>
        <p:nvSpPr>
          <p:cNvPr id="344" name="Google Shape;344;p128"/>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5"/>
              </a:gs>
              <a:gs pos="16000">
                <a:schemeClr val="accent5"/>
              </a:gs>
              <a:gs pos="45000">
                <a:srgbClr val="4764A1"/>
              </a:gs>
              <a:gs pos="90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5" name="Google Shape;345;p128"/>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46" name="Google Shape;346;p128"/>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47" name="Google Shape;347;p128"/>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grpSp>
        <p:nvGrpSpPr>
          <p:cNvPr id="348" name="Google Shape;348;p128"/>
          <p:cNvGrpSpPr/>
          <p:nvPr/>
        </p:nvGrpSpPr>
        <p:grpSpPr>
          <a:xfrm>
            <a:off x="265625" y="6323271"/>
            <a:ext cx="1249222" cy="369649"/>
            <a:chOff x="265625" y="6323271"/>
            <a:chExt cx="1249222" cy="369649"/>
          </a:xfrm>
        </p:grpSpPr>
        <p:grpSp>
          <p:nvGrpSpPr>
            <p:cNvPr id="349" name="Google Shape;349;p128"/>
            <p:cNvGrpSpPr/>
            <p:nvPr/>
          </p:nvGrpSpPr>
          <p:grpSpPr>
            <a:xfrm>
              <a:off x="745455" y="6594444"/>
              <a:ext cx="722663" cy="98476"/>
              <a:chOff x="745455" y="6594444"/>
              <a:chExt cx="722663" cy="98476"/>
            </a:xfrm>
          </p:grpSpPr>
          <p:sp>
            <p:nvSpPr>
              <p:cNvPr id="350" name="Google Shape;350;p128"/>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1" name="Google Shape;351;p128"/>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2" name="Google Shape;352;p128"/>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3" name="Google Shape;353;p128"/>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4" name="Google Shape;354;p128"/>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5" name="Google Shape;355;p128"/>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6" name="Google Shape;356;p128"/>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7" name="Google Shape;357;p128"/>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8" name="Google Shape;358;p128"/>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9" name="Google Shape;359;p128"/>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0" name="Google Shape;360;p128"/>
            <p:cNvGrpSpPr/>
            <p:nvPr/>
          </p:nvGrpSpPr>
          <p:grpSpPr>
            <a:xfrm>
              <a:off x="265625" y="6323271"/>
              <a:ext cx="1249222" cy="190348"/>
              <a:chOff x="265625" y="6323271"/>
              <a:chExt cx="1249222" cy="190348"/>
            </a:xfrm>
          </p:grpSpPr>
          <p:sp>
            <p:nvSpPr>
              <p:cNvPr id="361" name="Google Shape;361;p128"/>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2" name="Google Shape;362;p128"/>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3" name="Google Shape;363;p128"/>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4" name="Google Shape;364;p128"/>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 name="Google Shape;365;p128"/>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6" name="Google Shape;366;p128"/>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 name="Google Shape;367;p128"/>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68" name="Google Shape;368;p128"/>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9" name="Google Shape;369;p128"/>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70" name="Google Shape;370;p128"/>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1" name="Google Shape;371;p128"/>
          <p:cNvGrpSpPr/>
          <p:nvPr/>
        </p:nvGrpSpPr>
        <p:grpSpPr>
          <a:xfrm>
            <a:off x="265625" y="6323271"/>
            <a:ext cx="1249222" cy="369649"/>
            <a:chOff x="265625" y="6323271"/>
            <a:chExt cx="1249222" cy="369649"/>
          </a:xfrm>
        </p:grpSpPr>
        <p:grpSp>
          <p:nvGrpSpPr>
            <p:cNvPr id="372" name="Google Shape;372;p128"/>
            <p:cNvGrpSpPr/>
            <p:nvPr/>
          </p:nvGrpSpPr>
          <p:grpSpPr>
            <a:xfrm>
              <a:off x="745455" y="6594444"/>
              <a:ext cx="722663" cy="98476"/>
              <a:chOff x="745455" y="6594444"/>
              <a:chExt cx="722663" cy="98476"/>
            </a:xfrm>
          </p:grpSpPr>
          <p:sp>
            <p:nvSpPr>
              <p:cNvPr id="373" name="Google Shape;373;p128"/>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 name="Google Shape;374;p128"/>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 name="Google Shape;375;p128"/>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 name="Google Shape;376;p128"/>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 name="Google Shape;377;p128"/>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 name="Google Shape;378;p128"/>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 name="Google Shape;379;p128"/>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 name="Google Shape;380;p128"/>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 name="Google Shape;381;p128"/>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2" name="Google Shape;382;p128"/>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83" name="Google Shape;383;p128"/>
            <p:cNvGrpSpPr/>
            <p:nvPr/>
          </p:nvGrpSpPr>
          <p:grpSpPr>
            <a:xfrm>
              <a:off x="265625" y="6323271"/>
              <a:ext cx="1249222" cy="190348"/>
              <a:chOff x="265625" y="6323271"/>
              <a:chExt cx="1249222" cy="190348"/>
            </a:xfrm>
          </p:grpSpPr>
          <p:sp>
            <p:nvSpPr>
              <p:cNvPr id="384" name="Google Shape;384;p128"/>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5" name="Google Shape;385;p128"/>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6" name="Google Shape;386;p128"/>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7" name="Google Shape;387;p128"/>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8" name="Google Shape;388;p128"/>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9" name="Google Shape;389;p128"/>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0" name="Google Shape;390;p128"/>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91" name="Google Shape;391;p128"/>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2" name="Google Shape;392;p128"/>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93"/>
        <p:cNvGrpSpPr/>
        <p:nvPr/>
      </p:nvGrpSpPr>
      <p:grpSpPr>
        <a:xfrm>
          <a:off x="0" y="0"/>
          <a:ext cx="0" cy="0"/>
          <a:chOff x="0" y="0"/>
          <a:chExt cx="0" cy="0"/>
        </a:xfrm>
      </p:grpSpPr>
      <p:sp>
        <p:nvSpPr>
          <p:cNvPr id="394" name="Google Shape;394;p12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395" name="Google Shape;395;p12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396" name="Google Shape;396;p129"/>
          <p:cNvSpPr txBox="1">
            <a:spLocks noGrp="1"/>
          </p:cNvSpPr>
          <p:nvPr>
            <p:ph type="body" idx="1"/>
          </p:nvPr>
        </p:nvSpPr>
        <p:spPr>
          <a:xfrm>
            <a:off x="609600" y="1267608"/>
            <a:ext cx="1939925" cy="1969770"/>
          </a:xfrm>
          <a:prstGeom prst="rect">
            <a:avLst/>
          </a:prstGeom>
          <a:noFill/>
          <a:ln>
            <a:noFill/>
          </a:ln>
        </p:spPr>
        <p:txBody>
          <a:bodyPr spcFirstLastPara="1" wrap="square" lIns="0" tIns="0" rIns="0" bIns="0" anchor="t" anchorCtr="0">
            <a:spAutoFit/>
          </a:bodyPr>
          <a:lstStyle>
            <a:lvl1pPr marL="457200" lvl="0" indent="-411480" algn="l">
              <a:lnSpc>
                <a:spcPct val="100000"/>
              </a:lnSpc>
              <a:spcBef>
                <a:spcPts val="0"/>
              </a:spcBef>
              <a:spcAft>
                <a:spcPts val="0"/>
              </a:spcAft>
              <a:buSzPts val="2880"/>
              <a:buChar char="​"/>
              <a:defRPr sz="3200">
                <a:solidFill>
                  <a:schemeClr val="accent2"/>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97" name="Google Shape;397;p129"/>
          <p:cNvSpPr txBox="1">
            <a:spLocks noGrp="1"/>
          </p:cNvSpPr>
          <p:nvPr>
            <p:ph type="body" idx="2"/>
          </p:nvPr>
        </p:nvSpPr>
        <p:spPr>
          <a:xfrm>
            <a:off x="2894013" y="1267608"/>
            <a:ext cx="7335837" cy="4337050"/>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0"/>
              </a:spcBef>
              <a:spcAft>
                <a:spcPts val="0"/>
              </a:spcAft>
              <a:buClr>
                <a:schemeClr val="accent2"/>
              </a:buClr>
              <a:buSzPts val="2520"/>
              <a:buFont typeface="Arial"/>
              <a:buChar char="•"/>
              <a:defRPr sz="2800"/>
            </a:lvl1pPr>
            <a:lvl2pPr marL="914400" lvl="1" indent="-365760" algn="l">
              <a:lnSpc>
                <a:spcPct val="100000"/>
              </a:lnSpc>
              <a:spcBef>
                <a:spcPts val="1200"/>
              </a:spcBef>
              <a:spcAft>
                <a:spcPts val="0"/>
              </a:spcAft>
              <a:buClr>
                <a:schemeClr val="accent2"/>
              </a:buClr>
              <a:buSzPts val="2160"/>
              <a:buChar char="•"/>
              <a:defRPr sz="2400"/>
            </a:lvl2pPr>
            <a:lvl3pPr marL="1371600" lvl="2" indent="-342900" algn="l">
              <a:lnSpc>
                <a:spcPct val="100000"/>
              </a:lnSpc>
              <a:spcBef>
                <a:spcPts val="1200"/>
              </a:spcBef>
              <a:spcAft>
                <a:spcPts val="0"/>
              </a:spcAft>
              <a:buClr>
                <a:schemeClr val="accent2"/>
              </a:buClr>
              <a:buSzPts val="1800"/>
              <a:buChar char="–"/>
              <a:defRPr sz="2000"/>
            </a:lvl3pPr>
            <a:lvl4pPr marL="1828800" lvl="3" indent="-331469" algn="l">
              <a:lnSpc>
                <a:spcPct val="100000"/>
              </a:lnSpc>
              <a:spcBef>
                <a:spcPts val="1200"/>
              </a:spcBef>
              <a:spcAft>
                <a:spcPts val="0"/>
              </a:spcAft>
              <a:buClr>
                <a:schemeClr val="accent2"/>
              </a:buClr>
              <a:buSzPts val="1620"/>
              <a:buChar char="•"/>
              <a:defRPr sz="1800"/>
            </a:lvl4pPr>
            <a:lvl5pPr marL="2286000" lvl="4" indent="-331470" algn="l">
              <a:lnSpc>
                <a:spcPct val="100000"/>
              </a:lnSpc>
              <a:spcBef>
                <a:spcPts val="1200"/>
              </a:spcBef>
              <a:spcAft>
                <a:spcPts val="0"/>
              </a:spcAft>
              <a:buClr>
                <a:schemeClr val="accent2"/>
              </a:buClr>
              <a:buSzPts val="1620"/>
              <a:buChar char="–"/>
              <a:defRPr sz="1800"/>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 Leaf">
  <p:cSld name="Section Header – Leaf">
    <p:spTree>
      <p:nvGrpSpPr>
        <p:cNvPr id="1" name="Shape 398"/>
        <p:cNvGrpSpPr/>
        <p:nvPr/>
      </p:nvGrpSpPr>
      <p:grpSpPr>
        <a:xfrm>
          <a:off x="0" y="0"/>
          <a:ext cx="0" cy="0"/>
          <a:chOff x="0" y="0"/>
          <a:chExt cx="0" cy="0"/>
        </a:xfrm>
      </p:grpSpPr>
      <p:sp>
        <p:nvSpPr>
          <p:cNvPr id="399" name="Google Shape;399;p130"/>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0" name="Google Shape;400;p130"/>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01" name="Google Shape;401;p13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402" name="Google Shape;402;p130"/>
          <p:cNvSpPr/>
          <p:nvPr/>
        </p:nvSpPr>
        <p:spPr>
          <a:xfrm>
            <a:off x="6525510" y="666685"/>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4"/>
              </a:gs>
              <a:gs pos="21000">
                <a:schemeClr val="accent4"/>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3" name="Google Shape;403;p13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 Aqua">
  <p:cSld name="Section Header – Aqua">
    <p:spTree>
      <p:nvGrpSpPr>
        <p:cNvPr id="1" name="Shape 404"/>
        <p:cNvGrpSpPr/>
        <p:nvPr/>
      </p:nvGrpSpPr>
      <p:grpSpPr>
        <a:xfrm>
          <a:off x="0" y="0"/>
          <a:ext cx="0" cy="0"/>
          <a:chOff x="0" y="0"/>
          <a:chExt cx="0" cy="0"/>
        </a:xfrm>
      </p:grpSpPr>
      <p:sp>
        <p:nvSpPr>
          <p:cNvPr id="405" name="Google Shape;405;p131"/>
          <p:cNvSpPr txBox="1">
            <a:spLocks noGrp="1"/>
          </p:cNvSpPr>
          <p:nvPr>
            <p:ph type="title"/>
          </p:nvPr>
        </p:nvSpPr>
        <p:spPr>
          <a:xfrm>
            <a:off x="589107" y="938794"/>
            <a:ext cx="6587869"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6" name="Google Shape;406;p131"/>
          <p:cNvSpPr txBox="1">
            <a:spLocks noGrp="1"/>
          </p:cNvSpPr>
          <p:nvPr>
            <p:ph type="subTitle" idx="1"/>
          </p:nvPr>
        </p:nvSpPr>
        <p:spPr>
          <a:xfrm>
            <a:off x="602966" y="2267712"/>
            <a:ext cx="6574010"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07" name="Google Shape;407;p13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408" name="Google Shape;408;p131"/>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2"/>
              </a:gs>
              <a:gs pos="21000">
                <a:schemeClr val="accent2"/>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9" name="Google Shape;409;p13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Quote – Leaf">
  <p:cSld name="Quote – Leaf">
    <p:spTree>
      <p:nvGrpSpPr>
        <p:cNvPr id="1" name="Shape 464"/>
        <p:cNvGrpSpPr/>
        <p:nvPr/>
      </p:nvGrpSpPr>
      <p:grpSpPr>
        <a:xfrm>
          <a:off x="0" y="0"/>
          <a:ext cx="0" cy="0"/>
          <a:chOff x="0" y="0"/>
          <a:chExt cx="0" cy="0"/>
        </a:xfrm>
      </p:grpSpPr>
      <p:sp>
        <p:nvSpPr>
          <p:cNvPr id="465" name="Google Shape;465;p133"/>
          <p:cNvSpPr txBox="1">
            <a:spLocks noGrp="1"/>
          </p:cNvSpPr>
          <p:nvPr>
            <p:ph type="body" idx="1"/>
          </p:nvPr>
        </p:nvSpPr>
        <p:spPr>
          <a:xfrm>
            <a:off x="438912" y="1600200"/>
            <a:ext cx="5413248"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66" name="Google Shape;466;p133"/>
          <p:cNvSpPr txBox="1">
            <a:spLocks noGrp="1"/>
          </p:cNvSpPr>
          <p:nvPr>
            <p:ph type="body" idx="2"/>
          </p:nvPr>
        </p:nvSpPr>
        <p:spPr>
          <a:xfrm>
            <a:off x="612648" y="5065776"/>
            <a:ext cx="4581144" cy="27432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67" name="Google Shape;467;p133" descr="logo placeholder: click to insert logo or delete box if not needed"/>
          <p:cNvSpPr>
            <a:spLocks noGrp="1"/>
          </p:cNvSpPr>
          <p:nvPr>
            <p:ph type="pic" idx="3"/>
          </p:nvPr>
        </p:nvSpPr>
        <p:spPr>
          <a:xfrm>
            <a:off x="8925484" y="4619335"/>
            <a:ext cx="2740025" cy="1371600"/>
          </a:xfrm>
          <a:prstGeom prst="rect">
            <a:avLst/>
          </a:prstGeom>
          <a:noFill/>
          <a:ln>
            <a:noFill/>
          </a:ln>
        </p:spPr>
      </p:sp>
      <p:sp>
        <p:nvSpPr>
          <p:cNvPr id="468" name="Google Shape;468;p13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469" name="Google Shape;469;p133"/>
          <p:cNvGrpSpPr/>
          <p:nvPr/>
        </p:nvGrpSpPr>
        <p:grpSpPr>
          <a:xfrm>
            <a:off x="265625" y="6323271"/>
            <a:ext cx="1249222" cy="369649"/>
            <a:chOff x="265625" y="6323271"/>
            <a:chExt cx="1249222" cy="369649"/>
          </a:xfrm>
        </p:grpSpPr>
        <p:grpSp>
          <p:nvGrpSpPr>
            <p:cNvPr id="470" name="Google Shape;470;p133"/>
            <p:cNvGrpSpPr/>
            <p:nvPr/>
          </p:nvGrpSpPr>
          <p:grpSpPr>
            <a:xfrm>
              <a:off x="745455" y="6594444"/>
              <a:ext cx="722663" cy="98476"/>
              <a:chOff x="745455" y="6594444"/>
              <a:chExt cx="722663" cy="98476"/>
            </a:xfrm>
          </p:grpSpPr>
          <p:sp>
            <p:nvSpPr>
              <p:cNvPr id="471" name="Google Shape;471;p13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2" name="Google Shape;472;p13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3" name="Google Shape;473;p13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4" name="Google Shape;474;p13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5" name="Google Shape;475;p13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6" name="Google Shape;476;p13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7" name="Google Shape;477;p13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8" name="Google Shape;478;p13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9" name="Google Shape;479;p13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0" name="Google Shape;480;p13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81" name="Google Shape;481;p133"/>
            <p:cNvGrpSpPr/>
            <p:nvPr/>
          </p:nvGrpSpPr>
          <p:grpSpPr>
            <a:xfrm>
              <a:off x="265625" y="6323271"/>
              <a:ext cx="1249222" cy="190348"/>
              <a:chOff x="265625" y="6323271"/>
              <a:chExt cx="1249222" cy="190348"/>
            </a:xfrm>
          </p:grpSpPr>
          <p:sp>
            <p:nvSpPr>
              <p:cNvPr id="482" name="Google Shape;482;p13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3" name="Google Shape;483;p13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4" name="Google Shape;484;p13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5" name="Google Shape;485;p13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6" name="Google Shape;486;p13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7" name="Google Shape;487;p13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8" name="Google Shape;488;p13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489" name="Google Shape;489;p133"/>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0" name="Google Shape;490;p13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491" name="Google Shape;491;p133"/>
          <p:cNvGrpSpPr/>
          <p:nvPr/>
        </p:nvGrpSpPr>
        <p:grpSpPr>
          <a:xfrm>
            <a:off x="265625" y="6323271"/>
            <a:ext cx="1249222" cy="369649"/>
            <a:chOff x="265625" y="6323271"/>
            <a:chExt cx="1249222" cy="369649"/>
          </a:xfrm>
        </p:grpSpPr>
        <p:grpSp>
          <p:nvGrpSpPr>
            <p:cNvPr id="492" name="Google Shape;492;p133"/>
            <p:cNvGrpSpPr/>
            <p:nvPr/>
          </p:nvGrpSpPr>
          <p:grpSpPr>
            <a:xfrm>
              <a:off x="745455" y="6594444"/>
              <a:ext cx="722663" cy="98476"/>
              <a:chOff x="745455" y="6594444"/>
              <a:chExt cx="722663" cy="98476"/>
            </a:xfrm>
          </p:grpSpPr>
          <p:sp>
            <p:nvSpPr>
              <p:cNvPr id="493" name="Google Shape;493;p13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4" name="Google Shape;494;p13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5" name="Google Shape;495;p13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6" name="Google Shape;496;p13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7" name="Google Shape;497;p13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8" name="Google Shape;498;p13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9" name="Google Shape;499;p13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0" name="Google Shape;500;p13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1" name="Google Shape;501;p13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2" name="Google Shape;502;p13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03" name="Google Shape;503;p133"/>
            <p:cNvGrpSpPr/>
            <p:nvPr/>
          </p:nvGrpSpPr>
          <p:grpSpPr>
            <a:xfrm>
              <a:off x="265625" y="6323271"/>
              <a:ext cx="1249222" cy="190348"/>
              <a:chOff x="265625" y="6323271"/>
              <a:chExt cx="1249222" cy="190348"/>
            </a:xfrm>
          </p:grpSpPr>
          <p:sp>
            <p:nvSpPr>
              <p:cNvPr id="504" name="Google Shape;504;p13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5" name="Google Shape;505;p13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6" name="Google Shape;506;p13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7" name="Google Shape;507;p13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8" name="Google Shape;508;p13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9" name="Google Shape;509;p13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0" name="Google Shape;510;p13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11" name="Google Shape;511;p133"/>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Quote – Aqua">
  <p:cSld name="Quote – Aqua">
    <p:spTree>
      <p:nvGrpSpPr>
        <p:cNvPr id="1" name="Shape 512"/>
        <p:cNvGrpSpPr/>
        <p:nvPr/>
      </p:nvGrpSpPr>
      <p:grpSpPr>
        <a:xfrm>
          <a:off x="0" y="0"/>
          <a:ext cx="0" cy="0"/>
          <a:chOff x="0" y="0"/>
          <a:chExt cx="0" cy="0"/>
        </a:xfrm>
      </p:grpSpPr>
      <p:sp>
        <p:nvSpPr>
          <p:cNvPr id="513" name="Google Shape;513;p134"/>
          <p:cNvSpPr/>
          <p:nvPr/>
        </p:nvSpPr>
        <p:spPr>
          <a:xfrm>
            <a:off x="0" y="0"/>
            <a:ext cx="12188825" cy="6033051"/>
          </a:xfrm>
          <a:custGeom>
            <a:avLst/>
            <a:gdLst/>
            <a:ahLst/>
            <a:cxnLst/>
            <a:rect l="l" t="t" r="r" b="b"/>
            <a:pathLst>
              <a:path w="12197292" h="6041519" extrusionOk="0">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4" name="Google Shape;514;p134"/>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5" name="Google Shape;515;p134"/>
          <p:cNvSpPr txBox="1">
            <a:spLocks noGrp="1"/>
          </p:cNvSpPr>
          <p:nvPr>
            <p:ph type="body" idx="1"/>
          </p:nvPr>
        </p:nvSpPr>
        <p:spPr>
          <a:xfrm>
            <a:off x="438912" y="1600200"/>
            <a:ext cx="5413248"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16" name="Google Shape;516;p134"/>
          <p:cNvSpPr txBox="1">
            <a:spLocks noGrp="1"/>
          </p:cNvSpPr>
          <p:nvPr>
            <p:ph type="body" idx="2"/>
          </p:nvPr>
        </p:nvSpPr>
        <p:spPr>
          <a:xfrm>
            <a:off x="612648" y="5065776"/>
            <a:ext cx="4581144" cy="27432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17" name="Google Shape;517;p134" descr="logo placeholder: click to insert logo or delete box if not needed"/>
          <p:cNvSpPr>
            <a:spLocks noGrp="1"/>
          </p:cNvSpPr>
          <p:nvPr>
            <p:ph type="pic" idx="3"/>
          </p:nvPr>
        </p:nvSpPr>
        <p:spPr>
          <a:xfrm>
            <a:off x="8925484" y="4619335"/>
            <a:ext cx="2740025" cy="1371600"/>
          </a:xfrm>
          <a:prstGeom prst="rect">
            <a:avLst/>
          </a:prstGeom>
          <a:noFill/>
          <a:ln>
            <a:noFill/>
          </a:ln>
        </p:spPr>
      </p:sp>
      <p:sp>
        <p:nvSpPr>
          <p:cNvPr id="518" name="Google Shape;518;p13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519" name="Google Shape;519;p134"/>
          <p:cNvGrpSpPr/>
          <p:nvPr/>
        </p:nvGrpSpPr>
        <p:grpSpPr>
          <a:xfrm>
            <a:off x="265625" y="6323271"/>
            <a:ext cx="1249222" cy="369649"/>
            <a:chOff x="265625" y="6323271"/>
            <a:chExt cx="1249222" cy="369649"/>
          </a:xfrm>
        </p:grpSpPr>
        <p:grpSp>
          <p:nvGrpSpPr>
            <p:cNvPr id="520" name="Google Shape;520;p134"/>
            <p:cNvGrpSpPr/>
            <p:nvPr/>
          </p:nvGrpSpPr>
          <p:grpSpPr>
            <a:xfrm>
              <a:off x="745455" y="6594444"/>
              <a:ext cx="722663" cy="98476"/>
              <a:chOff x="745455" y="6594444"/>
              <a:chExt cx="722663" cy="98476"/>
            </a:xfrm>
          </p:grpSpPr>
          <p:sp>
            <p:nvSpPr>
              <p:cNvPr id="521" name="Google Shape;521;p13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2" name="Google Shape;522;p13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3" name="Google Shape;523;p13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4" name="Google Shape;524;p13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5" name="Google Shape;525;p13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6" name="Google Shape;526;p13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7" name="Google Shape;527;p13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8" name="Google Shape;528;p13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9" name="Google Shape;529;p13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0" name="Google Shape;530;p13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31" name="Google Shape;531;p134"/>
            <p:cNvGrpSpPr/>
            <p:nvPr/>
          </p:nvGrpSpPr>
          <p:grpSpPr>
            <a:xfrm>
              <a:off x="265625" y="6323271"/>
              <a:ext cx="1249222" cy="190348"/>
              <a:chOff x="265625" y="6323271"/>
              <a:chExt cx="1249222" cy="190348"/>
            </a:xfrm>
          </p:grpSpPr>
          <p:sp>
            <p:nvSpPr>
              <p:cNvPr id="532" name="Google Shape;532;p13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3" name="Google Shape;533;p13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4" name="Google Shape;534;p13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5" name="Google Shape;535;p13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6" name="Google Shape;536;p13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7" name="Google Shape;537;p13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8" name="Google Shape;538;p13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39" name="Google Shape;539;p13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540" name="Google Shape;540;p134"/>
          <p:cNvGrpSpPr/>
          <p:nvPr/>
        </p:nvGrpSpPr>
        <p:grpSpPr>
          <a:xfrm>
            <a:off x="265625" y="6323271"/>
            <a:ext cx="1249222" cy="369649"/>
            <a:chOff x="265625" y="6323271"/>
            <a:chExt cx="1249222" cy="369649"/>
          </a:xfrm>
        </p:grpSpPr>
        <p:grpSp>
          <p:nvGrpSpPr>
            <p:cNvPr id="541" name="Google Shape;541;p134"/>
            <p:cNvGrpSpPr/>
            <p:nvPr/>
          </p:nvGrpSpPr>
          <p:grpSpPr>
            <a:xfrm>
              <a:off x="745455" y="6594444"/>
              <a:ext cx="722663" cy="98476"/>
              <a:chOff x="745455" y="6594444"/>
              <a:chExt cx="722663" cy="98476"/>
            </a:xfrm>
          </p:grpSpPr>
          <p:sp>
            <p:nvSpPr>
              <p:cNvPr id="542" name="Google Shape;542;p13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3" name="Google Shape;543;p13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4" name="Google Shape;544;p13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5" name="Google Shape;545;p13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6" name="Google Shape;546;p13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7" name="Google Shape;547;p13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8" name="Google Shape;548;p13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9" name="Google Shape;549;p13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0" name="Google Shape;550;p13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1" name="Google Shape;551;p13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52" name="Google Shape;552;p134"/>
            <p:cNvGrpSpPr/>
            <p:nvPr/>
          </p:nvGrpSpPr>
          <p:grpSpPr>
            <a:xfrm>
              <a:off x="265625" y="6323271"/>
              <a:ext cx="1249222" cy="190348"/>
              <a:chOff x="265625" y="6323271"/>
              <a:chExt cx="1249222" cy="190348"/>
            </a:xfrm>
          </p:grpSpPr>
          <p:sp>
            <p:nvSpPr>
              <p:cNvPr id="553" name="Google Shape;553;p13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4" name="Google Shape;554;p13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5" name="Google Shape;555;p13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6" name="Google Shape;556;p13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7" name="Google Shape;557;p13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8" name="Google Shape;558;p13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9" name="Google Shape;559;p13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60" name="Google Shape;560;p134"/>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Quote – Plum">
  <p:cSld name="Quote – Plum">
    <p:spTree>
      <p:nvGrpSpPr>
        <p:cNvPr id="1" name="Shape 561"/>
        <p:cNvGrpSpPr/>
        <p:nvPr/>
      </p:nvGrpSpPr>
      <p:grpSpPr>
        <a:xfrm>
          <a:off x="0" y="0"/>
          <a:ext cx="0" cy="0"/>
          <a:chOff x="0" y="0"/>
          <a:chExt cx="0" cy="0"/>
        </a:xfrm>
      </p:grpSpPr>
      <p:sp>
        <p:nvSpPr>
          <p:cNvPr id="562" name="Google Shape;562;p135"/>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9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3" name="Google Shape;563;p135"/>
          <p:cNvSpPr txBox="1">
            <a:spLocks noGrp="1"/>
          </p:cNvSpPr>
          <p:nvPr>
            <p:ph type="body" idx="1"/>
          </p:nvPr>
        </p:nvSpPr>
        <p:spPr>
          <a:xfrm>
            <a:off x="438912" y="1600200"/>
            <a:ext cx="5462158"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64" name="Google Shape;564;p135"/>
          <p:cNvSpPr txBox="1">
            <a:spLocks noGrp="1"/>
          </p:cNvSpPr>
          <p:nvPr>
            <p:ph type="body" idx="2"/>
          </p:nvPr>
        </p:nvSpPr>
        <p:spPr>
          <a:xfrm>
            <a:off x="612648" y="5065776"/>
            <a:ext cx="4581144" cy="27432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65" name="Google Shape;565;p135" descr="logo placeholder: click to insert logo or delete box if not needed"/>
          <p:cNvSpPr>
            <a:spLocks noGrp="1"/>
          </p:cNvSpPr>
          <p:nvPr>
            <p:ph type="pic" idx="3"/>
          </p:nvPr>
        </p:nvSpPr>
        <p:spPr>
          <a:xfrm>
            <a:off x="8925484" y="4619335"/>
            <a:ext cx="2740025" cy="1371600"/>
          </a:xfrm>
          <a:prstGeom prst="rect">
            <a:avLst/>
          </a:prstGeom>
          <a:noFill/>
          <a:ln>
            <a:noFill/>
          </a:ln>
        </p:spPr>
      </p:sp>
      <p:sp>
        <p:nvSpPr>
          <p:cNvPr id="566" name="Google Shape;566;p13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567" name="Google Shape;567;p135"/>
          <p:cNvGrpSpPr/>
          <p:nvPr/>
        </p:nvGrpSpPr>
        <p:grpSpPr>
          <a:xfrm>
            <a:off x="265625" y="6323271"/>
            <a:ext cx="1249222" cy="369649"/>
            <a:chOff x="265625" y="6323271"/>
            <a:chExt cx="1249222" cy="369649"/>
          </a:xfrm>
        </p:grpSpPr>
        <p:grpSp>
          <p:nvGrpSpPr>
            <p:cNvPr id="568" name="Google Shape;568;p135"/>
            <p:cNvGrpSpPr/>
            <p:nvPr/>
          </p:nvGrpSpPr>
          <p:grpSpPr>
            <a:xfrm>
              <a:off x="745455" y="6594444"/>
              <a:ext cx="722663" cy="98476"/>
              <a:chOff x="745455" y="6594444"/>
              <a:chExt cx="722663" cy="98476"/>
            </a:xfrm>
          </p:grpSpPr>
          <p:sp>
            <p:nvSpPr>
              <p:cNvPr id="569" name="Google Shape;569;p13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 name="Google Shape;570;p13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1" name="Google Shape;571;p13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 name="Google Shape;572;p13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3" name="Google Shape;573;p13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 name="Google Shape;574;p13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 name="Google Shape;575;p13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6" name="Google Shape;576;p13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7" name="Google Shape;577;p13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8" name="Google Shape;578;p13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9" name="Google Shape;579;p135"/>
            <p:cNvGrpSpPr/>
            <p:nvPr/>
          </p:nvGrpSpPr>
          <p:grpSpPr>
            <a:xfrm>
              <a:off x="265625" y="6323271"/>
              <a:ext cx="1249222" cy="190348"/>
              <a:chOff x="265625" y="6323271"/>
              <a:chExt cx="1249222" cy="190348"/>
            </a:xfrm>
          </p:grpSpPr>
          <p:sp>
            <p:nvSpPr>
              <p:cNvPr id="580" name="Google Shape;580;p13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1" name="Google Shape;581;p13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2" name="Google Shape;582;p13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3" name="Google Shape;583;p13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4" name="Google Shape;584;p13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5" name="Google Shape;585;p13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6" name="Google Shape;586;p13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87" name="Google Shape;587;p135"/>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9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8" name="Google Shape;588;p13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589" name="Google Shape;589;p135"/>
          <p:cNvGrpSpPr/>
          <p:nvPr/>
        </p:nvGrpSpPr>
        <p:grpSpPr>
          <a:xfrm>
            <a:off x="265625" y="6323271"/>
            <a:ext cx="1249222" cy="369649"/>
            <a:chOff x="265625" y="6323271"/>
            <a:chExt cx="1249222" cy="369649"/>
          </a:xfrm>
        </p:grpSpPr>
        <p:grpSp>
          <p:nvGrpSpPr>
            <p:cNvPr id="590" name="Google Shape;590;p135"/>
            <p:cNvGrpSpPr/>
            <p:nvPr/>
          </p:nvGrpSpPr>
          <p:grpSpPr>
            <a:xfrm>
              <a:off x="745455" y="6594444"/>
              <a:ext cx="722663" cy="98476"/>
              <a:chOff x="745455" y="6594444"/>
              <a:chExt cx="722663" cy="98476"/>
            </a:xfrm>
          </p:grpSpPr>
          <p:sp>
            <p:nvSpPr>
              <p:cNvPr id="591" name="Google Shape;591;p13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2" name="Google Shape;592;p13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3" name="Google Shape;593;p13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4" name="Google Shape;594;p13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5" name="Google Shape;595;p13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6" name="Google Shape;596;p13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7" name="Google Shape;597;p13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8" name="Google Shape;598;p13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9" name="Google Shape;599;p13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0" name="Google Shape;600;p13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01" name="Google Shape;601;p135"/>
            <p:cNvGrpSpPr/>
            <p:nvPr/>
          </p:nvGrpSpPr>
          <p:grpSpPr>
            <a:xfrm>
              <a:off x="265625" y="6323271"/>
              <a:ext cx="1249222" cy="190348"/>
              <a:chOff x="265625" y="6323271"/>
              <a:chExt cx="1249222" cy="190348"/>
            </a:xfrm>
          </p:grpSpPr>
          <p:sp>
            <p:nvSpPr>
              <p:cNvPr id="602" name="Google Shape;602;p13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3" name="Google Shape;603;p13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4" name="Google Shape;604;p13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5" name="Google Shape;605;p13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6" name="Google Shape;606;p13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7" name="Google Shape;607;p13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8" name="Google Shape;608;p13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609" name="Google Shape;609;p135"/>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Content Balanced">
  <p:cSld name="Two-Content Balanced">
    <p:spTree>
      <p:nvGrpSpPr>
        <p:cNvPr id="1" name="Shape 664"/>
        <p:cNvGrpSpPr/>
        <p:nvPr/>
      </p:nvGrpSpPr>
      <p:grpSpPr>
        <a:xfrm>
          <a:off x="0" y="0"/>
          <a:ext cx="0" cy="0"/>
          <a:chOff x="0" y="0"/>
          <a:chExt cx="0" cy="0"/>
        </a:xfrm>
      </p:grpSpPr>
      <p:sp>
        <p:nvSpPr>
          <p:cNvPr id="665" name="Google Shape;665;p13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6" name="Google Shape;666;p13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67" name="Google Shape;667;p137"/>
          <p:cNvSpPr txBox="1">
            <a:spLocks noGrp="1"/>
          </p:cNvSpPr>
          <p:nvPr>
            <p:ph type="body" idx="2"/>
          </p:nvPr>
        </p:nvSpPr>
        <p:spPr>
          <a:xfrm>
            <a:off x="608013" y="1600200"/>
            <a:ext cx="5313783"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668" name="Google Shape;668;p137"/>
          <p:cNvSpPr txBox="1">
            <a:spLocks noGrp="1"/>
          </p:cNvSpPr>
          <p:nvPr>
            <p:ph type="body" idx="3"/>
          </p:nvPr>
        </p:nvSpPr>
        <p:spPr>
          <a:xfrm>
            <a:off x="6321287" y="1600200"/>
            <a:ext cx="5313783"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669" name="Google Shape;669;p13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670" name="Google Shape;670;p13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Content Balanced Color on Right">
  <p:cSld name="Two-Content Balanced Color on Right">
    <p:spTree>
      <p:nvGrpSpPr>
        <p:cNvPr id="1" name="Shape 671"/>
        <p:cNvGrpSpPr/>
        <p:nvPr/>
      </p:nvGrpSpPr>
      <p:grpSpPr>
        <a:xfrm>
          <a:off x="0" y="0"/>
          <a:ext cx="0" cy="0"/>
          <a:chOff x="0" y="0"/>
          <a:chExt cx="0" cy="0"/>
        </a:xfrm>
      </p:grpSpPr>
      <p:sp>
        <p:nvSpPr>
          <p:cNvPr id="672" name="Google Shape;672;p138"/>
          <p:cNvSpPr txBox="1">
            <a:spLocks noGrp="1"/>
          </p:cNvSpPr>
          <p:nvPr>
            <p:ph type="body" idx="1"/>
          </p:nvPr>
        </p:nvSpPr>
        <p:spPr>
          <a:xfrm>
            <a:off x="6323381" y="1600201"/>
            <a:ext cx="5865445" cy="4572000"/>
          </a:xfrm>
          <a:prstGeom prst="rect">
            <a:avLst/>
          </a:prstGeom>
          <a:solidFill>
            <a:srgbClr val="F4F8FA"/>
          </a:solidFill>
          <a:ln>
            <a:noFill/>
          </a:ln>
        </p:spPr>
        <p:txBody>
          <a:bodyPr spcFirstLastPara="1" wrap="square" lIns="4572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673" name="Google Shape;673;p138"/>
          <p:cNvSpPr txBox="1">
            <a:spLocks noGrp="1"/>
          </p:cNvSpPr>
          <p:nvPr>
            <p:ph type="subTitle" idx="2"/>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74" name="Google Shape;674;p13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5" name="Google Shape;675;p13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676" name="Google Shape;676;p138"/>
          <p:cNvSpPr txBox="1">
            <a:spLocks noGrp="1"/>
          </p:cNvSpPr>
          <p:nvPr>
            <p:ph type="body" idx="3"/>
          </p:nvPr>
        </p:nvSpPr>
        <p:spPr>
          <a:xfrm>
            <a:off x="0" y="1600201"/>
            <a:ext cx="5893593" cy="4572000"/>
          </a:xfrm>
          <a:prstGeom prst="rect">
            <a:avLst/>
          </a:prstGeom>
          <a:noFill/>
          <a:ln>
            <a:noFill/>
          </a:ln>
        </p:spPr>
        <p:txBody>
          <a:bodyPr spcFirstLastPara="1" wrap="square" lIns="59435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677" name="Google Shape;677;p13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78"/>
        <p:cNvGrpSpPr/>
        <p:nvPr/>
      </p:nvGrpSpPr>
      <p:grpSpPr>
        <a:xfrm>
          <a:off x="0" y="0"/>
          <a:ext cx="0" cy="0"/>
          <a:chOff x="0" y="0"/>
          <a:chExt cx="0" cy="0"/>
        </a:xfrm>
      </p:grpSpPr>
      <p:sp>
        <p:nvSpPr>
          <p:cNvPr id="679" name="Google Shape;679;p13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0" name="Google Shape;680;p13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81" name="Google Shape;681;p139"/>
          <p:cNvSpPr txBox="1">
            <a:spLocks noGrp="1"/>
          </p:cNvSpPr>
          <p:nvPr>
            <p:ph type="body" idx="2"/>
          </p:nvPr>
        </p:nvSpPr>
        <p:spPr>
          <a:xfrm>
            <a:off x="592866" y="1600202"/>
            <a:ext cx="5287234" cy="875370"/>
          </a:xfrm>
          <a:prstGeom prst="rect">
            <a:avLst/>
          </a:prstGeom>
          <a:noFill/>
          <a:ln>
            <a:noFill/>
          </a:ln>
        </p:spPr>
        <p:txBody>
          <a:bodyPr spcFirstLastPara="1" wrap="square" lIns="0" tIns="91425" rIns="457200" bIns="91425" anchor="b" anchorCtr="0">
            <a:noAutofit/>
          </a:bodyPr>
          <a:lstStyle>
            <a:lvl1pPr marL="457200" lvl="0" indent="-342900" algn="l">
              <a:lnSpc>
                <a:spcPct val="100000"/>
              </a:lnSpc>
              <a:spcBef>
                <a:spcPts val="0"/>
              </a:spcBef>
              <a:spcAft>
                <a:spcPts val="0"/>
              </a:spcAft>
              <a:buSzPts val="1800"/>
              <a:buChar char="​"/>
              <a:defRPr>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82" name="Google Shape;682;p139"/>
          <p:cNvSpPr/>
          <p:nvPr/>
        </p:nvSpPr>
        <p:spPr>
          <a:xfrm>
            <a:off x="592865" y="2484176"/>
            <a:ext cx="5287234"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3" name="Google Shape;683;p139"/>
          <p:cNvSpPr txBox="1">
            <a:spLocks noGrp="1"/>
          </p:cNvSpPr>
          <p:nvPr>
            <p:ph type="body" idx="3"/>
          </p:nvPr>
        </p:nvSpPr>
        <p:spPr>
          <a:xfrm>
            <a:off x="592865" y="2621020"/>
            <a:ext cx="5315794" cy="3544027"/>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84" name="Google Shape;684;p139"/>
          <p:cNvSpPr txBox="1">
            <a:spLocks noGrp="1"/>
          </p:cNvSpPr>
          <p:nvPr>
            <p:ph type="body" idx="4"/>
          </p:nvPr>
        </p:nvSpPr>
        <p:spPr>
          <a:xfrm>
            <a:off x="6308726" y="1600202"/>
            <a:ext cx="5287234" cy="875370"/>
          </a:xfrm>
          <a:prstGeom prst="rect">
            <a:avLst/>
          </a:prstGeom>
          <a:noFill/>
          <a:ln>
            <a:noFill/>
          </a:ln>
        </p:spPr>
        <p:txBody>
          <a:bodyPr spcFirstLastPara="1" wrap="square" lIns="0" tIns="91425" rIns="457200" bIns="91425" anchor="b" anchorCtr="0">
            <a:noAutofit/>
          </a:bodyPr>
          <a:lstStyle>
            <a:lvl1pPr marL="457200" lvl="0" indent="-342900" algn="l">
              <a:lnSpc>
                <a:spcPct val="100000"/>
              </a:lnSpc>
              <a:spcBef>
                <a:spcPts val="0"/>
              </a:spcBef>
              <a:spcAft>
                <a:spcPts val="0"/>
              </a:spcAft>
              <a:buSzPts val="1800"/>
              <a:buChar char="​"/>
              <a:defRPr sz="2000">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85" name="Google Shape;685;p139"/>
          <p:cNvSpPr/>
          <p:nvPr/>
        </p:nvSpPr>
        <p:spPr>
          <a:xfrm>
            <a:off x="6303874" y="2484176"/>
            <a:ext cx="5287234"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686" name="Google Shape;686;p139"/>
          <p:cNvSpPr txBox="1">
            <a:spLocks noGrp="1"/>
          </p:cNvSpPr>
          <p:nvPr>
            <p:ph type="body" idx="5"/>
          </p:nvPr>
        </p:nvSpPr>
        <p:spPr>
          <a:xfrm>
            <a:off x="6308143" y="2621280"/>
            <a:ext cx="5287234" cy="3575124"/>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87" name="Google Shape;687;p13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688" name="Google Shape;688;p139"/>
          <p:cNvSpPr/>
          <p:nvPr/>
        </p:nvSpPr>
        <p:spPr>
          <a:xfrm>
            <a:off x="592865" y="2484176"/>
            <a:ext cx="5287234"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9" name="Google Shape;689;p139"/>
          <p:cNvSpPr/>
          <p:nvPr/>
        </p:nvSpPr>
        <p:spPr>
          <a:xfrm>
            <a:off x="6303874" y="2484176"/>
            <a:ext cx="5287234"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690" name="Google Shape;690;p13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Content Comparison">
  <p:cSld name="Three-Content Comparison">
    <p:spTree>
      <p:nvGrpSpPr>
        <p:cNvPr id="1" name="Shape 691"/>
        <p:cNvGrpSpPr/>
        <p:nvPr/>
      </p:nvGrpSpPr>
      <p:grpSpPr>
        <a:xfrm>
          <a:off x="0" y="0"/>
          <a:ext cx="0" cy="0"/>
          <a:chOff x="0" y="0"/>
          <a:chExt cx="0" cy="0"/>
        </a:xfrm>
      </p:grpSpPr>
      <p:sp>
        <p:nvSpPr>
          <p:cNvPr id="692" name="Google Shape;692;p14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3" name="Google Shape;693;p14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94" name="Google Shape;694;p140"/>
          <p:cNvSpPr txBox="1">
            <a:spLocks noGrp="1"/>
          </p:cNvSpPr>
          <p:nvPr>
            <p:ph type="body" idx="2"/>
          </p:nvPr>
        </p:nvSpPr>
        <p:spPr>
          <a:xfrm>
            <a:off x="592866" y="1600200"/>
            <a:ext cx="3593592"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95" name="Google Shape;695;p140"/>
          <p:cNvSpPr/>
          <p:nvPr/>
        </p:nvSpPr>
        <p:spPr>
          <a:xfrm>
            <a:off x="592866" y="2509480"/>
            <a:ext cx="3593592"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96" name="Google Shape;696;p140"/>
          <p:cNvSpPr txBox="1">
            <a:spLocks noGrp="1"/>
          </p:cNvSpPr>
          <p:nvPr>
            <p:ph type="body" idx="3"/>
          </p:nvPr>
        </p:nvSpPr>
        <p:spPr>
          <a:xfrm>
            <a:off x="4297616" y="1600200"/>
            <a:ext cx="3593592"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3"/>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97" name="Google Shape;697;p140"/>
          <p:cNvSpPr txBox="1">
            <a:spLocks noGrp="1"/>
          </p:cNvSpPr>
          <p:nvPr>
            <p:ph type="body" idx="4"/>
          </p:nvPr>
        </p:nvSpPr>
        <p:spPr>
          <a:xfrm>
            <a:off x="8001859" y="1600200"/>
            <a:ext cx="3593592"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4"/>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98" name="Google Shape;698;p140"/>
          <p:cNvSpPr/>
          <p:nvPr/>
        </p:nvSpPr>
        <p:spPr>
          <a:xfrm>
            <a:off x="8001859" y="2509480"/>
            <a:ext cx="3593592"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99" name="Google Shape;699;p14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00" name="Google Shape;700;p140"/>
          <p:cNvSpPr/>
          <p:nvPr/>
        </p:nvSpPr>
        <p:spPr>
          <a:xfrm>
            <a:off x="4297616" y="2509480"/>
            <a:ext cx="3593592" cy="4571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701" name="Google Shape;701;p140"/>
          <p:cNvSpPr txBox="1">
            <a:spLocks noGrp="1"/>
          </p:cNvSpPr>
          <p:nvPr>
            <p:ph type="body" idx="5"/>
          </p:nvPr>
        </p:nvSpPr>
        <p:spPr>
          <a:xfrm>
            <a:off x="592866" y="2649538"/>
            <a:ext cx="3594100" cy="3522662"/>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02" name="Google Shape;702;p140"/>
          <p:cNvSpPr txBox="1">
            <a:spLocks noGrp="1"/>
          </p:cNvSpPr>
          <p:nvPr>
            <p:ph type="body" idx="6"/>
          </p:nvPr>
        </p:nvSpPr>
        <p:spPr>
          <a:xfrm>
            <a:off x="4297616" y="2649538"/>
            <a:ext cx="3594100" cy="3522662"/>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03" name="Google Shape;703;p140"/>
          <p:cNvSpPr txBox="1">
            <a:spLocks noGrp="1"/>
          </p:cNvSpPr>
          <p:nvPr>
            <p:ph type="body" idx="7"/>
          </p:nvPr>
        </p:nvSpPr>
        <p:spPr>
          <a:xfrm>
            <a:off x="8001859" y="2649538"/>
            <a:ext cx="3594100" cy="3522662"/>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04" name="Google Shape;704;p140"/>
          <p:cNvSpPr/>
          <p:nvPr/>
        </p:nvSpPr>
        <p:spPr>
          <a:xfrm>
            <a:off x="592866" y="2509480"/>
            <a:ext cx="3593592"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705" name="Google Shape;705;p140"/>
          <p:cNvSpPr/>
          <p:nvPr/>
        </p:nvSpPr>
        <p:spPr>
          <a:xfrm>
            <a:off x="8001859" y="2509480"/>
            <a:ext cx="3593592"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706" name="Google Shape;706;p14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07" name="Google Shape;707;p140"/>
          <p:cNvSpPr/>
          <p:nvPr/>
        </p:nvSpPr>
        <p:spPr>
          <a:xfrm>
            <a:off x="4297616" y="2509480"/>
            <a:ext cx="3593592" cy="4571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agram with Outcome, Benefit">
  <p:cSld name="Diagram with Outcome, Benefit">
    <p:spTree>
      <p:nvGrpSpPr>
        <p:cNvPr id="1" name="Shape 708"/>
        <p:cNvGrpSpPr/>
        <p:nvPr/>
      </p:nvGrpSpPr>
      <p:grpSpPr>
        <a:xfrm>
          <a:off x="0" y="0"/>
          <a:ext cx="0" cy="0"/>
          <a:chOff x="0" y="0"/>
          <a:chExt cx="0" cy="0"/>
        </a:xfrm>
      </p:grpSpPr>
      <p:sp>
        <p:nvSpPr>
          <p:cNvPr id="709" name="Google Shape;709;p14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0" name="Google Shape;710;p14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711" name="Google Shape;711;p141"/>
          <p:cNvCxnSpPr/>
          <p:nvPr/>
        </p:nvCxnSpPr>
        <p:spPr>
          <a:xfrm>
            <a:off x="8380413" y="1608668"/>
            <a:ext cx="3808412" cy="0"/>
          </a:xfrm>
          <a:prstGeom prst="straightConnector1">
            <a:avLst/>
          </a:prstGeom>
          <a:noFill/>
          <a:ln w="25400" cap="flat" cmpd="sng">
            <a:solidFill>
              <a:schemeClr val="accent2"/>
            </a:solidFill>
            <a:prstDash val="solid"/>
            <a:miter lim="800000"/>
            <a:headEnd type="none" w="sm" len="sm"/>
            <a:tailEnd type="none" w="sm" len="sm"/>
          </a:ln>
        </p:spPr>
      </p:cxnSp>
      <p:sp>
        <p:nvSpPr>
          <p:cNvPr id="712" name="Google Shape;712;p141"/>
          <p:cNvSpPr txBox="1">
            <a:spLocks noGrp="1"/>
          </p:cNvSpPr>
          <p:nvPr>
            <p:ph type="body" idx="2"/>
          </p:nvPr>
        </p:nvSpPr>
        <p:spPr>
          <a:xfrm>
            <a:off x="8380413" y="1699688"/>
            <a:ext cx="3200400" cy="298450"/>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13" name="Google Shape;713;p141"/>
          <p:cNvSpPr txBox="1">
            <a:spLocks noGrp="1"/>
          </p:cNvSpPr>
          <p:nvPr>
            <p:ph type="body" idx="3"/>
          </p:nvPr>
        </p:nvSpPr>
        <p:spPr>
          <a:xfrm>
            <a:off x="8378825" y="2063048"/>
            <a:ext cx="3201988"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14" name="Google Shape;714;p141"/>
          <p:cNvCxnSpPr/>
          <p:nvPr/>
        </p:nvCxnSpPr>
        <p:spPr>
          <a:xfrm>
            <a:off x="8380413" y="3872441"/>
            <a:ext cx="3808412" cy="0"/>
          </a:xfrm>
          <a:prstGeom prst="straightConnector1">
            <a:avLst/>
          </a:prstGeom>
          <a:noFill/>
          <a:ln w="25400" cap="flat" cmpd="sng">
            <a:solidFill>
              <a:schemeClr val="accent4"/>
            </a:solidFill>
            <a:prstDash val="solid"/>
            <a:miter lim="800000"/>
            <a:headEnd type="none" w="sm" len="sm"/>
            <a:tailEnd type="none" w="sm" len="sm"/>
          </a:ln>
        </p:spPr>
      </p:cxnSp>
      <p:sp>
        <p:nvSpPr>
          <p:cNvPr id="715" name="Google Shape;715;p141"/>
          <p:cNvSpPr txBox="1">
            <a:spLocks noGrp="1"/>
          </p:cNvSpPr>
          <p:nvPr>
            <p:ph type="body" idx="4"/>
          </p:nvPr>
        </p:nvSpPr>
        <p:spPr>
          <a:xfrm>
            <a:off x="8380413" y="3972469"/>
            <a:ext cx="3200400" cy="298450"/>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0"/>
              </a:spcBef>
              <a:spcAft>
                <a:spcPts val="0"/>
              </a:spcAft>
              <a:buSzPts val="1620"/>
              <a:buChar char="​"/>
              <a:defRPr sz="1800">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16" name="Google Shape;716;p141"/>
          <p:cNvSpPr txBox="1">
            <a:spLocks noGrp="1"/>
          </p:cNvSpPr>
          <p:nvPr>
            <p:ph type="body" idx="5"/>
          </p:nvPr>
        </p:nvSpPr>
        <p:spPr>
          <a:xfrm>
            <a:off x="8378825" y="4347904"/>
            <a:ext cx="3201988"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17" name="Google Shape;717;p14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18" name="Google Shape;718;p141"/>
          <p:cNvSpPr txBox="1">
            <a:spLocks noGrp="1"/>
          </p:cNvSpPr>
          <p:nvPr>
            <p:ph type="body" idx="6"/>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cxnSp>
        <p:nvCxnSpPr>
          <p:cNvPr id="719" name="Google Shape;719;p141"/>
          <p:cNvCxnSpPr/>
          <p:nvPr/>
        </p:nvCxnSpPr>
        <p:spPr>
          <a:xfrm>
            <a:off x="8380413" y="1608668"/>
            <a:ext cx="3808412" cy="0"/>
          </a:xfrm>
          <a:prstGeom prst="straightConnector1">
            <a:avLst/>
          </a:prstGeom>
          <a:noFill/>
          <a:ln w="25400" cap="flat" cmpd="sng">
            <a:solidFill>
              <a:schemeClr val="accent2"/>
            </a:solidFill>
            <a:prstDash val="solid"/>
            <a:miter lim="800000"/>
            <a:headEnd type="none" w="sm" len="sm"/>
            <a:tailEnd type="none" w="sm" len="sm"/>
          </a:ln>
        </p:spPr>
      </p:cxnSp>
      <p:cxnSp>
        <p:nvCxnSpPr>
          <p:cNvPr id="720" name="Google Shape;720;p141"/>
          <p:cNvCxnSpPr/>
          <p:nvPr/>
        </p:nvCxnSpPr>
        <p:spPr>
          <a:xfrm>
            <a:off x="8380413" y="3872441"/>
            <a:ext cx="3808412" cy="0"/>
          </a:xfrm>
          <a:prstGeom prst="straightConnector1">
            <a:avLst/>
          </a:prstGeom>
          <a:noFill/>
          <a:ln w="25400" cap="flat" cmpd="sng">
            <a:solidFill>
              <a:schemeClr val="accent4"/>
            </a:solidFill>
            <a:prstDash val="solid"/>
            <a:miter lim="800000"/>
            <a:headEnd type="none" w="sm" len="sm"/>
            <a:tailEnd type="none" w="sm" len="sm"/>
          </a:ln>
        </p:spPr>
      </p:cxnSp>
      <p:sp>
        <p:nvSpPr>
          <p:cNvPr id="721" name="Google Shape;721;p14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ustomer Success">
  <p:cSld name="Customer Success">
    <p:spTree>
      <p:nvGrpSpPr>
        <p:cNvPr id="1" name="Shape 722"/>
        <p:cNvGrpSpPr/>
        <p:nvPr/>
      </p:nvGrpSpPr>
      <p:grpSpPr>
        <a:xfrm>
          <a:off x="0" y="0"/>
          <a:ext cx="0" cy="0"/>
          <a:chOff x="0" y="0"/>
          <a:chExt cx="0" cy="0"/>
        </a:xfrm>
      </p:grpSpPr>
      <p:sp>
        <p:nvSpPr>
          <p:cNvPr id="723" name="Google Shape;723;p14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4" name="Google Shape;724;p14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725" name="Google Shape;725;p142"/>
          <p:cNvCxnSpPr/>
          <p:nvPr/>
        </p:nvCxnSpPr>
        <p:spPr>
          <a:xfrm>
            <a:off x="609600" y="1552248"/>
            <a:ext cx="3471746" cy="0"/>
          </a:xfrm>
          <a:prstGeom prst="straightConnector1">
            <a:avLst/>
          </a:prstGeom>
          <a:noFill/>
          <a:ln w="22225" cap="flat" cmpd="sng">
            <a:solidFill>
              <a:schemeClr val="accent2"/>
            </a:solidFill>
            <a:prstDash val="solid"/>
            <a:miter lim="800000"/>
            <a:headEnd type="none" w="sm" len="sm"/>
            <a:tailEnd type="none" w="sm" len="sm"/>
          </a:ln>
        </p:spPr>
      </p:cxnSp>
      <p:sp>
        <p:nvSpPr>
          <p:cNvPr id="726" name="Google Shape;726;p142"/>
          <p:cNvSpPr txBox="1">
            <a:spLocks noGrp="1"/>
          </p:cNvSpPr>
          <p:nvPr>
            <p:ph type="body" idx="2"/>
          </p:nvPr>
        </p:nvSpPr>
        <p:spPr>
          <a:xfrm>
            <a:off x="611645" y="1901093"/>
            <a:ext cx="3201848" cy="1214595"/>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27" name="Google Shape;727;p142"/>
          <p:cNvCxnSpPr/>
          <p:nvPr/>
        </p:nvCxnSpPr>
        <p:spPr>
          <a:xfrm>
            <a:off x="4412165" y="1552248"/>
            <a:ext cx="3471746" cy="0"/>
          </a:xfrm>
          <a:prstGeom prst="straightConnector1">
            <a:avLst/>
          </a:prstGeom>
          <a:noFill/>
          <a:ln w="22225" cap="flat" cmpd="sng">
            <a:solidFill>
              <a:schemeClr val="accent2"/>
            </a:solidFill>
            <a:prstDash val="solid"/>
            <a:miter lim="800000"/>
            <a:headEnd type="none" w="sm" len="sm"/>
            <a:tailEnd type="none" w="sm" len="sm"/>
          </a:ln>
        </p:spPr>
      </p:cxnSp>
      <p:sp>
        <p:nvSpPr>
          <p:cNvPr id="728" name="Google Shape;728;p142"/>
          <p:cNvSpPr txBox="1">
            <a:spLocks noGrp="1"/>
          </p:cNvSpPr>
          <p:nvPr>
            <p:ph type="body" idx="3"/>
          </p:nvPr>
        </p:nvSpPr>
        <p:spPr>
          <a:xfrm>
            <a:off x="4414210" y="1901094"/>
            <a:ext cx="3201848" cy="1225566"/>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29" name="Google Shape;729;p142"/>
          <p:cNvCxnSpPr/>
          <p:nvPr/>
        </p:nvCxnSpPr>
        <p:spPr>
          <a:xfrm>
            <a:off x="609600" y="3325372"/>
            <a:ext cx="3471746" cy="0"/>
          </a:xfrm>
          <a:prstGeom prst="straightConnector1">
            <a:avLst/>
          </a:prstGeom>
          <a:noFill/>
          <a:ln w="22225" cap="flat" cmpd="sng">
            <a:solidFill>
              <a:schemeClr val="accent3"/>
            </a:solidFill>
            <a:prstDash val="solid"/>
            <a:miter lim="800000"/>
            <a:headEnd type="none" w="sm" len="sm"/>
            <a:tailEnd type="none" w="sm" len="sm"/>
          </a:ln>
        </p:spPr>
      </p:cxnSp>
      <p:sp>
        <p:nvSpPr>
          <p:cNvPr id="730" name="Google Shape;730;p142"/>
          <p:cNvSpPr txBox="1">
            <a:spLocks noGrp="1"/>
          </p:cNvSpPr>
          <p:nvPr>
            <p:ph type="body" idx="4"/>
          </p:nvPr>
        </p:nvSpPr>
        <p:spPr>
          <a:xfrm>
            <a:off x="611645" y="3693430"/>
            <a:ext cx="3201848" cy="1110049"/>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31" name="Google Shape;731;p142"/>
          <p:cNvCxnSpPr/>
          <p:nvPr/>
        </p:nvCxnSpPr>
        <p:spPr>
          <a:xfrm>
            <a:off x="4412165" y="3325372"/>
            <a:ext cx="3471746" cy="0"/>
          </a:xfrm>
          <a:prstGeom prst="straightConnector1">
            <a:avLst/>
          </a:prstGeom>
          <a:noFill/>
          <a:ln w="22225" cap="flat" cmpd="sng">
            <a:solidFill>
              <a:schemeClr val="accent3"/>
            </a:solidFill>
            <a:prstDash val="solid"/>
            <a:miter lim="800000"/>
            <a:headEnd type="none" w="sm" len="sm"/>
            <a:tailEnd type="none" w="sm" len="sm"/>
          </a:ln>
        </p:spPr>
      </p:cxnSp>
      <p:sp>
        <p:nvSpPr>
          <p:cNvPr id="732" name="Google Shape;732;p142"/>
          <p:cNvSpPr txBox="1">
            <a:spLocks noGrp="1"/>
          </p:cNvSpPr>
          <p:nvPr>
            <p:ph type="body" idx="5"/>
          </p:nvPr>
        </p:nvSpPr>
        <p:spPr>
          <a:xfrm>
            <a:off x="4414210" y="3693430"/>
            <a:ext cx="3201848" cy="1132351"/>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33" name="Google Shape;733;p142"/>
          <p:cNvCxnSpPr/>
          <p:nvPr/>
        </p:nvCxnSpPr>
        <p:spPr>
          <a:xfrm>
            <a:off x="608739" y="5022214"/>
            <a:ext cx="3471746" cy="0"/>
          </a:xfrm>
          <a:prstGeom prst="straightConnector1">
            <a:avLst/>
          </a:prstGeom>
          <a:noFill/>
          <a:ln w="22225" cap="flat" cmpd="sng">
            <a:solidFill>
              <a:schemeClr val="accent4"/>
            </a:solidFill>
            <a:prstDash val="solid"/>
            <a:miter lim="800000"/>
            <a:headEnd type="none" w="sm" len="sm"/>
            <a:tailEnd type="none" w="sm" len="sm"/>
          </a:ln>
        </p:spPr>
      </p:cxnSp>
      <p:sp>
        <p:nvSpPr>
          <p:cNvPr id="734" name="Google Shape;734;p142"/>
          <p:cNvSpPr txBox="1">
            <a:spLocks noGrp="1"/>
          </p:cNvSpPr>
          <p:nvPr>
            <p:ph type="body" idx="6"/>
          </p:nvPr>
        </p:nvSpPr>
        <p:spPr>
          <a:xfrm>
            <a:off x="613093" y="5327336"/>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5" name="Google Shape;735;p142"/>
          <p:cNvSpPr txBox="1">
            <a:spLocks noGrp="1"/>
          </p:cNvSpPr>
          <p:nvPr>
            <p:ph type="body" idx="7"/>
          </p:nvPr>
        </p:nvSpPr>
        <p:spPr>
          <a:xfrm>
            <a:off x="613093" y="5593624"/>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6" name="Google Shape;736;p142"/>
          <p:cNvSpPr txBox="1">
            <a:spLocks noGrp="1"/>
          </p:cNvSpPr>
          <p:nvPr>
            <p:ph type="body" idx="8"/>
          </p:nvPr>
        </p:nvSpPr>
        <p:spPr>
          <a:xfrm>
            <a:off x="613093" y="5859911"/>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7" name="Google Shape;737;p142"/>
          <p:cNvSpPr txBox="1">
            <a:spLocks noGrp="1"/>
          </p:cNvSpPr>
          <p:nvPr>
            <p:ph type="body" idx="9"/>
          </p:nvPr>
        </p:nvSpPr>
        <p:spPr>
          <a:xfrm>
            <a:off x="4400790" y="5327336"/>
            <a:ext cx="3227148"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8" name="Google Shape;738;p142"/>
          <p:cNvSpPr txBox="1">
            <a:spLocks noGrp="1"/>
          </p:cNvSpPr>
          <p:nvPr>
            <p:ph type="body" idx="13"/>
          </p:nvPr>
        </p:nvSpPr>
        <p:spPr>
          <a:xfrm>
            <a:off x="4400790" y="5593624"/>
            <a:ext cx="3227148"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39" name="Google Shape;739;p142"/>
          <p:cNvSpPr txBox="1">
            <a:spLocks noGrp="1"/>
          </p:cNvSpPr>
          <p:nvPr>
            <p:ph type="body" idx="14"/>
          </p:nvPr>
        </p:nvSpPr>
        <p:spPr>
          <a:xfrm>
            <a:off x="4400790" y="5859911"/>
            <a:ext cx="3227148"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0" name="Google Shape;740;p142"/>
          <p:cNvSpPr>
            <a:spLocks noGrp="1"/>
          </p:cNvSpPr>
          <p:nvPr>
            <p:ph type="pic" idx="15"/>
          </p:nvPr>
        </p:nvSpPr>
        <p:spPr>
          <a:xfrm>
            <a:off x="9207965" y="1600200"/>
            <a:ext cx="1841500" cy="660399"/>
          </a:xfrm>
          <a:prstGeom prst="rect">
            <a:avLst/>
          </a:prstGeom>
          <a:noFill/>
          <a:ln>
            <a:noFill/>
          </a:ln>
        </p:spPr>
      </p:sp>
      <p:sp>
        <p:nvSpPr>
          <p:cNvPr id="741" name="Google Shape;741;p142"/>
          <p:cNvSpPr txBox="1">
            <a:spLocks noGrp="1"/>
          </p:cNvSpPr>
          <p:nvPr>
            <p:ph type="body" idx="16"/>
          </p:nvPr>
        </p:nvSpPr>
        <p:spPr>
          <a:xfrm>
            <a:off x="8509465" y="2347933"/>
            <a:ext cx="3206750" cy="241300"/>
          </a:xfrm>
          <a:prstGeom prst="rect">
            <a:avLst/>
          </a:prstGeom>
          <a:noFill/>
          <a:ln>
            <a:noFill/>
          </a:ln>
        </p:spPr>
        <p:txBody>
          <a:bodyPr spcFirstLastPara="1" wrap="square" lIns="0" tIns="0" rIns="0" bIns="0" anchor="ctr" anchorCtr="0">
            <a:noAutofit/>
          </a:bodyPr>
          <a:lstStyle>
            <a:lvl1pPr marL="457200" lvl="0" indent="-297180" algn="ctr">
              <a:lnSpc>
                <a:spcPct val="100000"/>
              </a:lnSpc>
              <a:spcBef>
                <a:spcPts val="0"/>
              </a:spcBef>
              <a:spcAft>
                <a:spcPts val="0"/>
              </a:spcAft>
              <a:buSzPts val="1080"/>
              <a:buChar char="​"/>
              <a:defRPr sz="12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accent1"/>
                </a:solidFill>
              </a:defRPr>
            </a:lvl2pPr>
            <a:lvl3pPr marL="1371600" lvl="2" indent="-297180" algn="ctr">
              <a:lnSpc>
                <a:spcPct val="100000"/>
              </a:lnSpc>
              <a:spcBef>
                <a:spcPts val="1200"/>
              </a:spcBef>
              <a:spcAft>
                <a:spcPts val="0"/>
              </a:spcAft>
              <a:buSzPts val="1080"/>
              <a:buFont typeface="Open Sans"/>
              <a:buChar char="​"/>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2" name="Google Shape;742;p142"/>
          <p:cNvSpPr txBox="1">
            <a:spLocks noGrp="1"/>
          </p:cNvSpPr>
          <p:nvPr>
            <p:ph type="body" idx="17"/>
          </p:nvPr>
        </p:nvSpPr>
        <p:spPr>
          <a:xfrm>
            <a:off x="8509465" y="2647290"/>
            <a:ext cx="3206750" cy="241300"/>
          </a:xfrm>
          <a:prstGeom prst="rect">
            <a:avLst/>
          </a:prstGeom>
          <a:noFill/>
          <a:ln>
            <a:noFill/>
          </a:ln>
        </p:spPr>
        <p:txBody>
          <a:bodyPr spcFirstLastPara="1" wrap="square" lIns="0" tIns="0" rIns="0" bIns="0" anchor="ctr" anchorCtr="0">
            <a:noAutofit/>
          </a:bodyPr>
          <a:lstStyle>
            <a:lvl1pPr marL="457200" lvl="0" indent="-297180" algn="ctr">
              <a:lnSpc>
                <a:spcPct val="100000"/>
              </a:lnSpc>
              <a:spcBef>
                <a:spcPts val="0"/>
              </a:spcBef>
              <a:spcAft>
                <a:spcPts val="0"/>
              </a:spcAft>
              <a:buSzPts val="1080"/>
              <a:buChar char="​"/>
              <a:defRPr sz="12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accent1"/>
                </a:solidFill>
              </a:defRPr>
            </a:lvl2pPr>
            <a:lvl3pPr marL="1371600" lvl="2" indent="-297180" algn="ctr">
              <a:lnSpc>
                <a:spcPct val="100000"/>
              </a:lnSpc>
              <a:spcBef>
                <a:spcPts val="1200"/>
              </a:spcBef>
              <a:spcAft>
                <a:spcPts val="0"/>
              </a:spcAft>
              <a:buSzPts val="1080"/>
              <a:buFont typeface="Open Sans"/>
              <a:buChar char="​"/>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3" name="Google Shape;743;p142"/>
          <p:cNvSpPr>
            <a:spLocks noGrp="1"/>
          </p:cNvSpPr>
          <p:nvPr>
            <p:ph type="pic" idx="18"/>
          </p:nvPr>
        </p:nvSpPr>
        <p:spPr>
          <a:xfrm>
            <a:off x="8515815" y="2971800"/>
            <a:ext cx="3194050" cy="1828800"/>
          </a:xfrm>
          <a:prstGeom prst="rect">
            <a:avLst/>
          </a:prstGeom>
          <a:noFill/>
          <a:ln>
            <a:noFill/>
          </a:ln>
        </p:spPr>
      </p:sp>
      <p:sp>
        <p:nvSpPr>
          <p:cNvPr id="744" name="Google Shape;744;p142"/>
          <p:cNvSpPr txBox="1">
            <a:spLocks noGrp="1"/>
          </p:cNvSpPr>
          <p:nvPr>
            <p:ph type="body" idx="19"/>
          </p:nvPr>
        </p:nvSpPr>
        <p:spPr>
          <a:xfrm>
            <a:off x="8515815" y="5022214"/>
            <a:ext cx="3200400" cy="1153795"/>
          </a:xfrm>
          <a:prstGeom prst="rect">
            <a:avLst/>
          </a:prstGeom>
          <a:noFill/>
          <a:ln>
            <a:noFill/>
          </a:ln>
        </p:spPr>
        <p:txBody>
          <a:bodyPr spcFirstLastPara="1" wrap="square" lIns="0" tIns="0" rIns="0" bIns="0" anchor="t" anchorCtr="0">
            <a:noAutofit/>
          </a:bodyPr>
          <a:lstStyle>
            <a:lvl1pPr marL="457200" lvl="0" indent="-308610" algn="ctr">
              <a:lnSpc>
                <a:spcPct val="100000"/>
              </a:lnSpc>
              <a:spcBef>
                <a:spcPts val="0"/>
              </a:spcBef>
              <a:spcAft>
                <a:spcPts val="0"/>
              </a:spcAft>
              <a:buSzPts val="1260"/>
              <a:buChar char="​"/>
              <a:defRPr sz="14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dk1"/>
                </a:solidFill>
              </a:defRPr>
            </a:lvl2pPr>
            <a:lvl3pPr marL="1371600" lvl="2" indent="-228600" algn="ctr">
              <a:lnSpc>
                <a:spcPct val="100000"/>
              </a:lnSpc>
              <a:spcBef>
                <a:spcPts val="1200"/>
              </a:spcBef>
              <a:spcAft>
                <a:spcPts val="0"/>
              </a:spcAft>
              <a:buSzPts val="1080"/>
              <a:buFont typeface="Open Sans"/>
              <a:buNone/>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5" name="Google Shape;745;p14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cxnSp>
        <p:nvCxnSpPr>
          <p:cNvPr id="746" name="Google Shape;746;p142"/>
          <p:cNvCxnSpPr/>
          <p:nvPr/>
        </p:nvCxnSpPr>
        <p:spPr>
          <a:xfrm>
            <a:off x="4412165" y="5022214"/>
            <a:ext cx="3471746" cy="0"/>
          </a:xfrm>
          <a:prstGeom prst="straightConnector1">
            <a:avLst/>
          </a:prstGeom>
          <a:noFill/>
          <a:ln w="22225" cap="flat" cmpd="sng">
            <a:solidFill>
              <a:schemeClr val="accent4"/>
            </a:solidFill>
            <a:prstDash val="solid"/>
            <a:miter lim="800000"/>
            <a:headEnd type="none" w="sm" len="sm"/>
            <a:tailEnd type="none" w="sm" len="sm"/>
          </a:ln>
        </p:spPr>
      </p:cxnSp>
      <p:sp>
        <p:nvSpPr>
          <p:cNvPr id="747" name="Google Shape;747;p142"/>
          <p:cNvSpPr txBox="1">
            <a:spLocks noGrp="1"/>
          </p:cNvSpPr>
          <p:nvPr>
            <p:ph type="body" idx="20"/>
          </p:nvPr>
        </p:nvSpPr>
        <p:spPr>
          <a:xfrm>
            <a:off x="608013" y="1552575"/>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8" name="Google Shape;748;p142"/>
          <p:cNvSpPr txBox="1">
            <a:spLocks noGrp="1"/>
          </p:cNvSpPr>
          <p:nvPr>
            <p:ph type="body" idx="21"/>
          </p:nvPr>
        </p:nvSpPr>
        <p:spPr>
          <a:xfrm>
            <a:off x="4411663" y="1552575"/>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49" name="Google Shape;749;p142"/>
          <p:cNvSpPr txBox="1">
            <a:spLocks noGrp="1"/>
          </p:cNvSpPr>
          <p:nvPr>
            <p:ph type="body" idx="22"/>
          </p:nvPr>
        </p:nvSpPr>
        <p:spPr>
          <a:xfrm>
            <a:off x="608013" y="3338514"/>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3"/>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50" name="Google Shape;750;p142"/>
          <p:cNvSpPr txBox="1">
            <a:spLocks noGrp="1"/>
          </p:cNvSpPr>
          <p:nvPr>
            <p:ph type="body" idx="23"/>
          </p:nvPr>
        </p:nvSpPr>
        <p:spPr>
          <a:xfrm>
            <a:off x="4427538" y="3338514"/>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3"/>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51" name="Google Shape;751;p142"/>
          <p:cNvSpPr txBox="1">
            <a:spLocks noGrp="1"/>
          </p:cNvSpPr>
          <p:nvPr>
            <p:ph type="body" idx="24"/>
          </p:nvPr>
        </p:nvSpPr>
        <p:spPr>
          <a:xfrm>
            <a:off x="608013" y="5022850"/>
            <a:ext cx="3200400" cy="227013"/>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52" name="Google Shape;752;p142"/>
          <p:cNvSpPr txBox="1">
            <a:spLocks noGrp="1"/>
          </p:cNvSpPr>
          <p:nvPr>
            <p:ph type="body" idx="25"/>
          </p:nvPr>
        </p:nvSpPr>
        <p:spPr>
          <a:xfrm>
            <a:off x="4427538" y="5022850"/>
            <a:ext cx="3200400" cy="227013"/>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753" name="Google Shape;753;p142"/>
          <p:cNvCxnSpPr/>
          <p:nvPr/>
        </p:nvCxnSpPr>
        <p:spPr>
          <a:xfrm>
            <a:off x="609600" y="1552248"/>
            <a:ext cx="3471746" cy="0"/>
          </a:xfrm>
          <a:prstGeom prst="straightConnector1">
            <a:avLst/>
          </a:prstGeom>
          <a:noFill/>
          <a:ln w="22225" cap="flat" cmpd="sng">
            <a:solidFill>
              <a:schemeClr val="accent2"/>
            </a:solidFill>
            <a:prstDash val="solid"/>
            <a:miter lim="800000"/>
            <a:headEnd type="none" w="sm" len="sm"/>
            <a:tailEnd type="none" w="sm" len="sm"/>
          </a:ln>
        </p:spPr>
      </p:cxnSp>
      <p:cxnSp>
        <p:nvCxnSpPr>
          <p:cNvPr id="754" name="Google Shape;754;p142"/>
          <p:cNvCxnSpPr/>
          <p:nvPr/>
        </p:nvCxnSpPr>
        <p:spPr>
          <a:xfrm>
            <a:off x="4412165" y="1552248"/>
            <a:ext cx="3471746" cy="0"/>
          </a:xfrm>
          <a:prstGeom prst="straightConnector1">
            <a:avLst/>
          </a:prstGeom>
          <a:noFill/>
          <a:ln w="22225" cap="flat" cmpd="sng">
            <a:solidFill>
              <a:schemeClr val="accent2"/>
            </a:solidFill>
            <a:prstDash val="solid"/>
            <a:miter lim="800000"/>
            <a:headEnd type="none" w="sm" len="sm"/>
            <a:tailEnd type="none" w="sm" len="sm"/>
          </a:ln>
        </p:spPr>
      </p:cxnSp>
      <p:cxnSp>
        <p:nvCxnSpPr>
          <p:cNvPr id="755" name="Google Shape;755;p142"/>
          <p:cNvCxnSpPr/>
          <p:nvPr/>
        </p:nvCxnSpPr>
        <p:spPr>
          <a:xfrm>
            <a:off x="609600" y="3325372"/>
            <a:ext cx="3471746" cy="0"/>
          </a:xfrm>
          <a:prstGeom prst="straightConnector1">
            <a:avLst/>
          </a:prstGeom>
          <a:noFill/>
          <a:ln w="22225" cap="flat" cmpd="sng">
            <a:solidFill>
              <a:schemeClr val="accent3"/>
            </a:solidFill>
            <a:prstDash val="solid"/>
            <a:miter lim="800000"/>
            <a:headEnd type="none" w="sm" len="sm"/>
            <a:tailEnd type="none" w="sm" len="sm"/>
          </a:ln>
        </p:spPr>
      </p:cxnSp>
      <p:cxnSp>
        <p:nvCxnSpPr>
          <p:cNvPr id="756" name="Google Shape;756;p142"/>
          <p:cNvCxnSpPr/>
          <p:nvPr/>
        </p:nvCxnSpPr>
        <p:spPr>
          <a:xfrm>
            <a:off x="4412165" y="3325372"/>
            <a:ext cx="3471746" cy="0"/>
          </a:xfrm>
          <a:prstGeom prst="straightConnector1">
            <a:avLst/>
          </a:prstGeom>
          <a:noFill/>
          <a:ln w="22225" cap="flat" cmpd="sng">
            <a:solidFill>
              <a:schemeClr val="accent3"/>
            </a:solidFill>
            <a:prstDash val="solid"/>
            <a:miter lim="800000"/>
            <a:headEnd type="none" w="sm" len="sm"/>
            <a:tailEnd type="none" w="sm" len="sm"/>
          </a:ln>
        </p:spPr>
      </p:cxnSp>
      <p:cxnSp>
        <p:nvCxnSpPr>
          <p:cNvPr id="757" name="Google Shape;757;p142"/>
          <p:cNvCxnSpPr/>
          <p:nvPr/>
        </p:nvCxnSpPr>
        <p:spPr>
          <a:xfrm>
            <a:off x="608739" y="5022214"/>
            <a:ext cx="3471746" cy="0"/>
          </a:xfrm>
          <a:prstGeom prst="straightConnector1">
            <a:avLst/>
          </a:prstGeom>
          <a:noFill/>
          <a:ln w="22225" cap="flat" cmpd="sng">
            <a:solidFill>
              <a:schemeClr val="accent4"/>
            </a:solidFill>
            <a:prstDash val="solid"/>
            <a:miter lim="800000"/>
            <a:headEnd type="none" w="sm" len="sm"/>
            <a:tailEnd type="none" w="sm" len="sm"/>
          </a:ln>
        </p:spPr>
      </p:cxnSp>
      <p:sp>
        <p:nvSpPr>
          <p:cNvPr id="758" name="Google Shape;758;p14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cxnSp>
        <p:nvCxnSpPr>
          <p:cNvPr id="759" name="Google Shape;759;p142"/>
          <p:cNvCxnSpPr/>
          <p:nvPr/>
        </p:nvCxnSpPr>
        <p:spPr>
          <a:xfrm>
            <a:off x="4412165" y="5022214"/>
            <a:ext cx="3471746" cy="0"/>
          </a:xfrm>
          <a:prstGeom prst="straightConnector1">
            <a:avLst/>
          </a:prstGeom>
          <a:noFill/>
          <a:ln w="222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Icon ">
  <p:cSld name="Three Icon ">
    <p:spTree>
      <p:nvGrpSpPr>
        <p:cNvPr id="1" name="Shape 760"/>
        <p:cNvGrpSpPr/>
        <p:nvPr/>
      </p:nvGrpSpPr>
      <p:grpSpPr>
        <a:xfrm>
          <a:off x="0" y="0"/>
          <a:ext cx="0" cy="0"/>
          <a:chOff x="0" y="0"/>
          <a:chExt cx="0" cy="0"/>
        </a:xfrm>
      </p:grpSpPr>
      <p:sp>
        <p:nvSpPr>
          <p:cNvPr id="761" name="Google Shape;761;p14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2" name="Google Shape;762;p14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763" name="Google Shape;763;p143"/>
          <p:cNvSpPr/>
          <p:nvPr/>
        </p:nvSpPr>
        <p:spPr>
          <a:xfrm>
            <a:off x="1981877" y="2055429"/>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764" name="Google Shape;764;p143"/>
          <p:cNvSpPr txBox="1">
            <a:spLocks noGrp="1"/>
          </p:cNvSpPr>
          <p:nvPr>
            <p:ph type="body" idx="2"/>
          </p:nvPr>
        </p:nvSpPr>
        <p:spPr>
          <a:xfrm>
            <a:off x="2188103" y="2419650"/>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65" name="Google Shape;765;p143"/>
          <p:cNvSpPr txBox="1">
            <a:spLocks noGrp="1"/>
          </p:cNvSpPr>
          <p:nvPr>
            <p:ph type="body" idx="3"/>
          </p:nvPr>
        </p:nvSpPr>
        <p:spPr>
          <a:xfrm>
            <a:off x="1525905" y="4267940"/>
            <a:ext cx="2744788"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4"/>
                </a:solidFill>
              </a:defRPr>
            </a:lvl1pPr>
            <a:lvl2pPr marL="914400" lvl="1" indent="-331469" algn="ctr">
              <a:lnSpc>
                <a:spcPct val="100000"/>
              </a:lnSpc>
              <a:spcBef>
                <a:spcPts val="1200"/>
              </a:spcBef>
              <a:spcAft>
                <a:spcPts val="0"/>
              </a:spcAft>
              <a:buSzPts val="1620"/>
              <a:buFont typeface="Open Sans"/>
              <a:buChar char="​"/>
              <a:defRPr>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66" name="Google Shape;766;p143"/>
          <p:cNvSpPr/>
          <p:nvPr/>
        </p:nvSpPr>
        <p:spPr>
          <a:xfrm>
            <a:off x="5184924" y="2055429"/>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7" name="Google Shape;767;p143"/>
          <p:cNvSpPr txBox="1">
            <a:spLocks noGrp="1"/>
          </p:cNvSpPr>
          <p:nvPr>
            <p:ph type="body" idx="4"/>
          </p:nvPr>
        </p:nvSpPr>
        <p:spPr>
          <a:xfrm>
            <a:off x="5408612" y="2419650"/>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68" name="Google Shape;768;p143"/>
          <p:cNvSpPr txBox="1">
            <a:spLocks noGrp="1"/>
          </p:cNvSpPr>
          <p:nvPr>
            <p:ph type="body" idx="5"/>
          </p:nvPr>
        </p:nvSpPr>
        <p:spPr>
          <a:xfrm>
            <a:off x="4721225" y="4267940"/>
            <a:ext cx="2744788"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3"/>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69" name="Google Shape;769;p143"/>
          <p:cNvSpPr/>
          <p:nvPr/>
        </p:nvSpPr>
        <p:spPr>
          <a:xfrm>
            <a:off x="8389301" y="2055429"/>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0" name="Google Shape;770;p143"/>
          <p:cNvSpPr txBox="1">
            <a:spLocks noGrp="1"/>
          </p:cNvSpPr>
          <p:nvPr>
            <p:ph type="body" idx="6"/>
          </p:nvPr>
        </p:nvSpPr>
        <p:spPr>
          <a:xfrm>
            <a:off x="7923213" y="4267940"/>
            <a:ext cx="2744788"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2"/>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71" name="Google Shape;771;p143"/>
          <p:cNvSpPr txBox="1">
            <a:spLocks noGrp="1"/>
          </p:cNvSpPr>
          <p:nvPr>
            <p:ph type="body" idx="7"/>
          </p:nvPr>
        </p:nvSpPr>
        <p:spPr>
          <a:xfrm>
            <a:off x="8609012" y="2419650"/>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72" name="Google Shape;772;p14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73" name="Google Shape;773;p143"/>
          <p:cNvSpPr/>
          <p:nvPr/>
        </p:nvSpPr>
        <p:spPr>
          <a:xfrm>
            <a:off x="1981877" y="2055429"/>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774" name="Google Shape;774;p143"/>
          <p:cNvSpPr/>
          <p:nvPr/>
        </p:nvSpPr>
        <p:spPr>
          <a:xfrm>
            <a:off x="5184924" y="2055429"/>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5" name="Google Shape;775;p143"/>
          <p:cNvSpPr/>
          <p:nvPr/>
        </p:nvSpPr>
        <p:spPr>
          <a:xfrm>
            <a:off x="8389301" y="2055429"/>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6" name="Google Shape;776;p14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Four Icon ">
  <p:cSld name="Four Icon ">
    <p:spTree>
      <p:nvGrpSpPr>
        <p:cNvPr id="1" name="Shape 777"/>
        <p:cNvGrpSpPr/>
        <p:nvPr/>
      </p:nvGrpSpPr>
      <p:grpSpPr>
        <a:xfrm>
          <a:off x="0" y="0"/>
          <a:ext cx="0" cy="0"/>
          <a:chOff x="0" y="0"/>
          <a:chExt cx="0" cy="0"/>
        </a:xfrm>
      </p:grpSpPr>
      <p:sp>
        <p:nvSpPr>
          <p:cNvPr id="778" name="Google Shape;778;p14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9" name="Google Shape;779;p14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780" name="Google Shape;780;p144"/>
          <p:cNvSpPr/>
          <p:nvPr/>
        </p:nvSpPr>
        <p:spPr>
          <a:xfrm>
            <a:off x="1065749" y="2060872"/>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781" name="Google Shape;781;p144"/>
          <p:cNvSpPr txBox="1">
            <a:spLocks noGrp="1"/>
          </p:cNvSpPr>
          <p:nvPr>
            <p:ph type="body" idx="2"/>
          </p:nvPr>
        </p:nvSpPr>
        <p:spPr>
          <a:xfrm>
            <a:off x="1273703"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2" name="Google Shape;782;p144"/>
          <p:cNvSpPr txBox="1">
            <a:spLocks noGrp="1"/>
          </p:cNvSpPr>
          <p:nvPr>
            <p:ph type="body" idx="3"/>
          </p:nvPr>
        </p:nvSpPr>
        <p:spPr>
          <a:xfrm>
            <a:off x="84267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4"/>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3" name="Google Shape;783;p144"/>
          <p:cNvSpPr/>
          <p:nvPr/>
        </p:nvSpPr>
        <p:spPr>
          <a:xfrm>
            <a:off x="3806932" y="2060872"/>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4" name="Google Shape;784;p144"/>
          <p:cNvSpPr txBox="1">
            <a:spLocks noGrp="1"/>
          </p:cNvSpPr>
          <p:nvPr>
            <p:ph type="body" idx="4"/>
          </p:nvPr>
        </p:nvSpPr>
        <p:spPr>
          <a:xfrm>
            <a:off x="4000597"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5" name="Google Shape;785;p144"/>
          <p:cNvSpPr txBox="1">
            <a:spLocks noGrp="1"/>
          </p:cNvSpPr>
          <p:nvPr>
            <p:ph type="body" idx="5"/>
          </p:nvPr>
        </p:nvSpPr>
        <p:spPr>
          <a:xfrm>
            <a:off x="357981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3"/>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6" name="Google Shape;786;p144"/>
          <p:cNvSpPr/>
          <p:nvPr/>
        </p:nvSpPr>
        <p:spPr>
          <a:xfrm>
            <a:off x="6562100" y="2060872"/>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7" name="Google Shape;787;p144"/>
          <p:cNvSpPr txBox="1">
            <a:spLocks noGrp="1"/>
          </p:cNvSpPr>
          <p:nvPr>
            <p:ph type="body" idx="6"/>
          </p:nvPr>
        </p:nvSpPr>
        <p:spPr>
          <a:xfrm>
            <a:off x="6772120"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8" name="Google Shape;788;p144"/>
          <p:cNvSpPr txBox="1">
            <a:spLocks noGrp="1"/>
          </p:cNvSpPr>
          <p:nvPr>
            <p:ph type="body" idx="7"/>
          </p:nvPr>
        </p:nvSpPr>
        <p:spPr>
          <a:xfrm>
            <a:off x="632301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2"/>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9" name="Google Shape;789;p144"/>
          <p:cNvSpPr/>
          <p:nvPr/>
        </p:nvSpPr>
        <p:spPr>
          <a:xfrm>
            <a:off x="9302132" y="2060872"/>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0" name="Google Shape;790;p144"/>
          <p:cNvSpPr txBox="1">
            <a:spLocks noGrp="1"/>
          </p:cNvSpPr>
          <p:nvPr>
            <p:ph type="body" idx="8"/>
          </p:nvPr>
        </p:nvSpPr>
        <p:spPr>
          <a:xfrm>
            <a:off x="9538248"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5"/>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91" name="Google Shape;791;p144"/>
          <p:cNvSpPr txBox="1">
            <a:spLocks noGrp="1"/>
          </p:cNvSpPr>
          <p:nvPr>
            <p:ph type="body" idx="9"/>
          </p:nvPr>
        </p:nvSpPr>
        <p:spPr>
          <a:xfrm>
            <a:off x="906621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5"/>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92" name="Google Shape;792;p14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793" name="Google Shape;793;p144"/>
          <p:cNvSpPr/>
          <p:nvPr/>
        </p:nvSpPr>
        <p:spPr>
          <a:xfrm>
            <a:off x="1065749" y="2060872"/>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794" name="Google Shape;794;p144"/>
          <p:cNvSpPr/>
          <p:nvPr/>
        </p:nvSpPr>
        <p:spPr>
          <a:xfrm>
            <a:off x="3806932" y="2060872"/>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5" name="Google Shape;795;p144"/>
          <p:cNvSpPr/>
          <p:nvPr/>
        </p:nvSpPr>
        <p:spPr>
          <a:xfrm>
            <a:off x="6562100" y="2060872"/>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6" name="Google Shape;796;p144"/>
          <p:cNvSpPr/>
          <p:nvPr/>
        </p:nvSpPr>
        <p:spPr>
          <a:xfrm>
            <a:off x="9302132" y="2060872"/>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7" name="Google Shape;797;p14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Five Icon ">
  <p:cSld name="Five Icon ">
    <p:spTree>
      <p:nvGrpSpPr>
        <p:cNvPr id="1" name="Shape 798"/>
        <p:cNvGrpSpPr/>
        <p:nvPr/>
      </p:nvGrpSpPr>
      <p:grpSpPr>
        <a:xfrm>
          <a:off x="0" y="0"/>
          <a:ext cx="0" cy="0"/>
          <a:chOff x="0" y="0"/>
          <a:chExt cx="0" cy="0"/>
        </a:xfrm>
      </p:grpSpPr>
      <p:sp>
        <p:nvSpPr>
          <p:cNvPr id="799" name="Google Shape;799;p14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0" name="Google Shape;800;p14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801" name="Google Shape;801;p145"/>
          <p:cNvSpPr/>
          <p:nvPr/>
        </p:nvSpPr>
        <p:spPr>
          <a:xfrm>
            <a:off x="609800" y="2064663"/>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802" name="Google Shape;802;p145"/>
          <p:cNvSpPr txBox="1">
            <a:spLocks noGrp="1"/>
          </p:cNvSpPr>
          <p:nvPr>
            <p:ph type="body" idx="2"/>
          </p:nvPr>
        </p:nvSpPr>
        <p:spPr>
          <a:xfrm>
            <a:off x="820549"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3" name="Google Shape;803;p145"/>
          <p:cNvSpPr txBox="1">
            <a:spLocks noGrp="1"/>
          </p:cNvSpPr>
          <p:nvPr>
            <p:ph type="body" idx="3"/>
          </p:nvPr>
        </p:nvSpPr>
        <p:spPr>
          <a:xfrm>
            <a:off x="610850"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4"/>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4" name="Google Shape;804;p145"/>
          <p:cNvSpPr/>
          <p:nvPr/>
        </p:nvSpPr>
        <p:spPr>
          <a:xfrm>
            <a:off x="2892452" y="2064663"/>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5" name="Google Shape;805;p145"/>
          <p:cNvSpPr txBox="1">
            <a:spLocks noGrp="1"/>
          </p:cNvSpPr>
          <p:nvPr>
            <p:ph type="body" idx="4"/>
          </p:nvPr>
        </p:nvSpPr>
        <p:spPr>
          <a:xfrm>
            <a:off x="3110473"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6" name="Google Shape;806;p145"/>
          <p:cNvSpPr txBox="1">
            <a:spLocks noGrp="1"/>
          </p:cNvSpPr>
          <p:nvPr>
            <p:ph type="body" idx="5"/>
          </p:nvPr>
        </p:nvSpPr>
        <p:spPr>
          <a:xfrm>
            <a:off x="2894013"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3"/>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7" name="Google Shape;807;p145"/>
          <p:cNvSpPr/>
          <p:nvPr/>
        </p:nvSpPr>
        <p:spPr>
          <a:xfrm>
            <a:off x="5201380" y="2064663"/>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8" name="Google Shape;808;p145"/>
          <p:cNvSpPr txBox="1">
            <a:spLocks noGrp="1"/>
          </p:cNvSpPr>
          <p:nvPr>
            <p:ph type="body" idx="6"/>
          </p:nvPr>
        </p:nvSpPr>
        <p:spPr>
          <a:xfrm>
            <a:off x="5412658"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09" name="Google Shape;809;p145"/>
          <p:cNvSpPr txBox="1">
            <a:spLocks noGrp="1"/>
          </p:cNvSpPr>
          <p:nvPr>
            <p:ph type="body" idx="7"/>
          </p:nvPr>
        </p:nvSpPr>
        <p:spPr>
          <a:xfrm>
            <a:off x="5185093"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2"/>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0" name="Google Shape;810;p145"/>
          <p:cNvSpPr/>
          <p:nvPr/>
        </p:nvSpPr>
        <p:spPr>
          <a:xfrm>
            <a:off x="7464921" y="2064663"/>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1" name="Google Shape;811;p145"/>
          <p:cNvSpPr txBox="1">
            <a:spLocks noGrp="1"/>
          </p:cNvSpPr>
          <p:nvPr>
            <p:ph type="body" idx="8"/>
          </p:nvPr>
        </p:nvSpPr>
        <p:spPr>
          <a:xfrm>
            <a:off x="7677080"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5"/>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2" name="Google Shape;812;p145"/>
          <p:cNvSpPr txBox="1">
            <a:spLocks noGrp="1"/>
          </p:cNvSpPr>
          <p:nvPr>
            <p:ph type="body" idx="9"/>
          </p:nvPr>
        </p:nvSpPr>
        <p:spPr>
          <a:xfrm>
            <a:off x="7470001" y="4282873"/>
            <a:ext cx="1894336"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5"/>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3" name="Google Shape;813;p145"/>
          <p:cNvSpPr/>
          <p:nvPr/>
        </p:nvSpPr>
        <p:spPr>
          <a:xfrm>
            <a:off x="9744473" y="2064663"/>
            <a:ext cx="1828959" cy="1828959"/>
          </a:xfrm>
          <a:prstGeom prst="ellipse">
            <a:avLst/>
          </a:prstGeom>
          <a:noFill/>
          <a:ln w="381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6"/>
              </a:solidFill>
              <a:latin typeface="Arial"/>
              <a:ea typeface="Arial"/>
              <a:cs typeface="Arial"/>
              <a:sym typeface="Arial"/>
            </a:endParaRPr>
          </a:p>
        </p:txBody>
      </p:sp>
      <p:sp>
        <p:nvSpPr>
          <p:cNvPr id="814" name="Google Shape;814;p145"/>
          <p:cNvSpPr txBox="1">
            <a:spLocks noGrp="1"/>
          </p:cNvSpPr>
          <p:nvPr>
            <p:ph type="body" idx="13"/>
          </p:nvPr>
        </p:nvSpPr>
        <p:spPr>
          <a:xfrm>
            <a:off x="9980612"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rgbClr val="3B3B3B"/>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5" name="Google Shape;815;p145"/>
          <p:cNvSpPr txBox="1">
            <a:spLocks noGrp="1"/>
          </p:cNvSpPr>
          <p:nvPr>
            <p:ph type="body" idx="14"/>
          </p:nvPr>
        </p:nvSpPr>
        <p:spPr>
          <a:xfrm>
            <a:off x="9752013"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rgbClr val="3B3B3B"/>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16" name="Google Shape;816;p14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817" name="Google Shape;817;p145"/>
          <p:cNvSpPr/>
          <p:nvPr/>
        </p:nvSpPr>
        <p:spPr>
          <a:xfrm>
            <a:off x="609800" y="2064663"/>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4"/>
              </a:solidFill>
              <a:latin typeface="Arial"/>
              <a:ea typeface="Arial"/>
              <a:cs typeface="Arial"/>
              <a:sym typeface="Arial"/>
            </a:endParaRPr>
          </a:p>
        </p:txBody>
      </p:sp>
      <p:sp>
        <p:nvSpPr>
          <p:cNvPr id="818" name="Google Shape;818;p145"/>
          <p:cNvSpPr/>
          <p:nvPr/>
        </p:nvSpPr>
        <p:spPr>
          <a:xfrm>
            <a:off x="2892452" y="2064663"/>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9" name="Google Shape;819;p145"/>
          <p:cNvSpPr/>
          <p:nvPr/>
        </p:nvSpPr>
        <p:spPr>
          <a:xfrm>
            <a:off x="5201380" y="2064663"/>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0" name="Google Shape;820;p145"/>
          <p:cNvSpPr/>
          <p:nvPr/>
        </p:nvSpPr>
        <p:spPr>
          <a:xfrm>
            <a:off x="7464921" y="2064663"/>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1" name="Google Shape;821;p145"/>
          <p:cNvSpPr/>
          <p:nvPr/>
        </p:nvSpPr>
        <p:spPr>
          <a:xfrm>
            <a:off x="9744473" y="2064663"/>
            <a:ext cx="1828959" cy="1828959"/>
          </a:xfrm>
          <a:prstGeom prst="ellipse">
            <a:avLst/>
          </a:prstGeom>
          <a:noFill/>
          <a:ln w="381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6"/>
              </a:solidFill>
              <a:latin typeface="Arial"/>
              <a:ea typeface="Arial"/>
              <a:cs typeface="Arial"/>
              <a:sym typeface="Arial"/>
            </a:endParaRPr>
          </a:p>
        </p:txBody>
      </p:sp>
      <p:sp>
        <p:nvSpPr>
          <p:cNvPr id="822" name="Google Shape;822;p14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Five Numbered ">
  <p:cSld name="Five Numbered ">
    <p:spTree>
      <p:nvGrpSpPr>
        <p:cNvPr id="1" name="Shape 823"/>
        <p:cNvGrpSpPr/>
        <p:nvPr/>
      </p:nvGrpSpPr>
      <p:grpSpPr>
        <a:xfrm>
          <a:off x="0" y="0"/>
          <a:ext cx="0" cy="0"/>
          <a:chOff x="0" y="0"/>
          <a:chExt cx="0" cy="0"/>
        </a:xfrm>
      </p:grpSpPr>
      <p:sp>
        <p:nvSpPr>
          <p:cNvPr id="824" name="Google Shape;824;p146"/>
          <p:cNvSpPr/>
          <p:nvPr/>
        </p:nvSpPr>
        <p:spPr>
          <a:xfrm>
            <a:off x="2894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5" name="Google Shape;825;p146"/>
          <p:cNvSpPr/>
          <p:nvPr/>
        </p:nvSpPr>
        <p:spPr>
          <a:xfrm>
            <a:off x="518509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6" name="Google Shape;826;p146"/>
          <p:cNvSpPr/>
          <p:nvPr/>
        </p:nvSpPr>
        <p:spPr>
          <a:xfrm>
            <a:off x="747000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7" name="Google Shape;827;p146"/>
          <p:cNvSpPr/>
          <p:nvPr/>
        </p:nvSpPr>
        <p:spPr>
          <a:xfrm>
            <a:off x="9752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8" name="Google Shape;828;p146"/>
          <p:cNvSpPr/>
          <p:nvPr/>
        </p:nvSpPr>
        <p:spPr>
          <a:xfrm>
            <a:off x="61085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29" name="Google Shape;829;p14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0" name="Google Shape;830;p146"/>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831" name="Google Shape;831;p146"/>
          <p:cNvCxnSpPr/>
          <p:nvPr/>
        </p:nvCxnSpPr>
        <p:spPr>
          <a:xfrm>
            <a:off x="610850" y="2512464"/>
            <a:ext cx="1828800" cy="0"/>
          </a:xfrm>
          <a:prstGeom prst="straightConnector1">
            <a:avLst/>
          </a:prstGeom>
          <a:noFill/>
          <a:ln w="25400" cap="flat" cmpd="sng">
            <a:solidFill>
              <a:schemeClr val="accent4"/>
            </a:solidFill>
            <a:prstDash val="solid"/>
            <a:miter lim="800000"/>
            <a:headEnd type="none" w="sm" len="sm"/>
            <a:tailEnd type="none" w="sm" len="sm"/>
          </a:ln>
        </p:spPr>
      </p:cxnSp>
      <p:sp>
        <p:nvSpPr>
          <p:cNvPr id="832" name="Google Shape;832;p146"/>
          <p:cNvSpPr txBox="1">
            <a:spLocks noGrp="1"/>
          </p:cNvSpPr>
          <p:nvPr>
            <p:ph type="body" idx="2"/>
          </p:nvPr>
        </p:nvSpPr>
        <p:spPr>
          <a:xfrm>
            <a:off x="610851"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4"/>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33" name="Google Shape;833;p146"/>
          <p:cNvCxnSpPr/>
          <p:nvPr/>
        </p:nvCxnSpPr>
        <p:spPr>
          <a:xfrm>
            <a:off x="2894013" y="2512464"/>
            <a:ext cx="1828800" cy="0"/>
          </a:xfrm>
          <a:prstGeom prst="straightConnector1">
            <a:avLst/>
          </a:prstGeom>
          <a:noFill/>
          <a:ln w="25400" cap="flat" cmpd="sng">
            <a:solidFill>
              <a:schemeClr val="accent3"/>
            </a:solidFill>
            <a:prstDash val="solid"/>
            <a:miter lim="800000"/>
            <a:headEnd type="none" w="sm" len="sm"/>
            <a:tailEnd type="none" w="sm" len="sm"/>
          </a:ln>
        </p:spPr>
      </p:cxnSp>
      <p:sp>
        <p:nvSpPr>
          <p:cNvPr id="834" name="Google Shape;834;p146"/>
          <p:cNvSpPr txBox="1">
            <a:spLocks noGrp="1"/>
          </p:cNvSpPr>
          <p:nvPr>
            <p:ph type="body" idx="3"/>
          </p:nvPr>
        </p:nvSpPr>
        <p:spPr>
          <a:xfrm>
            <a:off x="2894013" y="2529075"/>
            <a:ext cx="1828800" cy="2871263"/>
          </a:xfrm>
          <a:prstGeom prst="rect">
            <a:avLst/>
          </a:prstGeom>
          <a:noFill/>
          <a:ln>
            <a:noFill/>
          </a:ln>
        </p:spPr>
        <p:txBody>
          <a:bodyPr spcFirstLastPara="1" wrap="square" lIns="182875" tIns="548625" rIns="182875" bIns="182875" anchor="t" anchorCtr="0">
            <a:noAutofit/>
          </a:bodyPr>
          <a:lstStyle>
            <a:lvl1pPr marL="457200" lvl="0" indent="-342900" algn="ctr">
              <a:lnSpc>
                <a:spcPct val="90000"/>
              </a:lnSpc>
              <a:spcBef>
                <a:spcPts val="600"/>
              </a:spcBef>
              <a:spcAft>
                <a:spcPts val="0"/>
              </a:spcAft>
              <a:buSzPts val="1800"/>
              <a:buChar char="​"/>
              <a:defRPr sz="2000">
                <a:solidFill>
                  <a:schemeClr val="accent3"/>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35" name="Google Shape;835;p146"/>
          <p:cNvCxnSpPr/>
          <p:nvPr/>
        </p:nvCxnSpPr>
        <p:spPr>
          <a:xfrm>
            <a:off x="5185093" y="2512464"/>
            <a:ext cx="1828800" cy="0"/>
          </a:xfrm>
          <a:prstGeom prst="straightConnector1">
            <a:avLst/>
          </a:prstGeom>
          <a:noFill/>
          <a:ln w="25400" cap="flat" cmpd="sng">
            <a:solidFill>
              <a:schemeClr val="accent2"/>
            </a:solidFill>
            <a:prstDash val="solid"/>
            <a:miter lim="800000"/>
            <a:headEnd type="none" w="sm" len="sm"/>
            <a:tailEnd type="none" w="sm" len="sm"/>
          </a:ln>
        </p:spPr>
      </p:cxnSp>
      <p:sp>
        <p:nvSpPr>
          <p:cNvPr id="836" name="Google Shape;836;p146"/>
          <p:cNvSpPr txBox="1">
            <a:spLocks noGrp="1"/>
          </p:cNvSpPr>
          <p:nvPr>
            <p:ph type="body" idx="4"/>
          </p:nvPr>
        </p:nvSpPr>
        <p:spPr>
          <a:xfrm>
            <a:off x="5185093"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2"/>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37" name="Google Shape;837;p146"/>
          <p:cNvCxnSpPr/>
          <p:nvPr/>
        </p:nvCxnSpPr>
        <p:spPr>
          <a:xfrm>
            <a:off x="7470001" y="2512464"/>
            <a:ext cx="1828800" cy="0"/>
          </a:xfrm>
          <a:prstGeom prst="straightConnector1">
            <a:avLst/>
          </a:prstGeom>
          <a:noFill/>
          <a:ln w="25400" cap="flat" cmpd="sng">
            <a:solidFill>
              <a:schemeClr val="accent5"/>
            </a:solidFill>
            <a:prstDash val="solid"/>
            <a:miter lim="800000"/>
            <a:headEnd type="none" w="sm" len="sm"/>
            <a:tailEnd type="none" w="sm" len="sm"/>
          </a:ln>
        </p:spPr>
      </p:cxnSp>
      <p:sp>
        <p:nvSpPr>
          <p:cNvPr id="838" name="Google Shape;838;p146"/>
          <p:cNvSpPr txBox="1">
            <a:spLocks noGrp="1"/>
          </p:cNvSpPr>
          <p:nvPr>
            <p:ph type="body" idx="5"/>
          </p:nvPr>
        </p:nvSpPr>
        <p:spPr>
          <a:xfrm>
            <a:off x="7470001"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5"/>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39" name="Google Shape;839;p146"/>
          <p:cNvCxnSpPr/>
          <p:nvPr/>
        </p:nvCxnSpPr>
        <p:spPr>
          <a:xfrm>
            <a:off x="9752013" y="2512464"/>
            <a:ext cx="1828800" cy="0"/>
          </a:xfrm>
          <a:prstGeom prst="straightConnector1">
            <a:avLst/>
          </a:prstGeom>
          <a:noFill/>
          <a:ln w="25400" cap="flat" cmpd="sng">
            <a:solidFill>
              <a:srgbClr val="53565A"/>
            </a:solidFill>
            <a:prstDash val="solid"/>
            <a:miter lim="800000"/>
            <a:headEnd type="none" w="sm" len="sm"/>
            <a:tailEnd type="none" w="sm" len="sm"/>
          </a:ln>
        </p:spPr>
      </p:cxnSp>
      <p:sp>
        <p:nvSpPr>
          <p:cNvPr id="840" name="Google Shape;840;p146"/>
          <p:cNvSpPr txBox="1">
            <a:spLocks noGrp="1"/>
          </p:cNvSpPr>
          <p:nvPr>
            <p:ph type="body" idx="6"/>
          </p:nvPr>
        </p:nvSpPr>
        <p:spPr>
          <a:xfrm>
            <a:off x="9752013"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rgbClr val="3B3B3B"/>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41" name="Google Shape;841;p14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842" name="Google Shape;842;p146"/>
          <p:cNvSpPr/>
          <p:nvPr/>
        </p:nvSpPr>
        <p:spPr>
          <a:xfrm>
            <a:off x="1131007" y="2118221"/>
            <a:ext cx="788487" cy="78848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4"/>
                </a:solidFill>
                <a:latin typeface="Arial"/>
                <a:ea typeface="Arial"/>
                <a:cs typeface="Arial"/>
                <a:sym typeface="Arial"/>
              </a:rPr>
              <a:t>1</a:t>
            </a:r>
            <a:endParaRPr/>
          </a:p>
        </p:txBody>
      </p:sp>
      <p:sp>
        <p:nvSpPr>
          <p:cNvPr id="843" name="Google Shape;843;p146"/>
          <p:cNvSpPr/>
          <p:nvPr/>
        </p:nvSpPr>
        <p:spPr>
          <a:xfrm>
            <a:off x="3414170" y="2118221"/>
            <a:ext cx="788487" cy="788487"/>
          </a:xfrm>
          <a:prstGeom prst="ellipse">
            <a:avLst/>
          </a:prstGeom>
          <a:solidFill>
            <a:schemeClr val="lt1"/>
          </a:solidFill>
          <a:ln w="254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800">
                <a:solidFill>
                  <a:schemeClr val="accent3"/>
                </a:solidFill>
                <a:latin typeface="Arial"/>
                <a:ea typeface="Arial"/>
                <a:cs typeface="Arial"/>
                <a:sym typeface="Arial"/>
              </a:rPr>
              <a:t>2</a:t>
            </a:r>
            <a:endParaRPr/>
          </a:p>
        </p:txBody>
      </p:sp>
      <p:sp>
        <p:nvSpPr>
          <p:cNvPr id="844" name="Google Shape;844;p146"/>
          <p:cNvSpPr/>
          <p:nvPr/>
        </p:nvSpPr>
        <p:spPr>
          <a:xfrm>
            <a:off x="5705250" y="2118221"/>
            <a:ext cx="788487" cy="788487"/>
          </a:xfrm>
          <a:prstGeom prst="ellipse">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2"/>
                </a:solidFill>
                <a:latin typeface="Arial"/>
                <a:ea typeface="Arial"/>
                <a:cs typeface="Arial"/>
                <a:sym typeface="Arial"/>
              </a:rPr>
              <a:t>3</a:t>
            </a:r>
            <a:endParaRPr/>
          </a:p>
        </p:txBody>
      </p:sp>
      <p:sp>
        <p:nvSpPr>
          <p:cNvPr id="845" name="Google Shape;845;p146"/>
          <p:cNvSpPr/>
          <p:nvPr/>
        </p:nvSpPr>
        <p:spPr>
          <a:xfrm>
            <a:off x="7990158" y="2118221"/>
            <a:ext cx="788487" cy="788487"/>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5"/>
                </a:solidFill>
                <a:latin typeface="Arial"/>
                <a:ea typeface="Arial"/>
                <a:cs typeface="Arial"/>
                <a:sym typeface="Arial"/>
              </a:rPr>
              <a:t>4</a:t>
            </a:r>
            <a:endParaRPr/>
          </a:p>
        </p:txBody>
      </p:sp>
      <p:sp>
        <p:nvSpPr>
          <p:cNvPr id="846" name="Google Shape;846;p146"/>
          <p:cNvSpPr/>
          <p:nvPr/>
        </p:nvSpPr>
        <p:spPr>
          <a:xfrm>
            <a:off x="10272170" y="2118221"/>
            <a:ext cx="788487" cy="788487"/>
          </a:xfrm>
          <a:prstGeom prst="ellipse">
            <a:avLst/>
          </a:prstGeom>
          <a:solidFill>
            <a:schemeClr val="lt1"/>
          </a:solidFill>
          <a:ln w="254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3B3B3B"/>
                </a:solidFill>
                <a:latin typeface="Arial"/>
                <a:ea typeface="Arial"/>
                <a:cs typeface="Arial"/>
                <a:sym typeface="Arial"/>
              </a:rPr>
              <a:t>5</a:t>
            </a:r>
            <a:endParaRPr/>
          </a:p>
        </p:txBody>
      </p:sp>
      <p:sp>
        <p:nvSpPr>
          <p:cNvPr id="847" name="Google Shape;847;p146"/>
          <p:cNvSpPr/>
          <p:nvPr/>
        </p:nvSpPr>
        <p:spPr>
          <a:xfrm>
            <a:off x="2894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8" name="Google Shape;848;p146"/>
          <p:cNvSpPr/>
          <p:nvPr/>
        </p:nvSpPr>
        <p:spPr>
          <a:xfrm>
            <a:off x="518509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49" name="Google Shape;849;p146"/>
          <p:cNvSpPr/>
          <p:nvPr/>
        </p:nvSpPr>
        <p:spPr>
          <a:xfrm>
            <a:off x="747000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50" name="Google Shape;850;p146"/>
          <p:cNvSpPr/>
          <p:nvPr/>
        </p:nvSpPr>
        <p:spPr>
          <a:xfrm>
            <a:off x="9752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851" name="Google Shape;851;p146"/>
          <p:cNvSpPr/>
          <p:nvPr/>
        </p:nvSpPr>
        <p:spPr>
          <a:xfrm>
            <a:off x="61085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cxnSp>
        <p:nvCxnSpPr>
          <p:cNvPr id="852" name="Google Shape;852;p146"/>
          <p:cNvCxnSpPr/>
          <p:nvPr/>
        </p:nvCxnSpPr>
        <p:spPr>
          <a:xfrm>
            <a:off x="610850" y="2512464"/>
            <a:ext cx="1828800" cy="0"/>
          </a:xfrm>
          <a:prstGeom prst="straightConnector1">
            <a:avLst/>
          </a:prstGeom>
          <a:noFill/>
          <a:ln w="25400" cap="flat" cmpd="sng">
            <a:solidFill>
              <a:schemeClr val="accent4"/>
            </a:solidFill>
            <a:prstDash val="solid"/>
            <a:miter lim="800000"/>
            <a:headEnd type="none" w="sm" len="sm"/>
            <a:tailEnd type="none" w="sm" len="sm"/>
          </a:ln>
        </p:spPr>
      </p:cxnSp>
      <p:cxnSp>
        <p:nvCxnSpPr>
          <p:cNvPr id="853" name="Google Shape;853;p146"/>
          <p:cNvCxnSpPr/>
          <p:nvPr/>
        </p:nvCxnSpPr>
        <p:spPr>
          <a:xfrm>
            <a:off x="2894013" y="2512464"/>
            <a:ext cx="1828800" cy="0"/>
          </a:xfrm>
          <a:prstGeom prst="straightConnector1">
            <a:avLst/>
          </a:prstGeom>
          <a:noFill/>
          <a:ln w="25400" cap="flat" cmpd="sng">
            <a:solidFill>
              <a:schemeClr val="accent3"/>
            </a:solidFill>
            <a:prstDash val="solid"/>
            <a:miter lim="800000"/>
            <a:headEnd type="none" w="sm" len="sm"/>
            <a:tailEnd type="none" w="sm" len="sm"/>
          </a:ln>
        </p:spPr>
      </p:cxnSp>
      <p:cxnSp>
        <p:nvCxnSpPr>
          <p:cNvPr id="854" name="Google Shape;854;p146"/>
          <p:cNvCxnSpPr/>
          <p:nvPr/>
        </p:nvCxnSpPr>
        <p:spPr>
          <a:xfrm>
            <a:off x="5185093" y="2512464"/>
            <a:ext cx="1828800" cy="0"/>
          </a:xfrm>
          <a:prstGeom prst="straightConnector1">
            <a:avLst/>
          </a:prstGeom>
          <a:noFill/>
          <a:ln w="25400" cap="flat" cmpd="sng">
            <a:solidFill>
              <a:schemeClr val="accent2"/>
            </a:solidFill>
            <a:prstDash val="solid"/>
            <a:miter lim="800000"/>
            <a:headEnd type="none" w="sm" len="sm"/>
            <a:tailEnd type="none" w="sm" len="sm"/>
          </a:ln>
        </p:spPr>
      </p:cxnSp>
      <p:cxnSp>
        <p:nvCxnSpPr>
          <p:cNvPr id="855" name="Google Shape;855;p146"/>
          <p:cNvCxnSpPr/>
          <p:nvPr/>
        </p:nvCxnSpPr>
        <p:spPr>
          <a:xfrm>
            <a:off x="7470001" y="2512464"/>
            <a:ext cx="1828800" cy="0"/>
          </a:xfrm>
          <a:prstGeom prst="straightConnector1">
            <a:avLst/>
          </a:prstGeom>
          <a:noFill/>
          <a:ln w="25400" cap="flat" cmpd="sng">
            <a:solidFill>
              <a:schemeClr val="accent5"/>
            </a:solidFill>
            <a:prstDash val="solid"/>
            <a:miter lim="800000"/>
            <a:headEnd type="none" w="sm" len="sm"/>
            <a:tailEnd type="none" w="sm" len="sm"/>
          </a:ln>
        </p:spPr>
      </p:cxnSp>
      <p:cxnSp>
        <p:nvCxnSpPr>
          <p:cNvPr id="856" name="Google Shape;856;p146"/>
          <p:cNvCxnSpPr/>
          <p:nvPr/>
        </p:nvCxnSpPr>
        <p:spPr>
          <a:xfrm>
            <a:off x="9752013" y="2512464"/>
            <a:ext cx="1828800" cy="0"/>
          </a:xfrm>
          <a:prstGeom prst="straightConnector1">
            <a:avLst/>
          </a:prstGeom>
          <a:noFill/>
          <a:ln w="25400" cap="flat" cmpd="sng">
            <a:solidFill>
              <a:srgbClr val="53565A"/>
            </a:solidFill>
            <a:prstDash val="solid"/>
            <a:miter lim="800000"/>
            <a:headEnd type="none" w="sm" len="sm"/>
            <a:tailEnd type="none" w="sm" len="sm"/>
          </a:ln>
        </p:spPr>
      </p:cxnSp>
      <p:sp>
        <p:nvSpPr>
          <p:cNvPr id="857" name="Google Shape;857;p14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858" name="Google Shape;858;p146"/>
          <p:cNvSpPr/>
          <p:nvPr/>
        </p:nvSpPr>
        <p:spPr>
          <a:xfrm>
            <a:off x="1131007" y="2118221"/>
            <a:ext cx="788487" cy="78848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4"/>
                </a:solidFill>
                <a:latin typeface="Arial"/>
                <a:ea typeface="Arial"/>
                <a:cs typeface="Arial"/>
                <a:sym typeface="Arial"/>
              </a:rPr>
              <a:t>1</a:t>
            </a:r>
            <a:endParaRPr/>
          </a:p>
        </p:txBody>
      </p:sp>
      <p:sp>
        <p:nvSpPr>
          <p:cNvPr id="859" name="Google Shape;859;p146"/>
          <p:cNvSpPr/>
          <p:nvPr/>
        </p:nvSpPr>
        <p:spPr>
          <a:xfrm>
            <a:off x="3414170" y="2118221"/>
            <a:ext cx="788487" cy="788487"/>
          </a:xfrm>
          <a:prstGeom prst="ellipse">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3"/>
                </a:solidFill>
                <a:latin typeface="Arial"/>
                <a:ea typeface="Arial"/>
                <a:cs typeface="Arial"/>
                <a:sym typeface="Arial"/>
              </a:rPr>
              <a:t>2</a:t>
            </a:r>
            <a:endParaRPr/>
          </a:p>
        </p:txBody>
      </p:sp>
      <p:sp>
        <p:nvSpPr>
          <p:cNvPr id="860" name="Google Shape;860;p146"/>
          <p:cNvSpPr/>
          <p:nvPr/>
        </p:nvSpPr>
        <p:spPr>
          <a:xfrm>
            <a:off x="5705250" y="2118221"/>
            <a:ext cx="788487" cy="788487"/>
          </a:xfrm>
          <a:prstGeom prst="ellipse">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2"/>
                </a:solidFill>
                <a:latin typeface="Arial"/>
                <a:ea typeface="Arial"/>
                <a:cs typeface="Arial"/>
                <a:sym typeface="Arial"/>
              </a:rPr>
              <a:t>3</a:t>
            </a:r>
            <a:endParaRPr/>
          </a:p>
        </p:txBody>
      </p:sp>
      <p:sp>
        <p:nvSpPr>
          <p:cNvPr id="861" name="Google Shape;861;p146"/>
          <p:cNvSpPr/>
          <p:nvPr/>
        </p:nvSpPr>
        <p:spPr>
          <a:xfrm>
            <a:off x="7990158" y="2118221"/>
            <a:ext cx="788487" cy="788487"/>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accent5"/>
                </a:solidFill>
                <a:latin typeface="Arial"/>
                <a:ea typeface="Arial"/>
                <a:cs typeface="Arial"/>
                <a:sym typeface="Arial"/>
              </a:rPr>
              <a:t>4</a:t>
            </a:r>
            <a:endParaRPr/>
          </a:p>
        </p:txBody>
      </p:sp>
      <p:sp>
        <p:nvSpPr>
          <p:cNvPr id="862" name="Google Shape;862;p146"/>
          <p:cNvSpPr/>
          <p:nvPr/>
        </p:nvSpPr>
        <p:spPr>
          <a:xfrm>
            <a:off x="10272170" y="2118221"/>
            <a:ext cx="788487" cy="788487"/>
          </a:xfrm>
          <a:prstGeom prst="ellipse">
            <a:avLst/>
          </a:prstGeom>
          <a:solidFill>
            <a:schemeClr val="lt1"/>
          </a:solidFill>
          <a:ln w="254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3B3B3B"/>
                </a:solidFill>
                <a:latin typeface="Arial"/>
                <a:ea typeface="Arial"/>
                <a:cs typeface="Arial"/>
                <a:sym typeface="Arial"/>
              </a:rPr>
              <a:t>5</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863"/>
        <p:cNvGrpSpPr/>
        <p:nvPr/>
      </p:nvGrpSpPr>
      <p:grpSpPr>
        <a:xfrm>
          <a:off x="0" y="0"/>
          <a:ext cx="0" cy="0"/>
          <a:chOff x="0" y="0"/>
          <a:chExt cx="0" cy="0"/>
        </a:xfrm>
      </p:grpSpPr>
      <p:sp>
        <p:nvSpPr>
          <p:cNvPr id="864" name="Google Shape;864;p14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5" name="Google Shape;865;p14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866" name="Google Shape;866;p147" descr="Row 1 label"/>
          <p:cNvSpPr txBox="1">
            <a:spLocks noGrp="1"/>
          </p:cNvSpPr>
          <p:nvPr>
            <p:ph type="body" idx="2"/>
          </p:nvPr>
        </p:nvSpPr>
        <p:spPr>
          <a:xfrm>
            <a:off x="271464" y="1546789"/>
            <a:ext cx="574570" cy="439174"/>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67" name="Google Shape;867;p147" descr="Row 1 text box is a long horizontal box the width of the slide acting as a header. "/>
          <p:cNvSpPr txBox="1">
            <a:spLocks noGrp="1"/>
          </p:cNvSpPr>
          <p:nvPr>
            <p:ph type="body" idx="3"/>
          </p:nvPr>
        </p:nvSpPr>
        <p:spPr>
          <a:xfrm>
            <a:off x="1034040" y="1561701"/>
            <a:ext cx="10630969" cy="429469"/>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1440"/>
              <a:buNone/>
              <a:defRPr sz="16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68" name="Google Shape;868;p147" descr="Row 2 label; this row shows 4 content boxes labeled A through D, each is a different color and holds text."/>
          <p:cNvSpPr txBox="1">
            <a:spLocks noGrp="1"/>
          </p:cNvSpPr>
          <p:nvPr>
            <p:ph type="body" idx="4"/>
          </p:nvPr>
        </p:nvSpPr>
        <p:spPr>
          <a:xfrm>
            <a:off x="285750" y="3304775"/>
            <a:ext cx="560283" cy="658026"/>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69" name="Google Shape;869;p147"/>
          <p:cNvCxnSpPr/>
          <p:nvPr/>
        </p:nvCxnSpPr>
        <p:spPr>
          <a:xfrm>
            <a:off x="1093076" y="2680138"/>
            <a:ext cx="2459421" cy="0"/>
          </a:xfrm>
          <a:prstGeom prst="straightConnector1">
            <a:avLst/>
          </a:prstGeom>
          <a:noFill/>
          <a:ln w="25400" cap="flat" cmpd="sng">
            <a:solidFill>
              <a:schemeClr val="accent4"/>
            </a:solidFill>
            <a:prstDash val="solid"/>
            <a:miter lim="800000"/>
            <a:headEnd type="none" w="sm" len="sm"/>
            <a:tailEnd type="none" w="sm" len="sm"/>
          </a:ln>
        </p:spPr>
      </p:cxnSp>
      <p:sp>
        <p:nvSpPr>
          <p:cNvPr id="870" name="Google Shape;870;p147" descr="Row 2, box 1: text in plum"/>
          <p:cNvSpPr txBox="1">
            <a:spLocks noGrp="1"/>
          </p:cNvSpPr>
          <p:nvPr>
            <p:ph type="body" idx="5"/>
          </p:nvPr>
        </p:nvSpPr>
        <p:spPr>
          <a:xfrm>
            <a:off x="1102407" y="2699834"/>
            <a:ext cx="2459421" cy="1949198"/>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4"/>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71" name="Google Shape;871;p147"/>
          <p:cNvCxnSpPr/>
          <p:nvPr/>
        </p:nvCxnSpPr>
        <p:spPr>
          <a:xfrm>
            <a:off x="3805092" y="2680138"/>
            <a:ext cx="2459421" cy="0"/>
          </a:xfrm>
          <a:prstGeom prst="straightConnector1">
            <a:avLst/>
          </a:prstGeom>
          <a:noFill/>
          <a:ln w="25400" cap="flat" cmpd="sng">
            <a:solidFill>
              <a:schemeClr val="accent3"/>
            </a:solidFill>
            <a:prstDash val="solid"/>
            <a:miter lim="800000"/>
            <a:headEnd type="none" w="sm" len="sm"/>
            <a:tailEnd type="none" w="sm" len="sm"/>
          </a:ln>
        </p:spPr>
      </p:cxnSp>
      <p:sp>
        <p:nvSpPr>
          <p:cNvPr id="872" name="Google Shape;872;p147" descr="Row 2, box 3: text in indigo"/>
          <p:cNvSpPr txBox="1">
            <a:spLocks noGrp="1"/>
          </p:cNvSpPr>
          <p:nvPr>
            <p:ph type="body" idx="6"/>
          </p:nvPr>
        </p:nvSpPr>
        <p:spPr>
          <a:xfrm>
            <a:off x="3816081" y="2699834"/>
            <a:ext cx="2459421" cy="1949198"/>
          </a:xfrm>
          <a:prstGeom prst="rect">
            <a:avLst/>
          </a:prstGeom>
          <a:noFill/>
          <a:ln>
            <a:noFill/>
          </a:ln>
        </p:spPr>
        <p:txBody>
          <a:bodyPr spcFirstLastPara="1" wrap="square" lIns="0" tIns="365750" rIns="0" bIns="0" anchor="t"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73" name="Google Shape;873;p147"/>
          <p:cNvCxnSpPr/>
          <p:nvPr/>
        </p:nvCxnSpPr>
        <p:spPr>
          <a:xfrm>
            <a:off x="6517108" y="2680138"/>
            <a:ext cx="2459421" cy="0"/>
          </a:xfrm>
          <a:prstGeom prst="straightConnector1">
            <a:avLst/>
          </a:prstGeom>
          <a:noFill/>
          <a:ln w="25400" cap="flat" cmpd="sng">
            <a:solidFill>
              <a:schemeClr val="accent2"/>
            </a:solidFill>
            <a:prstDash val="solid"/>
            <a:miter lim="800000"/>
            <a:headEnd type="none" w="sm" len="sm"/>
            <a:tailEnd type="none" w="sm" len="sm"/>
          </a:ln>
        </p:spPr>
      </p:cxnSp>
      <p:sp>
        <p:nvSpPr>
          <p:cNvPr id="874" name="Google Shape;874;p147" descr="Row 2, box 2: text in ocean"/>
          <p:cNvSpPr txBox="1">
            <a:spLocks noGrp="1"/>
          </p:cNvSpPr>
          <p:nvPr>
            <p:ph type="body" idx="7"/>
          </p:nvPr>
        </p:nvSpPr>
        <p:spPr>
          <a:xfrm>
            <a:off x="6529755" y="2699834"/>
            <a:ext cx="2459421" cy="1949198"/>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2"/>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875" name="Google Shape;875;p147"/>
          <p:cNvCxnSpPr/>
          <p:nvPr/>
        </p:nvCxnSpPr>
        <p:spPr>
          <a:xfrm>
            <a:off x="9229123" y="2680138"/>
            <a:ext cx="2459421" cy="0"/>
          </a:xfrm>
          <a:prstGeom prst="straightConnector1">
            <a:avLst/>
          </a:prstGeom>
          <a:noFill/>
          <a:ln w="25400" cap="flat" cmpd="sng">
            <a:solidFill>
              <a:schemeClr val="accent5"/>
            </a:solidFill>
            <a:prstDash val="solid"/>
            <a:miter lim="800000"/>
            <a:headEnd type="none" w="sm" len="sm"/>
            <a:tailEnd type="none" w="sm" len="sm"/>
          </a:ln>
        </p:spPr>
      </p:cxnSp>
      <p:sp>
        <p:nvSpPr>
          <p:cNvPr id="876" name="Google Shape;876;p147" descr="Row 2, box 4: text in dark green"/>
          <p:cNvSpPr txBox="1">
            <a:spLocks noGrp="1"/>
          </p:cNvSpPr>
          <p:nvPr>
            <p:ph type="body" idx="8"/>
          </p:nvPr>
        </p:nvSpPr>
        <p:spPr>
          <a:xfrm>
            <a:off x="9243428" y="2699834"/>
            <a:ext cx="2459421" cy="1949198"/>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5"/>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77" name="Google Shape;877;p147" descr="Row 3 label: this row shows six, small content boxes in a horiztonal row"/>
          <p:cNvSpPr txBox="1">
            <a:spLocks noGrp="1"/>
          </p:cNvSpPr>
          <p:nvPr>
            <p:ph type="body" idx="9"/>
          </p:nvPr>
        </p:nvSpPr>
        <p:spPr>
          <a:xfrm>
            <a:off x="300038" y="5065521"/>
            <a:ext cx="545995" cy="658026"/>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78" name="Google Shape;878;p147" descr="Row 3, text box 1"/>
          <p:cNvSpPr txBox="1">
            <a:spLocks noGrp="1"/>
          </p:cNvSpPr>
          <p:nvPr>
            <p:ph type="body" idx="13"/>
          </p:nvPr>
        </p:nvSpPr>
        <p:spPr>
          <a:xfrm>
            <a:off x="1115051"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79" name="Google Shape;879;p147" descr="Row 3, text box 2"/>
          <p:cNvSpPr txBox="1">
            <a:spLocks noGrp="1"/>
          </p:cNvSpPr>
          <p:nvPr>
            <p:ph type="body" idx="14"/>
          </p:nvPr>
        </p:nvSpPr>
        <p:spPr>
          <a:xfrm>
            <a:off x="2886312"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0" name="Google Shape;880;p147" descr="Row 3, text box 3"/>
          <p:cNvSpPr txBox="1">
            <a:spLocks noGrp="1"/>
          </p:cNvSpPr>
          <p:nvPr>
            <p:ph type="body" idx="15"/>
          </p:nvPr>
        </p:nvSpPr>
        <p:spPr>
          <a:xfrm>
            <a:off x="4657573"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1" name="Google Shape;881;p147" descr="Row 3, text box 4"/>
          <p:cNvSpPr txBox="1">
            <a:spLocks noGrp="1"/>
          </p:cNvSpPr>
          <p:nvPr>
            <p:ph type="body" idx="16"/>
          </p:nvPr>
        </p:nvSpPr>
        <p:spPr>
          <a:xfrm>
            <a:off x="6428834"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2" name="Google Shape;882;p147" descr="Row 3, text box 5"/>
          <p:cNvSpPr txBox="1">
            <a:spLocks noGrp="1"/>
          </p:cNvSpPr>
          <p:nvPr>
            <p:ph type="body" idx="17"/>
          </p:nvPr>
        </p:nvSpPr>
        <p:spPr>
          <a:xfrm>
            <a:off x="8200095"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3" name="Google Shape;883;p147" descr="Row 3, text box 6"/>
          <p:cNvSpPr txBox="1">
            <a:spLocks noGrp="1"/>
          </p:cNvSpPr>
          <p:nvPr>
            <p:ph type="body" idx="18"/>
          </p:nvPr>
        </p:nvSpPr>
        <p:spPr>
          <a:xfrm>
            <a:off x="9971354" y="4956561"/>
            <a:ext cx="1713607" cy="915157"/>
          </a:xfrm>
          <a:prstGeom prst="rect">
            <a:avLst/>
          </a:prstGeom>
          <a:solidFill>
            <a:srgbClr val="F4F8FA"/>
          </a:solidFill>
          <a:ln w="12700" cap="flat" cmpd="sng">
            <a:solidFill>
              <a:schemeClr val="accent3">
                <a:alpha val="2470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84" name="Google Shape;884;p14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cxnSp>
        <p:nvCxnSpPr>
          <p:cNvPr id="885" name="Google Shape;885;p147"/>
          <p:cNvCxnSpPr/>
          <p:nvPr/>
        </p:nvCxnSpPr>
        <p:spPr>
          <a:xfrm>
            <a:off x="1093076" y="2680138"/>
            <a:ext cx="2459421" cy="0"/>
          </a:xfrm>
          <a:prstGeom prst="straightConnector1">
            <a:avLst/>
          </a:prstGeom>
          <a:noFill/>
          <a:ln w="25400" cap="flat" cmpd="sng">
            <a:solidFill>
              <a:schemeClr val="accent4"/>
            </a:solidFill>
            <a:prstDash val="solid"/>
            <a:miter lim="800000"/>
            <a:headEnd type="none" w="sm" len="sm"/>
            <a:tailEnd type="none" w="sm" len="sm"/>
          </a:ln>
        </p:spPr>
      </p:cxnSp>
      <p:cxnSp>
        <p:nvCxnSpPr>
          <p:cNvPr id="886" name="Google Shape;886;p147"/>
          <p:cNvCxnSpPr/>
          <p:nvPr/>
        </p:nvCxnSpPr>
        <p:spPr>
          <a:xfrm>
            <a:off x="3805092" y="2680138"/>
            <a:ext cx="2459421" cy="0"/>
          </a:xfrm>
          <a:prstGeom prst="straightConnector1">
            <a:avLst/>
          </a:prstGeom>
          <a:noFill/>
          <a:ln w="25400" cap="flat" cmpd="sng">
            <a:solidFill>
              <a:schemeClr val="accent3"/>
            </a:solidFill>
            <a:prstDash val="solid"/>
            <a:miter lim="800000"/>
            <a:headEnd type="none" w="sm" len="sm"/>
            <a:tailEnd type="none" w="sm" len="sm"/>
          </a:ln>
        </p:spPr>
      </p:cxnSp>
      <p:cxnSp>
        <p:nvCxnSpPr>
          <p:cNvPr id="887" name="Google Shape;887;p147"/>
          <p:cNvCxnSpPr/>
          <p:nvPr/>
        </p:nvCxnSpPr>
        <p:spPr>
          <a:xfrm>
            <a:off x="6517108" y="2680138"/>
            <a:ext cx="2459421" cy="0"/>
          </a:xfrm>
          <a:prstGeom prst="straightConnector1">
            <a:avLst/>
          </a:prstGeom>
          <a:noFill/>
          <a:ln w="25400" cap="flat" cmpd="sng">
            <a:solidFill>
              <a:schemeClr val="accent2"/>
            </a:solidFill>
            <a:prstDash val="solid"/>
            <a:miter lim="800000"/>
            <a:headEnd type="none" w="sm" len="sm"/>
            <a:tailEnd type="none" w="sm" len="sm"/>
          </a:ln>
        </p:spPr>
      </p:cxnSp>
      <p:cxnSp>
        <p:nvCxnSpPr>
          <p:cNvPr id="888" name="Google Shape;888;p147"/>
          <p:cNvCxnSpPr/>
          <p:nvPr/>
        </p:nvCxnSpPr>
        <p:spPr>
          <a:xfrm>
            <a:off x="9229123" y="2680138"/>
            <a:ext cx="2459421" cy="0"/>
          </a:xfrm>
          <a:prstGeom prst="straightConnector1">
            <a:avLst/>
          </a:prstGeom>
          <a:noFill/>
          <a:ln w="25400" cap="flat" cmpd="sng">
            <a:solidFill>
              <a:schemeClr val="accent5"/>
            </a:solidFill>
            <a:prstDash val="solid"/>
            <a:miter lim="800000"/>
            <a:headEnd type="none" w="sm" len="sm"/>
            <a:tailEnd type="none" w="sm" len="sm"/>
          </a:ln>
        </p:spPr>
      </p:cxnSp>
      <p:sp>
        <p:nvSpPr>
          <p:cNvPr id="889" name="Google Shape;889;p14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Statement - Leaf">
  <p:cSld name="Big Statement - Leaf">
    <p:spTree>
      <p:nvGrpSpPr>
        <p:cNvPr id="1" name="Shape 890"/>
        <p:cNvGrpSpPr/>
        <p:nvPr/>
      </p:nvGrpSpPr>
      <p:grpSpPr>
        <a:xfrm>
          <a:off x="0" y="0"/>
          <a:ext cx="0" cy="0"/>
          <a:chOff x="0" y="0"/>
          <a:chExt cx="0" cy="0"/>
        </a:xfrm>
      </p:grpSpPr>
      <p:grpSp>
        <p:nvGrpSpPr>
          <p:cNvPr id="891" name="Google Shape;891;p148"/>
          <p:cNvGrpSpPr/>
          <p:nvPr/>
        </p:nvGrpSpPr>
        <p:grpSpPr>
          <a:xfrm>
            <a:off x="5111737" y="1408637"/>
            <a:ext cx="7077088" cy="4553747"/>
            <a:chOff x="5111737" y="1408637"/>
            <a:chExt cx="7077088" cy="4553747"/>
          </a:xfrm>
        </p:grpSpPr>
        <p:sp>
          <p:nvSpPr>
            <p:cNvPr id="892" name="Google Shape;892;p148"/>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rgbClr val="61A30E"/>
                </a:gs>
                <a:gs pos="5000">
                  <a:srgbClr val="61A30E"/>
                </a:gs>
                <a:gs pos="80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3" name="Google Shape;893;p148"/>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rgbClr val="61A30E"/>
                </a:gs>
                <a:gs pos="5000">
                  <a:srgbClr val="61A30E"/>
                </a:gs>
                <a:gs pos="80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894" name="Google Shape;894;p148"/>
          <p:cNvSpPr txBox="1">
            <a:spLocks noGrp="1"/>
          </p:cNvSpPr>
          <p:nvPr>
            <p:ph type="body" idx="1"/>
          </p:nvPr>
        </p:nvSpPr>
        <p:spPr>
          <a:xfrm>
            <a:off x="586477" y="2233670"/>
            <a:ext cx="6519403" cy="22859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4"/>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95" name="Google Shape;895;p14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896" name="Google Shape;896;p14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ig Statement - Aqua">
  <p:cSld name="Big Statement - Aqua">
    <p:spTree>
      <p:nvGrpSpPr>
        <p:cNvPr id="1" name="Shape 897"/>
        <p:cNvGrpSpPr/>
        <p:nvPr/>
      </p:nvGrpSpPr>
      <p:grpSpPr>
        <a:xfrm>
          <a:off x="0" y="0"/>
          <a:ext cx="0" cy="0"/>
          <a:chOff x="0" y="0"/>
          <a:chExt cx="0" cy="0"/>
        </a:xfrm>
      </p:grpSpPr>
      <p:grpSp>
        <p:nvGrpSpPr>
          <p:cNvPr id="898" name="Google Shape;898;p149"/>
          <p:cNvGrpSpPr/>
          <p:nvPr/>
        </p:nvGrpSpPr>
        <p:grpSpPr>
          <a:xfrm>
            <a:off x="5111737" y="1408637"/>
            <a:ext cx="7077088" cy="4553747"/>
            <a:chOff x="5111737" y="1408637"/>
            <a:chExt cx="7077088" cy="4553747"/>
          </a:xfrm>
        </p:grpSpPr>
        <p:sp>
          <p:nvSpPr>
            <p:cNvPr id="899" name="Google Shape;899;p149"/>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chemeClr val="accent2"/>
                </a:gs>
                <a:gs pos="21000">
                  <a:schemeClr val="accent2"/>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0" name="Google Shape;900;p149"/>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chemeClr val="accent2"/>
                </a:gs>
                <a:gs pos="21000">
                  <a:schemeClr val="accent2"/>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01" name="Google Shape;901;p149"/>
          <p:cNvSpPr txBox="1">
            <a:spLocks noGrp="1"/>
          </p:cNvSpPr>
          <p:nvPr>
            <p:ph type="body" idx="1"/>
          </p:nvPr>
        </p:nvSpPr>
        <p:spPr>
          <a:xfrm>
            <a:off x="580171" y="2233670"/>
            <a:ext cx="6525709" cy="22859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02" name="Google Shape;902;p14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03" name="Google Shape;903;p14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ig Statement - Plum">
  <p:cSld name="Big Statement - Plum">
    <p:spTree>
      <p:nvGrpSpPr>
        <p:cNvPr id="1" name="Shape 904"/>
        <p:cNvGrpSpPr/>
        <p:nvPr/>
      </p:nvGrpSpPr>
      <p:grpSpPr>
        <a:xfrm>
          <a:off x="0" y="0"/>
          <a:ext cx="0" cy="0"/>
          <a:chOff x="0" y="0"/>
          <a:chExt cx="0" cy="0"/>
        </a:xfrm>
      </p:grpSpPr>
      <p:grpSp>
        <p:nvGrpSpPr>
          <p:cNvPr id="905" name="Google Shape;905;p150"/>
          <p:cNvGrpSpPr/>
          <p:nvPr/>
        </p:nvGrpSpPr>
        <p:grpSpPr>
          <a:xfrm>
            <a:off x="5111737" y="1408637"/>
            <a:ext cx="7077088" cy="4553747"/>
            <a:chOff x="5111737" y="1408637"/>
            <a:chExt cx="7077088" cy="4553747"/>
          </a:xfrm>
        </p:grpSpPr>
        <p:sp>
          <p:nvSpPr>
            <p:cNvPr id="906" name="Google Shape;906;p150"/>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chemeClr val="accent5"/>
                </a:gs>
                <a:gs pos="6000">
                  <a:schemeClr val="accent5"/>
                </a:gs>
                <a:gs pos="7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7" name="Google Shape;907;p150"/>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chemeClr val="accent5"/>
                </a:gs>
                <a:gs pos="21000">
                  <a:schemeClr val="accent5"/>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08" name="Google Shape;908;p150"/>
          <p:cNvSpPr txBox="1">
            <a:spLocks noGrp="1"/>
          </p:cNvSpPr>
          <p:nvPr>
            <p:ph type="body" idx="1"/>
          </p:nvPr>
        </p:nvSpPr>
        <p:spPr>
          <a:xfrm>
            <a:off x="586477" y="2233670"/>
            <a:ext cx="6519403" cy="22859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5"/>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09" name="Google Shape;909;p15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10" name="Google Shape;910;p15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ig Statement 2 - Leaf ">
  <p:cSld name="Big Statement 2 - Leaf ">
    <p:spTree>
      <p:nvGrpSpPr>
        <p:cNvPr id="1" name="Shape 911"/>
        <p:cNvGrpSpPr/>
        <p:nvPr/>
      </p:nvGrpSpPr>
      <p:grpSpPr>
        <a:xfrm>
          <a:off x="0" y="0"/>
          <a:ext cx="0" cy="0"/>
          <a:chOff x="0" y="0"/>
          <a:chExt cx="0" cy="0"/>
        </a:xfrm>
      </p:grpSpPr>
      <p:sp>
        <p:nvSpPr>
          <p:cNvPr id="912" name="Google Shape;912;p151"/>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3" name="Google Shape;913;p151"/>
          <p:cNvSpPr/>
          <p:nvPr/>
        </p:nvSpPr>
        <p:spPr>
          <a:xfrm>
            <a:off x="6457030" y="355921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rgbClr val="61A30E"/>
              </a:gs>
              <a:gs pos="21000">
                <a:srgbClr val="61A30E"/>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4" name="Google Shape;914;p151"/>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5" name="Google Shape;915;p151"/>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16" name="Google Shape;916;p15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Statement 2 - Aqua">
  <p:cSld name="Big Statement 2 - Aqua">
    <p:spTree>
      <p:nvGrpSpPr>
        <p:cNvPr id="1" name="Shape 917"/>
        <p:cNvGrpSpPr/>
        <p:nvPr/>
      </p:nvGrpSpPr>
      <p:grpSpPr>
        <a:xfrm>
          <a:off x="0" y="0"/>
          <a:ext cx="0" cy="0"/>
          <a:chOff x="0" y="0"/>
          <a:chExt cx="0" cy="0"/>
        </a:xfrm>
      </p:grpSpPr>
      <p:sp>
        <p:nvSpPr>
          <p:cNvPr id="918" name="Google Shape;918;p152"/>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9" name="Google Shape;919;p152"/>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chemeClr val="accent2"/>
              </a:gs>
              <a:gs pos="21000">
                <a:schemeClr val="accent2"/>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0" name="Google Shape;920;p15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21" name="Google Shape;921;p152"/>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2" name="Google Shape;922;p152"/>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23" name="Google Shape;923;p152"/>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4" name="Google Shape;924;p15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Statement 2 - Plum">
  <p:cSld name="Big Statement 2 - Plum">
    <p:spTree>
      <p:nvGrpSpPr>
        <p:cNvPr id="1" name="Shape 925"/>
        <p:cNvGrpSpPr/>
        <p:nvPr/>
      </p:nvGrpSpPr>
      <p:grpSpPr>
        <a:xfrm>
          <a:off x="0" y="0"/>
          <a:ext cx="0" cy="0"/>
          <a:chOff x="0" y="0"/>
          <a:chExt cx="0" cy="0"/>
        </a:xfrm>
      </p:grpSpPr>
      <p:sp>
        <p:nvSpPr>
          <p:cNvPr id="926" name="Google Shape;926;p153"/>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7" name="Google Shape;927;p153"/>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chemeClr val="accent5"/>
              </a:gs>
              <a:gs pos="21000">
                <a:schemeClr val="accent5"/>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8" name="Google Shape;928;p15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29" name="Google Shape;929;p153"/>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0" name="Google Shape;930;p153"/>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31" name="Google Shape;931;p153"/>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2" name="Google Shape;932;p15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Statement with Photo">
  <p:cSld name="Big Statement with Photo">
    <p:spTree>
      <p:nvGrpSpPr>
        <p:cNvPr id="1" name="Shape 933"/>
        <p:cNvGrpSpPr/>
        <p:nvPr/>
      </p:nvGrpSpPr>
      <p:grpSpPr>
        <a:xfrm>
          <a:off x="0" y="0"/>
          <a:ext cx="0" cy="0"/>
          <a:chOff x="0" y="0"/>
          <a:chExt cx="0" cy="0"/>
        </a:xfrm>
      </p:grpSpPr>
      <p:sp>
        <p:nvSpPr>
          <p:cNvPr id="934" name="Google Shape;934;p154"/>
          <p:cNvSpPr txBox="1">
            <a:spLocks noGrp="1"/>
          </p:cNvSpPr>
          <p:nvPr>
            <p:ph type="body" idx="1"/>
          </p:nvPr>
        </p:nvSpPr>
        <p:spPr>
          <a:xfrm>
            <a:off x="608014" y="2514600"/>
            <a:ext cx="5485844" cy="18287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35" name="Google Shape;935;p154"/>
          <p:cNvSpPr>
            <a:spLocks noGrp="1"/>
          </p:cNvSpPr>
          <p:nvPr>
            <p:ph type="pic" idx="2"/>
          </p:nvPr>
        </p:nvSpPr>
        <p:spPr>
          <a:xfrm>
            <a:off x="6785687" y="69850"/>
            <a:ext cx="5403138" cy="6788150"/>
          </a:xfrm>
          <a:prstGeom prst="rect">
            <a:avLst/>
          </a:prstGeom>
          <a:noFill/>
          <a:ln>
            <a:noFill/>
          </a:ln>
        </p:spPr>
      </p:sp>
      <p:sp>
        <p:nvSpPr>
          <p:cNvPr id="936" name="Google Shape;936;p15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937" name="Google Shape;937;p15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ig Statistic">
  <p:cSld name="Big Statistic">
    <p:spTree>
      <p:nvGrpSpPr>
        <p:cNvPr id="1" name="Shape 938"/>
        <p:cNvGrpSpPr/>
        <p:nvPr/>
      </p:nvGrpSpPr>
      <p:grpSpPr>
        <a:xfrm>
          <a:off x="0" y="0"/>
          <a:ext cx="0" cy="0"/>
          <a:chOff x="0" y="0"/>
          <a:chExt cx="0" cy="0"/>
        </a:xfrm>
      </p:grpSpPr>
      <p:sp>
        <p:nvSpPr>
          <p:cNvPr id="939" name="Google Shape;939;p155"/>
          <p:cNvSpPr/>
          <p:nvPr/>
        </p:nvSpPr>
        <p:spPr>
          <a:xfrm>
            <a:off x="0" y="4332288"/>
            <a:ext cx="12188825" cy="2525712"/>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40" name="Google Shape;940;p155"/>
          <p:cNvSpPr/>
          <p:nvPr/>
        </p:nvSpPr>
        <p:spPr>
          <a:xfrm>
            <a:off x="667600" y="722997"/>
            <a:ext cx="4470400" cy="44704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41" name="Google Shape;941;p155" descr="Doughnut chart label 3"/>
          <p:cNvSpPr txBox="1">
            <a:spLocks noGrp="1"/>
          </p:cNvSpPr>
          <p:nvPr>
            <p:ph type="body" idx="1"/>
          </p:nvPr>
        </p:nvSpPr>
        <p:spPr>
          <a:xfrm>
            <a:off x="6096000" y="2514599"/>
            <a:ext cx="5027613" cy="1371601"/>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2" name="Google Shape;942;p155" descr="Doughnut chart label 1"/>
          <p:cNvSpPr txBox="1">
            <a:spLocks noGrp="1"/>
          </p:cNvSpPr>
          <p:nvPr>
            <p:ph type="body" idx="2"/>
          </p:nvPr>
        </p:nvSpPr>
        <p:spPr>
          <a:xfrm>
            <a:off x="608330"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3" name="Google Shape;943;p155" descr="Doughnut chart label 2"/>
          <p:cNvSpPr txBox="1">
            <a:spLocks noGrp="1"/>
          </p:cNvSpPr>
          <p:nvPr>
            <p:ph type="body" idx="3"/>
          </p:nvPr>
        </p:nvSpPr>
        <p:spPr>
          <a:xfrm>
            <a:off x="2436416"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4" name="Google Shape;944;p155" descr="Doughnut chart label 4"/>
          <p:cNvSpPr txBox="1">
            <a:spLocks noGrp="1"/>
          </p:cNvSpPr>
          <p:nvPr>
            <p:ph type="body" idx="4"/>
          </p:nvPr>
        </p:nvSpPr>
        <p:spPr>
          <a:xfrm>
            <a:off x="4261103"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5" name="Google Shape;945;p155" descr="Doughnut chart label 5"/>
          <p:cNvSpPr txBox="1">
            <a:spLocks noGrp="1"/>
          </p:cNvSpPr>
          <p:nvPr>
            <p:ph type="body" idx="5"/>
          </p:nvPr>
        </p:nvSpPr>
        <p:spPr>
          <a:xfrm>
            <a:off x="6088109"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6" name="Google Shape;946;p155" descr="Doughnut chart label 6"/>
          <p:cNvSpPr txBox="1">
            <a:spLocks noGrp="1"/>
          </p:cNvSpPr>
          <p:nvPr>
            <p:ph type="body" idx="6"/>
          </p:nvPr>
        </p:nvSpPr>
        <p:spPr>
          <a:xfrm>
            <a:off x="7920672"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7" name="Google Shape;947;p15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948" name="Google Shape;948;p155"/>
          <p:cNvGrpSpPr/>
          <p:nvPr/>
        </p:nvGrpSpPr>
        <p:grpSpPr>
          <a:xfrm>
            <a:off x="265625" y="6323271"/>
            <a:ext cx="1249222" cy="369649"/>
            <a:chOff x="265625" y="6323271"/>
            <a:chExt cx="1249222" cy="369649"/>
          </a:xfrm>
        </p:grpSpPr>
        <p:grpSp>
          <p:nvGrpSpPr>
            <p:cNvPr id="949" name="Google Shape;949;p155"/>
            <p:cNvGrpSpPr/>
            <p:nvPr/>
          </p:nvGrpSpPr>
          <p:grpSpPr>
            <a:xfrm>
              <a:off x="745455" y="6594444"/>
              <a:ext cx="722663" cy="98476"/>
              <a:chOff x="745455" y="6594444"/>
              <a:chExt cx="722663" cy="98476"/>
            </a:xfrm>
          </p:grpSpPr>
          <p:sp>
            <p:nvSpPr>
              <p:cNvPr id="950" name="Google Shape;950;p15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1" name="Google Shape;951;p15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2" name="Google Shape;952;p15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3" name="Google Shape;953;p15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4" name="Google Shape;954;p15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5" name="Google Shape;955;p15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6" name="Google Shape;956;p15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7" name="Google Shape;957;p15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8" name="Google Shape;958;p15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9" name="Google Shape;959;p15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960" name="Google Shape;960;p155"/>
            <p:cNvGrpSpPr/>
            <p:nvPr/>
          </p:nvGrpSpPr>
          <p:grpSpPr>
            <a:xfrm>
              <a:off x="265625" y="6323271"/>
              <a:ext cx="1249222" cy="190348"/>
              <a:chOff x="265625" y="6323271"/>
              <a:chExt cx="1249222" cy="190348"/>
            </a:xfrm>
          </p:grpSpPr>
          <p:sp>
            <p:nvSpPr>
              <p:cNvPr id="961" name="Google Shape;961;p15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2" name="Google Shape;962;p15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3" name="Google Shape;963;p15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4" name="Google Shape;964;p15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5" name="Google Shape;965;p15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6" name="Google Shape;966;p15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7" name="Google Shape;967;p15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968" name="Google Shape;968;p155"/>
          <p:cNvSpPr/>
          <p:nvPr/>
        </p:nvSpPr>
        <p:spPr>
          <a:xfrm>
            <a:off x="667600" y="722997"/>
            <a:ext cx="4470400" cy="44704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969" name="Google Shape;969;p15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grpSp>
        <p:nvGrpSpPr>
          <p:cNvPr id="970" name="Google Shape;970;p155"/>
          <p:cNvGrpSpPr/>
          <p:nvPr/>
        </p:nvGrpSpPr>
        <p:grpSpPr>
          <a:xfrm>
            <a:off x="265625" y="6323271"/>
            <a:ext cx="1249222" cy="369649"/>
            <a:chOff x="265625" y="6323271"/>
            <a:chExt cx="1249222" cy="369649"/>
          </a:xfrm>
        </p:grpSpPr>
        <p:grpSp>
          <p:nvGrpSpPr>
            <p:cNvPr id="971" name="Google Shape;971;p155"/>
            <p:cNvGrpSpPr/>
            <p:nvPr/>
          </p:nvGrpSpPr>
          <p:grpSpPr>
            <a:xfrm>
              <a:off x="745455" y="6594444"/>
              <a:ext cx="722663" cy="98476"/>
              <a:chOff x="745455" y="6594444"/>
              <a:chExt cx="722663" cy="98476"/>
            </a:xfrm>
          </p:grpSpPr>
          <p:sp>
            <p:nvSpPr>
              <p:cNvPr id="972" name="Google Shape;972;p15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3" name="Google Shape;973;p15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4" name="Google Shape;974;p15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5" name="Google Shape;975;p15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6" name="Google Shape;976;p15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7" name="Google Shape;977;p15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8" name="Google Shape;978;p15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9" name="Google Shape;979;p15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0" name="Google Shape;980;p15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1" name="Google Shape;981;p15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982" name="Google Shape;982;p155"/>
            <p:cNvGrpSpPr/>
            <p:nvPr/>
          </p:nvGrpSpPr>
          <p:grpSpPr>
            <a:xfrm>
              <a:off x="265625" y="6323271"/>
              <a:ext cx="1249222" cy="190348"/>
              <a:chOff x="265625" y="6323271"/>
              <a:chExt cx="1249222" cy="190348"/>
            </a:xfrm>
          </p:grpSpPr>
          <p:sp>
            <p:nvSpPr>
              <p:cNvPr id="983" name="Google Shape;983;p15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4" name="Google Shape;984;p15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5" name="Google Shape;985;p15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6" name="Google Shape;986;p15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7" name="Google Shape;987;p15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8" name="Google Shape;988;p15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9" name="Google Shape;989;p15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990" name="Google Shape;990;p155"/>
          <p:cNvSpPr>
            <a:spLocks noGrp="1"/>
          </p:cNvSpPr>
          <p:nvPr>
            <p:ph type="chart" idx="7"/>
          </p:nvPr>
        </p:nvSpPr>
        <p:spPr>
          <a:xfrm>
            <a:off x="662672" y="722997"/>
            <a:ext cx="4480256" cy="4480256"/>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rgbClr val="666666"/>
              </a:buClr>
              <a:buSzPts val="1800"/>
              <a:buFont typeface="Arial"/>
              <a:buChar char="​"/>
              <a:defRPr sz="20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rgbClr val="3B3B3B"/>
              </a:buClr>
              <a:buSzPts val="1620"/>
              <a:buFont typeface="Arial"/>
              <a:buChar char="•"/>
              <a:defRPr sz="1800" b="0" i="0" u="none" strike="noStrike" cap="none">
                <a:solidFill>
                  <a:schemeClr val="dk1"/>
                </a:solidFill>
                <a:latin typeface="Arial"/>
                <a:ea typeface="Arial"/>
                <a:cs typeface="Arial"/>
                <a:sym typeface="Arial"/>
              </a:defRPr>
            </a:lvl2pPr>
            <a:lvl3pPr marR="0" lvl="2" algn="l" rtl="0">
              <a:lnSpc>
                <a:spcPct val="100000"/>
              </a:lnSpc>
              <a:spcBef>
                <a:spcPts val="1200"/>
              </a:spcBef>
              <a:spcAft>
                <a:spcPts val="0"/>
              </a:spcAft>
              <a:buClr>
                <a:srgbClr val="3B3B3B"/>
              </a:buClr>
              <a:buSzPts val="144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4pPr>
            <a:lvl5pPr marR="0" lvl="4"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5pPr>
            <a:lvl6pPr marR="0" lvl="5"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6pPr>
            <a:lvl7pPr marR="0" lvl="6" algn="l" rtl="0">
              <a:lnSpc>
                <a:spcPct val="100000"/>
              </a:lnSpc>
              <a:spcBef>
                <a:spcPts val="1200"/>
              </a:spcBef>
              <a:spcAft>
                <a:spcPts val="0"/>
              </a:spcAft>
              <a:buClr>
                <a:srgbClr val="3B3B3B"/>
              </a:buClr>
              <a:buSzPts val="1260"/>
              <a:buFont typeface="NTR"/>
              <a:buChar char="-"/>
              <a:defRPr sz="1400" b="0" i="0" u="none" strike="noStrike" cap="none">
                <a:solidFill>
                  <a:schemeClr val="dk1"/>
                </a:solidFill>
                <a:latin typeface="Arial"/>
                <a:ea typeface="Arial"/>
                <a:cs typeface="Arial"/>
                <a:sym typeface="Arial"/>
              </a:defRPr>
            </a:lvl7pPr>
            <a:lvl8pPr marR="0" lvl="7"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8pPr>
            <a:lvl9pPr marR="0" lvl="8" algn="l" rtl="0">
              <a:lnSpc>
                <a:spcPct val="100000"/>
              </a:lnSpc>
              <a:spcBef>
                <a:spcPts val="1200"/>
              </a:spcBef>
              <a:spcAft>
                <a:spcPts val="1200"/>
              </a:spcAft>
              <a:buClr>
                <a:srgbClr val="3B3B3B"/>
              </a:buClr>
              <a:buSzPts val="1260"/>
              <a:buFont typeface="NTR"/>
              <a:buChar char="-"/>
              <a:defRPr sz="1400" b="0" i="0" u="none" strike="noStrike" cap="none">
                <a:solidFill>
                  <a:schemeClr val="dk1"/>
                </a:solidFill>
                <a:latin typeface="Arial"/>
                <a:ea typeface="Arial"/>
                <a:cs typeface="Arial"/>
                <a:sym typeface="Arial"/>
              </a:defRPr>
            </a:lvl9pPr>
          </a:lstStyle>
          <a:p>
            <a:endParaRPr/>
          </a:p>
        </p:txBody>
      </p:sp>
      <p:sp>
        <p:nvSpPr>
          <p:cNvPr id="991" name="Google Shape;991;p155"/>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Thank You / Closing - Leaf">
  <p:cSld name="Thank You / Closing - Leaf">
    <p:spTree>
      <p:nvGrpSpPr>
        <p:cNvPr id="1" name="Shape 992"/>
        <p:cNvGrpSpPr/>
        <p:nvPr/>
      </p:nvGrpSpPr>
      <p:grpSpPr>
        <a:xfrm>
          <a:off x="0" y="0"/>
          <a:ext cx="0" cy="0"/>
          <a:chOff x="0" y="0"/>
          <a:chExt cx="0" cy="0"/>
        </a:xfrm>
      </p:grpSpPr>
      <p:sp>
        <p:nvSpPr>
          <p:cNvPr id="993" name="Google Shape;993;p156"/>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rgbClr val="61A30E"/>
              </a:gs>
              <a:gs pos="12000">
                <a:srgbClr val="61A30E"/>
              </a:gs>
              <a:gs pos="85000">
                <a:srgbClr val="0095C4"/>
              </a:gs>
              <a:gs pos="100000">
                <a:srgbClr val="0095C4"/>
              </a:gs>
            </a:gsLst>
            <a:lin ang="1889997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4" name="Google Shape;994;p156"/>
          <p:cNvSpPr/>
          <p:nvPr/>
        </p:nvSpPr>
        <p:spPr>
          <a:xfrm>
            <a:off x="0" y="0"/>
            <a:ext cx="12188827"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5" name="Google Shape;995;p156"/>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cap="none">
                <a:solidFill>
                  <a:schemeClr val="accent2"/>
                </a:solidFill>
                <a:latin typeface="Arial"/>
                <a:ea typeface="Arial"/>
                <a:cs typeface="Arial"/>
                <a:sym typeface="Arial"/>
              </a:rPr>
              <a:t>Thank You</a:t>
            </a:r>
            <a:endParaRPr/>
          </a:p>
        </p:txBody>
      </p:sp>
      <p:grpSp>
        <p:nvGrpSpPr>
          <p:cNvPr id="996" name="Google Shape;996;p156"/>
          <p:cNvGrpSpPr/>
          <p:nvPr/>
        </p:nvGrpSpPr>
        <p:grpSpPr>
          <a:xfrm>
            <a:off x="265625" y="6323271"/>
            <a:ext cx="1249222" cy="369649"/>
            <a:chOff x="265625" y="6323271"/>
            <a:chExt cx="1249222" cy="369649"/>
          </a:xfrm>
        </p:grpSpPr>
        <p:grpSp>
          <p:nvGrpSpPr>
            <p:cNvPr id="997" name="Google Shape;997;p156"/>
            <p:cNvGrpSpPr/>
            <p:nvPr/>
          </p:nvGrpSpPr>
          <p:grpSpPr>
            <a:xfrm>
              <a:off x="745455" y="6594444"/>
              <a:ext cx="722663" cy="98476"/>
              <a:chOff x="745455" y="6594444"/>
              <a:chExt cx="722663" cy="98476"/>
            </a:xfrm>
          </p:grpSpPr>
          <p:sp>
            <p:nvSpPr>
              <p:cNvPr id="998" name="Google Shape;998;p156"/>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9" name="Google Shape;999;p156"/>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0" name="Google Shape;1000;p156"/>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1" name="Google Shape;1001;p156"/>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2" name="Google Shape;1002;p156"/>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3" name="Google Shape;1003;p156"/>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4" name="Google Shape;1004;p156"/>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5" name="Google Shape;1005;p156"/>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6" name="Google Shape;1006;p156"/>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7" name="Google Shape;1007;p156"/>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08" name="Google Shape;1008;p156"/>
            <p:cNvGrpSpPr/>
            <p:nvPr/>
          </p:nvGrpSpPr>
          <p:grpSpPr>
            <a:xfrm>
              <a:off x="265625" y="6323271"/>
              <a:ext cx="1249222" cy="190348"/>
              <a:chOff x="265625" y="6323271"/>
              <a:chExt cx="1249222" cy="190348"/>
            </a:xfrm>
          </p:grpSpPr>
          <p:sp>
            <p:nvSpPr>
              <p:cNvPr id="1009" name="Google Shape;1009;p156"/>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0" name="Google Shape;1010;p156"/>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1" name="Google Shape;1011;p156"/>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2" name="Google Shape;1012;p156"/>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3" name="Google Shape;1013;p156"/>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4" name="Google Shape;1014;p156"/>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5" name="Google Shape;1015;p156"/>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016" name="Google Shape;1016;p156"/>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7" name="Google Shape;1017;p156"/>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8" name="Google Shape;1018;p156"/>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Thank You / Closing - Aqua">
  <p:cSld name="Thank You / Closing - Aqua">
    <p:spTree>
      <p:nvGrpSpPr>
        <p:cNvPr id="1" name="Shape 1019"/>
        <p:cNvGrpSpPr/>
        <p:nvPr/>
      </p:nvGrpSpPr>
      <p:grpSpPr>
        <a:xfrm>
          <a:off x="0" y="0"/>
          <a:ext cx="0" cy="0"/>
          <a:chOff x="0" y="0"/>
          <a:chExt cx="0" cy="0"/>
        </a:xfrm>
      </p:grpSpPr>
      <p:sp>
        <p:nvSpPr>
          <p:cNvPr id="1020" name="Google Shape;1020;p157"/>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chemeClr val="accent2"/>
              </a:gs>
              <a:gs pos="12000">
                <a:schemeClr val="accent2"/>
              </a:gs>
              <a:gs pos="85000">
                <a:srgbClr val="0095C4"/>
              </a:gs>
              <a:gs pos="100000">
                <a:srgbClr val="0095C4"/>
              </a:gs>
            </a:gsLst>
            <a:lin ang="1889997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1" name="Google Shape;1021;p157"/>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2" name="Google Shape;1022;p157"/>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cap="none">
                <a:solidFill>
                  <a:schemeClr val="accent2"/>
                </a:solidFill>
                <a:latin typeface="Arial"/>
                <a:ea typeface="Arial"/>
                <a:cs typeface="Arial"/>
                <a:sym typeface="Arial"/>
              </a:rPr>
              <a:t>Thank You</a:t>
            </a:r>
            <a:endParaRPr/>
          </a:p>
        </p:txBody>
      </p:sp>
      <p:sp>
        <p:nvSpPr>
          <p:cNvPr id="1023" name="Google Shape;1023;p157"/>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1024" name="Google Shape;1024;p157"/>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1025" name="Google Shape;1025;p157"/>
          <p:cNvGrpSpPr/>
          <p:nvPr/>
        </p:nvGrpSpPr>
        <p:grpSpPr>
          <a:xfrm>
            <a:off x="265625" y="6323271"/>
            <a:ext cx="1249222" cy="369649"/>
            <a:chOff x="265625" y="6323271"/>
            <a:chExt cx="1249222" cy="369649"/>
          </a:xfrm>
        </p:grpSpPr>
        <p:grpSp>
          <p:nvGrpSpPr>
            <p:cNvPr id="1026" name="Google Shape;1026;p157"/>
            <p:cNvGrpSpPr/>
            <p:nvPr/>
          </p:nvGrpSpPr>
          <p:grpSpPr>
            <a:xfrm>
              <a:off x="745455" y="6594444"/>
              <a:ext cx="722663" cy="98476"/>
              <a:chOff x="745455" y="6594444"/>
              <a:chExt cx="722663" cy="98476"/>
            </a:xfrm>
          </p:grpSpPr>
          <p:sp>
            <p:nvSpPr>
              <p:cNvPr id="1027" name="Google Shape;1027;p15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8" name="Google Shape;1028;p15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9" name="Google Shape;1029;p15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0" name="Google Shape;1030;p15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1" name="Google Shape;1031;p15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2" name="Google Shape;1032;p15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3" name="Google Shape;1033;p15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4" name="Google Shape;1034;p15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5" name="Google Shape;1035;p15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6" name="Google Shape;1036;p15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37" name="Google Shape;1037;p157"/>
            <p:cNvGrpSpPr/>
            <p:nvPr/>
          </p:nvGrpSpPr>
          <p:grpSpPr>
            <a:xfrm>
              <a:off x="265625" y="6323271"/>
              <a:ext cx="1249222" cy="190348"/>
              <a:chOff x="265625" y="6323271"/>
              <a:chExt cx="1249222" cy="190348"/>
            </a:xfrm>
          </p:grpSpPr>
          <p:sp>
            <p:nvSpPr>
              <p:cNvPr id="1038" name="Google Shape;1038;p15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9" name="Google Shape;1039;p15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0" name="Google Shape;1040;p15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1" name="Google Shape;1041;p15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2" name="Google Shape;1042;p15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3" name="Google Shape;1043;p15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4" name="Google Shape;1044;p15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045" name="Google Shape;1045;p157"/>
          <p:cNvSpPr/>
          <p:nvPr/>
        </p:nvSpPr>
        <p:spPr>
          <a:xfrm>
            <a:off x="0" y="0"/>
            <a:ext cx="12188827"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6" name="Google Shape;1046;p157"/>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7" name="Google Shape;1047;p157"/>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cap="none">
                <a:solidFill>
                  <a:schemeClr val="accent2"/>
                </a:solidFill>
                <a:latin typeface="Arial"/>
                <a:ea typeface="Arial"/>
                <a:cs typeface="Arial"/>
                <a:sym typeface="Arial"/>
              </a:rPr>
              <a:t>Thank You</a:t>
            </a:r>
            <a:endParaRPr/>
          </a:p>
        </p:txBody>
      </p:sp>
      <p:grpSp>
        <p:nvGrpSpPr>
          <p:cNvPr id="1048" name="Google Shape;1048;p157"/>
          <p:cNvGrpSpPr/>
          <p:nvPr/>
        </p:nvGrpSpPr>
        <p:grpSpPr>
          <a:xfrm>
            <a:off x="265625" y="6323271"/>
            <a:ext cx="1249222" cy="369649"/>
            <a:chOff x="265625" y="6323271"/>
            <a:chExt cx="1249222" cy="369649"/>
          </a:xfrm>
        </p:grpSpPr>
        <p:grpSp>
          <p:nvGrpSpPr>
            <p:cNvPr id="1049" name="Google Shape;1049;p157"/>
            <p:cNvGrpSpPr/>
            <p:nvPr/>
          </p:nvGrpSpPr>
          <p:grpSpPr>
            <a:xfrm>
              <a:off x="745455" y="6594444"/>
              <a:ext cx="722663" cy="98476"/>
              <a:chOff x="745455" y="6594444"/>
              <a:chExt cx="722663" cy="98476"/>
            </a:xfrm>
          </p:grpSpPr>
          <p:sp>
            <p:nvSpPr>
              <p:cNvPr id="1050" name="Google Shape;1050;p15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1" name="Google Shape;1051;p15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2" name="Google Shape;1052;p15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3" name="Google Shape;1053;p15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4" name="Google Shape;1054;p15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5" name="Google Shape;1055;p15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6" name="Google Shape;1056;p15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7" name="Google Shape;1057;p15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8" name="Google Shape;1058;p15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9" name="Google Shape;1059;p15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60" name="Google Shape;1060;p157"/>
            <p:cNvGrpSpPr/>
            <p:nvPr/>
          </p:nvGrpSpPr>
          <p:grpSpPr>
            <a:xfrm>
              <a:off x="265625" y="6323271"/>
              <a:ext cx="1249222" cy="190348"/>
              <a:chOff x="265625" y="6323271"/>
              <a:chExt cx="1249222" cy="190348"/>
            </a:xfrm>
          </p:grpSpPr>
          <p:sp>
            <p:nvSpPr>
              <p:cNvPr id="1061" name="Google Shape;1061;p15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2" name="Google Shape;1062;p15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3" name="Google Shape;1063;p15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4" name="Google Shape;1064;p15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5" name="Google Shape;1065;p15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6" name="Google Shape;1066;p15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7" name="Google Shape;1067;p15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068" name="Google Shape;1068;p157"/>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201521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1_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053335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01"/>
          <p:cNvSpPr txBox="1">
            <a:spLocks noGrp="1"/>
          </p:cNvSpPr>
          <p:nvPr>
            <p:ph type="body" idx="1"/>
          </p:nvPr>
        </p:nvSpPr>
        <p:spPr>
          <a:xfrm>
            <a:off x="609441" y="1600203"/>
            <a:ext cx="10969943" cy="4580461"/>
          </a:xfrm>
          <a:prstGeom prst="rect">
            <a:avLst/>
          </a:prstGeom>
          <a:noFill/>
          <a:ln>
            <a:noFill/>
          </a:ln>
        </p:spPr>
        <p:txBody>
          <a:bodyPr spcFirstLastPara="1" wrap="square" lIns="0" tIns="0" rIns="0" bIns="0" anchor="t" anchorCtr="0">
            <a:noAutofit/>
          </a:bodyPr>
          <a:lstStyle>
            <a:lvl1pPr marL="457200" marR="0" lvl="0" indent="-342900" algn="l" rtl="0">
              <a:lnSpc>
                <a:spcPct val="100000"/>
              </a:lnSpc>
              <a:spcBef>
                <a:spcPts val="0"/>
              </a:spcBef>
              <a:spcAft>
                <a:spcPts val="0"/>
              </a:spcAft>
              <a:buClr>
                <a:srgbClr val="666666"/>
              </a:buClr>
              <a:buSzPts val="1800"/>
              <a:buFont typeface="Arial"/>
              <a:buChar char="​"/>
              <a:defRPr sz="2000" b="0" i="0" u="none" strike="noStrike" cap="none">
                <a:solidFill>
                  <a:schemeClr val="dk1"/>
                </a:solidFill>
                <a:latin typeface="Arial"/>
                <a:ea typeface="Arial"/>
                <a:cs typeface="Arial"/>
                <a:sym typeface="Arial"/>
              </a:defRPr>
            </a:lvl1pPr>
            <a:lvl2pPr marL="914400" marR="0" lvl="1" indent="-331469" algn="l" rtl="0">
              <a:lnSpc>
                <a:spcPct val="100000"/>
              </a:lnSpc>
              <a:spcBef>
                <a:spcPts val="1200"/>
              </a:spcBef>
              <a:spcAft>
                <a:spcPts val="0"/>
              </a:spcAft>
              <a:buClr>
                <a:srgbClr val="3B3B3B"/>
              </a:buClr>
              <a:buSzPts val="1620"/>
              <a:buFont typeface="Arial"/>
              <a:buChar char="•"/>
              <a:defRPr sz="1800" b="0" i="0" u="none" strike="noStrike" cap="none">
                <a:solidFill>
                  <a:schemeClr val="dk1"/>
                </a:solidFill>
                <a:latin typeface="Arial"/>
                <a:ea typeface="Arial"/>
                <a:cs typeface="Arial"/>
                <a:sym typeface="Arial"/>
              </a:defRPr>
            </a:lvl2pPr>
            <a:lvl3pPr marL="1371600" marR="0" lvl="2" indent="-320039" algn="l" rtl="0">
              <a:lnSpc>
                <a:spcPct val="100000"/>
              </a:lnSpc>
              <a:spcBef>
                <a:spcPts val="1200"/>
              </a:spcBef>
              <a:spcAft>
                <a:spcPts val="0"/>
              </a:spcAft>
              <a:buClr>
                <a:srgbClr val="3B3B3B"/>
              </a:buClr>
              <a:buSzPts val="1440"/>
              <a:buFont typeface="Arial"/>
              <a:buChar char="–"/>
              <a:defRPr sz="1600" b="0" i="0" u="none" strike="noStrike" cap="none">
                <a:solidFill>
                  <a:schemeClr val="dk1"/>
                </a:solidFill>
                <a:latin typeface="Arial"/>
                <a:ea typeface="Arial"/>
                <a:cs typeface="Arial"/>
                <a:sym typeface="Arial"/>
              </a:defRPr>
            </a:lvl3pPr>
            <a:lvl4pPr marL="1828800" marR="0" lvl="3" indent="-308610"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4pPr>
            <a:lvl5pPr marL="2286000" marR="0" lvl="4" indent="-308610"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5pPr>
            <a:lvl6pPr marL="2743200" marR="0" lvl="5" indent="-308610"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6pPr>
            <a:lvl7pPr marL="3200400" marR="0" lvl="6" indent="-308610" algn="l" rtl="0">
              <a:lnSpc>
                <a:spcPct val="100000"/>
              </a:lnSpc>
              <a:spcBef>
                <a:spcPts val="1200"/>
              </a:spcBef>
              <a:spcAft>
                <a:spcPts val="0"/>
              </a:spcAft>
              <a:buClr>
                <a:srgbClr val="3B3B3B"/>
              </a:buClr>
              <a:buSzPts val="1260"/>
              <a:buFont typeface="NTR"/>
              <a:buChar char="-"/>
              <a:defRPr sz="1400" b="0" i="0" u="none" strike="noStrike" cap="none">
                <a:solidFill>
                  <a:schemeClr val="dk1"/>
                </a:solidFill>
                <a:latin typeface="Arial"/>
                <a:ea typeface="Arial"/>
                <a:cs typeface="Arial"/>
                <a:sym typeface="Arial"/>
              </a:defRPr>
            </a:lvl7pPr>
            <a:lvl8pPr marL="3657600" marR="0" lvl="7" indent="-308609" algn="l" rtl="0">
              <a:lnSpc>
                <a:spcPct val="100000"/>
              </a:lnSpc>
              <a:spcBef>
                <a:spcPts val="1200"/>
              </a:spcBef>
              <a:spcAft>
                <a:spcPts val="0"/>
              </a:spcAft>
              <a:buClr>
                <a:srgbClr val="3B3B3B"/>
              </a:buClr>
              <a:buSzPts val="1260"/>
              <a:buFont typeface="Arial"/>
              <a:buChar char="•"/>
              <a:defRPr sz="1400" b="0" i="0" u="none" strike="noStrike" cap="none">
                <a:solidFill>
                  <a:schemeClr val="dk1"/>
                </a:solidFill>
                <a:latin typeface="Arial"/>
                <a:ea typeface="Arial"/>
                <a:cs typeface="Arial"/>
                <a:sym typeface="Arial"/>
              </a:defRPr>
            </a:lvl8pPr>
            <a:lvl9pPr marL="4114800" marR="0" lvl="8" indent="-308609" algn="l" rtl="0">
              <a:lnSpc>
                <a:spcPct val="100000"/>
              </a:lnSpc>
              <a:spcBef>
                <a:spcPts val="1200"/>
              </a:spcBef>
              <a:spcAft>
                <a:spcPts val="1200"/>
              </a:spcAft>
              <a:buClr>
                <a:srgbClr val="3B3B3B"/>
              </a:buClr>
              <a:buSzPts val="1260"/>
              <a:buFont typeface="NTR"/>
              <a:buChar char="-"/>
              <a:defRPr sz="1400" b="0" i="0" u="none" strike="noStrike" cap="none">
                <a:solidFill>
                  <a:schemeClr val="dk1"/>
                </a:solidFill>
                <a:latin typeface="Arial"/>
                <a:ea typeface="Arial"/>
                <a:cs typeface="Arial"/>
                <a:sym typeface="Arial"/>
              </a:defRPr>
            </a:lvl9pPr>
          </a:lstStyle>
          <a:p>
            <a:endParaRPr/>
          </a:p>
        </p:txBody>
      </p:sp>
      <p:grpSp>
        <p:nvGrpSpPr>
          <p:cNvPr id="12" name="Google Shape;12;p101"/>
          <p:cNvGrpSpPr/>
          <p:nvPr/>
        </p:nvGrpSpPr>
        <p:grpSpPr>
          <a:xfrm>
            <a:off x="265625" y="6323271"/>
            <a:ext cx="1249222" cy="369649"/>
            <a:chOff x="265625" y="6323271"/>
            <a:chExt cx="1249222" cy="369649"/>
          </a:xfrm>
        </p:grpSpPr>
        <p:grpSp>
          <p:nvGrpSpPr>
            <p:cNvPr id="13" name="Google Shape;13;p101"/>
            <p:cNvGrpSpPr/>
            <p:nvPr/>
          </p:nvGrpSpPr>
          <p:grpSpPr>
            <a:xfrm>
              <a:off x="745455" y="6594444"/>
              <a:ext cx="722663" cy="98476"/>
              <a:chOff x="745455" y="6594444"/>
              <a:chExt cx="722663" cy="98476"/>
            </a:xfrm>
          </p:grpSpPr>
          <p:sp>
            <p:nvSpPr>
              <p:cNvPr id="14" name="Google Shape;14;p101"/>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101"/>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101"/>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101"/>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101"/>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01"/>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101"/>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101"/>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101"/>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101"/>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4" name="Google Shape;24;p101"/>
            <p:cNvGrpSpPr/>
            <p:nvPr/>
          </p:nvGrpSpPr>
          <p:grpSpPr>
            <a:xfrm>
              <a:off x="265625" y="6323271"/>
              <a:ext cx="1249222" cy="190348"/>
              <a:chOff x="265625" y="6323271"/>
              <a:chExt cx="1249222" cy="190348"/>
            </a:xfrm>
          </p:grpSpPr>
          <p:sp>
            <p:nvSpPr>
              <p:cNvPr id="25" name="Google Shape;25;p101"/>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101"/>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101"/>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 name="Google Shape;28;p101"/>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29;p101"/>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 name="Google Shape;30;p101"/>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 name="Google Shape;31;p101"/>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2" name="Google Shape;32;p101"/>
          <p:cNvSpPr/>
          <p:nvPr/>
        </p:nvSpPr>
        <p:spPr>
          <a:xfrm>
            <a:off x="0" y="0"/>
            <a:ext cx="12188825" cy="74871"/>
          </a:xfrm>
          <a:custGeom>
            <a:avLst/>
            <a:gdLst/>
            <a:ahLst/>
            <a:cxnLst/>
            <a:rect l="l" t="t" r="r" b="b"/>
            <a:pathLst>
              <a:path w="12185715" h="74871" extrusionOk="0">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 name="Google Shape;33;p101"/>
          <p:cNvSpPr txBox="1"/>
          <p:nvPr/>
        </p:nvSpPr>
        <p:spPr>
          <a:xfrm>
            <a:off x="1645084" y="6461498"/>
            <a:ext cx="357469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2025 Broadcom.  </a:t>
            </a:r>
            <a:endParaRPr/>
          </a:p>
          <a:p>
            <a:pPr marL="0" marR="0" lvl="0" indent="0" algn="l" rtl="0">
              <a:lnSpc>
                <a:spcPct val="100000"/>
              </a:lnSpc>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All Rights Reserved. The term “Broadcom” refers to Broadcom Inc. and/or its subsidiaries.</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7" r:id="rId13"/>
    <p:sldLayoutId id="2147483668" r:id="rId14"/>
    <p:sldLayoutId id="2147483669" r:id="rId15"/>
    <p:sldLayoutId id="2147483670" r:id="rId16"/>
    <p:sldLayoutId id="2147483671" r:id="rId17"/>
    <p:sldLayoutId id="2147483672" r:id="rId18"/>
    <p:sldLayoutId id="2147483674" r:id="rId19"/>
    <p:sldLayoutId id="2147483675" r:id="rId20"/>
    <p:sldLayoutId id="2147483676" r:id="rId21"/>
    <p:sldLayoutId id="2147483678" r:id="rId22"/>
    <p:sldLayoutId id="2147483679" r:id="rId23"/>
    <p:sldLayoutId id="2147483680" r:id="rId24"/>
    <p:sldLayoutId id="2147483681" r:id="rId25"/>
    <p:sldLayoutId id="2147483682" r:id="rId26"/>
    <p:sldLayoutId id="2147483683" r:id="rId27"/>
    <p:sldLayoutId id="2147483684" r:id="rId28"/>
    <p:sldLayoutId id="2147483685" r:id="rId29"/>
    <p:sldLayoutId id="2147483686" r:id="rId30"/>
    <p:sldLayoutId id="2147483687" r:id="rId31"/>
    <p:sldLayoutId id="2147483688" r:id="rId32"/>
    <p:sldLayoutId id="2147483689" r:id="rId33"/>
    <p:sldLayoutId id="2147483690" r:id="rId34"/>
    <p:sldLayoutId id="2147483691" r:id="rId35"/>
    <p:sldLayoutId id="2147483692" r:id="rId36"/>
    <p:sldLayoutId id="2147483693" r:id="rId37"/>
    <p:sldLayoutId id="2147483694" r:id="rId38"/>
    <p:sldLayoutId id="2147483695" r:id="rId39"/>
    <p:sldLayoutId id="2147483696" r:id="rId40"/>
    <p:sldLayoutId id="2147483697" r:id="rId41"/>
    <p:sldLayoutId id="2147483698" r:id="rId42"/>
    <p:sldLayoutId id="2147484016" r:id="rId43"/>
    <p:sldLayoutId id="2147484017" r:id="rId44"/>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3.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1.png"/><Relationship Id="rId10" Type="http://schemas.openxmlformats.org/officeDocument/2006/relationships/image" Target="../media/image24.png"/><Relationship Id="rId4" Type="http://schemas.openxmlformats.org/officeDocument/2006/relationships/image" Target="../media/image3.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3" Type="http://schemas.openxmlformats.org/officeDocument/2006/relationships/image" Target="../media/image25.png"/><Relationship Id="rId7" Type="http://schemas.openxmlformats.org/officeDocument/2006/relationships/image" Target="../media/image28.svg"/><Relationship Id="rId12"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43.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3.png"/><Relationship Id="rId10" Type="http://schemas.openxmlformats.org/officeDocument/2006/relationships/image" Target="../media/image31.png"/><Relationship Id="rId4" Type="http://schemas.openxmlformats.org/officeDocument/2006/relationships/image" Target="../media/image26.svg"/><Relationship Id="rId9" Type="http://schemas.openxmlformats.org/officeDocument/2006/relationships/image" Target="../media/image30.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44.xml"/><Relationship Id="rId5" Type="http://schemas.openxmlformats.org/officeDocument/2006/relationships/image" Target="../media/image61.svg"/><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64.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svg"/><Relationship Id="rId2" Type="http://schemas.openxmlformats.org/officeDocument/2006/relationships/notesSlide" Target="../notesSlides/notesSlide31.xml"/><Relationship Id="rId1" Type="http://schemas.openxmlformats.org/officeDocument/2006/relationships/slideLayout" Target="../slideLayouts/slideLayout44.xml"/><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3.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43.xml"/></Relationships>
</file>

<file path=ppt/slides/_rels/slide3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92.png"/></Relationships>
</file>

<file path=ppt/slides/_rels/slide3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95.png"/></Relationships>
</file>

<file path=ppt/slides/_rels/slide4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3.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notesSlide" Target="../notesSlides/notesSlide43.xml"/><Relationship Id="rId1" Type="http://schemas.openxmlformats.org/officeDocument/2006/relationships/slideLayout" Target="../slideLayouts/slideLayout5.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s>
</file>

<file path=ppt/slides/_rels/slide4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02.png"/></Relationships>
</file>

<file path=ppt/slides/_rels/slide4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4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7.xml"/><Relationship Id="rId1" Type="http://schemas.openxmlformats.org/officeDocument/2006/relationships/slideLayout" Target="../slideLayouts/slideLayout4.xml"/><Relationship Id="rId5" Type="http://schemas.openxmlformats.org/officeDocument/2006/relationships/image" Target="../media/image109.png"/><Relationship Id="rId4" Type="http://schemas.openxmlformats.org/officeDocument/2006/relationships/image" Target="../media/image108.png"/></Relationships>
</file>

<file path=ppt/slides/_rels/slide4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111.png"/></Relationships>
</file>

<file path=ppt/slides/_rels/slide4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4224"/>
        <p:cNvGrpSpPr/>
        <p:nvPr/>
      </p:nvGrpSpPr>
      <p:grpSpPr>
        <a:xfrm>
          <a:off x="0" y="0"/>
          <a:ext cx="0" cy="0"/>
          <a:chOff x="0" y="0"/>
          <a:chExt cx="0" cy="0"/>
        </a:xfrm>
      </p:grpSpPr>
      <p:sp>
        <p:nvSpPr>
          <p:cNvPr id="4225" name="Google Shape;4225;p1"/>
          <p:cNvSpPr txBox="1">
            <a:spLocks noGrp="1"/>
          </p:cNvSpPr>
          <p:nvPr>
            <p:ph type="title"/>
          </p:nvPr>
        </p:nvSpPr>
        <p:spPr>
          <a:xfrm>
            <a:off x="590320" y="457200"/>
            <a:ext cx="11363032" cy="366254"/>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solidFill>
                  <a:schemeClr val="accent2"/>
                </a:solidFill>
                <a:latin typeface="Arial"/>
                <a:ea typeface="Arial"/>
                <a:cs typeface="Arial"/>
                <a:sym typeface="Arial"/>
              </a:rPr>
              <a:t>About This Presentation</a:t>
            </a:r>
            <a:endParaRPr dirty="0"/>
          </a:p>
        </p:txBody>
      </p:sp>
      <p:graphicFrame>
        <p:nvGraphicFramePr>
          <p:cNvPr id="4226" name="Google Shape;4226;p1"/>
          <p:cNvGraphicFramePr/>
          <p:nvPr/>
        </p:nvGraphicFramePr>
        <p:xfrm>
          <a:off x="540589" y="1073385"/>
          <a:ext cx="11107650" cy="4306390"/>
        </p:xfrm>
        <a:graphic>
          <a:graphicData uri="http://schemas.openxmlformats.org/drawingml/2006/table">
            <a:tbl>
              <a:tblPr>
                <a:noFill/>
                <a:tableStyleId>{F117D872-F00E-4F84-AD6C-63B9452FA8F9}</a:tableStyleId>
              </a:tblPr>
              <a:tblGrid>
                <a:gridCol w="1992750">
                  <a:extLst>
                    <a:ext uri="{9D8B030D-6E8A-4147-A177-3AD203B41FA5}">
                      <a16:colId xmlns:a16="http://schemas.microsoft.com/office/drawing/2014/main" val="20000"/>
                    </a:ext>
                  </a:extLst>
                </a:gridCol>
                <a:gridCol w="9114900">
                  <a:extLst>
                    <a:ext uri="{9D8B030D-6E8A-4147-A177-3AD203B41FA5}">
                      <a16:colId xmlns:a16="http://schemas.microsoft.com/office/drawing/2014/main" val="20001"/>
                    </a:ext>
                  </a:extLst>
                </a:gridCol>
              </a:tblGrid>
              <a:tr h="294375">
                <a:tc>
                  <a:txBody>
                    <a:bodyPr/>
                    <a:lstStyle/>
                    <a:p>
                      <a:pPr marL="0" marR="0" lvl="0" indent="0" algn="l" rtl="0">
                        <a:spcBef>
                          <a:spcPts val="0"/>
                        </a:spcBef>
                        <a:spcAft>
                          <a:spcPts val="0"/>
                        </a:spcAft>
                        <a:buNone/>
                      </a:pPr>
                      <a:r>
                        <a:rPr lang="en-US" sz="1100" b="1" i="0" u="none" strike="noStrike" cap="none" dirty="0">
                          <a:solidFill>
                            <a:srgbClr val="3B3B3B"/>
                          </a:solidFill>
                          <a:latin typeface="Arial"/>
                          <a:ea typeface="Arial"/>
                          <a:cs typeface="Arial"/>
                          <a:sym typeface="Arial"/>
                        </a:rPr>
                        <a:t>Author(s)</a:t>
                      </a:r>
                      <a:endParaRPr dirty="0"/>
                    </a:p>
                  </a:txBody>
                  <a:tcPr marL="182825" marR="182825" marT="109700" marB="100550">
                    <a:solidFill>
                      <a:srgbClr val="F4F8FB"/>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US" sz="1100" b="0" i="0" u="none" strike="noStrike" cap="none" dirty="0">
                          <a:solidFill>
                            <a:schemeClr val="dk1"/>
                          </a:solidFill>
                          <a:latin typeface="Arial"/>
                          <a:ea typeface="Arial"/>
                          <a:cs typeface="Arial"/>
                          <a:sym typeface="Arial"/>
                        </a:rPr>
                        <a:t>VCF Technical Marketing | VMware by Broadcom</a:t>
                      </a:r>
                      <a:endParaRPr sz="1100" b="0" i="0" u="none" strike="noStrike" cap="none" dirty="0">
                        <a:solidFill>
                          <a:schemeClr val="dk1"/>
                        </a:solidFill>
                        <a:latin typeface="Arial"/>
                        <a:ea typeface="Arial"/>
                        <a:cs typeface="Arial"/>
                        <a:sym typeface="Arial"/>
                      </a:endParaRPr>
                    </a:p>
                  </a:txBody>
                  <a:tcPr marL="182825" marR="182825" marT="109700" marB="100550">
                    <a:solidFill>
                      <a:srgbClr val="F4F8FB"/>
                    </a:solidFill>
                  </a:tcPr>
                </a:tc>
                <a:extLst>
                  <a:ext uri="{0D108BD9-81ED-4DB2-BD59-A6C34878D82A}">
                    <a16:rowId xmlns:a16="http://schemas.microsoft.com/office/drawing/2014/main" val="10000"/>
                  </a:ext>
                </a:extLst>
              </a:tr>
              <a:tr h="804875">
                <a:tc>
                  <a:txBody>
                    <a:bodyPr/>
                    <a:lstStyle/>
                    <a:p>
                      <a:pPr marL="0" marR="0" lvl="0" indent="0" algn="l" rtl="0">
                        <a:lnSpc>
                          <a:spcPct val="100000"/>
                        </a:lnSpc>
                        <a:spcBef>
                          <a:spcPts val="0"/>
                        </a:spcBef>
                        <a:spcAft>
                          <a:spcPts val="0"/>
                        </a:spcAft>
                        <a:buClr>
                          <a:srgbClr val="3B3B3B"/>
                        </a:buClr>
                        <a:buSzPts val="1100"/>
                        <a:buFont typeface="Arial"/>
                        <a:buNone/>
                      </a:pPr>
                      <a:r>
                        <a:rPr lang="en-US" sz="1100" b="1" i="0" u="none" strike="noStrike" cap="none">
                          <a:solidFill>
                            <a:srgbClr val="3B3B3B"/>
                          </a:solidFill>
                          <a:latin typeface="Arial"/>
                          <a:ea typeface="Arial"/>
                          <a:cs typeface="Arial"/>
                          <a:sym typeface="Arial"/>
                        </a:rPr>
                        <a:t>How to use this deck</a:t>
                      </a:r>
                      <a:endParaRPr/>
                    </a:p>
                  </a:txBody>
                  <a:tcPr marL="182825" marR="182825" marT="109700" marB="100550"/>
                </a:tc>
                <a:tc>
                  <a:txBody>
                    <a:bodyPr/>
                    <a:lstStyle/>
                    <a:p>
                      <a:pPr marL="0" marR="0" lvl="0" indent="0" algn="l"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This </a:t>
                      </a:r>
                      <a:r>
                        <a:rPr lang="en-US" sz="1100" b="1" i="0" u="none" strike="noStrike" cap="none">
                          <a:solidFill>
                            <a:schemeClr val="accent2"/>
                          </a:solidFill>
                          <a:latin typeface="Arial"/>
                          <a:ea typeface="Arial"/>
                          <a:cs typeface="Arial"/>
                          <a:sym typeface="Arial"/>
                        </a:rPr>
                        <a:t>VCF What’s New Technical </a:t>
                      </a:r>
                      <a:r>
                        <a:rPr lang="en-US" sz="1100" b="0" i="0" u="none" strike="noStrike" cap="none">
                          <a:solidFill>
                            <a:schemeClr val="dk1"/>
                          </a:solidFill>
                          <a:latin typeface="Arial"/>
                          <a:ea typeface="Arial"/>
                          <a:cs typeface="Arial"/>
                          <a:sym typeface="Arial"/>
                        </a:rPr>
                        <a:t>presentation discusses new features and capabilities of a VMware Cloud Foundation release.  For a more comprehensive technical overview please use the VCF Technical Overview presentation</a:t>
                      </a:r>
                      <a:r>
                        <a:rPr lang="en-US" sz="1100" b="0" i="0">
                          <a:solidFill>
                            <a:schemeClr val="dk1"/>
                          </a:solidFill>
                          <a:latin typeface="Arial"/>
                          <a:ea typeface="Arial"/>
                          <a:cs typeface="Arial"/>
                          <a:sym typeface="Arial"/>
                        </a:rPr>
                        <a:t>.  </a:t>
                      </a:r>
                      <a:endParaRPr/>
                    </a:p>
                    <a:p>
                      <a:pPr marL="0" marR="0" lvl="0" indent="0" algn="l" rtl="0">
                        <a:lnSpc>
                          <a:spcPct val="100000"/>
                        </a:lnSpc>
                        <a:spcBef>
                          <a:spcPts val="120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This deck may be updated frequently - ensure you are using the most recent revision.</a:t>
                      </a:r>
                      <a:endParaRPr/>
                    </a:p>
                  </a:txBody>
                  <a:tcPr marL="182825" marR="182825" marT="109700" marB="100550"/>
                </a:tc>
                <a:extLst>
                  <a:ext uri="{0D108BD9-81ED-4DB2-BD59-A6C34878D82A}">
                    <a16:rowId xmlns:a16="http://schemas.microsoft.com/office/drawing/2014/main" val="10001"/>
                  </a:ext>
                </a:extLst>
              </a:tr>
              <a:tr h="1339125">
                <a:tc>
                  <a:txBody>
                    <a:bodyPr/>
                    <a:lstStyle/>
                    <a:p>
                      <a:pPr marL="0" marR="0" lvl="0" indent="0" algn="l" rtl="0">
                        <a:lnSpc>
                          <a:spcPct val="100000"/>
                        </a:lnSpc>
                        <a:spcBef>
                          <a:spcPts val="0"/>
                        </a:spcBef>
                        <a:spcAft>
                          <a:spcPts val="0"/>
                        </a:spcAft>
                        <a:buClr>
                          <a:srgbClr val="3B3B3B"/>
                        </a:buClr>
                        <a:buSzPts val="1100"/>
                        <a:buFont typeface="Arial"/>
                        <a:buNone/>
                      </a:pPr>
                      <a:r>
                        <a:rPr lang="en-US" sz="1100" b="1" i="0" u="none" strike="noStrike" cap="none">
                          <a:solidFill>
                            <a:srgbClr val="3B3B3B"/>
                          </a:solidFill>
                          <a:latin typeface="Arial"/>
                          <a:ea typeface="Arial"/>
                          <a:cs typeface="Arial"/>
                          <a:sym typeface="Arial"/>
                        </a:rPr>
                        <a:t>Distribution and </a:t>
                      </a:r>
                      <a:br>
                        <a:rPr lang="en-US" sz="1100" b="1" i="0" u="none" strike="noStrike" cap="none">
                          <a:solidFill>
                            <a:srgbClr val="3B3B3B"/>
                          </a:solidFill>
                          <a:latin typeface="Arial"/>
                          <a:ea typeface="Arial"/>
                          <a:cs typeface="Arial"/>
                          <a:sym typeface="Arial"/>
                        </a:rPr>
                      </a:br>
                      <a:r>
                        <a:rPr lang="en-US" sz="1100" b="1" i="0" u="none" strike="noStrike" cap="none">
                          <a:solidFill>
                            <a:srgbClr val="3B3B3B"/>
                          </a:solidFill>
                          <a:latin typeface="Arial"/>
                          <a:ea typeface="Arial"/>
                          <a:cs typeface="Arial"/>
                          <a:sym typeface="Arial"/>
                        </a:rPr>
                        <a:t>Audience type</a:t>
                      </a:r>
                      <a:endParaRPr sz="1100" b="0" i="0" u="none" strike="noStrike" cap="none">
                        <a:solidFill>
                          <a:srgbClr val="3B3B3B"/>
                        </a:solidFill>
                        <a:latin typeface="Arial"/>
                        <a:ea typeface="Arial"/>
                        <a:cs typeface="Arial"/>
                        <a:sym typeface="Arial"/>
                      </a:endParaRPr>
                    </a:p>
                  </a:txBody>
                  <a:tcPr marL="182825" marR="182825" marT="109700" marB="100550">
                    <a:solidFill>
                      <a:srgbClr val="F4F8FB"/>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US" sz="1100" b="0" i="0" u="none" strike="noStrike" cap="none" dirty="0">
                          <a:solidFill>
                            <a:schemeClr val="dk1"/>
                          </a:solidFill>
                          <a:latin typeface="Arial"/>
                          <a:ea typeface="Arial"/>
                          <a:cs typeface="Arial"/>
                          <a:sym typeface="Arial"/>
                        </a:rPr>
                        <a:t>This presentation is primarily intended for existing VCF customers who want to learn about the features and benefits in the latest GA version of VCF.</a:t>
                      </a:r>
                      <a:endParaRPr dirty="0"/>
                    </a:p>
                    <a:p>
                      <a:pPr marL="0" marR="0" lvl="0" indent="0" algn="l" rtl="0">
                        <a:lnSpc>
                          <a:spcPct val="100000"/>
                        </a:lnSpc>
                        <a:spcBef>
                          <a:spcPts val="0"/>
                        </a:spcBef>
                        <a:spcAft>
                          <a:spcPts val="0"/>
                        </a:spcAft>
                        <a:buClr>
                          <a:schemeClr val="dk1"/>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1100" b="0" i="0" u="none" strike="noStrike" cap="none" dirty="0">
                          <a:solidFill>
                            <a:schemeClr val="dk1"/>
                          </a:solidFill>
                          <a:latin typeface="Arial"/>
                          <a:ea typeface="Arial"/>
                          <a:cs typeface="Arial"/>
                          <a:sym typeface="Arial"/>
                        </a:rPr>
                        <a:t>These slides in PowerPoint format are not to be redistributed outside of Broadcom. Convert the slides to PDF before sharing externally.</a:t>
                      </a:r>
                      <a:endParaRPr dirty="0"/>
                    </a:p>
                    <a:p>
                      <a:pPr marL="0" marR="0" lvl="0" indent="0" algn="l" rtl="0">
                        <a:lnSpc>
                          <a:spcPct val="100000"/>
                        </a:lnSpc>
                        <a:spcBef>
                          <a:spcPts val="0"/>
                        </a:spcBef>
                        <a:spcAft>
                          <a:spcPts val="0"/>
                        </a:spcAft>
                        <a:buClr>
                          <a:schemeClr val="dk1"/>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1100" b="0" i="0" u="none" strike="noStrike" cap="none" dirty="0">
                          <a:solidFill>
                            <a:schemeClr val="dk1"/>
                          </a:solidFill>
                          <a:latin typeface="Arial"/>
                          <a:ea typeface="Arial"/>
                          <a:cs typeface="Arial"/>
                          <a:sym typeface="Arial"/>
                        </a:rPr>
                        <a:t>The speaker notes are the property of Broadcom and may not be distributed in any manner. Read the speaker notes carefully before presenting this material. </a:t>
                      </a:r>
                      <a:r>
                        <a:rPr lang="en-US" sz="1100" b="0" u="none" strike="noStrike" cap="none" dirty="0">
                          <a:solidFill>
                            <a:schemeClr val="dk1"/>
                          </a:solidFill>
                          <a:latin typeface="Arial"/>
                          <a:ea typeface="Arial"/>
                          <a:cs typeface="Arial"/>
                          <a:sym typeface="Arial"/>
                        </a:rPr>
                        <a:t>All content in speaker notes is provided for educational purposes only</a:t>
                      </a:r>
                      <a:r>
                        <a:rPr lang="en-US" sz="1100" b="0" i="0" u="none" strike="noStrike" cap="none" dirty="0">
                          <a:solidFill>
                            <a:schemeClr val="dk1"/>
                          </a:solidFill>
                          <a:latin typeface="Arial"/>
                          <a:ea typeface="Arial"/>
                          <a:cs typeface="Arial"/>
                          <a:sym typeface="Arial"/>
                        </a:rPr>
                        <a:t> and is not intended to be disseminated widely to non-Broadcom employees. Check the documentation for the final “how to” for any feature.</a:t>
                      </a:r>
                      <a:endParaRPr dirty="0"/>
                    </a:p>
                  </a:txBody>
                  <a:tcPr marL="182825" marR="182825" marT="109700" marB="100550">
                    <a:solidFill>
                      <a:srgbClr val="F4F8FB"/>
                    </a:solidFill>
                  </a:tcPr>
                </a:tc>
                <a:extLst>
                  <a:ext uri="{0D108BD9-81ED-4DB2-BD59-A6C34878D82A}">
                    <a16:rowId xmlns:a16="http://schemas.microsoft.com/office/drawing/2014/main" val="10002"/>
                  </a:ext>
                </a:extLst>
              </a:tr>
              <a:tr h="294375">
                <a:tc>
                  <a:txBody>
                    <a:bodyPr/>
                    <a:lstStyle/>
                    <a:p>
                      <a:pPr marL="0" marR="0" lvl="0" indent="0" algn="l" rtl="0">
                        <a:lnSpc>
                          <a:spcPct val="100000"/>
                        </a:lnSpc>
                        <a:spcBef>
                          <a:spcPts val="0"/>
                        </a:spcBef>
                        <a:spcAft>
                          <a:spcPts val="0"/>
                        </a:spcAft>
                        <a:buClr>
                          <a:srgbClr val="3B3B3B"/>
                        </a:buClr>
                        <a:buSzPts val="1100"/>
                        <a:buFont typeface="Arial"/>
                        <a:buNone/>
                      </a:pPr>
                      <a:r>
                        <a:rPr lang="en-US" sz="1100" b="1" i="0" u="none" strike="noStrike" cap="none">
                          <a:solidFill>
                            <a:srgbClr val="3B3B3B"/>
                          </a:solidFill>
                          <a:latin typeface="Arial"/>
                          <a:ea typeface="Arial"/>
                          <a:cs typeface="Arial"/>
                          <a:sym typeface="Arial"/>
                        </a:rPr>
                        <a:t>Content Type</a:t>
                      </a:r>
                      <a:endParaRPr sz="1100" b="0" i="0" u="none" strike="noStrike" cap="none">
                        <a:solidFill>
                          <a:srgbClr val="3B3B3B"/>
                        </a:solidFill>
                        <a:latin typeface="Arial"/>
                        <a:ea typeface="Arial"/>
                        <a:cs typeface="Arial"/>
                        <a:sym typeface="Arial"/>
                      </a:endParaRPr>
                    </a:p>
                  </a:txBody>
                  <a:tcPr marL="182825" marR="182825" marT="109700" marB="100550" anchor="ctr"/>
                </a:tc>
                <a:tc>
                  <a:txBody>
                    <a:bodyPr/>
                    <a:lstStyle/>
                    <a:p>
                      <a:pPr marL="0" marR="0" lvl="0" indent="0" algn="l"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Intermediate 200 Level.  Suitable for Infrastructure Architects, Cloud Architects, Virtualization, Storage and Networking teams</a:t>
                      </a:r>
                      <a:endParaRPr sz="1100" b="0" i="0" u="none" strike="noStrike" cap="none">
                        <a:solidFill>
                          <a:schemeClr val="dk1"/>
                        </a:solidFill>
                        <a:latin typeface="Arial"/>
                        <a:ea typeface="Arial"/>
                        <a:cs typeface="Arial"/>
                        <a:sym typeface="Arial"/>
                      </a:endParaRPr>
                    </a:p>
                  </a:txBody>
                  <a:tcPr marL="91425" marR="91425" marT="45725" marB="45725" anchor="ctr"/>
                </a:tc>
                <a:extLst>
                  <a:ext uri="{0D108BD9-81ED-4DB2-BD59-A6C34878D82A}">
                    <a16:rowId xmlns:a16="http://schemas.microsoft.com/office/drawing/2014/main" val="10003"/>
                  </a:ext>
                </a:extLst>
              </a:tr>
              <a:tr h="294375">
                <a:tc>
                  <a:txBody>
                    <a:bodyPr/>
                    <a:lstStyle/>
                    <a:p>
                      <a:pPr marL="0" marR="0" lvl="0" indent="0" algn="l" rtl="0">
                        <a:lnSpc>
                          <a:spcPct val="100000"/>
                        </a:lnSpc>
                        <a:spcBef>
                          <a:spcPts val="0"/>
                        </a:spcBef>
                        <a:spcAft>
                          <a:spcPts val="0"/>
                        </a:spcAft>
                        <a:buClr>
                          <a:srgbClr val="3B3B3B"/>
                        </a:buClr>
                        <a:buSzPts val="1100"/>
                        <a:buFont typeface="Arial"/>
                        <a:buNone/>
                      </a:pPr>
                      <a:r>
                        <a:rPr lang="en-US" sz="1100" b="1" i="0" u="none" strike="noStrike" cap="none">
                          <a:solidFill>
                            <a:srgbClr val="3B3B3B"/>
                          </a:solidFill>
                          <a:latin typeface="Arial"/>
                          <a:ea typeface="Arial"/>
                          <a:cs typeface="Arial"/>
                          <a:sym typeface="Arial"/>
                        </a:rPr>
                        <a:t>Time To Present</a:t>
                      </a:r>
                      <a:endParaRPr sz="1100" b="0" i="0" u="none" strike="noStrike" cap="none">
                        <a:solidFill>
                          <a:srgbClr val="3B3B3B"/>
                        </a:solidFill>
                        <a:latin typeface="Arial"/>
                        <a:ea typeface="Arial"/>
                        <a:cs typeface="Arial"/>
                        <a:sym typeface="Arial"/>
                      </a:endParaRPr>
                    </a:p>
                  </a:txBody>
                  <a:tcPr marL="182825" marR="182825" marT="109700" marB="100550" anchor="ctr">
                    <a:solidFill>
                      <a:srgbClr val="F4F8FB"/>
                    </a:solidFill>
                  </a:tcPr>
                </a:tc>
                <a:tc>
                  <a:txBody>
                    <a:bodyPr/>
                    <a:lstStyle/>
                    <a:p>
                      <a:pPr marL="0" marR="0" lvl="0" indent="0" algn="l" rtl="0">
                        <a:spcBef>
                          <a:spcPts val="0"/>
                        </a:spcBef>
                        <a:spcAft>
                          <a:spcPts val="0"/>
                        </a:spcAft>
                        <a:buNone/>
                      </a:pPr>
                      <a:r>
                        <a:rPr lang="en-US" sz="1100" b="0" i="0">
                          <a:solidFill>
                            <a:schemeClr val="dk1"/>
                          </a:solidFill>
                          <a:latin typeface="Arial"/>
                          <a:ea typeface="Arial"/>
                          <a:cs typeface="Arial"/>
                          <a:sym typeface="Arial"/>
                        </a:rPr>
                        <a:t>Minimum of 120 minutes allowing time for discussion and interaction.</a:t>
                      </a:r>
                      <a:endParaRPr/>
                    </a:p>
                  </a:txBody>
                  <a:tcPr marL="91425" marR="91425" marT="45725" marB="45725" anchor="ctr">
                    <a:solidFill>
                      <a:srgbClr val="F4F8FB"/>
                    </a:solidFill>
                  </a:tcPr>
                </a:tc>
                <a:extLst>
                  <a:ext uri="{0D108BD9-81ED-4DB2-BD59-A6C34878D82A}">
                    <a16:rowId xmlns:a16="http://schemas.microsoft.com/office/drawing/2014/main" val="10004"/>
                  </a:ext>
                </a:extLst>
              </a:tr>
              <a:tr h="294375">
                <a:tc>
                  <a:txBody>
                    <a:bodyPr/>
                    <a:lstStyle/>
                    <a:p>
                      <a:pPr marL="0" marR="0" lvl="0" indent="0" algn="l" rtl="0">
                        <a:lnSpc>
                          <a:spcPct val="100000"/>
                        </a:lnSpc>
                        <a:spcBef>
                          <a:spcPts val="0"/>
                        </a:spcBef>
                        <a:spcAft>
                          <a:spcPts val="0"/>
                        </a:spcAft>
                        <a:buClr>
                          <a:srgbClr val="3B3B3B"/>
                        </a:buClr>
                        <a:buSzPts val="1100"/>
                        <a:buFont typeface="Arial"/>
                        <a:buNone/>
                      </a:pPr>
                      <a:r>
                        <a:rPr lang="en-US" sz="1100" b="1" i="0" u="none" strike="noStrike" cap="none">
                          <a:solidFill>
                            <a:srgbClr val="3B3B3B"/>
                          </a:solidFill>
                          <a:latin typeface="Arial"/>
                          <a:ea typeface="Arial"/>
                          <a:cs typeface="Arial"/>
                          <a:sym typeface="Arial"/>
                        </a:rPr>
                        <a:t>Last updated</a:t>
                      </a:r>
                      <a:endParaRPr sz="1100" b="0" i="0" u="none" strike="noStrike" cap="none">
                        <a:solidFill>
                          <a:srgbClr val="3B3B3B"/>
                        </a:solidFill>
                        <a:latin typeface="Arial"/>
                        <a:ea typeface="Arial"/>
                        <a:cs typeface="Arial"/>
                        <a:sym typeface="Arial"/>
                      </a:endParaRPr>
                    </a:p>
                  </a:txBody>
                  <a:tcPr marL="182825" marR="182825" marT="109700" marB="100550" anchor="ctr"/>
                </a:tc>
                <a:tc>
                  <a:txBody>
                    <a:bodyPr/>
                    <a:lstStyle/>
                    <a:p>
                      <a:pPr marL="0" marR="0" lvl="0" indent="0" algn="l"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First Published June 2025 </a:t>
                      </a:r>
                      <a:endParaRPr/>
                    </a:p>
                  </a:txBody>
                  <a:tcPr marL="91425" marR="91425" marT="45725" marB="45725" anchor="ctr"/>
                </a:tc>
                <a:extLst>
                  <a:ext uri="{0D108BD9-81ED-4DB2-BD59-A6C34878D82A}">
                    <a16:rowId xmlns:a16="http://schemas.microsoft.com/office/drawing/2014/main" val="10005"/>
                  </a:ext>
                </a:extLst>
              </a:tr>
              <a:tr h="332400">
                <a:tc>
                  <a:txBody>
                    <a:bodyPr/>
                    <a:lstStyle/>
                    <a:p>
                      <a:pPr marL="0" marR="0" lvl="0" indent="0" algn="l" rtl="0">
                        <a:lnSpc>
                          <a:spcPct val="100000"/>
                        </a:lnSpc>
                        <a:spcBef>
                          <a:spcPts val="0"/>
                        </a:spcBef>
                        <a:spcAft>
                          <a:spcPts val="0"/>
                        </a:spcAft>
                        <a:buClr>
                          <a:srgbClr val="3B3B3B"/>
                        </a:buClr>
                        <a:buSzPts val="1100"/>
                        <a:buFont typeface="Arial"/>
                        <a:buNone/>
                      </a:pPr>
                      <a:r>
                        <a:rPr lang="en-US" sz="1100" b="1" i="0" u="none" strike="noStrike" cap="none">
                          <a:solidFill>
                            <a:srgbClr val="3B3B3B"/>
                          </a:solidFill>
                          <a:latin typeface="Arial"/>
                          <a:ea typeface="Arial"/>
                          <a:cs typeface="Arial"/>
                          <a:sym typeface="Arial"/>
                        </a:rPr>
                        <a:t>Primary Copy (PDF)</a:t>
                      </a:r>
                      <a:endParaRPr/>
                    </a:p>
                  </a:txBody>
                  <a:tcPr marL="182825" marR="182825" marT="109700" marB="100550" anchor="ctr">
                    <a:solidFill>
                      <a:srgbClr val="F4F8FB"/>
                    </a:solidFill>
                  </a:tcPr>
                </a:tc>
                <a:tc>
                  <a:txBody>
                    <a:bodyPr/>
                    <a:lstStyle/>
                    <a:p>
                      <a:pPr marL="0" marR="0" lvl="0" indent="0" algn="l" rtl="0">
                        <a:lnSpc>
                          <a:spcPct val="100000"/>
                        </a:lnSpc>
                        <a:spcBef>
                          <a:spcPts val="0"/>
                        </a:spcBef>
                        <a:spcAft>
                          <a:spcPts val="0"/>
                        </a:spcAft>
                        <a:buClr>
                          <a:schemeClr val="dk1"/>
                        </a:buClr>
                        <a:buSzPts val="1100"/>
                        <a:buFont typeface="Arial"/>
                        <a:buNone/>
                      </a:pPr>
                      <a:endParaRPr sz="1100" b="0" i="0" u="none" strike="noStrike" cap="none">
                        <a:solidFill>
                          <a:schemeClr val="dk1"/>
                        </a:solidFill>
                        <a:latin typeface="Arial"/>
                        <a:ea typeface="Arial"/>
                        <a:cs typeface="Arial"/>
                        <a:sym typeface="Arial"/>
                      </a:endParaRPr>
                    </a:p>
                  </a:txBody>
                  <a:tcPr marL="91425" marR="91425" marT="45725" marB="45725" anchor="ctr">
                    <a:solidFill>
                      <a:srgbClr val="F4F8FB"/>
                    </a:solidFill>
                  </a:tcPr>
                </a:tc>
                <a:extLst>
                  <a:ext uri="{0D108BD9-81ED-4DB2-BD59-A6C34878D82A}">
                    <a16:rowId xmlns:a16="http://schemas.microsoft.com/office/drawing/2014/main" val="10006"/>
                  </a:ext>
                </a:extLst>
              </a:tr>
            </a:tbl>
          </a:graphicData>
        </a:graphic>
      </p:graphicFrame>
      <p:sp>
        <p:nvSpPr>
          <p:cNvPr id="4227" name="Google Shape;4227;p1" descr="Ocean flag with white text"/>
          <p:cNvSpPr/>
          <p:nvPr/>
        </p:nvSpPr>
        <p:spPr>
          <a:xfrm flipH="1">
            <a:off x="5057785" y="14063"/>
            <a:ext cx="7606516" cy="427553"/>
          </a:xfrm>
          <a:prstGeom prst="trapezoid">
            <a:avLst>
              <a:gd name="adj" fmla="val 100000"/>
            </a:avLst>
          </a:prstGeom>
          <a:solidFill>
            <a:schemeClr val="accent5"/>
          </a:solidFill>
          <a:ln>
            <a:noFill/>
          </a:ln>
        </p:spPr>
        <p:txBody>
          <a:bodyPr spcFirstLastPara="1" wrap="square" lIns="274300" tIns="45700" rIns="548625" bIns="91425" anchor="ctr" anchorCtr="0">
            <a:spAutoFit/>
          </a:bodyPr>
          <a:lstStyle/>
          <a:p>
            <a:pPr marL="0" marR="0" lvl="0" indent="0" algn="r" rtl="0">
              <a:spcBef>
                <a:spcPts val="0"/>
              </a:spcBef>
              <a:spcAft>
                <a:spcPts val="0"/>
              </a:spcAft>
              <a:buNone/>
            </a:pPr>
            <a:r>
              <a:rPr lang="en-US" sz="1800">
                <a:solidFill>
                  <a:schemeClr val="lt1"/>
                </a:solidFill>
                <a:latin typeface="Arial"/>
                <a:ea typeface="Arial"/>
                <a:cs typeface="Arial"/>
                <a:sym typeface="Arial"/>
              </a:rPr>
              <a:t>READ THE SLIDE NOTES FOR PRESENTATION DETAIL </a:t>
            </a:r>
            <a:endParaRPr/>
          </a:p>
        </p:txBody>
      </p:sp>
      <p:sp>
        <p:nvSpPr>
          <p:cNvPr id="4228" name="Google Shape;4228;p1"/>
          <p:cNvSpPr txBox="1"/>
          <p:nvPr/>
        </p:nvSpPr>
        <p:spPr>
          <a:xfrm>
            <a:off x="1" y="5728817"/>
            <a:ext cx="12188824" cy="276999"/>
          </a:xfrm>
          <a:prstGeom prst="rect">
            <a:avLst/>
          </a:prstGeom>
          <a:solidFill>
            <a:schemeClr val="accent6"/>
          </a:solid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CONTENT UPDATED REGULARLY: Please download the latest copy from the SRC prior to presenting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33"/>
        <p:cNvGrpSpPr/>
        <p:nvPr/>
      </p:nvGrpSpPr>
      <p:grpSpPr>
        <a:xfrm>
          <a:off x="0" y="0"/>
          <a:ext cx="0" cy="0"/>
          <a:chOff x="0" y="0"/>
          <a:chExt cx="0" cy="0"/>
        </a:xfrm>
      </p:grpSpPr>
      <p:sp>
        <p:nvSpPr>
          <p:cNvPr id="4234" name="Google Shape;4234;p2"/>
          <p:cNvSpPr/>
          <p:nvPr/>
        </p:nvSpPr>
        <p:spPr>
          <a:xfrm>
            <a:off x="1945691" y="1618131"/>
            <a:ext cx="3621737" cy="3621737"/>
          </a:xfrm>
          <a:prstGeom prst="ellipse">
            <a:avLst/>
          </a:prstGeom>
          <a:solidFill>
            <a:schemeClr val="lt1"/>
          </a:solidFill>
          <a:ln w="60325"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4235" name="Google Shape;4235;p2"/>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666666"/>
              </a:buClr>
              <a:buSzPts val="1440"/>
              <a:buFont typeface="Arial"/>
              <a:buNone/>
            </a:pPr>
            <a:endParaRPr/>
          </a:p>
        </p:txBody>
      </p:sp>
      <p:sp>
        <p:nvSpPr>
          <p:cNvPr id="4236" name="Google Shape;4236;p2"/>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40"/>
              <a:buNone/>
            </a:pPr>
            <a:r>
              <a:rPr lang="en-US"/>
              <a:t>Presenter:</a:t>
            </a:r>
            <a:endParaRPr/>
          </a:p>
        </p:txBody>
      </p:sp>
      <p:sp>
        <p:nvSpPr>
          <p:cNvPr id="4237" name="Google Shape;4237;p2"/>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260"/>
              <a:buNone/>
            </a:pPr>
            <a:r>
              <a:rPr lang="en-US"/>
              <a:t>June, 2024</a:t>
            </a:r>
            <a:endParaRPr/>
          </a:p>
        </p:txBody>
      </p:sp>
      <p:sp>
        <p:nvSpPr>
          <p:cNvPr id="4238" name="Google Shape;4238;p2"/>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4000"/>
              <a:buFont typeface="Arial"/>
              <a:buNone/>
            </a:pPr>
            <a:r>
              <a:rPr lang="en-US"/>
              <a:t>VMware Cloud Foundation 9.0</a:t>
            </a:r>
            <a:endParaRPr/>
          </a:p>
        </p:txBody>
      </p:sp>
      <p:sp>
        <p:nvSpPr>
          <p:cNvPr id="4239" name="Google Shape;4239;p2"/>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160"/>
              <a:buNone/>
            </a:pPr>
            <a:r>
              <a:rPr lang="en-US" dirty="0"/>
              <a:t>What’s New Technical – Part 1</a:t>
            </a:r>
            <a:endParaRPr dirty="0"/>
          </a:p>
        </p:txBody>
      </p:sp>
      <p:pic>
        <p:nvPicPr>
          <p:cNvPr id="4240" name="Google Shape;4240;p2"/>
          <p:cNvPicPr preferRelativeResize="0"/>
          <p:nvPr/>
        </p:nvPicPr>
        <p:blipFill rotWithShape="1">
          <a:blip r:embed="rId3">
            <a:alphaModFix/>
          </a:blip>
          <a:srcRect/>
          <a:stretch/>
        </p:blipFill>
        <p:spPr>
          <a:xfrm>
            <a:off x="2567840" y="2214230"/>
            <a:ext cx="2377440" cy="2377440"/>
          </a:xfrm>
          <a:prstGeom prst="rect">
            <a:avLst/>
          </a:prstGeom>
          <a:noFill/>
          <a:ln>
            <a:noFill/>
          </a:ln>
        </p:spPr>
      </p:pic>
      <p:sp>
        <p:nvSpPr>
          <p:cNvPr id="4241" name="Google Shape;4241;p2"/>
          <p:cNvSpPr txBox="1"/>
          <p:nvPr/>
        </p:nvSpPr>
        <p:spPr>
          <a:xfrm>
            <a:off x="6592948" y="5706706"/>
            <a:ext cx="5402202" cy="3556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260"/>
              <a:buFont typeface="Arial"/>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46"/>
        <p:cNvGrpSpPr/>
        <p:nvPr/>
      </p:nvGrpSpPr>
      <p:grpSpPr>
        <a:xfrm>
          <a:off x="0" y="0"/>
          <a:ext cx="0" cy="0"/>
          <a:chOff x="0" y="0"/>
          <a:chExt cx="0" cy="0"/>
        </a:xfrm>
      </p:grpSpPr>
      <p:sp>
        <p:nvSpPr>
          <p:cNvPr id="4247" name="Google Shape;4247;p3"/>
          <p:cNvSpPr txBox="1"/>
          <p:nvPr/>
        </p:nvSpPr>
        <p:spPr>
          <a:xfrm>
            <a:off x="3565531" y="1827032"/>
            <a:ext cx="7315200" cy="4322783"/>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accent2"/>
              </a:buClr>
              <a:buSzPts val="1800"/>
              <a:buFont typeface="Open Sans"/>
              <a:buChar char="​"/>
            </a:pPr>
            <a:r>
              <a:rPr lang="en-US" sz="2000">
                <a:solidFill>
                  <a:schemeClr val="dk1"/>
                </a:solidFill>
                <a:latin typeface="Arial"/>
                <a:ea typeface="Arial"/>
                <a:cs typeface="Arial"/>
                <a:sym typeface="Arial"/>
              </a:rPr>
              <a:t>    Modernize Infrastructure</a:t>
            </a:r>
            <a:endParaRPr/>
          </a:p>
          <a:p>
            <a:pPr marL="0" marR="0" lvl="0" indent="0" algn="l" rtl="0">
              <a:lnSpc>
                <a:spcPct val="150000"/>
              </a:lnSpc>
              <a:spcBef>
                <a:spcPts val="3000"/>
              </a:spcBef>
              <a:spcAft>
                <a:spcPts val="0"/>
              </a:spcAft>
              <a:buClr>
                <a:schemeClr val="accent2"/>
              </a:buClr>
              <a:buSzPts val="1800"/>
              <a:buFont typeface="Open Sans"/>
              <a:buChar char="​"/>
            </a:pPr>
            <a:r>
              <a:rPr lang="en-US" sz="2000">
                <a:solidFill>
                  <a:schemeClr val="dk1"/>
                </a:solidFill>
                <a:latin typeface="Arial"/>
                <a:ea typeface="Arial"/>
                <a:cs typeface="Arial"/>
                <a:sym typeface="Arial"/>
              </a:rPr>
              <a:t>    Deliver a Unified Cloud Experience for Developers</a:t>
            </a:r>
            <a:endParaRPr/>
          </a:p>
          <a:p>
            <a:pPr marL="0" marR="0" lvl="0" indent="0" algn="l" rtl="0">
              <a:lnSpc>
                <a:spcPct val="150000"/>
              </a:lnSpc>
              <a:spcBef>
                <a:spcPts val="3000"/>
              </a:spcBef>
              <a:spcAft>
                <a:spcPts val="0"/>
              </a:spcAft>
              <a:buClr>
                <a:schemeClr val="accent2"/>
              </a:buClr>
              <a:buSzPts val="1800"/>
              <a:buFont typeface="Open Sans"/>
              <a:buChar char="​"/>
            </a:pPr>
            <a:r>
              <a:rPr lang="en-US" sz="2000">
                <a:solidFill>
                  <a:schemeClr val="dk1"/>
                </a:solidFill>
                <a:latin typeface="Arial"/>
                <a:ea typeface="Arial"/>
                <a:cs typeface="Arial"/>
                <a:sym typeface="Arial"/>
              </a:rPr>
              <a:t>    Secure and Protect Your Private Cloud</a:t>
            </a:r>
            <a:endParaRPr/>
          </a:p>
          <a:p>
            <a:pPr marL="0" marR="0" lvl="0" indent="0" algn="l" rtl="0">
              <a:lnSpc>
                <a:spcPct val="100000"/>
              </a:lnSpc>
              <a:spcBef>
                <a:spcPts val="3000"/>
              </a:spcBef>
              <a:spcAft>
                <a:spcPts val="0"/>
              </a:spcAft>
              <a:buClr>
                <a:schemeClr val="accent2"/>
              </a:buClr>
              <a:buSzPts val="1800"/>
              <a:buFont typeface="Open Sans"/>
              <a:buChar char="​"/>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p:txBody>
      </p:sp>
      <p:sp>
        <p:nvSpPr>
          <p:cNvPr id="4248" name="Google Shape;4248;p3"/>
          <p:cNvSpPr txBox="1"/>
          <p:nvPr/>
        </p:nvSpPr>
        <p:spPr>
          <a:xfrm>
            <a:off x="609600" y="1267608"/>
            <a:ext cx="1939925" cy="533400"/>
          </a:xfrm>
          <a:prstGeom prst="rect">
            <a:avLst/>
          </a:prstGeom>
          <a:noFill/>
          <a:ln>
            <a:noFill/>
          </a:ln>
        </p:spPr>
        <p:txBody>
          <a:bodyPr spcFirstLastPara="1" wrap="square" lIns="0" tIns="0" rIns="0" bIns="0" anchor="t" anchorCtr="0">
            <a:noAutofit/>
          </a:bodyPr>
          <a:lstStyle/>
          <a:p>
            <a:pPr marL="0" marR="0" lvl="0" indent="-182880" algn="l" rtl="0">
              <a:lnSpc>
                <a:spcPct val="100000"/>
              </a:lnSpc>
              <a:spcBef>
                <a:spcPts val="0"/>
              </a:spcBef>
              <a:spcAft>
                <a:spcPts val="0"/>
              </a:spcAft>
              <a:buClr>
                <a:srgbClr val="666666"/>
              </a:buClr>
              <a:buSzPts val="2880"/>
              <a:buFont typeface="Arial"/>
              <a:buChar char="​"/>
            </a:pPr>
            <a:r>
              <a:rPr lang="en-US" sz="3200">
                <a:solidFill>
                  <a:schemeClr val="accent2"/>
                </a:solidFill>
                <a:latin typeface="Arial"/>
                <a:ea typeface="Arial"/>
                <a:cs typeface="Arial"/>
                <a:sym typeface="Arial"/>
              </a:rPr>
              <a:t>Agenda</a:t>
            </a:r>
            <a:endParaRPr/>
          </a:p>
        </p:txBody>
      </p:sp>
      <p:grpSp>
        <p:nvGrpSpPr>
          <p:cNvPr id="4249" name="Google Shape;4249;p3"/>
          <p:cNvGrpSpPr/>
          <p:nvPr/>
        </p:nvGrpSpPr>
        <p:grpSpPr>
          <a:xfrm>
            <a:off x="487021" y="5109980"/>
            <a:ext cx="9044507" cy="1583578"/>
            <a:chOff x="7465508" y="3258663"/>
            <a:chExt cx="9044507" cy="1583578"/>
          </a:xfrm>
        </p:grpSpPr>
        <p:sp>
          <p:nvSpPr>
            <p:cNvPr id="4250" name="Google Shape;4250;p3"/>
            <p:cNvSpPr txBox="1"/>
            <p:nvPr/>
          </p:nvSpPr>
          <p:spPr>
            <a:xfrm>
              <a:off x="8053233" y="3258663"/>
              <a:ext cx="8456782" cy="130656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Open Sans"/>
                <a:buNone/>
              </a:pPr>
              <a:r>
                <a:rPr lang="en-US" sz="2000">
                  <a:solidFill>
                    <a:schemeClr val="dk1"/>
                  </a:solidFill>
                  <a:latin typeface="Arial"/>
                  <a:ea typeface="Arial"/>
                  <a:cs typeface="Arial"/>
                  <a:sym typeface="Arial"/>
                </a:rPr>
                <a:t> Appendix		  </a:t>
              </a:r>
              <a:r>
                <a:rPr lang="en-US" sz="1600">
                  <a:solidFill>
                    <a:schemeClr val="dk1"/>
                  </a:solidFill>
                  <a:latin typeface="Arial"/>
                  <a:ea typeface="Arial"/>
                  <a:cs typeface="Arial"/>
                  <a:sym typeface="Arial"/>
                </a:rPr>
                <a:t>Licensing    |    Add-on Services    |    Resources</a:t>
              </a:r>
              <a:endParaRPr sz="1600">
                <a:solidFill>
                  <a:schemeClr val="dk1"/>
                </a:solidFill>
                <a:latin typeface="Arial"/>
                <a:ea typeface="Arial"/>
                <a:cs typeface="Arial"/>
                <a:sym typeface="Arial"/>
              </a:endParaRPr>
            </a:p>
          </p:txBody>
        </p:sp>
        <p:pic>
          <p:nvPicPr>
            <p:cNvPr id="4251" name="Google Shape;4251;p3"/>
            <p:cNvPicPr preferRelativeResize="0"/>
            <p:nvPr/>
          </p:nvPicPr>
          <p:blipFill rotWithShape="1">
            <a:blip r:embed="rId3">
              <a:alphaModFix/>
            </a:blip>
            <a:srcRect/>
            <a:stretch/>
          </p:blipFill>
          <p:spPr>
            <a:xfrm>
              <a:off x="7465508" y="4458193"/>
              <a:ext cx="384048" cy="384048"/>
            </a:xfrm>
            <a:prstGeom prst="rect">
              <a:avLst/>
            </a:prstGeom>
            <a:noFill/>
            <a:ln>
              <a:noFill/>
            </a:ln>
          </p:spPr>
        </p:pic>
      </p:grpSp>
      <p:pic>
        <p:nvPicPr>
          <p:cNvPr id="4252" name="Google Shape;4252;p3"/>
          <p:cNvPicPr preferRelativeResize="0"/>
          <p:nvPr/>
        </p:nvPicPr>
        <p:blipFill rotWithShape="1">
          <a:blip r:embed="rId4">
            <a:alphaModFix amt="34000"/>
          </a:blip>
          <a:srcRect t="50515"/>
          <a:stretch/>
        </p:blipFill>
        <p:spPr>
          <a:xfrm flipH="1">
            <a:off x="737419" y="4878497"/>
            <a:ext cx="10736826" cy="146985"/>
          </a:xfrm>
          <a:prstGeom prst="rect">
            <a:avLst/>
          </a:prstGeom>
          <a:noFill/>
          <a:ln>
            <a:noFill/>
          </a:ln>
        </p:spPr>
      </p:pic>
      <p:grpSp>
        <p:nvGrpSpPr>
          <p:cNvPr id="4253" name="Google Shape;4253;p3"/>
          <p:cNvGrpSpPr/>
          <p:nvPr/>
        </p:nvGrpSpPr>
        <p:grpSpPr>
          <a:xfrm>
            <a:off x="2926936" y="1730680"/>
            <a:ext cx="651093" cy="652549"/>
            <a:chOff x="4907426" y="1918730"/>
            <a:chExt cx="983346" cy="985545"/>
          </a:xfrm>
        </p:grpSpPr>
        <p:sp>
          <p:nvSpPr>
            <p:cNvPr id="4254" name="Google Shape;4254;p3"/>
            <p:cNvSpPr/>
            <p:nvPr/>
          </p:nvSpPr>
          <p:spPr>
            <a:xfrm>
              <a:off x="4907426" y="1918730"/>
              <a:ext cx="983346" cy="985545"/>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255" name="Google Shape;4255;p3"/>
            <p:cNvGrpSpPr/>
            <p:nvPr/>
          </p:nvGrpSpPr>
          <p:grpSpPr>
            <a:xfrm>
              <a:off x="5101312" y="2167085"/>
              <a:ext cx="640019" cy="488811"/>
              <a:chOff x="1838171" y="5616069"/>
              <a:chExt cx="652849" cy="498611"/>
            </a:xfrm>
          </p:grpSpPr>
          <p:sp>
            <p:nvSpPr>
              <p:cNvPr id="4256" name="Google Shape;4256;p3"/>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257" name="Google Shape;4257;p3"/>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258" name="Google Shape;4258;p3"/>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259" name="Google Shape;4259;p3"/>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260" name="Google Shape;4260;p3"/>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261" name="Google Shape;4261;p3"/>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262" name="Google Shape;4262;p3"/>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263" name="Google Shape;4263;p3"/>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264" name="Google Shape;4264;p3"/>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265" name="Google Shape;4265;p3"/>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grpSp>
      </p:grpSp>
      <p:grpSp>
        <p:nvGrpSpPr>
          <p:cNvPr id="4266" name="Google Shape;4266;p3"/>
          <p:cNvGrpSpPr/>
          <p:nvPr/>
        </p:nvGrpSpPr>
        <p:grpSpPr>
          <a:xfrm>
            <a:off x="2886736" y="2552419"/>
            <a:ext cx="731492" cy="733128"/>
            <a:chOff x="8608478" y="1596058"/>
            <a:chExt cx="1288152" cy="1291032"/>
          </a:xfrm>
        </p:grpSpPr>
        <p:sp>
          <p:nvSpPr>
            <p:cNvPr id="4267" name="Google Shape;4267;p3"/>
            <p:cNvSpPr/>
            <p:nvPr/>
          </p:nvSpPr>
          <p:spPr>
            <a:xfrm>
              <a:off x="8608478" y="1596058"/>
              <a:ext cx="1288152" cy="1291032"/>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268" name="Google Shape;4268;p3"/>
            <p:cNvGrpSpPr/>
            <p:nvPr/>
          </p:nvGrpSpPr>
          <p:grpSpPr>
            <a:xfrm>
              <a:off x="8679268" y="1667007"/>
              <a:ext cx="1146570" cy="1149134"/>
              <a:chOff x="8679268" y="1667007"/>
              <a:chExt cx="1146570" cy="1149134"/>
            </a:xfrm>
          </p:grpSpPr>
          <p:sp>
            <p:nvSpPr>
              <p:cNvPr id="4269" name="Google Shape;4269;p3"/>
              <p:cNvSpPr/>
              <p:nvPr/>
            </p:nvSpPr>
            <p:spPr>
              <a:xfrm>
                <a:off x="8679268" y="1667007"/>
                <a:ext cx="1146570" cy="1149134"/>
              </a:xfrm>
              <a:prstGeom prst="ellipse">
                <a:avLst/>
              </a:prstGeom>
              <a:gradFill>
                <a:gsLst>
                  <a:gs pos="0">
                    <a:schemeClr val="accent2"/>
                  </a:gs>
                  <a:gs pos="71000">
                    <a:schemeClr val="accent3"/>
                  </a:gs>
                  <a:gs pos="100000">
                    <a:schemeClr val="accent3"/>
                  </a:gs>
                </a:gsLst>
                <a:lin ang="189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270" name="Google Shape;4270;p3"/>
              <p:cNvGrpSpPr/>
              <p:nvPr/>
            </p:nvGrpSpPr>
            <p:grpSpPr>
              <a:xfrm>
                <a:off x="8942231" y="1952085"/>
                <a:ext cx="620645" cy="578979"/>
                <a:chOff x="1854219" y="4375174"/>
                <a:chExt cx="543307" cy="506834"/>
              </a:xfrm>
            </p:grpSpPr>
            <p:sp>
              <p:nvSpPr>
                <p:cNvPr id="4271" name="Google Shape;4271;p3"/>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272" name="Google Shape;4272;p3"/>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273" name="Google Shape;4273;p3"/>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274" name="Google Shape;4274;p3"/>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275" name="Google Shape;4275;p3"/>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276" name="Google Shape;4276;p3"/>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grpSp>
        </p:grpSp>
      </p:grpSp>
      <p:grpSp>
        <p:nvGrpSpPr>
          <p:cNvPr id="4277" name="Google Shape;4277;p3"/>
          <p:cNvGrpSpPr/>
          <p:nvPr/>
        </p:nvGrpSpPr>
        <p:grpSpPr>
          <a:xfrm>
            <a:off x="2878471" y="3417908"/>
            <a:ext cx="731520" cy="733157"/>
            <a:chOff x="5942869" y="4312444"/>
            <a:chExt cx="1288152" cy="1291032"/>
          </a:xfrm>
        </p:grpSpPr>
        <p:sp>
          <p:nvSpPr>
            <p:cNvPr id="4278" name="Google Shape;4278;p3"/>
            <p:cNvSpPr/>
            <p:nvPr/>
          </p:nvSpPr>
          <p:spPr>
            <a:xfrm>
              <a:off x="5942869" y="4312444"/>
              <a:ext cx="1288152" cy="1291032"/>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279" name="Google Shape;4279;p3"/>
            <p:cNvGrpSpPr/>
            <p:nvPr/>
          </p:nvGrpSpPr>
          <p:grpSpPr>
            <a:xfrm>
              <a:off x="6013661" y="4383395"/>
              <a:ext cx="1146570" cy="1149135"/>
              <a:chOff x="6013661" y="4383395"/>
              <a:chExt cx="1146570" cy="1149135"/>
            </a:xfrm>
          </p:grpSpPr>
          <p:sp>
            <p:nvSpPr>
              <p:cNvPr id="4280" name="Google Shape;4280;p3"/>
              <p:cNvSpPr/>
              <p:nvPr/>
            </p:nvSpPr>
            <p:spPr>
              <a:xfrm>
                <a:off x="6013661" y="4383395"/>
                <a:ext cx="1146570" cy="1149135"/>
              </a:xfrm>
              <a:prstGeom prst="ellipse">
                <a:avLst/>
              </a:prstGeom>
              <a:gradFill>
                <a:gsLst>
                  <a:gs pos="0">
                    <a:schemeClr val="accent1"/>
                  </a:gs>
                  <a:gs pos="30000">
                    <a:schemeClr val="accent1"/>
                  </a:gs>
                  <a:gs pos="100000">
                    <a:schemeClr val="accent4"/>
                  </a:gs>
                </a:gsLst>
                <a:lin ang="189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281" name="Google Shape;4281;p3"/>
              <p:cNvGrpSpPr/>
              <p:nvPr/>
            </p:nvGrpSpPr>
            <p:grpSpPr>
              <a:xfrm>
                <a:off x="6281660" y="4599336"/>
                <a:ext cx="610572" cy="717253"/>
                <a:chOff x="1893239" y="713314"/>
                <a:chExt cx="510395" cy="599572"/>
              </a:xfrm>
            </p:grpSpPr>
            <p:sp>
              <p:nvSpPr>
                <p:cNvPr id="4282" name="Google Shape;4282;p3"/>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25" tIns="43400" rIns="86825" bIns="434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283" name="Google Shape;4283;p3"/>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25" tIns="43400" rIns="86825" bIns="434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grpSp>
        </p:grpSp>
      </p:grpSp>
      <p:sp>
        <p:nvSpPr>
          <p:cNvPr id="4284" name="Google Shape;4284;p3"/>
          <p:cNvSpPr/>
          <p:nvPr/>
        </p:nvSpPr>
        <p:spPr>
          <a:xfrm>
            <a:off x="770933" y="5129026"/>
            <a:ext cx="11001003" cy="560078"/>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89"/>
        <p:cNvGrpSpPr/>
        <p:nvPr/>
      </p:nvGrpSpPr>
      <p:grpSpPr>
        <a:xfrm>
          <a:off x="0" y="0"/>
          <a:ext cx="0" cy="0"/>
          <a:chOff x="0" y="0"/>
          <a:chExt cx="0" cy="0"/>
        </a:xfrm>
      </p:grpSpPr>
      <p:sp>
        <p:nvSpPr>
          <p:cNvPr id="4290" name="Google Shape;4290;p4"/>
          <p:cNvSpPr/>
          <p:nvPr/>
        </p:nvSpPr>
        <p:spPr>
          <a:xfrm>
            <a:off x="-4094420" y="2981313"/>
            <a:ext cx="19784686" cy="14200291"/>
          </a:xfrm>
          <a:prstGeom prst="arc">
            <a:avLst>
              <a:gd name="adj1" fmla="val 13713559"/>
              <a:gd name="adj2" fmla="val 18374095"/>
            </a:avLst>
          </a:prstGeom>
          <a:noFill/>
          <a:ln w="508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717074"/>
              </a:solidFill>
              <a:latin typeface="Arial"/>
              <a:ea typeface="Arial"/>
              <a:cs typeface="Arial"/>
              <a:sym typeface="Arial"/>
            </a:endParaRPr>
          </a:p>
        </p:txBody>
      </p:sp>
      <p:pic>
        <p:nvPicPr>
          <p:cNvPr id="4291" name="Google Shape;4291;p4"/>
          <p:cNvPicPr preferRelativeResize="0"/>
          <p:nvPr/>
        </p:nvPicPr>
        <p:blipFill rotWithShape="1">
          <a:blip r:embed="rId3">
            <a:alphaModFix/>
          </a:blip>
          <a:srcRect/>
          <a:stretch/>
        </p:blipFill>
        <p:spPr>
          <a:xfrm>
            <a:off x="4947404" y="3454702"/>
            <a:ext cx="758754" cy="758754"/>
          </a:xfrm>
          <a:prstGeom prst="rect">
            <a:avLst/>
          </a:prstGeom>
          <a:noFill/>
          <a:ln>
            <a:noFill/>
          </a:ln>
        </p:spPr>
      </p:pic>
      <p:pic>
        <p:nvPicPr>
          <p:cNvPr id="4292" name="Google Shape;4292;p4"/>
          <p:cNvPicPr preferRelativeResize="0"/>
          <p:nvPr/>
        </p:nvPicPr>
        <p:blipFill rotWithShape="1">
          <a:blip r:embed="rId3">
            <a:alphaModFix/>
          </a:blip>
          <a:srcRect/>
          <a:stretch/>
        </p:blipFill>
        <p:spPr>
          <a:xfrm>
            <a:off x="6062938" y="3842654"/>
            <a:ext cx="391969" cy="391969"/>
          </a:xfrm>
          <a:prstGeom prst="rect">
            <a:avLst/>
          </a:prstGeom>
          <a:noFill/>
          <a:ln>
            <a:noFill/>
          </a:ln>
        </p:spPr>
      </p:pic>
      <p:pic>
        <p:nvPicPr>
          <p:cNvPr id="4293" name="Google Shape;4293;p4"/>
          <p:cNvPicPr preferRelativeResize="0"/>
          <p:nvPr/>
        </p:nvPicPr>
        <p:blipFill rotWithShape="1">
          <a:blip r:embed="rId3">
            <a:alphaModFix/>
          </a:blip>
          <a:srcRect/>
          <a:stretch/>
        </p:blipFill>
        <p:spPr>
          <a:xfrm>
            <a:off x="7421523" y="3689189"/>
            <a:ext cx="573372" cy="573372"/>
          </a:xfrm>
          <a:prstGeom prst="rect">
            <a:avLst/>
          </a:prstGeom>
          <a:noFill/>
          <a:ln>
            <a:noFill/>
          </a:ln>
        </p:spPr>
      </p:pic>
      <p:pic>
        <p:nvPicPr>
          <p:cNvPr id="4294" name="Google Shape;4294;p4"/>
          <p:cNvPicPr preferRelativeResize="0"/>
          <p:nvPr/>
        </p:nvPicPr>
        <p:blipFill rotWithShape="1">
          <a:blip r:embed="rId3">
            <a:alphaModFix/>
          </a:blip>
          <a:srcRect/>
          <a:stretch/>
        </p:blipFill>
        <p:spPr>
          <a:xfrm>
            <a:off x="9695493" y="3971083"/>
            <a:ext cx="391969" cy="391969"/>
          </a:xfrm>
          <a:prstGeom prst="rect">
            <a:avLst/>
          </a:prstGeom>
          <a:noFill/>
          <a:ln>
            <a:noFill/>
          </a:ln>
        </p:spPr>
      </p:pic>
      <p:pic>
        <p:nvPicPr>
          <p:cNvPr id="4295" name="Google Shape;4295;p4"/>
          <p:cNvPicPr preferRelativeResize="0"/>
          <p:nvPr/>
        </p:nvPicPr>
        <p:blipFill rotWithShape="1">
          <a:blip r:embed="rId4">
            <a:alphaModFix/>
          </a:blip>
          <a:srcRect/>
          <a:stretch/>
        </p:blipFill>
        <p:spPr>
          <a:xfrm>
            <a:off x="7316240" y="4258280"/>
            <a:ext cx="391969" cy="391969"/>
          </a:xfrm>
          <a:prstGeom prst="rect">
            <a:avLst/>
          </a:prstGeom>
          <a:noFill/>
          <a:ln>
            <a:noFill/>
          </a:ln>
        </p:spPr>
      </p:pic>
      <p:pic>
        <p:nvPicPr>
          <p:cNvPr id="4296" name="Google Shape;4296;p4"/>
          <p:cNvPicPr preferRelativeResize="0"/>
          <p:nvPr/>
        </p:nvPicPr>
        <p:blipFill rotWithShape="1">
          <a:blip r:embed="rId4">
            <a:alphaModFix/>
          </a:blip>
          <a:srcRect/>
          <a:stretch/>
        </p:blipFill>
        <p:spPr>
          <a:xfrm>
            <a:off x="6607681" y="3578724"/>
            <a:ext cx="573372" cy="573372"/>
          </a:xfrm>
          <a:prstGeom prst="rect">
            <a:avLst/>
          </a:prstGeom>
          <a:noFill/>
          <a:ln>
            <a:noFill/>
          </a:ln>
        </p:spPr>
      </p:pic>
      <p:pic>
        <p:nvPicPr>
          <p:cNvPr id="4297" name="Google Shape;4297;p4"/>
          <p:cNvPicPr preferRelativeResize="0"/>
          <p:nvPr/>
        </p:nvPicPr>
        <p:blipFill rotWithShape="1">
          <a:blip r:embed="rId4">
            <a:alphaModFix/>
          </a:blip>
          <a:srcRect/>
          <a:stretch/>
        </p:blipFill>
        <p:spPr>
          <a:xfrm>
            <a:off x="8002244" y="3893005"/>
            <a:ext cx="391969" cy="391969"/>
          </a:xfrm>
          <a:prstGeom prst="rect">
            <a:avLst/>
          </a:prstGeom>
          <a:noFill/>
          <a:ln>
            <a:noFill/>
          </a:ln>
        </p:spPr>
      </p:pic>
      <p:pic>
        <p:nvPicPr>
          <p:cNvPr id="4298" name="Google Shape;4298;p4"/>
          <p:cNvPicPr preferRelativeResize="0"/>
          <p:nvPr/>
        </p:nvPicPr>
        <p:blipFill rotWithShape="1">
          <a:blip r:embed="rId4">
            <a:alphaModFix/>
          </a:blip>
          <a:srcRect/>
          <a:stretch/>
        </p:blipFill>
        <p:spPr>
          <a:xfrm>
            <a:off x="4469663" y="3860858"/>
            <a:ext cx="562737" cy="562737"/>
          </a:xfrm>
          <a:prstGeom prst="rect">
            <a:avLst/>
          </a:prstGeom>
          <a:noFill/>
          <a:ln>
            <a:noFill/>
          </a:ln>
        </p:spPr>
      </p:pic>
      <p:pic>
        <p:nvPicPr>
          <p:cNvPr id="4299" name="Google Shape;4299;p4"/>
          <p:cNvPicPr preferRelativeResize="0"/>
          <p:nvPr/>
        </p:nvPicPr>
        <p:blipFill rotWithShape="1">
          <a:blip r:embed="rId3">
            <a:alphaModFix/>
          </a:blip>
          <a:srcRect/>
          <a:stretch/>
        </p:blipFill>
        <p:spPr>
          <a:xfrm>
            <a:off x="10136826" y="4038235"/>
            <a:ext cx="391969" cy="391969"/>
          </a:xfrm>
          <a:prstGeom prst="rect">
            <a:avLst/>
          </a:prstGeom>
          <a:noFill/>
          <a:ln>
            <a:noFill/>
          </a:ln>
        </p:spPr>
      </p:pic>
      <p:sp>
        <p:nvSpPr>
          <p:cNvPr id="4300" name="Google Shape;4300;p4"/>
          <p:cNvSpPr/>
          <p:nvPr/>
        </p:nvSpPr>
        <p:spPr>
          <a:xfrm>
            <a:off x="317500" y="3491816"/>
            <a:ext cx="914400" cy="10020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pic>
        <p:nvPicPr>
          <p:cNvPr id="4301" name="Google Shape;4301;p4"/>
          <p:cNvPicPr preferRelativeResize="0"/>
          <p:nvPr/>
        </p:nvPicPr>
        <p:blipFill rotWithShape="1">
          <a:blip r:embed="rId3">
            <a:alphaModFix/>
          </a:blip>
          <a:srcRect/>
          <a:stretch/>
        </p:blipFill>
        <p:spPr>
          <a:xfrm>
            <a:off x="3929905" y="3929633"/>
            <a:ext cx="391969" cy="391969"/>
          </a:xfrm>
          <a:prstGeom prst="rect">
            <a:avLst/>
          </a:prstGeom>
          <a:noFill/>
          <a:ln>
            <a:noFill/>
          </a:ln>
        </p:spPr>
      </p:pic>
      <p:grpSp>
        <p:nvGrpSpPr>
          <p:cNvPr id="4302" name="Google Shape;4302;p4"/>
          <p:cNvGrpSpPr/>
          <p:nvPr/>
        </p:nvGrpSpPr>
        <p:grpSpPr>
          <a:xfrm>
            <a:off x="4520335" y="1239090"/>
            <a:ext cx="3324254" cy="4699969"/>
            <a:chOff x="3101732" y="919759"/>
            <a:chExt cx="3324254" cy="4699969"/>
          </a:xfrm>
        </p:grpSpPr>
        <p:grpSp>
          <p:nvGrpSpPr>
            <p:cNvPr id="4303" name="Google Shape;4303;p4"/>
            <p:cNvGrpSpPr/>
            <p:nvPr/>
          </p:nvGrpSpPr>
          <p:grpSpPr>
            <a:xfrm>
              <a:off x="3101732" y="919759"/>
              <a:ext cx="2913554" cy="2117144"/>
              <a:chOff x="3101732" y="-58141"/>
              <a:chExt cx="2913554" cy="2117144"/>
            </a:xfrm>
          </p:grpSpPr>
          <p:grpSp>
            <p:nvGrpSpPr>
              <p:cNvPr id="4304" name="Google Shape;4304;p4"/>
              <p:cNvGrpSpPr/>
              <p:nvPr/>
            </p:nvGrpSpPr>
            <p:grpSpPr>
              <a:xfrm>
                <a:off x="3548416" y="1081279"/>
                <a:ext cx="2021076" cy="977724"/>
                <a:chOff x="12464666" y="3025185"/>
                <a:chExt cx="681377" cy="329628"/>
              </a:xfrm>
            </p:grpSpPr>
            <p:sp>
              <p:nvSpPr>
                <p:cNvPr id="4305" name="Google Shape;4305;p4"/>
                <p:cNvSpPr/>
                <p:nvPr/>
              </p:nvSpPr>
              <p:spPr>
                <a:xfrm>
                  <a:off x="12464666" y="3041125"/>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5000">
                      <a:schemeClr val="lt1"/>
                    </a:gs>
                    <a:gs pos="62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06" name="Google Shape;4306;p4"/>
                <p:cNvSpPr/>
                <p:nvPr/>
              </p:nvSpPr>
              <p:spPr>
                <a:xfrm>
                  <a:off x="12517750"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07" name="Google Shape;4307;p4"/>
                <p:cNvSpPr/>
                <p:nvPr/>
              </p:nvSpPr>
              <p:spPr>
                <a:xfrm>
                  <a:off x="12781982" y="3209913"/>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rgbClr val="FFFFFF"/>
                    </a:gs>
                    <a:gs pos="29000">
                      <a:srgbClr val="FFFFFF"/>
                    </a:gs>
                    <a:gs pos="48000">
                      <a:srgbClr val="F8FBFE"/>
                    </a:gs>
                    <a:gs pos="69000">
                      <a:srgbClr val="E7F3FB"/>
                    </a:gs>
                    <a:gs pos="100000">
                      <a:srgbClr val="CEE6F7"/>
                    </a:gs>
                  </a:gsLst>
                  <a:lin ang="2700000"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4308" name="Google Shape;4308;p4"/>
              <p:cNvSpPr txBox="1"/>
              <p:nvPr/>
            </p:nvSpPr>
            <p:spPr>
              <a:xfrm>
                <a:off x="3101732" y="-58141"/>
                <a:ext cx="2913554"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1600"/>
                  <a:buFont typeface="Arial"/>
                  <a:buNone/>
                </a:pPr>
                <a:r>
                  <a:rPr lang="en-US" sz="1600">
                    <a:solidFill>
                      <a:srgbClr val="3F3F3F"/>
                    </a:solidFill>
                    <a:latin typeface="Arial"/>
                    <a:ea typeface="Arial"/>
                    <a:cs typeface="Arial"/>
                    <a:sym typeface="Arial"/>
                  </a:rPr>
                  <a:t>Deliver a Unified</a:t>
                </a:r>
                <a:r>
                  <a:rPr lang="en-US" sz="1600" b="0" i="0" u="none" strike="noStrike" cap="none">
                    <a:solidFill>
                      <a:srgbClr val="3F3F3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B0F0"/>
                  </a:buClr>
                  <a:buSzPts val="2800"/>
                  <a:buFont typeface="Arial"/>
                  <a:buNone/>
                </a:pPr>
                <a:r>
                  <a:rPr lang="en-US" sz="2800">
                    <a:solidFill>
                      <a:schemeClr val="accent3"/>
                    </a:solidFill>
                    <a:latin typeface="Arial"/>
                    <a:ea typeface="Arial"/>
                    <a:cs typeface="Arial"/>
                    <a:sym typeface="Arial"/>
                  </a:rPr>
                  <a:t>Cloud</a:t>
                </a:r>
                <a:r>
                  <a:rPr lang="en-US" sz="2800" b="0" i="0" u="none" strike="noStrike" cap="none">
                    <a:solidFill>
                      <a:srgbClr val="3F3F3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a:solidFill>
                      <a:srgbClr val="3F3F3F"/>
                    </a:solidFill>
                    <a:latin typeface="Arial"/>
                    <a:ea typeface="Arial"/>
                    <a:cs typeface="Arial"/>
                    <a:sym typeface="Arial"/>
                  </a:rPr>
                  <a:t>Experience for Developers</a:t>
                </a:r>
                <a:endParaRPr sz="1600" b="0" i="0" u="none" strike="noStrike" cap="none">
                  <a:solidFill>
                    <a:srgbClr val="3F3F3F"/>
                  </a:solidFill>
                  <a:latin typeface="Arial"/>
                  <a:ea typeface="Arial"/>
                  <a:cs typeface="Arial"/>
                  <a:sym typeface="Arial"/>
                </a:endParaRPr>
              </a:p>
            </p:txBody>
          </p:sp>
          <p:grpSp>
            <p:nvGrpSpPr>
              <p:cNvPr id="4309" name="Google Shape;4309;p4" descr="Solution Developer&#10;"/>
              <p:cNvGrpSpPr/>
              <p:nvPr/>
            </p:nvGrpSpPr>
            <p:grpSpPr>
              <a:xfrm>
                <a:off x="4344065" y="1676675"/>
                <a:ext cx="388710" cy="344209"/>
                <a:chOff x="8450011" y="775576"/>
                <a:chExt cx="592615" cy="524768"/>
              </a:xfrm>
            </p:grpSpPr>
            <p:sp>
              <p:nvSpPr>
                <p:cNvPr id="4310" name="Google Shape;4310;p4"/>
                <p:cNvSpPr/>
                <p:nvPr/>
              </p:nvSpPr>
              <p:spPr>
                <a:xfrm>
                  <a:off x="8704260" y="775576"/>
                  <a:ext cx="338366" cy="419561"/>
                </a:xfrm>
                <a:custGeom>
                  <a:avLst/>
                  <a:gdLst/>
                  <a:ahLst/>
                  <a:cxnLst/>
                  <a:rect l="l" t="t" r="r" b="b"/>
                  <a:pathLst>
                    <a:path w="338366" h="419561" extrusionOk="0">
                      <a:moveTo>
                        <a:pt x="0" y="0"/>
                      </a:moveTo>
                      <a:lnTo>
                        <a:pt x="0" y="39928"/>
                      </a:lnTo>
                      <a:lnTo>
                        <a:pt x="15812" y="39928"/>
                      </a:lnTo>
                      <a:lnTo>
                        <a:pt x="15812" y="15844"/>
                      </a:lnTo>
                      <a:lnTo>
                        <a:pt x="322555" y="15844"/>
                      </a:lnTo>
                      <a:lnTo>
                        <a:pt x="322555" y="403717"/>
                      </a:lnTo>
                      <a:lnTo>
                        <a:pt x="187208" y="403717"/>
                      </a:lnTo>
                      <a:lnTo>
                        <a:pt x="187208" y="419561"/>
                      </a:lnTo>
                      <a:lnTo>
                        <a:pt x="338366" y="419561"/>
                      </a:lnTo>
                      <a:lnTo>
                        <a:pt x="338366"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nvGrpSpPr>
                <p:cNvPr id="4311" name="Google Shape;4311;p4"/>
                <p:cNvGrpSpPr/>
                <p:nvPr/>
              </p:nvGrpSpPr>
              <p:grpSpPr>
                <a:xfrm>
                  <a:off x="8450011" y="834518"/>
                  <a:ext cx="418056" cy="465826"/>
                  <a:chOff x="8450011" y="834518"/>
                  <a:chExt cx="418056" cy="465826"/>
                </a:xfrm>
              </p:grpSpPr>
              <p:sp>
                <p:nvSpPr>
                  <p:cNvPr id="4312" name="Google Shape;4312;p4"/>
                  <p:cNvSpPr/>
                  <p:nvPr/>
                </p:nvSpPr>
                <p:spPr>
                  <a:xfrm>
                    <a:off x="8450011" y="1084860"/>
                    <a:ext cx="418056" cy="215484"/>
                  </a:xfrm>
                  <a:custGeom>
                    <a:avLst/>
                    <a:gdLst/>
                    <a:ahLst/>
                    <a:cxnLst/>
                    <a:rect l="l" t="t" r="r" b="b"/>
                    <a:pathLst>
                      <a:path w="418056" h="215484" extrusionOk="0">
                        <a:moveTo>
                          <a:pt x="209344" y="15844"/>
                        </a:moveTo>
                        <a:cubicBezTo>
                          <a:pt x="277650" y="15844"/>
                          <a:pt x="344058" y="48167"/>
                          <a:pt x="396552" y="106475"/>
                        </a:cubicBezTo>
                        <a:cubicBezTo>
                          <a:pt x="399715" y="110277"/>
                          <a:pt x="401612" y="115348"/>
                          <a:pt x="401612" y="120418"/>
                        </a:cubicBezTo>
                        <a:lnTo>
                          <a:pt x="401612" y="179993"/>
                        </a:lnTo>
                        <a:cubicBezTo>
                          <a:pt x="401612" y="190767"/>
                          <a:pt x="393390" y="199640"/>
                          <a:pt x="383271" y="199640"/>
                        </a:cubicBezTo>
                        <a:lnTo>
                          <a:pt x="34153" y="199640"/>
                        </a:lnTo>
                        <a:cubicBezTo>
                          <a:pt x="24033" y="199640"/>
                          <a:pt x="15812" y="190767"/>
                          <a:pt x="15812" y="179993"/>
                        </a:cubicBezTo>
                        <a:lnTo>
                          <a:pt x="15812" y="120418"/>
                        </a:lnTo>
                        <a:cubicBezTo>
                          <a:pt x="15812" y="115348"/>
                          <a:pt x="17709" y="110277"/>
                          <a:pt x="20871" y="106475"/>
                        </a:cubicBezTo>
                        <a:cubicBezTo>
                          <a:pt x="24033" y="102672"/>
                          <a:pt x="27828" y="98869"/>
                          <a:pt x="31623" y="95067"/>
                        </a:cubicBezTo>
                        <a:cubicBezTo>
                          <a:pt x="84117" y="43097"/>
                          <a:pt x="145466" y="15844"/>
                          <a:pt x="209344" y="15844"/>
                        </a:cubicBezTo>
                        <a:moveTo>
                          <a:pt x="209344" y="0"/>
                        </a:moveTo>
                        <a:cubicBezTo>
                          <a:pt x="142936" y="0"/>
                          <a:pt x="76528" y="27886"/>
                          <a:pt x="20239" y="83659"/>
                        </a:cubicBezTo>
                        <a:cubicBezTo>
                          <a:pt x="16444" y="87461"/>
                          <a:pt x="12649" y="91264"/>
                          <a:pt x="8854" y="95701"/>
                        </a:cubicBezTo>
                        <a:cubicBezTo>
                          <a:pt x="3162" y="102038"/>
                          <a:pt x="0" y="110911"/>
                          <a:pt x="0" y="120418"/>
                        </a:cubicBezTo>
                        <a:lnTo>
                          <a:pt x="0" y="179993"/>
                        </a:lnTo>
                        <a:cubicBezTo>
                          <a:pt x="0" y="199640"/>
                          <a:pt x="15179" y="215485"/>
                          <a:pt x="34153" y="215485"/>
                        </a:cubicBezTo>
                        <a:lnTo>
                          <a:pt x="383903" y="215485"/>
                        </a:lnTo>
                        <a:cubicBezTo>
                          <a:pt x="402877" y="215485"/>
                          <a:pt x="418056" y="199640"/>
                          <a:pt x="418056" y="179993"/>
                        </a:cubicBezTo>
                        <a:lnTo>
                          <a:pt x="418056" y="120418"/>
                        </a:lnTo>
                        <a:cubicBezTo>
                          <a:pt x="418056" y="111545"/>
                          <a:pt x="414894" y="102672"/>
                          <a:pt x="409202" y="95701"/>
                        </a:cubicBezTo>
                        <a:cubicBezTo>
                          <a:pt x="351648" y="32323"/>
                          <a:pt x="280812" y="0"/>
                          <a:pt x="209344" y="0"/>
                        </a:cubicBezTo>
                        <a:lnTo>
                          <a:pt x="20934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13" name="Google Shape;4313;p4"/>
                  <p:cNvSpPr/>
                  <p:nvPr/>
                </p:nvSpPr>
                <p:spPr>
                  <a:xfrm>
                    <a:off x="8539820" y="834518"/>
                    <a:ext cx="237804" cy="238300"/>
                  </a:xfrm>
                  <a:custGeom>
                    <a:avLst/>
                    <a:gdLst/>
                    <a:ahLst/>
                    <a:cxnLst/>
                    <a:rect l="l" t="t" r="r" b="b"/>
                    <a:pathLst>
                      <a:path w="237804" h="238300" extrusionOk="0">
                        <a:moveTo>
                          <a:pt x="118902" y="15844"/>
                        </a:moveTo>
                        <a:cubicBezTo>
                          <a:pt x="175824" y="15844"/>
                          <a:pt x="221993" y="62110"/>
                          <a:pt x="221993" y="119150"/>
                        </a:cubicBezTo>
                        <a:cubicBezTo>
                          <a:pt x="221993" y="176190"/>
                          <a:pt x="175824" y="222456"/>
                          <a:pt x="118902" y="222456"/>
                        </a:cubicBezTo>
                        <a:cubicBezTo>
                          <a:pt x="61981" y="222456"/>
                          <a:pt x="15812" y="176190"/>
                          <a:pt x="15812" y="119150"/>
                        </a:cubicBezTo>
                        <a:cubicBezTo>
                          <a:pt x="15812" y="62110"/>
                          <a:pt x="62614" y="15844"/>
                          <a:pt x="118902" y="15844"/>
                        </a:cubicBezTo>
                        <a:moveTo>
                          <a:pt x="118902" y="0"/>
                        </a:moveTo>
                        <a:cubicBezTo>
                          <a:pt x="53127" y="0"/>
                          <a:pt x="0" y="53237"/>
                          <a:pt x="0" y="119150"/>
                        </a:cubicBezTo>
                        <a:cubicBezTo>
                          <a:pt x="0" y="185063"/>
                          <a:pt x="53127" y="238301"/>
                          <a:pt x="118902" y="238301"/>
                        </a:cubicBezTo>
                        <a:cubicBezTo>
                          <a:pt x="184678" y="238301"/>
                          <a:pt x="237805" y="185063"/>
                          <a:pt x="237805" y="119150"/>
                        </a:cubicBezTo>
                        <a:cubicBezTo>
                          <a:pt x="237805" y="53237"/>
                          <a:pt x="184678" y="0"/>
                          <a:pt x="118902" y="0"/>
                        </a:cubicBezTo>
                        <a:lnTo>
                          <a:pt x="118902"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4314" name="Google Shape;4314;p4"/>
                <p:cNvGrpSpPr/>
                <p:nvPr/>
              </p:nvGrpSpPr>
              <p:grpSpPr>
                <a:xfrm>
                  <a:off x="8791540" y="899163"/>
                  <a:ext cx="209976" cy="139431"/>
                  <a:chOff x="8791540" y="899163"/>
                  <a:chExt cx="209976" cy="139431"/>
                </a:xfrm>
              </p:grpSpPr>
              <p:sp>
                <p:nvSpPr>
                  <p:cNvPr id="4315" name="Google Shape;4315;p4"/>
                  <p:cNvSpPr/>
                  <p:nvPr/>
                </p:nvSpPr>
                <p:spPr>
                  <a:xfrm>
                    <a:off x="8791540" y="923247"/>
                    <a:ext cx="63878" cy="88095"/>
                  </a:xfrm>
                  <a:custGeom>
                    <a:avLst/>
                    <a:gdLst/>
                    <a:ahLst/>
                    <a:cxnLst/>
                    <a:rect l="l" t="t" r="r" b="b"/>
                    <a:pathLst>
                      <a:path w="63878" h="88095" extrusionOk="0">
                        <a:moveTo>
                          <a:pt x="0" y="52604"/>
                        </a:moveTo>
                        <a:lnTo>
                          <a:pt x="0" y="36125"/>
                        </a:lnTo>
                        <a:lnTo>
                          <a:pt x="63878" y="0"/>
                        </a:lnTo>
                        <a:lnTo>
                          <a:pt x="63878" y="17112"/>
                        </a:lnTo>
                        <a:lnTo>
                          <a:pt x="13914" y="43731"/>
                        </a:lnTo>
                        <a:lnTo>
                          <a:pt x="63878" y="70349"/>
                        </a:lnTo>
                        <a:lnTo>
                          <a:pt x="63878" y="88095"/>
                        </a:lnTo>
                        <a:lnTo>
                          <a:pt x="0" y="5260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16" name="Google Shape;4316;p4"/>
                  <p:cNvSpPr/>
                  <p:nvPr/>
                </p:nvSpPr>
                <p:spPr>
                  <a:xfrm>
                    <a:off x="8866802" y="899163"/>
                    <a:ext cx="59451" cy="139431"/>
                  </a:xfrm>
                  <a:custGeom>
                    <a:avLst/>
                    <a:gdLst/>
                    <a:ahLst/>
                    <a:cxnLst/>
                    <a:rect l="l" t="t" r="r" b="b"/>
                    <a:pathLst>
                      <a:path w="59451" h="139431" extrusionOk="0">
                        <a:moveTo>
                          <a:pt x="43007" y="0"/>
                        </a:moveTo>
                        <a:lnTo>
                          <a:pt x="59451" y="0"/>
                        </a:lnTo>
                        <a:lnTo>
                          <a:pt x="16444" y="139431"/>
                        </a:lnTo>
                        <a:lnTo>
                          <a:pt x="0" y="139431"/>
                        </a:lnTo>
                        <a:lnTo>
                          <a:pt x="43007"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17" name="Google Shape;4317;p4"/>
                  <p:cNvSpPr/>
                  <p:nvPr/>
                </p:nvSpPr>
                <p:spPr>
                  <a:xfrm>
                    <a:off x="8937638" y="923880"/>
                    <a:ext cx="63878" cy="88728"/>
                  </a:xfrm>
                  <a:custGeom>
                    <a:avLst/>
                    <a:gdLst/>
                    <a:ahLst/>
                    <a:cxnLst/>
                    <a:rect l="l" t="t" r="r" b="b"/>
                    <a:pathLst>
                      <a:path w="63878" h="88728" extrusionOk="0">
                        <a:moveTo>
                          <a:pt x="0" y="70349"/>
                        </a:moveTo>
                        <a:lnTo>
                          <a:pt x="49964" y="43731"/>
                        </a:lnTo>
                        <a:lnTo>
                          <a:pt x="0" y="17112"/>
                        </a:lnTo>
                        <a:lnTo>
                          <a:pt x="0" y="0"/>
                        </a:lnTo>
                        <a:lnTo>
                          <a:pt x="63878" y="36125"/>
                        </a:lnTo>
                        <a:lnTo>
                          <a:pt x="63878" y="52604"/>
                        </a:lnTo>
                        <a:lnTo>
                          <a:pt x="0" y="88729"/>
                        </a:lnTo>
                        <a:lnTo>
                          <a:pt x="0" y="703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grpSp>
        <p:sp>
          <p:nvSpPr>
            <p:cNvPr id="4318" name="Google Shape;4318;p4"/>
            <p:cNvSpPr txBox="1"/>
            <p:nvPr/>
          </p:nvSpPr>
          <p:spPr>
            <a:xfrm>
              <a:off x="3139918" y="4023326"/>
              <a:ext cx="3286068"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a:solidFill>
                    <a:schemeClr val="dk1"/>
                  </a:solidFill>
                  <a:latin typeface="Arial"/>
                  <a:ea typeface="Arial"/>
                  <a:cs typeface="Arial"/>
                  <a:sym typeface="Arial"/>
                </a:rPr>
                <a:t>Infrastructure for Kubernetes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Private AI</a:t>
              </a:r>
              <a:endParaRPr/>
            </a:p>
            <a:p>
              <a:pPr marL="342900" marR="0" lvl="0" indent="-268605" algn="l" rtl="0">
                <a:lnSpc>
                  <a:spcPct val="100000"/>
                </a:lnSpc>
                <a:spcBef>
                  <a:spcPts val="600"/>
                </a:spcBef>
                <a:spcAft>
                  <a:spcPts val="0"/>
                </a:spcAft>
                <a:buClr>
                  <a:srgbClr val="666666"/>
                </a:buClr>
                <a:buSzPts val="1170"/>
                <a:buFont typeface="Arial"/>
                <a:buNone/>
              </a:pPr>
              <a:endParaRPr sz="1800">
                <a:solidFill>
                  <a:schemeClr val="dk1"/>
                </a:solidFill>
                <a:latin typeface="Arial"/>
                <a:ea typeface="Arial"/>
                <a:cs typeface="Arial"/>
                <a:sym typeface="Arial"/>
              </a:endParaRPr>
            </a:p>
            <a:p>
              <a:pPr marL="342900" marR="0" lvl="0" indent="-268605" algn="l" rtl="0">
                <a:lnSpc>
                  <a:spcPct val="100000"/>
                </a:lnSpc>
                <a:spcBef>
                  <a:spcPts val="600"/>
                </a:spcBef>
                <a:spcAft>
                  <a:spcPts val="0"/>
                </a:spcAft>
                <a:buClr>
                  <a:srgbClr val="666666"/>
                </a:buClr>
                <a:buSzPts val="1170"/>
                <a:buFont typeface="Arial"/>
                <a:buNone/>
              </a:pP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grpSp>
      <p:grpSp>
        <p:nvGrpSpPr>
          <p:cNvPr id="4319" name="Google Shape;4319;p4"/>
          <p:cNvGrpSpPr/>
          <p:nvPr/>
        </p:nvGrpSpPr>
        <p:grpSpPr>
          <a:xfrm>
            <a:off x="8437023" y="1680727"/>
            <a:ext cx="1862290" cy="2301029"/>
            <a:chOff x="9189059" y="1284487"/>
            <a:chExt cx="1862290" cy="2301029"/>
          </a:xfrm>
        </p:grpSpPr>
        <p:grpSp>
          <p:nvGrpSpPr>
            <p:cNvPr id="4320" name="Google Shape;4320;p4"/>
            <p:cNvGrpSpPr/>
            <p:nvPr/>
          </p:nvGrpSpPr>
          <p:grpSpPr>
            <a:xfrm>
              <a:off x="9189059" y="1284487"/>
              <a:ext cx="1862290" cy="2301029"/>
              <a:chOff x="9189059" y="1284487"/>
              <a:chExt cx="1862290" cy="2301029"/>
            </a:xfrm>
          </p:grpSpPr>
          <p:grpSp>
            <p:nvGrpSpPr>
              <p:cNvPr id="4321" name="Google Shape;4321;p4"/>
              <p:cNvGrpSpPr/>
              <p:nvPr/>
            </p:nvGrpSpPr>
            <p:grpSpPr>
              <a:xfrm>
                <a:off x="9199277" y="2334636"/>
                <a:ext cx="1852072" cy="706825"/>
                <a:chOff x="12517750" y="3071895"/>
                <a:chExt cx="624400" cy="238296"/>
              </a:xfrm>
            </p:grpSpPr>
            <p:sp>
              <p:nvSpPr>
                <p:cNvPr id="4322" name="Google Shape;4322;p4"/>
                <p:cNvSpPr/>
                <p:nvPr/>
              </p:nvSpPr>
              <p:spPr>
                <a:xfrm>
                  <a:off x="12517750" y="307189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8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23" name="Google Shape;4323;p4"/>
                <p:cNvSpPr/>
                <p:nvPr/>
              </p:nvSpPr>
              <p:spPr>
                <a:xfrm>
                  <a:off x="12778089" y="311249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24" name="Google Shape;4324;p4"/>
                <p:cNvSpPr/>
                <p:nvPr/>
              </p:nvSpPr>
              <p:spPr>
                <a:xfrm>
                  <a:off x="12588940" y="31804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4325" name="Google Shape;4325;p4"/>
              <p:cNvSpPr txBox="1"/>
              <p:nvPr/>
            </p:nvSpPr>
            <p:spPr>
              <a:xfrm>
                <a:off x="9189059" y="1284487"/>
                <a:ext cx="1731210"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B666FD"/>
                  </a:buClr>
                  <a:buSzPts val="2800"/>
                  <a:buFont typeface="Arial"/>
                  <a:buNone/>
                </a:pPr>
                <a:r>
                  <a:rPr lang="en-US" sz="2800">
                    <a:solidFill>
                      <a:schemeClr val="accent4"/>
                    </a:solidFill>
                    <a:latin typeface="Arial"/>
                    <a:ea typeface="Arial"/>
                    <a:cs typeface="Arial"/>
                    <a:sym typeface="Arial"/>
                  </a:rPr>
                  <a:t>Secure</a:t>
                </a:r>
                <a:r>
                  <a:rPr lang="en-US" sz="1600" b="0" i="0" u="none" strike="noStrike" cap="none">
                    <a:solidFill>
                      <a:srgbClr val="3F3F3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a:solidFill>
                      <a:srgbClr val="3F3F3F"/>
                    </a:solidFill>
                    <a:latin typeface="Arial"/>
                    <a:ea typeface="Arial"/>
                    <a:cs typeface="Arial"/>
                    <a:sym typeface="Arial"/>
                  </a:rPr>
                  <a:t>and Protect y</a:t>
                </a:r>
                <a:r>
                  <a:rPr lang="en-US" sz="1600" b="0" i="0" u="none" strike="noStrike" cap="none">
                    <a:solidFill>
                      <a:srgbClr val="3F3F3F"/>
                    </a:solidFill>
                    <a:latin typeface="Arial"/>
                    <a:ea typeface="Arial"/>
                    <a:cs typeface="Arial"/>
                    <a:sym typeface="Arial"/>
                  </a:rPr>
                  <a:t>our Private Cloud</a:t>
                </a:r>
                <a:endParaRPr sz="1400" b="0" i="0" u="none" strike="noStrike" cap="none">
                  <a:solidFill>
                    <a:srgbClr val="000000"/>
                  </a:solidFill>
                  <a:latin typeface="Arial"/>
                  <a:ea typeface="Arial"/>
                  <a:cs typeface="Arial"/>
                  <a:sym typeface="Arial"/>
                </a:endParaRPr>
              </a:p>
            </p:txBody>
          </p:sp>
          <p:sp>
            <p:nvSpPr>
              <p:cNvPr id="4326" name="Google Shape;4326;p4"/>
              <p:cNvSpPr/>
              <p:nvPr/>
            </p:nvSpPr>
            <p:spPr>
              <a:xfrm>
                <a:off x="9709737" y="2853996"/>
                <a:ext cx="731616" cy="731520"/>
              </a:xfrm>
              <a:prstGeom prst="ellipse">
                <a:avLst/>
              </a:prstGeom>
              <a:solidFill>
                <a:schemeClr val="accent4"/>
              </a:solidFill>
              <a:ln w="25400" cap="flat" cmpd="sng">
                <a:solidFill>
                  <a:schemeClr val="lt1"/>
                </a:solidFill>
                <a:prstDash val="solid"/>
                <a:round/>
                <a:headEnd type="none" w="sm" len="sm"/>
                <a:tailEnd type="none" w="sm" len="sm"/>
              </a:ln>
            </p:spPr>
            <p:txBody>
              <a:bodyPr spcFirstLastPara="1" wrap="square" lIns="60900" tIns="30450" rIns="60900" bIns="304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3F3F3F"/>
                  </a:solidFill>
                  <a:latin typeface="Arial"/>
                  <a:ea typeface="Arial"/>
                  <a:cs typeface="Arial"/>
                  <a:sym typeface="Arial"/>
                </a:endParaRPr>
              </a:p>
            </p:txBody>
          </p:sp>
        </p:grpSp>
        <p:sp>
          <p:nvSpPr>
            <p:cNvPr id="4327" name="Google Shape;4327;p4"/>
            <p:cNvSpPr/>
            <p:nvPr/>
          </p:nvSpPr>
          <p:spPr>
            <a:xfrm>
              <a:off x="9904196" y="3026289"/>
              <a:ext cx="366532" cy="373491"/>
            </a:xfrm>
            <a:custGeom>
              <a:avLst/>
              <a:gdLst/>
              <a:ahLst/>
              <a:cxnLst/>
              <a:rect l="l" t="t" r="r" b="b"/>
              <a:pathLst>
                <a:path w="579532" h="576685" extrusionOk="0">
                  <a:moveTo>
                    <a:pt x="130350" y="576685"/>
                  </a:moveTo>
                  <a:lnTo>
                    <a:pt x="0" y="576685"/>
                  </a:lnTo>
                  <a:lnTo>
                    <a:pt x="0" y="452407"/>
                  </a:lnTo>
                  <a:lnTo>
                    <a:pt x="2277" y="450130"/>
                  </a:lnTo>
                  <a:cubicBezTo>
                    <a:pt x="2277" y="450130"/>
                    <a:pt x="2277" y="450130"/>
                    <a:pt x="206119" y="250968"/>
                  </a:cubicBezTo>
                  <a:lnTo>
                    <a:pt x="143821" y="188671"/>
                  </a:lnTo>
                  <a:cubicBezTo>
                    <a:pt x="124078" y="168914"/>
                    <a:pt x="124078" y="136896"/>
                    <a:pt x="143821" y="117140"/>
                  </a:cubicBezTo>
                  <a:lnTo>
                    <a:pt x="246153" y="14808"/>
                  </a:lnTo>
                  <a:cubicBezTo>
                    <a:pt x="265910" y="-4936"/>
                    <a:pt x="297928" y="-4936"/>
                    <a:pt x="317685" y="14808"/>
                  </a:cubicBezTo>
                  <a:lnTo>
                    <a:pt x="564724" y="261847"/>
                  </a:lnTo>
                  <a:cubicBezTo>
                    <a:pt x="584469" y="281603"/>
                    <a:pt x="584469" y="313621"/>
                    <a:pt x="564724" y="333378"/>
                  </a:cubicBezTo>
                  <a:lnTo>
                    <a:pt x="462392" y="435773"/>
                  </a:lnTo>
                  <a:cubicBezTo>
                    <a:pt x="442657" y="455391"/>
                    <a:pt x="410785" y="455391"/>
                    <a:pt x="391050" y="435773"/>
                  </a:cubicBezTo>
                  <a:lnTo>
                    <a:pt x="329701" y="374424"/>
                  </a:lnTo>
                  <a:lnTo>
                    <a:pt x="285998" y="417685"/>
                  </a:lnTo>
                  <a:lnTo>
                    <a:pt x="231101" y="417685"/>
                  </a:lnTo>
                  <a:lnTo>
                    <a:pt x="231101" y="472266"/>
                  </a:lnTo>
                  <a:lnTo>
                    <a:pt x="189295" y="513755"/>
                  </a:lnTo>
                  <a:lnTo>
                    <a:pt x="130350" y="513755"/>
                  </a:lnTo>
                  <a:close/>
                  <a:moveTo>
                    <a:pt x="15812" y="560874"/>
                  </a:moveTo>
                  <a:lnTo>
                    <a:pt x="114539" y="560874"/>
                  </a:lnTo>
                  <a:lnTo>
                    <a:pt x="114539" y="497628"/>
                  </a:lnTo>
                  <a:lnTo>
                    <a:pt x="182781" y="497628"/>
                  </a:lnTo>
                  <a:lnTo>
                    <a:pt x="215289" y="465309"/>
                  </a:lnTo>
                  <a:lnTo>
                    <a:pt x="215289" y="401810"/>
                  </a:lnTo>
                  <a:lnTo>
                    <a:pt x="279294" y="401810"/>
                  </a:lnTo>
                  <a:lnTo>
                    <a:pt x="329891" y="352035"/>
                  </a:lnTo>
                  <a:lnTo>
                    <a:pt x="402055" y="424515"/>
                  </a:lnTo>
                  <a:cubicBezTo>
                    <a:pt x="415604" y="438085"/>
                    <a:pt x="437589" y="438102"/>
                    <a:pt x="451159" y="424553"/>
                  </a:cubicBezTo>
                  <a:cubicBezTo>
                    <a:pt x="451172" y="424541"/>
                    <a:pt x="451184" y="424528"/>
                    <a:pt x="451197" y="424515"/>
                  </a:cubicBezTo>
                  <a:lnTo>
                    <a:pt x="553529" y="321930"/>
                  </a:lnTo>
                  <a:cubicBezTo>
                    <a:pt x="567102" y="308381"/>
                    <a:pt x="567114" y="286396"/>
                    <a:pt x="553567" y="272826"/>
                  </a:cubicBezTo>
                  <a:cubicBezTo>
                    <a:pt x="553554" y="272813"/>
                    <a:pt x="553542" y="272801"/>
                    <a:pt x="553529" y="272788"/>
                  </a:cubicBezTo>
                  <a:lnTo>
                    <a:pt x="306870" y="25749"/>
                  </a:lnTo>
                  <a:cubicBezTo>
                    <a:pt x="293241" y="12261"/>
                    <a:pt x="271293" y="12261"/>
                    <a:pt x="257664" y="25749"/>
                  </a:cubicBezTo>
                  <a:lnTo>
                    <a:pt x="155016" y="128334"/>
                  </a:lnTo>
                  <a:cubicBezTo>
                    <a:pt x="141527" y="141963"/>
                    <a:pt x="141527" y="163911"/>
                    <a:pt x="155016" y="177540"/>
                  </a:cubicBezTo>
                  <a:lnTo>
                    <a:pt x="228571" y="251095"/>
                  </a:lnTo>
                  <a:lnTo>
                    <a:pt x="222879" y="256660"/>
                  </a:lnTo>
                  <a:lnTo>
                    <a:pt x="15812" y="45904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28" name="Google Shape;4328;p4"/>
            <p:cNvSpPr/>
            <p:nvPr/>
          </p:nvSpPr>
          <p:spPr>
            <a:xfrm rot="-2700000">
              <a:off x="9926012" y="3278047"/>
              <a:ext cx="166283" cy="10240"/>
            </a:xfrm>
            <a:custGeom>
              <a:avLst/>
              <a:gdLst/>
              <a:ahLst/>
              <a:cxnLst/>
              <a:rect l="l" t="t" r="r" b="b"/>
              <a:pathLst>
                <a:path w="262913" h="15811" extrusionOk="0">
                  <a:moveTo>
                    <a:pt x="0" y="0"/>
                  </a:moveTo>
                  <a:lnTo>
                    <a:pt x="262914" y="0"/>
                  </a:lnTo>
                  <a:lnTo>
                    <a:pt x="262914"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29" name="Google Shape;4329;p4"/>
            <p:cNvSpPr/>
            <p:nvPr/>
          </p:nvSpPr>
          <p:spPr>
            <a:xfrm>
              <a:off x="10102118" y="3141523"/>
              <a:ext cx="80001" cy="81923"/>
            </a:xfrm>
            <a:custGeom>
              <a:avLst/>
              <a:gdLst/>
              <a:ahLst/>
              <a:cxnLst/>
              <a:rect l="l" t="t" r="r" b="b"/>
              <a:pathLst>
                <a:path w="126492" h="126492" extrusionOk="0">
                  <a:moveTo>
                    <a:pt x="63246" y="126366"/>
                  </a:moveTo>
                  <a:cubicBezTo>
                    <a:pt x="58915" y="125814"/>
                    <a:pt x="55851" y="121856"/>
                    <a:pt x="56402" y="117525"/>
                  </a:cubicBezTo>
                  <a:cubicBezTo>
                    <a:pt x="56856" y="113950"/>
                    <a:pt x="59671" y="111135"/>
                    <a:pt x="63246" y="110681"/>
                  </a:cubicBezTo>
                  <a:cubicBezTo>
                    <a:pt x="89443" y="110681"/>
                    <a:pt x="110681" y="89443"/>
                    <a:pt x="110681" y="63246"/>
                  </a:cubicBezTo>
                  <a:cubicBezTo>
                    <a:pt x="110681" y="37049"/>
                    <a:pt x="89443" y="15812"/>
                    <a:pt x="63246" y="15812"/>
                  </a:cubicBezTo>
                  <a:cubicBezTo>
                    <a:pt x="37049" y="15812"/>
                    <a:pt x="15812" y="37049"/>
                    <a:pt x="15812" y="63246"/>
                  </a:cubicBezTo>
                  <a:cubicBezTo>
                    <a:pt x="15812" y="67613"/>
                    <a:pt x="12272" y="71152"/>
                    <a:pt x="7906" y="71152"/>
                  </a:cubicBezTo>
                  <a:cubicBezTo>
                    <a:pt x="3539" y="71152"/>
                    <a:pt x="0" y="67613"/>
                    <a:pt x="0" y="63246"/>
                  </a:cubicBezTo>
                  <a:cubicBezTo>
                    <a:pt x="0" y="28316"/>
                    <a:pt x="28316" y="0"/>
                    <a:pt x="63246" y="0"/>
                  </a:cubicBezTo>
                  <a:cubicBezTo>
                    <a:pt x="98176" y="0"/>
                    <a:pt x="126492" y="28316"/>
                    <a:pt x="126492" y="63246"/>
                  </a:cubicBezTo>
                  <a:cubicBezTo>
                    <a:pt x="126492" y="98176"/>
                    <a:pt x="98176" y="126492"/>
                    <a:pt x="63246" y="1264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4330" name="Google Shape;4330;p4"/>
          <p:cNvSpPr/>
          <p:nvPr/>
        </p:nvSpPr>
        <p:spPr>
          <a:xfrm>
            <a:off x="1905745" y="2765715"/>
            <a:ext cx="1287766" cy="1290645"/>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331" name="Google Shape;4331;p4"/>
          <p:cNvGrpSpPr/>
          <p:nvPr/>
        </p:nvGrpSpPr>
        <p:grpSpPr>
          <a:xfrm>
            <a:off x="5336894" y="2294535"/>
            <a:ext cx="1287766" cy="1290645"/>
            <a:chOff x="8608478" y="1596058"/>
            <a:chExt cx="1288152" cy="1291032"/>
          </a:xfrm>
        </p:grpSpPr>
        <p:sp>
          <p:nvSpPr>
            <p:cNvPr id="4332" name="Google Shape;4332;p4"/>
            <p:cNvSpPr/>
            <p:nvPr/>
          </p:nvSpPr>
          <p:spPr>
            <a:xfrm>
              <a:off x="8608478" y="1596058"/>
              <a:ext cx="1288152" cy="1291032"/>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333" name="Google Shape;4333;p4"/>
            <p:cNvGrpSpPr/>
            <p:nvPr/>
          </p:nvGrpSpPr>
          <p:grpSpPr>
            <a:xfrm>
              <a:off x="8679268" y="1667007"/>
              <a:ext cx="1146570" cy="1149134"/>
              <a:chOff x="8679268" y="1667007"/>
              <a:chExt cx="1146570" cy="1149134"/>
            </a:xfrm>
          </p:grpSpPr>
          <p:sp>
            <p:nvSpPr>
              <p:cNvPr id="4334" name="Google Shape;4334;p4"/>
              <p:cNvSpPr/>
              <p:nvPr/>
            </p:nvSpPr>
            <p:spPr>
              <a:xfrm>
                <a:off x="8679268" y="1667007"/>
                <a:ext cx="1146570" cy="1149134"/>
              </a:xfrm>
              <a:prstGeom prst="ellipse">
                <a:avLst/>
              </a:prstGeom>
              <a:gradFill>
                <a:gsLst>
                  <a:gs pos="0">
                    <a:schemeClr val="accent2"/>
                  </a:gs>
                  <a:gs pos="71000">
                    <a:schemeClr val="accent3"/>
                  </a:gs>
                  <a:gs pos="100000">
                    <a:schemeClr val="accent3"/>
                  </a:gs>
                </a:gsLst>
                <a:lin ang="189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335" name="Google Shape;4335;p4"/>
              <p:cNvGrpSpPr/>
              <p:nvPr/>
            </p:nvGrpSpPr>
            <p:grpSpPr>
              <a:xfrm>
                <a:off x="8942231" y="1952085"/>
                <a:ext cx="620645" cy="578979"/>
                <a:chOff x="1854219" y="4375174"/>
                <a:chExt cx="543307" cy="506834"/>
              </a:xfrm>
            </p:grpSpPr>
            <p:sp>
              <p:nvSpPr>
                <p:cNvPr id="4336" name="Google Shape;4336;p4"/>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337" name="Google Shape;4337;p4"/>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338" name="Google Shape;4338;p4"/>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339" name="Google Shape;4339;p4"/>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340" name="Google Shape;4340;p4"/>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341" name="Google Shape;4341;p4"/>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grpSp>
        </p:grpSp>
      </p:grpSp>
      <p:grpSp>
        <p:nvGrpSpPr>
          <p:cNvPr id="4342" name="Google Shape;4342;p4"/>
          <p:cNvGrpSpPr/>
          <p:nvPr/>
        </p:nvGrpSpPr>
        <p:grpSpPr>
          <a:xfrm>
            <a:off x="8694466" y="2788743"/>
            <a:ext cx="1287817" cy="1290696"/>
            <a:chOff x="5942869" y="4312444"/>
            <a:chExt cx="1288152" cy="1291032"/>
          </a:xfrm>
        </p:grpSpPr>
        <p:sp>
          <p:nvSpPr>
            <p:cNvPr id="4343" name="Google Shape;4343;p4"/>
            <p:cNvSpPr/>
            <p:nvPr/>
          </p:nvSpPr>
          <p:spPr>
            <a:xfrm>
              <a:off x="5942869" y="4312444"/>
              <a:ext cx="1288152" cy="1291032"/>
            </a:xfrm>
            <a:prstGeom prst="ellipse">
              <a:avLst/>
            </a:prstGeom>
            <a:solidFill>
              <a:srgbClr val="F2F2F2">
                <a:alpha val="48627"/>
              </a:srgb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344" name="Google Shape;4344;p4"/>
            <p:cNvGrpSpPr/>
            <p:nvPr/>
          </p:nvGrpSpPr>
          <p:grpSpPr>
            <a:xfrm>
              <a:off x="6013661" y="4383395"/>
              <a:ext cx="1146570" cy="1149135"/>
              <a:chOff x="6013661" y="4383395"/>
              <a:chExt cx="1146570" cy="1149135"/>
            </a:xfrm>
          </p:grpSpPr>
          <p:sp>
            <p:nvSpPr>
              <p:cNvPr id="4345" name="Google Shape;4345;p4"/>
              <p:cNvSpPr/>
              <p:nvPr/>
            </p:nvSpPr>
            <p:spPr>
              <a:xfrm>
                <a:off x="6013661" y="4383395"/>
                <a:ext cx="1146570" cy="1149135"/>
              </a:xfrm>
              <a:prstGeom prst="ellipse">
                <a:avLst/>
              </a:prstGeom>
              <a:gradFill>
                <a:gsLst>
                  <a:gs pos="0">
                    <a:schemeClr val="accent1"/>
                  </a:gs>
                  <a:gs pos="30000">
                    <a:schemeClr val="accent1"/>
                  </a:gs>
                  <a:gs pos="100000">
                    <a:schemeClr val="accent4"/>
                  </a:gs>
                </a:gsLst>
                <a:lin ang="189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346" name="Google Shape;4346;p4"/>
              <p:cNvGrpSpPr/>
              <p:nvPr/>
            </p:nvGrpSpPr>
            <p:grpSpPr>
              <a:xfrm>
                <a:off x="6281660" y="4599336"/>
                <a:ext cx="610572" cy="717253"/>
                <a:chOff x="1893239" y="713314"/>
                <a:chExt cx="510395" cy="599572"/>
              </a:xfrm>
            </p:grpSpPr>
            <p:sp>
              <p:nvSpPr>
                <p:cNvPr id="4347" name="Google Shape;4347;p4"/>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25" tIns="43400" rIns="86825" bIns="434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sp>
              <p:nvSpPr>
                <p:cNvPr id="4348" name="Google Shape;4348;p4"/>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25" tIns="43400" rIns="86825" bIns="434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u="none" strike="noStrike" cap="none">
                    <a:solidFill>
                      <a:srgbClr val="000000"/>
                    </a:solidFill>
                    <a:latin typeface="Arial"/>
                    <a:ea typeface="Arial"/>
                    <a:cs typeface="Arial"/>
                    <a:sym typeface="Arial"/>
                  </a:endParaRPr>
                </a:p>
              </p:txBody>
            </p:sp>
          </p:grpSp>
        </p:grpSp>
      </p:grpSp>
      <p:pic>
        <p:nvPicPr>
          <p:cNvPr id="4349" name="Google Shape;4349;p4"/>
          <p:cNvPicPr preferRelativeResize="0"/>
          <p:nvPr/>
        </p:nvPicPr>
        <p:blipFill rotWithShape="1">
          <a:blip r:embed="rId4">
            <a:alphaModFix/>
          </a:blip>
          <a:srcRect/>
          <a:stretch/>
        </p:blipFill>
        <p:spPr>
          <a:xfrm>
            <a:off x="1821468" y="3981787"/>
            <a:ext cx="293977" cy="293977"/>
          </a:xfrm>
          <a:prstGeom prst="rect">
            <a:avLst/>
          </a:prstGeom>
          <a:noFill/>
          <a:ln>
            <a:noFill/>
          </a:ln>
        </p:spPr>
      </p:pic>
      <p:pic>
        <p:nvPicPr>
          <p:cNvPr id="4350" name="Google Shape;4350;p4"/>
          <p:cNvPicPr preferRelativeResize="0"/>
          <p:nvPr/>
        </p:nvPicPr>
        <p:blipFill rotWithShape="1">
          <a:blip r:embed="rId3">
            <a:alphaModFix/>
          </a:blip>
          <a:srcRect/>
          <a:stretch/>
        </p:blipFill>
        <p:spPr>
          <a:xfrm>
            <a:off x="2191322" y="4023298"/>
            <a:ext cx="391969" cy="391969"/>
          </a:xfrm>
          <a:prstGeom prst="rect">
            <a:avLst/>
          </a:prstGeom>
          <a:noFill/>
          <a:ln>
            <a:noFill/>
          </a:ln>
        </p:spPr>
      </p:pic>
      <p:pic>
        <p:nvPicPr>
          <p:cNvPr id="4351" name="Google Shape;4351;p4"/>
          <p:cNvPicPr preferRelativeResize="0"/>
          <p:nvPr/>
        </p:nvPicPr>
        <p:blipFill rotWithShape="1">
          <a:blip r:embed="rId4">
            <a:alphaModFix/>
          </a:blip>
          <a:srcRect/>
          <a:stretch/>
        </p:blipFill>
        <p:spPr>
          <a:xfrm>
            <a:off x="3175113" y="4026920"/>
            <a:ext cx="391969" cy="391969"/>
          </a:xfrm>
          <a:prstGeom prst="rect">
            <a:avLst/>
          </a:prstGeom>
          <a:noFill/>
          <a:ln>
            <a:noFill/>
          </a:ln>
        </p:spPr>
      </p:pic>
      <p:pic>
        <p:nvPicPr>
          <p:cNvPr id="4352" name="Google Shape;4352;p4"/>
          <p:cNvPicPr preferRelativeResize="0"/>
          <p:nvPr/>
        </p:nvPicPr>
        <p:blipFill rotWithShape="1">
          <a:blip r:embed="rId4">
            <a:alphaModFix/>
          </a:blip>
          <a:srcRect/>
          <a:stretch/>
        </p:blipFill>
        <p:spPr>
          <a:xfrm>
            <a:off x="9542808" y="4647260"/>
            <a:ext cx="293977" cy="293977"/>
          </a:xfrm>
          <a:prstGeom prst="rect">
            <a:avLst/>
          </a:prstGeom>
          <a:noFill/>
          <a:ln>
            <a:noFill/>
          </a:ln>
        </p:spPr>
      </p:pic>
      <p:sp>
        <p:nvSpPr>
          <p:cNvPr id="4353" name="Google Shape;4353;p4"/>
          <p:cNvSpPr txBox="1"/>
          <p:nvPr/>
        </p:nvSpPr>
        <p:spPr>
          <a:xfrm>
            <a:off x="8277195" y="4347483"/>
            <a:ext cx="3166775"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a:solidFill>
                  <a:schemeClr val="dk1"/>
                </a:solidFill>
                <a:latin typeface="Arial"/>
                <a:ea typeface="Arial"/>
                <a:cs typeface="Arial"/>
                <a:sym typeface="Arial"/>
              </a:rPr>
              <a:t>Security Operations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Extended VM-level Data Protection</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Protecting VMs Across Clusters</a:t>
            </a:r>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Resiliency &amp; Security</a:t>
            </a: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sp>
        <p:nvSpPr>
          <p:cNvPr id="4354" name="Google Shape;4354;p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accent2"/>
              </a:buClr>
              <a:buSzPts val="2800"/>
              <a:buFont typeface="Arial"/>
              <a:buNone/>
            </a:pPr>
            <a:r>
              <a:rPr lang="en-US"/>
              <a:t>What’s New in VMware Cloud Foundation 9</a:t>
            </a:r>
            <a:endParaRPr/>
          </a:p>
        </p:txBody>
      </p:sp>
      <p:sp>
        <p:nvSpPr>
          <p:cNvPr id="4355" name="Google Shape;4355;p4"/>
          <p:cNvSpPr/>
          <p:nvPr/>
        </p:nvSpPr>
        <p:spPr>
          <a:xfrm>
            <a:off x="1069475" y="1156766"/>
            <a:ext cx="10374495" cy="5061154"/>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grpSp>
        <p:nvGrpSpPr>
          <p:cNvPr id="4356" name="Google Shape;4356;p4"/>
          <p:cNvGrpSpPr/>
          <p:nvPr/>
        </p:nvGrpSpPr>
        <p:grpSpPr>
          <a:xfrm>
            <a:off x="1174313" y="1937477"/>
            <a:ext cx="3022880" cy="4005572"/>
            <a:chOff x="1174313" y="1937477"/>
            <a:chExt cx="3022880" cy="4005572"/>
          </a:xfrm>
        </p:grpSpPr>
        <p:grpSp>
          <p:nvGrpSpPr>
            <p:cNvPr id="4357" name="Google Shape;4357;p4"/>
            <p:cNvGrpSpPr/>
            <p:nvPr/>
          </p:nvGrpSpPr>
          <p:grpSpPr>
            <a:xfrm>
              <a:off x="1174313" y="1937477"/>
              <a:ext cx="3022880" cy="4005572"/>
              <a:chOff x="781204" y="1541237"/>
              <a:chExt cx="3022880" cy="4005572"/>
            </a:xfrm>
          </p:grpSpPr>
          <p:sp>
            <p:nvSpPr>
              <p:cNvPr id="4358" name="Google Shape;4358;p4"/>
              <p:cNvSpPr txBox="1"/>
              <p:nvPr/>
            </p:nvSpPr>
            <p:spPr>
              <a:xfrm>
                <a:off x="781204" y="3950407"/>
                <a:ext cx="3022880"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a:solidFill>
                      <a:schemeClr val="dk1"/>
                    </a:solidFill>
                    <a:latin typeface="Arial"/>
                    <a:ea typeface="Arial"/>
                    <a:cs typeface="Arial"/>
                    <a:sym typeface="Arial"/>
                  </a:rPr>
                  <a:t>VCF Deployment Pathways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SDDC Infrastructure    </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Fleet Management &amp; Operations</a:t>
                </a:r>
                <a:endParaRPr/>
              </a:p>
              <a:p>
                <a:pPr marL="342900" marR="0" lvl="0" indent="-342900" algn="l" rtl="0">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Deliver Self-service IaaS</a:t>
                </a:r>
                <a:endParaRPr/>
              </a:p>
              <a:p>
                <a:pPr marL="342900" marR="0" lvl="0" indent="-342900" algn="l" rtl="0">
                  <a:lnSpc>
                    <a:spcPct val="100000"/>
                  </a:lnSpc>
                  <a:spcBef>
                    <a:spcPts val="600"/>
                  </a:spcBef>
                  <a:spcAft>
                    <a:spcPts val="0"/>
                  </a:spcAft>
                  <a:buClr>
                    <a:srgbClr val="666666"/>
                  </a:buClr>
                  <a:buSzPts val="1170"/>
                  <a:buFont typeface="Arial"/>
                  <a:buChar char="•"/>
                </a:pPr>
                <a:r>
                  <a:rPr lang="en-US" sz="1300">
                    <a:solidFill>
                      <a:schemeClr val="dk1"/>
                    </a:solidFill>
                    <a:latin typeface="Arial"/>
                    <a:ea typeface="Arial"/>
                    <a:cs typeface="Arial"/>
                    <a:sym typeface="Arial"/>
                  </a:rPr>
                  <a:t>Migrating to VCF</a:t>
                </a:r>
                <a:endParaRPr/>
              </a:p>
              <a:p>
                <a:pPr marL="342900" marR="0" lvl="0" indent="-268605" algn="l" rtl="0">
                  <a:lnSpc>
                    <a:spcPct val="100000"/>
                  </a:lnSpc>
                  <a:spcBef>
                    <a:spcPts val="600"/>
                  </a:spcBef>
                  <a:spcAft>
                    <a:spcPts val="0"/>
                  </a:spcAft>
                  <a:buClr>
                    <a:srgbClr val="666666"/>
                  </a:buClr>
                  <a:buSzPts val="1170"/>
                  <a:buFont typeface="Arial"/>
                  <a:buNone/>
                </a:pPr>
                <a:endParaRPr sz="1300">
                  <a:solidFill>
                    <a:schemeClr val="dk1"/>
                  </a:solidFill>
                  <a:latin typeface="Arial"/>
                  <a:ea typeface="Arial"/>
                  <a:cs typeface="Arial"/>
                  <a:sym typeface="Arial"/>
                </a:endParaRPr>
              </a:p>
              <a:p>
                <a:pPr marL="342900" marR="0" lvl="0" indent="-268605" algn="l" rtl="0">
                  <a:lnSpc>
                    <a:spcPct val="100000"/>
                  </a:lnSpc>
                  <a:spcBef>
                    <a:spcPts val="600"/>
                  </a:spcBef>
                  <a:spcAft>
                    <a:spcPts val="0"/>
                  </a:spcAft>
                  <a:buClr>
                    <a:srgbClr val="666666"/>
                  </a:buClr>
                  <a:buSzPts val="1170"/>
                  <a:buFont typeface="Arial"/>
                  <a:buNone/>
                </a:pP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grpSp>
            <p:nvGrpSpPr>
              <p:cNvPr id="4359" name="Google Shape;4359;p4"/>
              <p:cNvGrpSpPr/>
              <p:nvPr/>
            </p:nvGrpSpPr>
            <p:grpSpPr>
              <a:xfrm>
                <a:off x="1121726" y="2294053"/>
                <a:ext cx="1975340" cy="846680"/>
                <a:chOff x="12476192" y="3025185"/>
                <a:chExt cx="665958" cy="285446"/>
              </a:xfrm>
            </p:grpSpPr>
            <p:sp>
              <p:nvSpPr>
                <p:cNvPr id="4360" name="Google Shape;4360;p4"/>
                <p:cNvSpPr/>
                <p:nvPr/>
              </p:nvSpPr>
              <p:spPr>
                <a:xfrm>
                  <a:off x="12476192"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61" name="Google Shape;4361;p4"/>
                <p:cNvSpPr/>
                <p:nvPr/>
              </p:nvSpPr>
              <p:spPr>
                <a:xfrm>
                  <a:off x="12778089" y="313451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4362" name="Google Shape;4362;p4"/>
                <p:cNvSpPr/>
                <p:nvPr/>
              </p:nvSpPr>
              <p:spPr>
                <a:xfrm>
                  <a:off x="12554829" y="31856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4363" name="Google Shape;4363;p4"/>
              <p:cNvSpPr txBox="1"/>
              <p:nvPr/>
            </p:nvSpPr>
            <p:spPr>
              <a:xfrm>
                <a:off x="1102974" y="1541237"/>
                <a:ext cx="1992527"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B050"/>
                  </a:buClr>
                  <a:buSzPts val="2800"/>
                  <a:buFont typeface="Arial"/>
                  <a:buNone/>
                </a:pPr>
                <a:r>
                  <a:rPr lang="en-US" sz="2800">
                    <a:solidFill>
                      <a:schemeClr val="accent5"/>
                    </a:solidFill>
                    <a:latin typeface="Arial"/>
                    <a:ea typeface="Arial"/>
                    <a:cs typeface="Arial"/>
                    <a:sym typeface="Arial"/>
                  </a:rPr>
                  <a:t>Modernize</a:t>
                </a:r>
                <a:endParaRPr sz="1400" b="0" i="0" u="none" strike="noStrike" cap="none">
                  <a:solidFill>
                    <a:schemeClr val="accent5"/>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b="0" i="0" u="none" strike="noStrike" cap="none">
                    <a:solidFill>
                      <a:srgbClr val="3F3F3F"/>
                    </a:solidFill>
                    <a:latin typeface="Arial"/>
                    <a:ea typeface="Arial"/>
                    <a:cs typeface="Arial"/>
                    <a:sym typeface="Arial"/>
                  </a:rPr>
                  <a:t> </a:t>
                </a:r>
                <a:r>
                  <a:rPr lang="en-US" sz="1600">
                    <a:solidFill>
                      <a:srgbClr val="3F3F3F"/>
                    </a:solidFill>
                    <a:latin typeface="Arial"/>
                    <a:ea typeface="Arial"/>
                    <a:cs typeface="Arial"/>
                    <a:sym typeface="Arial"/>
                  </a:rPr>
                  <a:t>Infrastructure</a:t>
                </a:r>
                <a:endParaRPr sz="1400" b="0" i="0" u="none" strike="noStrike" cap="none">
                  <a:solidFill>
                    <a:srgbClr val="000000"/>
                  </a:solidFill>
                  <a:latin typeface="Arial"/>
                  <a:ea typeface="Arial"/>
                  <a:cs typeface="Arial"/>
                  <a:sym typeface="Arial"/>
                </a:endParaRPr>
              </a:p>
            </p:txBody>
          </p:sp>
          <p:sp>
            <p:nvSpPr>
              <p:cNvPr id="4364" name="Google Shape;4364;p4"/>
              <p:cNvSpPr/>
              <p:nvPr/>
            </p:nvSpPr>
            <p:spPr>
              <a:xfrm>
                <a:off x="1963596" y="3013435"/>
                <a:ext cx="392029" cy="392223"/>
              </a:xfrm>
              <a:custGeom>
                <a:avLst/>
                <a:gdLst/>
                <a:ahLst/>
                <a:cxnLst/>
                <a:rect l="l" t="t" r="r" b="b"/>
                <a:pathLst>
                  <a:path w="597674" h="597674" extrusionOk="0">
                    <a:moveTo>
                      <a:pt x="298521" y="597675"/>
                    </a:moveTo>
                    <a:cubicBezTo>
                      <a:pt x="133449" y="597675"/>
                      <a:pt x="0" y="463593"/>
                      <a:pt x="0" y="298521"/>
                    </a:cubicBezTo>
                    <a:cubicBezTo>
                      <a:pt x="0" y="133449"/>
                      <a:pt x="134082" y="0"/>
                      <a:pt x="298521" y="0"/>
                    </a:cubicBezTo>
                    <a:cubicBezTo>
                      <a:pt x="462961" y="0"/>
                      <a:pt x="597675" y="134082"/>
                      <a:pt x="597675" y="298521"/>
                    </a:cubicBezTo>
                    <a:cubicBezTo>
                      <a:pt x="597675" y="462961"/>
                      <a:pt x="462961" y="597675"/>
                      <a:pt x="298521" y="597675"/>
                    </a:cubicBezTo>
                    <a:close/>
                    <a:moveTo>
                      <a:pt x="298521" y="15811"/>
                    </a:moveTo>
                    <a:cubicBezTo>
                      <a:pt x="142304" y="15811"/>
                      <a:pt x="15179" y="142936"/>
                      <a:pt x="15179" y="299154"/>
                    </a:cubicBezTo>
                    <a:cubicBezTo>
                      <a:pt x="15179" y="455371"/>
                      <a:pt x="142304" y="582496"/>
                      <a:pt x="298521" y="582496"/>
                    </a:cubicBezTo>
                    <a:cubicBezTo>
                      <a:pt x="454739" y="582496"/>
                      <a:pt x="581863" y="455371"/>
                      <a:pt x="581863" y="299154"/>
                    </a:cubicBezTo>
                    <a:cubicBezTo>
                      <a:pt x="581863" y="142936"/>
                      <a:pt x="454106" y="15811"/>
                      <a:pt x="298521" y="1581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4365" name="Google Shape;4365;p4"/>
            <p:cNvGrpSpPr/>
            <p:nvPr/>
          </p:nvGrpSpPr>
          <p:grpSpPr>
            <a:xfrm>
              <a:off x="1976514" y="2836643"/>
              <a:ext cx="1146226" cy="1148790"/>
              <a:chOff x="4907426" y="1918730"/>
              <a:chExt cx="983346" cy="985545"/>
            </a:xfrm>
          </p:grpSpPr>
          <p:sp>
            <p:nvSpPr>
              <p:cNvPr id="4366" name="Google Shape;4366;p4"/>
              <p:cNvSpPr/>
              <p:nvPr/>
            </p:nvSpPr>
            <p:spPr>
              <a:xfrm>
                <a:off x="4907426" y="1918730"/>
                <a:ext cx="983346" cy="985545"/>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rgbClr val="FFFFFF"/>
                  </a:solidFill>
                  <a:latin typeface="Arial"/>
                  <a:ea typeface="Arial"/>
                  <a:cs typeface="Arial"/>
                  <a:sym typeface="Arial"/>
                </a:endParaRPr>
              </a:p>
            </p:txBody>
          </p:sp>
          <p:grpSp>
            <p:nvGrpSpPr>
              <p:cNvPr id="4367" name="Google Shape;4367;p4"/>
              <p:cNvGrpSpPr/>
              <p:nvPr/>
            </p:nvGrpSpPr>
            <p:grpSpPr>
              <a:xfrm>
                <a:off x="5101312" y="2167085"/>
                <a:ext cx="640019" cy="488811"/>
                <a:chOff x="1838171" y="5616069"/>
                <a:chExt cx="652849" cy="498611"/>
              </a:xfrm>
            </p:grpSpPr>
            <p:sp>
              <p:nvSpPr>
                <p:cNvPr id="4368" name="Google Shape;4368;p4"/>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369" name="Google Shape;4369;p4"/>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370" name="Google Shape;4370;p4"/>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371" name="Google Shape;4371;p4"/>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372" name="Google Shape;4372;p4"/>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373" name="Google Shape;4373;p4"/>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374" name="Google Shape;4374;p4"/>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375" name="Google Shape;4375;p4"/>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376" name="Google Shape;4376;p4"/>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sp>
              <p:nvSpPr>
                <p:cNvPr id="4377" name="Google Shape;4377;p4"/>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u="none" strike="noStrike" cap="none">
                    <a:solidFill>
                      <a:srgbClr val="000000"/>
                    </a:solidFill>
                    <a:latin typeface="Arial"/>
                    <a:ea typeface="Arial"/>
                    <a:cs typeface="Arial"/>
                    <a:sym typeface="Arial"/>
                  </a:endParaRPr>
                </a:p>
              </p:txBody>
            </p:sp>
          </p:grpSp>
        </p:grpSp>
      </p:grpSp>
      <p:pic>
        <p:nvPicPr>
          <p:cNvPr id="4378" name="Google Shape;4378;p4"/>
          <p:cNvPicPr preferRelativeResize="0"/>
          <p:nvPr/>
        </p:nvPicPr>
        <p:blipFill rotWithShape="1">
          <a:blip r:embed="rId4">
            <a:alphaModFix/>
          </a:blip>
          <a:srcRect/>
          <a:stretch/>
        </p:blipFill>
        <p:spPr>
          <a:xfrm>
            <a:off x="3820362" y="4375369"/>
            <a:ext cx="293977" cy="29397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55"/>
                                        </p:tgtEl>
                                        <p:attrNameLst>
                                          <p:attrName>style.visibility</p:attrName>
                                        </p:attrNameLst>
                                      </p:cBhvr>
                                      <p:to>
                                        <p:strVal val="visible"/>
                                      </p:to>
                                    </p:set>
                                    <p:animEffect transition="in" filter="fade">
                                      <p:cBhvr>
                                        <p:cTn id="7" dur="500"/>
                                        <p:tgtEl>
                                          <p:spTgt spid="4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EAC9C-E468-9407-21E9-819132B83069}"/>
            </a:ext>
          </a:extLst>
        </p:cNvPr>
        <p:cNvGrpSpPr/>
        <p:nvPr/>
      </p:nvGrpSpPr>
      <p:grpSpPr>
        <a:xfrm>
          <a:off x="0" y="0"/>
          <a:ext cx="0" cy="0"/>
          <a:chOff x="0" y="0"/>
          <a:chExt cx="0" cy="0"/>
        </a:xfrm>
      </p:grpSpPr>
      <p:sp>
        <p:nvSpPr>
          <p:cNvPr id="66" name="Rounded Rectangle 65">
            <a:extLst>
              <a:ext uri="{FF2B5EF4-FFF2-40B4-BE49-F238E27FC236}">
                <a16:creationId xmlns:a16="http://schemas.microsoft.com/office/drawing/2014/main" id="{85D59843-295B-1145-DC9A-F66BF6A14ED3}"/>
              </a:ext>
            </a:extLst>
          </p:cNvPr>
          <p:cNvSpPr/>
          <p:nvPr/>
        </p:nvSpPr>
        <p:spPr bwMode="gray">
          <a:xfrm>
            <a:off x="6479" y="1611780"/>
            <a:ext cx="8133399" cy="4572000"/>
          </a:xfrm>
          <a:prstGeom prst="roundRect">
            <a:avLst>
              <a:gd name="adj" fmla="val 0"/>
            </a:avLst>
          </a:prstGeom>
          <a:solidFill>
            <a:srgbClr val="F4F8FA"/>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10" name="Google Shape;3807;p31">
            <a:extLst>
              <a:ext uri="{FF2B5EF4-FFF2-40B4-BE49-F238E27FC236}">
                <a16:creationId xmlns:a16="http://schemas.microsoft.com/office/drawing/2014/main" id="{598FA780-681F-12DB-7C8D-EFA724434074}"/>
              </a:ext>
            </a:extLst>
          </p:cNvPr>
          <p:cNvSpPr/>
          <p:nvPr/>
        </p:nvSpPr>
        <p:spPr>
          <a:xfrm>
            <a:off x="606342" y="1750219"/>
            <a:ext cx="7405481" cy="4295951"/>
          </a:xfrm>
          <a:prstGeom prst="roundRect">
            <a:avLst>
              <a:gd name="adj" fmla="val 2790"/>
            </a:avLst>
          </a:prstGeom>
          <a:solidFill>
            <a:schemeClr val="bg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3090DE50-AC95-24D7-2D2F-023DDB64788D}"/>
              </a:ext>
            </a:extLst>
          </p:cNvPr>
          <p:cNvSpPr>
            <a:spLocks noGrp="1"/>
          </p:cNvSpPr>
          <p:nvPr>
            <p:ph type="title"/>
          </p:nvPr>
        </p:nvSpPr>
        <p:spPr/>
        <p:txBody>
          <a:bodyPr/>
          <a:lstStyle/>
          <a:p>
            <a:r>
              <a:rPr lang="en-US" dirty="0"/>
              <a:t>Deployment Pathways to Suit a Variety of Use Cases</a:t>
            </a:r>
          </a:p>
        </p:txBody>
      </p:sp>
      <p:sp>
        <p:nvSpPr>
          <p:cNvPr id="3" name="Subtitle 2">
            <a:extLst>
              <a:ext uri="{FF2B5EF4-FFF2-40B4-BE49-F238E27FC236}">
                <a16:creationId xmlns:a16="http://schemas.microsoft.com/office/drawing/2014/main" id="{CBE0FE30-E32D-915E-1B79-529A6A6A53B0}"/>
              </a:ext>
            </a:extLst>
          </p:cNvPr>
          <p:cNvSpPr>
            <a:spLocks noGrp="1"/>
          </p:cNvSpPr>
          <p:nvPr>
            <p:ph type="subTitle" idx="10"/>
          </p:nvPr>
        </p:nvSpPr>
        <p:spPr/>
        <p:txBody>
          <a:bodyPr/>
          <a:lstStyle/>
          <a:p>
            <a:r>
              <a:rPr lang="en-US" dirty="0"/>
              <a:t>VMware Cloud Foundation deployment workflows from the VCF Installer </a:t>
            </a:r>
          </a:p>
        </p:txBody>
      </p:sp>
      <p:sp>
        <p:nvSpPr>
          <p:cNvPr id="4" name="Text Placeholder 3">
            <a:extLst>
              <a:ext uri="{FF2B5EF4-FFF2-40B4-BE49-F238E27FC236}">
                <a16:creationId xmlns:a16="http://schemas.microsoft.com/office/drawing/2014/main" id="{D2846317-E304-9590-975C-BDED02A5FA36}"/>
              </a:ext>
            </a:extLst>
          </p:cNvPr>
          <p:cNvSpPr>
            <a:spLocks noGrp="1"/>
          </p:cNvSpPr>
          <p:nvPr>
            <p:ph type="body" sz="quarter" idx="17"/>
          </p:nvPr>
        </p:nvSpPr>
        <p:spPr/>
        <p:txBody>
          <a:bodyPr/>
          <a:lstStyle/>
          <a:p>
            <a:r>
              <a:rPr lang="en-US" dirty="0">
                <a:solidFill>
                  <a:schemeClr val="tx1"/>
                </a:solidFill>
              </a:rPr>
              <a:t>VCF Installer Appliance:</a:t>
            </a:r>
          </a:p>
          <a:p>
            <a:r>
              <a:rPr lang="en-US" b="1" dirty="0"/>
              <a:t>Deploy</a:t>
            </a:r>
            <a:r>
              <a:rPr lang="en-US" dirty="0"/>
              <a:t> a new VCF Fleet or </a:t>
            </a:r>
            <a:r>
              <a:rPr lang="en-US" b="1" dirty="0"/>
              <a:t>Expand</a:t>
            </a:r>
            <a:r>
              <a:rPr lang="en-US" dirty="0"/>
              <a:t> an existing VCF Fleet </a:t>
            </a:r>
          </a:p>
          <a:p>
            <a:pPr lvl="1"/>
            <a:r>
              <a:rPr lang="en-US" dirty="0"/>
              <a:t>vSphere with / without </a:t>
            </a:r>
            <a:r>
              <a:rPr lang="en-US" dirty="0" err="1"/>
              <a:t>vSAN</a:t>
            </a:r>
            <a:endParaRPr lang="en-US" dirty="0"/>
          </a:p>
          <a:p>
            <a:pPr lvl="1"/>
            <a:r>
              <a:rPr lang="en-US" dirty="0"/>
              <a:t>VCF Networking (NSX)</a:t>
            </a:r>
          </a:p>
          <a:p>
            <a:pPr lvl="1"/>
            <a:r>
              <a:rPr lang="en-US" dirty="0"/>
              <a:t>VCF Operations</a:t>
            </a:r>
          </a:p>
          <a:p>
            <a:pPr lvl="1"/>
            <a:r>
              <a:rPr lang="en-US" dirty="0"/>
              <a:t>VCF Automation</a:t>
            </a:r>
          </a:p>
          <a:p>
            <a:r>
              <a:rPr lang="en-US" b="1" dirty="0"/>
              <a:t>Converge</a:t>
            </a:r>
            <a:r>
              <a:rPr lang="en-US" dirty="0"/>
              <a:t> an existing vCenter deployment to VCF</a:t>
            </a:r>
          </a:p>
          <a:p>
            <a:pPr lvl="1"/>
            <a:r>
              <a:rPr lang="en-US" dirty="0"/>
              <a:t>vSphere with / without </a:t>
            </a:r>
            <a:r>
              <a:rPr lang="en-US" dirty="0" err="1"/>
              <a:t>vSAN</a:t>
            </a:r>
            <a:endParaRPr lang="en-US" dirty="0"/>
          </a:p>
          <a:p>
            <a:pPr lvl="1"/>
            <a:r>
              <a:rPr lang="en-US" dirty="0"/>
              <a:t>VCF Operations</a:t>
            </a:r>
          </a:p>
          <a:p>
            <a:pPr lvl="1"/>
            <a:r>
              <a:rPr lang="en-US" dirty="0"/>
              <a:t>VCF Automation</a:t>
            </a:r>
            <a:endParaRPr lang="en-US" dirty="0">
              <a:solidFill>
                <a:schemeClr val="tx1"/>
              </a:solidFill>
            </a:endParaRPr>
          </a:p>
          <a:p>
            <a:endParaRPr lang="en-US" dirty="0"/>
          </a:p>
        </p:txBody>
      </p:sp>
      <p:sp>
        <p:nvSpPr>
          <p:cNvPr id="208" name="Google Shape;3136;p19">
            <a:extLst>
              <a:ext uri="{FF2B5EF4-FFF2-40B4-BE49-F238E27FC236}">
                <a16:creationId xmlns:a16="http://schemas.microsoft.com/office/drawing/2014/main" id="{E9DB8916-3A9D-EF32-F34A-3254E19EF5BC}"/>
              </a:ext>
            </a:extLst>
          </p:cNvPr>
          <p:cNvSpPr txBox="1"/>
          <p:nvPr/>
        </p:nvSpPr>
        <p:spPr>
          <a:xfrm>
            <a:off x="813167" y="1822322"/>
            <a:ext cx="1013400" cy="286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30000"/>
              </a:lnSpc>
              <a:spcBef>
                <a:spcPts val="0"/>
              </a:spcBef>
              <a:spcAft>
                <a:spcPts val="0"/>
              </a:spcAft>
              <a:buClr>
                <a:srgbClr val="000000"/>
              </a:buClr>
              <a:buSzPts val="1000"/>
              <a:buFont typeface="Arial"/>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Arial"/>
                <a:cs typeface="Arial" panose="020B0604020202020204" pitchFamily="34" charset="0"/>
                <a:sym typeface="Arial"/>
              </a:rPr>
              <a:t>VCF 9.0</a:t>
            </a:r>
            <a:endParaRPr kumimoji="0" sz="1000" b="1" i="0" u="none" strike="noStrike" kern="1200" cap="none" spc="0" normalizeH="0" baseline="0" noProof="0" dirty="0">
              <a:ln>
                <a:noFill/>
              </a:ln>
              <a:solidFill>
                <a:srgbClr val="000000"/>
              </a:solidFill>
              <a:effectLst/>
              <a:uLnTx/>
              <a:uFillTx/>
              <a:latin typeface="Arial" panose="020B0604020202020204" pitchFamily="34" charset="0"/>
              <a:ea typeface="Arial"/>
              <a:cs typeface="Arial" panose="020B0604020202020204" pitchFamily="34" charset="0"/>
              <a:sym typeface="Arial"/>
            </a:endParaRPr>
          </a:p>
        </p:txBody>
      </p:sp>
      <p:grpSp>
        <p:nvGrpSpPr>
          <p:cNvPr id="163" name="Group 162">
            <a:extLst>
              <a:ext uri="{FF2B5EF4-FFF2-40B4-BE49-F238E27FC236}">
                <a16:creationId xmlns:a16="http://schemas.microsoft.com/office/drawing/2014/main" id="{59DA06BA-5E2D-DF15-45F0-2F66A8ECC956}"/>
              </a:ext>
            </a:extLst>
          </p:cNvPr>
          <p:cNvGrpSpPr/>
          <p:nvPr/>
        </p:nvGrpSpPr>
        <p:grpSpPr>
          <a:xfrm>
            <a:off x="2370193" y="1936000"/>
            <a:ext cx="2920016" cy="2200971"/>
            <a:chOff x="2287897" y="1936000"/>
            <a:chExt cx="2920016" cy="2200971"/>
          </a:xfrm>
        </p:grpSpPr>
        <p:grpSp>
          <p:nvGrpSpPr>
            <p:cNvPr id="141" name="Group 140">
              <a:extLst>
                <a:ext uri="{FF2B5EF4-FFF2-40B4-BE49-F238E27FC236}">
                  <a16:creationId xmlns:a16="http://schemas.microsoft.com/office/drawing/2014/main" id="{0075C4DA-548B-CE55-FAE8-787EB814A21C}"/>
                </a:ext>
              </a:extLst>
            </p:cNvPr>
            <p:cNvGrpSpPr/>
            <p:nvPr/>
          </p:nvGrpSpPr>
          <p:grpSpPr>
            <a:xfrm>
              <a:off x="2287897" y="1936000"/>
              <a:ext cx="2516941" cy="2200971"/>
              <a:chOff x="2287897" y="1936000"/>
              <a:chExt cx="2516941" cy="2200971"/>
            </a:xfrm>
          </p:grpSpPr>
          <p:sp>
            <p:nvSpPr>
              <p:cNvPr id="129" name="Rounded Rectangle 128">
                <a:extLst>
                  <a:ext uri="{FF2B5EF4-FFF2-40B4-BE49-F238E27FC236}">
                    <a16:creationId xmlns:a16="http://schemas.microsoft.com/office/drawing/2014/main" id="{C31876B7-56A0-82DF-795D-87CEB979988C}"/>
                  </a:ext>
                </a:extLst>
              </p:cNvPr>
              <p:cNvSpPr/>
              <p:nvPr/>
            </p:nvSpPr>
            <p:spPr bwMode="gray">
              <a:xfrm>
                <a:off x="2321634" y="2894572"/>
                <a:ext cx="2401031" cy="892606"/>
              </a:xfrm>
              <a:prstGeom prst="roundRect">
                <a:avLst>
                  <a:gd name="adj" fmla="val 4279"/>
                </a:avLst>
              </a:prstGeom>
              <a:noFill/>
              <a:ln w="28575">
                <a:solidFill>
                  <a:schemeClr val="accent4"/>
                </a:solidFill>
                <a:prstDash val="sysDot"/>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39" name="Rectangle 138">
                <a:extLst>
                  <a:ext uri="{FF2B5EF4-FFF2-40B4-BE49-F238E27FC236}">
                    <a16:creationId xmlns:a16="http://schemas.microsoft.com/office/drawing/2014/main" id="{A1D8837C-045C-C39E-B403-F883A0B2107F}"/>
                  </a:ext>
                </a:extLst>
              </p:cNvPr>
              <p:cNvSpPr/>
              <p:nvPr/>
            </p:nvSpPr>
            <p:spPr bwMode="gray">
              <a:xfrm>
                <a:off x="2287897" y="1936000"/>
                <a:ext cx="2516941" cy="1120531"/>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133" name="Group 132">
                <a:extLst>
                  <a:ext uri="{FF2B5EF4-FFF2-40B4-BE49-F238E27FC236}">
                    <a16:creationId xmlns:a16="http://schemas.microsoft.com/office/drawing/2014/main" id="{EF6A9A74-7C8D-6B22-2AC7-E04F160DE39A}"/>
                  </a:ext>
                </a:extLst>
              </p:cNvPr>
              <p:cNvGrpSpPr/>
              <p:nvPr/>
            </p:nvGrpSpPr>
            <p:grpSpPr>
              <a:xfrm>
                <a:off x="2482522" y="3579952"/>
                <a:ext cx="277179" cy="553015"/>
                <a:chOff x="5086390" y="2966073"/>
                <a:chExt cx="365757" cy="671971"/>
              </a:xfrm>
            </p:grpSpPr>
            <p:sp>
              <p:nvSpPr>
                <p:cNvPr id="134" name="Rectangle 133">
                  <a:extLst>
                    <a:ext uri="{FF2B5EF4-FFF2-40B4-BE49-F238E27FC236}">
                      <a16:creationId xmlns:a16="http://schemas.microsoft.com/office/drawing/2014/main" id="{07456D1F-192A-B283-D8AC-7968199CDEA3}"/>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35" name="Google Shape;4238;p22">
                  <a:extLst>
                    <a:ext uri="{FF2B5EF4-FFF2-40B4-BE49-F238E27FC236}">
                      <a16:creationId xmlns:a16="http://schemas.microsoft.com/office/drawing/2014/main" id="{D903185D-9534-31CF-45A8-D70D9E2C1780}"/>
                    </a:ext>
                  </a:extLst>
                </p:cNvPr>
                <p:cNvGrpSpPr/>
                <p:nvPr/>
              </p:nvGrpSpPr>
              <p:grpSpPr>
                <a:xfrm rot="5400000">
                  <a:off x="5138879" y="3045536"/>
                  <a:ext cx="263426" cy="352707"/>
                  <a:chOff x="6916991" y="3506885"/>
                  <a:chExt cx="283390" cy="388080"/>
                </a:xfrm>
              </p:grpSpPr>
              <p:sp>
                <p:nvSpPr>
                  <p:cNvPr id="136" name="Google Shape;4239;p22">
                    <a:extLst>
                      <a:ext uri="{FF2B5EF4-FFF2-40B4-BE49-F238E27FC236}">
                        <a16:creationId xmlns:a16="http://schemas.microsoft.com/office/drawing/2014/main" id="{D064A2F7-90B7-971A-AADD-7B3756F8B886}"/>
                      </a:ext>
                    </a:extLst>
                  </p:cNvPr>
                  <p:cNvSpPr/>
                  <p:nvPr/>
                </p:nvSpPr>
                <p:spPr>
                  <a:xfrm rot="16200000">
                    <a:off x="6977257" y="3671873"/>
                    <a:ext cx="162826" cy="283357"/>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4">
                      <a:alpha val="24705"/>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37" name="Google Shape;4240;p22">
                    <a:extLst>
                      <a:ext uri="{FF2B5EF4-FFF2-40B4-BE49-F238E27FC236}">
                        <a16:creationId xmlns:a16="http://schemas.microsoft.com/office/drawing/2014/main" id="{EB54BC46-0D43-E920-2C5C-A8173A88B816}"/>
                      </a:ext>
                    </a:extLst>
                  </p:cNvPr>
                  <p:cNvSpPr/>
                  <p:nvPr/>
                </p:nvSpPr>
                <p:spPr>
                  <a:xfrm rot="16200000">
                    <a:off x="6977262" y="3559244"/>
                    <a:ext cx="162826" cy="283359"/>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4">
                      <a:alpha val="49803"/>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38" name="Google Shape;4241;p22">
                    <a:extLst>
                      <a:ext uri="{FF2B5EF4-FFF2-40B4-BE49-F238E27FC236}">
                        <a16:creationId xmlns:a16="http://schemas.microsoft.com/office/drawing/2014/main" id="{318DDDB4-E056-AE09-8BF8-393F5596257D}"/>
                      </a:ext>
                    </a:extLst>
                  </p:cNvPr>
                  <p:cNvSpPr/>
                  <p:nvPr/>
                </p:nvSpPr>
                <p:spPr>
                  <a:xfrm rot="16200000">
                    <a:off x="6977289" y="3446619"/>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4"/>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sp>
            <p:nvSpPr>
              <p:cNvPr id="63" name="Google Shape;4237;p22">
                <a:extLst>
                  <a:ext uri="{FF2B5EF4-FFF2-40B4-BE49-F238E27FC236}">
                    <a16:creationId xmlns:a16="http://schemas.microsoft.com/office/drawing/2014/main" id="{75E83AE0-1004-E226-E59F-D1DE3ADDE1D5}"/>
                  </a:ext>
                </a:extLst>
              </p:cNvPr>
              <p:cNvSpPr txBox="1"/>
              <p:nvPr/>
            </p:nvSpPr>
            <p:spPr>
              <a:xfrm>
                <a:off x="2290408" y="3887495"/>
                <a:ext cx="1326177" cy="249476"/>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3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panose="020B0604020202020204"/>
                    <a:ea typeface="+mn-ea"/>
                    <a:cs typeface="Arial"/>
                    <a:sym typeface="Arial"/>
                  </a:rPr>
                  <a:t>New / Expanded VCF Fleet</a:t>
                </a:r>
                <a:endParaRPr kumimoji="0" sz="800" b="0" i="0" u="none" strike="noStrike" kern="0" cap="none" spc="0" normalizeH="0" baseline="0" noProof="0" dirty="0">
                  <a:ln>
                    <a:noFill/>
                  </a:ln>
                  <a:solidFill>
                    <a:srgbClr val="000000"/>
                  </a:solidFill>
                  <a:effectLst/>
                  <a:uLnTx/>
                  <a:uFillTx/>
                  <a:latin typeface="Arial" panose="020B0604020202020204"/>
                  <a:ea typeface="+mn-ea"/>
                  <a:cs typeface="Arial"/>
                  <a:sym typeface="Arial"/>
                </a:endParaRPr>
              </a:p>
            </p:txBody>
          </p:sp>
        </p:grpSp>
        <p:sp>
          <p:nvSpPr>
            <p:cNvPr id="142" name="Rectangle 141">
              <a:extLst>
                <a:ext uri="{FF2B5EF4-FFF2-40B4-BE49-F238E27FC236}">
                  <a16:creationId xmlns:a16="http://schemas.microsoft.com/office/drawing/2014/main" id="{1AC896BC-1073-9917-B2BD-CD9F18179596}"/>
                </a:ext>
              </a:extLst>
            </p:cNvPr>
            <p:cNvSpPr/>
            <p:nvPr/>
          </p:nvSpPr>
          <p:spPr bwMode="gray">
            <a:xfrm>
              <a:off x="4425222" y="2809396"/>
              <a:ext cx="782691" cy="1120531"/>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187" name="Group 186">
            <a:extLst>
              <a:ext uri="{FF2B5EF4-FFF2-40B4-BE49-F238E27FC236}">
                <a16:creationId xmlns:a16="http://schemas.microsoft.com/office/drawing/2014/main" id="{7023ACD1-D6F9-1A71-8945-374074AAA79E}"/>
              </a:ext>
            </a:extLst>
          </p:cNvPr>
          <p:cNvGrpSpPr/>
          <p:nvPr/>
        </p:nvGrpSpPr>
        <p:grpSpPr>
          <a:xfrm>
            <a:off x="2920807" y="2756995"/>
            <a:ext cx="1563329" cy="553015"/>
            <a:chOff x="2336491" y="2725507"/>
            <a:chExt cx="2062925" cy="671971"/>
          </a:xfrm>
        </p:grpSpPr>
        <p:cxnSp>
          <p:nvCxnSpPr>
            <p:cNvPr id="82" name="Google Shape;2831;p31">
              <a:extLst>
                <a:ext uri="{FF2B5EF4-FFF2-40B4-BE49-F238E27FC236}">
                  <a16:creationId xmlns:a16="http://schemas.microsoft.com/office/drawing/2014/main" id="{6151D8E5-3A48-986C-17EB-C948CD436159}"/>
                </a:ext>
              </a:extLst>
            </p:cNvPr>
            <p:cNvCxnSpPr>
              <a:cxnSpLocks/>
            </p:cNvCxnSpPr>
            <p:nvPr/>
          </p:nvCxnSpPr>
          <p:spPr>
            <a:xfrm>
              <a:off x="2336491" y="2987215"/>
              <a:ext cx="2062925" cy="0"/>
            </a:xfrm>
            <a:prstGeom prst="straightConnector1">
              <a:avLst/>
            </a:prstGeom>
            <a:noFill/>
            <a:ln w="28575" cap="flat" cmpd="sng">
              <a:solidFill>
                <a:schemeClr val="accent5"/>
              </a:solidFill>
              <a:prstDash val="sysDot"/>
              <a:miter lim="800000"/>
              <a:headEnd type="none" w="sm" len="sm"/>
              <a:tailEnd type="none" w="sm" len="sm"/>
            </a:ln>
          </p:spPr>
        </p:cxnSp>
        <p:grpSp>
          <p:nvGrpSpPr>
            <p:cNvPr id="85" name="Group 84">
              <a:extLst>
                <a:ext uri="{FF2B5EF4-FFF2-40B4-BE49-F238E27FC236}">
                  <a16:creationId xmlns:a16="http://schemas.microsoft.com/office/drawing/2014/main" id="{B23BE638-DCF9-919F-27AB-84D85AFC5FFA}"/>
                </a:ext>
              </a:extLst>
            </p:cNvPr>
            <p:cNvGrpSpPr/>
            <p:nvPr/>
          </p:nvGrpSpPr>
          <p:grpSpPr>
            <a:xfrm>
              <a:off x="3830697" y="2725507"/>
              <a:ext cx="365757" cy="671971"/>
              <a:chOff x="5086390" y="2966073"/>
              <a:chExt cx="365757" cy="671971"/>
            </a:xfrm>
          </p:grpSpPr>
          <p:sp>
            <p:nvSpPr>
              <p:cNvPr id="83" name="Rectangle 82">
                <a:extLst>
                  <a:ext uri="{FF2B5EF4-FFF2-40B4-BE49-F238E27FC236}">
                    <a16:creationId xmlns:a16="http://schemas.microsoft.com/office/drawing/2014/main" id="{91E02906-35CE-E472-9CBC-0200CA05D529}"/>
                  </a:ext>
                </a:extLst>
              </p:cNvPr>
              <p:cNvSpPr/>
              <p:nvPr/>
            </p:nvSpPr>
            <p:spPr bwMode="gray">
              <a:xfrm>
                <a:off x="5086390" y="2966073"/>
                <a:ext cx="365757" cy="67197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8" name="Google Shape;4238;p22">
                <a:extLst>
                  <a:ext uri="{FF2B5EF4-FFF2-40B4-BE49-F238E27FC236}">
                    <a16:creationId xmlns:a16="http://schemas.microsoft.com/office/drawing/2014/main" id="{6D5A0C0B-1543-FFC6-0C14-653B58B68067}"/>
                  </a:ext>
                </a:extLst>
              </p:cNvPr>
              <p:cNvGrpSpPr/>
              <p:nvPr/>
            </p:nvGrpSpPr>
            <p:grpSpPr>
              <a:xfrm rot="5400000">
                <a:off x="5138869" y="3058040"/>
                <a:ext cx="263441" cy="352709"/>
                <a:chOff x="6930408" y="3506884"/>
                <a:chExt cx="283405" cy="388082"/>
              </a:xfrm>
            </p:grpSpPr>
            <p:sp>
              <p:nvSpPr>
                <p:cNvPr id="9" name="Google Shape;4239;p22">
                  <a:extLst>
                    <a:ext uri="{FF2B5EF4-FFF2-40B4-BE49-F238E27FC236}">
                      <a16:creationId xmlns:a16="http://schemas.microsoft.com/office/drawing/2014/main" id="{3E9F5F9C-450B-917D-4928-7B29C90AC3E2}"/>
                    </a:ext>
                  </a:extLst>
                </p:cNvPr>
                <p:cNvSpPr/>
                <p:nvPr/>
              </p:nvSpPr>
              <p:spPr>
                <a:xfrm rot="162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24705"/>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2" name="Google Shape;4240;p22">
                  <a:extLst>
                    <a:ext uri="{FF2B5EF4-FFF2-40B4-BE49-F238E27FC236}">
                      <a16:creationId xmlns:a16="http://schemas.microsoft.com/office/drawing/2014/main" id="{51F5332E-C8C5-5C8F-DA8C-058FD6975924}"/>
                    </a:ext>
                  </a:extLst>
                </p:cNvPr>
                <p:cNvSpPr/>
                <p:nvPr/>
              </p:nvSpPr>
              <p:spPr>
                <a:xfrm rot="162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49803"/>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sp>
              <p:nvSpPr>
                <p:cNvPr id="13" name="Google Shape;4241;p22">
                  <a:extLst>
                    <a:ext uri="{FF2B5EF4-FFF2-40B4-BE49-F238E27FC236}">
                      <a16:creationId xmlns:a16="http://schemas.microsoft.com/office/drawing/2014/main" id="{BC7D85B9-D0E3-74F1-8027-600D1B5202F5}"/>
                    </a:ext>
                  </a:extLst>
                </p:cNvPr>
                <p:cNvSpPr/>
                <p:nvPr/>
              </p:nvSpPr>
              <p:spPr>
                <a:xfrm rot="162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grpSp>
      </p:grpSp>
      <p:grpSp>
        <p:nvGrpSpPr>
          <p:cNvPr id="184" name="Group 183">
            <a:extLst>
              <a:ext uri="{FF2B5EF4-FFF2-40B4-BE49-F238E27FC236}">
                <a16:creationId xmlns:a16="http://schemas.microsoft.com/office/drawing/2014/main" id="{B6D335AF-8FC7-0546-730E-C7DBEED90B22}"/>
              </a:ext>
            </a:extLst>
          </p:cNvPr>
          <p:cNvGrpSpPr/>
          <p:nvPr/>
        </p:nvGrpSpPr>
        <p:grpSpPr>
          <a:xfrm>
            <a:off x="3036596" y="2143732"/>
            <a:ext cx="939360" cy="1127593"/>
            <a:chOff x="2698154" y="2221622"/>
            <a:chExt cx="939360" cy="1127593"/>
          </a:xfrm>
        </p:grpSpPr>
        <p:grpSp>
          <p:nvGrpSpPr>
            <p:cNvPr id="108" name="Group 107">
              <a:extLst>
                <a:ext uri="{FF2B5EF4-FFF2-40B4-BE49-F238E27FC236}">
                  <a16:creationId xmlns:a16="http://schemas.microsoft.com/office/drawing/2014/main" id="{44043A4D-7C79-F019-C99C-6B2D1590CB24}"/>
                </a:ext>
              </a:extLst>
            </p:cNvPr>
            <p:cNvGrpSpPr/>
            <p:nvPr/>
          </p:nvGrpSpPr>
          <p:grpSpPr>
            <a:xfrm>
              <a:off x="2737771" y="2221622"/>
              <a:ext cx="837634" cy="961628"/>
              <a:chOff x="6921469" y="2348718"/>
              <a:chExt cx="837634" cy="961628"/>
            </a:xfrm>
          </p:grpSpPr>
          <p:sp>
            <p:nvSpPr>
              <p:cNvPr id="110" name="Google Shape;6678;g2d30ebb658d_0_19789">
                <a:extLst>
                  <a:ext uri="{FF2B5EF4-FFF2-40B4-BE49-F238E27FC236}">
                    <a16:creationId xmlns:a16="http://schemas.microsoft.com/office/drawing/2014/main" id="{0EBD6BE2-09A9-ACAC-9900-91C64671F6BA}"/>
                  </a:ext>
                </a:extLst>
              </p:cNvPr>
              <p:cNvSpPr/>
              <p:nvPr/>
            </p:nvSpPr>
            <p:spPr>
              <a:xfrm>
                <a:off x="6921469" y="2348718"/>
                <a:ext cx="837634" cy="961628"/>
              </a:xfrm>
              <a:prstGeom prst="roundRect">
                <a:avLst>
                  <a:gd name="adj" fmla="val 2356"/>
                </a:avLst>
              </a:prstGeom>
              <a:solidFill>
                <a:srgbClr val="E8E8EB"/>
              </a:soli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1" name="Google Shape;6678;g2d30ebb658d_0_19789">
                <a:extLst>
                  <a:ext uri="{FF2B5EF4-FFF2-40B4-BE49-F238E27FC236}">
                    <a16:creationId xmlns:a16="http://schemas.microsoft.com/office/drawing/2014/main" id="{AE248ACF-45FF-4E01-814B-01EB95EB6B1B}"/>
                  </a:ext>
                </a:extLst>
              </p:cNvPr>
              <p:cNvSpPr/>
              <p:nvPr/>
            </p:nvSpPr>
            <p:spPr>
              <a:xfrm>
                <a:off x="6990776" y="3148666"/>
                <a:ext cx="701104" cy="119046"/>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12" name="Google Shape;6678;g2d30ebb658d_0_19789">
                <a:extLst>
                  <a:ext uri="{FF2B5EF4-FFF2-40B4-BE49-F238E27FC236}">
                    <a16:creationId xmlns:a16="http://schemas.microsoft.com/office/drawing/2014/main" id="{B71BF0AE-71EC-B4C3-80F0-53C15BF4C463}"/>
                  </a:ext>
                </a:extLst>
              </p:cNvPr>
              <p:cNvSpPr/>
              <p:nvPr/>
            </p:nvSpPr>
            <p:spPr>
              <a:xfrm>
                <a:off x="6990776" y="2982122"/>
                <a:ext cx="701104" cy="119046"/>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2</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13" name="Google Shape;6678;g2d30ebb658d_0_19789">
                <a:extLst>
                  <a:ext uri="{FF2B5EF4-FFF2-40B4-BE49-F238E27FC236}">
                    <a16:creationId xmlns:a16="http://schemas.microsoft.com/office/drawing/2014/main" id="{7FC3D4B1-1D9A-EC6B-0F53-45785700CBC6}"/>
                  </a:ext>
                </a:extLst>
              </p:cNvPr>
              <p:cNvSpPr/>
              <p:nvPr/>
            </p:nvSpPr>
            <p:spPr>
              <a:xfrm>
                <a:off x="6994489" y="2815090"/>
                <a:ext cx="701104" cy="119046"/>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14" name="TextBox 113">
                <a:extLst>
                  <a:ext uri="{FF2B5EF4-FFF2-40B4-BE49-F238E27FC236}">
                    <a16:creationId xmlns:a16="http://schemas.microsoft.com/office/drawing/2014/main" id="{BD29747C-6C6F-EA90-0C48-16F07CF191C0}"/>
                  </a:ext>
                </a:extLst>
              </p:cNvPr>
              <p:cNvSpPr txBox="1"/>
              <p:nvPr/>
            </p:nvSpPr>
            <p:spPr>
              <a:xfrm>
                <a:off x="6995955" y="2620050"/>
                <a:ext cx="687689"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1B1D36"/>
                    </a:solidFill>
                    <a:effectLst/>
                    <a:uLnTx/>
                    <a:uFillTx/>
                    <a:latin typeface="Arial" panose="020B0604020202020204"/>
                    <a:ea typeface="+mn-ea"/>
                    <a:cs typeface="+mn-cs"/>
                  </a:rPr>
                  <a:t>VMware vSphere</a:t>
                </a:r>
              </a:p>
            </p:txBody>
          </p:sp>
          <p:pic>
            <p:nvPicPr>
              <p:cNvPr id="109" name="Graphic 108">
                <a:extLst>
                  <a:ext uri="{FF2B5EF4-FFF2-40B4-BE49-F238E27FC236}">
                    <a16:creationId xmlns:a16="http://schemas.microsoft.com/office/drawing/2014/main" id="{2AD5DD14-802E-CA8A-3D7D-8BCED99835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23350" y="2410130"/>
                <a:ext cx="190500" cy="190500"/>
              </a:xfrm>
              <a:prstGeom prst="rect">
                <a:avLst/>
              </a:prstGeom>
            </p:spPr>
          </p:pic>
        </p:grpSp>
        <p:sp>
          <p:nvSpPr>
            <p:cNvPr id="182" name="TextBox 181">
              <a:extLst>
                <a:ext uri="{FF2B5EF4-FFF2-40B4-BE49-F238E27FC236}">
                  <a16:creationId xmlns:a16="http://schemas.microsoft.com/office/drawing/2014/main" id="{B6824967-F56F-0286-0313-8B1C836BB26F}"/>
                </a:ext>
              </a:extLst>
            </p:cNvPr>
            <p:cNvSpPr txBox="1"/>
            <p:nvPr/>
          </p:nvSpPr>
          <p:spPr>
            <a:xfrm>
              <a:off x="2698154" y="3226104"/>
              <a:ext cx="939360" cy="123111"/>
            </a:xfrm>
            <a:prstGeom prst="rect">
              <a:avLst/>
            </a:prstGeom>
            <a:solidFill>
              <a:schemeClr val="bg1"/>
            </a:solid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rPr>
                <a:t>Existing Deployment</a:t>
              </a:r>
            </a:p>
          </p:txBody>
        </p:sp>
      </p:grpSp>
      <p:sp>
        <p:nvSpPr>
          <p:cNvPr id="98" name="TextBox 97">
            <a:extLst>
              <a:ext uri="{FF2B5EF4-FFF2-40B4-BE49-F238E27FC236}">
                <a16:creationId xmlns:a16="http://schemas.microsoft.com/office/drawing/2014/main" id="{BF5D3F58-CED0-3A6F-A07E-2B31A6F83939}"/>
              </a:ext>
            </a:extLst>
          </p:cNvPr>
          <p:cNvSpPr txBox="1"/>
          <p:nvPr/>
        </p:nvSpPr>
        <p:spPr>
          <a:xfrm>
            <a:off x="2117810" y="3065629"/>
            <a:ext cx="594715" cy="123111"/>
          </a:xfrm>
          <a:prstGeom prst="rect">
            <a:avLst/>
          </a:prstGeom>
          <a:solidFill>
            <a:schemeClr val="bg1"/>
          </a:solid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rPr>
              <a:t>VCF Installer</a:t>
            </a:r>
          </a:p>
        </p:txBody>
      </p:sp>
      <p:grpSp>
        <p:nvGrpSpPr>
          <p:cNvPr id="186" name="Group 185">
            <a:extLst>
              <a:ext uri="{FF2B5EF4-FFF2-40B4-BE49-F238E27FC236}">
                <a16:creationId xmlns:a16="http://schemas.microsoft.com/office/drawing/2014/main" id="{5DDFC4CB-D112-330E-05BC-1DC3174BFD7A}"/>
              </a:ext>
            </a:extLst>
          </p:cNvPr>
          <p:cNvGrpSpPr/>
          <p:nvPr/>
        </p:nvGrpSpPr>
        <p:grpSpPr>
          <a:xfrm>
            <a:off x="4504284" y="1870354"/>
            <a:ext cx="1769718" cy="1992085"/>
            <a:chOff x="4421988" y="2009401"/>
            <a:chExt cx="1769718" cy="1992085"/>
          </a:xfrm>
        </p:grpSpPr>
        <p:sp>
          <p:nvSpPr>
            <p:cNvPr id="22" name="Google Shape;6678;g2d30ebb658d_0_19789">
              <a:extLst>
                <a:ext uri="{FF2B5EF4-FFF2-40B4-BE49-F238E27FC236}">
                  <a16:creationId xmlns:a16="http://schemas.microsoft.com/office/drawing/2014/main" id="{FA358EFD-D641-F2E2-07FA-5D528A342E1C}"/>
                </a:ext>
              </a:extLst>
            </p:cNvPr>
            <p:cNvSpPr/>
            <p:nvPr/>
          </p:nvSpPr>
          <p:spPr>
            <a:xfrm>
              <a:off x="4421988" y="2009401"/>
              <a:ext cx="1769718" cy="199208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3" name="Google Shape;6705;g2d30ebb658d_0_19789">
              <a:extLst>
                <a:ext uri="{FF2B5EF4-FFF2-40B4-BE49-F238E27FC236}">
                  <a16:creationId xmlns:a16="http://schemas.microsoft.com/office/drawing/2014/main" id="{AA6A2BE6-9742-9D2E-ED25-190AA522176E}"/>
                </a:ext>
              </a:extLst>
            </p:cNvPr>
            <p:cNvSpPr/>
            <p:nvPr/>
          </p:nvSpPr>
          <p:spPr>
            <a:xfrm>
              <a:off x="4472491" y="3444360"/>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4" name="Google Shape;6707;g2d30ebb658d_0_19789">
              <a:extLst>
                <a:ext uri="{FF2B5EF4-FFF2-40B4-BE49-F238E27FC236}">
                  <a16:creationId xmlns:a16="http://schemas.microsoft.com/office/drawing/2014/main" id="{FCE2E052-48C2-7DA5-54F0-915D3FC0D149}"/>
                </a:ext>
              </a:extLst>
            </p:cNvPr>
            <p:cNvGrpSpPr/>
            <p:nvPr/>
          </p:nvGrpSpPr>
          <p:grpSpPr>
            <a:xfrm>
              <a:off x="5721290" y="3595879"/>
              <a:ext cx="283155" cy="283154"/>
              <a:chOff x="10722212" y="2531808"/>
              <a:chExt cx="663407" cy="663407"/>
            </a:xfrm>
          </p:grpSpPr>
          <p:sp>
            <p:nvSpPr>
              <p:cNvPr id="39" name="Google Shape;6708;g2d30ebb658d_0_19789">
                <a:extLst>
                  <a:ext uri="{FF2B5EF4-FFF2-40B4-BE49-F238E27FC236}">
                    <a16:creationId xmlns:a16="http://schemas.microsoft.com/office/drawing/2014/main" id="{3976DABF-2F2C-26D7-BFCE-7B9E88B3B593}"/>
                  </a:ext>
                </a:extLst>
              </p:cNvPr>
              <p:cNvSpPr>
                <a:spLocks noChangeAspect="1"/>
              </p:cNvSpPr>
              <p:nvPr/>
            </p:nvSpPr>
            <p:spPr>
              <a:xfrm>
                <a:off x="10722212" y="253180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0" name="Google Shape;6709;g2d30ebb658d_0_19789">
                <a:extLst>
                  <a:ext uri="{FF2B5EF4-FFF2-40B4-BE49-F238E27FC236}">
                    <a16:creationId xmlns:a16="http://schemas.microsoft.com/office/drawing/2014/main" id="{6ACC2EFD-1D80-29BB-F860-D01741CA7DA0}"/>
                  </a:ext>
                </a:extLst>
              </p:cNvPr>
              <p:cNvSpPr>
                <a:spLocks noChangeAspect="1"/>
              </p:cNvSpPr>
              <p:nvPr/>
            </p:nvSpPr>
            <p:spPr>
              <a:xfrm>
                <a:off x="10836776" y="264748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5" name="Google Shape;6710;g2d30ebb658d_0_19789">
              <a:extLst>
                <a:ext uri="{FF2B5EF4-FFF2-40B4-BE49-F238E27FC236}">
                  <a16:creationId xmlns:a16="http://schemas.microsoft.com/office/drawing/2014/main" id="{FFA90F42-C478-F139-A6E1-76EE8B8B4F84}"/>
                </a:ext>
              </a:extLst>
            </p:cNvPr>
            <p:cNvGrpSpPr/>
            <p:nvPr/>
          </p:nvGrpSpPr>
          <p:grpSpPr>
            <a:xfrm>
              <a:off x="4576370" y="3595760"/>
              <a:ext cx="283155" cy="283154"/>
              <a:chOff x="572541" y="5277371"/>
              <a:chExt cx="663407" cy="663407"/>
            </a:xfrm>
          </p:grpSpPr>
          <p:sp>
            <p:nvSpPr>
              <p:cNvPr id="37" name="Google Shape;6711;g2d30ebb658d_0_19789">
                <a:extLst>
                  <a:ext uri="{FF2B5EF4-FFF2-40B4-BE49-F238E27FC236}">
                    <a16:creationId xmlns:a16="http://schemas.microsoft.com/office/drawing/2014/main" id="{DD7F7646-5212-4C01-5248-1A218F346B8D}"/>
                  </a:ext>
                </a:extLst>
              </p:cNvPr>
              <p:cNvSpPr>
                <a:spLocks noChangeAspect="1"/>
              </p:cNvSpPr>
              <p:nvPr/>
            </p:nvSpPr>
            <p:spPr>
              <a:xfrm>
                <a:off x="572541" y="527737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8" name="Google Shape;6712;g2d30ebb658d_0_19789">
                <a:extLst>
                  <a:ext uri="{FF2B5EF4-FFF2-40B4-BE49-F238E27FC236}">
                    <a16:creationId xmlns:a16="http://schemas.microsoft.com/office/drawing/2014/main" id="{D45254E8-1C14-38E9-6F71-702D592E89AC}"/>
                  </a:ext>
                </a:extLst>
              </p:cNvPr>
              <p:cNvSpPr>
                <a:spLocks noChangeAspect="1"/>
              </p:cNvSpPr>
              <p:nvPr/>
            </p:nvSpPr>
            <p:spPr>
              <a:xfrm>
                <a:off x="699316" y="5428981"/>
                <a:ext cx="413205" cy="3766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6" name="Google Shape;6713;g2d30ebb658d_0_19789">
              <a:extLst>
                <a:ext uri="{FF2B5EF4-FFF2-40B4-BE49-F238E27FC236}">
                  <a16:creationId xmlns:a16="http://schemas.microsoft.com/office/drawing/2014/main" id="{B3113212-778A-2FD9-9198-FDEAA0A76CCB}"/>
                </a:ext>
              </a:extLst>
            </p:cNvPr>
            <p:cNvGrpSpPr/>
            <p:nvPr/>
          </p:nvGrpSpPr>
          <p:grpSpPr>
            <a:xfrm>
              <a:off x="5144738" y="3595761"/>
              <a:ext cx="283155" cy="283154"/>
              <a:chOff x="9272259" y="5277371"/>
              <a:chExt cx="663407" cy="663407"/>
            </a:xfrm>
          </p:grpSpPr>
          <p:sp>
            <p:nvSpPr>
              <p:cNvPr id="35" name="Google Shape;6714;g2d30ebb658d_0_19789">
                <a:extLst>
                  <a:ext uri="{FF2B5EF4-FFF2-40B4-BE49-F238E27FC236}">
                    <a16:creationId xmlns:a16="http://schemas.microsoft.com/office/drawing/2014/main" id="{B42AF150-865C-56D4-FE0D-1851390CE6BC}"/>
                  </a:ext>
                </a:extLst>
              </p:cNvPr>
              <p:cNvSpPr>
                <a:spLocks noChangeAspect="1"/>
              </p:cNvSpPr>
              <p:nvPr/>
            </p:nvSpPr>
            <p:spPr>
              <a:xfrm>
                <a:off x="9272259" y="527737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6" name="Google Shape;6715;g2d30ebb658d_0_19789">
                <a:extLst>
                  <a:ext uri="{FF2B5EF4-FFF2-40B4-BE49-F238E27FC236}">
                    <a16:creationId xmlns:a16="http://schemas.microsoft.com/office/drawing/2014/main" id="{82350DD6-F832-732F-111A-D40EBF7A7EF8}"/>
                  </a:ext>
                </a:extLst>
              </p:cNvPr>
              <p:cNvSpPr>
                <a:spLocks noChangeAspect="1"/>
              </p:cNvSpPr>
              <p:nvPr/>
            </p:nvSpPr>
            <p:spPr>
              <a:xfrm>
                <a:off x="9436607" y="5401555"/>
                <a:ext cx="357985" cy="417084"/>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46" name="Group 145">
              <a:extLst>
                <a:ext uri="{FF2B5EF4-FFF2-40B4-BE49-F238E27FC236}">
                  <a16:creationId xmlns:a16="http://schemas.microsoft.com/office/drawing/2014/main" id="{1EC8B252-1816-F8B9-6760-B573A61C6CEB}"/>
                </a:ext>
              </a:extLst>
            </p:cNvPr>
            <p:cNvGrpSpPr/>
            <p:nvPr/>
          </p:nvGrpSpPr>
          <p:grpSpPr>
            <a:xfrm>
              <a:off x="4507602" y="2064343"/>
              <a:ext cx="1597075" cy="198035"/>
              <a:chOff x="4507602" y="2073203"/>
              <a:chExt cx="1597075" cy="198035"/>
            </a:xfrm>
          </p:grpSpPr>
          <p:sp>
            <p:nvSpPr>
              <p:cNvPr id="27" name="Google Shape;6704;g2d30ebb658d_0_19789">
                <a:extLst>
                  <a:ext uri="{FF2B5EF4-FFF2-40B4-BE49-F238E27FC236}">
                    <a16:creationId xmlns:a16="http://schemas.microsoft.com/office/drawing/2014/main" id="{65A4EEBD-76AB-DCB7-E725-FEF5B77B9A08}"/>
                  </a:ext>
                </a:extLst>
              </p:cNvPr>
              <p:cNvSpPr/>
              <p:nvPr/>
            </p:nvSpPr>
            <p:spPr>
              <a:xfrm>
                <a:off x="4507602" y="207320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       VMware Cloud Foundation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8" name="Google Shape;6699;p92">
                <a:extLst>
                  <a:ext uri="{FF2B5EF4-FFF2-40B4-BE49-F238E27FC236}">
                    <a16:creationId xmlns:a16="http://schemas.microsoft.com/office/drawing/2014/main" id="{AC7844CA-8FB0-3046-7E46-633DF1D0C39E}"/>
                  </a:ext>
                </a:extLst>
              </p:cNvPr>
              <p:cNvPicPr preferRelativeResize="0">
                <a:picLocks noChangeAspect="1"/>
              </p:cNvPicPr>
              <p:nvPr/>
            </p:nvPicPr>
            <p:blipFill rotWithShape="1">
              <a:blip r:embed="rId5">
                <a:alphaModFix/>
              </a:blip>
              <a:srcRect/>
              <a:stretch/>
            </p:blipFill>
            <p:spPr>
              <a:xfrm>
                <a:off x="4647230" y="2085898"/>
                <a:ext cx="157608" cy="173213"/>
              </a:xfrm>
              <a:prstGeom prst="rect">
                <a:avLst/>
              </a:prstGeom>
              <a:noFill/>
              <a:ln>
                <a:noFill/>
              </a:ln>
            </p:spPr>
          </p:pic>
        </p:grpSp>
        <p:sp>
          <p:nvSpPr>
            <p:cNvPr id="29" name="Google Shape;6705;g2d30ebb658d_0_19789">
              <a:extLst>
                <a:ext uri="{FF2B5EF4-FFF2-40B4-BE49-F238E27FC236}">
                  <a16:creationId xmlns:a16="http://schemas.microsoft.com/office/drawing/2014/main" id="{0E7BC928-C069-4D7B-190C-98265DACD2AB}"/>
                </a:ext>
              </a:extLst>
            </p:cNvPr>
            <p:cNvSpPr/>
            <p:nvPr/>
          </p:nvSpPr>
          <p:spPr>
            <a:xfrm>
              <a:off x="4476708" y="3222608"/>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 Server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1" name="TextBox 30">
              <a:extLst>
                <a:ext uri="{FF2B5EF4-FFF2-40B4-BE49-F238E27FC236}">
                  <a16:creationId xmlns:a16="http://schemas.microsoft.com/office/drawing/2014/main" id="{7D022FFA-181B-31CF-3386-903379AE8540}"/>
                </a:ext>
              </a:extLst>
            </p:cNvPr>
            <p:cNvSpPr txBox="1"/>
            <p:nvPr/>
          </p:nvSpPr>
          <p:spPr>
            <a:xfrm>
              <a:off x="4924734" y="3468050"/>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2" name="Google Shape;6705;g2d30ebb658d_0_19789">
              <a:extLst>
                <a:ext uri="{FF2B5EF4-FFF2-40B4-BE49-F238E27FC236}">
                  <a16:creationId xmlns:a16="http://schemas.microsoft.com/office/drawing/2014/main" id="{9DEC21C4-7E08-1ED4-21B1-3B74592E809A}"/>
                </a:ext>
              </a:extLst>
            </p:cNvPr>
            <p:cNvSpPr/>
            <p:nvPr/>
          </p:nvSpPr>
          <p:spPr>
            <a:xfrm>
              <a:off x="4476324" y="2514932"/>
              <a:ext cx="1662975"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3" name="Google Shape;6705;g2d30ebb658d_0_19789">
              <a:extLst>
                <a:ext uri="{FF2B5EF4-FFF2-40B4-BE49-F238E27FC236}">
                  <a16:creationId xmlns:a16="http://schemas.microsoft.com/office/drawing/2014/main" id="{ABC25139-9F00-A1CB-C635-885C40166BCA}"/>
                </a:ext>
              </a:extLst>
            </p:cNvPr>
            <p:cNvSpPr/>
            <p:nvPr/>
          </p:nvSpPr>
          <p:spPr>
            <a:xfrm>
              <a:off x="5322645" y="3220761"/>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NSX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4" name="Google Shape;6705;g2d30ebb658d_0_19789">
              <a:extLst>
                <a:ext uri="{FF2B5EF4-FFF2-40B4-BE49-F238E27FC236}">
                  <a16:creationId xmlns:a16="http://schemas.microsoft.com/office/drawing/2014/main" id="{C6970CA1-BF67-0B2D-1CC3-7FC0C38E4825}"/>
                </a:ext>
              </a:extLst>
            </p:cNvPr>
            <p:cNvSpPr/>
            <p:nvPr/>
          </p:nvSpPr>
          <p:spPr>
            <a:xfrm>
              <a:off x="4478255" y="2320164"/>
              <a:ext cx="1661044" cy="144193"/>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43" name="Google Shape;6678;g2d30ebb658d_0_19789">
              <a:extLst>
                <a:ext uri="{FF2B5EF4-FFF2-40B4-BE49-F238E27FC236}">
                  <a16:creationId xmlns:a16="http://schemas.microsoft.com/office/drawing/2014/main" id="{EFB1C9F6-0FB5-91BA-11D5-36E1917029D9}"/>
                </a:ext>
              </a:extLst>
            </p:cNvPr>
            <p:cNvSpPr/>
            <p:nvPr/>
          </p:nvSpPr>
          <p:spPr>
            <a:xfrm>
              <a:off x="4950404" y="3050628"/>
              <a:ext cx="701104" cy="114350"/>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44" name="Google Shape;6678;g2d30ebb658d_0_19789">
              <a:extLst>
                <a:ext uri="{FF2B5EF4-FFF2-40B4-BE49-F238E27FC236}">
                  <a16:creationId xmlns:a16="http://schemas.microsoft.com/office/drawing/2014/main" id="{879F95B9-76E8-7669-C7FF-49143E8E2752}"/>
                </a:ext>
              </a:extLst>
            </p:cNvPr>
            <p:cNvSpPr/>
            <p:nvPr/>
          </p:nvSpPr>
          <p:spPr>
            <a:xfrm>
              <a:off x="4950404" y="2879251"/>
              <a:ext cx="701104" cy="114350"/>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2</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45" name="Google Shape;6678;g2d30ebb658d_0_19789">
              <a:extLst>
                <a:ext uri="{FF2B5EF4-FFF2-40B4-BE49-F238E27FC236}">
                  <a16:creationId xmlns:a16="http://schemas.microsoft.com/office/drawing/2014/main" id="{A5696DD3-6B15-6C67-E348-DC56A8C4CDF4}"/>
                </a:ext>
              </a:extLst>
            </p:cNvPr>
            <p:cNvSpPr/>
            <p:nvPr/>
          </p:nvSpPr>
          <p:spPr>
            <a:xfrm>
              <a:off x="4954117" y="2712054"/>
              <a:ext cx="701104" cy="114350"/>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nvGrpSpPr>
          <p:cNvPr id="15" name="Group 14">
            <a:extLst>
              <a:ext uri="{FF2B5EF4-FFF2-40B4-BE49-F238E27FC236}">
                <a16:creationId xmlns:a16="http://schemas.microsoft.com/office/drawing/2014/main" id="{6467B400-E48D-EE06-0CEF-0CABAB7FD780}"/>
              </a:ext>
            </a:extLst>
          </p:cNvPr>
          <p:cNvGrpSpPr>
            <a:grpSpLocks noChangeAspect="1"/>
          </p:cNvGrpSpPr>
          <p:nvPr/>
        </p:nvGrpSpPr>
        <p:grpSpPr>
          <a:xfrm>
            <a:off x="1922746" y="2159362"/>
            <a:ext cx="973345" cy="852389"/>
            <a:chOff x="4120905" y="2751137"/>
            <a:chExt cx="1456647" cy="1275629"/>
          </a:xfrm>
        </p:grpSpPr>
        <p:grpSp>
          <p:nvGrpSpPr>
            <p:cNvPr id="16" name="Group 15">
              <a:extLst>
                <a:ext uri="{FF2B5EF4-FFF2-40B4-BE49-F238E27FC236}">
                  <a16:creationId xmlns:a16="http://schemas.microsoft.com/office/drawing/2014/main" id="{C40B8A02-4442-DDB5-2F30-D9FC0B8C267E}"/>
                </a:ext>
              </a:extLst>
            </p:cNvPr>
            <p:cNvGrpSpPr/>
            <p:nvPr/>
          </p:nvGrpSpPr>
          <p:grpSpPr>
            <a:xfrm>
              <a:off x="4125845" y="2756631"/>
              <a:ext cx="1448451" cy="1201448"/>
              <a:chOff x="4125845" y="2756631"/>
              <a:chExt cx="1448451" cy="1201448"/>
            </a:xfrm>
          </p:grpSpPr>
          <p:pic>
            <p:nvPicPr>
              <p:cNvPr id="18" name="Picture 17">
                <a:extLst>
                  <a:ext uri="{FF2B5EF4-FFF2-40B4-BE49-F238E27FC236}">
                    <a16:creationId xmlns:a16="http://schemas.microsoft.com/office/drawing/2014/main" id="{461CE8DD-8473-9511-AC57-FF8131668E31}"/>
                  </a:ext>
                </a:extLst>
              </p:cNvPr>
              <p:cNvPicPr preferRelativeResize="0">
                <a:picLocks noChangeAspect="1"/>
              </p:cNvPicPr>
              <p:nvPr/>
            </p:nvPicPr>
            <p:blipFill>
              <a:blip r:embed="rId6"/>
              <a:stretch>
                <a:fillRect/>
              </a:stretch>
            </p:blipFill>
            <p:spPr>
              <a:xfrm>
                <a:off x="4125845" y="2756631"/>
                <a:ext cx="1448451" cy="1201448"/>
              </a:xfrm>
              <a:prstGeom prst="rect">
                <a:avLst/>
              </a:prstGeom>
            </p:spPr>
          </p:pic>
          <p:sp>
            <p:nvSpPr>
              <p:cNvPr id="19" name="Rectangle 18">
                <a:extLst>
                  <a:ext uri="{FF2B5EF4-FFF2-40B4-BE49-F238E27FC236}">
                    <a16:creationId xmlns:a16="http://schemas.microsoft.com/office/drawing/2014/main" id="{108D8F38-FA8B-B035-ED04-18C94D19D76C}"/>
                  </a:ext>
                </a:extLst>
              </p:cNvPr>
              <p:cNvSpPr/>
              <p:nvPr/>
            </p:nvSpPr>
            <p:spPr>
              <a:xfrm>
                <a:off x="5070888" y="3796831"/>
                <a:ext cx="462334" cy="101210"/>
              </a:xfrm>
              <a:prstGeom prst="rect">
                <a:avLst/>
              </a:prstGeom>
              <a:solidFill>
                <a:srgbClr val="FCFEF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7" name="Google Shape;6678;g2d30ebb658d_0_19789">
              <a:extLst>
                <a:ext uri="{FF2B5EF4-FFF2-40B4-BE49-F238E27FC236}">
                  <a16:creationId xmlns:a16="http://schemas.microsoft.com/office/drawing/2014/main" id="{AA8B9D9E-1607-0E64-5F07-1F9BDD74781C}"/>
                </a:ext>
              </a:extLst>
            </p:cNvPr>
            <p:cNvSpPr/>
            <p:nvPr/>
          </p:nvSpPr>
          <p:spPr>
            <a:xfrm>
              <a:off x="4120905" y="2751137"/>
              <a:ext cx="1456647" cy="1275629"/>
            </a:xfrm>
            <a:prstGeom prst="roundRect">
              <a:avLst>
                <a:gd name="adj" fmla="val 2356"/>
              </a:avLst>
            </a:prstGeom>
            <a:noFill/>
            <a:ln w="12700">
              <a:solidFill>
                <a:schemeClr val="bg2">
                  <a:lumMod val="50000"/>
                </a:schemeClr>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grpSp>
        <p:nvGrpSpPr>
          <p:cNvPr id="199" name="Group 198">
            <a:extLst>
              <a:ext uri="{FF2B5EF4-FFF2-40B4-BE49-F238E27FC236}">
                <a16:creationId xmlns:a16="http://schemas.microsoft.com/office/drawing/2014/main" id="{10BD59FA-0A4B-1499-9230-A668680DE102}"/>
              </a:ext>
            </a:extLst>
          </p:cNvPr>
          <p:cNvGrpSpPr>
            <a:grpSpLocks noChangeAspect="1"/>
          </p:cNvGrpSpPr>
          <p:nvPr/>
        </p:nvGrpSpPr>
        <p:grpSpPr>
          <a:xfrm>
            <a:off x="789826" y="2116947"/>
            <a:ext cx="753871" cy="701907"/>
            <a:chOff x="789824" y="2137115"/>
            <a:chExt cx="838569" cy="780768"/>
          </a:xfrm>
        </p:grpSpPr>
        <p:sp>
          <p:nvSpPr>
            <p:cNvPr id="197" name="Oval 196">
              <a:extLst>
                <a:ext uri="{FF2B5EF4-FFF2-40B4-BE49-F238E27FC236}">
                  <a16:creationId xmlns:a16="http://schemas.microsoft.com/office/drawing/2014/main" id="{EF81D65D-800F-CDE2-7392-DF89CC9922CE}"/>
                </a:ext>
              </a:extLst>
            </p:cNvPr>
            <p:cNvSpPr>
              <a:spLocks noChangeAspect="1"/>
            </p:cNvSpPr>
            <p:nvPr/>
          </p:nvSpPr>
          <p:spPr bwMode="gray">
            <a:xfrm>
              <a:off x="1335221" y="2383398"/>
              <a:ext cx="293172" cy="293172"/>
            </a:xfrm>
            <a:prstGeom prst="ellipse">
              <a:avLst/>
            </a:prstGeom>
            <a:solidFill>
              <a:srgbClr val="C2D6EC"/>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98" name="Google Shape;4239;p22">
              <a:extLst>
                <a:ext uri="{FF2B5EF4-FFF2-40B4-BE49-F238E27FC236}">
                  <a16:creationId xmlns:a16="http://schemas.microsoft.com/office/drawing/2014/main" id="{DB37781A-64F5-02A2-7F0A-7BBC785E6335}"/>
                </a:ext>
              </a:extLst>
            </p:cNvPr>
            <p:cNvSpPr>
              <a:spLocks noChangeAspect="1"/>
            </p:cNvSpPr>
            <p:nvPr/>
          </p:nvSpPr>
          <p:spPr>
            <a:xfrm>
              <a:off x="1509151" y="2475529"/>
              <a:ext cx="92243" cy="118442"/>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bg1">
                <a:alpha val="84925"/>
              </a:schemeClr>
            </a:solidFill>
            <a:ln>
              <a:noFill/>
            </a:ln>
          </p:spPr>
          <p:txBody>
            <a:bodyPr spcFirstLastPara="1" wrap="square" lIns="91325" tIns="45625" rIns="91325" bIns="456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dirty="0">
                <a:ln>
                  <a:noFill/>
                </a:ln>
                <a:solidFill>
                  <a:srgbClr val="005B84"/>
                </a:solidFill>
                <a:effectLst/>
                <a:uLnTx/>
                <a:uFillTx/>
                <a:latin typeface="Metropolis" pitchFamily="2" charset="77"/>
                <a:ea typeface="+mn-ea"/>
                <a:cs typeface="Arial"/>
                <a:sym typeface="Arial"/>
              </a:endParaRPr>
            </a:p>
          </p:txBody>
        </p:sp>
        <p:grpSp>
          <p:nvGrpSpPr>
            <p:cNvPr id="190" name="Group 189">
              <a:extLst>
                <a:ext uri="{FF2B5EF4-FFF2-40B4-BE49-F238E27FC236}">
                  <a16:creationId xmlns:a16="http://schemas.microsoft.com/office/drawing/2014/main" id="{9DCF0A9C-6274-25DB-28C1-E9D052FB7DCF}"/>
                </a:ext>
              </a:extLst>
            </p:cNvPr>
            <p:cNvGrpSpPr>
              <a:grpSpLocks noChangeAspect="1"/>
            </p:cNvGrpSpPr>
            <p:nvPr/>
          </p:nvGrpSpPr>
          <p:grpSpPr>
            <a:xfrm>
              <a:off x="789824" y="2137115"/>
              <a:ext cx="711989" cy="780768"/>
              <a:chOff x="5217804" y="2760888"/>
              <a:chExt cx="1232879" cy="1351979"/>
            </a:xfrm>
          </p:grpSpPr>
          <p:sp>
            <p:nvSpPr>
              <p:cNvPr id="191" name="Google Shape;4314;p38">
                <a:extLst>
                  <a:ext uri="{FF2B5EF4-FFF2-40B4-BE49-F238E27FC236}">
                    <a16:creationId xmlns:a16="http://schemas.microsoft.com/office/drawing/2014/main" id="{1B2F825E-29AE-D06B-1E0F-4D42B6117855}"/>
                  </a:ext>
                </a:extLst>
              </p:cNvPr>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192" name="Google Shape;4315;p38">
                <a:extLst>
                  <a:ext uri="{FF2B5EF4-FFF2-40B4-BE49-F238E27FC236}">
                    <a16:creationId xmlns:a16="http://schemas.microsoft.com/office/drawing/2014/main" id="{D877DFB3-4496-3236-3973-E3F19E3BBD0C}"/>
                  </a:ext>
                </a:extLst>
              </p:cNvPr>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rgbClr val="0091DA">
                      <a:alpha val="35294"/>
                    </a:srgbClr>
                  </a:gs>
                  <a:gs pos="37000">
                    <a:srgbClr val="0091DA">
                      <a:alpha val="35294"/>
                    </a:srgb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193" name="Google Shape;4316;p38">
                <a:extLst>
                  <a:ext uri="{FF2B5EF4-FFF2-40B4-BE49-F238E27FC236}">
                    <a16:creationId xmlns:a16="http://schemas.microsoft.com/office/drawing/2014/main" id="{EC59E5E3-EDD5-D5B9-97FC-E85492BDE2C5}"/>
                  </a:ext>
                </a:extLst>
              </p:cNvPr>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rgbClr val="0091DA">
                      <a:alpha val="35294"/>
                    </a:srgbClr>
                  </a:gs>
                  <a:gs pos="37000">
                    <a:srgbClr val="0091DA">
                      <a:alpha val="35294"/>
                    </a:srgbClr>
                  </a:gs>
                  <a:gs pos="98000">
                    <a:srgbClr val="0091DA">
                      <a:alpha val="0"/>
                    </a:srgbClr>
                  </a:gs>
                  <a:gs pos="100000">
                    <a:srgbClr val="0091DA">
                      <a:alpha val="0"/>
                    </a:srgbClr>
                  </a:gs>
                </a:gsLst>
                <a:lin ang="16200000" scaled="0"/>
              </a:gradFill>
              <a:ln>
                <a:noFill/>
              </a:ln>
            </p:spPr>
            <p:txBody>
              <a:bodyPr spcFirstLastPara="1" wrap="square" lIns="109725" tIns="54850" rIns="109725" bIns="548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sp>
            <p:nvSpPr>
              <p:cNvPr id="194" name="Google Shape;4317;p38">
                <a:extLst>
                  <a:ext uri="{FF2B5EF4-FFF2-40B4-BE49-F238E27FC236}">
                    <a16:creationId xmlns:a16="http://schemas.microsoft.com/office/drawing/2014/main" id="{3ADC747D-1EF6-D1DD-8DE0-3959FEB53F30}"/>
                  </a:ext>
                </a:extLst>
              </p:cNvPr>
              <p:cNvSpPr/>
              <p:nvPr/>
            </p:nvSpPr>
            <p:spPr>
              <a:xfrm>
                <a:off x="5554578" y="2906663"/>
                <a:ext cx="878946"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rgbClr val="4FC4FF"/>
                  </a:gs>
                  <a:gs pos="98000">
                    <a:srgbClr val="0091DA">
                      <a:alpha val="0"/>
                    </a:srgbClr>
                  </a:gs>
                  <a:gs pos="100000">
                    <a:srgbClr val="0091DA">
                      <a:alpha val="0"/>
                    </a:srgbClr>
                  </a:gs>
                </a:gsLst>
                <a:lin ang="1890000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142"/>
                  </a:solidFill>
                  <a:effectLst/>
                  <a:uLnTx/>
                  <a:uFillTx/>
                  <a:latin typeface="Arial"/>
                  <a:ea typeface="Arial"/>
                  <a:cs typeface="Arial"/>
                  <a:sym typeface="Arial"/>
                </a:endParaRPr>
              </a:p>
            </p:txBody>
          </p:sp>
          <p:pic>
            <p:nvPicPr>
              <p:cNvPr id="195" name="Google Shape;4318;p38">
                <a:extLst>
                  <a:ext uri="{FF2B5EF4-FFF2-40B4-BE49-F238E27FC236}">
                    <a16:creationId xmlns:a16="http://schemas.microsoft.com/office/drawing/2014/main" id="{4B47F7C6-93E6-3FA4-0E0D-345D4E719DAF}"/>
                  </a:ext>
                </a:extLst>
              </p:cNvPr>
              <p:cNvPicPr preferRelativeResize="0"/>
              <p:nvPr/>
            </p:nvPicPr>
            <p:blipFill rotWithShape="1">
              <a:blip r:embed="rId7">
                <a:alphaModFix/>
              </a:blip>
              <a:srcRect/>
              <a:stretch/>
            </p:blipFill>
            <p:spPr>
              <a:xfrm>
                <a:off x="5219981" y="2773287"/>
                <a:ext cx="1220885" cy="1339580"/>
              </a:xfrm>
              <a:prstGeom prst="rect">
                <a:avLst/>
              </a:prstGeom>
              <a:noFill/>
              <a:ln>
                <a:noFill/>
              </a:ln>
            </p:spPr>
          </p:pic>
        </p:grpSp>
      </p:grpSp>
    </p:spTree>
    <p:extLst>
      <p:ext uri="{BB962C8B-B14F-4D97-AF65-F5344CB8AC3E}">
        <p14:creationId xmlns:p14="http://schemas.microsoft.com/office/powerpoint/2010/main" val="200104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wipe(left)">
                                      <p:cBhvr>
                                        <p:cTn id="7" dur="500"/>
                                        <p:tgtEl>
                                          <p:spTgt spid="16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86"/>
                                        </p:tgtEl>
                                        <p:attrNameLst>
                                          <p:attrName>style.visibility</p:attrName>
                                        </p:attrNameLst>
                                      </p:cBhvr>
                                      <p:to>
                                        <p:strVal val="visible"/>
                                      </p:to>
                                    </p:set>
                                    <p:animEffect transition="in" filter="wipe(down)">
                                      <p:cBhvr>
                                        <p:cTn id="11" dur="500"/>
                                        <p:tgtEl>
                                          <p:spTgt spid="18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xit" presetSubtype="0" fill="hold" nodeType="clickEffect">
                                  <p:stCondLst>
                                    <p:cond delay="0"/>
                                  </p:stCondLst>
                                  <p:childTnLst>
                                    <p:animEffect transition="out" filter="dissolve">
                                      <p:cBhvr>
                                        <p:cTn id="15" dur="500"/>
                                        <p:tgtEl>
                                          <p:spTgt spid="163"/>
                                        </p:tgtEl>
                                      </p:cBhvr>
                                    </p:animEffect>
                                    <p:set>
                                      <p:cBhvr>
                                        <p:cTn id="16" dur="1" fill="hold">
                                          <p:stCondLst>
                                            <p:cond delay="499"/>
                                          </p:stCondLst>
                                        </p:cTn>
                                        <p:tgtEl>
                                          <p:spTgt spid="163"/>
                                        </p:tgtEl>
                                        <p:attrNameLst>
                                          <p:attrName>style.visibility</p:attrName>
                                        </p:attrNameLst>
                                      </p:cBhvr>
                                      <p:to>
                                        <p:strVal val="hidden"/>
                                      </p:to>
                                    </p:set>
                                  </p:childTnLst>
                                </p:cTn>
                              </p:par>
                              <p:par>
                                <p:cTn id="17" presetID="9" presetClass="exit" presetSubtype="0" fill="hold" nodeType="withEffect">
                                  <p:stCondLst>
                                    <p:cond delay="0"/>
                                  </p:stCondLst>
                                  <p:childTnLst>
                                    <p:animEffect transition="out" filter="dissolve">
                                      <p:cBhvr>
                                        <p:cTn id="18" dur="500"/>
                                        <p:tgtEl>
                                          <p:spTgt spid="186"/>
                                        </p:tgtEl>
                                      </p:cBhvr>
                                    </p:animEffect>
                                    <p:set>
                                      <p:cBhvr>
                                        <p:cTn id="19" dur="1" fill="hold">
                                          <p:stCondLst>
                                            <p:cond delay="499"/>
                                          </p:stCondLst>
                                        </p:cTn>
                                        <p:tgtEl>
                                          <p:spTgt spid="186"/>
                                        </p:tgtEl>
                                        <p:attrNameLst>
                                          <p:attrName>style.visibility</p:attrName>
                                        </p:attrNameLst>
                                      </p:cBhvr>
                                      <p:to>
                                        <p:strVal val="hidden"/>
                                      </p:to>
                                    </p:se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187"/>
                                        </p:tgtEl>
                                        <p:attrNameLst>
                                          <p:attrName>style.visibility</p:attrName>
                                        </p:attrNameLst>
                                      </p:cBhvr>
                                      <p:to>
                                        <p:strVal val="visible"/>
                                      </p:to>
                                    </p:set>
                                    <p:animEffect transition="in" filter="wipe(left)">
                                      <p:cBhvr>
                                        <p:cTn id="23" dur="500"/>
                                        <p:tgtEl>
                                          <p:spTgt spid="187"/>
                                        </p:tgtEl>
                                      </p:cBhvr>
                                    </p:animEffect>
                                  </p:childTnLst>
                                </p:cTn>
                              </p:par>
                              <p:par>
                                <p:cTn id="24" presetID="22" presetClass="entr" presetSubtype="8" fill="hold" nodeType="withEffect">
                                  <p:stCondLst>
                                    <p:cond delay="0"/>
                                  </p:stCondLst>
                                  <p:childTnLst>
                                    <p:set>
                                      <p:cBhvr>
                                        <p:cTn id="25" dur="1" fill="hold">
                                          <p:stCondLst>
                                            <p:cond delay="0"/>
                                          </p:stCondLst>
                                        </p:cTn>
                                        <p:tgtEl>
                                          <p:spTgt spid="184"/>
                                        </p:tgtEl>
                                        <p:attrNameLst>
                                          <p:attrName>style.visibility</p:attrName>
                                        </p:attrNameLst>
                                      </p:cBhvr>
                                      <p:to>
                                        <p:strVal val="visible"/>
                                      </p:to>
                                    </p:set>
                                    <p:animEffect transition="in" filter="wipe(left)">
                                      <p:cBhvr>
                                        <p:cTn id="26" dur="500"/>
                                        <p:tgtEl>
                                          <p:spTgt spid="184"/>
                                        </p:tgtEl>
                                      </p:cBhvr>
                                    </p:animEffect>
                                  </p:childTnLst>
                                </p:cTn>
                              </p:par>
                            </p:childTnLst>
                          </p:cTn>
                        </p:par>
                        <p:par>
                          <p:cTn id="27" fill="hold">
                            <p:stCondLst>
                              <p:cond delay="1000"/>
                            </p:stCondLst>
                            <p:childTnLst>
                              <p:par>
                                <p:cTn id="28" presetID="22" presetClass="entr" presetSubtype="4" fill="hold" nodeType="afterEffect">
                                  <p:stCondLst>
                                    <p:cond delay="0"/>
                                  </p:stCondLst>
                                  <p:childTnLst>
                                    <p:set>
                                      <p:cBhvr>
                                        <p:cTn id="29" dur="1" fill="hold">
                                          <p:stCondLst>
                                            <p:cond delay="0"/>
                                          </p:stCondLst>
                                        </p:cTn>
                                        <p:tgtEl>
                                          <p:spTgt spid="186"/>
                                        </p:tgtEl>
                                        <p:attrNameLst>
                                          <p:attrName>style.visibility</p:attrName>
                                        </p:attrNameLst>
                                      </p:cBhvr>
                                      <p:to>
                                        <p:strVal val="visible"/>
                                      </p:to>
                                    </p:set>
                                    <p:animEffect transition="in" filter="wipe(down)">
                                      <p:cBhvr>
                                        <p:cTn id="30" dur="5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61"/>
        <p:cNvGrpSpPr/>
        <p:nvPr/>
      </p:nvGrpSpPr>
      <p:grpSpPr>
        <a:xfrm>
          <a:off x="0" y="0"/>
          <a:ext cx="0" cy="0"/>
          <a:chOff x="0" y="0"/>
          <a:chExt cx="0" cy="0"/>
        </a:xfrm>
      </p:grpSpPr>
      <p:sp>
        <p:nvSpPr>
          <p:cNvPr id="4462" name="Google Shape;4462;p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Unified Installer Streamlines Deployment</a:t>
            </a:r>
            <a:endParaRPr/>
          </a:p>
        </p:txBody>
      </p:sp>
      <p:sp>
        <p:nvSpPr>
          <p:cNvPr id="4463" name="Google Shape;4463;p6"/>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VMware Cloud Foundation Installer Appliance</a:t>
            </a:r>
            <a:endParaRPr/>
          </a:p>
        </p:txBody>
      </p:sp>
      <p:sp>
        <p:nvSpPr>
          <p:cNvPr id="4464" name="Google Shape;4464;p6"/>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solidFill>
                  <a:schemeClr val="dk1"/>
                </a:solidFill>
              </a:rPr>
              <a:t>VCF Installer Appliance:</a:t>
            </a:r>
            <a:endParaRPr dirty="0"/>
          </a:p>
          <a:p>
            <a:pPr marL="0" lvl="0" indent="0" algn="l" rtl="0">
              <a:lnSpc>
                <a:spcPct val="100000"/>
              </a:lnSpc>
              <a:spcBef>
                <a:spcPts val="1200"/>
              </a:spcBef>
              <a:spcAft>
                <a:spcPts val="0"/>
              </a:spcAft>
              <a:buSzPts val="1440"/>
              <a:buNone/>
            </a:pPr>
            <a:r>
              <a:rPr lang="en-US" dirty="0"/>
              <a:t>Streamlines deployment of VCF or VVF from a single appliance</a:t>
            </a:r>
            <a:endParaRPr dirty="0"/>
          </a:p>
          <a:p>
            <a:pPr marL="0" lvl="0" indent="0" algn="l" rtl="0">
              <a:lnSpc>
                <a:spcPct val="100000"/>
              </a:lnSpc>
              <a:spcBef>
                <a:spcPts val="1200"/>
              </a:spcBef>
              <a:spcAft>
                <a:spcPts val="0"/>
              </a:spcAft>
              <a:buSzPts val="1440"/>
              <a:buNone/>
            </a:pPr>
            <a:r>
              <a:rPr lang="en-US" dirty="0"/>
              <a:t>Inbuilt options to re-use existing vCenter, VCF Operations and VCF Automation instances</a:t>
            </a:r>
            <a:endParaRPr dirty="0"/>
          </a:p>
          <a:p>
            <a:pPr marL="0" lvl="0" indent="0" algn="l" rtl="0">
              <a:lnSpc>
                <a:spcPct val="100000"/>
              </a:lnSpc>
              <a:spcBef>
                <a:spcPts val="1200"/>
              </a:spcBef>
              <a:spcAft>
                <a:spcPts val="0"/>
              </a:spcAft>
              <a:buSzPts val="1440"/>
              <a:buNone/>
            </a:pPr>
            <a:r>
              <a:rPr lang="en-US" dirty="0"/>
              <a:t>Full stack deployment and lifecycle management of compute, storage, networking, operations and automation</a:t>
            </a:r>
            <a:endParaRPr dirty="0"/>
          </a:p>
          <a:p>
            <a:pPr marL="0" lvl="0" indent="0" algn="l" rtl="0">
              <a:lnSpc>
                <a:spcPct val="100000"/>
              </a:lnSpc>
              <a:spcBef>
                <a:spcPts val="1200"/>
              </a:spcBef>
              <a:spcAft>
                <a:spcPts val="0"/>
              </a:spcAft>
              <a:buSzPts val="1440"/>
              <a:buNone/>
            </a:pPr>
            <a:r>
              <a:rPr lang="en-US" dirty="0"/>
              <a:t>Generate a re-usable JSON spec which can be uploaded, reviewed and validated from the UI </a:t>
            </a:r>
            <a:endParaRPr dirty="0"/>
          </a:p>
          <a:p>
            <a:pPr marL="0" lvl="0" indent="0" algn="l" rtl="0">
              <a:lnSpc>
                <a:spcPct val="100000"/>
              </a:lnSpc>
              <a:spcBef>
                <a:spcPts val="1200"/>
              </a:spcBef>
              <a:spcAft>
                <a:spcPts val="0"/>
              </a:spcAft>
              <a:buSzPts val="1440"/>
              <a:buNone/>
            </a:pPr>
            <a:endParaRPr dirty="0"/>
          </a:p>
        </p:txBody>
      </p:sp>
      <p:sp>
        <p:nvSpPr>
          <p:cNvPr id="4465" name="Google Shape;4465;p6"/>
          <p:cNvSpPr/>
          <p:nvPr/>
        </p:nvSpPr>
        <p:spPr>
          <a:xfrm>
            <a:off x="6479" y="1617390"/>
            <a:ext cx="8133399" cy="4572000"/>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4466" name="Google Shape;4466;p6"/>
          <p:cNvSpPr/>
          <p:nvPr/>
        </p:nvSpPr>
        <p:spPr>
          <a:xfrm>
            <a:off x="3286786" y="1750218"/>
            <a:ext cx="4731160"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nvGrpSpPr>
          <p:cNvPr id="4467" name="Google Shape;4467;p6"/>
          <p:cNvGrpSpPr/>
          <p:nvPr/>
        </p:nvGrpSpPr>
        <p:grpSpPr>
          <a:xfrm>
            <a:off x="4263615" y="2678872"/>
            <a:ext cx="1456647" cy="1275629"/>
            <a:chOff x="4120905" y="2751137"/>
            <a:chExt cx="1456647" cy="1275629"/>
          </a:xfrm>
        </p:grpSpPr>
        <p:grpSp>
          <p:nvGrpSpPr>
            <p:cNvPr id="4468" name="Google Shape;4468;p6"/>
            <p:cNvGrpSpPr/>
            <p:nvPr/>
          </p:nvGrpSpPr>
          <p:grpSpPr>
            <a:xfrm>
              <a:off x="4125845" y="2756631"/>
              <a:ext cx="1448451" cy="1201448"/>
              <a:chOff x="4125845" y="2756631"/>
              <a:chExt cx="1448451" cy="1201448"/>
            </a:xfrm>
          </p:grpSpPr>
          <p:pic>
            <p:nvPicPr>
              <p:cNvPr id="4469" name="Google Shape;4469;p6"/>
              <p:cNvPicPr preferRelativeResize="0"/>
              <p:nvPr/>
            </p:nvPicPr>
            <p:blipFill rotWithShape="1">
              <a:blip r:embed="rId3">
                <a:alphaModFix/>
              </a:blip>
              <a:srcRect/>
              <a:stretch/>
            </p:blipFill>
            <p:spPr>
              <a:xfrm>
                <a:off x="4125845" y="2756631"/>
                <a:ext cx="1448451" cy="1201448"/>
              </a:xfrm>
              <a:prstGeom prst="rect">
                <a:avLst/>
              </a:prstGeom>
              <a:noFill/>
              <a:ln>
                <a:noFill/>
              </a:ln>
            </p:spPr>
          </p:pic>
          <p:sp>
            <p:nvSpPr>
              <p:cNvPr id="4470" name="Google Shape;4470;p6"/>
              <p:cNvSpPr/>
              <p:nvPr/>
            </p:nvSpPr>
            <p:spPr>
              <a:xfrm>
                <a:off x="5070888" y="3796831"/>
                <a:ext cx="462334" cy="101210"/>
              </a:xfrm>
              <a:prstGeom prst="rect">
                <a:avLst/>
              </a:prstGeom>
              <a:solidFill>
                <a:srgbClr val="FCFEF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4471" name="Google Shape;4471;p6"/>
            <p:cNvSpPr/>
            <p:nvPr/>
          </p:nvSpPr>
          <p:spPr>
            <a:xfrm>
              <a:off x="4120905" y="2751137"/>
              <a:ext cx="1456647" cy="1275629"/>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4472" name="Google Shape;4472;p6"/>
          <p:cNvSpPr/>
          <p:nvPr/>
        </p:nvSpPr>
        <p:spPr>
          <a:xfrm>
            <a:off x="608012" y="1750219"/>
            <a:ext cx="2573580"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nvGrpSpPr>
          <p:cNvPr id="4473" name="Google Shape;4473;p6"/>
          <p:cNvGrpSpPr/>
          <p:nvPr/>
        </p:nvGrpSpPr>
        <p:grpSpPr>
          <a:xfrm>
            <a:off x="848650" y="3028036"/>
            <a:ext cx="2068024" cy="2290319"/>
            <a:chOff x="615013" y="1865872"/>
            <a:chExt cx="3151998" cy="3490809"/>
          </a:xfrm>
        </p:grpSpPr>
        <p:grpSp>
          <p:nvGrpSpPr>
            <p:cNvPr id="4474" name="Google Shape;4474;p6" descr="management domain"/>
            <p:cNvGrpSpPr/>
            <p:nvPr/>
          </p:nvGrpSpPr>
          <p:grpSpPr>
            <a:xfrm>
              <a:off x="615013" y="2351496"/>
              <a:ext cx="3151998" cy="3005185"/>
              <a:chOff x="8339056" y="2810218"/>
              <a:chExt cx="3152819" cy="3005968"/>
            </a:xfrm>
          </p:grpSpPr>
          <p:sp>
            <p:nvSpPr>
              <p:cNvPr id="4475" name="Google Shape;4475;p6"/>
              <p:cNvSpPr/>
              <p:nvPr/>
            </p:nvSpPr>
            <p:spPr>
              <a:xfrm>
                <a:off x="8339056" y="2810218"/>
                <a:ext cx="3152819" cy="3005968"/>
              </a:xfrm>
              <a:prstGeom prst="roundRect">
                <a:avLst>
                  <a:gd name="adj" fmla="val 0"/>
                </a:avLst>
              </a:prstGeom>
              <a:gradFill>
                <a:gsLst>
                  <a:gs pos="0">
                    <a:schemeClr val="accent3"/>
                  </a:gs>
                  <a:gs pos="83000">
                    <a:schemeClr val="accent2"/>
                  </a:gs>
                  <a:gs pos="100000">
                    <a:schemeClr val="accent2"/>
                  </a:gs>
                </a:gsLst>
                <a:lin ang="108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u="none" strike="noStrike" cap="none">
                  <a:solidFill>
                    <a:srgbClr val="FFFFFF"/>
                  </a:solidFill>
                  <a:latin typeface="Arial"/>
                  <a:ea typeface="Arial"/>
                  <a:cs typeface="Arial"/>
                  <a:sym typeface="Arial"/>
                </a:endParaRPr>
              </a:p>
            </p:txBody>
          </p:sp>
          <p:pic>
            <p:nvPicPr>
              <p:cNvPr id="4476" name="Google Shape;4476;p6"/>
              <p:cNvPicPr preferRelativeResize="0"/>
              <p:nvPr/>
            </p:nvPicPr>
            <p:blipFill rotWithShape="1">
              <a:blip r:embed="rId4">
                <a:alphaModFix/>
              </a:blip>
              <a:srcRect/>
              <a:stretch/>
            </p:blipFill>
            <p:spPr>
              <a:xfrm>
                <a:off x="10665441" y="5023667"/>
                <a:ext cx="403310" cy="476130"/>
              </a:xfrm>
              <a:prstGeom prst="rect">
                <a:avLst/>
              </a:prstGeom>
              <a:noFill/>
              <a:ln>
                <a:noFill/>
              </a:ln>
            </p:spPr>
          </p:pic>
          <p:grpSp>
            <p:nvGrpSpPr>
              <p:cNvPr id="4477" name="Google Shape;4477;p6"/>
              <p:cNvGrpSpPr/>
              <p:nvPr/>
            </p:nvGrpSpPr>
            <p:grpSpPr>
              <a:xfrm>
                <a:off x="9706721" y="5025665"/>
                <a:ext cx="477198" cy="472135"/>
                <a:chOff x="4232704" y="5641814"/>
                <a:chExt cx="793603" cy="785185"/>
              </a:xfrm>
            </p:grpSpPr>
            <p:sp>
              <p:nvSpPr>
                <p:cNvPr id="4478" name="Google Shape;4478;p6"/>
                <p:cNvSpPr/>
                <p:nvPr/>
              </p:nvSpPr>
              <p:spPr>
                <a:xfrm>
                  <a:off x="4234596" y="5641814"/>
                  <a:ext cx="791711" cy="369229"/>
                </a:xfrm>
                <a:prstGeom prst="rightArrow">
                  <a:avLst>
                    <a:gd name="adj1" fmla="val 50000"/>
                    <a:gd name="adj2" fmla="val 50000"/>
                  </a:avLst>
                </a:prstGeom>
                <a:noFill/>
                <a:ln w="12700" cap="flat" cmpd="sng">
                  <a:solidFill>
                    <a:schemeClr val="lt1"/>
                  </a:solidFill>
                  <a:prstDash val="solid"/>
                  <a:bevel/>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u="none" strike="noStrike" cap="none">
                    <a:solidFill>
                      <a:srgbClr val="002142"/>
                    </a:solidFill>
                    <a:latin typeface="Arial"/>
                    <a:ea typeface="Arial"/>
                    <a:cs typeface="Arial"/>
                    <a:sym typeface="Arial"/>
                  </a:endParaRPr>
                </a:p>
              </p:txBody>
            </p:sp>
            <p:sp>
              <p:nvSpPr>
                <p:cNvPr id="4479" name="Google Shape;4479;p6"/>
                <p:cNvSpPr/>
                <p:nvPr/>
              </p:nvSpPr>
              <p:spPr>
                <a:xfrm rot="10800000">
                  <a:off x="4232704" y="6057768"/>
                  <a:ext cx="791712" cy="369231"/>
                </a:xfrm>
                <a:prstGeom prst="rightArrow">
                  <a:avLst>
                    <a:gd name="adj1" fmla="val 50000"/>
                    <a:gd name="adj2" fmla="val 50000"/>
                  </a:avLst>
                </a:prstGeom>
                <a:noFill/>
                <a:ln w="12700" cap="flat" cmpd="sng">
                  <a:solidFill>
                    <a:schemeClr val="lt1"/>
                  </a:solidFill>
                  <a:prstDash val="solid"/>
                  <a:bevel/>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u="none" strike="noStrike" cap="none">
                    <a:solidFill>
                      <a:srgbClr val="002142"/>
                    </a:solidFill>
                    <a:latin typeface="Arial"/>
                    <a:ea typeface="Arial"/>
                    <a:cs typeface="Arial"/>
                    <a:sym typeface="Arial"/>
                  </a:endParaRPr>
                </a:p>
              </p:txBody>
            </p:sp>
          </p:grpSp>
          <p:grpSp>
            <p:nvGrpSpPr>
              <p:cNvPr id="4480" name="Google Shape;4480;p6"/>
              <p:cNvGrpSpPr/>
              <p:nvPr/>
            </p:nvGrpSpPr>
            <p:grpSpPr>
              <a:xfrm>
                <a:off x="8668596" y="3426524"/>
                <a:ext cx="2493740" cy="646873"/>
                <a:chOff x="8866282" y="3245549"/>
                <a:chExt cx="2493740" cy="646873"/>
              </a:xfrm>
            </p:grpSpPr>
            <p:pic>
              <p:nvPicPr>
                <p:cNvPr id="4481" name="Google Shape;4481;p6"/>
                <p:cNvPicPr preferRelativeResize="0"/>
                <p:nvPr/>
              </p:nvPicPr>
              <p:blipFill rotWithShape="1">
                <a:blip r:embed="rId5">
                  <a:alphaModFix/>
                </a:blip>
                <a:srcRect/>
                <a:stretch/>
              </p:blipFill>
              <p:spPr>
                <a:xfrm>
                  <a:off x="9792231" y="3245549"/>
                  <a:ext cx="650475" cy="643481"/>
                </a:xfrm>
                <a:prstGeom prst="rect">
                  <a:avLst/>
                </a:prstGeom>
                <a:noFill/>
                <a:ln>
                  <a:noFill/>
                </a:ln>
              </p:spPr>
            </p:pic>
            <p:pic>
              <p:nvPicPr>
                <p:cNvPr id="4482" name="Google Shape;4482;p6"/>
                <p:cNvPicPr preferRelativeResize="0"/>
                <p:nvPr/>
              </p:nvPicPr>
              <p:blipFill rotWithShape="1">
                <a:blip r:embed="rId6">
                  <a:alphaModFix/>
                </a:blip>
                <a:srcRect/>
                <a:stretch/>
              </p:blipFill>
              <p:spPr>
                <a:xfrm>
                  <a:off x="8866282" y="3247722"/>
                  <a:ext cx="651706" cy="644699"/>
                </a:xfrm>
                <a:prstGeom prst="rect">
                  <a:avLst/>
                </a:prstGeom>
                <a:noFill/>
                <a:ln>
                  <a:noFill/>
                </a:ln>
              </p:spPr>
            </p:pic>
            <p:pic>
              <p:nvPicPr>
                <p:cNvPr id="4483" name="Google Shape;4483;p6"/>
                <p:cNvPicPr preferRelativeResize="0"/>
                <p:nvPr/>
              </p:nvPicPr>
              <p:blipFill rotWithShape="1">
                <a:blip r:embed="rId7">
                  <a:alphaModFix/>
                </a:blip>
                <a:srcRect/>
                <a:stretch/>
              </p:blipFill>
              <p:spPr>
                <a:xfrm>
                  <a:off x="10715323" y="3247723"/>
                  <a:ext cx="644699" cy="644699"/>
                </a:xfrm>
                <a:prstGeom prst="rect">
                  <a:avLst/>
                </a:prstGeom>
                <a:noFill/>
                <a:ln>
                  <a:noFill/>
                </a:ln>
              </p:spPr>
            </p:pic>
          </p:grpSp>
          <p:pic>
            <p:nvPicPr>
              <p:cNvPr id="4484" name="Google Shape;4484;p6"/>
              <p:cNvPicPr preferRelativeResize="0"/>
              <p:nvPr/>
            </p:nvPicPr>
            <p:blipFill rotWithShape="1">
              <a:blip r:embed="rId8">
                <a:alphaModFix/>
              </a:blip>
              <a:srcRect/>
              <a:stretch/>
            </p:blipFill>
            <p:spPr>
              <a:xfrm>
                <a:off x="8765520" y="5033746"/>
                <a:ext cx="459680" cy="455973"/>
              </a:xfrm>
              <a:prstGeom prst="rect">
                <a:avLst/>
              </a:prstGeom>
              <a:noFill/>
              <a:ln>
                <a:noFill/>
              </a:ln>
            </p:spPr>
          </p:pic>
          <p:sp>
            <p:nvSpPr>
              <p:cNvPr id="4485" name="Google Shape;4485;p6"/>
              <p:cNvSpPr/>
              <p:nvPr/>
            </p:nvSpPr>
            <p:spPr>
              <a:xfrm>
                <a:off x="8473066" y="4895329"/>
                <a:ext cx="2879812" cy="732806"/>
              </a:xfrm>
              <a:prstGeom prst="roundRect">
                <a:avLst>
                  <a:gd name="adj" fmla="val 0"/>
                </a:avLst>
              </a:prstGeom>
              <a:noFill/>
              <a:ln w="12700" cap="flat" cmpd="sng">
                <a:solidFill>
                  <a:srgbClr val="FFFFFF"/>
                </a:solidFill>
                <a:prstDash val="solid"/>
                <a:miter lim="800000"/>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u="none" strike="noStrike" cap="none">
                  <a:solidFill>
                    <a:srgbClr val="FFFFFF"/>
                  </a:solidFill>
                  <a:latin typeface="Arial"/>
                  <a:ea typeface="Arial"/>
                  <a:cs typeface="Arial"/>
                  <a:sym typeface="Arial"/>
                </a:endParaRPr>
              </a:p>
            </p:txBody>
          </p:sp>
          <p:sp>
            <p:nvSpPr>
              <p:cNvPr id="4486" name="Google Shape;4486;p6"/>
              <p:cNvSpPr/>
              <p:nvPr/>
            </p:nvSpPr>
            <p:spPr>
              <a:xfrm>
                <a:off x="8612648" y="2988018"/>
                <a:ext cx="2605635" cy="224320"/>
              </a:xfrm>
              <a:prstGeom prst="rect">
                <a:avLst/>
              </a:prstGeom>
              <a:no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799"/>
                  <a:buFont typeface="Arial"/>
                  <a:buNone/>
                </a:pPr>
                <a:r>
                  <a:rPr lang="en-US" sz="900" u="none" strike="noStrike" cap="none">
                    <a:solidFill>
                      <a:srgbClr val="FFFFFF"/>
                    </a:solidFill>
                    <a:latin typeface="Arial"/>
                    <a:ea typeface="Arial"/>
                    <a:cs typeface="Arial"/>
                    <a:sym typeface="Arial"/>
                  </a:rPr>
                  <a:t>VMware Cloud Foundation</a:t>
                </a:r>
                <a:endParaRPr sz="900" u="none" strike="noStrike" cap="none">
                  <a:solidFill>
                    <a:srgbClr val="000000"/>
                  </a:solidFill>
                  <a:latin typeface="Arial"/>
                  <a:ea typeface="Arial"/>
                  <a:cs typeface="Arial"/>
                  <a:sym typeface="Arial"/>
                </a:endParaRPr>
              </a:p>
            </p:txBody>
          </p:sp>
        </p:grpSp>
        <p:pic>
          <p:nvPicPr>
            <p:cNvPr id="4487" name="Google Shape;4487;p6"/>
            <p:cNvPicPr preferRelativeResize="0"/>
            <p:nvPr/>
          </p:nvPicPr>
          <p:blipFill rotWithShape="1">
            <a:blip r:embed="rId9">
              <a:alphaModFix/>
            </a:blip>
            <a:srcRect/>
            <a:stretch/>
          </p:blipFill>
          <p:spPr>
            <a:xfrm>
              <a:off x="1963471" y="1865872"/>
              <a:ext cx="456665" cy="456666"/>
            </a:xfrm>
            <a:prstGeom prst="rect">
              <a:avLst/>
            </a:prstGeom>
            <a:noFill/>
            <a:ln>
              <a:noFill/>
            </a:ln>
          </p:spPr>
        </p:pic>
      </p:grpSp>
      <p:sp>
        <p:nvSpPr>
          <p:cNvPr id="4488" name="Google Shape;4488;p6"/>
          <p:cNvSpPr/>
          <p:nvPr/>
        </p:nvSpPr>
        <p:spPr>
          <a:xfrm>
            <a:off x="1571011" y="2670550"/>
            <a:ext cx="639363"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650"/>
              <a:buFont typeface="Arial"/>
              <a:buNone/>
            </a:pPr>
            <a:r>
              <a:rPr lang="en-US" sz="650" dirty="0">
                <a:solidFill>
                  <a:schemeClr val="lt1"/>
                </a:solidFill>
                <a:latin typeface="Arial"/>
                <a:ea typeface="Arial"/>
                <a:cs typeface="Arial"/>
                <a:sym typeface="Arial"/>
              </a:rPr>
              <a:t>Aria LCM</a:t>
            </a:r>
            <a:endParaRPr sz="1800" dirty="0">
              <a:solidFill>
                <a:schemeClr val="dk1"/>
              </a:solidFill>
              <a:latin typeface="Arial"/>
              <a:ea typeface="Arial"/>
              <a:cs typeface="Arial"/>
              <a:sym typeface="Arial"/>
            </a:endParaRPr>
          </a:p>
        </p:txBody>
      </p:sp>
      <p:sp>
        <p:nvSpPr>
          <p:cNvPr id="4489" name="Google Shape;4489;p6"/>
          <p:cNvSpPr/>
          <p:nvPr/>
        </p:nvSpPr>
        <p:spPr>
          <a:xfrm>
            <a:off x="2257002" y="2670448"/>
            <a:ext cx="672649"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650"/>
              <a:buFont typeface="Arial"/>
              <a:buNone/>
            </a:pPr>
            <a:r>
              <a:rPr lang="en-US" sz="650">
                <a:solidFill>
                  <a:schemeClr val="lt1"/>
                </a:solidFill>
                <a:latin typeface="Arial"/>
                <a:ea typeface="Arial"/>
                <a:cs typeface="Arial"/>
                <a:sym typeface="Arial"/>
              </a:rPr>
              <a:t>VIDM</a:t>
            </a:r>
            <a:endParaRPr sz="1800">
              <a:solidFill>
                <a:schemeClr val="dk1"/>
              </a:solidFill>
              <a:latin typeface="Arial"/>
              <a:ea typeface="Arial"/>
              <a:cs typeface="Arial"/>
              <a:sym typeface="Arial"/>
            </a:endParaRPr>
          </a:p>
        </p:txBody>
      </p:sp>
      <p:sp>
        <p:nvSpPr>
          <p:cNvPr id="4490" name="Google Shape;4490;p6"/>
          <p:cNvSpPr/>
          <p:nvPr/>
        </p:nvSpPr>
        <p:spPr>
          <a:xfrm>
            <a:off x="855954" y="2299054"/>
            <a:ext cx="672572"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650"/>
              <a:buFont typeface="Arial"/>
              <a:buNone/>
            </a:pPr>
            <a:r>
              <a:rPr lang="en-US" sz="650">
                <a:solidFill>
                  <a:schemeClr val="lt1"/>
                </a:solidFill>
                <a:latin typeface="Arial"/>
                <a:ea typeface="Arial"/>
                <a:cs typeface="Arial"/>
                <a:sym typeface="Arial"/>
              </a:rPr>
              <a:t>Aria Operations</a:t>
            </a:r>
            <a:endParaRPr sz="1800">
              <a:solidFill>
                <a:schemeClr val="dk1"/>
              </a:solidFill>
              <a:latin typeface="Arial"/>
              <a:ea typeface="Arial"/>
              <a:cs typeface="Arial"/>
              <a:sym typeface="Arial"/>
            </a:endParaRPr>
          </a:p>
        </p:txBody>
      </p:sp>
      <p:sp>
        <p:nvSpPr>
          <p:cNvPr id="4491" name="Google Shape;4491;p6"/>
          <p:cNvSpPr/>
          <p:nvPr/>
        </p:nvSpPr>
        <p:spPr>
          <a:xfrm>
            <a:off x="855876" y="2670448"/>
            <a:ext cx="672649"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650"/>
              <a:buFont typeface="Arial"/>
              <a:buNone/>
            </a:pPr>
            <a:r>
              <a:rPr lang="en-US" sz="650">
                <a:solidFill>
                  <a:schemeClr val="lt1"/>
                </a:solidFill>
                <a:latin typeface="Arial"/>
                <a:ea typeface="Arial"/>
                <a:cs typeface="Arial"/>
                <a:sym typeface="Arial"/>
              </a:rPr>
              <a:t>Aria Ops Networks</a:t>
            </a:r>
            <a:endParaRPr sz="1800">
              <a:solidFill>
                <a:schemeClr val="dk1"/>
              </a:solidFill>
              <a:latin typeface="Arial"/>
              <a:ea typeface="Arial"/>
              <a:cs typeface="Arial"/>
              <a:sym typeface="Arial"/>
            </a:endParaRPr>
          </a:p>
        </p:txBody>
      </p:sp>
      <p:sp>
        <p:nvSpPr>
          <p:cNvPr id="4492" name="Google Shape;4492;p6"/>
          <p:cNvSpPr/>
          <p:nvPr/>
        </p:nvSpPr>
        <p:spPr>
          <a:xfrm>
            <a:off x="1578607" y="2295973"/>
            <a:ext cx="619629"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650"/>
              <a:buFont typeface="Arial"/>
              <a:buNone/>
            </a:pPr>
            <a:r>
              <a:rPr lang="en-US" sz="650">
                <a:solidFill>
                  <a:schemeClr val="lt1"/>
                </a:solidFill>
                <a:latin typeface="Arial"/>
                <a:ea typeface="Arial"/>
                <a:cs typeface="Arial"/>
                <a:sym typeface="Arial"/>
              </a:rPr>
              <a:t>Aria Ops Logs</a:t>
            </a:r>
            <a:endParaRPr sz="1800">
              <a:solidFill>
                <a:schemeClr val="dk1"/>
              </a:solidFill>
              <a:latin typeface="Arial"/>
              <a:ea typeface="Arial"/>
              <a:cs typeface="Arial"/>
              <a:sym typeface="Arial"/>
            </a:endParaRPr>
          </a:p>
        </p:txBody>
      </p:sp>
      <p:sp>
        <p:nvSpPr>
          <p:cNvPr id="4493" name="Google Shape;4493;p6"/>
          <p:cNvSpPr/>
          <p:nvPr/>
        </p:nvSpPr>
        <p:spPr>
          <a:xfrm>
            <a:off x="2257002" y="2295972"/>
            <a:ext cx="672649" cy="305987"/>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650"/>
              <a:buFont typeface="Arial"/>
              <a:buNone/>
            </a:pPr>
            <a:r>
              <a:rPr lang="en-US" sz="650">
                <a:solidFill>
                  <a:schemeClr val="lt1"/>
                </a:solidFill>
                <a:latin typeface="Arial"/>
                <a:ea typeface="Arial"/>
                <a:cs typeface="Arial"/>
                <a:sym typeface="Arial"/>
              </a:rPr>
              <a:t>Aria Automation</a:t>
            </a:r>
            <a:endParaRPr sz="1800">
              <a:solidFill>
                <a:schemeClr val="dk1"/>
              </a:solidFill>
              <a:latin typeface="Arial"/>
              <a:ea typeface="Arial"/>
              <a:cs typeface="Arial"/>
              <a:sym typeface="Arial"/>
            </a:endParaRPr>
          </a:p>
        </p:txBody>
      </p:sp>
      <p:sp>
        <p:nvSpPr>
          <p:cNvPr id="4494" name="Google Shape;4494;p6"/>
          <p:cNvSpPr txBox="1"/>
          <p:nvPr/>
        </p:nvSpPr>
        <p:spPr>
          <a:xfrm>
            <a:off x="730871" y="1829794"/>
            <a:ext cx="1013400" cy="2862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000000"/>
              </a:buClr>
              <a:buSzPts val="1000"/>
              <a:buFont typeface="Arial"/>
              <a:buNone/>
            </a:pPr>
            <a:r>
              <a:rPr lang="en-US" sz="1000" b="1" u="none" strike="noStrike" cap="none">
                <a:solidFill>
                  <a:schemeClr val="dk1"/>
                </a:solidFill>
                <a:latin typeface="Arial"/>
                <a:ea typeface="Arial"/>
                <a:cs typeface="Arial"/>
                <a:sym typeface="Arial"/>
              </a:rPr>
              <a:t>VCF 5.x</a:t>
            </a:r>
            <a:endParaRPr sz="1000" b="1" u="none" strike="noStrike" cap="none">
              <a:solidFill>
                <a:schemeClr val="dk1"/>
              </a:solidFill>
              <a:latin typeface="Arial"/>
              <a:ea typeface="Arial"/>
              <a:cs typeface="Arial"/>
              <a:sym typeface="Arial"/>
            </a:endParaRPr>
          </a:p>
        </p:txBody>
      </p:sp>
      <p:grpSp>
        <p:nvGrpSpPr>
          <p:cNvPr id="4495" name="Google Shape;4495;p6"/>
          <p:cNvGrpSpPr/>
          <p:nvPr/>
        </p:nvGrpSpPr>
        <p:grpSpPr>
          <a:xfrm>
            <a:off x="686767" y="5432921"/>
            <a:ext cx="2375442" cy="511005"/>
            <a:chOff x="336349" y="5279481"/>
            <a:chExt cx="3069536" cy="660317"/>
          </a:xfrm>
        </p:grpSpPr>
        <p:grpSp>
          <p:nvGrpSpPr>
            <p:cNvPr id="4496" name="Google Shape;4496;p6"/>
            <p:cNvGrpSpPr/>
            <p:nvPr/>
          </p:nvGrpSpPr>
          <p:grpSpPr>
            <a:xfrm>
              <a:off x="656436" y="5286826"/>
              <a:ext cx="408587" cy="408586"/>
              <a:chOff x="7773041" y="4914900"/>
              <a:chExt cx="777242" cy="777240"/>
            </a:xfrm>
          </p:grpSpPr>
          <p:sp>
            <p:nvSpPr>
              <p:cNvPr id="4497" name="Google Shape;4497;p6"/>
              <p:cNvSpPr/>
              <p:nvPr/>
            </p:nvSpPr>
            <p:spPr>
              <a:xfrm>
                <a:off x="7773041" y="4914900"/>
                <a:ext cx="777242" cy="777240"/>
              </a:xfrm>
              <a:prstGeom prst="ellipse">
                <a:avLst/>
              </a:prstGeom>
              <a:solidFill>
                <a:schemeClr val="lt1"/>
              </a:solidFill>
              <a:ln w="254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u="none" strike="noStrike" cap="none">
                  <a:solidFill>
                    <a:srgbClr val="000000"/>
                  </a:solidFill>
                  <a:latin typeface="Arial"/>
                  <a:ea typeface="Arial"/>
                  <a:cs typeface="Arial"/>
                  <a:sym typeface="Arial"/>
                </a:endParaRPr>
              </a:p>
            </p:txBody>
          </p:sp>
          <p:grpSp>
            <p:nvGrpSpPr>
              <p:cNvPr id="4498" name="Google Shape;4498;p6"/>
              <p:cNvGrpSpPr/>
              <p:nvPr/>
            </p:nvGrpSpPr>
            <p:grpSpPr>
              <a:xfrm>
                <a:off x="7961563" y="5091263"/>
                <a:ext cx="443993" cy="443318"/>
                <a:chOff x="2664852" y="3380222"/>
                <a:chExt cx="896283" cy="861930"/>
              </a:xfrm>
            </p:grpSpPr>
            <p:sp>
              <p:nvSpPr>
                <p:cNvPr id="4499" name="Google Shape;4499;p6"/>
                <p:cNvSpPr/>
                <p:nvPr/>
              </p:nvSpPr>
              <p:spPr>
                <a:xfrm>
                  <a:off x="2664852" y="3380222"/>
                  <a:ext cx="810775" cy="804580"/>
                </a:xfrm>
                <a:custGeom>
                  <a:avLst/>
                  <a:gdLst/>
                  <a:ahLst/>
                  <a:cxnLst/>
                  <a:rect l="l" t="t" r="r" b="b"/>
                  <a:pathLst>
                    <a:path w="352" h="352" extrusionOk="0">
                      <a:moveTo>
                        <a:pt x="0" y="0"/>
                      </a:moveTo>
                      <a:cubicBezTo>
                        <a:pt x="0" y="352"/>
                        <a:pt x="0" y="352"/>
                        <a:pt x="0" y="352"/>
                      </a:cubicBezTo>
                      <a:cubicBezTo>
                        <a:pt x="255" y="352"/>
                        <a:pt x="255" y="352"/>
                        <a:pt x="255" y="352"/>
                      </a:cubicBezTo>
                      <a:cubicBezTo>
                        <a:pt x="253" y="347"/>
                        <a:pt x="252" y="342"/>
                        <a:pt x="251" y="336"/>
                      </a:cubicBezTo>
                      <a:cubicBezTo>
                        <a:pt x="16" y="336"/>
                        <a:pt x="16" y="336"/>
                        <a:pt x="16" y="336"/>
                      </a:cubicBezTo>
                      <a:cubicBezTo>
                        <a:pt x="16" y="16"/>
                        <a:pt x="16" y="16"/>
                        <a:pt x="16" y="16"/>
                      </a:cubicBezTo>
                      <a:cubicBezTo>
                        <a:pt x="336" y="16"/>
                        <a:pt x="336" y="16"/>
                        <a:pt x="336" y="16"/>
                      </a:cubicBezTo>
                      <a:cubicBezTo>
                        <a:pt x="336" y="249"/>
                        <a:pt x="336" y="249"/>
                        <a:pt x="336" y="249"/>
                      </a:cubicBezTo>
                      <a:cubicBezTo>
                        <a:pt x="342" y="250"/>
                        <a:pt x="347" y="252"/>
                        <a:pt x="352" y="254"/>
                      </a:cubicBezTo>
                      <a:cubicBezTo>
                        <a:pt x="352" y="0"/>
                        <a:pt x="352" y="0"/>
                        <a:pt x="352" y="0"/>
                      </a:cubicBezTo>
                      <a:lnTo>
                        <a:pt x="0" y="0"/>
                      </a:lnTo>
                      <a:close/>
                    </a:path>
                  </a:pathLst>
                </a:custGeom>
                <a:solidFill>
                  <a:srgbClr val="777777"/>
                </a:solidFill>
                <a:ln>
                  <a:noFill/>
                </a:ln>
              </p:spPr>
              <p:txBody>
                <a:bodyPr spcFirstLastPara="1" wrap="square" lIns="45225" tIns="22600" rIns="45225" bIns="22600" anchor="t" anchorCtr="0">
                  <a:noAutofit/>
                </a:bodyPr>
                <a:lstStyle/>
                <a:p>
                  <a:pPr marL="0" marR="0" lvl="0" indent="0" algn="l" rtl="0">
                    <a:lnSpc>
                      <a:spcPct val="100000"/>
                    </a:lnSpc>
                    <a:spcBef>
                      <a:spcPts val="0"/>
                    </a:spcBef>
                    <a:spcAft>
                      <a:spcPts val="0"/>
                    </a:spcAft>
                    <a:buClr>
                      <a:srgbClr val="000000"/>
                    </a:buClr>
                    <a:buSzPts val="1798"/>
                    <a:buFont typeface="Arial"/>
                    <a:buNone/>
                  </a:pPr>
                  <a:endParaRPr sz="1798" u="none" strike="noStrike" cap="none">
                    <a:solidFill>
                      <a:srgbClr val="000000"/>
                    </a:solidFill>
                    <a:latin typeface="Arial"/>
                    <a:ea typeface="Arial"/>
                    <a:cs typeface="Arial"/>
                    <a:sym typeface="Arial"/>
                  </a:endParaRPr>
                </a:p>
              </p:txBody>
            </p:sp>
            <p:sp>
              <p:nvSpPr>
                <p:cNvPr id="4500" name="Google Shape;4500;p6"/>
                <p:cNvSpPr/>
                <p:nvPr/>
              </p:nvSpPr>
              <p:spPr>
                <a:xfrm>
                  <a:off x="3278387" y="3983807"/>
                  <a:ext cx="282748" cy="258345"/>
                </a:xfrm>
                <a:custGeom>
                  <a:avLst/>
                  <a:gdLst/>
                  <a:ahLst/>
                  <a:cxnLst/>
                  <a:rect l="l" t="t" r="r" b="b"/>
                  <a:pathLst>
                    <a:path w="128" h="127" extrusionOk="0">
                      <a:moveTo>
                        <a:pt x="127" y="52"/>
                      </a:moveTo>
                      <a:cubicBezTo>
                        <a:pt x="123" y="51"/>
                        <a:pt x="123" y="51"/>
                        <a:pt x="123" y="51"/>
                      </a:cubicBezTo>
                      <a:cubicBezTo>
                        <a:pt x="118" y="51"/>
                        <a:pt x="118" y="51"/>
                        <a:pt x="118" y="51"/>
                      </a:cubicBezTo>
                      <a:cubicBezTo>
                        <a:pt x="113" y="50"/>
                        <a:pt x="113" y="50"/>
                        <a:pt x="113" y="50"/>
                      </a:cubicBezTo>
                      <a:cubicBezTo>
                        <a:pt x="113" y="50"/>
                        <a:pt x="113" y="50"/>
                        <a:pt x="113" y="50"/>
                      </a:cubicBezTo>
                      <a:cubicBezTo>
                        <a:pt x="109" y="39"/>
                        <a:pt x="109" y="39"/>
                        <a:pt x="109" y="39"/>
                      </a:cubicBezTo>
                      <a:cubicBezTo>
                        <a:pt x="109" y="38"/>
                        <a:pt x="109" y="38"/>
                        <a:pt x="109" y="38"/>
                      </a:cubicBezTo>
                      <a:cubicBezTo>
                        <a:pt x="117" y="27"/>
                        <a:pt x="117" y="27"/>
                        <a:pt x="117" y="27"/>
                      </a:cubicBezTo>
                      <a:cubicBezTo>
                        <a:pt x="117" y="27"/>
                        <a:pt x="117" y="27"/>
                        <a:pt x="117" y="27"/>
                      </a:cubicBezTo>
                      <a:cubicBezTo>
                        <a:pt x="100" y="10"/>
                        <a:pt x="100" y="10"/>
                        <a:pt x="100" y="10"/>
                      </a:cubicBezTo>
                      <a:cubicBezTo>
                        <a:pt x="100" y="11"/>
                        <a:pt x="100" y="11"/>
                        <a:pt x="100" y="11"/>
                      </a:cubicBezTo>
                      <a:cubicBezTo>
                        <a:pt x="89" y="18"/>
                        <a:pt x="89" y="18"/>
                        <a:pt x="89" y="18"/>
                      </a:cubicBezTo>
                      <a:cubicBezTo>
                        <a:pt x="88" y="18"/>
                        <a:pt x="88" y="18"/>
                        <a:pt x="88" y="18"/>
                      </a:cubicBezTo>
                      <a:cubicBezTo>
                        <a:pt x="78" y="14"/>
                        <a:pt x="78" y="14"/>
                        <a:pt x="78" y="14"/>
                      </a:cubicBezTo>
                      <a:cubicBezTo>
                        <a:pt x="78" y="14"/>
                        <a:pt x="78" y="14"/>
                        <a:pt x="78" y="14"/>
                      </a:cubicBezTo>
                      <a:cubicBezTo>
                        <a:pt x="77" y="9"/>
                        <a:pt x="77" y="9"/>
                        <a:pt x="77" y="9"/>
                      </a:cubicBezTo>
                      <a:cubicBezTo>
                        <a:pt x="76" y="2"/>
                        <a:pt x="76" y="2"/>
                        <a:pt x="76" y="2"/>
                      </a:cubicBezTo>
                      <a:cubicBezTo>
                        <a:pt x="75" y="0"/>
                        <a:pt x="75" y="0"/>
                        <a:pt x="75" y="0"/>
                      </a:cubicBezTo>
                      <a:cubicBezTo>
                        <a:pt x="52" y="0"/>
                        <a:pt x="52" y="0"/>
                        <a:pt x="52" y="0"/>
                      </a:cubicBezTo>
                      <a:cubicBezTo>
                        <a:pt x="51" y="3"/>
                        <a:pt x="51" y="3"/>
                        <a:pt x="51" y="3"/>
                      </a:cubicBezTo>
                      <a:cubicBezTo>
                        <a:pt x="50" y="14"/>
                        <a:pt x="50" y="14"/>
                        <a:pt x="50" y="14"/>
                      </a:cubicBezTo>
                      <a:cubicBezTo>
                        <a:pt x="49" y="14"/>
                        <a:pt x="49" y="14"/>
                        <a:pt x="49" y="14"/>
                      </a:cubicBezTo>
                      <a:cubicBezTo>
                        <a:pt x="39" y="18"/>
                        <a:pt x="39" y="18"/>
                        <a:pt x="39" y="18"/>
                      </a:cubicBezTo>
                      <a:cubicBezTo>
                        <a:pt x="38" y="18"/>
                        <a:pt x="38" y="18"/>
                        <a:pt x="38" y="18"/>
                      </a:cubicBezTo>
                      <a:cubicBezTo>
                        <a:pt x="28" y="11"/>
                        <a:pt x="28" y="11"/>
                        <a:pt x="28" y="11"/>
                      </a:cubicBezTo>
                      <a:cubicBezTo>
                        <a:pt x="27" y="10"/>
                        <a:pt x="27" y="10"/>
                        <a:pt x="27" y="10"/>
                      </a:cubicBezTo>
                      <a:cubicBezTo>
                        <a:pt x="10" y="27"/>
                        <a:pt x="10" y="27"/>
                        <a:pt x="10" y="27"/>
                      </a:cubicBezTo>
                      <a:cubicBezTo>
                        <a:pt x="19" y="39"/>
                        <a:pt x="19" y="39"/>
                        <a:pt x="19" y="39"/>
                      </a:cubicBezTo>
                      <a:cubicBezTo>
                        <a:pt x="19" y="39"/>
                        <a:pt x="19" y="39"/>
                        <a:pt x="19" y="39"/>
                      </a:cubicBezTo>
                      <a:cubicBezTo>
                        <a:pt x="14" y="49"/>
                        <a:pt x="14" y="49"/>
                        <a:pt x="14" y="49"/>
                      </a:cubicBezTo>
                      <a:cubicBezTo>
                        <a:pt x="14" y="50"/>
                        <a:pt x="14" y="50"/>
                        <a:pt x="14" y="50"/>
                      </a:cubicBezTo>
                      <a:cubicBezTo>
                        <a:pt x="8" y="51"/>
                        <a:pt x="8" y="51"/>
                        <a:pt x="8" y="51"/>
                      </a:cubicBezTo>
                      <a:cubicBezTo>
                        <a:pt x="2" y="52"/>
                        <a:pt x="2" y="52"/>
                        <a:pt x="2" y="52"/>
                      </a:cubicBezTo>
                      <a:cubicBezTo>
                        <a:pt x="0" y="52"/>
                        <a:pt x="0" y="52"/>
                        <a:pt x="0" y="52"/>
                      </a:cubicBezTo>
                      <a:cubicBezTo>
                        <a:pt x="0" y="76"/>
                        <a:pt x="0" y="76"/>
                        <a:pt x="0" y="76"/>
                      </a:cubicBezTo>
                      <a:cubicBezTo>
                        <a:pt x="0" y="76"/>
                        <a:pt x="0" y="76"/>
                        <a:pt x="0" y="76"/>
                      </a:cubicBezTo>
                      <a:cubicBezTo>
                        <a:pt x="4" y="76"/>
                        <a:pt x="4" y="76"/>
                        <a:pt x="4" y="76"/>
                      </a:cubicBezTo>
                      <a:cubicBezTo>
                        <a:pt x="13" y="78"/>
                        <a:pt x="13" y="78"/>
                        <a:pt x="13" y="78"/>
                      </a:cubicBezTo>
                      <a:cubicBezTo>
                        <a:pt x="14" y="78"/>
                        <a:pt x="14" y="78"/>
                        <a:pt x="14" y="78"/>
                      </a:cubicBezTo>
                      <a:cubicBezTo>
                        <a:pt x="14" y="79"/>
                        <a:pt x="14" y="79"/>
                        <a:pt x="14" y="79"/>
                      </a:cubicBezTo>
                      <a:cubicBezTo>
                        <a:pt x="18" y="88"/>
                        <a:pt x="18" y="88"/>
                        <a:pt x="18" y="88"/>
                      </a:cubicBezTo>
                      <a:cubicBezTo>
                        <a:pt x="18" y="89"/>
                        <a:pt x="18" y="89"/>
                        <a:pt x="18" y="89"/>
                      </a:cubicBezTo>
                      <a:cubicBezTo>
                        <a:pt x="11" y="99"/>
                        <a:pt x="11" y="99"/>
                        <a:pt x="11" y="99"/>
                      </a:cubicBezTo>
                      <a:cubicBezTo>
                        <a:pt x="10" y="101"/>
                        <a:pt x="10" y="101"/>
                        <a:pt x="10" y="101"/>
                      </a:cubicBezTo>
                      <a:cubicBezTo>
                        <a:pt x="26" y="117"/>
                        <a:pt x="26" y="117"/>
                        <a:pt x="26" y="117"/>
                      </a:cubicBezTo>
                      <a:cubicBezTo>
                        <a:pt x="27" y="117"/>
                        <a:pt x="27" y="117"/>
                        <a:pt x="27" y="117"/>
                      </a:cubicBezTo>
                      <a:cubicBezTo>
                        <a:pt x="38" y="109"/>
                        <a:pt x="38" y="109"/>
                        <a:pt x="38" y="109"/>
                      </a:cubicBezTo>
                      <a:cubicBezTo>
                        <a:pt x="39" y="109"/>
                        <a:pt x="39" y="109"/>
                        <a:pt x="39" y="109"/>
                      </a:cubicBezTo>
                      <a:cubicBezTo>
                        <a:pt x="49" y="113"/>
                        <a:pt x="49" y="113"/>
                        <a:pt x="49" y="113"/>
                      </a:cubicBezTo>
                      <a:cubicBezTo>
                        <a:pt x="49" y="113"/>
                        <a:pt x="49" y="113"/>
                        <a:pt x="49" y="113"/>
                      </a:cubicBezTo>
                      <a:cubicBezTo>
                        <a:pt x="50" y="118"/>
                        <a:pt x="50" y="118"/>
                        <a:pt x="50" y="118"/>
                      </a:cubicBezTo>
                      <a:cubicBezTo>
                        <a:pt x="52" y="127"/>
                        <a:pt x="52" y="127"/>
                        <a:pt x="52" y="127"/>
                      </a:cubicBezTo>
                      <a:cubicBezTo>
                        <a:pt x="75" y="127"/>
                        <a:pt x="75" y="127"/>
                        <a:pt x="75" y="127"/>
                      </a:cubicBezTo>
                      <a:cubicBezTo>
                        <a:pt x="75" y="127"/>
                        <a:pt x="75" y="127"/>
                        <a:pt x="75" y="127"/>
                      </a:cubicBezTo>
                      <a:cubicBezTo>
                        <a:pt x="76" y="122"/>
                        <a:pt x="76" y="122"/>
                        <a:pt x="76" y="122"/>
                      </a:cubicBezTo>
                      <a:cubicBezTo>
                        <a:pt x="77" y="114"/>
                        <a:pt x="77" y="114"/>
                        <a:pt x="77" y="114"/>
                      </a:cubicBezTo>
                      <a:cubicBezTo>
                        <a:pt x="78" y="113"/>
                        <a:pt x="78" y="113"/>
                        <a:pt x="78" y="113"/>
                      </a:cubicBezTo>
                      <a:cubicBezTo>
                        <a:pt x="81" y="112"/>
                        <a:pt x="81" y="112"/>
                        <a:pt x="81" y="112"/>
                      </a:cubicBezTo>
                      <a:cubicBezTo>
                        <a:pt x="88" y="109"/>
                        <a:pt x="88" y="109"/>
                        <a:pt x="88" y="109"/>
                      </a:cubicBezTo>
                      <a:cubicBezTo>
                        <a:pt x="89" y="109"/>
                        <a:pt x="89" y="109"/>
                        <a:pt x="89" y="109"/>
                      </a:cubicBezTo>
                      <a:cubicBezTo>
                        <a:pt x="98" y="116"/>
                        <a:pt x="98" y="116"/>
                        <a:pt x="98" y="116"/>
                      </a:cubicBezTo>
                      <a:cubicBezTo>
                        <a:pt x="101" y="117"/>
                        <a:pt x="101" y="117"/>
                        <a:pt x="101" y="117"/>
                      </a:cubicBezTo>
                      <a:cubicBezTo>
                        <a:pt x="117" y="101"/>
                        <a:pt x="117" y="101"/>
                        <a:pt x="117" y="101"/>
                      </a:cubicBezTo>
                      <a:cubicBezTo>
                        <a:pt x="117" y="101"/>
                        <a:pt x="117" y="101"/>
                        <a:pt x="117" y="101"/>
                      </a:cubicBezTo>
                      <a:cubicBezTo>
                        <a:pt x="109" y="89"/>
                        <a:pt x="109" y="89"/>
                        <a:pt x="109" y="89"/>
                      </a:cubicBezTo>
                      <a:cubicBezTo>
                        <a:pt x="109" y="89"/>
                        <a:pt x="109" y="89"/>
                        <a:pt x="109" y="89"/>
                      </a:cubicBezTo>
                      <a:cubicBezTo>
                        <a:pt x="113" y="78"/>
                        <a:pt x="113" y="78"/>
                        <a:pt x="113" y="78"/>
                      </a:cubicBezTo>
                      <a:cubicBezTo>
                        <a:pt x="113" y="78"/>
                        <a:pt x="113" y="78"/>
                        <a:pt x="113" y="78"/>
                      </a:cubicBezTo>
                      <a:cubicBezTo>
                        <a:pt x="119" y="77"/>
                        <a:pt x="119" y="77"/>
                        <a:pt x="119" y="77"/>
                      </a:cubicBezTo>
                      <a:cubicBezTo>
                        <a:pt x="126" y="76"/>
                        <a:pt x="126" y="76"/>
                        <a:pt x="126" y="76"/>
                      </a:cubicBezTo>
                      <a:cubicBezTo>
                        <a:pt x="128" y="76"/>
                        <a:pt x="128" y="76"/>
                        <a:pt x="128" y="76"/>
                      </a:cubicBezTo>
                      <a:cubicBezTo>
                        <a:pt x="128" y="52"/>
                        <a:pt x="128" y="52"/>
                        <a:pt x="128" y="52"/>
                      </a:cubicBezTo>
                      <a:lnTo>
                        <a:pt x="127" y="52"/>
                      </a:lnTo>
                      <a:close/>
                      <a:moveTo>
                        <a:pt x="64" y="87"/>
                      </a:moveTo>
                      <a:cubicBezTo>
                        <a:pt x="50" y="87"/>
                        <a:pt x="40" y="77"/>
                        <a:pt x="40" y="64"/>
                      </a:cubicBezTo>
                      <a:cubicBezTo>
                        <a:pt x="40" y="50"/>
                        <a:pt x="50" y="40"/>
                        <a:pt x="64" y="40"/>
                      </a:cubicBezTo>
                      <a:cubicBezTo>
                        <a:pt x="77" y="40"/>
                        <a:pt x="87" y="50"/>
                        <a:pt x="87" y="64"/>
                      </a:cubicBezTo>
                      <a:cubicBezTo>
                        <a:pt x="87" y="77"/>
                        <a:pt x="77" y="87"/>
                        <a:pt x="64" y="87"/>
                      </a:cubicBezTo>
                      <a:close/>
                    </a:path>
                  </a:pathLst>
                </a:custGeom>
                <a:solidFill>
                  <a:srgbClr val="777777"/>
                </a:solidFill>
                <a:ln>
                  <a:noFill/>
                </a:ln>
              </p:spPr>
              <p:txBody>
                <a:bodyPr spcFirstLastPara="1" wrap="square" lIns="45225" tIns="22600" rIns="45225" bIns="22600" anchor="t" anchorCtr="0">
                  <a:noAutofit/>
                </a:bodyPr>
                <a:lstStyle/>
                <a:p>
                  <a:pPr marL="0" marR="0" lvl="0" indent="0" algn="l" rtl="0">
                    <a:lnSpc>
                      <a:spcPct val="100000"/>
                    </a:lnSpc>
                    <a:spcBef>
                      <a:spcPts val="0"/>
                    </a:spcBef>
                    <a:spcAft>
                      <a:spcPts val="0"/>
                    </a:spcAft>
                    <a:buClr>
                      <a:srgbClr val="000000"/>
                    </a:buClr>
                    <a:buSzPts val="1798"/>
                    <a:buFont typeface="Arial"/>
                    <a:buNone/>
                  </a:pPr>
                  <a:endParaRPr sz="1798" u="none" strike="noStrike" cap="none">
                    <a:solidFill>
                      <a:srgbClr val="000000"/>
                    </a:solidFill>
                    <a:latin typeface="Arial"/>
                    <a:ea typeface="Arial"/>
                    <a:cs typeface="Arial"/>
                    <a:sym typeface="Arial"/>
                  </a:endParaRPr>
                </a:p>
              </p:txBody>
            </p:sp>
            <p:sp>
              <p:nvSpPr>
                <p:cNvPr id="4501" name="Google Shape;4501;p6"/>
                <p:cNvSpPr txBox="1"/>
                <p:nvPr/>
              </p:nvSpPr>
              <p:spPr>
                <a:xfrm>
                  <a:off x="2722562" y="3547217"/>
                  <a:ext cx="703872" cy="3381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594"/>
                    <a:buFont typeface="Arial"/>
                    <a:buNone/>
                  </a:pPr>
                  <a:r>
                    <a:rPr lang="en-US" sz="594" u="none" strike="noStrike" cap="none">
                      <a:solidFill>
                        <a:srgbClr val="777777"/>
                      </a:solidFill>
                      <a:latin typeface="Arial"/>
                      <a:ea typeface="Arial"/>
                      <a:cs typeface="Arial"/>
                      <a:sym typeface="Arial"/>
                    </a:rPr>
                    <a:t>CB</a:t>
                  </a:r>
                  <a:endParaRPr sz="1800" u="none" strike="noStrike" cap="none">
                    <a:solidFill>
                      <a:srgbClr val="777777"/>
                    </a:solidFill>
                    <a:latin typeface="Arial"/>
                    <a:ea typeface="Arial"/>
                    <a:cs typeface="Arial"/>
                    <a:sym typeface="Arial"/>
                  </a:endParaRPr>
                </a:p>
              </p:txBody>
            </p:sp>
          </p:grpSp>
        </p:grpSp>
        <p:grpSp>
          <p:nvGrpSpPr>
            <p:cNvPr id="4502" name="Google Shape;4502;p6" descr="document input"/>
            <p:cNvGrpSpPr/>
            <p:nvPr/>
          </p:nvGrpSpPr>
          <p:grpSpPr>
            <a:xfrm>
              <a:off x="1365388" y="5282322"/>
              <a:ext cx="1034012" cy="654533"/>
              <a:chOff x="2150289" y="4044483"/>
              <a:chExt cx="1966956" cy="1245085"/>
            </a:xfrm>
          </p:grpSpPr>
          <p:sp>
            <p:nvSpPr>
              <p:cNvPr id="4503" name="Google Shape;4503;p6"/>
              <p:cNvSpPr/>
              <p:nvPr/>
            </p:nvSpPr>
            <p:spPr>
              <a:xfrm>
                <a:off x="2745745" y="4044483"/>
                <a:ext cx="777239" cy="777240"/>
              </a:xfrm>
              <a:prstGeom prst="ellipse">
                <a:avLst/>
              </a:prstGeom>
              <a:solidFill>
                <a:schemeClr val="lt1"/>
              </a:solidFill>
              <a:ln w="254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u="none" strike="noStrike" cap="none">
                  <a:solidFill>
                    <a:srgbClr val="000000"/>
                  </a:solidFill>
                  <a:latin typeface="Arial"/>
                  <a:ea typeface="Arial"/>
                  <a:cs typeface="Arial"/>
                  <a:sym typeface="Arial"/>
                </a:endParaRPr>
              </a:p>
            </p:txBody>
          </p:sp>
          <p:sp>
            <p:nvSpPr>
              <p:cNvPr id="4504" name="Google Shape;4504;p6"/>
              <p:cNvSpPr txBox="1"/>
              <p:nvPr/>
            </p:nvSpPr>
            <p:spPr>
              <a:xfrm>
                <a:off x="2150289" y="5024779"/>
                <a:ext cx="1966956" cy="26478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700" b="1">
                    <a:solidFill>
                      <a:srgbClr val="777777"/>
                    </a:solidFill>
                    <a:latin typeface="Arial"/>
                    <a:ea typeface="Arial"/>
                    <a:cs typeface="Arial"/>
                    <a:sym typeface="Arial"/>
                  </a:rPr>
                  <a:t>XLSX /JSON</a:t>
                </a:r>
                <a:endParaRPr sz="700" b="1" u="none" strike="noStrike" cap="none">
                  <a:solidFill>
                    <a:srgbClr val="777777"/>
                  </a:solidFill>
                  <a:latin typeface="Arial"/>
                  <a:ea typeface="Arial"/>
                  <a:cs typeface="Arial"/>
                  <a:sym typeface="Arial"/>
                </a:endParaRPr>
              </a:p>
            </p:txBody>
          </p:sp>
        </p:grpSp>
        <p:sp>
          <p:nvSpPr>
            <p:cNvPr id="4505" name="Google Shape;4505;p6"/>
            <p:cNvSpPr txBox="1"/>
            <p:nvPr/>
          </p:nvSpPr>
          <p:spPr>
            <a:xfrm>
              <a:off x="336349" y="5800600"/>
              <a:ext cx="1034011" cy="1391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700" b="1">
                  <a:solidFill>
                    <a:srgbClr val="777777"/>
                  </a:solidFill>
                  <a:latin typeface="Arial"/>
                  <a:ea typeface="Arial"/>
                  <a:cs typeface="Arial"/>
                  <a:sym typeface="Arial"/>
                </a:rPr>
                <a:t>Cloud Builder</a:t>
              </a:r>
              <a:endParaRPr sz="700" b="1" u="none" strike="noStrike" cap="none">
                <a:solidFill>
                  <a:srgbClr val="777777"/>
                </a:solidFill>
                <a:latin typeface="Arial"/>
                <a:ea typeface="Arial"/>
                <a:cs typeface="Arial"/>
                <a:sym typeface="Arial"/>
              </a:endParaRPr>
            </a:p>
          </p:txBody>
        </p:sp>
        <p:grpSp>
          <p:nvGrpSpPr>
            <p:cNvPr id="4506" name="Google Shape;4506;p6" descr="document input"/>
            <p:cNvGrpSpPr/>
            <p:nvPr/>
          </p:nvGrpSpPr>
          <p:grpSpPr>
            <a:xfrm>
              <a:off x="2371873" y="5279481"/>
              <a:ext cx="1034012" cy="659639"/>
              <a:chOff x="2631742" y="4044483"/>
              <a:chExt cx="1966956" cy="1254800"/>
            </a:xfrm>
          </p:grpSpPr>
          <p:sp>
            <p:nvSpPr>
              <p:cNvPr id="4507" name="Google Shape;4507;p6"/>
              <p:cNvSpPr/>
              <p:nvPr/>
            </p:nvSpPr>
            <p:spPr>
              <a:xfrm>
                <a:off x="3207763" y="4044483"/>
                <a:ext cx="777237" cy="777238"/>
              </a:xfrm>
              <a:prstGeom prst="ellipse">
                <a:avLst/>
              </a:prstGeom>
              <a:solidFill>
                <a:schemeClr val="lt1"/>
              </a:solidFill>
              <a:ln w="254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u="none" strike="noStrike" cap="none">
                  <a:solidFill>
                    <a:srgbClr val="000000"/>
                  </a:solidFill>
                  <a:latin typeface="Arial"/>
                  <a:ea typeface="Arial"/>
                  <a:cs typeface="Arial"/>
                  <a:sym typeface="Arial"/>
                </a:endParaRPr>
              </a:p>
            </p:txBody>
          </p:sp>
          <p:sp>
            <p:nvSpPr>
              <p:cNvPr id="4508" name="Google Shape;4508;p6"/>
              <p:cNvSpPr txBox="1"/>
              <p:nvPr/>
            </p:nvSpPr>
            <p:spPr>
              <a:xfrm>
                <a:off x="2631742" y="5034494"/>
                <a:ext cx="1966956" cy="26478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700" b="1" u="none" strike="noStrike" cap="none">
                    <a:solidFill>
                      <a:srgbClr val="777777"/>
                    </a:solidFill>
                    <a:latin typeface="Arial"/>
                    <a:ea typeface="Arial"/>
                    <a:cs typeface="Arial"/>
                    <a:sym typeface="Arial"/>
                  </a:rPr>
                  <a:t>VCF Import</a:t>
                </a:r>
                <a:endParaRPr sz="700" b="1" u="none" strike="noStrike" cap="none">
                  <a:solidFill>
                    <a:srgbClr val="777777"/>
                  </a:solidFill>
                  <a:latin typeface="Arial"/>
                  <a:ea typeface="Arial"/>
                  <a:cs typeface="Arial"/>
                  <a:sym typeface="Arial"/>
                </a:endParaRPr>
              </a:p>
            </p:txBody>
          </p:sp>
        </p:grpSp>
        <p:pic>
          <p:nvPicPr>
            <p:cNvPr id="4509" name="Google Shape;4509;p6"/>
            <p:cNvPicPr preferRelativeResize="0"/>
            <p:nvPr/>
          </p:nvPicPr>
          <p:blipFill rotWithShape="1">
            <a:blip r:embed="rId10">
              <a:alphaModFix/>
            </a:blip>
            <a:srcRect/>
            <a:stretch/>
          </p:blipFill>
          <p:spPr>
            <a:xfrm>
              <a:off x="2759911" y="5374456"/>
              <a:ext cx="228577" cy="228577"/>
            </a:xfrm>
            <a:prstGeom prst="rect">
              <a:avLst/>
            </a:prstGeom>
            <a:noFill/>
            <a:ln>
              <a:noFill/>
            </a:ln>
          </p:spPr>
        </p:pic>
        <p:pic>
          <p:nvPicPr>
            <p:cNvPr id="4510" name="Google Shape;4510;p6"/>
            <p:cNvPicPr preferRelativeResize="0"/>
            <p:nvPr/>
          </p:nvPicPr>
          <p:blipFill rotWithShape="1">
            <a:blip r:embed="rId11">
              <a:alphaModFix/>
            </a:blip>
            <a:srcRect/>
            <a:stretch/>
          </p:blipFill>
          <p:spPr>
            <a:xfrm>
              <a:off x="1747972" y="5356697"/>
              <a:ext cx="268843" cy="268843"/>
            </a:xfrm>
            <a:prstGeom prst="rect">
              <a:avLst/>
            </a:prstGeom>
            <a:noFill/>
            <a:ln>
              <a:noFill/>
            </a:ln>
          </p:spPr>
        </p:pic>
        <p:sp>
          <p:nvSpPr>
            <p:cNvPr id="4511" name="Google Shape;4511;p6"/>
            <p:cNvSpPr txBox="1"/>
            <p:nvPr/>
          </p:nvSpPr>
          <p:spPr>
            <a:xfrm>
              <a:off x="1369563" y="5465382"/>
              <a:ext cx="1034012" cy="769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500">
                  <a:solidFill>
                    <a:srgbClr val="777777"/>
                  </a:solidFill>
                  <a:latin typeface="Arial"/>
                  <a:ea typeface="Arial"/>
                  <a:cs typeface="Arial"/>
                  <a:sym typeface="Arial"/>
                </a:rPr>
                <a:t>XLS</a:t>
              </a:r>
              <a:endParaRPr sz="500" u="none" strike="noStrike" cap="none">
                <a:solidFill>
                  <a:srgbClr val="777777"/>
                </a:solidFill>
                <a:latin typeface="Arial"/>
                <a:ea typeface="Arial"/>
                <a:cs typeface="Arial"/>
                <a:sym typeface="Arial"/>
              </a:endParaRPr>
            </a:p>
          </p:txBody>
        </p:sp>
      </p:grpSp>
      <p:sp>
        <p:nvSpPr>
          <p:cNvPr id="4512" name="Google Shape;4512;p6"/>
          <p:cNvSpPr txBox="1"/>
          <p:nvPr/>
        </p:nvSpPr>
        <p:spPr>
          <a:xfrm>
            <a:off x="3429905" y="1827823"/>
            <a:ext cx="1013400" cy="2862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000000"/>
              </a:buClr>
              <a:buSzPts val="1000"/>
              <a:buFont typeface="Arial"/>
              <a:buNone/>
            </a:pPr>
            <a:r>
              <a:rPr lang="en-US" sz="1000" b="1" u="none" strike="noStrike" cap="none">
                <a:solidFill>
                  <a:schemeClr val="dk1"/>
                </a:solidFill>
                <a:latin typeface="Arial"/>
                <a:ea typeface="Arial"/>
                <a:cs typeface="Arial"/>
                <a:sym typeface="Arial"/>
              </a:rPr>
              <a:t>VCF 9.0</a:t>
            </a:r>
            <a:endParaRPr sz="1000" b="1" u="none" strike="noStrike" cap="none">
              <a:solidFill>
                <a:schemeClr val="dk1"/>
              </a:solidFill>
              <a:latin typeface="Arial"/>
              <a:ea typeface="Arial"/>
              <a:cs typeface="Arial"/>
              <a:sym typeface="Arial"/>
            </a:endParaRPr>
          </a:p>
        </p:txBody>
      </p:sp>
      <p:grpSp>
        <p:nvGrpSpPr>
          <p:cNvPr id="4513" name="Google Shape;4513;p6"/>
          <p:cNvGrpSpPr/>
          <p:nvPr/>
        </p:nvGrpSpPr>
        <p:grpSpPr>
          <a:xfrm>
            <a:off x="5816759" y="3121043"/>
            <a:ext cx="2114591" cy="2197312"/>
            <a:chOff x="5660660" y="2738257"/>
            <a:chExt cx="2301278" cy="2391301"/>
          </a:xfrm>
        </p:grpSpPr>
        <p:sp>
          <p:nvSpPr>
            <p:cNvPr id="4514" name="Google Shape;4514;p6"/>
            <p:cNvSpPr/>
            <p:nvPr/>
          </p:nvSpPr>
          <p:spPr>
            <a:xfrm>
              <a:off x="5660660" y="2738257"/>
              <a:ext cx="2301278" cy="2391301"/>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515" name="Google Shape;4515;p6"/>
            <p:cNvSpPr/>
            <p:nvPr/>
          </p:nvSpPr>
          <p:spPr>
            <a:xfrm>
              <a:off x="5726332" y="4382914"/>
              <a:ext cx="2159963" cy="638695"/>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4516" name="Google Shape;4516;p6"/>
            <p:cNvGrpSpPr/>
            <p:nvPr/>
          </p:nvGrpSpPr>
          <p:grpSpPr>
            <a:xfrm>
              <a:off x="7350226" y="4579943"/>
              <a:ext cx="368204" cy="368203"/>
              <a:chOff x="10722212" y="2729558"/>
              <a:chExt cx="663407" cy="663407"/>
            </a:xfrm>
          </p:grpSpPr>
          <p:sp>
            <p:nvSpPr>
              <p:cNvPr id="4517" name="Google Shape;4517;p6"/>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FFFFFF"/>
                  </a:solidFill>
                  <a:latin typeface="Arial"/>
                  <a:ea typeface="Arial"/>
                  <a:cs typeface="Arial"/>
                  <a:sym typeface="Arial"/>
                </a:endParaRPr>
              </a:p>
            </p:txBody>
          </p:sp>
          <p:sp>
            <p:nvSpPr>
              <p:cNvPr id="4518" name="Google Shape;4518;p6"/>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519" name="Google Shape;4519;p6"/>
            <p:cNvGrpSpPr/>
            <p:nvPr/>
          </p:nvGrpSpPr>
          <p:grpSpPr>
            <a:xfrm>
              <a:off x="5861413" y="4579788"/>
              <a:ext cx="368204" cy="368203"/>
              <a:chOff x="572541" y="5475121"/>
              <a:chExt cx="663407" cy="663407"/>
            </a:xfrm>
          </p:grpSpPr>
          <p:sp>
            <p:nvSpPr>
              <p:cNvPr id="4520" name="Google Shape;4520;p6"/>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FFFFFF"/>
                  </a:solidFill>
                  <a:latin typeface="Arial"/>
                  <a:ea typeface="Arial"/>
                  <a:cs typeface="Arial"/>
                  <a:sym typeface="Arial"/>
                </a:endParaRPr>
              </a:p>
            </p:txBody>
          </p:sp>
          <p:sp>
            <p:nvSpPr>
              <p:cNvPr id="4521" name="Google Shape;4521;p6"/>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522" name="Google Shape;4522;p6"/>
            <p:cNvGrpSpPr/>
            <p:nvPr/>
          </p:nvGrpSpPr>
          <p:grpSpPr>
            <a:xfrm>
              <a:off x="6600498" y="4579789"/>
              <a:ext cx="368204" cy="368203"/>
              <a:chOff x="9272259" y="5475121"/>
              <a:chExt cx="663407" cy="663407"/>
            </a:xfrm>
          </p:grpSpPr>
          <p:sp>
            <p:nvSpPr>
              <p:cNvPr id="4523" name="Google Shape;4523;p6"/>
              <p:cNvSpPr/>
              <p:nvPr/>
            </p:nvSpPr>
            <p:spPr>
              <a:xfrm>
                <a:off x="9272259" y="5475121"/>
                <a:ext cx="663407" cy="663407"/>
              </a:xfrm>
              <a:prstGeom prst="ellipse">
                <a:avLst/>
              </a:prstGeom>
              <a:gradFill>
                <a:gsLst>
                  <a:gs pos="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Clr>
                    <a:schemeClr val="dk1"/>
                  </a:buClr>
                  <a:buSzPts val="1200"/>
                  <a:buFont typeface="Arial"/>
                  <a:buNone/>
                </a:pPr>
                <a:endParaRPr sz="1200">
                  <a:solidFill>
                    <a:srgbClr val="FFFFFF"/>
                  </a:solidFill>
                  <a:latin typeface="Arial"/>
                  <a:ea typeface="Arial"/>
                  <a:cs typeface="Arial"/>
                  <a:sym typeface="Arial"/>
                </a:endParaRPr>
              </a:p>
            </p:txBody>
          </p:sp>
          <p:sp>
            <p:nvSpPr>
              <p:cNvPr id="4524" name="Google Shape;4524;p6"/>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25" name="Google Shape;4525;p6"/>
            <p:cNvSpPr/>
            <p:nvPr/>
          </p:nvSpPr>
          <p:spPr>
            <a:xfrm>
              <a:off x="5771989" y="2841103"/>
              <a:ext cx="2076779" cy="304540"/>
            </a:xfrm>
            <a:prstGeom prst="roundRect">
              <a:avLst>
                <a:gd name="adj" fmla="val 50000"/>
              </a:avLst>
            </a:prstGeom>
            <a:solidFill>
              <a:schemeClr val="lt1"/>
            </a:solidFill>
            <a:ln w="25400" cap="flat" cmpd="sng">
              <a:gradFill>
                <a:gsLst>
                  <a:gs pos="0">
                    <a:schemeClr val="accent2"/>
                  </a:gs>
                  <a:gs pos="74000">
                    <a:schemeClr val="accent5"/>
                  </a:gs>
                  <a:gs pos="83000">
                    <a:schemeClr val="accent5"/>
                  </a:gs>
                  <a:gs pos="100000">
                    <a:schemeClr val="accent3"/>
                  </a:gs>
                </a:gsLst>
                <a:lin ang="5400000" scaled="1"/>
              </a:gra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900">
                  <a:solidFill>
                    <a:schemeClr val="dk1"/>
                  </a:solidFill>
                  <a:latin typeface="Arial"/>
                  <a:ea typeface="Arial"/>
                  <a:cs typeface="Arial"/>
                  <a:sym typeface="Arial"/>
                </a:rPr>
                <a:t>       </a:t>
              </a:r>
              <a:r>
                <a:rPr lang="en-US" sz="800">
                  <a:solidFill>
                    <a:schemeClr val="dk1"/>
                  </a:solidFill>
                  <a:latin typeface="Arial"/>
                  <a:ea typeface="Arial"/>
                  <a:cs typeface="Arial"/>
                  <a:sym typeface="Arial"/>
                </a:rPr>
                <a:t>VMware Cloud Foundation</a:t>
              </a:r>
              <a:endParaRPr sz="800">
                <a:solidFill>
                  <a:schemeClr val="dk1"/>
                </a:solidFill>
                <a:latin typeface="Arial"/>
                <a:ea typeface="Arial"/>
                <a:cs typeface="Arial"/>
                <a:sym typeface="Arial"/>
              </a:endParaRPr>
            </a:p>
          </p:txBody>
        </p:sp>
        <p:pic>
          <p:nvPicPr>
            <p:cNvPr id="4526" name="Google Shape;4526;p6"/>
            <p:cNvPicPr preferRelativeResize="0"/>
            <p:nvPr/>
          </p:nvPicPr>
          <p:blipFill rotWithShape="1">
            <a:blip r:embed="rId9">
              <a:alphaModFix/>
            </a:blip>
            <a:srcRect/>
            <a:stretch/>
          </p:blipFill>
          <p:spPr>
            <a:xfrm>
              <a:off x="5953557" y="2871909"/>
              <a:ext cx="204948" cy="225240"/>
            </a:xfrm>
            <a:prstGeom prst="rect">
              <a:avLst/>
            </a:prstGeom>
            <a:noFill/>
            <a:ln>
              <a:noFill/>
            </a:ln>
          </p:spPr>
        </p:pic>
        <p:sp>
          <p:nvSpPr>
            <p:cNvPr id="4527" name="Google Shape;4527;p6"/>
            <p:cNvSpPr/>
            <p:nvPr/>
          </p:nvSpPr>
          <p:spPr>
            <a:xfrm>
              <a:off x="5731816" y="3969564"/>
              <a:ext cx="1028870" cy="323536"/>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a:solidFill>
                    <a:srgbClr val="FFFFFF"/>
                  </a:solidFill>
                  <a:latin typeface="Arial"/>
                  <a:ea typeface="Arial"/>
                  <a:cs typeface="Arial"/>
                  <a:sym typeface="Arial"/>
                </a:rPr>
                <a:t>vCenter Server</a:t>
              </a:r>
              <a:endParaRPr sz="800" b="1" u="none" strike="noStrike" cap="none">
                <a:solidFill>
                  <a:srgbClr val="FFFFFF"/>
                </a:solidFill>
                <a:latin typeface="Arial"/>
                <a:ea typeface="Arial"/>
                <a:cs typeface="Arial"/>
                <a:sym typeface="Arial"/>
              </a:endParaRPr>
            </a:p>
          </p:txBody>
        </p:sp>
        <p:sp>
          <p:nvSpPr>
            <p:cNvPr id="4528" name="Google Shape;4528;p6"/>
            <p:cNvSpPr txBox="1"/>
            <p:nvPr/>
          </p:nvSpPr>
          <p:spPr>
            <a:xfrm>
              <a:off x="6297484" y="4413719"/>
              <a:ext cx="1013569" cy="1339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chemeClr val="accent2"/>
                </a:buClr>
                <a:buSzPts val="800"/>
                <a:buFont typeface="Arial"/>
                <a:buNone/>
              </a:pPr>
              <a:r>
                <a:rPr lang="en-US" sz="800" b="1">
                  <a:solidFill>
                    <a:schemeClr val="accent2"/>
                  </a:solidFill>
                  <a:latin typeface="Arial"/>
                  <a:ea typeface="Arial"/>
                  <a:cs typeface="Arial"/>
                  <a:sym typeface="Arial"/>
                </a:rPr>
                <a:t>Core Infrastructure</a:t>
              </a:r>
              <a:endParaRPr sz="1800">
                <a:solidFill>
                  <a:schemeClr val="dk1"/>
                </a:solidFill>
                <a:latin typeface="Arial"/>
                <a:ea typeface="Arial"/>
                <a:cs typeface="Arial"/>
                <a:sym typeface="Arial"/>
              </a:endParaRPr>
            </a:p>
          </p:txBody>
        </p:sp>
        <p:sp>
          <p:nvSpPr>
            <p:cNvPr id="4529" name="Google Shape;4529;p6"/>
            <p:cNvSpPr/>
            <p:nvPr/>
          </p:nvSpPr>
          <p:spPr>
            <a:xfrm>
              <a:off x="5731317" y="3594307"/>
              <a:ext cx="2162473" cy="304540"/>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u="none" strike="noStrike" cap="none">
                  <a:solidFill>
                    <a:srgbClr val="FFFFFF"/>
                  </a:solidFill>
                  <a:latin typeface="Arial"/>
                  <a:ea typeface="Arial"/>
                  <a:cs typeface="Arial"/>
                  <a:sym typeface="Arial"/>
                </a:rPr>
                <a:t>VCF Operations</a:t>
              </a:r>
              <a:endParaRPr sz="800" b="1" u="none" strike="noStrike" cap="none">
                <a:solidFill>
                  <a:srgbClr val="FFFFFF"/>
                </a:solidFill>
                <a:latin typeface="Arial"/>
                <a:ea typeface="Arial"/>
                <a:cs typeface="Arial"/>
                <a:sym typeface="Arial"/>
              </a:endParaRPr>
            </a:p>
          </p:txBody>
        </p:sp>
        <p:sp>
          <p:nvSpPr>
            <p:cNvPr id="4530" name="Google Shape;4530;p6"/>
            <p:cNvSpPr/>
            <p:nvPr/>
          </p:nvSpPr>
          <p:spPr>
            <a:xfrm>
              <a:off x="6831842" y="3967162"/>
              <a:ext cx="1061948" cy="323536"/>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a:solidFill>
                    <a:srgbClr val="FFFFFF"/>
                  </a:solidFill>
                  <a:latin typeface="Arial"/>
                  <a:ea typeface="Arial"/>
                  <a:cs typeface="Arial"/>
                  <a:sym typeface="Arial"/>
                </a:rPr>
                <a:t>NSX Manager</a:t>
              </a:r>
              <a:endParaRPr sz="800" b="1" u="none" strike="noStrike" cap="none">
                <a:solidFill>
                  <a:srgbClr val="FFFFFF"/>
                </a:solidFill>
                <a:latin typeface="Arial"/>
                <a:ea typeface="Arial"/>
                <a:cs typeface="Arial"/>
                <a:sym typeface="Arial"/>
              </a:endParaRPr>
            </a:p>
          </p:txBody>
        </p:sp>
        <p:sp>
          <p:nvSpPr>
            <p:cNvPr id="4531" name="Google Shape;4531;p6"/>
            <p:cNvSpPr/>
            <p:nvPr/>
          </p:nvSpPr>
          <p:spPr>
            <a:xfrm>
              <a:off x="5733828" y="3240661"/>
              <a:ext cx="2159962" cy="289632"/>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1" u="none" strike="noStrike" cap="none">
                  <a:solidFill>
                    <a:srgbClr val="FFFFFF"/>
                  </a:solidFill>
                  <a:latin typeface="Arial"/>
                  <a:ea typeface="Arial"/>
                  <a:cs typeface="Arial"/>
                  <a:sym typeface="Arial"/>
                </a:rPr>
                <a:t>VCF Automation</a:t>
              </a:r>
              <a:endParaRPr sz="800" b="1" u="none" strike="noStrike" cap="none">
                <a:solidFill>
                  <a:srgbClr val="FFFFFF"/>
                </a:solidFill>
                <a:latin typeface="Arial"/>
                <a:ea typeface="Arial"/>
                <a:cs typeface="Arial"/>
                <a:sym typeface="Arial"/>
              </a:endParaRPr>
            </a:p>
          </p:txBody>
        </p:sp>
      </p:grpSp>
      <p:sp>
        <p:nvSpPr>
          <p:cNvPr id="4532" name="Google Shape;4532;p6"/>
          <p:cNvSpPr/>
          <p:nvPr/>
        </p:nvSpPr>
        <p:spPr>
          <a:xfrm>
            <a:off x="3286785" y="5526793"/>
            <a:ext cx="4774649" cy="263556"/>
          </a:xfrm>
          <a:prstGeom prst="roundRect">
            <a:avLst>
              <a:gd name="adj" fmla="val 6349"/>
            </a:avLst>
          </a:prstGeom>
          <a:no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1000" b="1" u="none" strike="noStrike" cap="none">
                <a:solidFill>
                  <a:schemeClr val="accent2"/>
                </a:solidFill>
                <a:latin typeface="Arial"/>
                <a:ea typeface="Arial"/>
                <a:cs typeface="Arial"/>
                <a:sym typeface="Arial"/>
              </a:rPr>
              <a:t>The VCF Installer automates deployment of a ready-to-</a:t>
            </a:r>
            <a:r>
              <a:rPr lang="en-US" sz="1000" b="1">
                <a:solidFill>
                  <a:schemeClr val="accent2"/>
                </a:solidFill>
                <a:latin typeface="Arial"/>
                <a:ea typeface="Arial"/>
                <a:cs typeface="Arial"/>
                <a:sym typeface="Arial"/>
              </a:rPr>
              <a:t>use P</a:t>
            </a:r>
            <a:r>
              <a:rPr lang="en-US" sz="1000" b="1" u="none" strike="noStrike" cap="none">
                <a:solidFill>
                  <a:schemeClr val="accent2"/>
                </a:solidFill>
                <a:latin typeface="Arial"/>
                <a:ea typeface="Arial"/>
                <a:cs typeface="Arial"/>
                <a:sym typeface="Arial"/>
              </a:rPr>
              <a:t>rivate </a:t>
            </a:r>
            <a:r>
              <a:rPr lang="en-US" sz="1000" b="1">
                <a:solidFill>
                  <a:schemeClr val="accent2"/>
                </a:solidFill>
                <a:latin typeface="Arial"/>
                <a:ea typeface="Arial"/>
                <a:cs typeface="Arial"/>
                <a:sym typeface="Arial"/>
              </a:rPr>
              <a:t>C</a:t>
            </a:r>
            <a:r>
              <a:rPr lang="en-US" sz="1000" b="1" u="none" strike="noStrike" cap="none">
                <a:solidFill>
                  <a:schemeClr val="accent2"/>
                </a:solidFill>
                <a:latin typeface="Arial"/>
                <a:ea typeface="Arial"/>
                <a:cs typeface="Arial"/>
                <a:sym typeface="Arial"/>
              </a:rPr>
              <a:t>loud</a:t>
            </a:r>
            <a:endParaRPr sz="1000" b="1" u="none" strike="noStrike" cap="none">
              <a:solidFill>
                <a:schemeClr val="accent2"/>
              </a:solidFill>
              <a:latin typeface="Arial"/>
              <a:ea typeface="Arial"/>
              <a:cs typeface="Arial"/>
              <a:sym typeface="Arial"/>
            </a:endParaRPr>
          </a:p>
        </p:txBody>
      </p:sp>
      <p:sp>
        <p:nvSpPr>
          <p:cNvPr id="4533" name="Google Shape;4533;p6"/>
          <p:cNvSpPr/>
          <p:nvPr/>
        </p:nvSpPr>
        <p:spPr>
          <a:xfrm>
            <a:off x="1600195" y="4307174"/>
            <a:ext cx="571993" cy="317847"/>
          </a:xfrm>
          <a:prstGeom prst="roundRect">
            <a:avLst>
              <a:gd name="adj" fmla="val 0"/>
            </a:avLst>
          </a:prstGeom>
          <a:noFill/>
          <a:ln w="12700" cap="flat" cmpd="sng">
            <a:solidFill>
              <a:srgbClr val="FFFFFF"/>
            </a:solidFill>
            <a:prstDash val="solid"/>
            <a:miter lim="800000"/>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770" u="none" strike="noStrike" cap="none">
                <a:solidFill>
                  <a:srgbClr val="FFFFFF"/>
                </a:solidFill>
                <a:latin typeface="Arial"/>
                <a:ea typeface="Arial"/>
                <a:cs typeface="Arial"/>
                <a:sym typeface="Arial"/>
              </a:rPr>
              <a:t>vCenter Server</a:t>
            </a:r>
            <a:endParaRPr sz="770" u="none" strike="noStrike" cap="none">
              <a:solidFill>
                <a:srgbClr val="FFFFFF"/>
              </a:solidFill>
              <a:latin typeface="Arial"/>
              <a:ea typeface="Arial"/>
              <a:cs typeface="Arial"/>
              <a:sym typeface="Arial"/>
            </a:endParaRPr>
          </a:p>
        </p:txBody>
      </p:sp>
      <p:sp>
        <p:nvSpPr>
          <p:cNvPr id="4534" name="Google Shape;4534;p6"/>
          <p:cNvSpPr/>
          <p:nvPr/>
        </p:nvSpPr>
        <p:spPr>
          <a:xfrm>
            <a:off x="935843" y="4308373"/>
            <a:ext cx="571993" cy="317847"/>
          </a:xfrm>
          <a:prstGeom prst="roundRect">
            <a:avLst>
              <a:gd name="adj" fmla="val 0"/>
            </a:avLst>
          </a:prstGeom>
          <a:noFill/>
          <a:ln w="12700" cap="flat" cmpd="sng">
            <a:solidFill>
              <a:srgbClr val="FFFFFF"/>
            </a:solidFill>
            <a:prstDash val="solid"/>
            <a:miter lim="800000"/>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770" u="none" strike="noStrike" cap="none">
                <a:solidFill>
                  <a:srgbClr val="FFFFFF"/>
                </a:solidFill>
                <a:latin typeface="Arial"/>
                <a:ea typeface="Arial"/>
                <a:cs typeface="Arial"/>
                <a:sym typeface="Arial"/>
              </a:rPr>
              <a:t>SDDC Manager</a:t>
            </a:r>
            <a:endParaRPr sz="770" u="none" strike="noStrike" cap="none">
              <a:solidFill>
                <a:srgbClr val="FFFFFF"/>
              </a:solidFill>
              <a:latin typeface="Arial"/>
              <a:ea typeface="Arial"/>
              <a:cs typeface="Arial"/>
              <a:sym typeface="Arial"/>
            </a:endParaRPr>
          </a:p>
        </p:txBody>
      </p:sp>
      <p:sp>
        <p:nvSpPr>
          <p:cNvPr id="4535" name="Google Shape;4535;p6"/>
          <p:cNvSpPr/>
          <p:nvPr/>
        </p:nvSpPr>
        <p:spPr>
          <a:xfrm>
            <a:off x="2259294" y="4310882"/>
            <a:ext cx="571993" cy="317847"/>
          </a:xfrm>
          <a:prstGeom prst="roundRect">
            <a:avLst>
              <a:gd name="adj" fmla="val 0"/>
            </a:avLst>
          </a:prstGeom>
          <a:noFill/>
          <a:ln w="12700" cap="flat" cmpd="sng">
            <a:solidFill>
              <a:srgbClr val="FFFFFF"/>
            </a:solidFill>
            <a:prstDash val="solid"/>
            <a:miter lim="800000"/>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770">
                <a:solidFill>
                  <a:srgbClr val="FFFFFF"/>
                </a:solidFill>
                <a:latin typeface="Arial"/>
                <a:ea typeface="Arial"/>
                <a:cs typeface="Arial"/>
                <a:sym typeface="Arial"/>
              </a:rPr>
              <a:t>NSX</a:t>
            </a:r>
            <a:r>
              <a:rPr lang="en-US" sz="770" u="none" strike="noStrike" cap="none">
                <a:solidFill>
                  <a:srgbClr val="FFFFFF"/>
                </a:solidFill>
                <a:latin typeface="Arial"/>
                <a:ea typeface="Arial"/>
                <a:cs typeface="Arial"/>
                <a:sym typeface="Arial"/>
              </a:rPr>
              <a:t> Manager</a:t>
            </a:r>
            <a:endParaRPr sz="770" u="none" strike="noStrike" cap="none">
              <a:solidFill>
                <a:srgbClr val="FFFFFF"/>
              </a:solidFill>
              <a:latin typeface="Arial"/>
              <a:ea typeface="Arial"/>
              <a:cs typeface="Arial"/>
              <a:sym typeface="Arial"/>
            </a:endParaRPr>
          </a:p>
        </p:txBody>
      </p:sp>
      <p:grpSp>
        <p:nvGrpSpPr>
          <p:cNvPr id="4536" name="Google Shape;4536;p6"/>
          <p:cNvGrpSpPr/>
          <p:nvPr/>
        </p:nvGrpSpPr>
        <p:grpSpPr>
          <a:xfrm>
            <a:off x="3379781" y="2262180"/>
            <a:ext cx="830624" cy="706997"/>
            <a:chOff x="7943457" y="3626784"/>
            <a:chExt cx="1113209" cy="947522"/>
          </a:xfrm>
        </p:grpSpPr>
        <p:grpSp>
          <p:nvGrpSpPr>
            <p:cNvPr id="4537" name="Google Shape;4537;p6"/>
            <p:cNvGrpSpPr/>
            <p:nvPr/>
          </p:nvGrpSpPr>
          <p:grpSpPr>
            <a:xfrm>
              <a:off x="7943457" y="3696376"/>
              <a:ext cx="865481" cy="865478"/>
              <a:chOff x="5217804" y="2760888"/>
              <a:chExt cx="1232879" cy="1232880"/>
            </a:xfrm>
          </p:grpSpPr>
          <p:sp>
            <p:nvSpPr>
              <p:cNvPr id="4538" name="Google Shape;4538;p6"/>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539" name="Google Shape;4539;p6"/>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rgbClr val="6C4B94">
                      <a:alpha val="34509"/>
                    </a:srgbClr>
                  </a:gs>
                  <a:gs pos="37000">
                    <a:srgbClr val="6C4B94">
                      <a:alpha val="34509"/>
                    </a:srgb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540" name="Google Shape;4540;p6"/>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rgbClr val="6C4B94">
                      <a:alpha val="34509"/>
                    </a:srgbClr>
                  </a:gs>
                  <a:gs pos="37000">
                    <a:srgbClr val="6C4B94">
                      <a:alpha val="34509"/>
                    </a:srgbClr>
                  </a:gs>
                  <a:gs pos="98000">
                    <a:srgbClr val="0091DA">
                      <a:alpha val="0"/>
                    </a:srgbClr>
                  </a:gs>
                  <a:gs pos="100000">
                    <a:schemeClr val="accent5"/>
                  </a:gs>
                </a:gsLst>
                <a:lin ang="16200000" scaled="0"/>
              </a:gra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541" name="Google Shape;4541;p6"/>
              <p:cNvSpPr/>
              <p:nvPr/>
            </p:nvSpPr>
            <p:spPr>
              <a:xfrm>
                <a:off x="5554577" y="2906665"/>
                <a:ext cx="878947"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chemeClr val="accent5"/>
                  </a:gs>
                  <a:gs pos="98000">
                    <a:srgbClr val="6C4B94">
                      <a:alpha val="0"/>
                    </a:srgbClr>
                  </a:gs>
                  <a:gs pos="100000">
                    <a:schemeClr val="accent5"/>
                  </a:gs>
                </a:gsLst>
                <a:lin ang="189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grpSp>
        <p:grpSp>
          <p:nvGrpSpPr>
            <p:cNvPr id="4542" name="Google Shape;4542;p6"/>
            <p:cNvGrpSpPr/>
            <p:nvPr/>
          </p:nvGrpSpPr>
          <p:grpSpPr>
            <a:xfrm>
              <a:off x="8154945" y="3626784"/>
              <a:ext cx="901721" cy="947522"/>
              <a:chOff x="1326710" y="4246688"/>
              <a:chExt cx="901721" cy="947522"/>
            </a:xfrm>
          </p:grpSpPr>
          <p:sp>
            <p:nvSpPr>
              <p:cNvPr id="4543" name="Google Shape;4543;p6"/>
              <p:cNvSpPr/>
              <p:nvPr/>
            </p:nvSpPr>
            <p:spPr>
              <a:xfrm>
                <a:off x="2041763" y="4683642"/>
                <a:ext cx="186668" cy="268146"/>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rgbClr val="C2D6EC"/>
              </a:solidFill>
              <a:ln>
                <a:noFill/>
              </a:ln>
            </p:spPr>
            <p:txBody>
              <a:bodyPr spcFirstLastPara="1" wrap="square" lIns="182650" tIns="91300" rIns="182650" bIns="913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4544" name="Google Shape;4544;p6"/>
              <p:cNvSpPr/>
              <p:nvPr/>
            </p:nvSpPr>
            <p:spPr>
              <a:xfrm flipH="1">
                <a:off x="1498040" y="4594232"/>
                <a:ext cx="360444" cy="473304"/>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7F35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545" name="Google Shape;4545;p6"/>
              <p:cNvGrpSpPr/>
              <p:nvPr/>
            </p:nvGrpSpPr>
            <p:grpSpPr>
              <a:xfrm flipH="1">
                <a:off x="1388659" y="4252449"/>
                <a:ext cx="246071" cy="372362"/>
                <a:chOff x="1935946" y="3808057"/>
                <a:chExt cx="188519" cy="285273"/>
              </a:xfrm>
            </p:grpSpPr>
            <p:sp>
              <p:nvSpPr>
                <p:cNvPr id="4546" name="Google Shape;4546;p6"/>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47" name="Google Shape;4547;p6"/>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48" name="Google Shape;4548;p6"/>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4A469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49" name="Google Shape;4549;p6"/>
                <p:cNvSpPr/>
                <p:nvPr/>
              </p:nvSpPr>
              <p:spPr>
                <a:xfrm rot="-4692000">
                  <a:off x="1989857" y="3920792"/>
                  <a:ext cx="56085" cy="4128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550" name="Google Shape;4550;p6"/>
              <p:cNvSpPr/>
              <p:nvPr/>
            </p:nvSpPr>
            <p:spPr>
              <a:xfrm flipH="1">
                <a:off x="1423296" y="4246688"/>
                <a:ext cx="224985" cy="141189"/>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4A469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51" name="Google Shape;4551;p6"/>
              <p:cNvSpPr/>
              <p:nvPr/>
            </p:nvSpPr>
            <p:spPr>
              <a:xfrm flipH="1">
                <a:off x="1408552" y="4562252"/>
                <a:ext cx="187593" cy="69139"/>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E5D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52" name="Google Shape;4552;p6"/>
              <p:cNvSpPr/>
              <p:nvPr/>
            </p:nvSpPr>
            <p:spPr>
              <a:xfrm>
                <a:off x="1326710" y="4582588"/>
                <a:ext cx="382814" cy="611622"/>
              </a:xfrm>
              <a:custGeom>
                <a:avLst/>
                <a:gdLst/>
                <a:ahLst/>
                <a:cxnLst/>
                <a:rect l="l" t="t" r="r" b="b"/>
                <a:pathLst>
                  <a:path w="437518" h="699025" extrusionOk="0">
                    <a:moveTo>
                      <a:pt x="249835" y="0"/>
                    </a:moveTo>
                    <a:lnTo>
                      <a:pt x="386378" y="31376"/>
                    </a:lnTo>
                    <a:cubicBezTo>
                      <a:pt x="386378" y="31376"/>
                      <a:pt x="412623" y="346778"/>
                      <a:pt x="434366" y="616748"/>
                    </a:cubicBezTo>
                    <a:lnTo>
                      <a:pt x="437518" y="656137"/>
                    </a:lnTo>
                    <a:lnTo>
                      <a:pt x="423858" y="663551"/>
                    </a:lnTo>
                    <a:cubicBezTo>
                      <a:pt x="369851" y="686394"/>
                      <a:pt x="310474" y="699025"/>
                      <a:pt x="248147" y="699025"/>
                    </a:cubicBezTo>
                    <a:cubicBezTo>
                      <a:pt x="185820" y="699025"/>
                      <a:pt x="126443" y="686394"/>
                      <a:pt x="72437" y="663551"/>
                    </a:cubicBezTo>
                    <a:lnTo>
                      <a:pt x="31994" y="641600"/>
                    </a:lnTo>
                    <a:lnTo>
                      <a:pt x="570" y="194066"/>
                    </a:lnTo>
                    <a:cubicBezTo>
                      <a:pt x="-5820" y="104587"/>
                      <a:pt x="42404" y="32538"/>
                      <a:pt x="101671" y="17430"/>
                    </a:cubicBezTo>
                    <a:lnTo>
                      <a:pt x="101089" y="18013"/>
                    </a:lnTo>
                    <a:lnTo>
                      <a:pt x="132465" y="47064"/>
                    </a:lnTo>
                    <a:close/>
                  </a:path>
                </a:pathLst>
              </a:custGeom>
              <a:solidFill>
                <a:srgbClr val="7F35B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4467"/>
                                        </p:tgtEl>
                                        <p:attrNameLst>
                                          <p:attrName>style.visibility</p:attrName>
                                        </p:attrNameLst>
                                      </p:cBhvr>
                                      <p:to>
                                        <p:strVal val="visible"/>
                                      </p:to>
                                    </p:set>
                                    <p:animEffect transition="in" filter="fade">
                                      <p:cBhvr>
                                        <p:cTn id="7" dur="500"/>
                                        <p:tgtEl>
                                          <p:spTgt spid="4467"/>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4513"/>
                                        </p:tgtEl>
                                        <p:attrNameLst>
                                          <p:attrName>style.visibility</p:attrName>
                                        </p:attrNameLst>
                                      </p:cBhvr>
                                      <p:to>
                                        <p:strVal val="visible"/>
                                      </p:to>
                                    </p:set>
                                    <p:animEffect transition="in" filter="fade">
                                      <p:cBhvr>
                                        <p:cTn id="11" dur="500"/>
                                        <p:tgtEl>
                                          <p:spTgt spid="4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57"/>
        <p:cNvGrpSpPr/>
        <p:nvPr/>
      </p:nvGrpSpPr>
      <p:grpSpPr>
        <a:xfrm>
          <a:off x="0" y="0"/>
          <a:ext cx="0" cy="0"/>
          <a:chOff x="0" y="0"/>
          <a:chExt cx="0" cy="0"/>
        </a:xfrm>
      </p:grpSpPr>
      <p:sp>
        <p:nvSpPr>
          <p:cNvPr id="4558" name="Google Shape;4558;p7"/>
          <p:cNvSpPr txBox="1"/>
          <p:nvPr/>
        </p:nvSpPr>
        <p:spPr>
          <a:xfrm>
            <a:off x="7136027" y="1600200"/>
            <a:ext cx="5052798" cy="4572000"/>
          </a:xfrm>
          <a:prstGeom prst="rect">
            <a:avLst/>
          </a:prstGeom>
          <a:solidFill>
            <a:srgbClr val="F4F9F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sp>
        <p:nvSpPr>
          <p:cNvPr id="4559" name="Google Shape;4559;p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Flexible Deployment Workflows</a:t>
            </a:r>
            <a:endParaRPr/>
          </a:p>
        </p:txBody>
      </p:sp>
      <p:sp>
        <p:nvSpPr>
          <p:cNvPr id="4560" name="Google Shape;4560;p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VMware Cloud Foundation Installer Appliance</a:t>
            </a:r>
            <a:endParaRPr/>
          </a:p>
        </p:txBody>
      </p:sp>
      <p:sp>
        <p:nvSpPr>
          <p:cNvPr id="4561" name="Google Shape;4561;p7"/>
          <p:cNvSpPr txBox="1"/>
          <p:nvPr/>
        </p:nvSpPr>
        <p:spPr>
          <a:xfrm>
            <a:off x="7326229" y="1999449"/>
            <a:ext cx="4638248" cy="4572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800"/>
              <a:buFont typeface="Arial"/>
              <a:buChar char="​"/>
            </a:pPr>
            <a:r>
              <a:rPr lang="en-US" sz="1600">
                <a:solidFill>
                  <a:schemeClr val="dk1"/>
                </a:solidFill>
                <a:latin typeface="Arial"/>
                <a:ea typeface="Arial"/>
                <a:cs typeface="Arial"/>
                <a:sym typeface="Arial"/>
              </a:rPr>
              <a:t>Choice of Depot:</a:t>
            </a:r>
            <a:endParaRPr sz="1600">
              <a:solidFill>
                <a:schemeClr val="dk1"/>
              </a:solidFill>
              <a:latin typeface="Arial"/>
              <a:ea typeface="Arial"/>
              <a:cs typeface="Arial"/>
              <a:sym typeface="Arial"/>
            </a:endParaRPr>
          </a:p>
          <a:p>
            <a:pPr marL="457200" marR="0" lvl="1" indent="-184150" algn="l" rtl="0">
              <a:lnSpc>
                <a:spcPct val="100000"/>
              </a:lnSpc>
              <a:spcBef>
                <a:spcPts val="1200"/>
              </a:spcBef>
              <a:spcAft>
                <a:spcPts val="0"/>
              </a:spcAft>
              <a:buClr>
                <a:srgbClr val="3B3B3B"/>
              </a:buClr>
              <a:buSzPts val="1620"/>
              <a:buFont typeface="Arial"/>
              <a:buChar char="•"/>
            </a:pPr>
            <a:r>
              <a:rPr lang="en-US" sz="1600" b="0" i="0" u="none" strike="noStrike" cap="none">
                <a:solidFill>
                  <a:schemeClr val="accent2"/>
                </a:solidFill>
                <a:latin typeface="Arial"/>
                <a:ea typeface="Arial"/>
                <a:cs typeface="Arial"/>
                <a:sym typeface="Arial"/>
              </a:rPr>
              <a:t>Online or Offline depot</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800"/>
              <a:buFont typeface="Arial"/>
              <a:buChar char="​"/>
            </a:pPr>
            <a:r>
              <a:rPr lang="en-US" sz="1600">
                <a:solidFill>
                  <a:schemeClr val="dk1"/>
                </a:solidFill>
                <a:latin typeface="Arial"/>
                <a:ea typeface="Arial"/>
                <a:cs typeface="Arial"/>
                <a:sym typeface="Arial"/>
              </a:rPr>
              <a:t>Choice of Deployment Method:  </a:t>
            </a:r>
            <a:endParaRPr sz="1600">
              <a:solidFill>
                <a:schemeClr val="dk1"/>
              </a:solidFill>
              <a:latin typeface="Arial"/>
              <a:ea typeface="Arial"/>
              <a:cs typeface="Arial"/>
              <a:sym typeface="Arial"/>
            </a:endParaRPr>
          </a:p>
          <a:p>
            <a:pPr marL="457200" marR="0" lvl="1" indent="-184150" algn="l" rtl="0">
              <a:lnSpc>
                <a:spcPct val="100000"/>
              </a:lnSpc>
              <a:spcBef>
                <a:spcPts val="1200"/>
              </a:spcBef>
              <a:spcAft>
                <a:spcPts val="0"/>
              </a:spcAft>
              <a:buClr>
                <a:srgbClr val="3B3B3B"/>
              </a:buClr>
              <a:buSzPts val="1620"/>
              <a:buFont typeface="Arial"/>
              <a:buChar char="•"/>
            </a:pPr>
            <a:r>
              <a:rPr lang="en-US" sz="1600" b="0" i="0" u="none" strike="noStrike" cap="none">
                <a:solidFill>
                  <a:schemeClr val="accent2"/>
                </a:solidFill>
                <a:latin typeface="Arial"/>
                <a:ea typeface="Arial"/>
                <a:cs typeface="Arial"/>
                <a:sym typeface="Arial"/>
              </a:rPr>
              <a:t>Wizard-driven or re-usable JSON </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800"/>
              <a:buFont typeface="Arial"/>
              <a:buChar char="​"/>
            </a:pPr>
            <a:r>
              <a:rPr lang="en-US" sz="1600">
                <a:solidFill>
                  <a:schemeClr val="dk1"/>
                </a:solidFill>
                <a:latin typeface="Arial"/>
                <a:ea typeface="Arial"/>
                <a:cs typeface="Arial"/>
                <a:sym typeface="Arial"/>
              </a:rPr>
              <a:t>Choice of VCF Topology:</a:t>
            </a:r>
            <a:endParaRPr sz="1600">
              <a:solidFill>
                <a:schemeClr val="dk1"/>
              </a:solidFill>
              <a:latin typeface="Arial"/>
              <a:ea typeface="Arial"/>
              <a:cs typeface="Arial"/>
              <a:sym typeface="Arial"/>
            </a:endParaRPr>
          </a:p>
          <a:p>
            <a:pPr marL="457200" marR="0" lvl="1" indent="-184150" algn="l" rtl="0">
              <a:lnSpc>
                <a:spcPct val="100000"/>
              </a:lnSpc>
              <a:spcBef>
                <a:spcPts val="1200"/>
              </a:spcBef>
              <a:spcAft>
                <a:spcPts val="0"/>
              </a:spcAft>
              <a:buClr>
                <a:srgbClr val="3B3B3B"/>
              </a:buClr>
              <a:buSzPts val="1620"/>
              <a:buFont typeface="Arial"/>
              <a:buChar char="•"/>
            </a:pPr>
            <a:r>
              <a:rPr lang="en-US" sz="1600" b="0" i="0" u="none" strike="noStrike" cap="none">
                <a:solidFill>
                  <a:schemeClr val="accent2"/>
                </a:solidFill>
                <a:latin typeface="Arial"/>
                <a:ea typeface="Arial"/>
                <a:cs typeface="Arial"/>
                <a:sym typeface="Arial"/>
              </a:rPr>
              <a:t>Deploy to a new or existing VCF Fleet</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800"/>
              <a:buFont typeface="Arial"/>
              <a:buChar char="​"/>
            </a:pPr>
            <a:r>
              <a:rPr lang="en-US" sz="1600">
                <a:solidFill>
                  <a:schemeClr val="dk1"/>
                </a:solidFill>
                <a:latin typeface="Arial"/>
                <a:ea typeface="Arial"/>
                <a:cs typeface="Arial"/>
                <a:sym typeface="Arial"/>
              </a:rPr>
              <a:t>Deploy New or Existing Components:</a:t>
            </a:r>
            <a:endParaRPr sz="1600">
              <a:solidFill>
                <a:schemeClr val="dk1"/>
              </a:solidFill>
              <a:latin typeface="Arial"/>
              <a:ea typeface="Arial"/>
              <a:cs typeface="Arial"/>
              <a:sym typeface="Arial"/>
            </a:endParaRPr>
          </a:p>
          <a:p>
            <a:pPr marL="457200" marR="0" lvl="1" indent="-184150" algn="l" rtl="0">
              <a:lnSpc>
                <a:spcPct val="100000"/>
              </a:lnSpc>
              <a:spcBef>
                <a:spcPts val="1200"/>
              </a:spcBef>
              <a:spcAft>
                <a:spcPts val="0"/>
              </a:spcAft>
              <a:buClr>
                <a:srgbClr val="3B3B3B"/>
              </a:buClr>
              <a:buSzPts val="1620"/>
              <a:buFont typeface="Arial"/>
              <a:buChar char="•"/>
            </a:pPr>
            <a:r>
              <a:rPr lang="en-US" sz="1600" b="0" i="0" u="none" strike="noStrike" cap="none">
                <a:solidFill>
                  <a:schemeClr val="accent2"/>
                </a:solidFill>
                <a:latin typeface="Arial"/>
                <a:ea typeface="Arial"/>
                <a:cs typeface="Arial"/>
                <a:sym typeface="Arial"/>
              </a:rPr>
              <a:t>vCenter, NSX</a:t>
            </a:r>
            <a:r>
              <a:rPr lang="en-US" sz="1600" b="0" i="0" u="none" strike="noStrike" cap="none" baseline="30000">
                <a:solidFill>
                  <a:schemeClr val="accent2"/>
                </a:solidFill>
                <a:latin typeface="Arial"/>
                <a:ea typeface="Arial"/>
                <a:cs typeface="Arial"/>
                <a:sym typeface="Arial"/>
              </a:rPr>
              <a:t>1</a:t>
            </a:r>
            <a:r>
              <a:rPr lang="en-US" sz="1600" b="0" i="0" u="none" strike="noStrike" cap="none">
                <a:solidFill>
                  <a:schemeClr val="accent2"/>
                </a:solidFill>
                <a:latin typeface="Arial"/>
                <a:ea typeface="Arial"/>
                <a:cs typeface="Arial"/>
                <a:sym typeface="Arial"/>
              </a:rPr>
              <a:t>, VCF Ops, VCF Automation</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800"/>
              <a:buFont typeface="Arial"/>
              <a:buChar char="​"/>
            </a:pPr>
            <a:r>
              <a:rPr lang="en-US" sz="1600">
                <a:solidFill>
                  <a:schemeClr val="dk1"/>
                </a:solidFill>
                <a:latin typeface="Arial"/>
                <a:ea typeface="Arial"/>
                <a:cs typeface="Arial"/>
                <a:sym typeface="Arial"/>
              </a:rPr>
              <a:t>Choice of Appliance Model:</a:t>
            </a:r>
            <a:endParaRPr sz="1600">
              <a:solidFill>
                <a:schemeClr val="dk1"/>
              </a:solidFill>
              <a:latin typeface="Arial"/>
              <a:ea typeface="Arial"/>
              <a:cs typeface="Arial"/>
              <a:sym typeface="Arial"/>
            </a:endParaRPr>
          </a:p>
          <a:p>
            <a:pPr marL="457200" marR="0" lvl="1" indent="-184150" algn="l" rtl="0">
              <a:lnSpc>
                <a:spcPct val="100000"/>
              </a:lnSpc>
              <a:spcBef>
                <a:spcPts val="1200"/>
              </a:spcBef>
              <a:spcAft>
                <a:spcPts val="0"/>
              </a:spcAft>
              <a:buClr>
                <a:srgbClr val="3B3B3B"/>
              </a:buClr>
              <a:buSzPts val="1620"/>
              <a:buFont typeface="Arial"/>
              <a:buChar char="•"/>
            </a:pPr>
            <a:r>
              <a:rPr lang="en-US" sz="1600" b="0" i="0" u="none" strike="noStrike" cap="none">
                <a:solidFill>
                  <a:schemeClr val="accent2"/>
                </a:solidFill>
                <a:latin typeface="Arial"/>
                <a:ea typeface="Arial"/>
                <a:cs typeface="Arial"/>
                <a:sym typeface="Arial"/>
              </a:rPr>
              <a:t>Simple (single node) or HA (multi-node)</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800"/>
              <a:buFont typeface="Arial"/>
              <a:buChar char="​"/>
            </a:pPr>
            <a:br>
              <a:rPr lang="en-US"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8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666666"/>
              </a:buClr>
              <a:buSzPts val="1800"/>
              <a:buFont typeface="Arial"/>
              <a:buChar char="​"/>
            </a:pPr>
            <a:br>
              <a:rPr lang="en-US"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p:txBody>
      </p:sp>
      <p:grpSp>
        <p:nvGrpSpPr>
          <p:cNvPr id="4562" name="Google Shape;4562;p7"/>
          <p:cNvGrpSpPr/>
          <p:nvPr/>
        </p:nvGrpSpPr>
        <p:grpSpPr>
          <a:xfrm>
            <a:off x="653667" y="1679861"/>
            <a:ext cx="830624" cy="706997"/>
            <a:chOff x="7943457" y="3626784"/>
            <a:chExt cx="1113209" cy="947522"/>
          </a:xfrm>
        </p:grpSpPr>
        <p:grpSp>
          <p:nvGrpSpPr>
            <p:cNvPr id="4563" name="Google Shape;4563;p7"/>
            <p:cNvGrpSpPr/>
            <p:nvPr/>
          </p:nvGrpSpPr>
          <p:grpSpPr>
            <a:xfrm>
              <a:off x="7943457" y="3696376"/>
              <a:ext cx="865481" cy="865478"/>
              <a:chOff x="5217804" y="2760888"/>
              <a:chExt cx="1232879" cy="1232880"/>
            </a:xfrm>
          </p:grpSpPr>
          <p:sp>
            <p:nvSpPr>
              <p:cNvPr id="4564" name="Google Shape;4564;p7"/>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565" name="Google Shape;4565;p7"/>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rgbClr val="6C4B94">
                      <a:alpha val="34509"/>
                    </a:srgbClr>
                  </a:gs>
                  <a:gs pos="37000">
                    <a:srgbClr val="6C4B94">
                      <a:alpha val="34509"/>
                    </a:srgb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566" name="Google Shape;4566;p7"/>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rgbClr val="6C4B94">
                      <a:alpha val="34509"/>
                    </a:srgbClr>
                  </a:gs>
                  <a:gs pos="37000">
                    <a:srgbClr val="6C4B94">
                      <a:alpha val="34509"/>
                    </a:srgbClr>
                  </a:gs>
                  <a:gs pos="98000">
                    <a:srgbClr val="0091DA">
                      <a:alpha val="0"/>
                    </a:srgbClr>
                  </a:gs>
                  <a:gs pos="100000">
                    <a:schemeClr val="accent5"/>
                  </a:gs>
                </a:gsLst>
                <a:lin ang="16200000" scaled="0"/>
              </a:gra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567" name="Google Shape;4567;p7"/>
              <p:cNvSpPr/>
              <p:nvPr/>
            </p:nvSpPr>
            <p:spPr>
              <a:xfrm>
                <a:off x="5554577" y="2906665"/>
                <a:ext cx="878947"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chemeClr val="accent5"/>
                  </a:gs>
                  <a:gs pos="98000">
                    <a:srgbClr val="6C4B94">
                      <a:alpha val="0"/>
                    </a:srgbClr>
                  </a:gs>
                  <a:gs pos="100000">
                    <a:schemeClr val="accent5"/>
                  </a:gs>
                </a:gsLst>
                <a:lin ang="189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grpSp>
        <p:grpSp>
          <p:nvGrpSpPr>
            <p:cNvPr id="4568" name="Google Shape;4568;p7"/>
            <p:cNvGrpSpPr/>
            <p:nvPr/>
          </p:nvGrpSpPr>
          <p:grpSpPr>
            <a:xfrm>
              <a:off x="8154945" y="3626784"/>
              <a:ext cx="901721" cy="947522"/>
              <a:chOff x="1326710" y="4246688"/>
              <a:chExt cx="901721" cy="947522"/>
            </a:xfrm>
          </p:grpSpPr>
          <p:sp>
            <p:nvSpPr>
              <p:cNvPr id="4569" name="Google Shape;4569;p7"/>
              <p:cNvSpPr/>
              <p:nvPr/>
            </p:nvSpPr>
            <p:spPr>
              <a:xfrm>
                <a:off x="2041763" y="4683642"/>
                <a:ext cx="186668" cy="268146"/>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rgbClr val="C2D6EC"/>
              </a:solidFill>
              <a:ln>
                <a:noFill/>
              </a:ln>
            </p:spPr>
            <p:txBody>
              <a:bodyPr spcFirstLastPara="1" wrap="square" lIns="182650" tIns="91300" rIns="182650" bIns="913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4570" name="Google Shape;4570;p7"/>
              <p:cNvSpPr/>
              <p:nvPr/>
            </p:nvSpPr>
            <p:spPr>
              <a:xfrm flipH="1">
                <a:off x="1498040" y="4594232"/>
                <a:ext cx="360444" cy="473304"/>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7F35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571" name="Google Shape;4571;p7"/>
              <p:cNvGrpSpPr/>
              <p:nvPr/>
            </p:nvGrpSpPr>
            <p:grpSpPr>
              <a:xfrm flipH="1">
                <a:off x="1388659" y="4252449"/>
                <a:ext cx="246071" cy="372362"/>
                <a:chOff x="1935946" y="3808057"/>
                <a:chExt cx="188519" cy="285273"/>
              </a:xfrm>
            </p:grpSpPr>
            <p:sp>
              <p:nvSpPr>
                <p:cNvPr id="4572" name="Google Shape;4572;p7"/>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73" name="Google Shape;4573;p7"/>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74" name="Google Shape;4574;p7"/>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4A469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75" name="Google Shape;4575;p7"/>
                <p:cNvSpPr/>
                <p:nvPr/>
              </p:nvSpPr>
              <p:spPr>
                <a:xfrm rot="-4692000">
                  <a:off x="1989857" y="3920792"/>
                  <a:ext cx="56085" cy="4128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576" name="Google Shape;4576;p7"/>
              <p:cNvSpPr/>
              <p:nvPr/>
            </p:nvSpPr>
            <p:spPr>
              <a:xfrm flipH="1">
                <a:off x="1423296" y="4246688"/>
                <a:ext cx="224985" cy="141189"/>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4A469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77" name="Google Shape;4577;p7"/>
              <p:cNvSpPr/>
              <p:nvPr/>
            </p:nvSpPr>
            <p:spPr>
              <a:xfrm flipH="1">
                <a:off x="1408552" y="4562252"/>
                <a:ext cx="187593" cy="69139"/>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E5D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78" name="Google Shape;4578;p7"/>
              <p:cNvSpPr/>
              <p:nvPr/>
            </p:nvSpPr>
            <p:spPr>
              <a:xfrm>
                <a:off x="1326710" y="4582588"/>
                <a:ext cx="382814" cy="611622"/>
              </a:xfrm>
              <a:custGeom>
                <a:avLst/>
                <a:gdLst/>
                <a:ahLst/>
                <a:cxnLst/>
                <a:rect l="l" t="t" r="r" b="b"/>
                <a:pathLst>
                  <a:path w="437518" h="699025" extrusionOk="0">
                    <a:moveTo>
                      <a:pt x="249835" y="0"/>
                    </a:moveTo>
                    <a:lnTo>
                      <a:pt x="386378" y="31376"/>
                    </a:lnTo>
                    <a:cubicBezTo>
                      <a:pt x="386378" y="31376"/>
                      <a:pt x="412623" y="346778"/>
                      <a:pt x="434366" y="616748"/>
                    </a:cubicBezTo>
                    <a:lnTo>
                      <a:pt x="437518" y="656137"/>
                    </a:lnTo>
                    <a:lnTo>
                      <a:pt x="423858" y="663551"/>
                    </a:lnTo>
                    <a:cubicBezTo>
                      <a:pt x="369851" y="686394"/>
                      <a:pt x="310474" y="699025"/>
                      <a:pt x="248147" y="699025"/>
                    </a:cubicBezTo>
                    <a:cubicBezTo>
                      <a:pt x="185820" y="699025"/>
                      <a:pt x="126443" y="686394"/>
                      <a:pt x="72437" y="663551"/>
                    </a:cubicBezTo>
                    <a:lnTo>
                      <a:pt x="31994" y="641600"/>
                    </a:lnTo>
                    <a:lnTo>
                      <a:pt x="570" y="194066"/>
                    </a:lnTo>
                    <a:cubicBezTo>
                      <a:pt x="-5820" y="104587"/>
                      <a:pt x="42404" y="32538"/>
                      <a:pt x="101671" y="17430"/>
                    </a:cubicBezTo>
                    <a:lnTo>
                      <a:pt x="101089" y="18013"/>
                    </a:lnTo>
                    <a:lnTo>
                      <a:pt x="132465" y="47064"/>
                    </a:lnTo>
                    <a:close/>
                  </a:path>
                </a:pathLst>
              </a:custGeom>
              <a:solidFill>
                <a:srgbClr val="7F35B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grpSp>
      </p:grpSp>
      <p:sp>
        <p:nvSpPr>
          <p:cNvPr id="4579" name="Google Shape;4579;p7"/>
          <p:cNvSpPr txBox="1"/>
          <p:nvPr/>
        </p:nvSpPr>
        <p:spPr>
          <a:xfrm>
            <a:off x="14060774" y="2473377"/>
            <a:ext cx="65" cy="276999"/>
          </a:xfrm>
          <a:prstGeom prst="rect">
            <a:avLst/>
          </a:prstGeom>
          <a:solidFill>
            <a:schemeClr val="accent2"/>
          </a:solidFill>
          <a:ln>
            <a:noFill/>
          </a:ln>
        </p:spPr>
        <p:txBody>
          <a:bodyPr spcFirstLastPara="1" wrap="square" lIns="0" tIns="0" rIns="0" bIns="0" anchor="t" anchorCtr="0">
            <a:spAutoFit/>
          </a:bodyPr>
          <a:lstStyle/>
          <a:p>
            <a:pPr marL="0" marR="0" lvl="0" indent="0" algn="l" rtl="0">
              <a:spcBef>
                <a:spcPts val="0"/>
              </a:spcBef>
              <a:spcAft>
                <a:spcPts val="0"/>
              </a:spcAft>
              <a:buNone/>
            </a:pPr>
            <a:endParaRPr sz="1800">
              <a:solidFill>
                <a:schemeClr val="dk2"/>
              </a:solidFill>
              <a:latin typeface="Arial"/>
              <a:ea typeface="Arial"/>
              <a:cs typeface="Arial"/>
              <a:sym typeface="Arial"/>
            </a:endParaRPr>
          </a:p>
        </p:txBody>
      </p:sp>
      <p:pic>
        <p:nvPicPr>
          <p:cNvPr id="4580" name="Google Shape;4580;p7"/>
          <p:cNvPicPr preferRelativeResize="0"/>
          <p:nvPr/>
        </p:nvPicPr>
        <p:blipFill rotWithShape="1">
          <a:blip r:embed="rId3">
            <a:alphaModFix/>
          </a:blip>
          <a:srcRect/>
          <a:stretch/>
        </p:blipFill>
        <p:spPr>
          <a:xfrm>
            <a:off x="1702961" y="1818428"/>
            <a:ext cx="5045866" cy="4185415"/>
          </a:xfrm>
          <a:prstGeom prst="rect">
            <a:avLst/>
          </a:prstGeom>
          <a:noFill/>
          <a:ln>
            <a:noFill/>
          </a:ln>
        </p:spPr>
      </p:pic>
      <p:sp>
        <p:nvSpPr>
          <p:cNvPr id="4581" name="Google Shape;4581;p7"/>
          <p:cNvSpPr/>
          <p:nvPr/>
        </p:nvSpPr>
        <p:spPr>
          <a:xfrm>
            <a:off x="1702959" y="5531859"/>
            <a:ext cx="5045866" cy="29931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582" name="Google Shape;4582;p7"/>
          <p:cNvSpPr/>
          <p:nvPr/>
        </p:nvSpPr>
        <p:spPr>
          <a:xfrm>
            <a:off x="1614926" y="1755844"/>
            <a:ext cx="5205618" cy="3895448"/>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583" name="Google Shape;4583;p7"/>
          <p:cNvSpPr txBox="1"/>
          <p:nvPr/>
        </p:nvSpPr>
        <p:spPr>
          <a:xfrm>
            <a:off x="1734686" y="5819453"/>
            <a:ext cx="496610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i="1" baseline="30000">
                <a:solidFill>
                  <a:schemeClr val="dk1"/>
                </a:solidFill>
                <a:latin typeface="Arial"/>
                <a:ea typeface="Arial"/>
                <a:cs typeface="Arial"/>
                <a:sym typeface="Arial"/>
              </a:rPr>
              <a:t>1 </a:t>
            </a:r>
            <a:r>
              <a:rPr lang="en-US" sz="1000" i="1">
                <a:solidFill>
                  <a:schemeClr val="dk1"/>
                </a:solidFill>
                <a:latin typeface="Arial"/>
                <a:ea typeface="Arial"/>
                <a:cs typeface="Arial"/>
                <a:sym typeface="Arial"/>
              </a:rPr>
              <a:t>Existing vCenters with NSX installed are not initially supported to be converged to VCF</a:t>
            </a:r>
            <a:br>
              <a:rPr lang="en-US" sz="1000" i="1">
                <a:solidFill>
                  <a:schemeClr val="dk1"/>
                </a:solidFill>
                <a:latin typeface="Arial"/>
                <a:ea typeface="Arial"/>
                <a:cs typeface="Arial"/>
                <a:sym typeface="Arial"/>
              </a:rPr>
            </a:br>
            <a:r>
              <a:rPr lang="en-US" sz="1000" i="1">
                <a:solidFill>
                  <a:schemeClr val="dk1"/>
                </a:solidFill>
                <a:latin typeface="Arial"/>
                <a:ea typeface="Arial"/>
                <a:cs typeface="Arial"/>
                <a:sym typeface="Arial"/>
              </a:rPr>
              <a:t> Existing vCenters with NSX installed can be imported into VCF as Workload Domains</a:t>
            </a:r>
            <a:endParaRPr sz="10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88"/>
        <p:cNvGrpSpPr/>
        <p:nvPr/>
      </p:nvGrpSpPr>
      <p:grpSpPr>
        <a:xfrm>
          <a:off x="0" y="0"/>
          <a:ext cx="0" cy="0"/>
          <a:chOff x="0" y="0"/>
          <a:chExt cx="0" cy="0"/>
        </a:xfrm>
      </p:grpSpPr>
      <p:sp>
        <p:nvSpPr>
          <p:cNvPr id="4589" name="Google Shape;4589;p8"/>
          <p:cNvSpPr/>
          <p:nvPr/>
        </p:nvSpPr>
        <p:spPr>
          <a:xfrm>
            <a:off x="6479" y="1611780"/>
            <a:ext cx="8133399" cy="4572000"/>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00"/>
              <a:buFont typeface="Arial"/>
              <a:buNone/>
            </a:pPr>
            <a:endParaRPr sz="1000" b="0" i="0" u="none" strike="noStrike" cap="none">
              <a:solidFill>
                <a:srgbClr val="000000"/>
              </a:solidFill>
              <a:latin typeface="Arial"/>
              <a:ea typeface="Arial"/>
              <a:cs typeface="Arial"/>
              <a:sym typeface="Arial"/>
            </a:endParaRPr>
          </a:p>
        </p:txBody>
      </p:sp>
      <p:sp>
        <p:nvSpPr>
          <p:cNvPr id="4590" name="Google Shape;4590;p8"/>
          <p:cNvSpPr/>
          <p:nvPr/>
        </p:nvSpPr>
        <p:spPr>
          <a:xfrm>
            <a:off x="606342" y="1750219"/>
            <a:ext cx="7405481" cy="4295951"/>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a:t>
            </a:r>
            <a:endParaRPr sz="1200" b="0" i="0" u="none" strike="noStrike" cap="none">
              <a:solidFill>
                <a:srgbClr val="FFFFFF"/>
              </a:solidFill>
              <a:latin typeface="Arial"/>
              <a:ea typeface="Arial"/>
              <a:cs typeface="Arial"/>
              <a:sym typeface="Arial"/>
            </a:endParaRPr>
          </a:p>
        </p:txBody>
      </p:sp>
      <p:sp>
        <p:nvSpPr>
          <p:cNvPr id="4591" name="Google Shape;4591;p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Deployment Pathways to Suit a Variety of Use Cases</a:t>
            </a:r>
            <a:endParaRPr/>
          </a:p>
        </p:txBody>
      </p:sp>
      <p:sp>
        <p:nvSpPr>
          <p:cNvPr id="4592" name="Google Shape;4592;p8"/>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VCF Operations workflows for workload domain deployment </a:t>
            </a:r>
            <a:endParaRPr dirty="0"/>
          </a:p>
        </p:txBody>
      </p:sp>
      <p:sp>
        <p:nvSpPr>
          <p:cNvPr id="4593" name="Google Shape;4593;p8"/>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solidFill>
                  <a:schemeClr val="dk1"/>
                </a:solidFill>
              </a:rPr>
              <a:t>VCF Operations:</a:t>
            </a:r>
            <a:endParaRPr dirty="0"/>
          </a:p>
          <a:p>
            <a:pPr marL="0" lvl="0" indent="0" algn="l" rtl="0">
              <a:lnSpc>
                <a:spcPct val="100000"/>
              </a:lnSpc>
              <a:spcBef>
                <a:spcPts val="1200"/>
              </a:spcBef>
              <a:spcAft>
                <a:spcPts val="0"/>
              </a:spcAft>
              <a:buSzPts val="1440"/>
              <a:buNone/>
            </a:pPr>
            <a:r>
              <a:rPr lang="en-US" dirty="0"/>
              <a:t>Provides a new and integrated private cloud operations and management experience</a:t>
            </a:r>
            <a:endParaRPr dirty="0"/>
          </a:p>
          <a:p>
            <a:pPr marL="0" lvl="0" indent="0" algn="l" rtl="0">
              <a:lnSpc>
                <a:spcPct val="100000"/>
              </a:lnSpc>
              <a:spcBef>
                <a:spcPts val="1200"/>
              </a:spcBef>
              <a:spcAft>
                <a:spcPts val="0"/>
              </a:spcAft>
              <a:buSzPts val="1440"/>
              <a:buNone/>
            </a:pPr>
            <a:r>
              <a:rPr lang="en-US" dirty="0"/>
              <a:t>Unified operations and management of compute, storage, networking, fleet management and lifecycle management</a:t>
            </a:r>
            <a:endParaRPr dirty="0"/>
          </a:p>
          <a:p>
            <a:pPr marL="0" lvl="0" indent="0" algn="l" rtl="0">
              <a:lnSpc>
                <a:spcPct val="100000"/>
              </a:lnSpc>
              <a:spcBef>
                <a:spcPts val="1200"/>
              </a:spcBef>
              <a:spcAft>
                <a:spcPts val="0"/>
              </a:spcAft>
              <a:buSzPts val="1440"/>
              <a:buNone/>
            </a:pPr>
            <a:r>
              <a:rPr lang="en-US" dirty="0"/>
              <a:t>Inbuilt workflows to create </a:t>
            </a:r>
            <a:r>
              <a:rPr lang="en-US" b="1" dirty="0"/>
              <a:t>new</a:t>
            </a:r>
            <a:r>
              <a:rPr lang="en-US" dirty="0"/>
              <a:t> workload domains</a:t>
            </a:r>
            <a:endParaRPr dirty="0"/>
          </a:p>
          <a:p>
            <a:pPr marL="0" lvl="0" indent="0" algn="l" rtl="0">
              <a:lnSpc>
                <a:spcPct val="100000"/>
              </a:lnSpc>
              <a:spcBef>
                <a:spcPts val="1200"/>
              </a:spcBef>
              <a:spcAft>
                <a:spcPts val="0"/>
              </a:spcAft>
              <a:buSzPts val="1440"/>
              <a:buNone/>
            </a:pPr>
            <a:r>
              <a:rPr lang="en-US" dirty="0"/>
              <a:t>External vCenter deployments can be </a:t>
            </a:r>
            <a:r>
              <a:rPr lang="en-US" b="1" dirty="0"/>
              <a:t>imported</a:t>
            </a:r>
            <a:r>
              <a:rPr lang="en-US" dirty="0"/>
              <a:t> into a VCF instance as workload domains for centralized management</a:t>
            </a:r>
            <a:endParaRPr dirty="0"/>
          </a:p>
          <a:p>
            <a:pPr marL="0" lvl="0" indent="0" algn="l" rtl="0">
              <a:lnSpc>
                <a:spcPct val="100000"/>
              </a:lnSpc>
              <a:spcBef>
                <a:spcPts val="1200"/>
              </a:spcBef>
              <a:spcAft>
                <a:spcPts val="0"/>
              </a:spcAft>
              <a:buSzPts val="1440"/>
              <a:buNone/>
            </a:pPr>
            <a:endParaRPr dirty="0"/>
          </a:p>
        </p:txBody>
      </p:sp>
      <p:grpSp>
        <p:nvGrpSpPr>
          <p:cNvPr id="4594" name="Google Shape;4594;p8"/>
          <p:cNvGrpSpPr/>
          <p:nvPr/>
        </p:nvGrpSpPr>
        <p:grpSpPr>
          <a:xfrm>
            <a:off x="6281336" y="2236920"/>
            <a:ext cx="624821" cy="561037"/>
            <a:chOff x="6210406" y="2324844"/>
            <a:chExt cx="780559" cy="671971"/>
          </a:xfrm>
        </p:grpSpPr>
        <p:cxnSp>
          <p:nvCxnSpPr>
            <p:cNvPr id="4595" name="Google Shape;4595;p8"/>
            <p:cNvCxnSpPr/>
            <p:nvPr/>
          </p:nvCxnSpPr>
          <p:spPr>
            <a:xfrm>
              <a:off x="6210406" y="2586552"/>
              <a:ext cx="780559" cy="7813"/>
            </a:xfrm>
            <a:prstGeom prst="straightConnector1">
              <a:avLst/>
            </a:prstGeom>
            <a:noFill/>
            <a:ln w="28575" cap="flat" cmpd="sng">
              <a:solidFill>
                <a:schemeClr val="accent2"/>
              </a:solidFill>
              <a:prstDash val="dot"/>
              <a:miter lim="800000"/>
              <a:headEnd type="none" w="sm" len="sm"/>
              <a:tailEnd type="none" w="sm" len="sm"/>
            </a:ln>
          </p:spPr>
        </p:cxnSp>
        <p:grpSp>
          <p:nvGrpSpPr>
            <p:cNvPr id="4596" name="Google Shape;4596;p8"/>
            <p:cNvGrpSpPr/>
            <p:nvPr/>
          </p:nvGrpSpPr>
          <p:grpSpPr>
            <a:xfrm>
              <a:off x="6379833" y="2324844"/>
              <a:ext cx="370597" cy="671971"/>
              <a:chOff x="5080329" y="2966073"/>
              <a:chExt cx="370597" cy="671971"/>
            </a:xfrm>
          </p:grpSpPr>
          <p:sp>
            <p:nvSpPr>
              <p:cNvPr id="4597" name="Google Shape;4597;p8"/>
              <p:cNvSpPr/>
              <p:nvPr/>
            </p:nvSpPr>
            <p:spPr>
              <a:xfrm>
                <a:off x="5080329" y="2966073"/>
                <a:ext cx="370597" cy="67197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grpSp>
            <p:nvGrpSpPr>
              <p:cNvPr id="4598" name="Google Shape;4598;p8"/>
              <p:cNvGrpSpPr/>
              <p:nvPr/>
            </p:nvGrpSpPr>
            <p:grpSpPr>
              <a:xfrm rot="5400000">
                <a:off x="5138872" y="3048606"/>
                <a:ext cx="263417" cy="352711"/>
                <a:chOff x="6920341" y="3506884"/>
                <a:chExt cx="283382" cy="388082"/>
              </a:xfrm>
            </p:grpSpPr>
            <p:sp>
              <p:nvSpPr>
                <p:cNvPr id="4599" name="Google Shape;4599;p8"/>
                <p:cNvSpPr/>
                <p:nvPr/>
              </p:nvSpPr>
              <p:spPr>
                <a:xfrm rot="5400000">
                  <a:off x="6980632" y="3671875"/>
                  <a:ext cx="162826" cy="283357"/>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24313"/>
                  </a:schemeClr>
                </a:solidFill>
                <a:ln>
                  <a:noFill/>
                </a:ln>
              </p:spPr>
              <p:txBody>
                <a:bodyPr spcFirstLastPara="1" wrap="square" lIns="91325" tIns="45625" rIns="9132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4600" name="Google Shape;4600;p8"/>
                <p:cNvSpPr/>
                <p:nvPr/>
              </p:nvSpPr>
              <p:spPr>
                <a:xfrm rot="5400000">
                  <a:off x="6980607"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49411"/>
                  </a:schemeClr>
                </a:solidFill>
                <a:ln>
                  <a:noFill/>
                </a:ln>
              </p:spPr>
              <p:txBody>
                <a:bodyPr spcFirstLastPara="1" wrap="square" lIns="91325" tIns="45625" rIns="9132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4601" name="Google Shape;4601;p8"/>
                <p:cNvSpPr/>
                <p:nvPr/>
              </p:nvSpPr>
              <p:spPr>
                <a:xfrm rot="5400000">
                  <a:off x="69806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solidFill>
                <a:ln>
                  <a:noFill/>
                </a:ln>
              </p:spPr>
              <p:txBody>
                <a:bodyPr spcFirstLastPara="1" wrap="square" lIns="91325" tIns="45625" rIns="9132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grpSp>
        </p:grpSp>
      </p:grpSp>
      <p:grpSp>
        <p:nvGrpSpPr>
          <p:cNvPr id="4602" name="Google Shape;4602;p8"/>
          <p:cNvGrpSpPr/>
          <p:nvPr/>
        </p:nvGrpSpPr>
        <p:grpSpPr>
          <a:xfrm>
            <a:off x="6771492" y="1874587"/>
            <a:ext cx="1075615" cy="1139809"/>
            <a:chOff x="6874866" y="1962055"/>
            <a:chExt cx="1075615" cy="1139809"/>
          </a:xfrm>
        </p:grpSpPr>
        <p:grpSp>
          <p:nvGrpSpPr>
            <p:cNvPr id="4603" name="Google Shape;4603;p8"/>
            <p:cNvGrpSpPr/>
            <p:nvPr/>
          </p:nvGrpSpPr>
          <p:grpSpPr>
            <a:xfrm>
              <a:off x="6990965" y="1962055"/>
              <a:ext cx="837634" cy="960401"/>
              <a:chOff x="6921469" y="2348717"/>
              <a:chExt cx="837634" cy="960401"/>
            </a:xfrm>
          </p:grpSpPr>
          <p:sp>
            <p:nvSpPr>
              <p:cNvPr id="4604" name="Google Shape;4604;p8"/>
              <p:cNvSpPr/>
              <p:nvPr/>
            </p:nvSpPr>
            <p:spPr>
              <a:xfrm>
                <a:off x="6921469" y="2348717"/>
                <a:ext cx="837634" cy="960401"/>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05" name="Google Shape;4605;p8"/>
              <p:cNvSpPr/>
              <p:nvPr/>
            </p:nvSpPr>
            <p:spPr>
              <a:xfrm>
                <a:off x="6990776" y="3149234"/>
                <a:ext cx="701104" cy="113800"/>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b="0" i="0" u="none" strike="noStrike" cap="none">
                    <a:solidFill>
                      <a:schemeClr val="accent2"/>
                    </a:solidFill>
                    <a:latin typeface="Arial"/>
                    <a:ea typeface="Arial"/>
                    <a:cs typeface="Arial"/>
                    <a:sym typeface="Arial"/>
                  </a:rPr>
                  <a:t>Cluster …N</a:t>
                </a:r>
                <a:endParaRPr sz="700" b="0" i="0" u="none" strike="noStrike" cap="none">
                  <a:solidFill>
                    <a:schemeClr val="accent2"/>
                  </a:solidFill>
                  <a:latin typeface="Arial"/>
                  <a:ea typeface="Arial"/>
                  <a:cs typeface="Arial"/>
                  <a:sym typeface="Arial"/>
                </a:endParaRPr>
              </a:p>
            </p:txBody>
          </p:sp>
          <p:sp>
            <p:nvSpPr>
              <p:cNvPr id="4606" name="Google Shape;4606;p8"/>
              <p:cNvSpPr/>
              <p:nvPr/>
            </p:nvSpPr>
            <p:spPr>
              <a:xfrm>
                <a:off x="6990776" y="2987383"/>
                <a:ext cx="701104" cy="113800"/>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a:solidFill>
                      <a:schemeClr val="accent2"/>
                    </a:solidFill>
                    <a:latin typeface="Arial"/>
                    <a:ea typeface="Arial"/>
                    <a:cs typeface="Arial"/>
                    <a:sym typeface="Arial"/>
                  </a:rPr>
                  <a:t>Cluster 2</a:t>
                </a:r>
                <a:endParaRPr sz="700" b="0" i="0" u="none" strike="noStrike" cap="none">
                  <a:solidFill>
                    <a:schemeClr val="accent2"/>
                  </a:solidFill>
                  <a:latin typeface="Arial"/>
                  <a:ea typeface="Arial"/>
                  <a:cs typeface="Arial"/>
                  <a:sym typeface="Arial"/>
                </a:endParaRPr>
              </a:p>
            </p:txBody>
          </p:sp>
          <p:sp>
            <p:nvSpPr>
              <p:cNvPr id="4607" name="Google Shape;4607;p8"/>
              <p:cNvSpPr/>
              <p:nvPr/>
            </p:nvSpPr>
            <p:spPr>
              <a:xfrm>
                <a:off x="6994489" y="2820351"/>
                <a:ext cx="701104" cy="113800"/>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b="0" i="0" u="none" strike="noStrike" cap="none">
                    <a:solidFill>
                      <a:schemeClr val="accent2"/>
                    </a:solidFill>
                    <a:latin typeface="Arial"/>
                    <a:ea typeface="Arial"/>
                    <a:cs typeface="Arial"/>
                    <a:sym typeface="Arial"/>
                  </a:rPr>
                  <a:t>Cluster 1</a:t>
                </a:r>
                <a:endParaRPr sz="700" b="0" i="0" u="none" strike="noStrike" cap="none">
                  <a:solidFill>
                    <a:schemeClr val="accent2"/>
                  </a:solidFill>
                  <a:latin typeface="Arial"/>
                  <a:ea typeface="Arial"/>
                  <a:cs typeface="Arial"/>
                  <a:sym typeface="Arial"/>
                </a:endParaRPr>
              </a:p>
            </p:txBody>
          </p:sp>
          <p:sp>
            <p:nvSpPr>
              <p:cNvPr id="4608" name="Google Shape;4608;p8"/>
              <p:cNvSpPr txBox="1"/>
              <p:nvPr/>
            </p:nvSpPr>
            <p:spPr>
              <a:xfrm>
                <a:off x="6995955" y="2620050"/>
                <a:ext cx="687689" cy="10772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00">
                    <a:solidFill>
                      <a:schemeClr val="dk2"/>
                    </a:solidFill>
                    <a:latin typeface="Arial"/>
                    <a:ea typeface="Arial"/>
                    <a:cs typeface="Arial"/>
                    <a:sym typeface="Arial"/>
                  </a:rPr>
                  <a:t>VMware vSphere</a:t>
                </a:r>
                <a:endParaRPr/>
              </a:p>
            </p:txBody>
          </p:sp>
          <p:pic>
            <p:nvPicPr>
              <p:cNvPr id="4609" name="Google Shape;4609;p8"/>
              <p:cNvPicPr preferRelativeResize="0"/>
              <p:nvPr/>
            </p:nvPicPr>
            <p:blipFill rotWithShape="1">
              <a:blip r:embed="rId3">
                <a:alphaModFix/>
              </a:blip>
              <a:srcRect/>
              <a:stretch/>
            </p:blipFill>
            <p:spPr>
              <a:xfrm>
                <a:off x="7223350" y="2410130"/>
                <a:ext cx="190500" cy="190500"/>
              </a:xfrm>
              <a:prstGeom prst="rect">
                <a:avLst/>
              </a:prstGeom>
              <a:noFill/>
              <a:ln>
                <a:noFill/>
              </a:ln>
            </p:spPr>
          </p:pic>
        </p:grpSp>
        <p:sp>
          <p:nvSpPr>
            <p:cNvPr id="4610" name="Google Shape;4610;p8"/>
            <p:cNvSpPr txBox="1"/>
            <p:nvPr/>
          </p:nvSpPr>
          <p:spPr>
            <a:xfrm>
              <a:off x="6874866" y="2978753"/>
              <a:ext cx="1075615" cy="123111"/>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800">
                  <a:solidFill>
                    <a:schemeClr val="dk1"/>
                  </a:solidFill>
                  <a:latin typeface="Arial"/>
                  <a:ea typeface="Arial"/>
                  <a:cs typeface="Arial"/>
                  <a:sym typeface="Arial"/>
                </a:rPr>
                <a:t>External Deployment(s)</a:t>
              </a:r>
              <a:endParaRPr/>
            </a:p>
          </p:txBody>
        </p:sp>
      </p:grpSp>
      <p:sp>
        <p:nvSpPr>
          <p:cNvPr id="4611" name="Google Shape;4611;p8"/>
          <p:cNvSpPr txBox="1"/>
          <p:nvPr/>
        </p:nvSpPr>
        <p:spPr>
          <a:xfrm>
            <a:off x="813167" y="1822322"/>
            <a:ext cx="1013400" cy="2862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000000"/>
              </a:buClr>
              <a:buSzPts val="1000"/>
              <a:buFont typeface="Arial"/>
              <a:buNone/>
            </a:pPr>
            <a:r>
              <a:rPr lang="en-US" sz="1000" b="1" u="none" strike="noStrike" cap="none">
                <a:solidFill>
                  <a:schemeClr val="dk1"/>
                </a:solidFill>
                <a:latin typeface="Arial"/>
                <a:ea typeface="Arial"/>
                <a:cs typeface="Arial"/>
                <a:sym typeface="Arial"/>
              </a:rPr>
              <a:t>VCF </a:t>
            </a:r>
            <a:r>
              <a:rPr lang="en-US" sz="1000" b="1">
                <a:solidFill>
                  <a:schemeClr val="dk1"/>
                </a:solidFill>
                <a:latin typeface="Arial"/>
                <a:ea typeface="Arial"/>
                <a:cs typeface="Arial"/>
                <a:sym typeface="Arial"/>
              </a:rPr>
              <a:t>9.0</a:t>
            </a:r>
            <a:endParaRPr sz="1000" b="1" u="none" strike="noStrike" cap="none">
              <a:solidFill>
                <a:schemeClr val="dk1"/>
              </a:solidFill>
              <a:latin typeface="Arial"/>
              <a:ea typeface="Arial"/>
              <a:cs typeface="Arial"/>
              <a:sym typeface="Arial"/>
            </a:endParaRPr>
          </a:p>
        </p:txBody>
      </p:sp>
      <p:grpSp>
        <p:nvGrpSpPr>
          <p:cNvPr id="4612" name="Google Shape;4612;p8"/>
          <p:cNvGrpSpPr/>
          <p:nvPr/>
        </p:nvGrpSpPr>
        <p:grpSpPr>
          <a:xfrm rot="-5400000">
            <a:off x="5193422" y="3830685"/>
            <a:ext cx="493806" cy="561037"/>
            <a:chOff x="6348869" y="2324845"/>
            <a:chExt cx="676253" cy="671971"/>
          </a:xfrm>
        </p:grpSpPr>
        <p:cxnSp>
          <p:nvCxnSpPr>
            <p:cNvPr id="4613" name="Google Shape;4613;p8"/>
            <p:cNvCxnSpPr/>
            <p:nvPr/>
          </p:nvCxnSpPr>
          <p:spPr>
            <a:xfrm rot="-5400000" flipH="1">
              <a:off x="6684905" y="2241379"/>
              <a:ext cx="4181" cy="676253"/>
            </a:xfrm>
            <a:prstGeom prst="straightConnector1">
              <a:avLst/>
            </a:prstGeom>
            <a:noFill/>
            <a:ln w="28575" cap="flat" cmpd="sng">
              <a:solidFill>
                <a:schemeClr val="accent2"/>
              </a:solidFill>
              <a:prstDash val="dot"/>
              <a:miter lim="800000"/>
              <a:headEnd type="none" w="sm" len="sm"/>
              <a:tailEnd type="none" w="sm" len="sm"/>
            </a:ln>
          </p:spPr>
        </p:cxnSp>
        <p:grpSp>
          <p:nvGrpSpPr>
            <p:cNvPr id="4614" name="Google Shape;4614;p8"/>
            <p:cNvGrpSpPr/>
            <p:nvPr/>
          </p:nvGrpSpPr>
          <p:grpSpPr>
            <a:xfrm>
              <a:off x="6504109" y="2324845"/>
              <a:ext cx="358659" cy="671971"/>
              <a:chOff x="5204605" y="2966074"/>
              <a:chExt cx="358659" cy="671971"/>
            </a:xfrm>
          </p:grpSpPr>
          <p:sp>
            <p:nvSpPr>
              <p:cNvPr id="4615" name="Google Shape;4615;p8"/>
              <p:cNvSpPr/>
              <p:nvPr/>
            </p:nvSpPr>
            <p:spPr>
              <a:xfrm>
                <a:off x="5206883" y="2966074"/>
                <a:ext cx="356381" cy="67197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grpSp>
            <p:nvGrpSpPr>
              <p:cNvPr id="4616" name="Google Shape;4616;p8"/>
              <p:cNvGrpSpPr/>
              <p:nvPr/>
            </p:nvGrpSpPr>
            <p:grpSpPr>
              <a:xfrm rot="5400000">
                <a:off x="5247675" y="3042969"/>
                <a:ext cx="270661" cy="356801"/>
                <a:chOff x="6912551" y="3380985"/>
                <a:chExt cx="291174" cy="392588"/>
              </a:xfrm>
            </p:grpSpPr>
            <p:sp>
              <p:nvSpPr>
                <p:cNvPr id="4617" name="Google Shape;4617;p8"/>
                <p:cNvSpPr/>
                <p:nvPr/>
              </p:nvSpPr>
              <p:spPr>
                <a:xfrm rot="5400000">
                  <a:off x="6974471" y="3544353"/>
                  <a:ext cx="167300" cy="291140"/>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24313"/>
                  </a:schemeClr>
                </a:solidFill>
                <a:ln>
                  <a:noFill/>
                </a:ln>
              </p:spPr>
              <p:txBody>
                <a:bodyPr spcFirstLastPara="1" wrap="square" lIns="91325" tIns="45625" rIns="9132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4618" name="Google Shape;4618;p8"/>
                <p:cNvSpPr/>
                <p:nvPr/>
              </p:nvSpPr>
              <p:spPr>
                <a:xfrm rot="5400000">
                  <a:off x="6974505" y="3431722"/>
                  <a:ext cx="167300" cy="291140"/>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alpha val="49411"/>
                  </a:schemeClr>
                </a:solidFill>
                <a:ln>
                  <a:noFill/>
                </a:ln>
              </p:spPr>
              <p:txBody>
                <a:bodyPr spcFirstLastPara="1" wrap="square" lIns="91325" tIns="45625" rIns="9132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4619" name="Google Shape;4619;p8"/>
                <p:cNvSpPr/>
                <p:nvPr/>
              </p:nvSpPr>
              <p:spPr>
                <a:xfrm rot="5400000">
                  <a:off x="6974471" y="3319066"/>
                  <a:ext cx="167303" cy="291140"/>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2"/>
                </a:solidFill>
                <a:ln>
                  <a:noFill/>
                </a:ln>
              </p:spPr>
              <p:txBody>
                <a:bodyPr spcFirstLastPara="1" wrap="square" lIns="91325" tIns="45625" rIns="9132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grpSp>
        </p:grpSp>
      </p:grpSp>
      <p:grpSp>
        <p:nvGrpSpPr>
          <p:cNvPr id="4620" name="Google Shape;4620;p8"/>
          <p:cNvGrpSpPr/>
          <p:nvPr/>
        </p:nvGrpSpPr>
        <p:grpSpPr>
          <a:xfrm>
            <a:off x="4504284" y="1870354"/>
            <a:ext cx="1769718" cy="1992085"/>
            <a:chOff x="4421988" y="2009401"/>
            <a:chExt cx="1769718" cy="1992085"/>
          </a:xfrm>
        </p:grpSpPr>
        <p:sp>
          <p:nvSpPr>
            <p:cNvPr id="4621" name="Google Shape;4621;p8"/>
            <p:cNvSpPr/>
            <p:nvPr/>
          </p:nvSpPr>
          <p:spPr>
            <a:xfrm>
              <a:off x="4421988" y="2009401"/>
              <a:ext cx="1769718" cy="199208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22" name="Google Shape;4622;p8"/>
            <p:cNvSpPr/>
            <p:nvPr/>
          </p:nvSpPr>
          <p:spPr>
            <a:xfrm>
              <a:off x="4472491" y="3444360"/>
              <a:ext cx="1661045" cy="491167"/>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4623" name="Google Shape;4623;p8"/>
            <p:cNvGrpSpPr/>
            <p:nvPr/>
          </p:nvGrpSpPr>
          <p:grpSpPr>
            <a:xfrm>
              <a:off x="5721290" y="3595879"/>
              <a:ext cx="283155" cy="283154"/>
              <a:chOff x="10722212" y="2531808"/>
              <a:chExt cx="663407" cy="663407"/>
            </a:xfrm>
          </p:grpSpPr>
          <p:sp>
            <p:nvSpPr>
              <p:cNvPr id="4624" name="Google Shape;4624;p8"/>
              <p:cNvSpPr/>
              <p:nvPr/>
            </p:nvSpPr>
            <p:spPr>
              <a:xfrm>
                <a:off x="10722212" y="253180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25" name="Google Shape;4625;p8"/>
              <p:cNvSpPr/>
              <p:nvPr/>
            </p:nvSpPr>
            <p:spPr>
              <a:xfrm>
                <a:off x="10836776" y="264748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26" name="Google Shape;4626;p8"/>
            <p:cNvGrpSpPr/>
            <p:nvPr/>
          </p:nvGrpSpPr>
          <p:grpSpPr>
            <a:xfrm>
              <a:off x="4576370" y="3595760"/>
              <a:ext cx="283155" cy="283154"/>
              <a:chOff x="572541" y="5277371"/>
              <a:chExt cx="663407" cy="663407"/>
            </a:xfrm>
          </p:grpSpPr>
          <p:sp>
            <p:nvSpPr>
              <p:cNvPr id="4627" name="Google Shape;4627;p8"/>
              <p:cNvSpPr/>
              <p:nvPr/>
            </p:nvSpPr>
            <p:spPr>
              <a:xfrm>
                <a:off x="572541" y="527737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28" name="Google Shape;4628;p8"/>
              <p:cNvSpPr/>
              <p:nvPr/>
            </p:nvSpPr>
            <p:spPr>
              <a:xfrm>
                <a:off x="699316" y="5428981"/>
                <a:ext cx="413205" cy="3766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29" name="Google Shape;4629;p8"/>
            <p:cNvGrpSpPr/>
            <p:nvPr/>
          </p:nvGrpSpPr>
          <p:grpSpPr>
            <a:xfrm>
              <a:off x="5144738" y="3595761"/>
              <a:ext cx="283155" cy="283154"/>
              <a:chOff x="9272259" y="5277371"/>
              <a:chExt cx="663407" cy="663407"/>
            </a:xfrm>
          </p:grpSpPr>
          <p:sp>
            <p:nvSpPr>
              <p:cNvPr id="4630" name="Google Shape;4630;p8"/>
              <p:cNvSpPr/>
              <p:nvPr/>
            </p:nvSpPr>
            <p:spPr>
              <a:xfrm>
                <a:off x="9272259" y="5277371"/>
                <a:ext cx="663407" cy="663407"/>
              </a:xfrm>
              <a:prstGeom prst="ellipse">
                <a:avLst/>
              </a:prstGeom>
              <a:gradFill>
                <a:gsLst>
                  <a:gs pos="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31" name="Google Shape;4631;p8"/>
              <p:cNvSpPr/>
              <p:nvPr/>
            </p:nvSpPr>
            <p:spPr>
              <a:xfrm>
                <a:off x="9436607" y="5401555"/>
                <a:ext cx="357985" cy="417084"/>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32" name="Google Shape;4632;p8"/>
            <p:cNvGrpSpPr/>
            <p:nvPr/>
          </p:nvGrpSpPr>
          <p:grpSpPr>
            <a:xfrm>
              <a:off x="4507602" y="2064343"/>
              <a:ext cx="1597075" cy="198035"/>
              <a:chOff x="4507602" y="2073203"/>
              <a:chExt cx="1597075" cy="198035"/>
            </a:xfrm>
          </p:grpSpPr>
          <p:sp>
            <p:nvSpPr>
              <p:cNvPr id="4633" name="Google Shape;4633;p8"/>
              <p:cNvSpPr/>
              <p:nvPr/>
            </p:nvSpPr>
            <p:spPr>
              <a:xfrm>
                <a:off x="4507602" y="2073203"/>
                <a:ext cx="1597075" cy="198035"/>
              </a:xfrm>
              <a:prstGeom prst="roundRect">
                <a:avLst>
                  <a:gd name="adj" fmla="val 50000"/>
                </a:avLst>
              </a:prstGeom>
              <a:solidFill>
                <a:schemeClr val="lt1"/>
              </a:solidFill>
              <a:ln w="25400" cap="flat" cmpd="sng">
                <a:gradFill>
                  <a:gsLst>
                    <a:gs pos="0">
                      <a:schemeClr val="accent2"/>
                    </a:gs>
                    <a:gs pos="74000">
                      <a:schemeClr val="accent5"/>
                    </a:gs>
                    <a:gs pos="83000">
                      <a:schemeClr val="accent5"/>
                    </a:gs>
                    <a:gs pos="100000">
                      <a:schemeClr val="accent3"/>
                    </a:gs>
                  </a:gsLst>
                  <a:lin ang="5400000" scaled="1"/>
                </a:gra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700" b="0" i="0" u="none" strike="noStrike" cap="none">
                    <a:solidFill>
                      <a:srgbClr val="000000"/>
                    </a:solidFill>
                    <a:latin typeface="Arial"/>
                    <a:ea typeface="Arial"/>
                    <a:cs typeface="Arial"/>
                    <a:sym typeface="Arial"/>
                  </a:rPr>
                  <a:t>       VMware Cloud Foundation</a:t>
                </a:r>
                <a:endParaRPr sz="700" b="0" i="0" u="none" strike="noStrike" cap="none">
                  <a:solidFill>
                    <a:srgbClr val="000000"/>
                  </a:solidFill>
                  <a:latin typeface="Arial"/>
                  <a:ea typeface="Arial"/>
                  <a:cs typeface="Arial"/>
                  <a:sym typeface="Arial"/>
                </a:endParaRPr>
              </a:p>
            </p:txBody>
          </p:sp>
          <p:pic>
            <p:nvPicPr>
              <p:cNvPr id="4634" name="Google Shape;4634;p8"/>
              <p:cNvPicPr preferRelativeResize="0"/>
              <p:nvPr/>
            </p:nvPicPr>
            <p:blipFill rotWithShape="1">
              <a:blip r:embed="rId4">
                <a:alphaModFix/>
              </a:blip>
              <a:srcRect/>
              <a:stretch/>
            </p:blipFill>
            <p:spPr>
              <a:xfrm>
                <a:off x="4647230" y="2085898"/>
                <a:ext cx="157608" cy="173213"/>
              </a:xfrm>
              <a:prstGeom prst="rect">
                <a:avLst/>
              </a:prstGeom>
              <a:noFill/>
              <a:ln>
                <a:noFill/>
              </a:ln>
            </p:spPr>
          </p:pic>
        </p:grpSp>
        <p:sp>
          <p:nvSpPr>
            <p:cNvPr id="4635" name="Google Shape;4635;p8"/>
            <p:cNvSpPr/>
            <p:nvPr/>
          </p:nvSpPr>
          <p:spPr>
            <a:xfrm>
              <a:off x="4476708" y="3222608"/>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650" b="1" i="0" u="none" strike="noStrike" cap="none">
                  <a:solidFill>
                    <a:srgbClr val="FFFFFF"/>
                  </a:solidFill>
                  <a:latin typeface="Arial"/>
                  <a:ea typeface="Arial"/>
                  <a:cs typeface="Arial"/>
                  <a:sym typeface="Arial"/>
                </a:rPr>
                <a:t>vCenter Server</a:t>
              </a:r>
              <a:endParaRPr sz="650" b="1" i="0" u="none" strike="noStrike" cap="none">
                <a:solidFill>
                  <a:srgbClr val="FFFFFF"/>
                </a:solidFill>
                <a:latin typeface="Arial"/>
                <a:ea typeface="Arial"/>
                <a:cs typeface="Arial"/>
                <a:sym typeface="Arial"/>
              </a:endParaRPr>
            </a:p>
          </p:txBody>
        </p:sp>
        <p:sp>
          <p:nvSpPr>
            <p:cNvPr id="4636" name="Google Shape;4636;p8"/>
            <p:cNvSpPr txBox="1"/>
            <p:nvPr/>
          </p:nvSpPr>
          <p:spPr>
            <a:xfrm>
              <a:off x="4924734" y="3468050"/>
              <a:ext cx="753411" cy="10002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5C8A"/>
                </a:buClr>
                <a:buSzPts val="650"/>
                <a:buFont typeface="Arial"/>
                <a:buNone/>
              </a:pPr>
              <a:r>
                <a:rPr lang="en-US" sz="650" b="1" i="0" u="none" strike="noStrike" cap="none">
                  <a:solidFill>
                    <a:srgbClr val="005C8A"/>
                  </a:solidFill>
                  <a:latin typeface="Arial"/>
                  <a:ea typeface="Arial"/>
                  <a:cs typeface="Arial"/>
                  <a:sym typeface="Arial"/>
                </a:rPr>
                <a:t>Core Infrastructure</a:t>
              </a:r>
              <a:endParaRPr/>
            </a:p>
          </p:txBody>
        </p:sp>
        <p:sp>
          <p:nvSpPr>
            <p:cNvPr id="4637" name="Google Shape;4637;p8"/>
            <p:cNvSpPr/>
            <p:nvPr/>
          </p:nvSpPr>
          <p:spPr>
            <a:xfrm>
              <a:off x="4476324" y="2514932"/>
              <a:ext cx="1662975"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650" b="1" i="0" u="none" strike="noStrike" cap="none">
                  <a:solidFill>
                    <a:srgbClr val="FFFFFF"/>
                  </a:solidFill>
                  <a:latin typeface="Arial"/>
                  <a:ea typeface="Arial"/>
                  <a:cs typeface="Arial"/>
                  <a:sym typeface="Arial"/>
                </a:rPr>
                <a:t>VCF Operations</a:t>
              </a:r>
              <a:endParaRPr sz="650" b="1" i="0" u="none" strike="noStrike" cap="none">
                <a:solidFill>
                  <a:srgbClr val="FFFFFF"/>
                </a:solidFill>
                <a:latin typeface="Arial"/>
                <a:ea typeface="Arial"/>
                <a:cs typeface="Arial"/>
                <a:sym typeface="Arial"/>
              </a:endParaRPr>
            </a:p>
          </p:txBody>
        </p:sp>
        <p:sp>
          <p:nvSpPr>
            <p:cNvPr id="4638" name="Google Shape;4638;p8"/>
            <p:cNvSpPr/>
            <p:nvPr/>
          </p:nvSpPr>
          <p:spPr>
            <a:xfrm>
              <a:off x="5322645" y="3220761"/>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650" b="1" i="0" u="none" strike="noStrike" cap="none">
                  <a:solidFill>
                    <a:srgbClr val="FFFFFF"/>
                  </a:solidFill>
                  <a:latin typeface="Arial"/>
                  <a:ea typeface="Arial"/>
                  <a:cs typeface="Arial"/>
                  <a:sym typeface="Arial"/>
                </a:rPr>
                <a:t>NSX Manager</a:t>
              </a:r>
              <a:endParaRPr sz="650" b="1" i="0" u="none" strike="noStrike" cap="none">
                <a:solidFill>
                  <a:srgbClr val="FFFFFF"/>
                </a:solidFill>
                <a:latin typeface="Arial"/>
                <a:ea typeface="Arial"/>
                <a:cs typeface="Arial"/>
                <a:sym typeface="Arial"/>
              </a:endParaRPr>
            </a:p>
          </p:txBody>
        </p:sp>
        <p:sp>
          <p:nvSpPr>
            <p:cNvPr id="4639" name="Google Shape;4639;p8"/>
            <p:cNvSpPr/>
            <p:nvPr/>
          </p:nvSpPr>
          <p:spPr>
            <a:xfrm>
              <a:off x="4478255" y="2320164"/>
              <a:ext cx="1661044" cy="144193"/>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650" b="1" i="0" u="none" strike="noStrike" cap="none">
                  <a:solidFill>
                    <a:srgbClr val="FFFFFF"/>
                  </a:solidFill>
                  <a:latin typeface="Arial"/>
                  <a:ea typeface="Arial"/>
                  <a:cs typeface="Arial"/>
                  <a:sym typeface="Arial"/>
                </a:rPr>
                <a:t>VCF Automation</a:t>
              </a:r>
              <a:endParaRPr sz="650" b="1" i="0" u="none" strike="noStrike" cap="none">
                <a:solidFill>
                  <a:srgbClr val="FFFFFF"/>
                </a:solidFill>
                <a:latin typeface="Arial"/>
                <a:ea typeface="Arial"/>
                <a:cs typeface="Arial"/>
                <a:sym typeface="Arial"/>
              </a:endParaRPr>
            </a:p>
          </p:txBody>
        </p:sp>
        <p:sp>
          <p:nvSpPr>
            <p:cNvPr id="4640" name="Google Shape;4640;p8"/>
            <p:cNvSpPr/>
            <p:nvPr/>
          </p:nvSpPr>
          <p:spPr>
            <a:xfrm>
              <a:off x="4950404" y="3050628"/>
              <a:ext cx="701104" cy="114350"/>
            </a:xfrm>
            <a:prstGeom prst="roundRect">
              <a:avLst>
                <a:gd name="adj" fmla="val 2356"/>
              </a:avLst>
            </a:prstGeom>
            <a:solidFill>
              <a:schemeClr val="lt1"/>
            </a:solidFill>
            <a:ln w="12700" cap="flat" cmpd="sng">
              <a:solidFill>
                <a:schemeClr val="accent5"/>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b="0" i="0" u="none" strike="noStrike" cap="none">
                  <a:solidFill>
                    <a:schemeClr val="accent5"/>
                  </a:solidFill>
                  <a:latin typeface="Arial"/>
                  <a:ea typeface="Arial"/>
                  <a:cs typeface="Arial"/>
                  <a:sym typeface="Arial"/>
                </a:rPr>
                <a:t>Cluster …N</a:t>
              </a:r>
              <a:endParaRPr sz="700" b="0" i="0" u="none" strike="noStrike" cap="none">
                <a:solidFill>
                  <a:schemeClr val="accent5"/>
                </a:solidFill>
                <a:latin typeface="Arial"/>
                <a:ea typeface="Arial"/>
                <a:cs typeface="Arial"/>
                <a:sym typeface="Arial"/>
              </a:endParaRPr>
            </a:p>
          </p:txBody>
        </p:sp>
        <p:sp>
          <p:nvSpPr>
            <p:cNvPr id="4641" name="Google Shape;4641;p8"/>
            <p:cNvSpPr/>
            <p:nvPr/>
          </p:nvSpPr>
          <p:spPr>
            <a:xfrm>
              <a:off x="4950404" y="2879251"/>
              <a:ext cx="701104" cy="114350"/>
            </a:xfrm>
            <a:prstGeom prst="roundRect">
              <a:avLst>
                <a:gd name="adj" fmla="val 2356"/>
              </a:avLst>
            </a:prstGeom>
            <a:solidFill>
              <a:schemeClr val="lt1"/>
            </a:solidFill>
            <a:ln w="12700" cap="flat" cmpd="sng">
              <a:solidFill>
                <a:schemeClr val="accent5"/>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a:solidFill>
                    <a:schemeClr val="accent5"/>
                  </a:solidFill>
                  <a:latin typeface="Arial"/>
                  <a:ea typeface="Arial"/>
                  <a:cs typeface="Arial"/>
                  <a:sym typeface="Arial"/>
                </a:rPr>
                <a:t>Cluster 2</a:t>
              </a:r>
              <a:endParaRPr sz="700" b="0" i="0" u="none" strike="noStrike" cap="none">
                <a:solidFill>
                  <a:schemeClr val="accent5"/>
                </a:solidFill>
                <a:latin typeface="Arial"/>
                <a:ea typeface="Arial"/>
                <a:cs typeface="Arial"/>
                <a:sym typeface="Arial"/>
              </a:endParaRPr>
            </a:p>
          </p:txBody>
        </p:sp>
        <p:sp>
          <p:nvSpPr>
            <p:cNvPr id="4642" name="Google Shape;4642;p8"/>
            <p:cNvSpPr/>
            <p:nvPr/>
          </p:nvSpPr>
          <p:spPr>
            <a:xfrm>
              <a:off x="4954117" y="2712054"/>
              <a:ext cx="701104" cy="114350"/>
            </a:xfrm>
            <a:prstGeom prst="roundRect">
              <a:avLst>
                <a:gd name="adj" fmla="val 2356"/>
              </a:avLst>
            </a:prstGeom>
            <a:solidFill>
              <a:schemeClr val="lt1"/>
            </a:solidFill>
            <a:ln w="12700" cap="flat" cmpd="sng">
              <a:solidFill>
                <a:schemeClr val="accent5"/>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b="0" i="0" u="none" strike="noStrike" cap="none">
                  <a:solidFill>
                    <a:schemeClr val="accent5"/>
                  </a:solidFill>
                  <a:latin typeface="Arial"/>
                  <a:ea typeface="Arial"/>
                  <a:cs typeface="Arial"/>
                  <a:sym typeface="Arial"/>
                </a:rPr>
                <a:t>Cluster 1</a:t>
              </a:r>
              <a:endParaRPr sz="700" b="0" i="0" u="none" strike="noStrike" cap="none">
                <a:solidFill>
                  <a:schemeClr val="accent5"/>
                </a:solidFill>
                <a:latin typeface="Arial"/>
                <a:ea typeface="Arial"/>
                <a:cs typeface="Arial"/>
                <a:sym typeface="Arial"/>
              </a:endParaRPr>
            </a:p>
          </p:txBody>
        </p:sp>
      </p:grpSp>
      <p:cxnSp>
        <p:nvCxnSpPr>
          <p:cNvPr id="4643" name="Google Shape;4643;p8"/>
          <p:cNvCxnSpPr/>
          <p:nvPr/>
        </p:nvCxnSpPr>
        <p:spPr>
          <a:xfrm rot="10800000" flipH="1">
            <a:off x="1531185" y="2460021"/>
            <a:ext cx="2960539" cy="11092"/>
          </a:xfrm>
          <a:prstGeom prst="straightConnector1">
            <a:avLst/>
          </a:prstGeom>
          <a:noFill/>
          <a:ln w="28575" cap="flat" cmpd="sng">
            <a:solidFill>
              <a:schemeClr val="accent2"/>
            </a:solidFill>
            <a:prstDash val="dot"/>
            <a:miter lim="800000"/>
            <a:headEnd type="none" w="sm" len="sm"/>
            <a:tailEnd type="none" w="sm" len="sm"/>
          </a:ln>
        </p:spPr>
      </p:cxnSp>
      <p:grpSp>
        <p:nvGrpSpPr>
          <p:cNvPr id="4644" name="Google Shape;4644;p8"/>
          <p:cNvGrpSpPr/>
          <p:nvPr/>
        </p:nvGrpSpPr>
        <p:grpSpPr>
          <a:xfrm>
            <a:off x="789826" y="2116947"/>
            <a:ext cx="753871" cy="701907"/>
            <a:chOff x="789824" y="2137115"/>
            <a:chExt cx="838569" cy="780768"/>
          </a:xfrm>
        </p:grpSpPr>
        <p:sp>
          <p:nvSpPr>
            <p:cNvPr id="4645" name="Google Shape;4645;p8"/>
            <p:cNvSpPr/>
            <p:nvPr/>
          </p:nvSpPr>
          <p:spPr>
            <a:xfrm>
              <a:off x="1335221" y="2383398"/>
              <a:ext cx="293172" cy="293172"/>
            </a:xfrm>
            <a:prstGeom prst="ellipse">
              <a:avLst/>
            </a:prstGeom>
            <a:solidFill>
              <a:srgbClr val="C2D6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46" name="Google Shape;4646;p8"/>
            <p:cNvSpPr/>
            <p:nvPr/>
          </p:nvSpPr>
          <p:spPr>
            <a:xfrm>
              <a:off x="1509151" y="2475529"/>
              <a:ext cx="92243" cy="118442"/>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lt1">
                <a:alpha val="84705"/>
              </a:schemeClr>
            </a:solidFill>
            <a:ln>
              <a:noFill/>
            </a:ln>
          </p:spPr>
          <p:txBody>
            <a:bodyPr spcFirstLastPara="1" wrap="square" lIns="91325" tIns="45625" rIns="9132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grpSp>
          <p:nvGrpSpPr>
            <p:cNvPr id="4647" name="Google Shape;4647;p8"/>
            <p:cNvGrpSpPr/>
            <p:nvPr/>
          </p:nvGrpSpPr>
          <p:grpSpPr>
            <a:xfrm>
              <a:off x="789824" y="2137115"/>
              <a:ext cx="711989" cy="780768"/>
              <a:chOff x="5217804" y="2760888"/>
              <a:chExt cx="1232879" cy="1351979"/>
            </a:xfrm>
          </p:grpSpPr>
          <p:sp>
            <p:nvSpPr>
              <p:cNvPr id="4648" name="Google Shape;4648;p8"/>
              <p:cNvSpPr/>
              <p:nvPr/>
            </p:nvSpPr>
            <p:spPr>
              <a:xfrm>
                <a:off x="5217804" y="2760889"/>
                <a:ext cx="1232878" cy="1232879"/>
              </a:xfrm>
              <a:prstGeom prst="ellipse">
                <a:avLst/>
              </a:prstGeom>
              <a:solidFill>
                <a:srgbClr val="FFFFFF"/>
              </a:solidFill>
              <a:ln w="12700" cap="flat" cmpd="sng">
                <a:solidFill>
                  <a:srgbClr val="D2D9E8"/>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649" name="Google Shape;4649;p8"/>
              <p:cNvSpPr/>
              <p:nvPr/>
            </p:nvSpPr>
            <p:spPr>
              <a:xfrm>
                <a:off x="5554580" y="2863157"/>
                <a:ext cx="852874" cy="640094"/>
              </a:xfrm>
              <a:custGeom>
                <a:avLst/>
                <a:gdLst/>
                <a:ahLst/>
                <a:cxnLst/>
                <a:rect l="l" t="t" r="r" b="b"/>
                <a:pathLst>
                  <a:path w="692813" h="519966" extrusionOk="0">
                    <a:moveTo>
                      <a:pt x="502652" y="0"/>
                    </a:moveTo>
                    <a:lnTo>
                      <a:pt x="507154" y="2444"/>
                    </a:lnTo>
                    <a:cubicBezTo>
                      <a:pt x="587075" y="56438"/>
                      <a:pt x="650570" y="132897"/>
                      <a:pt x="688579" y="222760"/>
                    </a:cubicBezTo>
                    <a:lnTo>
                      <a:pt x="692813" y="236400"/>
                    </a:lnTo>
                    <a:lnTo>
                      <a:pt x="418690" y="519966"/>
                    </a:lnTo>
                    <a:lnTo>
                      <a:pt x="0" y="519966"/>
                    </a:lnTo>
                    <a:lnTo>
                      <a:pt x="502652" y="0"/>
                    </a:lnTo>
                    <a:close/>
                  </a:path>
                </a:pathLst>
              </a:custGeom>
              <a:gradFill>
                <a:gsLst>
                  <a:gs pos="0">
                    <a:srgbClr val="0091DA">
                      <a:alpha val="34901"/>
                    </a:srgbClr>
                  </a:gs>
                  <a:gs pos="37000">
                    <a:srgbClr val="0091DA">
                      <a:alpha val="34901"/>
                    </a:srgbClr>
                  </a:gs>
                  <a:gs pos="98000">
                    <a:srgbClr val="0091DA">
                      <a:alpha val="0"/>
                    </a:srgbClr>
                  </a:gs>
                  <a:gs pos="100000">
                    <a:srgbClr val="0091DA">
                      <a:alpha val="0"/>
                    </a:srgbClr>
                  </a:gs>
                </a:gsLst>
                <a:lin ang="162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650" name="Google Shape;4650;p8"/>
              <p:cNvSpPr/>
              <p:nvPr/>
            </p:nvSpPr>
            <p:spPr>
              <a:xfrm>
                <a:off x="5217805" y="2760888"/>
                <a:ext cx="1232878" cy="1232879"/>
              </a:xfrm>
              <a:custGeom>
                <a:avLst/>
                <a:gdLst/>
                <a:ahLst/>
                <a:cxnLst/>
                <a:rect l="l" t="t" r="r" b="b"/>
                <a:pathLst>
                  <a:path w="1001500" h="1001502" extrusionOk="0">
                    <a:moveTo>
                      <a:pt x="500750" y="0"/>
                    </a:moveTo>
                    <a:cubicBezTo>
                      <a:pt x="569889" y="0"/>
                      <a:pt x="635756" y="14012"/>
                      <a:pt x="695665" y="39352"/>
                    </a:cubicBezTo>
                    <a:lnTo>
                      <a:pt x="776222" y="83076"/>
                    </a:lnTo>
                    <a:lnTo>
                      <a:pt x="273570" y="603042"/>
                    </a:lnTo>
                    <a:lnTo>
                      <a:pt x="692260" y="603042"/>
                    </a:lnTo>
                    <a:lnTo>
                      <a:pt x="966383" y="319476"/>
                    </a:lnTo>
                    <a:lnTo>
                      <a:pt x="991327" y="399832"/>
                    </a:lnTo>
                    <a:cubicBezTo>
                      <a:pt x="997997" y="432430"/>
                      <a:pt x="1001500" y="466182"/>
                      <a:pt x="1001500" y="500751"/>
                    </a:cubicBezTo>
                    <a:cubicBezTo>
                      <a:pt x="1001500" y="777308"/>
                      <a:pt x="777307" y="1001502"/>
                      <a:pt x="500750" y="1001502"/>
                    </a:cubicBezTo>
                    <a:cubicBezTo>
                      <a:pt x="224193" y="1001502"/>
                      <a:pt x="0" y="777308"/>
                      <a:pt x="0" y="500751"/>
                    </a:cubicBezTo>
                    <a:cubicBezTo>
                      <a:pt x="0" y="224194"/>
                      <a:pt x="224193" y="0"/>
                      <a:pt x="500750" y="0"/>
                    </a:cubicBezTo>
                    <a:close/>
                  </a:path>
                </a:pathLst>
              </a:custGeom>
              <a:gradFill>
                <a:gsLst>
                  <a:gs pos="0">
                    <a:srgbClr val="0091DA">
                      <a:alpha val="34901"/>
                    </a:srgbClr>
                  </a:gs>
                  <a:gs pos="37000">
                    <a:srgbClr val="0091DA">
                      <a:alpha val="34901"/>
                    </a:srgbClr>
                  </a:gs>
                  <a:gs pos="98000">
                    <a:srgbClr val="0091DA">
                      <a:alpha val="0"/>
                    </a:srgbClr>
                  </a:gs>
                  <a:gs pos="100000">
                    <a:srgbClr val="0091DA">
                      <a:alpha val="0"/>
                    </a:srgbClr>
                  </a:gs>
                </a:gsLst>
                <a:lin ang="16200000" scaled="0"/>
              </a:gradFill>
              <a:ln>
                <a:noFill/>
              </a:ln>
            </p:spPr>
            <p:txBody>
              <a:bodyPr spcFirstLastPara="1" wrap="square" lIns="109725" tIns="54850" rIns="109725" bIns="548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4651" name="Google Shape;4651;p8"/>
              <p:cNvSpPr/>
              <p:nvPr/>
            </p:nvSpPr>
            <p:spPr>
              <a:xfrm>
                <a:off x="5554578" y="2906663"/>
                <a:ext cx="878946" cy="698268"/>
              </a:xfrm>
              <a:custGeom>
                <a:avLst/>
                <a:gdLst/>
                <a:ahLst/>
                <a:cxnLst/>
                <a:rect l="l" t="t" r="r" b="b"/>
                <a:pathLst>
                  <a:path w="991617" h="787778" extrusionOk="0">
                    <a:moveTo>
                      <a:pt x="761546" y="0"/>
                    </a:moveTo>
                    <a:lnTo>
                      <a:pt x="811023" y="40822"/>
                    </a:lnTo>
                    <a:cubicBezTo>
                      <a:pt x="873949" y="103748"/>
                      <a:pt x="924873" y="178678"/>
                      <a:pt x="960065" y="261882"/>
                    </a:cubicBezTo>
                    <a:lnTo>
                      <a:pt x="991617" y="363525"/>
                    </a:lnTo>
                    <a:lnTo>
                      <a:pt x="581491" y="787778"/>
                    </a:lnTo>
                    <a:lnTo>
                      <a:pt x="0" y="787778"/>
                    </a:lnTo>
                    <a:lnTo>
                      <a:pt x="761546" y="0"/>
                    </a:lnTo>
                    <a:close/>
                  </a:path>
                </a:pathLst>
              </a:custGeom>
              <a:gradFill>
                <a:gsLst>
                  <a:gs pos="0">
                    <a:srgbClr val="4FC4FF"/>
                  </a:gs>
                  <a:gs pos="98000">
                    <a:srgbClr val="0091DA">
                      <a:alpha val="0"/>
                    </a:srgbClr>
                  </a:gs>
                  <a:gs pos="100000">
                    <a:srgbClr val="0091DA">
                      <a:alpha val="0"/>
                    </a:srgbClr>
                  </a:gs>
                </a:gsLst>
                <a:lin ang="189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pic>
            <p:nvPicPr>
              <p:cNvPr id="4652" name="Google Shape;4652;p8"/>
              <p:cNvPicPr preferRelativeResize="0"/>
              <p:nvPr/>
            </p:nvPicPr>
            <p:blipFill rotWithShape="1">
              <a:blip r:embed="rId5">
                <a:alphaModFix/>
              </a:blip>
              <a:srcRect/>
              <a:stretch/>
            </p:blipFill>
            <p:spPr>
              <a:xfrm>
                <a:off x="5219981" y="2773287"/>
                <a:ext cx="1220885" cy="1339580"/>
              </a:xfrm>
              <a:prstGeom prst="rect">
                <a:avLst/>
              </a:prstGeom>
              <a:noFill/>
              <a:ln>
                <a:noFill/>
              </a:ln>
            </p:spPr>
          </p:pic>
        </p:grpSp>
      </p:grpSp>
      <p:grpSp>
        <p:nvGrpSpPr>
          <p:cNvPr id="4653" name="Google Shape;4653;p8"/>
          <p:cNvGrpSpPr/>
          <p:nvPr/>
        </p:nvGrpSpPr>
        <p:grpSpPr>
          <a:xfrm>
            <a:off x="1862831" y="2153118"/>
            <a:ext cx="2291287" cy="1894764"/>
            <a:chOff x="4125471" y="2758052"/>
            <a:chExt cx="1445520" cy="1179893"/>
          </a:xfrm>
        </p:grpSpPr>
        <p:sp>
          <p:nvSpPr>
            <p:cNvPr id="4654" name="Google Shape;4654;p8"/>
            <p:cNvSpPr/>
            <p:nvPr/>
          </p:nvSpPr>
          <p:spPr>
            <a:xfrm>
              <a:off x="5070887" y="3796830"/>
              <a:ext cx="462334" cy="101211"/>
            </a:xfrm>
            <a:prstGeom prst="rect">
              <a:avLst/>
            </a:prstGeom>
            <a:solidFill>
              <a:srgbClr val="FCFEF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55" name="Google Shape;4655;p8"/>
            <p:cNvSpPr/>
            <p:nvPr/>
          </p:nvSpPr>
          <p:spPr>
            <a:xfrm>
              <a:off x="4125471" y="2758052"/>
              <a:ext cx="1445520" cy="1179893"/>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4656" name="Google Shape;4656;p8"/>
          <p:cNvGrpSpPr/>
          <p:nvPr/>
        </p:nvGrpSpPr>
        <p:grpSpPr>
          <a:xfrm>
            <a:off x="1893648" y="2193309"/>
            <a:ext cx="2230679" cy="1812913"/>
            <a:chOff x="1893636" y="2193300"/>
            <a:chExt cx="5440680" cy="4421739"/>
          </a:xfrm>
        </p:grpSpPr>
        <p:grpSp>
          <p:nvGrpSpPr>
            <p:cNvPr id="4657" name="Google Shape;4657;p8"/>
            <p:cNvGrpSpPr/>
            <p:nvPr/>
          </p:nvGrpSpPr>
          <p:grpSpPr>
            <a:xfrm>
              <a:off x="4491724" y="2431623"/>
              <a:ext cx="1769718" cy="1589964"/>
              <a:chOff x="4421988" y="4175451"/>
              <a:chExt cx="1769718" cy="1589964"/>
            </a:xfrm>
          </p:grpSpPr>
          <p:sp>
            <p:nvSpPr>
              <p:cNvPr id="4658" name="Google Shape;4658;p8"/>
              <p:cNvSpPr/>
              <p:nvPr/>
            </p:nvSpPr>
            <p:spPr>
              <a:xfrm>
                <a:off x="4421988" y="4175451"/>
                <a:ext cx="1769718" cy="1589964"/>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59" name="Google Shape;4659;p8"/>
              <p:cNvSpPr/>
              <p:nvPr/>
            </p:nvSpPr>
            <p:spPr>
              <a:xfrm>
                <a:off x="4472491" y="5224938"/>
                <a:ext cx="1661045" cy="491167"/>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4660" name="Google Shape;4660;p8"/>
              <p:cNvGrpSpPr/>
              <p:nvPr/>
            </p:nvGrpSpPr>
            <p:grpSpPr>
              <a:xfrm>
                <a:off x="5721290" y="5376457"/>
                <a:ext cx="283155" cy="283154"/>
                <a:chOff x="10722212" y="2476874"/>
                <a:chExt cx="663407" cy="663407"/>
              </a:xfrm>
            </p:grpSpPr>
            <p:sp>
              <p:nvSpPr>
                <p:cNvPr id="4661" name="Google Shape;4661;p8"/>
                <p:cNvSpPr/>
                <p:nvPr/>
              </p:nvSpPr>
              <p:spPr>
                <a:xfrm>
                  <a:off x="10722212" y="2476874"/>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62" name="Google Shape;4662;p8"/>
                <p:cNvSpPr/>
                <p:nvPr/>
              </p:nvSpPr>
              <p:spPr>
                <a:xfrm>
                  <a:off x="10836776" y="2592549"/>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63" name="Google Shape;4663;p8"/>
              <p:cNvGrpSpPr/>
              <p:nvPr/>
            </p:nvGrpSpPr>
            <p:grpSpPr>
              <a:xfrm>
                <a:off x="4576370" y="5376338"/>
                <a:ext cx="283155" cy="283154"/>
                <a:chOff x="572541" y="5222437"/>
                <a:chExt cx="663407" cy="663407"/>
              </a:xfrm>
            </p:grpSpPr>
            <p:sp>
              <p:nvSpPr>
                <p:cNvPr id="4664" name="Google Shape;4664;p8"/>
                <p:cNvSpPr/>
                <p:nvPr/>
              </p:nvSpPr>
              <p:spPr>
                <a:xfrm>
                  <a:off x="572541" y="5222437"/>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65" name="Google Shape;4665;p8"/>
                <p:cNvSpPr/>
                <p:nvPr/>
              </p:nvSpPr>
              <p:spPr>
                <a:xfrm>
                  <a:off x="699316" y="5374047"/>
                  <a:ext cx="413205" cy="3766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66" name="Google Shape;4666;p8"/>
              <p:cNvGrpSpPr/>
              <p:nvPr/>
            </p:nvGrpSpPr>
            <p:grpSpPr>
              <a:xfrm>
                <a:off x="5144738" y="5376339"/>
                <a:ext cx="283155" cy="283154"/>
                <a:chOff x="9272259" y="5222437"/>
                <a:chExt cx="663407" cy="663407"/>
              </a:xfrm>
            </p:grpSpPr>
            <p:sp>
              <p:nvSpPr>
                <p:cNvPr id="4667" name="Google Shape;4667;p8"/>
                <p:cNvSpPr/>
                <p:nvPr/>
              </p:nvSpPr>
              <p:spPr>
                <a:xfrm>
                  <a:off x="9272259" y="5222437"/>
                  <a:ext cx="663407" cy="663407"/>
                </a:xfrm>
                <a:prstGeom prst="ellipse">
                  <a:avLst/>
                </a:prstGeom>
                <a:gradFill>
                  <a:gsLst>
                    <a:gs pos="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68" name="Google Shape;4668;p8"/>
                <p:cNvSpPr/>
                <p:nvPr/>
              </p:nvSpPr>
              <p:spPr>
                <a:xfrm>
                  <a:off x="9436607" y="5346621"/>
                  <a:ext cx="357985" cy="417084"/>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69" name="Google Shape;4669;p8"/>
              <p:cNvGrpSpPr/>
              <p:nvPr/>
            </p:nvGrpSpPr>
            <p:grpSpPr>
              <a:xfrm>
                <a:off x="4507602" y="4234126"/>
                <a:ext cx="1597075" cy="198035"/>
                <a:chOff x="4507602" y="2073203"/>
                <a:chExt cx="1597075" cy="198035"/>
              </a:xfrm>
            </p:grpSpPr>
            <p:sp>
              <p:nvSpPr>
                <p:cNvPr id="4670" name="Google Shape;4670;p8"/>
                <p:cNvSpPr/>
                <p:nvPr/>
              </p:nvSpPr>
              <p:spPr>
                <a:xfrm>
                  <a:off x="4507602" y="2073203"/>
                  <a:ext cx="1597075" cy="198035"/>
                </a:xfrm>
                <a:prstGeom prst="roundRect">
                  <a:avLst>
                    <a:gd name="adj" fmla="val 50000"/>
                  </a:avLst>
                </a:prstGeom>
                <a:solidFill>
                  <a:schemeClr val="lt1"/>
                </a:solidFill>
                <a:ln w="25400" cap="flat" cmpd="sng">
                  <a:solidFill>
                    <a:srgbClr val="ECFCFF"/>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700" b="0" i="0" u="none" strike="noStrike" cap="none">
                      <a:solidFill>
                        <a:srgbClr val="000000"/>
                      </a:solidFill>
                      <a:latin typeface="Arial"/>
                      <a:ea typeface="Arial"/>
                      <a:cs typeface="Arial"/>
                      <a:sym typeface="Arial"/>
                    </a:rPr>
                    <a:t>       Workload Domain</a:t>
                  </a:r>
                  <a:endParaRPr sz="700" b="0" i="0" u="none" strike="noStrike" cap="none">
                    <a:solidFill>
                      <a:srgbClr val="000000"/>
                    </a:solidFill>
                    <a:latin typeface="Arial"/>
                    <a:ea typeface="Arial"/>
                    <a:cs typeface="Arial"/>
                    <a:sym typeface="Arial"/>
                  </a:endParaRPr>
                </a:p>
              </p:txBody>
            </p:sp>
            <p:pic>
              <p:nvPicPr>
                <p:cNvPr id="4671" name="Google Shape;4671;p8"/>
                <p:cNvPicPr preferRelativeResize="0"/>
                <p:nvPr/>
              </p:nvPicPr>
              <p:blipFill rotWithShape="1">
                <a:blip r:embed="rId4">
                  <a:alphaModFix/>
                </a:blip>
                <a:srcRect/>
                <a:stretch/>
              </p:blipFill>
              <p:spPr>
                <a:xfrm>
                  <a:off x="4647230" y="2085898"/>
                  <a:ext cx="157608" cy="173213"/>
                </a:xfrm>
                <a:prstGeom prst="rect">
                  <a:avLst/>
                </a:prstGeom>
                <a:noFill/>
                <a:ln>
                  <a:noFill/>
                </a:ln>
              </p:spPr>
            </p:pic>
          </p:grpSp>
          <p:sp>
            <p:nvSpPr>
              <p:cNvPr id="4672" name="Google Shape;4672;p8"/>
              <p:cNvSpPr/>
              <p:nvPr/>
            </p:nvSpPr>
            <p:spPr>
              <a:xfrm>
                <a:off x="4476708" y="5003186"/>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650" b="1" i="0" u="none" strike="noStrike" cap="none">
                    <a:solidFill>
                      <a:srgbClr val="FFFFFF"/>
                    </a:solidFill>
                    <a:latin typeface="Arial"/>
                    <a:ea typeface="Arial"/>
                    <a:cs typeface="Arial"/>
                    <a:sym typeface="Arial"/>
                  </a:rPr>
                  <a:t>vCenter Server</a:t>
                </a:r>
                <a:endParaRPr sz="650" b="1" i="0" u="none" strike="noStrike" cap="none">
                  <a:solidFill>
                    <a:srgbClr val="FFFFFF"/>
                  </a:solidFill>
                  <a:latin typeface="Arial"/>
                  <a:ea typeface="Arial"/>
                  <a:cs typeface="Arial"/>
                  <a:sym typeface="Arial"/>
                </a:endParaRPr>
              </a:p>
            </p:txBody>
          </p:sp>
          <p:sp>
            <p:nvSpPr>
              <p:cNvPr id="4673" name="Google Shape;4673;p8"/>
              <p:cNvSpPr txBox="1"/>
              <p:nvPr/>
            </p:nvSpPr>
            <p:spPr>
              <a:xfrm>
                <a:off x="4924734" y="5248628"/>
                <a:ext cx="753411" cy="10002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5C8A"/>
                  </a:buClr>
                  <a:buSzPts val="650"/>
                  <a:buFont typeface="Arial"/>
                  <a:buNone/>
                </a:pPr>
                <a:r>
                  <a:rPr lang="en-US" sz="650" b="1" i="0" u="none" strike="noStrike" cap="none">
                    <a:solidFill>
                      <a:srgbClr val="005C8A"/>
                    </a:solidFill>
                    <a:latin typeface="Arial"/>
                    <a:ea typeface="Arial"/>
                    <a:cs typeface="Arial"/>
                    <a:sym typeface="Arial"/>
                  </a:rPr>
                  <a:t>Core Infrastructure</a:t>
                </a:r>
                <a:endParaRPr/>
              </a:p>
            </p:txBody>
          </p:sp>
          <p:sp>
            <p:nvSpPr>
              <p:cNvPr id="4674" name="Google Shape;4674;p8"/>
              <p:cNvSpPr/>
              <p:nvPr/>
            </p:nvSpPr>
            <p:spPr>
              <a:xfrm>
                <a:off x="5322645" y="5001339"/>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650" b="1" i="0" u="none" strike="noStrike" cap="none">
                    <a:solidFill>
                      <a:srgbClr val="FFFFFF"/>
                    </a:solidFill>
                    <a:latin typeface="Arial"/>
                    <a:ea typeface="Arial"/>
                    <a:cs typeface="Arial"/>
                    <a:sym typeface="Arial"/>
                  </a:rPr>
                  <a:t>NSX Manager</a:t>
                </a:r>
                <a:endParaRPr sz="650" b="1" i="0" u="none" strike="noStrike" cap="none">
                  <a:solidFill>
                    <a:srgbClr val="FFFFFF"/>
                  </a:solidFill>
                  <a:latin typeface="Arial"/>
                  <a:ea typeface="Arial"/>
                  <a:cs typeface="Arial"/>
                  <a:sym typeface="Arial"/>
                </a:endParaRPr>
              </a:p>
            </p:txBody>
          </p:sp>
          <p:sp>
            <p:nvSpPr>
              <p:cNvPr id="4675" name="Google Shape;4675;p8"/>
              <p:cNvSpPr/>
              <p:nvPr/>
            </p:nvSpPr>
            <p:spPr>
              <a:xfrm>
                <a:off x="4950404" y="4831207"/>
                <a:ext cx="701104" cy="107876"/>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b="0" i="0" u="none" strike="noStrike" cap="none">
                    <a:solidFill>
                      <a:schemeClr val="accent2"/>
                    </a:solidFill>
                    <a:latin typeface="Arial"/>
                    <a:ea typeface="Arial"/>
                    <a:cs typeface="Arial"/>
                    <a:sym typeface="Arial"/>
                  </a:rPr>
                  <a:t>Cluster …N</a:t>
                </a:r>
                <a:endParaRPr sz="700" b="0" i="0" u="none" strike="noStrike" cap="none">
                  <a:solidFill>
                    <a:schemeClr val="accent2"/>
                  </a:solidFill>
                  <a:latin typeface="Arial"/>
                  <a:ea typeface="Arial"/>
                  <a:cs typeface="Arial"/>
                  <a:sym typeface="Arial"/>
                </a:endParaRPr>
              </a:p>
            </p:txBody>
          </p:sp>
          <p:sp>
            <p:nvSpPr>
              <p:cNvPr id="4676" name="Google Shape;4676;p8"/>
              <p:cNvSpPr/>
              <p:nvPr/>
            </p:nvSpPr>
            <p:spPr>
              <a:xfrm>
                <a:off x="4950404" y="4669209"/>
                <a:ext cx="701104" cy="107876"/>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a:solidFill>
                      <a:schemeClr val="accent2"/>
                    </a:solidFill>
                    <a:latin typeface="Arial"/>
                    <a:ea typeface="Arial"/>
                    <a:cs typeface="Arial"/>
                    <a:sym typeface="Arial"/>
                  </a:rPr>
                  <a:t>Cluster 2</a:t>
                </a:r>
                <a:endParaRPr sz="700" b="0" i="0" u="none" strike="noStrike" cap="none">
                  <a:solidFill>
                    <a:schemeClr val="accent2"/>
                  </a:solidFill>
                  <a:latin typeface="Arial"/>
                  <a:ea typeface="Arial"/>
                  <a:cs typeface="Arial"/>
                  <a:sym typeface="Arial"/>
                </a:endParaRPr>
              </a:p>
            </p:txBody>
          </p:sp>
          <p:sp>
            <p:nvSpPr>
              <p:cNvPr id="4677" name="Google Shape;4677;p8"/>
              <p:cNvSpPr/>
              <p:nvPr/>
            </p:nvSpPr>
            <p:spPr>
              <a:xfrm>
                <a:off x="4954117" y="4497323"/>
                <a:ext cx="701104" cy="107876"/>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b="0" i="0" u="none" strike="noStrike" cap="none">
                    <a:solidFill>
                      <a:schemeClr val="accent2"/>
                    </a:solidFill>
                    <a:latin typeface="Arial"/>
                    <a:ea typeface="Arial"/>
                    <a:cs typeface="Arial"/>
                    <a:sym typeface="Arial"/>
                  </a:rPr>
                  <a:t>Cluster 1</a:t>
                </a:r>
                <a:endParaRPr sz="700" b="0" i="0" u="none" strike="noStrike" cap="none">
                  <a:solidFill>
                    <a:schemeClr val="accent2"/>
                  </a:solidFill>
                  <a:latin typeface="Arial"/>
                  <a:ea typeface="Arial"/>
                  <a:cs typeface="Arial"/>
                  <a:sym typeface="Arial"/>
                </a:endParaRPr>
              </a:p>
            </p:txBody>
          </p:sp>
        </p:grpSp>
        <p:grpSp>
          <p:nvGrpSpPr>
            <p:cNvPr id="4678" name="Google Shape;4678;p8"/>
            <p:cNvGrpSpPr/>
            <p:nvPr/>
          </p:nvGrpSpPr>
          <p:grpSpPr>
            <a:xfrm>
              <a:off x="1893636" y="2193300"/>
              <a:ext cx="5440680" cy="4421739"/>
              <a:chOff x="6591807" y="841206"/>
              <a:chExt cx="8521977" cy="6925962"/>
            </a:xfrm>
          </p:grpSpPr>
          <p:pic>
            <p:nvPicPr>
              <p:cNvPr id="4679" name="Google Shape;4679;p8"/>
              <p:cNvPicPr preferRelativeResize="0"/>
              <p:nvPr/>
            </p:nvPicPr>
            <p:blipFill rotWithShape="1">
              <a:blip r:embed="rId6">
                <a:alphaModFix/>
              </a:blip>
              <a:srcRect/>
              <a:stretch/>
            </p:blipFill>
            <p:spPr>
              <a:xfrm>
                <a:off x="6591810" y="1377417"/>
                <a:ext cx="744093" cy="6389751"/>
              </a:xfrm>
              <a:prstGeom prst="rect">
                <a:avLst/>
              </a:prstGeom>
              <a:noFill/>
              <a:ln>
                <a:noFill/>
              </a:ln>
            </p:spPr>
          </p:pic>
          <p:pic>
            <p:nvPicPr>
              <p:cNvPr id="4680" name="Google Shape;4680;p8"/>
              <p:cNvPicPr preferRelativeResize="0"/>
              <p:nvPr/>
            </p:nvPicPr>
            <p:blipFill rotWithShape="1">
              <a:blip r:embed="rId7">
                <a:alphaModFix/>
              </a:blip>
              <a:srcRect/>
              <a:stretch/>
            </p:blipFill>
            <p:spPr>
              <a:xfrm>
                <a:off x="6591807" y="841206"/>
                <a:ext cx="5597017" cy="581026"/>
              </a:xfrm>
              <a:prstGeom prst="rect">
                <a:avLst/>
              </a:prstGeom>
              <a:noFill/>
              <a:ln>
                <a:noFill/>
              </a:ln>
            </p:spPr>
          </p:pic>
          <p:pic>
            <p:nvPicPr>
              <p:cNvPr id="4681" name="Google Shape;4681;p8"/>
              <p:cNvPicPr preferRelativeResize="0"/>
              <p:nvPr/>
            </p:nvPicPr>
            <p:blipFill rotWithShape="1">
              <a:blip r:embed="rId8">
                <a:alphaModFix/>
              </a:blip>
              <a:srcRect/>
              <a:stretch/>
            </p:blipFill>
            <p:spPr>
              <a:xfrm>
                <a:off x="12188825" y="852305"/>
                <a:ext cx="2924959" cy="571500"/>
              </a:xfrm>
              <a:prstGeom prst="rect">
                <a:avLst/>
              </a:prstGeom>
              <a:noFill/>
              <a:ln>
                <a:noFill/>
              </a:ln>
            </p:spPr>
          </p:pic>
          <p:pic>
            <p:nvPicPr>
              <p:cNvPr id="4682" name="Google Shape;4682;p8"/>
              <p:cNvPicPr preferRelativeResize="0"/>
              <p:nvPr/>
            </p:nvPicPr>
            <p:blipFill rotWithShape="1">
              <a:blip r:embed="rId9">
                <a:alphaModFix/>
              </a:blip>
              <a:srcRect/>
              <a:stretch/>
            </p:blipFill>
            <p:spPr>
              <a:xfrm>
                <a:off x="7335903" y="1429616"/>
                <a:ext cx="7772400" cy="6332631"/>
              </a:xfrm>
              <a:prstGeom prst="rect">
                <a:avLst/>
              </a:prstGeom>
              <a:noFill/>
              <a:ln>
                <a:noFill/>
              </a:ln>
            </p:spPr>
          </p:pic>
        </p:grpSp>
      </p:grpSp>
      <p:pic>
        <p:nvPicPr>
          <p:cNvPr id="4683" name="Google Shape;4683;p8"/>
          <p:cNvPicPr preferRelativeResize="0"/>
          <p:nvPr/>
        </p:nvPicPr>
        <p:blipFill rotWithShape="1">
          <a:blip r:embed="rId10">
            <a:alphaModFix/>
          </a:blip>
          <a:srcRect/>
          <a:stretch/>
        </p:blipFill>
        <p:spPr>
          <a:xfrm>
            <a:off x="1889437" y="2198525"/>
            <a:ext cx="2232744" cy="1819996"/>
          </a:xfrm>
          <a:prstGeom prst="rect">
            <a:avLst/>
          </a:prstGeom>
          <a:noFill/>
          <a:ln>
            <a:noFill/>
          </a:ln>
        </p:spPr>
      </p:pic>
      <p:grpSp>
        <p:nvGrpSpPr>
          <p:cNvPr id="4684" name="Google Shape;4684;p8"/>
          <p:cNvGrpSpPr/>
          <p:nvPr/>
        </p:nvGrpSpPr>
        <p:grpSpPr>
          <a:xfrm>
            <a:off x="4491724" y="4371257"/>
            <a:ext cx="1769718" cy="1589964"/>
            <a:chOff x="4421988" y="4175451"/>
            <a:chExt cx="1769718" cy="1589964"/>
          </a:xfrm>
        </p:grpSpPr>
        <p:sp>
          <p:nvSpPr>
            <p:cNvPr id="4685" name="Google Shape;4685;p8"/>
            <p:cNvSpPr/>
            <p:nvPr/>
          </p:nvSpPr>
          <p:spPr>
            <a:xfrm>
              <a:off x="4421988" y="4175451"/>
              <a:ext cx="1769718" cy="1589964"/>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86" name="Google Shape;4686;p8"/>
            <p:cNvSpPr/>
            <p:nvPr/>
          </p:nvSpPr>
          <p:spPr>
            <a:xfrm>
              <a:off x="4472491" y="5224938"/>
              <a:ext cx="1661045" cy="491167"/>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a:ea typeface="Arial"/>
                <a:cs typeface="Arial"/>
                <a:sym typeface="Arial"/>
              </a:endParaRPr>
            </a:p>
          </p:txBody>
        </p:sp>
        <p:grpSp>
          <p:nvGrpSpPr>
            <p:cNvPr id="4687" name="Google Shape;4687;p8"/>
            <p:cNvGrpSpPr/>
            <p:nvPr/>
          </p:nvGrpSpPr>
          <p:grpSpPr>
            <a:xfrm>
              <a:off x="5721290" y="5376457"/>
              <a:ext cx="283155" cy="283154"/>
              <a:chOff x="10722212" y="2476874"/>
              <a:chExt cx="663407" cy="663407"/>
            </a:xfrm>
          </p:grpSpPr>
          <p:sp>
            <p:nvSpPr>
              <p:cNvPr id="4688" name="Google Shape;4688;p8"/>
              <p:cNvSpPr/>
              <p:nvPr/>
            </p:nvSpPr>
            <p:spPr>
              <a:xfrm>
                <a:off x="10722212" y="2476874"/>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89" name="Google Shape;4689;p8"/>
              <p:cNvSpPr/>
              <p:nvPr/>
            </p:nvSpPr>
            <p:spPr>
              <a:xfrm>
                <a:off x="10836776" y="2592549"/>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90" name="Google Shape;4690;p8"/>
            <p:cNvGrpSpPr/>
            <p:nvPr/>
          </p:nvGrpSpPr>
          <p:grpSpPr>
            <a:xfrm>
              <a:off x="4576370" y="5376338"/>
              <a:ext cx="283155" cy="283154"/>
              <a:chOff x="572541" y="5222437"/>
              <a:chExt cx="663407" cy="663407"/>
            </a:xfrm>
          </p:grpSpPr>
          <p:sp>
            <p:nvSpPr>
              <p:cNvPr id="4691" name="Google Shape;4691;p8"/>
              <p:cNvSpPr/>
              <p:nvPr/>
            </p:nvSpPr>
            <p:spPr>
              <a:xfrm>
                <a:off x="572541" y="5222437"/>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92" name="Google Shape;4692;p8"/>
              <p:cNvSpPr/>
              <p:nvPr/>
            </p:nvSpPr>
            <p:spPr>
              <a:xfrm>
                <a:off x="699316" y="5374047"/>
                <a:ext cx="413205" cy="3766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93" name="Google Shape;4693;p8"/>
            <p:cNvGrpSpPr/>
            <p:nvPr/>
          </p:nvGrpSpPr>
          <p:grpSpPr>
            <a:xfrm>
              <a:off x="5144738" y="5376339"/>
              <a:ext cx="283155" cy="283154"/>
              <a:chOff x="9272259" y="5222437"/>
              <a:chExt cx="663407" cy="663407"/>
            </a:xfrm>
          </p:grpSpPr>
          <p:sp>
            <p:nvSpPr>
              <p:cNvPr id="4694" name="Google Shape;4694;p8"/>
              <p:cNvSpPr/>
              <p:nvPr/>
            </p:nvSpPr>
            <p:spPr>
              <a:xfrm>
                <a:off x="9272259" y="5222437"/>
                <a:ext cx="663407" cy="663407"/>
              </a:xfrm>
              <a:prstGeom prst="ellipse">
                <a:avLst/>
              </a:prstGeom>
              <a:gradFill>
                <a:gsLst>
                  <a:gs pos="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695" name="Google Shape;4695;p8"/>
              <p:cNvSpPr/>
              <p:nvPr/>
            </p:nvSpPr>
            <p:spPr>
              <a:xfrm>
                <a:off x="9436607" y="5346621"/>
                <a:ext cx="357985" cy="417084"/>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96" name="Google Shape;4696;p8"/>
            <p:cNvGrpSpPr/>
            <p:nvPr/>
          </p:nvGrpSpPr>
          <p:grpSpPr>
            <a:xfrm>
              <a:off x="4507602" y="4234126"/>
              <a:ext cx="1597075" cy="198035"/>
              <a:chOff x="4507602" y="2073203"/>
              <a:chExt cx="1597075" cy="198035"/>
            </a:xfrm>
          </p:grpSpPr>
          <p:sp>
            <p:nvSpPr>
              <p:cNvPr id="4697" name="Google Shape;4697;p8"/>
              <p:cNvSpPr/>
              <p:nvPr/>
            </p:nvSpPr>
            <p:spPr>
              <a:xfrm>
                <a:off x="4507602" y="2073203"/>
                <a:ext cx="1597075" cy="198035"/>
              </a:xfrm>
              <a:prstGeom prst="roundRect">
                <a:avLst>
                  <a:gd name="adj" fmla="val 50000"/>
                </a:avLst>
              </a:prstGeom>
              <a:solidFill>
                <a:schemeClr val="lt1"/>
              </a:solidFill>
              <a:ln w="25400" cap="flat" cmpd="sng">
                <a:gradFill>
                  <a:gsLst>
                    <a:gs pos="0">
                      <a:schemeClr val="accent2"/>
                    </a:gs>
                    <a:gs pos="74000">
                      <a:schemeClr val="accent5"/>
                    </a:gs>
                    <a:gs pos="83000">
                      <a:schemeClr val="accent5"/>
                    </a:gs>
                    <a:gs pos="100000">
                      <a:schemeClr val="accent3"/>
                    </a:gs>
                  </a:gsLst>
                  <a:lin ang="5400000" scaled="1"/>
                </a:gra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700" b="0" i="0" u="none" strike="noStrike" cap="none">
                    <a:solidFill>
                      <a:srgbClr val="000000"/>
                    </a:solidFill>
                    <a:latin typeface="Arial"/>
                    <a:ea typeface="Arial"/>
                    <a:cs typeface="Arial"/>
                    <a:sym typeface="Arial"/>
                  </a:rPr>
                  <a:t>       Workload Domain</a:t>
                </a:r>
                <a:endParaRPr sz="700" b="0" i="0" u="none" strike="noStrike" cap="none">
                  <a:solidFill>
                    <a:srgbClr val="000000"/>
                  </a:solidFill>
                  <a:latin typeface="Arial"/>
                  <a:ea typeface="Arial"/>
                  <a:cs typeface="Arial"/>
                  <a:sym typeface="Arial"/>
                </a:endParaRPr>
              </a:p>
            </p:txBody>
          </p:sp>
          <p:pic>
            <p:nvPicPr>
              <p:cNvPr id="4698" name="Google Shape;4698;p8"/>
              <p:cNvPicPr preferRelativeResize="0"/>
              <p:nvPr/>
            </p:nvPicPr>
            <p:blipFill rotWithShape="1">
              <a:blip r:embed="rId4">
                <a:alphaModFix/>
              </a:blip>
              <a:srcRect/>
              <a:stretch/>
            </p:blipFill>
            <p:spPr>
              <a:xfrm>
                <a:off x="4647230" y="2085898"/>
                <a:ext cx="157608" cy="173213"/>
              </a:xfrm>
              <a:prstGeom prst="rect">
                <a:avLst/>
              </a:prstGeom>
              <a:noFill/>
              <a:ln>
                <a:noFill/>
              </a:ln>
            </p:spPr>
          </p:pic>
        </p:grpSp>
        <p:sp>
          <p:nvSpPr>
            <p:cNvPr id="4699" name="Google Shape;4699;p8"/>
            <p:cNvSpPr/>
            <p:nvPr/>
          </p:nvSpPr>
          <p:spPr>
            <a:xfrm>
              <a:off x="4476708" y="5003186"/>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650" b="1" i="0" u="none" strike="noStrike" cap="none">
                  <a:solidFill>
                    <a:srgbClr val="FFFFFF"/>
                  </a:solidFill>
                  <a:latin typeface="Arial"/>
                  <a:ea typeface="Arial"/>
                  <a:cs typeface="Arial"/>
                  <a:sym typeface="Arial"/>
                </a:rPr>
                <a:t>vCenter Server</a:t>
              </a:r>
              <a:endParaRPr sz="650" b="1" i="0" u="none" strike="noStrike" cap="none">
                <a:solidFill>
                  <a:srgbClr val="FFFFFF"/>
                </a:solidFill>
                <a:latin typeface="Arial"/>
                <a:ea typeface="Arial"/>
                <a:cs typeface="Arial"/>
                <a:sym typeface="Arial"/>
              </a:endParaRPr>
            </a:p>
          </p:txBody>
        </p:sp>
        <p:sp>
          <p:nvSpPr>
            <p:cNvPr id="4700" name="Google Shape;4700;p8"/>
            <p:cNvSpPr txBox="1"/>
            <p:nvPr/>
          </p:nvSpPr>
          <p:spPr>
            <a:xfrm>
              <a:off x="4924734" y="5248628"/>
              <a:ext cx="753411" cy="10002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5C8A"/>
                </a:buClr>
                <a:buSzPts val="650"/>
                <a:buFont typeface="Arial"/>
                <a:buNone/>
              </a:pPr>
              <a:r>
                <a:rPr lang="en-US" sz="650" b="1" i="0" u="none" strike="noStrike" cap="none">
                  <a:solidFill>
                    <a:srgbClr val="005C8A"/>
                  </a:solidFill>
                  <a:latin typeface="Arial"/>
                  <a:ea typeface="Arial"/>
                  <a:cs typeface="Arial"/>
                  <a:sym typeface="Arial"/>
                </a:rPr>
                <a:t>Core Infrastructure</a:t>
              </a:r>
              <a:endParaRPr/>
            </a:p>
          </p:txBody>
        </p:sp>
        <p:sp>
          <p:nvSpPr>
            <p:cNvPr id="4701" name="Google Shape;4701;p8"/>
            <p:cNvSpPr/>
            <p:nvPr/>
          </p:nvSpPr>
          <p:spPr>
            <a:xfrm>
              <a:off x="5322645" y="5001339"/>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650" b="1" i="0" u="none" strike="noStrike" cap="none">
                  <a:solidFill>
                    <a:srgbClr val="FFFFFF"/>
                  </a:solidFill>
                  <a:latin typeface="Arial"/>
                  <a:ea typeface="Arial"/>
                  <a:cs typeface="Arial"/>
                  <a:sym typeface="Arial"/>
                </a:rPr>
                <a:t>NSX Manager</a:t>
              </a:r>
              <a:endParaRPr sz="650" b="1" i="0" u="none" strike="noStrike" cap="none">
                <a:solidFill>
                  <a:srgbClr val="FFFFFF"/>
                </a:solidFill>
                <a:latin typeface="Arial"/>
                <a:ea typeface="Arial"/>
                <a:cs typeface="Arial"/>
                <a:sym typeface="Arial"/>
              </a:endParaRPr>
            </a:p>
          </p:txBody>
        </p:sp>
        <p:sp>
          <p:nvSpPr>
            <p:cNvPr id="4702" name="Google Shape;4702;p8"/>
            <p:cNvSpPr/>
            <p:nvPr/>
          </p:nvSpPr>
          <p:spPr>
            <a:xfrm>
              <a:off x="4950404" y="4831207"/>
              <a:ext cx="701104" cy="107876"/>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b="0" i="0" u="none" strike="noStrike" cap="none">
                  <a:solidFill>
                    <a:schemeClr val="accent2"/>
                  </a:solidFill>
                  <a:latin typeface="Arial"/>
                  <a:ea typeface="Arial"/>
                  <a:cs typeface="Arial"/>
                  <a:sym typeface="Arial"/>
                </a:rPr>
                <a:t>Cluster …N</a:t>
              </a:r>
              <a:endParaRPr sz="700" b="0" i="0" u="none" strike="noStrike" cap="none">
                <a:solidFill>
                  <a:schemeClr val="accent2"/>
                </a:solidFill>
                <a:latin typeface="Arial"/>
                <a:ea typeface="Arial"/>
                <a:cs typeface="Arial"/>
                <a:sym typeface="Arial"/>
              </a:endParaRPr>
            </a:p>
          </p:txBody>
        </p:sp>
        <p:sp>
          <p:nvSpPr>
            <p:cNvPr id="4703" name="Google Shape;4703;p8"/>
            <p:cNvSpPr/>
            <p:nvPr/>
          </p:nvSpPr>
          <p:spPr>
            <a:xfrm>
              <a:off x="4950404" y="4669209"/>
              <a:ext cx="701104" cy="107876"/>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a:solidFill>
                    <a:schemeClr val="accent2"/>
                  </a:solidFill>
                  <a:latin typeface="Arial"/>
                  <a:ea typeface="Arial"/>
                  <a:cs typeface="Arial"/>
                  <a:sym typeface="Arial"/>
                </a:rPr>
                <a:t>Cluster 2</a:t>
              </a:r>
              <a:endParaRPr sz="700" b="0" i="0" u="none" strike="noStrike" cap="none">
                <a:solidFill>
                  <a:schemeClr val="accent2"/>
                </a:solidFill>
                <a:latin typeface="Arial"/>
                <a:ea typeface="Arial"/>
                <a:cs typeface="Arial"/>
                <a:sym typeface="Arial"/>
              </a:endParaRPr>
            </a:p>
          </p:txBody>
        </p:sp>
        <p:sp>
          <p:nvSpPr>
            <p:cNvPr id="4704" name="Google Shape;4704;p8"/>
            <p:cNvSpPr/>
            <p:nvPr/>
          </p:nvSpPr>
          <p:spPr>
            <a:xfrm>
              <a:off x="4954117" y="4497323"/>
              <a:ext cx="701104" cy="107876"/>
            </a:xfrm>
            <a:prstGeom prst="roundRect">
              <a:avLst>
                <a:gd name="adj" fmla="val 2356"/>
              </a:avLst>
            </a:prstGeom>
            <a:solidFill>
              <a:schemeClr val="lt1"/>
            </a:solidFill>
            <a:ln w="127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700" b="0" i="0" u="none" strike="noStrike" cap="none">
                  <a:solidFill>
                    <a:schemeClr val="accent2"/>
                  </a:solidFill>
                  <a:latin typeface="Arial"/>
                  <a:ea typeface="Arial"/>
                  <a:cs typeface="Arial"/>
                  <a:sym typeface="Arial"/>
                </a:rPr>
                <a:t>Cluster 1</a:t>
              </a:r>
              <a:endParaRPr sz="700" b="0" i="0" u="none" strike="noStrike" cap="none">
                <a:solidFill>
                  <a:schemeClr val="accent2"/>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683"/>
                                        </p:tgtEl>
                                      </p:cBhvr>
                                    </p:animEffect>
                                    <p:set>
                                      <p:cBhvr>
                                        <p:cTn id="7" dur="1" fill="hold">
                                          <p:stCondLst>
                                            <p:cond delay="500"/>
                                          </p:stCondLst>
                                        </p:cTn>
                                        <p:tgtEl>
                                          <p:spTgt spid="4683"/>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4643"/>
                                        </p:tgtEl>
                                        <p:attrNameLst>
                                          <p:attrName>style.visibility</p:attrName>
                                        </p:attrNameLst>
                                      </p:cBhvr>
                                      <p:to>
                                        <p:strVal val="visible"/>
                                      </p:to>
                                    </p:set>
                                    <p:animEffect transition="in" filter="fade">
                                      <p:cBhvr>
                                        <p:cTn id="10" dur="500"/>
                                        <p:tgtEl>
                                          <p:spTgt spid="4643"/>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4602"/>
                                        </p:tgtEl>
                                        <p:attrNameLst>
                                          <p:attrName>style.visibility</p:attrName>
                                        </p:attrNameLst>
                                      </p:cBhvr>
                                      <p:to>
                                        <p:strVal val="visible"/>
                                      </p:to>
                                    </p:set>
                                    <p:animEffect transition="in" filter="fade">
                                      <p:cBhvr>
                                        <p:cTn id="14" dur="500"/>
                                        <p:tgtEl>
                                          <p:spTgt spid="4602"/>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4594"/>
                                        </p:tgtEl>
                                        <p:attrNameLst>
                                          <p:attrName>style.visibility</p:attrName>
                                        </p:attrNameLst>
                                      </p:cBhvr>
                                      <p:to>
                                        <p:strVal val="visible"/>
                                      </p:to>
                                    </p:set>
                                    <p:animEffect transition="in" filter="fade">
                                      <p:cBhvr>
                                        <p:cTn id="18" dur="500"/>
                                        <p:tgtEl>
                                          <p:spTgt spid="459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4602"/>
                                        </p:tgtEl>
                                      </p:cBhvr>
                                    </p:animEffect>
                                    <p:set>
                                      <p:cBhvr>
                                        <p:cTn id="23" dur="1" fill="hold">
                                          <p:stCondLst>
                                            <p:cond delay="500"/>
                                          </p:stCondLst>
                                        </p:cTn>
                                        <p:tgtEl>
                                          <p:spTgt spid="4602"/>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4594"/>
                                        </p:tgtEl>
                                      </p:cBhvr>
                                    </p:animEffect>
                                    <p:set>
                                      <p:cBhvr>
                                        <p:cTn id="26" dur="1" fill="hold">
                                          <p:stCondLst>
                                            <p:cond delay="500"/>
                                          </p:stCondLst>
                                        </p:cTn>
                                        <p:tgtEl>
                                          <p:spTgt spid="4594"/>
                                        </p:tgtEl>
                                        <p:attrNameLst>
                                          <p:attrName>style.visibility</p:attrName>
                                        </p:attrNameLst>
                                      </p:cBhvr>
                                      <p:to>
                                        <p:strVal val="hidden"/>
                                      </p:to>
                                    </p:se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4612"/>
                                        </p:tgtEl>
                                        <p:attrNameLst>
                                          <p:attrName>style.visibility</p:attrName>
                                        </p:attrNameLst>
                                      </p:cBhvr>
                                      <p:to>
                                        <p:strVal val="visible"/>
                                      </p:to>
                                    </p:set>
                                    <p:animEffect transition="in" filter="fade">
                                      <p:cBhvr>
                                        <p:cTn id="30" dur="500"/>
                                        <p:tgtEl>
                                          <p:spTgt spid="4612"/>
                                        </p:tgtEl>
                                      </p:cBhvr>
                                    </p:animEffect>
                                  </p:childTnLst>
                                </p:cTn>
                              </p:par>
                              <p:par>
                                <p:cTn id="31" presetID="10" presetClass="entr" presetSubtype="0" fill="hold" nodeType="withEffect">
                                  <p:stCondLst>
                                    <p:cond delay="0"/>
                                  </p:stCondLst>
                                  <p:childTnLst>
                                    <p:set>
                                      <p:cBhvr>
                                        <p:cTn id="32" dur="1" fill="hold">
                                          <p:stCondLst>
                                            <p:cond delay="0"/>
                                          </p:stCondLst>
                                        </p:cTn>
                                        <p:tgtEl>
                                          <p:spTgt spid="4684"/>
                                        </p:tgtEl>
                                        <p:attrNameLst>
                                          <p:attrName>style.visibility</p:attrName>
                                        </p:attrNameLst>
                                      </p:cBhvr>
                                      <p:to>
                                        <p:strVal val="visible"/>
                                      </p:to>
                                    </p:set>
                                    <p:animEffect transition="in" filter="fade">
                                      <p:cBhvr>
                                        <p:cTn id="33" dur="500"/>
                                        <p:tgtEl>
                                          <p:spTgt spid="4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09"/>
        <p:cNvGrpSpPr/>
        <p:nvPr/>
      </p:nvGrpSpPr>
      <p:grpSpPr>
        <a:xfrm>
          <a:off x="0" y="0"/>
          <a:ext cx="0" cy="0"/>
          <a:chOff x="0" y="0"/>
          <a:chExt cx="0" cy="0"/>
        </a:xfrm>
      </p:grpSpPr>
      <p:grpSp>
        <p:nvGrpSpPr>
          <p:cNvPr id="4710" name="Google Shape;4710;p9"/>
          <p:cNvGrpSpPr/>
          <p:nvPr/>
        </p:nvGrpSpPr>
        <p:grpSpPr>
          <a:xfrm>
            <a:off x="6067123" y="1684175"/>
            <a:ext cx="5488429" cy="4488026"/>
            <a:chOff x="1654607" y="1739286"/>
            <a:chExt cx="5343747" cy="4369716"/>
          </a:xfrm>
        </p:grpSpPr>
        <p:sp>
          <p:nvSpPr>
            <p:cNvPr id="4711" name="Google Shape;4711;p9"/>
            <p:cNvSpPr/>
            <p:nvPr/>
          </p:nvSpPr>
          <p:spPr>
            <a:xfrm>
              <a:off x="1654607" y="1739286"/>
              <a:ext cx="5343747" cy="4369716"/>
            </a:xfrm>
            <a:prstGeom prst="roundRect">
              <a:avLst>
                <a:gd name="adj" fmla="val 1498"/>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4712" name="Google Shape;4712;p9"/>
            <p:cNvSpPr/>
            <p:nvPr/>
          </p:nvSpPr>
          <p:spPr>
            <a:xfrm>
              <a:off x="5227800" y="5415762"/>
              <a:ext cx="1209642" cy="316199"/>
            </a:xfrm>
            <a:prstGeom prst="rect">
              <a:avLst/>
            </a:prstGeom>
            <a:solidFill>
              <a:srgbClr val="FCFEF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4713" name="Google Shape;4713;p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Centralize Management of External vCenter Deployments</a:t>
            </a:r>
            <a:endParaRPr/>
          </a:p>
        </p:txBody>
      </p:sp>
      <p:sp>
        <p:nvSpPr>
          <p:cNvPr id="4714" name="Google Shape;4714;p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Importing an existing vCenter deployment into VCF with VCF Operations</a:t>
            </a:r>
            <a:endParaRPr/>
          </a:p>
          <a:p>
            <a:pPr marL="0" lvl="0" indent="0" algn="l" rtl="0">
              <a:lnSpc>
                <a:spcPct val="100000"/>
              </a:lnSpc>
              <a:spcBef>
                <a:spcPts val="1200"/>
              </a:spcBef>
              <a:spcAft>
                <a:spcPts val="0"/>
              </a:spcAft>
              <a:buSzPts val="1800"/>
              <a:buNone/>
            </a:pPr>
            <a:endParaRPr/>
          </a:p>
        </p:txBody>
      </p:sp>
      <p:sp>
        <p:nvSpPr>
          <p:cNvPr id="4715" name="Google Shape;4715;p9"/>
          <p:cNvSpPr txBox="1">
            <a:spLocks noGrp="1"/>
          </p:cNvSpPr>
          <p:nvPr>
            <p:ph type="body" idx="3"/>
          </p:nvPr>
        </p:nvSpPr>
        <p:spPr>
          <a:xfrm>
            <a:off x="0" y="1600201"/>
            <a:ext cx="5893593" cy="4572000"/>
          </a:xfrm>
          <a:prstGeom prst="rect">
            <a:avLst/>
          </a:prstGeom>
          <a:solidFill>
            <a:srgbClr val="F4F8FA"/>
          </a:solidFill>
          <a:ln>
            <a:noFill/>
          </a:ln>
        </p:spPr>
        <p:txBody>
          <a:bodyPr spcFirstLastPara="1" wrap="square" lIns="594350" tIns="457200" rIns="457200" bIns="457200" anchor="t" anchorCtr="0">
            <a:noAutofit/>
          </a:bodyPr>
          <a:lstStyle/>
          <a:p>
            <a:pPr marL="285750" marR="0" lvl="0" indent="-285750" algn="l" rtl="0">
              <a:lnSpc>
                <a:spcPct val="100000"/>
              </a:lnSpc>
              <a:spcBef>
                <a:spcPts val="0"/>
              </a:spcBef>
              <a:spcAft>
                <a:spcPts val="0"/>
              </a:spcAft>
              <a:buClr>
                <a:srgbClr val="666666"/>
              </a:buClr>
              <a:buSzPts val="1440"/>
              <a:buFont typeface="Arial"/>
              <a:buChar char="•"/>
            </a:pPr>
            <a:r>
              <a:rPr lang="en-US" sz="1700">
                <a:solidFill>
                  <a:schemeClr val="accent2"/>
                </a:solidFill>
              </a:rPr>
              <a:t>VCF Operations provides workflows to import externally managed vCenter environments into VCF</a:t>
            </a:r>
            <a:endParaRPr/>
          </a:p>
          <a:p>
            <a:pPr marL="285750" marR="0" lvl="0" indent="-285750" algn="l" rtl="0">
              <a:lnSpc>
                <a:spcPct val="100000"/>
              </a:lnSpc>
              <a:spcBef>
                <a:spcPts val="1200"/>
              </a:spcBef>
              <a:spcAft>
                <a:spcPts val="0"/>
              </a:spcAft>
              <a:buClr>
                <a:srgbClr val="666666"/>
              </a:buClr>
              <a:buSzPts val="1440"/>
              <a:buFont typeface="Arial"/>
              <a:buChar char="•"/>
            </a:pPr>
            <a:r>
              <a:rPr lang="en-US" sz="1700">
                <a:solidFill>
                  <a:schemeClr val="accent2"/>
                </a:solidFill>
              </a:rPr>
              <a:t>Eases private cloud adoption by centralizing management and operations which can reduce costs across disparate environments</a:t>
            </a:r>
            <a:endParaRPr/>
          </a:p>
          <a:p>
            <a:pPr marL="285750" marR="0" lvl="0" indent="-285750" algn="l" rtl="0">
              <a:lnSpc>
                <a:spcPct val="100000"/>
              </a:lnSpc>
              <a:spcBef>
                <a:spcPts val="1200"/>
              </a:spcBef>
              <a:spcAft>
                <a:spcPts val="0"/>
              </a:spcAft>
              <a:buClr>
                <a:srgbClr val="666666"/>
              </a:buClr>
              <a:buSzPts val="1440"/>
              <a:buFont typeface="Arial"/>
              <a:buChar char="•"/>
            </a:pPr>
            <a:r>
              <a:rPr lang="en-US" sz="1700">
                <a:solidFill>
                  <a:schemeClr val="accent2"/>
                </a:solidFill>
              </a:rPr>
              <a:t>Inbuilt workflows negate the need for workload migrations</a:t>
            </a:r>
            <a:endParaRPr/>
          </a:p>
          <a:p>
            <a:pPr marL="285750" lvl="0" indent="-285750" algn="l" rtl="0">
              <a:lnSpc>
                <a:spcPct val="100000"/>
              </a:lnSpc>
              <a:spcBef>
                <a:spcPts val="1200"/>
              </a:spcBef>
              <a:spcAft>
                <a:spcPts val="0"/>
              </a:spcAft>
              <a:buClr>
                <a:srgbClr val="666666"/>
              </a:buClr>
              <a:buSzPts val="1440"/>
              <a:buFont typeface="Arial"/>
              <a:buChar char="•"/>
            </a:pPr>
            <a:r>
              <a:rPr lang="en-US" sz="1700" b="1">
                <a:solidFill>
                  <a:schemeClr val="accent2"/>
                </a:solidFill>
              </a:rPr>
              <a:t>Combinations of vSphere, vSAN and NSX </a:t>
            </a:r>
            <a:r>
              <a:rPr lang="en-US" sz="1700">
                <a:solidFill>
                  <a:schemeClr val="accent2"/>
                </a:solidFill>
              </a:rPr>
              <a:t>can be imported</a:t>
            </a:r>
            <a:endParaRPr/>
          </a:p>
          <a:p>
            <a:pPr marL="285750" lvl="0" indent="-285750" algn="l" rtl="0">
              <a:lnSpc>
                <a:spcPct val="100000"/>
              </a:lnSpc>
              <a:spcBef>
                <a:spcPts val="1200"/>
              </a:spcBef>
              <a:spcAft>
                <a:spcPts val="0"/>
              </a:spcAft>
              <a:buClr>
                <a:srgbClr val="666666"/>
              </a:buClr>
              <a:buSzPts val="1440"/>
              <a:buFont typeface="Arial"/>
              <a:buChar char="•"/>
            </a:pPr>
            <a:r>
              <a:rPr lang="en-US" sz="1700" b="0">
                <a:solidFill>
                  <a:schemeClr val="accent2"/>
                </a:solidFill>
              </a:rPr>
              <a:t>NSX is deployed as part of the process if it is not already present.</a:t>
            </a:r>
            <a:endParaRPr sz="1700"/>
          </a:p>
        </p:txBody>
      </p:sp>
      <p:grpSp>
        <p:nvGrpSpPr>
          <p:cNvPr id="4716" name="Google Shape;4716;p9"/>
          <p:cNvGrpSpPr/>
          <p:nvPr/>
        </p:nvGrpSpPr>
        <p:grpSpPr>
          <a:xfrm>
            <a:off x="6094411" y="1718043"/>
            <a:ext cx="5440680" cy="4421739"/>
            <a:chOff x="6591807" y="841206"/>
            <a:chExt cx="8521977" cy="6925962"/>
          </a:xfrm>
        </p:grpSpPr>
        <p:pic>
          <p:nvPicPr>
            <p:cNvPr id="4717" name="Google Shape;4717;p9"/>
            <p:cNvPicPr preferRelativeResize="0"/>
            <p:nvPr/>
          </p:nvPicPr>
          <p:blipFill rotWithShape="1">
            <a:blip r:embed="rId3">
              <a:alphaModFix/>
            </a:blip>
            <a:srcRect/>
            <a:stretch/>
          </p:blipFill>
          <p:spPr>
            <a:xfrm>
              <a:off x="6591810" y="1377417"/>
              <a:ext cx="744093" cy="6389751"/>
            </a:xfrm>
            <a:prstGeom prst="rect">
              <a:avLst/>
            </a:prstGeom>
            <a:noFill/>
            <a:ln>
              <a:noFill/>
            </a:ln>
          </p:spPr>
        </p:pic>
        <p:pic>
          <p:nvPicPr>
            <p:cNvPr id="4718" name="Google Shape;4718;p9"/>
            <p:cNvPicPr preferRelativeResize="0"/>
            <p:nvPr/>
          </p:nvPicPr>
          <p:blipFill rotWithShape="1">
            <a:blip r:embed="rId4">
              <a:alphaModFix/>
            </a:blip>
            <a:srcRect/>
            <a:stretch/>
          </p:blipFill>
          <p:spPr>
            <a:xfrm>
              <a:off x="6591807" y="841206"/>
              <a:ext cx="5597017" cy="581026"/>
            </a:xfrm>
            <a:prstGeom prst="rect">
              <a:avLst/>
            </a:prstGeom>
            <a:noFill/>
            <a:ln>
              <a:noFill/>
            </a:ln>
          </p:spPr>
        </p:pic>
        <p:pic>
          <p:nvPicPr>
            <p:cNvPr id="4719" name="Google Shape;4719;p9"/>
            <p:cNvPicPr preferRelativeResize="0"/>
            <p:nvPr/>
          </p:nvPicPr>
          <p:blipFill rotWithShape="1">
            <a:blip r:embed="rId5">
              <a:alphaModFix/>
            </a:blip>
            <a:srcRect/>
            <a:stretch/>
          </p:blipFill>
          <p:spPr>
            <a:xfrm>
              <a:off x="12188825" y="852305"/>
              <a:ext cx="2924959" cy="571500"/>
            </a:xfrm>
            <a:prstGeom prst="rect">
              <a:avLst/>
            </a:prstGeom>
            <a:noFill/>
            <a:ln>
              <a:noFill/>
            </a:ln>
          </p:spPr>
        </p:pic>
        <p:pic>
          <p:nvPicPr>
            <p:cNvPr id="4720" name="Google Shape;4720;p9"/>
            <p:cNvPicPr preferRelativeResize="0"/>
            <p:nvPr/>
          </p:nvPicPr>
          <p:blipFill rotWithShape="1">
            <a:blip r:embed="rId6">
              <a:alphaModFix/>
            </a:blip>
            <a:srcRect/>
            <a:stretch/>
          </p:blipFill>
          <p:spPr>
            <a:xfrm>
              <a:off x="7335903" y="1429617"/>
              <a:ext cx="7772400" cy="6332632"/>
            </a:xfrm>
            <a:prstGeom prst="rect">
              <a:avLst/>
            </a:prstGeom>
            <a:noFill/>
            <a:ln>
              <a:noFill/>
            </a:ln>
          </p:spPr>
        </p:pic>
      </p:grpSp>
      <p:sp>
        <p:nvSpPr>
          <p:cNvPr id="4721" name="Google Shape;4721;p9"/>
          <p:cNvSpPr/>
          <p:nvPr/>
        </p:nvSpPr>
        <p:spPr>
          <a:xfrm>
            <a:off x="8149213" y="2637692"/>
            <a:ext cx="1215851" cy="200967"/>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lt1"/>
                </a:solidFill>
                <a:latin typeface="Arial"/>
                <a:ea typeface="Arial"/>
                <a:cs typeface="Arial"/>
                <a:sym typeface="Arial"/>
              </a:rPr>
              <a:t>Import a vCenter</a:t>
            </a:r>
            <a:endParaRPr/>
          </a:p>
        </p:txBody>
      </p:sp>
      <p:sp>
        <p:nvSpPr>
          <p:cNvPr id="4722" name="Google Shape;4722;p9"/>
          <p:cNvSpPr/>
          <p:nvPr/>
        </p:nvSpPr>
        <p:spPr>
          <a:xfrm>
            <a:off x="8114044" y="2597500"/>
            <a:ext cx="1286189" cy="276330"/>
          </a:xfrm>
          <a:prstGeom prst="roundRect">
            <a:avLst>
              <a:gd name="adj" fmla="val 16667"/>
            </a:avLst>
          </a:prstGeom>
          <a:noFill/>
          <a:ln w="25400" cap="flat" cmpd="sng">
            <a:solidFill>
              <a:srgbClr val="E68C2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43436-1272-5990-85DA-F1B97CB56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2B75B-88D0-FD36-EBC1-5B517CD502A8}"/>
              </a:ext>
            </a:extLst>
          </p:cNvPr>
          <p:cNvSpPr>
            <a:spLocks noGrp="1"/>
          </p:cNvSpPr>
          <p:nvPr>
            <p:ph type="title"/>
          </p:nvPr>
        </p:nvSpPr>
        <p:spPr/>
        <p:txBody>
          <a:bodyPr/>
          <a:lstStyle/>
          <a:p>
            <a:r>
              <a:rPr lang="en-US" dirty="0"/>
              <a:t>Easily Scale Private Cloud Infrastructure</a:t>
            </a:r>
          </a:p>
        </p:txBody>
      </p:sp>
      <p:sp>
        <p:nvSpPr>
          <p:cNvPr id="3" name="Subtitle 2">
            <a:extLst>
              <a:ext uri="{FF2B5EF4-FFF2-40B4-BE49-F238E27FC236}">
                <a16:creationId xmlns:a16="http://schemas.microsoft.com/office/drawing/2014/main" id="{CAAAE981-24F0-57EF-4E0B-D94068E849A5}"/>
              </a:ext>
            </a:extLst>
          </p:cNvPr>
          <p:cNvSpPr>
            <a:spLocks noGrp="1"/>
          </p:cNvSpPr>
          <p:nvPr>
            <p:ph type="subTitle" idx="10"/>
          </p:nvPr>
        </p:nvSpPr>
        <p:spPr/>
        <p:txBody>
          <a:bodyPr/>
          <a:lstStyle/>
          <a:p>
            <a:pPr marL="0" lvl="0" indent="0" algn="l" rtl="0">
              <a:lnSpc>
                <a:spcPct val="100000"/>
              </a:lnSpc>
              <a:spcBef>
                <a:spcPts val="0"/>
              </a:spcBef>
              <a:spcAft>
                <a:spcPts val="0"/>
              </a:spcAft>
              <a:buSzPts val="1800"/>
              <a:buNone/>
            </a:pPr>
            <a:r>
              <a:rPr lang="en-US" dirty="0"/>
              <a:t>Host Commissioning, Adding Clusters and Creating Workload Domains</a:t>
            </a:r>
          </a:p>
        </p:txBody>
      </p:sp>
      <p:sp>
        <p:nvSpPr>
          <p:cNvPr id="4" name="Text Placeholder 3">
            <a:extLst>
              <a:ext uri="{FF2B5EF4-FFF2-40B4-BE49-F238E27FC236}">
                <a16:creationId xmlns:a16="http://schemas.microsoft.com/office/drawing/2014/main" id="{4CE41638-5094-F3D8-B509-EA4F909FCBC8}"/>
              </a:ext>
            </a:extLst>
          </p:cNvPr>
          <p:cNvSpPr>
            <a:spLocks noGrp="1"/>
          </p:cNvSpPr>
          <p:nvPr>
            <p:ph type="body" sz="quarter" idx="17"/>
          </p:nvPr>
        </p:nvSpPr>
        <p:spPr/>
        <p:txBody>
          <a:bodyPr/>
          <a:lstStyle/>
          <a:p>
            <a:r>
              <a:rPr lang="en-US" dirty="0"/>
              <a:t>Use the familiar </a:t>
            </a:r>
            <a:r>
              <a:rPr lang="en-US" b="1" dirty="0"/>
              <a:t>vSphere client </a:t>
            </a:r>
            <a:r>
              <a:rPr lang="en-US" dirty="0"/>
              <a:t>to scale your private cloud</a:t>
            </a:r>
          </a:p>
          <a:p>
            <a:pPr marL="285750" indent="-285750">
              <a:buFont typeface="Arial" panose="020B0604020202020204" pitchFamily="34" charset="0"/>
              <a:buChar char="•"/>
            </a:pPr>
            <a:r>
              <a:rPr lang="en-US" sz="1400" dirty="0"/>
              <a:t>Commission </a:t>
            </a:r>
            <a:r>
              <a:rPr lang="en-US" sz="1400" dirty="0" err="1"/>
              <a:t>ESXi</a:t>
            </a:r>
            <a:r>
              <a:rPr lang="en-US" sz="1400" dirty="0"/>
              <a:t> Hosts in bulk or individually to the Inventory</a:t>
            </a:r>
          </a:p>
          <a:p>
            <a:pPr marL="285750" indent="-285750">
              <a:buFont typeface="Arial" panose="020B0604020202020204" pitchFamily="34" charset="0"/>
              <a:buChar char="•"/>
            </a:pPr>
            <a:r>
              <a:rPr lang="en-US" sz="1400" dirty="0"/>
              <a:t>Network Pools configured for </a:t>
            </a:r>
            <a:r>
              <a:rPr lang="en-US" sz="1400" dirty="0" err="1"/>
              <a:t>vMotion</a:t>
            </a:r>
            <a:r>
              <a:rPr lang="en-US" sz="1400" dirty="0"/>
              <a:t> and Storage</a:t>
            </a:r>
          </a:p>
          <a:p>
            <a:pPr marL="285750" indent="-285750">
              <a:buFont typeface="Arial" panose="020B0604020202020204" pitchFamily="34" charset="0"/>
              <a:buChar char="•"/>
            </a:pPr>
            <a:r>
              <a:rPr lang="en-US" sz="1400" dirty="0"/>
              <a:t>Add unassigned hosts to new clusters or scale existing clusters</a:t>
            </a:r>
          </a:p>
          <a:p>
            <a:pPr marL="285750" indent="-285750">
              <a:buFont typeface="Arial" panose="020B0604020202020204" pitchFamily="34" charset="0"/>
              <a:buChar char="•"/>
            </a:pPr>
            <a:endParaRPr lang="en-US" dirty="0"/>
          </a:p>
          <a:p>
            <a:pPr>
              <a:buNone/>
            </a:pPr>
            <a:r>
              <a:rPr lang="en-US" dirty="0"/>
              <a:t>Create new workload domains using VCF Operations</a:t>
            </a:r>
          </a:p>
          <a:p>
            <a:pPr>
              <a:buNone/>
            </a:pPr>
            <a:endParaRPr lang="en-US" dirty="0"/>
          </a:p>
          <a:p>
            <a:pPr>
              <a:buNone/>
            </a:pPr>
            <a:r>
              <a:rPr lang="en-US" dirty="0"/>
              <a:t>Continue using SDDC Manager for Day N workflows</a:t>
            </a:r>
          </a:p>
          <a:p>
            <a:pPr>
              <a:buNone/>
            </a:pPr>
            <a:endParaRPr lang="en-US" sz="100" dirty="0">
              <a:solidFill>
                <a:schemeClr val="tx1"/>
              </a:solidFill>
            </a:endParaRPr>
          </a:p>
        </p:txBody>
      </p:sp>
      <p:sp>
        <p:nvSpPr>
          <p:cNvPr id="10" name="Rounded Rectangle 9">
            <a:extLst>
              <a:ext uri="{FF2B5EF4-FFF2-40B4-BE49-F238E27FC236}">
                <a16:creationId xmlns:a16="http://schemas.microsoft.com/office/drawing/2014/main" id="{93789BDC-CD80-8A5D-8BE1-FB0F0EB1DEA4}"/>
              </a:ext>
            </a:extLst>
          </p:cNvPr>
          <p:cNvSpPr/>
          <p:nvPr/>
        </p:nvSpPr>
        <p:spPr bwMode="gray">
          <a:xfrm>
            <a:off x="6479" y="1617390"/>
            <a:ext cx="8133399" cy="4572000"/>
          </a:xfrm>
          <a:prstGeom prst="roundRect">
            <a:avLst>
              <a:gd name="adj" fmla="val 0"/>
            </a:avLst>
          </a:prstGeom>
          <a:solidFill>
            <a:srgbClr val="F4F8FA"/>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15" name="Google Shape;3807;p31">
            <a:extLst>
              <a:ext uri="{FF2B5EF4-FFF2-40B4-BE49-F238E27FC236}">
                <a16:creationId xmlns:a16="http://schemas.microsoft.com/office/drawing/2014/main" id="{927B29C9-0EFA-E4E7-1A03-72864020F5CE}"/>
              </a:ext>
            </a:extLst>
          </p:cNvPr>
          <p:cNvSpPr/>
          <p:nvPr/>
        </p:nvSpPr>
        <p:spPr>
          <a:xfrm>
            <a:off x="600834" y="1750218"/>
            <a:ext cx="7460600" cy="4295951"/>
          </a:xfrm>
          <a:prstGeom prst="roundRect">
            <a:avLst>
              <a:gd name="adj" fmla="val 2790"/>
            </a:avLst>
          </a:prstGeom>
          <a:solidFill>
            <a:schemeClr val="bg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 name="Isosceles Triangle 128">
            <a:extLst>
              <a:ext uri="{FF2B5EF4-FFF2-40B4-BE49-F238E27FC236}">
                <a16:creationId xmlns:a16="http://schemas.microsoft.com/office/drawing/2014/main" id="{48CC7A0A-4C81-6389-65A2-D8AEA3E97F33}"/>
              </a:ext>
              <a:ext uri="{C183D7F6-B498-43B3-948B-1728B52AA6E4}">
                <adec:decorative xmlns:adec="http://schemas.microsoft.com/office/drawing/2017/decorative" val="1"/>
              </a:ext>
            </a:extLst>
          </p:cNvPr>
          <p:cNvSpPr/>
          <p:nvPr/>
        </p:nvSpPr>
        <p:spPr>
          <a:xfrm rot="16200000">
            <a:off x="1957685" y="3191361"/>
            <a:ext cx="1889990" cy="440790"/>
          </a:xfrm>
          <a:prstGeom prst="triangle">
            <a:avLst>
              <a:gd name="adj" fmla="val 47478"/>
            </a:avLst>
          </a:prstGeom>
          <a:gradFill flip="none" rotWithShape="1">
            <a:gsLst>
              <a:gs pos="0">
                <a:schemeClr val="accent2">
                  <a:alpha val="24000"/>
                </a:schemeClr>
              </a:gs>
              <a:gs pos="100000">
                <a:schemeClr val="bg1">
                  <a:alpha val="0"/>
                </a:schemeClr>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pitchFamily="2" charset="77"/>
              <a:ea typeface="+mn-ea"/>
              <a:cs typeface="+mn-cs"/>
            </a:endParaRPr>
          </a:p>
        </p:txBody>
      </p:sp>
      <p:sp>
        <p:nvSpPr>
          <p:cNvPr id="17" name="Isosceles Triangle 130">
            <a:extLst>
              <a:ext uri="{FF2B5EF4-FFF2-40B4-BE49-F238E27FC236}">
                <a16:creationId xmlns:a16="http://schemas.microsoft.com/office/drawing/2014/main" id="{56585A2A-DDE3-5DEF-5397-F41BDC005148}"/>
              </a:ext>
              <a:ext uri="{C183D7F6-B498-43B3-948B-1728B52AA6E4}">
                <adec:decorative xmlns:adec="http://schemas.microsoft.com/office/drawing/2017/decorative" val="1"/>
              </a:ext>
            </a:extLst>
          </p:cNvPr>
          <p:cNvSpPr/>
          <p:nvPr/>
        </p:nvSpPr>
        <p:spPr>
          <a:xfrm rot="10800000">
            <a:off x="3197906" y="4429646"/>
            <a:ext cx="2147165" cy="434504"/>
          </a:xfrm>
          <a:prstGeom prst="triangle">
            <a:avLst>
              <a:gd name="adj" fmla="val 49181"/>
            </a:avLst>
          </a:prstGeom>
          <a:gradFill flip="none" rotWithShape="1">
            <a:gsLst>
              <a:gs pos="71000">
                <a:schemeClr val="accent2">
                  <a:alpha val="24000"/>
                </a:schemeClr>
              </a:gs>
              <a:gs pos="22000">
                <a:schemeClr val="accent2">
                  <a:alpha val="9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pitchFamily="2" charset="77"/>
              <a:ea typeface="+mn-ea"/>
              <a:cs typeface="+mn-cs"/>
            </a:endParaRPr>
          </a:p>
        </p:txBody>
      </p:sp>
      <p:pic>
        <p:nvPicPr>
          <p:cNvPr id="18" name="Graphic 17">
            <a:extLst>
              <a:ext uri="{FF2B5EF4-FFF2-40B4-BE49-F238E27FC236}">
                <a16:creationId xmlns:a16="http://schemas.microsoft.com/office/drawing/2014/main" id="{751E235A-0EF4-7DCD-7F6F-15D28D353B3D}"/>
              </a:ext>
            </a:extLst>
          </p:cNvPr>
          <p:cNvPicPr>
            <a:picLocks noChangeAspect="1"/>
          </p:cNvPicPr>
          <p:nvPr/>
        </p:nvPicPr>
        <p:blipFill>
          <a:blip r:embed="rId3">
            <a:extLst>
              <a:ext uri="{96DAC541-7B7A-43D3-8B79-37D633B846F1}">
                <asvg:svgBlip xmlns:asvg="http://schemas.microsoft.com/office/drawing/2016/SVG/main" r:embed="rId4"/>
              </a:ext>
            </a:extLst>
          </a:blip>
          <a:srcRect l="6724" t="67309" r="8271" b="3744"/>
          <a:stretch/>
        </p:blipFill>
        <p:spPr>
          <a:xfrm>
            <a:off x="3383504" y="5482421"/>
            <a:ext cx="592030" cy="201601"/>
          </a:xfrm>
          <a:prstGeom prst="rect">
            <a:avLst/>
          </a:prstGeom>
        </p:spPr>
      </p:pic>
      <p:pic>
        <p:nvPicPr>
          <p:cNvPr id="19" name="Graphic 18">
            <a:extLst>
              <a:ext uri="{FF2B5EF4-FFF2-40B4-BE49-F238E27FC236}">
                <a16:creationId xmlns:a16="http://schemas.microsoft.com/office/drawing/2014/main" id="{FA8C2FC6-57E6-1748-FEDC-46917786FD56}"/>
              </a:ext>
            </a:extLst>
          </p:cNvPr>
          <p:cNvPicPr>
            <a:picLocks noChangeAspect="1"/>
          </p:cNvPicPr>
          <p:nvPr/>
        </p:nvPicPr>
        <p:blipFill>
          <a:blip r:embed="rId3">
            <a:extLst>
              <a:ext uri="{96DAC541-7B7A-43D3-8B79-37D633B846F1}">
                <asvg:svgBlip xmlns:asvg="http://schemas.microsoft.com/office/drawing/2016/SVG/main" r:embed="rId4"/>
              </a:ext>
            </a:extLst>
          </a:blip>
          <a:srcRect l="6724" t="67309" r="8271" b="3744"/>
          <a:stretch/>
        </p:blipFill>
        <p:spPr>
          <a:xfrm>
            <a:off x="3978589" y="5482421"/>
            <a:ext cx="592030" cy="201601"/>
          </a:xfrm>
          <a:prstGeom prst="rect">
            <a:avLst/>
          </a:prstGeom>
        </p:spPr>
      </p:pic>
      <p:pic>
        <p:nvPicPr>
          <p:cNvPr id="20" name="Graphic 19">
            <a:extLst>
              <a:ext uri="{FF2B5EF4-FFF2-40B4-BE49-F238E27FC236}">
                <a16:creationId xmlns:a16="http://schemas.microsoft.com/office/drawing/2014/main" id="{E116EF40-194A-305E-5DA1-21F13C4CA1FB}"/>
              </a:ext>
            </a:extLst>
          </p:cNvPr>
          <p:cNvPicPr>
            <a:picLocks noChangeAspect="1"/>
          </p:cNvPicPr>
          <p:nvPr/>
        </p:nvPicPr>
        <p:blipFill>
          <a:blip r:embed="rId3">
            <a:extLst>
              <a:ext uri="{96DAC541-7B7A-43D3-8B79-37D633B846F1}">
                <asvg:svgBlip xmlns:asvg="http://schemas.microsoft.com/office/drawing/2016/SVG/main" r:embed="rId4"/>
              </a:ext>
            </a:extLst>
          </a:blip>
          <a:srcRect l="6724" t="67309" r="8271" b="3744"/>
          <a:stretch/>
        </p:blipFill>
        <p:spPr>
          <a:xfrm>
            <a:off x="4580874" y="5482421"/>
            <a:ext cx="592030" cy="201601"/>
          </a:xfrm>
          <a:prstGeom prst="rect">
            <a:avLst/>
          </a:prstGeom>
        </p:spPr>
      </p:pic>
      <p:grpSp>
        <p:nvGrpSpPr>
          <p:cNvPr id="21" name="Group 20">
            <a:extLst>
              <a:ext uri="{FF2B5EF4-FFF2-40B4-BE49-F238E27FC236}">
                <a16:creationId xmlns:a16="http://schemas.microsoft.com/office/drawing/2014/main" id="{FBA2AC77-0DBC-2FB2-142F-06F01F9F4696}"/>
              </a:ext>
            </a:extLst>
          </p:cNvPr>
          <p:cNvGrpSpPr/>
          <p:nvPr/>
        </p:nvGrpSpPr>
        <p:grpSpPr>
          <a:xfrm>
            <a:off x="3124160" y="2317457"/>
            <a:ext cx="2279733" cy="2115978"/>
            <a:chOff x="3003951" y="1845764"/>
            <a:chExt cx="2279733" cy="2115978"/>
          </a:xfrm>
        </p:grpSpPr>
        <p:sp>
          <p:nvSpPr>
            <p:cNvPr id="22" name="Google Shape;6678;g2d30ebb658d_0_19789">
              <a:extLst>
                <a:ext uri="{FF2B5EF4-FFF2-40B4-BE49-F238E27FC236}">
                  <a16:creationId xmlns:a16="http://schemas.microsoft.com/office/drawing/2014/main" id="{47D4301D-D488-D7D8-4D98-F9DFB96ABAD2}"/>
                </a:ext>
              </a:extLst>
            </p:cNvPr>
            <p:cNvSpPr/>
            <p:nvPr/>
          </p:nvSpPr>
          <p:spPr>
            <a:xfrm>
              <a:off x="3003951" y="1845764"/>
              <a:ext cx="2279733" cy="2115978"/>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3" name="Google Shape;6705;g2d30ebb658d_0_19789">
              <a:extLst>
                <a:ext uri="{FF2B5EF4-FFF2-40B4-BE49-F238E27FC236}">
                  <a16:creationId xmlns:a16="http://schemas.microsoft.com/office/drawing/2014/main" id="{B657FD4A-4AFA-05DA-A576-A655D68E3889}"/>
                </a:ext>
              </a:extLst>
            </p:cNvPr>
            <p:cNvSpPr/>
            <p:nvPr/>
          </p:nvSpPr>
          <p:spPr>
            <a:xfrm>
              <a:off x="3069009" y="3238902"/>
              <a:ext cx="2139742" cy="632716"/>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4" name="Google Shape;6707;g2d30ebb658d_0_19789">
              <a:extLst>
                <a:ext uri="{FF2B5EF4-FFF2-40B4-BE49-F238E27FC236}">
                  <a16:creationId xmlns:a16="http://schemas.microsoft.com/office/drawing/2014/main" id="{B863C96A-0780-1FFD-2D33-689E03FDDBFF}"/>
                </a:ext>
              </a:extLst>
            </p:cNvPr>
            <p:cNvGrpSpPr/>
            <p:nvPr/>
          </p:nvGrpSpPr>
          <p:grpSpPr>
            <a:xfrm>
              <a:off x="4677699" y="3434087"/>
              <a:ext cx="364758" cy="364756"/>
              <a:chOff x="10722212" y="2729558"/>
              <a:chExt cx="663407" cy="663407"/>
            </a:xfrm>
          </p:grpSpPr>
          <p:sp>
            <p:nvSpPr>
              <p:cNvPr id="42" name="Google Shape;6708;g2d30ebb658d_0_19789">
                <a:extLst>
                  <a:ext uri="{FF2B5EF4-FFF2-40B4-BE49-F238E27FC236}">
                    <a16:creationId xmlns:a16="http://schemas.microsoft.com/office/drawing/2014/main" id="{7AC10B89-77C8-CE4B-DD7D-A9E8CF57541B}"/>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3" name="Google Shape;6709;g2d30ebb658d_0_19789">
                <a:extLst>
                  <a:ext uri="{FF2B5EF4-FFF2-40B4-BE49-F238E27FC236}">
                    <a16:creationId xmlns:a16="http://schemas.microsoft.com/office/drawing/2014/main" id="{C6076158-3A64-78B2-3FC8-B399659868E2}"/>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5" name="Google Shape;6710;g2d30ebb658d_0_19789">
              <a:extLst>
                <a:ext uri="{FF2B5EF4-FFF2-40B4-BE49-F238E27FC236}">
                  <a16:creationId xmlns:a16="http://schemas.microsoft.com/office/drawing/2014/main" id="{890928D0-E27A-E56E-5F96-C38AA7AB7408}"/>
                </a:ext>
              </a:extLst>
            </p:cNvPr>
            <p:cNvGrpSpPr/>
            <p:nvPr/>
          </p:nvGrpSpPr>
          <p:grpSpPr>
            <a:xfrm>
              <a:off x="3202824" y="3433934"/>
              <a:ext cx="364758" cy="364756"/>
              <a:chOff x="572541" y="5475121"/>
              <a:chExt cx="663407" cy="663407"/>
            </a:xfrm>
          </p:grpSpPr>
          <p:sp>
            <p:nvSpPr>
              <p:cNvPr id="40" name="Google Shape;6711;g2d30ebb658d_0_19789">
                <a:extLst>
                  <a:ext uri="{FF2B5EF4-FFF2-40B4-BE49-F238E27FC236}">
                    <a16:creationId xmlns:a16="http://schemas.microsoft.com/office/drawing/2014/main" id="{969E0149-2FD4-41F9-8CCC-157E63CB8A6D}"/>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1" name="Google Shape;6712;g2d30ebb658d_0_19789">
                <a:extLst>
                  <a:ext uri="{FF2B5EF4-FFF2-40B4-BE49-F238E27FC236}">
                    <a16:creationId xmlns:a16="http://schemas.microsoft.com/office/drawing/2014/main" id="{32287FBF-3133-ACFC-4B28-14563FDB9B42}"/>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6" name="Google Shape;6713;g2d30ebb658d_0_19789">
              <a:extLst>
                <a:ext uri="{FF2B5EF4-FFF2-40B4-BE49-F238E27FC236}">
                  <a16:creationId xmlns:a16="http://schemas.microsoft.com/office/drawing/2014/main" id="{4DDF990D-DFFB-7AB7-6132-7A65CB263973}"/>
                </a:ext>
              </a:extLst>
            </p:cNvPr>
            <p:cNvGrpSpPr/>
            <p:nvPr/>
          </p:nvGrpSpPr>
          <p:grpSpPr>
            <a:xfrm>
              <a:off x="3934990" y="3433935"/>
              <a:ext cx="364758" cy="364756"/>
              <a:chOff x="9272259" y="5475121"/>
              <a:chExt cx="663407" cy="663407"/>
            </a:xfrm>
          </p:grpSpPr>
          <p:sp>
            <p:nvSpPr>
              <p:cNvPr id="38" name="Google Shape;6714;g2d30ebb658d_0_19789">
                <a:extLst>
                  <a:ext uri="{FF2B5EF4-FFF2-40B4-BE49-F238E27FC236}">
                    <a16:creationId xmlns:a16="http://schemas.microsoft.com/office/drawing/2014/main" id="{372BE851-CF55-D3DA-DA88-B8E863807C52}"/>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9" name="Google Shape;6715;g2d30ebb658d_0_19789">
                <a:extLst>
                  <a:ext uri="{FF2B5EF4-FFF2-40B4-BE49-F238E27FC236}">
                    <a16:creationId xmlns:a16="http://schemas.microsoft.com/office/drawing/2014/main" id="{268FCDAA-52E2-80C6-8E9E-AEE9B8D853BD}"/>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7" name="Google Shape;6705;g2d30ebb658d_0_19789">
              <a:extLst>
                <a:ext uri="{FF2B5EF4-FFF2-40B4-BE49-F238E27FC236}">
                  <a16:creationId xmlns:a16="http://schemas.microsoft.com/office/drawing/2014/main" id="{681FDE08-923F-E1A3-D8D2-7786B2664B84}"/>
                </a:ext>
              </a:extLst>
            </p:cNvPr>
            <p:cNvSpPr/>
            <p:nvPr/>
          </p:nvSpPr>
          <p:spPr>
            <a:xfrm>
              <a:off x="3074441" y="2953244"/>
              <a:ext cx="1019238" cy="207491"/>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 Server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28" name="TextBox 27">
              <a:extLst>
                <a:ext uri="{FF2B5EF4-FFF2-40B4-BE49-F238E27FC236}">
                  <a16:creationId xmlns:a16="http://schemas.microsoft.com/office/drawing/2014/main" id="{6793B505-1A0E-E654-403D-44A5D71A46A8}"/>
                </a:ext>
              </a:extLst>
            </p:cNvPr>
            <p:cNvSpPr txBox="1"/>
            <p:nvPr/>
          </p:nvSpPr>
          <p:spPr>
            <a:xfrm>
              <a:off x="3651583" y="3269420"/>
              <a:ext cx="970536" cy="12885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29" name="Google Shape;6705;g2d30ebb658d_0_19789">
              <a:extLst>
                <a:ext uri="{FF2B5EF4-FFF2-40B4-BE49-F238E27FC236}">
                  <a16:creationId xmlns:a16="http://schemas.microsoft.com/office/drawing/2014/main" id="{71AF3760-89AF-C5D7-50F8-875C3F6C5B84}"/>
                </a:ext>
              </a:extLst>
            </p:cNvPr>
            <p:cNvSpPr/>
            <p:nvPr/>
          </p:nvSpPr>
          <p:spPr>
            <a:xfrm>
              <a:off x="4164168" y="2950864"/>
              <a:ext cx="1052005" cy="207491"/>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NSX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31" name="Group 30">
              <a:extLst>
                <a:ext uri="{FF2B5EF4-FFF2-40B4-BE49-F238E27FC236}">
                  <a16:creationId xmlns:a16="http://schemas.microsoft.com/office/drawing/2014/main" id="{5DC67D15-75BF-D4F1-60F7-C21C761CED30}"/>
                </a:ext>
              </a:extLst>
            </p:cNvPr>
            <p:cNvGrpSpPr/>
            <p:nvPr/>
          </p:nvGrpSpPr>
          <p:grpSpPr>
            <a:xfrm>
              <a:off x="3073946" y="1933581"/>
              <a:ext cx="2142229" cy="775747"/>
              <a:chOff x="3073946" y="1933581"/>
              <a:chExt cx="2142229" cy="775747"/>
            </a:xfrm>
          </p:grpSpPr>
          <p:grpSp>
            <p:nvGrpSpPr>
              <p:cNvPr id="33" name="Group 32">
                <a:extLst>
                  <a:ext uri="{FF2B5EF4-FFF2-40B4-BE49-F238E27FC236}">
                    <a16:creationId xmlns:a16="http://schemas.microsoft.com/office/drawing/2014/main" id="{260EE391-C096-1BE3-0EC1-5359F8969514}"/>
                  </a:ext>
                </a:extLst>
              </p:cNvPr>
              <p:cNvGrpSpPr/>
              <p:nvPr/>
            </p:nvGrpSpPr>
            <p:grpSpPr>
              <a:xfrm>
                <a:off x="3114238" y="1933581"/>
                <a:ext cx="2057336" cy="255107"/>
                <a:chOff x="4507602" y="1935590"/>
                <a:chExt cx="1597075" cy="198035"/>
              </a:xfrm>
            </p:grpSpPr>
            <p:sp>
              <p:nvSpPr>
                <p:cNvPr id="36" name="Google Shape;6704;g2d30ebb658d_0_19789">
                  <a:extLst>
                    <a:ext uri="{FF2B5EF4-FFF2-40B4-BE49-F238E27FC236}">
                      <a16:creationId xmlns:a16="http://schemas.microsoft.com/office/drawing/2014/main" id="{63100142-81AD-AAD3-1EAC-48545E18BD89}"/>
                    </a:ext>
                  </a:extLst>
                </p:cNvPr>
                <p:cNvSpPr/>
                <p:nvPr/>
              </p:nvSpPr>
              <p:spPr>
                <a:xfrm>
                  <a:off x="4507602" y="1935590"/>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       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37" name="Google Shape;6699;p92">
                  <a:extLst>
                    <a:ext uri="{FF2B5EF4-FFF2-40B4-BE49-F238E27FC236}">
                      <a16:creationId xmlns:a16="http://schemas.microsoft.com/office/drawing/2014/main" id="{63EA2B8B-C14F-1F3C-9280-BD0775A896D1}"/>
                    </a:ext>
                  </a:extLst>
                </p:cNvPr>
                <p:cNvPicPr preferRelativeResize="0">
                  <a:picLocks noChangeAspect="1"/>
                </p:cNvPicPr>
                <p:nvPr/>
              </p:nvPicPr>
              <p:blipFill rotWithShape="1">
                <a:blip r:embed="rId5">
                  <a:alphaModFix/>
                </a:blip>
                <a:srcRect/>
                <a:stretch/>
              </p:blipFill>
              <p:spPr>
                <a:xfrm>
                  <a:off x="4647230" y="1948278"/>
                  <a:ext cx="157608" cy="173213"/>
                </a:xfrm>
                <a:prstGeom prst="rect">
                  <a:avLst/>
                </a:prstGeom>
                <a:noFill/>
                <a:ln>
                  <a:noFill/>
                </a:ln>
              </p:spPr>
            </p:pic>
          </p:grpSp>
          <p:sp>
            <p:nvSpPr>
              <p:cNvPr id="34" name="Google Shape;6705;g2d30ebb658d_0_19789">
                <a:extLst>
                  <a:ext uri="{FF2B5EF4-FFF2-40B4-BE49-F238E27FC236}">
                    <a16:creationId xmlns:a16="http://schemas.microsoft.com/office/drawing/2014/main" id="{F3330290-6F35-4FAF-2502-CC8BAC4F64D0}"/>
                  </a:ext>
                </a:extLst>
              </p:cNvPr>
              <p:cNvSpPr/>
              <p:nvPr/>
            </p:nvSpPr>
            <p:spPr>
              <a:xfrm>
                <a:off x="3073946" y="2514020"/>
                <a:ext cx="2142227" cy="195308"/>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5" name="Google Shape;6705;g2d30ebb658d_0_19789">
                <a:extLst>
                  <a:ext uri="{FF2B5EF4-FFF2-40B4-BE49-F238E27FC236}">
                    <a16:creationId xmlns:a16="http://schemas.microsoft.com/office/drawing/2014/main" id="{639DE360-69FF-A331-918E-EA19E75A010D}"/>
                  </a:ext>
                </a:extLst>
              </p:cNvPr>
              <p:cNvSpPr/>
              <p:nvPr/>
            </p:nvSpPr>
            <p:spPr>
              <a:xfrm>
                <a:off x="3076434" y="2263115"/>
                <a:ext cx="2139741" cy="185747"/>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sp>
          <p:nvSpPr>
            <p:cNvPr id="32" name="Google Shape;6678;g2d30ebb658d_0_19789">
              <a:extLst>
                <a:ext uri="{FF2B5EF4-FFF2-40B4-BE49-F238E27FC236}">
                  <a16:creationId xmlns:a16="http://schemas.microsoft.com/office/drawing/2014/main" id="{76F80CF4-C815-F11B-EDD8-6D150503AFCD}"/>
                </a:ext>
              </a:extLst>
            </p:cNvPr>
            <p:cNvSpPr/>
            <p:nvPr/>
          </p:nvSpPr>
          <p:spPr>
            <a:xfrm>
              <a:off x="3740670" y="2744071"/>
              <a:ext cx="750357" cy="161927"/>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44" name="Group 43">
            <a:extLst>
              <a:ext uri="{FF2B5EF4-FFF2-40B4-BE49-F238E27FC236}">
                <a16:creationId xmlns:a16="http://schemas.microsoft.com/office/drawing/2014/main" id="{67AEBA72-5979-1E67-E567-803ADBEBE9FF}"/>
              </a:ext>
            </a:extLst>
          </p:cNvPr>
          <p:cNvGrpSpPr/>
          <p:nvPr/>
        </p:nvGrpSpPr>
        <p:grpSpPr>
          <a:xfrm>
            <a:off x="3123072" y="1906598"/>
            <a:ext cx="2279733" cy="2526837"/>
            <a:chOff x="3003951" y="1434905"/>
            <a:chExt cx="2279733" cy="2526837"/>
          </a:xfrm>
        </p:grpSpPr>
        <p:sp>
          <p:nvSpPr>
            <p:cNvPr id="45" name="Google Shape;6678;g2d30ebb658d_0_19789">
              <a:extLst>
                <a:ext uri="{FF2B5EF4-FFF2-40B4-BE49-F238E27FC236}">
                  <a16:creationId xmlns:a16="http://schemas.microsoft.com/office/drawing/2014/main" id="{79BBA49E-5D99-E1E6-52C6-0F49D2472ADA}"/>
                </a:ext>
              </a:extLst>
            </p:cNvPr>
            <p:cNvSpPr/>
            <p:nvPr/>
          </p:nvSpPr>
          <p:spPr>
            <a:xfrm>
              <a:off x="3003951" y="1434905"/>
              <a:ext cx="2279733" cy="2526837"/>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6" name="Google Shape;6705;g2d30ebb658d_0_19789">
              <a:extLst>
                <a:ext uri="{FF2B5EF4-FFF2-40B4-BE49-F238E27FC236}">
                  <a16:creationId xmlns:a16="http://schemas.microsoft.com/office/drawing/2014/main" id="{2D1B7B0E-4E54-ADCB-44C7-54EC2F6B2323}"/>
                </a:ext>
              </a:extLst>
            </p:cNvPr>
            <p:cNvSpPr/>
            <p:nvPr/>
          </p:nvSpPr>
          <p:spPr>
            <a:xfrm>
              <a:off x="3069009" y="3238902"/>
              <a:ext cx="2139742" cy="632716"/>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47" name="Google Shape;6707;g2d30ebb658d_0_19789">
              <a:extLst>
                <a:ext uri="{FF2B5EF4-FFF2-40B4-BE49-F238E27FC236}">
                  <a16:creationId xmlns:a16="http://schemas.microsoft.com/office/drawing/2014/main" id="{94D3037C-D3E7-04C3-1BA6-365D694A5BE0}"/>
                </a:ext>
              </a:extLst>
            </p:cNvPr>
            <p:cNvGrpSpPr/>
            <p:nvPr/>
          </p:nvGrpSpPr>
          <p:grpSpPr>
            <a:xfrm>
              <a:off x="4677699" y="3434087"/>
              <a:ext cx="364758" cy="364756"/>
              <a:chOff x="10722212" y="2729558"/>
              <a:chExt cx="663407" cy="663407"/>
            </a:xfrm>
          </p:grpSpPr>
          <p:sp>
            <p:nvSpPr>
              <p:cNvPr id="67" name="Google Shape;6708;g2d30ebb658d_0_19789">
                <a:extLst>
                  <a:ext uri="{FF2B5EF4-FFF2-40B4-BE49-F238E27FC236}">
                    <a16:creationId xmlns:a16="http://schemas.microsoft.com/office/drawing/2014/main" id="{AA7F3C9B-CE6C-CBDE-7413-B62B4E2A59F7}"/>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9" name="Google Shape;6709;g2d30ebb658d_0_19789">
                <a:extLst>
                  <a:ext uri="{FF2B5EF4-FFF2-40B4-BE49-F238E27FC236}">
                    <a16:creationId xmlns:a16="http://schemas.microsoft.com/office/drawing/2014/main" id="{60F3AD2A-A757-31CD-5272-40BA7F3048A6}"/>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48" name="Google Shape;6710;g2d30ebb658d_0_19789">
              <a:extLst>
                <a:ext uri="{FF2B5EF4-FFF2-40B4-BE49-F238E27FC236}">
                  <a16:creationId xmlns:a16="http://schemas.microsoft.com/office/drawing/2014/main" id="{06E57776-D390-08F3-5344-E558715B7B4B}"/>
                </a:ext>
              </a:extLst>
            </p:cNvPr>
            <p:cNvGrpSpPr/>
            <p:nvPr/>
          </p:nvGrpSpPr>
          <p:grpSpPr>
            <a:xfrm>
              <a:off x="3202824" y="3433934"/>
              <a:ext cx="364758" cy="364756"/>
              <a:chOff x="572541" y="5475121"/>
              <a:chExt cx="663407" cy="663407"/>
            </a:xfrm>
          </p:grpSpPr>
          <p:sp>
            <p:nvSpPr>
              <p:cNvPr id="64" name="Google Shape;6711;g2d30ebb658d_0_19789">
                <a:extLst>
                  <a:ext uri="{FF2B5EF4-FFF2-40B4-BE49-F238E27FC236}">
                    <a16:creationId xmlns:a16="http://schemas.microsoft.com/office/drawing/2014/main" id="{1D68508F-18E0-967A-4CB0-9C9E14A2F57E}"/>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5" name="Google Shape;6712;g2d30ebb658d_0_19789">
                <a:extLst>
                  <a:ext uri="{FF2B5EF4-FFF2-40B4-BE49-F238E27FC236}">
                    <a16:creationId xmlns:a16="http://schemas.microsoft.com/office/drawing/2014/main" id="{FE7741E1-AB1D-73CB-65E4-ADECCFE1BDD7}"/>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49" name="Google Shape;6713;g2d30ebb658d_0_19789">
              <a:extLst>
                <a:ext uri="{FF2B5EF4-FFF2-40B4-BE49-F238E27FC236}">
                  <a16:creationId xmlns:a16="http://schemas.microsoft.com/office/drawing/2014/main" id="{93E461D6-9511-6353-6E0B-8843132EDFBC}"/>
                </a:ext>
              </a:extLst>
            </p:cNvPr>
            <p:cNvGrpSpPr/>
            <p:nvPr/>
          </p:nvGrpSpPr>
          <p:grpSpPr>
            <a:xfrm>
              <a:off x="3934990" y="3433935"/>
              <a:ext cx="364758" cy="364756"/>
              <a:chOff x="9272259" y="5475121"/>
              <a:chExt cx="663407" cy="663407"/>
            </a:xfrm>
          </p:grpSpPr>
          <p:sp>
            <p:nvSpPr>
              <p:cNvPr id="61" name="Google Shape;6714;g2d30ebb658d_0_19789">
                <a:extLst>
                  <a:ext uri="{FF2B5EF4-FFF2-40B4-BE49-F238E27FC236}">
                    <a16:creationId xmlns:a16="http://schemas.microsoft.com/office/drawing/2014/main" id="{857ECF19-A892-9323-F0EB-EA9D6021CD81}"/>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3" name="Google Shape;6715;g2d30ebb658d_0_19789">
                <a:extLst>
                  <a:ext uri="{FF2B5EF4-FFF2-40B4-BE49-F238E27FC236}">
                    <a16:creationId xmlns:a16="http://schemas.microsoft.com/office/drawing/2014/main" id="{8BC3362D-1E8F-C32E-F188-07A88AA93385}"/>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50" name="Google Shape;6705;g2d30ebb658d_0_19789">
              <a:extLst>
                <a:ext uri="{FF2B5EF4-FFF2-40B4-BE49-F238E27FC236}">
                  <a16:creationId xmlns:a16="http://schemas.microsoft.com/office/drawing/2014/main" id="{A1519BAB-0F30-DA70-93F3-6D413EDD914E}"/>
                </a:ext>
              </a:extLst>
            </p:cNvPr>
            <p:cNvSpPr/>
            <p:nvPr/>
          </p:nvSpPr>
          <p:spPr>
            <a:xfrm>
              <a:off x="3074441" y="2953244"/>
              <a:ext cx="1019238" cy="207491"/>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 Server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51" name="TextBox 50">
              <a:extLst>
                <a:ext uri="{FF2B5EF4-FFF2-40B4-BE49-F238E27FC236}">
                  <a16:creationId xmlns:a16="http://schemas.microsoft.com/office/drawing/2014/main" id="{35EAC488-9949-D96F-C5D5-0204B9067D17}"/>
                </a:ext>
              </a:extLst>
            </p:cNvPr>
            <p:cNvSpPr txBox="1"/>
            <p:nvPr/>
          </p:nvSpPr>
          <p:spPr>
            <a:xfrm>
              <a:off x="3651583" y="3269420"/>
              <a:ext cx="970536" cy="12885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52" name="Google Shape;6705;g2d30ebb658d_0_19789">
              <a:extLst>
                <a:ext uri="{FF2B5EF4-FFF2-40B4-BE49-F238E27FC236}">
                  <a16:creationId xmlns:a16="http://schemas.microsoft.com/office/drawing/2014/main" id="{E56B8729-0D0A-0A51-B2AC-59F39212862B}"/>
                </a:ext>
              </a:extLst>
            </p:cNvPr>
            <p:cNvSpPr/>
            <p:nvPr/>
          </p:nvSpPr>
          <p:spPr>
            <a:xfrm>
              <a:off x="4164168" y="2950864"/>
              <a:ext cx="1052005" cy="207491"/>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NSX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54" name="Group 53">
              <a:extLst>
                <a:ext uri="{FF2B5EF4-FFF2-40B4-BE49-F238E27FC236}">
                  <a16:creationId xmlns:a16="http://schemas.microsoft.com/office/drawing/2014/main" id="{5179F5B4-5DF6-4EAB-7A09-F6A2F98EB132}"/>
                </a:ext>
              </a:extLst>
            </p:cNvPr>
            <p:cNvGrpSpPr/>
            <p:nvPr/>
          </p:nvGrpSpPr>
          <p:grpSpPr>
            <a:xfrm>
              <a:off x="3073946" y="1506863"/>
              <a:ext cx="2142229" cy="775751"/>
              <a:chOff x="3073946" y="1506863"/>
              <a:chExt cx="2142229" cy="775751"/>
            </a:xfrm>
          </p:grpSpPr>
          <p:grpSp>
            <p:nvGrpSpPr>
              <p:cNvPr id="56" name="Group 55">
                <a:extLst>
                  <a:ext uri="{FF2B5EF4-FFF2-40B4-BE49-F238E27FC236}">
                    <a16:creationId xmlns:a16="http://schemas.microsoft.com/office/drawing/2014/main" id="{2F34A7EB-0667-DCF9-3F80-845AF3517928}"/>
                  </a:ext>
                </a:extLst>
              </p:cNvPr>
              <p:cNvGrpSpPr/>
              <p:nvPr/>
            </p:nvGrpSpPr>
            <p:grpSpPr>
              <a:xfrm>
                <a:off x="3114238" y="1506863"/>
                <a:ext cx="2057336" cy="255107"/>
                <a:chOff x="4507602" y="1604336"/>
                <a:chExt cx="1597075" cy="198035"/>
              </a:xfrm>
            </p:grpSpPr>
            <p:sp>
              <p:nvSpPr>
                <p:cNvPr id="59" name="Google Shape;6704;g2d30ebb658d_0_19789">
                  <a:extLst>
                    <a:ext uri="{FF2B5EF4-FFF2-40B4-BE49-F238E27FC236}">
                      <a16:creationId xmlns:a16="http://schemas.microsoft.com/office/drawing/2014/main" id="{3211C308-BA46-54A7-AE40-7680561FFBEC}"/>
                    </a:ext>
                  </a:extLst>
                </p:cNvPr>
                <p:cNvSpPr/>
                <p:nvPr/>
              </p:nvSpPr>
              <p:spPr>
                <a:xfrm>
                  <a:off x="4507602" y="1604336"/>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       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60" name="Google Shape;6699;p92">
                  <a:extLst>
                    <a:ext uri="{FF2B5EF4-FFF2-40B4-BE49-F238E27FC236}">
                      <a16:creationId xmlns:a16="http://schemas.microsoft.com/office/drawing/2014/main" id="{84988D12-A93A-8086-C301-5FC965DEF643}"/>
                    </a:ext>
                  </a:extLst>
                </p:cNvPr>
                <p:cNvPicPr preferRelativeResize="0">
                  <a:picLocks noChangeAspect="1"/>
                </p:cNvPicPr>
                <p:nvPr/>
              </p:nvPicPr>
              <p:blipFill rotWithShape="1">
                <a:blip r:embed="rId5">
                  <a:alphaModFix/>
                </a:blip>
                <a:srcRect/>
                <a:stretch/>
              </p:blipFill>
              <p:spPr>
                <a:xfrm>
                  <a:off x="4647230" y="1617028"/>
                  <a:ext cx="157608" cy="173213"/>
                </a:xfrm>
                <a:prstGeom prst="rect">
                  <a:avLst/>
                </a:prstGeom>
                <a:noFill/>
                <a:ln>
                  <a:noFill/>
                </a:ln>
              </p:spPr>
            </p:pic>
          </p:grpSp>
          <p:sp>
            <p:nvSpPr>
              <p:cNvPr id="57" name="Google Shape;6705;g2d30ebb658d_0_19789">
                <a:extLst>
                  <a:ext uri="{FF2B5EF4-FFF2-40B4-BE49-F238E27FC236}">
                    <a16:creationId xmlns:a16="http://schemas.microsoft.com/office/drawing/2014/main" id="{03F96D04-BE6C-7D6E-3076-F25713033A3E}"/>
                  </a:ext>
                </a:extLst>
              </p:cNvPr>
              <p:cNvSpPr/>
              <p:nvPr/>
            </p:nvSpPr>
            <p:spPr>
              <a:xfrm>
                <a:off x="3073946" y="2087306"/>
                <a:ext cx="2142227" cy="195308"/>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58" name="Google Shape;6705;g2d30ebb658d_0_19789">
                <a:extLst>
                  <a:ext uri="{FF2B5EF4-FFF2-40B4-BE49-F238E27FC236}">
                    <a16:creationId xmlns:a16="http://schemas.microsoft.com/office/drawing/2014/main" id="{2CC5EE54-D312-94A5-42D4-716EE168837E}"/>
                  </a:ext>
                </a:extLst>
              </p:cNvPr>
              <p:cNvSpPr/>
              <p:nvPr/>
            </p:nvSpPr>
            <p:spPr>
              <a:xfrm>
                <a:off x="3076434" y="1836401"/>
                <a:ext cx="2139741" cy="185747"/>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sp>
          <p:nvSpPr>
            <p:cNvPr id="55" name="Google Shape;6678;g2d30ebb658d_0_19789">
              <a:extLst>
                <a:ext uri="{FF2B5EF4-FFF2-40B4-BE49-F238E27FC236}">
                  <a16:creationId xmlns:a16="http://schemas.microsoft.com/office/drawing/2014/main" id="{7184ED7C-0915-CA50-1C45-CCF23612F88C}"/>
                </a:ext>
              </a:extLst>
            </p:cNvPr>
            <p:cNvSpPr/>
            <p:nvPr/>
          </p:nvSpPr>
          <p:spPr>
            <a:xfrm>
              <a:off x="3740670" y="2744071"/>
              <a:ext cx="750357" cy="161927"/>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 1</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70" name="Google Shape;6678;g2d30ebb658d_0_19789">
            <a:extLst>
              <a:ext uri="{FF2B5EF4-FFF2-40B4-BE49-F238E27FC236}">
                <a16:creationId xmlns:a16="http://schemas.microsoft.com/office/drawing/2014/main" id="{E22BAA3C-8AF8-E615-783F-7BC295AF94D6}"/>
              </a:ext>
            </a:extLst>
          </p:cNvPr>
          <p:cNvSpPr/>
          <p:nvPr/>
        </p:nvSpPr>
        <p:spPr>
          <a:xfrm>
            <a:off x="3867224" y="3006591"/>
            <a:ext cx="750357" cy="161927"/>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7B8C"/>
                </a:solidFill>
                <a:effectLst/>
                <a:uLnTx/>
                <a:uFillTx/>
                <a:latin typeface="Arial"/>
                <a:ea typeface="Arial"/>
                <a:cs typeface="Arial"/>
                <a:sym typeface="Arial"/>
              </a:rPr>
              <a:t>Cluster 2</a:t>
            </a:r>
            <a:endParaRPr kumimoji="0" sz="700" b="0" i="0" u="none" strike="noStrike" kern="1200" cap="none" spc="0" normalizeH="0" baseline="0" noProof="0" dirty="0">
              <a:ln>
                <a:noFill/>
              </a:ln>
              <a:solidFill>
                <a:srgbClr val="007B8C"/>
              </a:solidFill>
              <a:effectLst/>
              <a:uLnTx/>
              <a:uFillTx/>
              <a:latin typeface="Arial"/>
              <a:ea typeface="Arial"/>
              <a:cs typeface="Arial"/>
              <a:sym typeface="Arial"/>
            </a:endParaRPr>
          </a:p>
        </p:txBody>
      </p:sp>
      <p:sp>
        <p:nvSpPr>
          <p:cNvPr id="71" name="Google Shape;6678;g2d30ebb658d_0_19789">
            <a:extLst>
              <a:ext uri="{FF2B5EF4-FFF2-40B4-BE49-F238E27FC236}">
                <a16:creationId xmlns:a16="http://schemas.microsoft.com/office/drawing/2014/main" id="{AB5F7BD7-240D-F20F-13CC-A75D807779FA}"/>
              </a:ext>
            </a:extLst>
          </p:cNvPr>
          <p:cNvSpPr/>
          <p:nvPr/>
        </p:nvSpPr>
        <p:spPr>
          <a:xfrm>
            <a:off x="3867223" y="2800782"/>
            <a:ext cx="750357" cy="161927"/>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98C7"/>
                </a:solidFill>
                <a:effectLst/>
                <a:uLnTx/>
                <a:uFillTx/>
                <a:latin typeface="Arial"/>
                <a:ea typeface="Arial"/>
                <a:cs typeface="Arial"/>
                <a:sym typeface="Arial"/>
              </a:rPr>
              <a:t>Cluster N</a:t>
            </a:r>
            <a:endParaRPr kumimoji="0" sz="700" b="0" i="0" u="none" strike="noStrike" kern="1200" cap="none" spc="0" normalizeH="0" baseline="0" noProof="0" dirty="0">
              <a:ln>
                <a:noFill/>
              </a:ln>
              <a:solidFill>
                <a:srgbClr val="0098C7"/>
              </a:solidFill>
              <a:effectLst/>
              <a:uLnTx/>
              <a:uFillTx/>
              <a:latin typeface="Arial"/>
              <a:ea typeface="Arial"/>
              <a:cs typeface="Arial"/>
              <a:sym typeface="Arial"/>
            </a:endParaRPr>
          </a:p>
        </p:txBody>
      </p:sp>
      <p:sp>
        <p:nvSpPr>
          <p:cNvPr id="72" name="Google Shape;6705;g2d30ebb658d_0_19789">
            <a:extLst>
              <a:ext uri="{FF2B5EF4-FFF2-40B4-BE49-F238E27FC236}">
                <a16:creationId xmlns:a16="http://schemas.microsoft.com/office/drawing/2014/main" id="{01884E72-DFA4-A3B3-1700-E9B853B35C0F}"/>
              </a:ext>
            </a:extLst>
          </p:cNvPr>
          <p:cNvSpPr/>
          <p:nvPr/>
        </p:nvSpPr>
        <p:spPr>
          <a:xfrm>
            <a:off x="3193067" y="3426018"/>
            <a:ext cx="1019238" cy="207491"/>
          </a:xfrm>
          <a:prstGeom prst="roundRect">
            <a:avLst>
              <a:gd name="adj" fmla="val 6349"/>
            </a:avLst>
          </a:prstGeom>
          <a:solidFill>
            <a:schemeClr val="accent4"/>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 Server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73" name="Google Shape;6705;g2d30ebb658d_0_19789">
            <a:extLst>
              <a:ext uri="{FF2B5EF4-FFF2-40B4-BE49-F238E27FC236}">
                <a16:creationId xmlns:a16="http://schemas.microsoft.com/office/drawing/2014/main" id="{D0B6D672-4DFF-FFD1-DF36-CEBAB649FDEA}"/>
              </a:ext>
            </a:extLst>
          </p:cNvPr>
          <p:cNvSpPr/>
          <p:nvPr/>
        </p:nvSpPr>
        <p:spPr>
          <a:xfrm>
            <a:off x="3194650" y="2559859"/>
            <a:ext cx="2142227" cy="195308"/>
          </a:xfrm>
          <a:prstGeom prst="roundRect">
            <a:avLst>
              <a:gd name="adj" fmla="val 6349"/>
            </a:avLst>
          </a:prstGeom>
          <a:solidFill>
            <a:schemeClr val="accent4"/>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87" name="Group 86">
            <a:extLst>
              <a:ext uri="{FF2B5EF4-FFF2-40B4-BE49-F238E27FC236}">
                <a16:creationId xmlns:a16="http://schemas.microsoft.com/office/drawing/2014/main" id="{C9D6EBC4-55D8-42A1-958A-13113F3AB68F}"/>
              </a:ext>
            </a:extLst>
          </p:cNvPr>
          <p:cNvGrpSpPr>
            <a:grpSpLocks noChangeAspect="1"/>
          </p:cNvGrpSpPr>
          <p:nvPr/>
        </p:nvGrpSpPr>
        <p:grpSpPr>
          <a:xfrm>
            <a:off x="5522417" y="2230946"/>
            <a:ext cx="2269764" cy="2192002"/>
            <a:chOff x="4421988" y="4175450"/>
            <a:chExt cx="1769718" cy="1709089"/>
          </a:xfrm>
        </p:grpSpPr>
        <p:sp>
          <p:nvSpPr>
            <p:cNvPr id="88" name="Google Shape;6678;g2d30ebb658d_0_19789">
              <a:extLst>
                <a:ext uri="{FF2B5EF4-FFF2-40B4-BE49-F238E27FC236}">
                  <a16:creationId xmlns:a16="http://schemas.microsoft.com/office/drawing/2014/main" id="{D0546CB0-645A-FDED-9F2F-9D034B28B3FA}"/>
                </a:ext>
              </a:extLst>
            </p:cNvPr>
            <p:cNvSpPr/>
            <p:nvPr/>
          </p:nvSpPr>
          <p:spPr>
            <a:xfrm>
              <a:off x="4421988" y="4175450"/>
              <a:ext cx="1769718" cy="1709089"/>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89" name="Google Shape;6705;g2d30ebb658d_0_19789">
              <a:extLst>
                <a:ext uri="{FF2B5EF4-FFF2-40B4-BE49-F238E27FC236}">
                  <a16:creationId xmlns:a16="http://schemas.microsoft.com/office/drawing/2014/main" id="{714484B2-57AF-1B21-5A61-B13F7324B71B}"/>
                </a:ext>
              </a:extLst>
            </p:cNvPr>
            <p:cNvSpPr/>
            <p:nvPr/>
          </p:nvSpPr>
          <p:spPr>
            <a:xfrm>
              <a:off x="4472491" y="5332788"/>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90" name="Google Shape;6707;g2d30ebb658d_0_19789">
              <a:extLst>
                <a:ext uri="{FF2B5EF4-FFF2-40B4-BE49-F238E27FC236}">
                  <a16:creationId xmlns:a16="http://schemas.microsoft.com/office/drawing/2014/main" id="{CD35DF28-291A-7A48-15C3-E129BB188CDD}"/>
                </a:ext>
              </a:extLst>
            </p:cNvPr>
            <p:cNvGrpSpPr/>
            <p:nvPr/>
          </p:nvGrpSpPr>
          <p:grpSpPr>
            <a:xfrm>
              <a:off x="5721290" y="5484307"/>
              <a:ext cx="283155" cy="283154"/>
              <a:chOff x="10722212" y="2729558"/>
              <a:chExt cx="663407" cy="663407"/>
            </a:xfrm>
          </p:grpSpPr>
          <p:sp>
            <p:nvSpPr>
              <p:cNvPr id="135" name="Google Shape;6708;g2d30ebb658d_0_19789">
                <a:extLst>
                  <a:ext uri="{FF2B5EF4-FFF2-40B4-BE49-F238E27FC236}">
                    <a16:creationId xmlns:a16="http://schemas.microsoft.com/office/drawing/2014/main" id="{C117A1A6-5D85-E059-43D2-7C3A47D09CC0}"/>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36" name="Google Shape;6709;g2d30ebb658d_0_19789">
                <a:extLst>
                  <a:ext uri="{FF2B5EF4-FFF2-40B4-BE49-F238E27FC236}">
                    <a16:creationId xmlns:a16="http://schemas.microsoft.com/office/drawing/2014/main" id="{AF1EB55A-CEE5-8BFA-CF49-1DF7D797D06C}"/>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91" name="Google Shape;6710;g2d30ebb658d_0_19789">
              <a:extLst>
                <a:ext uri="{FF2B5EF4-FFF2-40B4-BE49-F238E27FC236}">
                  <a16:creationId xmlns:a16="http://schemas.microsoft.com/office/drawing/2014/main" id="{B8AFE575-5806-59CD-499E-026BCF6B51B8}"/>
                </a:ext>
              </a:extLst>
            </p:cNvPr>
            <p:cNvGrpSpPr/>
            <p:nvPr/>
          </p:nvGrpSpPr>
          <p:grpSpPr>
            <a:xfrm>
              <a:off x="4576370" y="5484188"/>
              <a:ext cx="283155" cy="283154"/>
              <a:chOff x="572541" y="5475121"/>
              <a:chExt cx="663407" cy="663407"/>
            </a:xfrm>
          </p:grpSpPr>
          <p:sp>
            <p:nvSpPr>
              <p:cNvPr id="133" name="Google Shape;6711;g2d30ebb658d_0_19789">
                <a:extLst>
                  <a:ext uri="{FF2B5EF4-FFF2-40B4-BE49-F238E27FC236}">
                    <a16:creationId xmlns:a16="http://schemas.microsoft.com/office/drawing/2014/main" id="{79B17AAE-E048-5724-3D91-D73F6581BE87}"/>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34" name="Google Shape;6712;g2d30ebb658d_0_19789">
                <a:extLst>
                  <a:ext uri="{FF2B5EF4-FFF2-40B4-BE49-F238E27FC236}">
                    <a16:creationId xmlns:a16="http://schemas.microsoft.com/office/drawing/2014/main" id="{D814FB76-AE3C-EFF4-5844-58A87533FF8C}"/>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92" name="Google Shape;6713;g2d30ebb658d_0_19789">
              <a:extLst>
                <a:ext uri="{FF2B5EF4-FFF2-40B4-BE49-F238E27FC236}">
                  <a16:creationId xmlns:a16="http://schemas.microsoft.com/office/drawing/2014/main" id="{093CD9BF-5749-DBB3-089F-C3CC7DBEAB91}"/>
                </a:ext>
              </a:extLst>
            </p:cNvPr>
            <p:cNvGrpSpPr/>
            <p:nvPr/>
          </p:nvGrpSpPr>
          <p:grpSpPr>
            <a:xfrm>
              <a:off x="5144738" y="5484189"/>
              <a:ext cx="283155" cy="283154"/>
              <a:chOff x="9272259" y="5475121"/>
              <a:chExt cx="663407" cy="663407"/>
            </a:xfrm>
          </p:grpSpPr>
          <p:sp>
            <p:nvSpPr>
              <p:cNvPr id="131" name="Google Shape;6714;g2d30ebb658d_0_19789">
                <a:extLst>
                  <a:ext uri="{FF2B5EF4-FFF2-40B4-BE49-F238E27FC236}">
                    <a16:creationId xmlns:a16="http://schemas.microsoft.com/office/drawing/2014/main" id="{0CA3FAC2-7285-68F8-813D-806AE242E087}"/>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32" name="Google Shape;6715;g2d30ebb658d_0_19789">
                <a:extLst>
                  <a:ext uri="{FF2B5EF4-FFF2-40B4-BE49-F238E27FC236}">
                    <a16:creationId xmlns:a16="http://schemas.microsoft.com/office/drawing/2014/main" id="{01118DFD-8E9B-28FA-B90C-944AB48839FD}"/>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97" name="Group 96">
              <a:extLst>
                <a:ext uri="{FF2B5EF4-FFF2-40B4-BE49-F238E27FC236}">
                  <a16:creationId xmlns:a16="http://schemas.microsoft.com/office/drawing/2014/main" id="{47473A96-ED08-638C-AA30-211D756AA5D0}"/>
                </a:ext>
              </a:extLst>
            </p:cNvPr>
            <p:cNvGrpSpPr/>
            <p:nvPr/>
          </p:nvGrpSpPr>
          <p:grpSpPr>
            <a:xfrm>
              <a:off x="4507602" y="4234126"/>
              <a:ext cx="1597075" cy="198035"/>
              <a:chOff x="4507602" y="2073203"/>
              <a:chExt cx="1597075" cy="198035"/>
            </a:xfrm>
          </p:grpSpPr>
          <p:sp>
            <p:nvSpPr>
              <p:cNvPr id="129" name="Google Shape;6704;g2d30ebb658d_0_19789">
                <a:extLst>
                  <a:ext uri="{FF2B5EF4-FFF2-40B4-BE49-F238E27FC236}">
                    <a16:creationId xmlns:a16="http://schemas.microsoft.com/office/drawing/2014/main" id="{35A54A40-7A73-9119-EAE8-4DCB4BE5DECE}"/>
                  </a:ext>
                </a:extLst>
              </p:cNvPr>
              <p:cNvSpPr/>
              <p:nvPr/>
            </p:nvSpPr>
            <p:spPr>
              <a:xfrm>
                <a:off x="4507602" y="207320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       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30" name="Google Shape;6699;p92">
                <a:extLst>
                  <a:ext uri="{FF2B5EF4-FFF2-40B4-BE49-F238E27FC236}">
                    <a16:creationId xmlns:a16="http://schemas.microsoft.com/office/drawing/2014/main" id="{277AAB6F-2B52-9D97-CAB5-454A7E8B03BF}"/>
                  </a:ext>
                </a:extLst>
              </p:cNvPr>
              <p:cNvPicPr preferRelativeResize="0">
                <a:picLocks noChangeAspect="1"/>
              </p:cNvPicPr>
              <p:nvPr/>
            </p:nvPicPr>
            <p:blipFill rotWithShape="1">
              <a:blip r:embed="rId5">
                <a:alphaModFix/>
              </a:blip>
              <a:srcRect/>
              <a:stretch/>
            </p:blipFill>
            <p:spPr>
              <a:xfrm>
                <a:off x="4647230" y="2085898"/>
                <a:ext cx="157608" cy="173213"/>
              </a:xfrm>
              <a:prstGeom prst="rect">
                <a:avLst/>
              </a:prstGeom>
              <a:noFill/>
              <a:ln>
                <a:noFill/>
              </a:ln>
            </p:spPr>
          </p:pic>
        </p:grpSp>
        <p:sp>
          <p:nvSpPr>
            <p:cNvPr id="98" name="Google Shape;6705;g2d30ebb658d_0_19789">
              <a:extLst>
                <a:ext uri="{FF2B5EF4-FFF2-40B4-BE49-F238E27FC236}">
                  <a16:creationId xmlns:a16="http://schemas.microsoft.com/office/drawing/2014/main" id="{18A6DE32-A3A8-4138-EEAA-966E55956161}"/>
                </a:ext>
              </a:extLst>
            </p:cNvPr>
            <p:cNvSpPr/>
            <p:nvPr/>
          </p:nvSpPr>
          <p:spPr>
            <a:xfrm>
              <a:off x="4476708" y="5111036"/>
              <a:ext cx="791217" cy="161072"/>
            </a:xfrm>
            <a:prstGeom prst="roundRect">
              <a:avLst>
                <a:gd name="adj" fmla="val 6349"/>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 Server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99" name="TextBox 98">
              <a:extLst>
                <a:ext uri="{FF2B5EF4-FFF2-40B4-BE49-F238E27FC236}">
                  <a16:creationId xmlns:a16="http://schemas.microsoft.com/office/drawing/2014/main" id="{C9DAACD6-F03C-98A4-700E-4B8874F69661}"/>
                </a:ext>
              </a:extLst>
            </p:cNvPr>
            <p:cNvSpPr txBox="1"/>
            <p:nvPr/>
          </p:nvSpPr>
          <p:spPr>
            <a:xfrm>
              <a:off x="4924734" y="5356478"/>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24" name="Google Shape;6705;g2d30ebb658d_0_19789">
              <a:extLst>
                <a:ext uri="{FF2B5EF4-FFF2-40B4-BE49-F238E27FC236}">
                  <a16:creationId xmlns:a16="http://schemas.microsoft.com/office/drawing/2014/main" id="{25EACB1C-6F6E-54A2-2E37-B783B767E2EB}"/>
                </a:ext>
              </a:extLst>
            </p:cNvPr>
            <p:cNvSpPr/>
            <p:nvPr/>
          </p:nvSpPr>
          <p:spPr>
            <a:xfrm>
              <a:off x="5322645" y="5109189"/>
              <a:ext cx="816654" cy="161072"/>
            </a:xfrm>
            <a:prstGeom prst="roundRect">
              <a:avLst>
                <a:gd name="adj" fmla="val 6349"/>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NSX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8" name="Google Shape;6678;g2d30ebb658d_0_19789">
              <a:extLst>
                <a:ext uri="{FF2B5EF4-FFF2-40B4-BE49-F238E27FC236}">
                  <a16:creationId xmlns:a16="http://schemas.microsoft.com/office/drawing/2014/main" id="{B0421CBA-D6DA-14A4-F759-D9320B24A429}"/>
                </a:ext>
              </a:extLst>
            </p:cNvPr>
            <p:cNvSpPr/>
            <p:nvPr/>
          </p:nvSpPr>
          <p:spPr>
            <a:xfrm>
              <a:off x="4950404" y="4906232"/>
              <a:ext cx="701104" cy="151298"/>
            </a:xfrm>
            <a:prstGeom prst="roundRect">
              <a:avLst>
                <a:gd name="adj" fmla="val 2356"/>
              </a:avLst>
            </a:prstGeom>
            <a:solidFill>
              <a:schemeClr val="bg1"/>
            </a:solidFill>
            <a:ln w="12700">
              <a:solidFill>
                <a:srgbClr val="23800A"/>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23800A"/>
                  </a:solidFill>
                  <a:effectLst/>
                  <a:uLnTx/>
                  <a:uFillTx/>
                  <a:latin typeface="Arial"/>
                  <a:ea typeface="Arial"/>
                  <a:cs typeface="Arial"/>
                  <a:sym typeface="Arial"/>
                </a:rPr>
                <a:t>Cluster…</a:t>
              </a:r>
              <a:endParaRPr kumimoji="0" sz="700" b="0" i="0" u="none" strike="noStrike" kern="1200" cap="none" spc="0" normalizeH="0" baseline="0" noProof="0" dirty="0">
                <a:ln>
                  <a:noFill/>
                </a:ln>
                <a:solidFill>
                  <a:srgbClr val="23800A"/>
                </a:solidFill>
                <a:effectLst/>
                <a:uLnTx/>
                <a:uFillTx/>
                <a:latin typeface="Arial"/>
                <a:ea typeface="Arial"/>
                <a:cs typeface="Arial"/>
                <a:sym typeface="Arial"/>
              </a:endParaRPr>
            </a:p>
          </p:txBody>
        </p:sp>
      </p:grpSp>
      <p:grpSp>
        <p:nvGrpSpPr>
          <p:cNvPr id="137" name="Group 136">
            <a:extLst>
              <a:ext uri="{FF2B5EF4-FFF2-40B4-BE49-F238E27FC236}">
                <a16:creationId xmlns:a16="http://schemas.microsoft.com/office/drawing/2014/main" id="{A52282FF-3F3D-B853-F5E7-16F4EA2096CF}"/>
              </a:ext>
            </a:extLst>
          </p:cNvPr>
          <p:cNvGrpSpPr/>
          <p:nvPr/>
        </p:nvGrpSpPr>
        <p:grpSpPr>
          <a:xfrm>
            <a:off x="3358208" y="4865468"/>
            <a:ext cx="1835838" cy="855674"/>
            <a:chOff x="3646549" y="4854958"/>
            <a:chExt cx="1835838" cy="855674"/>
          </a:xfrm>
        </p:grpSpPr>
        <p:sp>
          <p:nvSpPr>
            <p:cNvPr id="138" name="Google Shape;6678;g2d30ebb658d_0_19789">
              <a:extLst>
                <a:ext uri="{FF2B5EF4-FFF2-40B4-BE49-F238E27FC236}">
                  <a16:creationId xmlns:a16="http://schemas.microsoft.com/office/drawing/2014/main" id="{26173E7E-DB08-81BC-CAB0-7BC6495A7B72}"/>
                </a:ext>
              </a:extLst>
            </p:cNvPr>
            <p:cNvSpPr>
              <a:spLocks noChangeAspect="1"/>
            </p:cNvSpPr>
            <p:nvPr/>
          </p:nvSpPr>
          <p:spPr>
            <a:xfrm>
              <a:off x="3646549" y="4854958"/>
              <a:ext cx="1835838" cy="855674"/>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139" name="Graphic 138">
              <a:extLst>
                <a:ext uri="{FF2B5EF4-FFF2-40B4-BE49-F238E27FC236}">
                  <a16:creationId xmlns:a16="http://schemas.microsoft.com/office/drawing/2014/main" id="{F181A021-962D-90F8-4969-F1CC4AB9E3F3}"/>
                </a:ext>
              </a:extLst>
            </p:cNvPr>
            <p:cNvPicPr>
              <a:picLocks noChangeAspect="1"/>
            </p:cNvPicPr>
            <p:nvPr/>
          </p:nvPicPr>
          <p:blipFill>
            <a:blip r:embed="rId3">
              <a:extLst>
                <a:ext uri="{96DAC541-7B7A-43D3-8B79-37D633B846F1}">
                  <asvg:svgBlip xmlns:asvg="http://schemas.microsoft.com/office/drawing/2016/SVG/main" r:embed="rId4"/>
                </a:ext>
              </a:extLst>
            </a:blip>
            <a:srcRect l="6724" t="67309" r="8271" b="3744"/>
            <a:stretch/>
          </p:blipFill>
          <p:spPr>
            <a:xfrm>
              <a:off x="3670019" y="5481809"/>
              <a:ext cx="592030" cy="201601"/>
            </a:xfrm>
            <a:prstGeom prst="rect">
              <a:avLst/>
            </a:prstGeom>
          </p:spPr>
        </p:pic>
        <p:pic>
          <p:nvPicPr>
            <p:cNvPr id="140" name="Graphic 139">
              <a:extLst>
                <a:ext uri="{FF2B5EF4-FFF2-40B4-BE49-F238E27FC236}">
                  <a16:creationId xmlns:a16="http://schemas.microsoft.com/office/drawing/2014/main" id="{52B7864D-F62D-EC0B-F142-9AAAFAC12AD0}"/>
                </a:ext>
              </a:extLst>
            </p:cNvPr>
            <p:cNvPicPr>
              <a:picLocks noChangeAspect="1"/>
            </p:cNvPicPr>
            <p:nvPr/>
          </p:nvPicPr>
          <p:blipFill>
            <a:blip r:embed="rId3">
              <a:extLst>
                <a:ext uri="{96DAC541-7B7A-43D3-8B79-37D633B846F1}">
                  <asvg:svgBlip xmlns:asvg="http://schemas.microsoft.com/office/drawing/2016/SVG/main" r:embed="rId4"/>
                </a:ext>
              </a:extLst>
            </a:blip>
            <a:srcRect l="6724" t="67309" r="8271" b="3744"/>
            <a:stretch/>
          </p:blipFill>
          <p:spPr>
            <a:xfrm>
              <a:off x="4265104" y="5481809"/>
              <a:ext cx="592030" cy="201601"/>
            </a:xfrm>
            <a:prstGeom prst="rect">
              <a:avLst/>
            </a:prstGeom>
          </p:spPr>
        </p:pic>
        <p:pic>
          <p:nvPicPr>
            <p:cNvPr id="141" name="Graphic 140">
              <a:extLst>
                <a:ext uri="{FF2B5EF4-FFF2-40B4-BE49-F238E27FC236}">
                  <a16:creationId xmlns:a16="http://schemas.microsoft.com/office/drawing/2014/main" id="{AF9E8406-033D-430F-3C8A-04F068C7A095}"/>
                </a:ext>
              </a:extLst>
            </p:cNvPr>
            <p:cNvPicPr>
              <a:picLocks noChangeAspect="1"/>
            </p:cNvPicPr>
            <p:nvPr/>
          </p:nvPicPr>
          <p:blipFill>
            <a:blip r:embed="rId3">
              <a:extLst>
                <a:ext uri="{96DAC541-7B7A-43D3-8B79-37D633B846F1}">
                  <asvg:svgBlip xmlns:asvg="http://schemas.microsoft.com/office/drawing/2016/SVG/main" r:embed="rId4"/>
                </a:ext>
              </a:extLst>
            </a:blip>
            <a:srcRect l="6724" t="67309" r="8271" b="3744"/>
            <a:stretch/>
          </p:blipFill>
          <p:spPr>
            <a:xfrm>
              <a:off x="4867389" y="5481809"/>
              <a:ext cx="592030" cy="201601"/>
            </a:xfrm>
            <a:prstGeom prst="rect">
              <a:avLst/>
            </a:prstGeom>
          </p:spPr>
        </p:pic>
      </p:grpSp>
      <p:grpSp>
        <p:nvGrpSpPr>
          <p:cNvPr id="142" name="Group 141">
            <a:extLst>
              <a:ext uri="{FF2B5EF4-FFF2-40B4-BE49-F238E27FC236}">
                <a16:creationId xmlns:a16="http://schemas.microsoft.com/office/drawing/2014/main" id="{42FB7298-3B5D-0AD6-2FF5-A46180BF4C46}"/>
              </a:ext>
            </a:extLst>
          </p:cNvPr>
          <p:cNvGrpSpPr/>
          <p:nvPr/>
        </p:nvGrpSpPr>
        <p:grpSpPr>
          <a:xfrm>
            <a:off x="851768" y="3083568"/>
            <a:ext cx="1835838" cy="653553"/>
            <a:chOff x="4637572" y="5714465"/>
            <a:chExt cx="1835838" cy="653553"/>
          </a:xfrm>
        </p:grpSpPr>
        <p:sp>
          <p:nvSpPr>
            <p:cNvPr id="143" name="Google Shape;6678;g2d30ebb658d_0_19789">
              <a:extLst>
                <a:ext uri="{FF2B5EF4-FFF2-40B4-BE49-F238E27FC236}">
                  <a16:creationId xmlns:a16="http://schemas.microsoft.com/office/drawing/2014/main" id="{8673BE5A-BAFE-5D6B-5BA8-7A6924640D68}"/>
                </a:ext>
              </a:extLst>
            </p:cNvPr>
            <p:cNvSpPr>
              <a:spLocks noChangeAspect="1"/>
            </p:cNvSpPr>
            <p:nvPr/>
          </p:nvSpPr>
          <p:spPr>
            <a:xfrm>
              <a:off x="4637572" y="5714465"/>
              <a:ext cx="1835838" cy="653553"/>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144" name="Graphic 143">
              <a:extLst>
                <a:ext uri="{FF2B5EF4-FFF2-40B4-BE49-F238E27FC236}">
                  <a16:creationId xmlns:a16="http://schemas.microsoft.com/office/drawing/2014/main" id="{B358D864-60C4-9962-DA5F-ABD6428AE275}"/>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4663002" y="6146720"/>
              <a:ext cx="592030" cy="201601"/>
            </a:xfrm>
            <a:prstGeom prst="rect">
              <a:avLst/>
            </a:prstGeom>
          </p:spPr>
        </p:pic>
        <p:pic>
          <p:nvPicPr>
            <p:cNvPr id="145" name="Graphic 144">
              <a:extLst>
                <a:ext uri="{FF2B5EF4-FFF2-40B4-BE49-F238E27FC236}">
                  <a16:creationId xmlns:a16="http://schemas.microsoft.com/office/drawing/2014/main" id="{D88FD47D-AF65-4771-01B7-6CF74B3872D2}"/>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258087" y="6146720"/>
              <a:ext cx="592030" cy="201601"/>
            </a:xfrm>
            <a:prstGeom prst="rect">
              <a:avLst/>
            </a:prstGeom>
          </p:spPr>
        </p:pic>
        <p:pic>
          <p:nvPicPr>
            <p:cNvPr id="146" name="Graphic 145">
              <a:extLst>
                <a:ext uri="{FF2B5EF4-FFF2-40B4-BE49-F238E27FC236}">
                  <a16:creationId xmlns:a16="http://schemas.microsoft.com/office/drawing/2014/main" id="{57A5B148-3215-FCBC-594C-5153D0A97B9F}"/>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860372" y="6146720"/>
              <a:ext cx="592030" cy="201601"/>
            </a:xfrm>
            <a:prstGeom prst="rect">
              <a:avLst/>
            </a:prstGeom>
          </p:spPr>
        </p:pic>
        <p:pic>
          <p:nvPicPr>
            <p:cNvPr id="147" name="Graphic 146">
              <a:extLst>
                <a:ext uri="{FF2B5EF4-FFF2-40B4-BE49-F238E27FC236}">
                  <a16:creationId xmlns:a16="http://schemas.microsoft.com/office/drawing/2014/main" id="{ACD8FFA7-DD76-D9FB-0FE1-A8E35464FA0A}"/>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4669352" y="5941887"/>
              <a:ext cx="592030" cy="201601"/>
            </a:xfrm>
            <a:prstGeom prst="rect">
              <a:avLst/>
            </a:prstGeom>
          </p:spPr>
        </p:pic>
        <p:pic>
          <p:nvPicPr>
            <p:cNvPr id="148" name="Graphic 147">
              <a:extLst>
                <a:ext uri="{FF2B5EF4-FFF2-40B4-BE49-F238E27FC236}">
                  <a16:creationId xmlns:a16="http://schemas.microsoft.com/office/drawing/2014/main" id="{04818D37-69AA-F6FE-C3BF-E1E6FA40A8D8}"/>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264437" y="5941887"/>
              <a:ext cx="592030" cy="201601"/>
            </a:xfrm>
            <a:prstGeom prst="rect">
              <a:avLst/>
            </a:prstGeom>
          </p:spPr>
        </p:pic>
        <p:pic>
          <p:nvPicPr>
            <p:cNvPr id="149" name="Graphic 148">
              <a:extLst>
                <a:ext uri="{FF2B5EF4-FFF2-40B4-BE49-F238E27FC236}">
                  <a16:creationId xmlns:a16="http://schemas.microsoft.com/office/drawing/2014/main" id="{CB3B1F53-74CC-4147-CBF2-89803F246115}"/>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866722" y="5941887"/>
              <a:ext cx="592030" cy="201601"/>
            </a:xfrm>
            <a:prstGeom prst="rect">
              <a:avLst/>
            </a:prstGeom>
          </p:spPr>
        </p:pic>
        <p:pic>
          <p:nvPicPr>
            <p:cNvPr id="150" name="Graphic 149">
              <a:extLst>
                <a:ext uri="{FF2B5EF4-FFF2-40B4-BE49-F238E27FC236}">
                  <a16:creationId xmlns:a16="http://schemas.microsoft.com/office/drawing/2014/main" id="{97010360-AC18-0B87-380F-0D554AAE2182}"/>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4668427" y="5743855"/>
              <a:ext cx="592030" cy="201601"/>
            </a:xfrm>
            <a:prstGeom prst="rect">
              <a:avLst/>
            </a:prstGeom>
          </p:spPr>
        </p:pic>
        <p:pic>
          <p:nvPicPr>
            <p:cNvPr id="151" name="Graphic 150">
              <a:extLst>
                <a:ext uri="{FF2B5EF4-FFF2-40B4-BE49-F238E27FC236}">
                  <a16:creationId xmlns:a16="http://schemas.microsoft.com/office/drawing/2014/main" id="{10A09370-B4D7-BAA8-4A6F-821929ABF378}"/>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263512" y="5743855"/>
              <a:ext cx="592030" cy="201601"/>
            </a:xfrm>
            <a:prstGeom prst="rect">
              <a:avLst/>
            </a:prstGeom>
          </p:spPr>
        </p:pic>
        <p:pic>
          <p:nvPicPr>
            <p:cNvPr id="152" name="Graphic 151">
              <a:extLst>
                <a:ext uri="{FF2B5EF4-FFF2-40B4-BE49-F238E27FC236}">
                  <a16:creationId xmlns:a16="http://schemas.microsoft.com/office/drawing/2014/main" id="{AAC16260-1294-044C-ABE3-4B357D5CEB61}"/>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865797" y="5743855"/>
              <a:ext cx="592030" cy="201601"/>
            </a:xfrm>
            <a:prstGeom prst="rect">
              <a:avLst/>
            </a:prstGeom>
          </p:spPr>
        </p:pic>
      </p:grpSp>
      <p:grpSp>
        <p:nvGrpSpPr>
          <p:cNvPr id="153" name="Group 152">
            <a:extLst>
              <a:ext uri="{FF2B5EF4-FFF2-40B4-BE49-F238E27FC236}">
                <a16:creationId xmlns:a16="http://schemas.microsoft.com/office/drawing/2014/main" id="{EA1D8EEB-F989-C63F-2AC9-9CA967D030FB}"/>
              </a:ext>
            </a:extLst>
          </p:cNvPr>
          <p:cNvGrpSpPr/>
          <p:nvPr/>
        </p:nvGrpSpPr>
        <p:grpSpPr>
          <a:xfrm>
            <a:off x="3363336" y="4871762"/>
            <a:ext cx="1835838" cy="855674"/>
            <a:chOff x="4637572" y="5714465"/>
            <a:chExt cx="1835838" cy="855674"/>
          </a:xfrm>
        </p:grpSpPr>
        <p:sp>
          <p:nvSpPr>
            <p:cNvPr id="154" name="Google Shape;6678;g2d30ebb658d_0_19789">
              <a:extLst>
                <a:ext uri="{FF2B5EF4-FFF2-40B4-BE49-F238E27FC236}">
                  <a16:creationId xmlns:a16="http://schemas.microsoft.com/office/drawing/2014/main" id="{7E71F76B-EB9B-DE34-30D7-B19F86BD9A0E}"/>
                </a:ext>
              </a:extLst>
            </p:cNvPr>
            <p:cNvSpPr>
              <a:spLocks noChangeAspect="1"/>
            </p:cNvSpPr>
            <p:nvPr/>
          </p:nvSpPr>
          <p:spPr>
            <a:xfrm>
              <a:off x="4637572" y="5714465"/>
              <a:ext cx="1835838" cy="855674"/>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155" name="Graphic 154">
              <a:extLst>
                <a:ext uri="{FF2B5EF4-FFF2-40B4-BE49-F238E27FC236}">
                  <a16:creationId xmlns:a16="http://schemas.microsoft.com/office/drawing/2014/main" id="{F73354CB-B428-F4C2-10B0-5AA2261BFAD7}"/>
                </a:ext>
              </a:extLst>
            </p:cNvPr>
            <p:cNvPicPr>
              <a:picLocks noChangeAspect="1"/>
            </p:cNvPicPr>
            <p:nvPr/>
          </p:nvPicPr>
          <p:blipFill>
            <a:blip r:embed="rId3">
              <a:extLst>
                <a:ext uri="{96DAC541-7B7A-43D3-8B79-37D633B846F1}">
                  <asvg:svgBlip xmlns:asvg="http://schemas.microsoft.com/office/drawing/2016/SVG/main" r:embed="rId4"/>
                </a:ext>
              </a:extLst>
            </a:blip>
            <a:srcRect l="6724" t="67309" r="8271" b="3744"/>
            <a:stretch/>
          </p:blipFill>
          <p:spPr>
            <a:xfrm>
              <a:off x="4661042" y="6341316"/>
              <a:ext cx="592030" cy="201601"/>
            </a:xfrm>
            <a:prstGeom prst="rect">
              <a:avLst/>
            </a:prstGeom>
          </p:spPr>
        </p:pic>
        <p:pic>
          <p:nvPicPr>
            <p:cNvPr id="156" name="Graphic 155">
              <a:extLst>
                <a:ext uri="{FF2B5EF4-FFF2-40B4-BE49-F238E27FC236}">
                  <a16:creationId xmlns:a16="http://schemas.microsoft.com/office/drawing/2014/main" id="{E516D2E0-F41B-DF0B-0F6C-C43E5C126069}"/>
                </a:ext>
              </a:extLst>
            </p:cNvPr>
            <p:cNvPicPr>
              <a:picLocks noChangeAspect="1"/>
            </p:cNvPicPr>
            <p:nvPr/>
          </p:nvPicPr>
          <p:blipFill>
            <a:blip r:embed="rId3">
              <a:extLst>
                <a:ext uri="{96DAC541-7B7A-43D3-8B79-37D633B846F1}">
                  <asvg:svgBlip xmlns:asvg="http://schemas.microsoft.com/office/drawing/2016/SVG/main" r:embed="rId4"/>
                </a:ext>
              </a:extLst>
            </a:blip>
            <a:srcRect l="6724" t="67309" r="8271" b="3744"/>
            <a:stretch/>
          </p:blipFill>
          <p:spPr>
            <a:xfrm>
              <a:off x="5256127" y="6341316"/>
              <a:ext cx="592030" cy="201601"/>
            </a:xfrm>
            <a:prstGeom prst="rect">
              <a:avLst/>
            </a:prstGeom>
          </p:spPr>
        </p:pic>
        <p:pic>
          <p:nvPicPr>
            <p:cNvPr id="157" name="Graphic 156">
              <a:extLst>
                <a:ext uri="{FF2B5EF4-FFF2-40B4-BE49-F238E27FC236}">
                  <a16:creationId xmlns:a16="http://schemas.microsoft.com/office/drawing/2014/main" id="{E6B21E13-B303-C530-8AB7-64224047DE17}"/>
                </a:ext>
              </a:extLst>
            </p:cNvPr>
            <p:cNvPicPr>
              <a:picLocks noChangeAspect="1"/>
            </p:cNvPicPr>
            <p:nvPr/>
          </p:nvPicPr>
          <p:blipFill>
            <a:blip r:embed="rId3">
              <a:extLst>
                <a:ext uri="{96DAC541-7B7A-43D3-8B79-37D633B846F1}">
                  <asvg:svgBlip xmlns:asvg="http://schemas.microsoft.com/office/drawing/2016/SVG/main" r:embed="rId4"/>
                </a:ext>
              </a:extLst>
            </a:blip>
            <a:srcRect l="6724" t="67309" r="8271" b="3744"/>
            <a:stretch/>
          </p:blipFill>
          <p:spPr>
            <a:xfrm>
              <a:off x="5858412" y="6341316"/>
              <a:ext cx="592030" cy="201601"/>
            </a:xfrm>
            <a:prstGeom prst="rect">
              <a:avLst/>
            </a:prstGeom>
          </p:spPr>
        </p:pic>
        <p:pic>
          <p:nvPicPr>
            <p:cNvPr id="158" name="Graphic 157">
              <a:extLst>
                <a:ext uri="{FF2B5EF4-FFF2-40B4-BE49-F238E27FC236}">
                  <a16:creationId xmlns:a16="http://schemas.microsoft.com/office/drawing/2014/main" id="{05E1C833-FDA0-2CF3-E3CA-0C6D1EE14A44}"/>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4663002" y="6146720"/>
              <a:ext cx="592030" cy="201601"/>
            </a:xfrm>
            <a:prstGeom prst="rect">
              <a:avLst/>
            </a:prstGeom>
          </p:spPr>
        </p:pic>
        <p:pic>
          <p:nvPicPr>
            <p:cNvPr id="159" name="Graphic 158">
              <a:extLst>
                <a:ext uri="{FF2B5EF4-FFF2-40B4-BE49-F238E27FC236}">
                  <a16:creationId xmlns:a16="http://schemas.microsoft.com/office/drawing/2014/main" id="{1A964F4E-6E8D-DC79-6AF8-9B673197CD78}"/>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258087" y="6146720"/>
              <a:ext cx="592030" cy="201601"/>
            </a:xfrm>
            <a:prstGeom prst="rect">
              <a:avLst/>
            </a:prstGeom>
          </p:spPr>
        </p:pic>
        <p:pic>
          <p:nvPicPr>
            <p:cNvPr id="160" name="Graphic 159">
              <a:extLst>
                <a:ext uri="{FF2B5EF4-FFF2-40B4-BE49-F238E27FC236}">
                  <a16:creationId xmlns:a16="http://schemas.microsoft.com/office/drawing/2014/main" id="{39E5014E-80F4-27C5-3F52-070DFAC4F4DA}"/>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860372" y="6146720"/>
              <a:ext cx="592030" cy="201601"/>
            </a:xfrm>
            <a:prstGeom prst="rect">
              <a:avLst/>
            </a:prstGeom>
          </p:spPr>
        </p:pic>
        <p:pic>
          <p:nvPicPr>
            <p:cNvPr id="161" name="Graphic 160">
              <a:extLst>
                <a:ext uri="{FF2B5EF4-FFF2-40B4-BE49-F238E27FC236}">
                  <a16:creationId xmlns:a16="http://schemas.microsoft.com/office/drawing/2014/main" id="{FE80420D-3E99-F375-4CC5-748C5EE58559}"/>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4669352" y="5941887"/>
              <a:ext cx="592030" cy="201601"/>
            </a:xfrm>
            <a:prstGeom prst="rect">
              <a:avLst/>
            </a:prstGeom>
          </p:spPr>
        </p:pic>
        <p:pic>
          <p:nvPicPr>
            <p:cNvPr id="162" name="Graphic 161">
              <a:extLst>
                <a:ext uri="{FF2B5EF4-FFF2-40B4-BE49-F238E27FC236}">
                  <a16:creationId xmlns:a16="http://schemas.microsoft.com/office/drawing/2014/main" id="{FB7C4862-9F90-B194-ECDE-9E0A02926E5C}"/>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264437" y="5941887"/>
              <a:ext cx="592030" cy="201601"/>
            </a:xfrm>
            <a:prstGeom prst="rect">
              <a:avLst/>
            </a:prstGeom>
          </p:spPr>
        </p:pic>
        <p:pic>
          <p:nvPicPr>
            <p:cNvPr id="163" name="Graphic 162">
              <a:extLst>
                <a:ext uri="{FF2B5EF4-FFF2-40B4-BE49-F238E27FC236}">
                  <a16:creationId xmlns:a16="http://schemas.microsoft.com/office/drawing/2014/main" id="{0E0EE51A-CBEF-C3D9-AA95-1E1E5C77FED6}"/>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866722" y="5941887"/>
              <a:ext cx="592030" cy="201601"/>
            </a:xfrm>
            <a:prstGeom prst="rect">
              <a:avLst/>
            </a:prstGeom>
          </p:spPr>
        </p:pic>
        <p:pic>
          <p:nvPicPr>
            <p:cNvPr id="164" name="Graphic 163">
              <a:extLst>
                <a:ext uri="{FF2B5EF4-FFF2-40B4-BE49-F238E27FC236}">
                  <a16:creationId xmlns:a16="http://schemas.microsoft.com/office/drawing/2014/main" id="{C1970002-EA64-A19B-0FA1-7B1C4FFD00D1}"/>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4668427" y="5743855"/>
              <a:ext cx="592030" cy="201601"/>
            </a:xfrm>
            <a:prstGeom prst="rect">
              <a:avLst/>
            </a:prstGeom>
          </p:spPr>
        </p:pic>
        <p:pic>
          <p:nvPicPr>
            <p:cNvPr id="165" name="Graphic 164">
              <a:extLst>
                <a:ext uri="{FF2B5EF4-FFF2-40B4-BE49-F238E27FC236}">
                  <a16:creationId xmlns:a16="http://schemas.microsoft.com/office/drawing/2014/main" id="{2C28594B-A1DD-D2AE-99E0-DE582C830281}"/>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263512" y="5743855"/>
              <a:ext cx="592030" cy="201601"/>
            </a:xfrm>
            <a:prstGeom prst="rect">
              <a:avLst/>
            </a:prstGeom>
          </p:spPr>
        </p:pic>
        <p:pic>
          <p:nvPicPr>
            <p:cNvPr id="166" name="Graphic 165">
              <a:extLst>
                <a:ext uri="{FF2B5EF4-FFF2-40B4-BE49-F238E27FC236}">
                  <a16:creationId xmlns:a16="http://schemas.microsoft.com/office/drawing/2014/main" id="{7123C35F-290B-C28B-BFDA-25711F4F8858}"/>
                </a:ext>
              </a:extLst>
            </p:cNvPr>
            <p:cNvPicPr>
              <a:picLocks noChangeAspect="1"/>
            </p:cNvPicPr>
            <p:nvPr/>
          </p:nvPicPr>
          <p:blipFill>
            <a:blip r:embed="rId6">
              <a:extLst>
                <a:ext uri="{96DAC541-7B7A-43D3-8B79-37D633B846F1}">
                  <asvg:svgBlip xmlns:asvg="http://schemas.microsoft.com/office/drawing/2016/SVG/main" r:embed="rId7"/>
                </a:ext>
              </a:extLst>
            </a:blip>
            <a:srcRect l="6724" t="67309" r="8271" b="3744"/>
            <a:stretch/>
          </p:blipFill>
          <p:spPr>
            <a:xfrm>
              <a:off x="5865797" y="5743855"/>
              <a:ext cx="592030" cy="201601"/>
            </a:xfrm>
            <a:prstGeom prst="rect">
              <a:avLst/>
            </a:prstGeom>
          </p:spPr>
        </p:pic>
      </p:grpSp>
      <p:grpSp>
        <p:nvGrpSpPr>
          <p:cNvPr id="167" name="Group 166">
            <a:extLst>
              <a:ext uri="{FF2B5EF4-FFF2-40B4-BE49-F238E27FC236}">
                <a16:creationId xmlns:a16="http://schemas.microsoft.com/office/drawing/2014/main" id="{E76D1A81-1F57-EF3C-7377-1A9B1FFD45C7}"/>
              </a:ext>
            </a:extLst>
          </p:cNvPr>
          <p:cNvGrpSpPr/>
          <p:nvPr/>
        </p:nvGrpSpPr>
        <p:grpSpPr>
          <a:xfrm>
            <a:off x="3386806" y="5297889"/>
            <a:ext cx="1789400" cy="201601"/>
            <a:chOff x="5763715" y="5474762"/>
            <a:chExt cx="1789400" cy="201601"/>
          </a:xfrm>
        </p:grpSpPr>
        <p:pic>
          <p:nvPicPr>
            <p:cNvPr id="168" name="Graphic 167">
              <a:extLst>
                <a:ext uri="{FF2B5EF4-FFF2-40B4-BE49-F238E27FC236}">
                  <a16:creationId xmlns:a16="http://schemas.microsoft.com/office/drawing/2014/main" id="{D08D8481-7A73-D4FF-F624-7F5CAFC3F715}"/>
                </a:ext>
              </a:extLst>
            </p:cNvPr>
            <p:cNvPicPr>
              <a:picLocks noChangeAspect="1"/>
            </p:cNvPicPr>
            <p:nvPr/>
          </p:nvPicPr>
          <p:blipFill>
            <a:blip r:embed="rId8">
              <a:extLst>
                <a:ext uri="{96DAC541-7B7A-43D3-8B79-37D633B846F1}">
                  <asvg:svgBlip xmlns:asvg="http://schemas.microsoft.com/office/drawing/2016/SVG/main" r:embed="rId9"/>
                </a:ext>
              </a:extLst>
            </a:blip>
            <a:srcRect l="6724" t="67309" r="8271" b="3744"/>
            <a:stretch/>
          </p:blipFill>
          <p:spPr>
            <a:xfrm>
              <a:off x="5763715" y="5474762"/>
              <a:ext cx="592030" cy="201601"/>
            </a:xfrm>
            <a:prstGeom prst="rect">
              <a:avLst/>
            </a:prstGeom>
          </p:spPr>
        </p:pic>
        <p:pic>
          <p:nvPicPr>
            <p:cNvPr id="169" name="Graphic 168">
              <a:extLst>
                <a:ext uri="{FF2B5EF4-FFF2-40B4-BE49-F238E27FC236}">
                  <a16:creationId xmlns:a16="http://schemas.microsoft.com/office/drawing/2014/main" id="{1D222553-F347-0F18-F658-01C2C3C2D358}"/>
                </a:ext>
              </a:extLst>
            </p:cNvPr>
            <p:cNvPicPr>
              <a:picLocks noChangeAspect="1"/>
            </p:cNvPicPr>
            <p:nvPr/>
          </p:nvPicPr>
          <p:blipFill>
            <a:blip r:embed="rId8">
              <a:extLst>
                <a:ext uri="{96DAC541-7B7A-43D3-8B79-37D633B846F1}">
                  <asvg:svgBlip xmlns:asvg="http://schemas.microsoft.com/office/drawing/2016/SVG/main" r:embed="rId9"/>
                </a:ext>
              </a:extLst>
            </a:blip>
            <a:srcRect l="6724" t="67309" r="8271" b="3744"/>
            <a:stretch/>
          </p:blipFill>
          <p:spPr>
            <a:xfrm>
              <a:off x="6358800" y="5474762"/>
              <a:ext cx="592030" cy="201601"/>
            </a:xfrm>
            <a:prstGeom prst="rect">
              <a:avLst/>
            </a:prstGeom>
          </p:spPr>
        </p:pic>
        <p:pic>
          <p:nvPicPr>
            <p:cNvPr id="170" name="Graphic 169">
              <a:extLst>
                <a:ext uri="{FF2B5EF4-FFF2-40B4-BE49-F238E27FC236}">
                  <a16:creationId xmlns:a16="http://schemas.microsoft.com/office/drawing/2014/main" id="{B9F94332-7155-E019-DC65-65F035E9B97C}"/>
                </a:ext>
              </a:extLst>
            </p:cNvPr>
            <p:cNvPicPr>
              <a:picLocks noChangeAspect="1"/>
            </p:cNvPicPr>
            <p:nvPr/>
          </p:nvPicPr>
          <p:blipFill>
            <a:blip r:embed="rId8">
              <a:extLst>
                <a:ext uri="{96DAC541-7B7A-43D3-8B79-37D633B846F1}">
                  <asvg:svgBlip xmlns:asvg="http://schemas.microsoft.com/office/drawing/2016/SVG/main" r:embed="rId9"/>
                </a:ext>
              </a:extLst>
            </a:blip>
            <a:srcRect l="6724" t="67309" r="8271" b="3744"/>
            <a:stretch/>
          </p:blipFill>
          <p:spPr>
            <a:xfrm>
              <a:off x="6961085" y="5474762"/>
              <a:ext cx="592030" cy="201601"/>
            </a:xfrm>
            <a:prstGeom prst="rect">
              <a:avLst/>
            </a:prstGeom>
          </p:spPr>
        </p:pic>
      </p:grpSp>
      <p:grpSp>
        <p:nvGrpSpPr>
          <p:cNvPr id="171" name="Group 170">
            <a:extLst>
              <a:ext uri="{FF2B5EF4-FFF2-40B4-BE49-F238E27FC236}">
                <a16:creationId xmlns:a16="http://schemas.microsoft.com/office/drawing/2014/main" id="{6AB1DA5B-4C7A-A3C9-74F9-FBE67B545C88}"/>
              </a:ext>
            </a:extLst>
          </p:cNvPr>
          <p:cNvGrpSpPr/>
          <p:nvPr/>
        </p:nvGrpSpPr>
        <p:grpSpPr>
          <a:xfrm>
            <a:off x="3395116" y="5095952"/>
            <a:ext cx="1789400" cy="201601"/>
            <a:chOff x="5763715" y="5474762"/>
            <a:chExt cx="1789400" cy="201601"/>
          </a:xfrm>
        </p:grpSpPr>
        <p:pic>
          <p:nvPicPr>
            <p:cNvPr id="172" name="Graphic 171">
              <a:extLst>
                <a:ext uri="{FF2B5EF4-FFF2-40B4-BE49-F238E27FC236}">
                  <a16:creationId xmlns:a16="http://schemas.microsoft.com/office/drawing/2014/main" id="{7D27DC4C-02BA-F493-AC2D-489B2A47F765}"/>
                </a:ext>
              </a:extLst>
            </p:cNvPr>
            <p:cNvPicPr>
              <a:picLocks noChangeAspect="1"/>
            </p:cNvPicPr>
            <p:nvPr/>
          </p:nvPicPr>
          <p:blipFill>
            <a:blip r:embed="rId10">
              <a:extLst>
                <a:ext uri="{96DAC541-7B7A-43D3-8B79-37D633B846F1}">
                  <asvg:svgBlip xmlns:asvg="http://schemas.microsoft.com/office/drawing/2016/SVG/main" r:embed="rId11"/>
                </a:ext>
              </a:extLst>
            </a:blip>
            <a:srcRect l="6724" t="67309" r="8271" b="3744"/>
            <a:stretch/>
          </p:blipFill>
          <p:spPr>
            <a:xfrm>
              <a:off x="5763715" y="5474762"/>
              <a:ext cx="592030" cy="201601"/>
            </a:xfrm>
            <a:prstGeom prst="rect">
              <a:avLst/>
            </a:prstGeom>
          </p:spPr>
        </p:pic>
        <p:pic>
          <p:nvPicPr>
            <p:cNvPr id="173" name="Graphic 172">
              <a:extLst>
                <a:ext uri="{FF2B5EF4-FFF2-40B4-BE49-F238E27FC236}">
                  <a16:creationId xmlns:a16="http://schemas.microsoft.com/office/drawing/2014/main" id="{908A681A-D4AF-CF14-6A1D-F34AE7DB6874}"/>
                </a:ext>
              </a:extLst>
            </p:cNvPr>
            <p:cNvPicPr>
              <a:picLocks noChangeAspect="1"/>
            </p:cNvPicPr>
            <p:nvPr/>
          </p:nvPicPr>
          <p:blipFill>
            <a:blip r:embed="rId10">
              <a:extLst>
                <a:ext uri="{96DAC541-7B7A-43D3-8B79-37D633B846F1}">
                  <asvg:svgBlip xmlns:asvg="http://schemas.microsoft.com/office/drawing/2016/SVG/main" r:embed="rId11"/>
                </a:ext>
              </a:extLst>
            </a:blip>
            <a:srcRect l="6724" t="67309" r="8271" b="3744"/>
            <a:stretch/>
          </p:blipFill>
          <p:spPr>
            <a:xfrm>
              <a:off x="6358800" y="5474762"/>
              <a:ext cx="592030" cy="201601"/>
            </a:xfrm>
            <a:prstGeom prst="rect">
              <a:avLst/>
            </a:prstGeom>
          </p:spPr>
        </p:pic>
        <p:pic>
          <p:nvPicPr>
            <p:cNvPr id="174" name="Graphic 173">
              <a:extLst>
                <a:ext uri="{FF2B5EF4-FFF2-40B4-BE49-F238E27FC236}">
                  <a16:creationId xmlns:a16="http://schemas.microsoft.com/office/drawing/2014/main" id="{31BE8595-07EA-4997-C15F-1F1FFA391CE8}"/>
                </a:ext>
              </a:extLst>
            </p:cNvPr>
            <p:cNvPicPr>
              <a:picLocks noChangeAspect="1"/>
            </p:cNvPicPr>
            <p:nvPr/>
          </p:nvPicPr>
          <p:blipFill>
            <a:blip r:embed="rId10">
              <a:extLst>
                <a:ext uri="{96DAC541-7B7A-43D3-8B79-37D633B846F1}">
                  <asvg:svgBlip xmlns:asvg="http://schemas.microsoft.com/office/drawing/2016/SVG/main" r:embed="rId11"/>
                </a:ext>
              </a:extLst>
            </a:blip>
            <a:srcRect l="6724" t="67309" r="8271" b="3744"/>
            <a:stretch/>
          </p:blipFill>
          <p:spPr>
            <a:xfrm>
              <a:off x="6961085" y="5474762"/>
              <a:ext cx="592030" cy="201601"/>
            </a:xfrm>
            <a:prstGeom prst="rect">
              <a:avLst/>
            </a:prstGeom>
          </p:spPr>
        </p:pic>
      </p:grpSp>
      <p:grpSp>
        <p:nvGrpSpPr>
          <p:cNvPr id="175" name="Group 174">
            <a:extLst>
              <a:ext uri="{FF2B5EF4-FFF2-40B4-BE49-F238E27FC236}">
                <a16:creationId xmlns:a16="http://schemas.microsoft.com/office/drawing/2014/main" id="{53E4B930-3A91-A352-3498-DE2FC5DEFC31}"/>
              </a:ext>
            </a:extLst>
          </p:cNvPr>
          <p:cNvGrpSpPr/>
          <p:nvPr/>
        </p:nvGrpSpPr>
        <p:grpSpPr>
          <a:xfrm>
            <a:off x="3394191" y="4900479"/>
            <a:ext cx="1789400" cy="201601"/>
            <a:chOff x="3682532" y="4889969"/>
            <a:chExt cx="1789400" cy="201601"/>
          </a:xfrm>
        </p:grpSpPr>
        <p:pic>
          <p:nvPicPr>
            <p:cNvPr id="176" name="Graphic 175">
              <a:extLst>
                <a:ext uri="{FF2B5EF4-FFF2-40B4-BE49-F238E27FC236}">
                  <a16:creationId xmlns:a16="http://schemas.microsoft.com/office/drawing/2014/main" id="{ACBB8A05-42D9-A936-8F14-B9B9810285C9}"/>
                </a:ext>
              </a:extLst>
            </p:cNvPr>
            <p:cNvPicPr>
              <a:picLocks noChangeAspect="1"/>
            </p:cNvPicPr>
            <p:nvPr/>
          </p:nvPicPr>
          <p:blipFill>
            <a:blip r:embed="rId12">
              <a:extLst>
                <a:ext uri="{96DAC541-7B7A-43D3-8B79-37D633B846F1}">
                  <asvg:svgBlip xmlns:asvg="http://schemas.microsoft.com/office/drawing/2016/SVG/main" r:embed="rId13"/>
                </a:ext>
              </a:extLst>
            </a:blip>
            <a:srcRect l="6724" t="67309" r="8271" b="3744"/>
            <a:stretch/>
          </p:blipFill>
          <p:spPr>
            <a:xfrm>
              <a:off x="3682532" y="4889969"/>
              <a:ext cx="592030" cy="201601"/>
            </a:xfrm>
            <a:prstGeom prst="rect">
              <a:avLst/>
            </a:prstGeom>
          </p:spPr>
        </p:pic>
        <p:pic>
          <p:nvPicPr>
            <p:cNvPr id="192" name="Graphic 191">
              <a:extLst>
                <a:ext uri="{FF2B5EF4-FFF2-40B4-BE49-F238E27FC236}">
                  <a16:creationId xmlns:a16="http://schemas.microsoft.com/office/drawing/2014/main" id="{671D0B83-5EB1-FD70-7DF3-B5F485B7A496}"/>
                </a:ext>
              </a:extLst>
            </p:cNvPr>
            <p:cNvPicPr>
              <a:picLocks noChangeAspect="1"/>
            </p:cNvPicPr>
            <p:nvPr/>
          </p:nvPicPr>
          <p:blipFill>
            <a:blip r:embed="rId12">
              <a:extLst>
                <a:ext uri="{96DAC541-7B7A-43D3-8B79-37D633B846F1}">
                  <asvg:svgBlip xmlns:asvg="http://schemas.microsoft.com/office/drawing/2016/SVG/main" r:embed="rId13"/>
                </a:ext>
              </a:extLst>
            </a:blip>
            <a:srcRect l="6724" t="67309" r="8271" b="3744"/>
            <a:stretch/>
          </p:blipFill>
          <p:spPr>
            <a:xfrm>
              <a:off x="4277617" y="4889969"/>
              <a:ext cx="592030" cy="201601"/>
            </a:xfrm>
            <a:prstGeom prst="rect">
              <a:avLst/>
            </a:prstGeom>
          </p:spPr>
        </p:pic>
        <p:pic>
          <p:nvPicPr>
            <p:cNvPr id="193" name="Graphic 192">
              <a:extLst>
                <a:ext uri="{FF2B5EF4-FFF2-40B4-BE49-F238E27FC236}">
                  <a16:creationId xmlns:a16="http://schemas.microsoft.com/office/drawing/2014/main" id="{08245169-4CDF-B89A-8958-DEB3B0C884FB}"/>
                </a:ext>
              </a:extLst>
            </p:cNvPr>
            <p:cNvPicPr>
              <a:picLocks noChangeAspect="1"/>
            </p:cNvPicPr>
            <p:nvPr/>
          </p:nvPicPr>
          <p:blipFill>
            <a:blip r:embed="rId12">
              <a:extLst>
                <a:ext uri="{96DAC541-7B7A-43D3-8B79-37D633B846F1}">
                  <asvg:svgBlip xmlns:asvg="http://schemas.microsoft.com/office/drawing/2016/SVG/main" r:embed="rId13"/>
                </a:ext>
              </a:extLst>
            </a:blip>
            <a:srcRect l="6724" t="67309" r="8271" b="3744"/>
            <a:stretch/>
          </p:blipFill>
          <p:spPr>
            <a:xfrm>
              <a:off x="4879902" y="4889969"/>
              <a:ext cx="592030" cy="201601"/>
            </a:xfrm>
            <a:prstGeom prst="rect">
              <a:avLst/>
            </a:prstGeom>
          </p:spPr>
        </p:pic>
      </p:grpSp>
      <p:sp>
        <p:nvSpPr>
          <p:cNvPr id="194" name="TextBox 193">
            <a:extLst>
              <a:ext uri="{FF2B5EF4-FFF2-40B4-BE49-F238E27FC236}">
                <a16:creationId xmlns:a16="http://schemas.microsoft.com/office/drawing/2014/main" id="{3A5AF7AE-3717-9C73-E78D-9306118FDD94}"/>
              </a:ext>
            </a:extLst>
          </p:cNvPr>
          <p:cNvSpPr txBox="1"/>
          <p:nvPr/>
        </p:nvSpPr>
        <p:spPr>
          <a:xfrm>
            <a:off x="1469228" y="3803603"/>
            <a:ext cx="583493" cy="1384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srgbClr val="1B1D36"/>
                </a:solidFill>
                <a:effectLst/>
                <a:uLnTx/>
                <a:uFillTx/>
                <a:latin typeface="Arial" panose="020B0604020202020204"/>
                <a:ea typeface="+mn-ea"/>
                <a:cs typeface="+mn-cs"/>
              </a:rPr>
              <a:t>ESXi</a:t>
            </a:r>
            <a:r>
              <a:rPr kumimoji="0" lang="en-US" sz="900" b="0" i="0" u="none" strike="noStrike" kern="1200" cap="none" spc="0" normalizeH="0" baseline="0" noProof="0" dirty="0">
                <a:ln>
                  <a:noFill/>
                </a:ln>
                <a:solidFill>
                  <a:srgbClr val="1B1D36"/>
                </a:solidFill>
                <a:effectLst/>
                <a:uLnTx/>
                <a:uFillTx/>
                <a:latin typeface="Arial" panose="020B0604020202020204"/>
                <a:ea typeface="+mn-ea"/>
                <a:cs typeface="+mn-cs"/>
              </a:rPr>
              <a:t> Hosts</a:t>
            </a:r>
          </a:p>
        </p:txBody>
      </p:sp>
      <p:sp>
        <p:nvSpPr>
          <p:cNvPr id="195" name="TextBox 194">
            <a:extLst>
              <a:ext uri="{FF2B5EF4-FFF2-40B4-BE49-F238E27FC236}">
                <a16:creationId xmlns:a16="http://schemas.microsoft.com/office/drawing/2014/main" id="{359DE947-42F9-3871-C5A0-0069E4CCE7E8}"/>
              </a:ext>
            </a:extLst>
          </p:cNvPr>
          <p:cNvSpPr txBox="1"/>
          <p:nvPr/>
        </p:nvSpPr>
        <p:spPr>
          <a:xfrm>
            <a:off x="3854618" y="5773577"/>
            <a:ext cx="839974" cy="1384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B1D36"/>
                </a:solidFill>
                <a:effectLst/>
                <a:uLnTx/>
                <a:uFillTx/>
                <a:latin typeface="Arial" panose="020B0604020202020204"/>
                <a:ea typeface="+mn-ea"/>
                <a:cs typeface="+mn-cs"/>
              </a:rPr>
              <a:t>Global Inventory</a:t>
            </a:r>
          </a:p>
        </p:txBody>
      </p:sp>
    </p:spTree>
    <p:extLst>
      <p:ext uri="{BB962C8B-B14F-4D97-AF65-F5344CB8AC3E}">
        <p14:creationId xmlns:p14="http://schemas.microsoft.com/office/powerpoint/2010/main" val="795948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par>
                          <p:cTn id="11" fill="hold">
                            <p:stCondLst>
                              <p:cond delay="0"/>
                            </p:stCondLst>
                            <p:childTnLst>
                              <p:par>
                                <p:cTn id="12" presetID="9" presetClass="entr" presetSubtype="0" fill="hold" grpId="0" nodeType="afterEffect">
                                  <p:stCondLst>
                                    <p:cond delay="0"/>
                                  </p:stCondLst>
                                  <p:childTnLst>
                                    <p:set>
                                      <p:cBhvr>
                                        <p:cTn id="13" dur="1" fill="hold">
                                          <p:stCondLst>
                                            <p:cond delay="0"/>
                                          </p:stCondLst>
                                        </p:cTn>
                                        <p:tgtEl>
                                          <p:spTgt spid="72"/>
                                        </p:tgtEl>
                                        <p:attrNameLst>
                                          <p:attrName>style.visibility</p:attrName>
                                        </p:attrNameLst>
                                      </p:cBhvr>
                                      <p:to>
                                        <p:strVal val="visible"/>
                                      </p:to>
                                    </p:set>
                                    <p:animEffect transition="in" filter="dissolve">
                                      <p:cBhvr>
                                        <p:cTn id="14" dur="500"/>
                                        <p:tgtEl>
                                          <p:spTgt spid="72"/>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par>
                          <p:cTn id="19" fill="hold">
                            <p:stCondLst>
                              <p:cond delay="1000"/>
                            </p:stCondLst>
                            <p:childTnLst>
                              <p:par>
                                <p:cTn id="20" presetID="22" presetClass="exit" presetSubtype="8" fill="hold" nodeType="afterEffect">
                                  <p:stCondLst>
                                    <p:cond delay="0"/>
                                  </p:stCondLst>
                                  <p:childTnLst>
                                    <p:animEffect transition="out" filter="wipe(left)">
                                      <p:cBhvr>
                                        <p:cTn id="21" dur="500"/>
                                        <p:tgtEl>
                                          <p:spTgt spid="142"/>
                                        </p:tgtEl>
                                      </p:cBhvr>
                                    </p:animEffect>
                                    <p:set>
                                      <p:cBhvr>
                                        <p:cTn id="22" dur="1" fill="hold">
                                          <p:stCondLst>
                                            <p:cond delay="499"/>
                                          </p:stCondLst>
                                        </p:cTn>
                                        <p:tgtEl>
                                          <p:spTgt spid="142"/>
                                        </p:tgtEl>
                                        <p:attrNameLst>
                                          <p:attrName>style.visibility</p:attrName>
                                        </p:attrNameLst>
                                      </p:cBhvr>
                                      <p:to>
                                        <p:strVal val="hidden"/>
                                      </p:to>
                                    </p:set>
                                  </p:childTnLst>
                                </p:cTn>
                              </p:par>
                              <p:par>
                                <p:cTn id="23" presetID="9" presetClass="exit" presetSubtype="0" fill="hold" grpId="0" nodeType="withEffect">
                                  <p:stCondLst>
                                    <p:cond delay="0"/>
                                  </p:stCondLst>
                                  <p:childTnLst>
                                    <p:animEffect transition="out" filter="dissolve">
                                      <p:cBhvr>
                                        <p:cTn id="24" dur="500"/>
                                        <p:tgtEl>
                                          <p:spTgt spid="194"/>
                                        </p:tgtEl>
                                      </p:cBhvr>
                                    </p:animEffect>
                                    <p:set>
                                      <p:cBhvr>
                                        <p:cTn id="25" dur="1" fill="hold">
                                          <p:stCondLst>
                                            <p:cond delay="499"/>
                                          </p:stCondLst>
                                        </p:cTn>
                                        <p:tgtEl>
                                          <p:spTgt spid="194"/>
                                        </p:tgtEl>
                                        <p:attrNameLst>
                                          <p:attrName>style.visibility</p:attrName>
                                        </p:attrNameLst>
                                      </p:cBhvr>
                                      <p:to>
                                        <p:strVal val="hidden"/>
                                      </p:to>
                                    </p:set>
                                  </p:childTnLst>
                                </p:cTn>
                              </p:par>
                              <p:par>
                                <p:cTn id="26" presetID="10" presetClass="exit" presetSubtype="0" fill="hold" grpId="2" nodeType="withEffect">
                                  <p:stCondLst>
                                    <p:cond delay="0"/>
                                  </p:stCondLst>
                                  <p:childTnLst>
                                    <p:animEffect transition="out" filter="fade">
                                      <p:cBhvr>
                                        <p:cTn id="27" dur="500"/>
                                        <p:tgtEl>
                                          <p:spTgt spid="16"/>
                                        </p:tgtEl>
                                      </p:cBhvr>
                                    </p:animEffect>
                                    <p:set>
                                      <p:cBhvr>
                                        <p:cTn id="28" dur="1" fill="hold">
                                          <p:stCondLst>
                                            <p:cond delay="499"/>
                                          </p:stCondLst>
                                        </p:cTn>
                                        <p:tgtEl>
                                          <p:spTgt spid="16"/>
                                        </p:tgtEl>
                                        <p:attrNameLst>
                                          <p:attrName>style.visibility</p:attrName>
                                        </p:attrNameLst>
                                      </p:cBhvr>
                                      <p:to>
                                        <p:strVal val="hidden"/>
                                      </p:to>
                                    </p:set>
                                  </p:childTnLst>
                                </p:cTn>
                              </p:par>
                            </p:childTnLst>
                          </p:cTn>
                        </p:par>
                        <p:par>
                          <p:cTn id="29" fill="hold">
                            <p:stCondLst>
                              <p:cond delay="1500"/>
                            </p:stCondLst>
                            <p:childTnLst>
                              <p:par>
                                <p:cTn id="30" presetID="10" presetClass="exit" presetSubtype="0" fill="hold" grpId="1" nodeType="afterEffect">
                                  <p:stCondLst>
                                    <p:cond delay="0"/>
                                  </p:stCondLst>
                                  <p:childTnLst>
                                    <p:animEffect transition="out" filter="fade">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par>
                                <p:cTn id="33" presetID="22" presetClass="entr" presetSubtype="1"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500"/>
                                        <p:tgtEl>
                                          <p:spTgt spid="17"/>
                                        </p:tgtEl>
                                      </p:cBhvr>
                                    </p:animEffect>
                                  </p:childTnLst>
                                </p:cTn>
                              </p:par>
                            </p:childTnLst>
                          </p:cTn>
                        </p:par>
                        <p:par>
                          <p:cTn id="36" fill="hold">
                            <p:stCondLst>
                              <p:cond delay="2000"/>
                            </p:stCondLst>
                            <p:childTnLst>
                              <p:par>
                                <p:cTn id="37" presetID="22" presetClass="entr" presetSubtype="1" fill="hold" nodeType="afterEffect">
                                  <p:stCondLst>
                                    <p:cond delay="0"/>
                                  </p:stCondLst>
                                  <p:childTnLst>
                                    <p:set>
                                      <p:cBhvr>
                                        <p:cTn id="38" dur="1" fill="hold">
                                          <p:stCondLst>
                                            <p:cond delay="0"/>
                                          </p:stCondLst>
                                        </p:cTn>
                                        <p:tgtEl>
                                          <p:spTgt spid="153"/>
                                        </p:tgtEl>
                                        <p:attrNameLst>
                                          <p:attrName>style.visibility</p:attrName>
                                        </p:attrNameLst>
                                      </p:cBhvr>
                                      <p:to>
                                        <p:strVal val="visible"/>
                                      </p:to>
                                    </p:set>
                                    <p:animEffect transition="in" filter="wipe(up)">
                                      <p:cBhvr>
                                        <p:cTn id="39" dur="500"/>
                                        <p:tgtEl>
                                          <p:spTgt spid="153"/>
                                        </p:tgtEl>
                                      </p:cBhvr>
                                    </p:animEffect>
                                  </p:childTnLst>
                                </p:cTn>
                              </p:par>
                            </p:childTnLst>
                          </p:cTn>
                        </p:par>
                        <p:par>
                          <p:cTn id="40" fill="hold">
                            <p:stCondLst>
                              <p:cond delay="2500"/>
                            </p:stCondLst>
                            <p:childTnLst>
                              <p:par>
                                <p:cTn id="41" presetID="1" presetClass="exit" presetSubtype="0" fill="hold" grpId="1" nodeType="afterEffect">
                                  <p:stCondLst>
                                    <p:cond delay="500"/>
                                  </p:stCondLst>
                                  <p:childTnLst>
                                    <p:set>
                                      <p:cBhvr>
                                        <p:cTn id="42" dur="1" fill="hold">
                                          <p:stCondLst>
                                            <p:cond delay="0"/>
                                          </p:stCondLst>
                                        </p:cTn>
                                        <p:tgtEl>
                                          <p:spTgt spid="72"/>
                                        </p:tgtEl>
                                        <p:attrNameLst>
                                          <p:attrName>style.visibility</p:attrName>
                                        </p:attrNameLst>
                                      </p:cBhvr>
                                      <p:to>
                                        <p:strVal val="hidden"/>
                                      </p:to>
                                    </p:set>
                                  </p:childTnLst>
                                </p:cTn>
                              </p:par>
                            </p:childTnLst>
                          </p:cTn>
                        </p:par>
                        <p:par>
                          <p:cTn id="43" fill="hold">
                            <p:stCondLst>
                              <p:cond delay="3000"/>
                            </p:stCondLst>
                            <p:childTnLst>
                              <p:par>
                                <p:cTn id="44" presetID="9" presetClass="exit" presetSubtype="0" fill="hold" grpId="3" nodeType="afterEffect">
                                  <p:stCondLst>
                                    <p:cond delay="0"/>
                                  </p:stCondLst>
                                  <p:childTnLst>
                                    <p:animEffect transition="out" filter="dissolve">
                                      <p:cBhvr>
                                        <p:cTn id="45" dur="500"/>
                                        <p:tgtEl>
                                          <p:spTgt spid="17"/>
                                        </p:tgtEl>
                                      </p:cBhvr>
                                    </p:animEffect>
                                    <p:set>
                                      <p:cBhvr>
                                        <p:cTn id="46" dur="1" fill="hold">
                                          <p:stCondLst>
                                            <p:cond delay="499"/>
                                          </p:stCondLst>
                                        </p:cTn>
                                        <p:tgtEl>
                                          <p:spTgt spid="17"/>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3" end="3"/>
                                            </p:txEl>
                                          </p:spTgt>
                                        </p:tgtEl>
                                        <p:attrNameLst>
                                          <p:attrName>style.visibility</p:attrName>
                                        </p:attrNameLst>
                                      </p:cBhvr>
                                      <p:to>
                                        <p:strVal val="visible"/>
                                      </p:to>
                                    </p:set>
                                  </p:childTnLst>
                                </p:cTn>
                              </p:par>
                            </p:childTnLst>
                          </p:cTn>
                        </p:par>
                        <p:par>
                          <p:cTn id="51" fill="hold">
                            <p:stCondLst>
                              <p:cond delay="0"/>
                            </p:stCondLst>
                            <p:childTnLst>
                              <p:par>
                                <p:cTn id="52" presetID="9" presetClass="entr" presetSubtype="0" fill="hold" grpId="2" nodeType="afterEffect">
                                  <p:stCondLst>
                                    <p:cond delay="0"/>
                                  </p:stCondLst>
                                  <p:childTnLst>
                                    <p:set>
                                      <p:cBhvr>
                                        <p:cTn id="53" dur="1" fill="hold">
                                          <p:stCondLst>
                                            <p:cond delay="0"/>
                                          </p:stCondLst>
                                        </p:cTn>
                                        <p:tgtEl>
                                          <p:spTgt spid="72"/>
                                        </p:tgtEl>
                                        <p:attrNameLst>
                                          <p:attrName>style.visibility</p:attrName>
                                        </p:attrNameLst>
                                      </p:cBhvr>
                                      <p:to>
                                        <p:strVal val="visible"/>
                                      </p:to>
                                    </p:set>
                                    <p:animEffect transition="in" filter="dissolve">
                                      <p:cBhvr>
                                        <p:cTn id="54" dur="500"/>
                                        <p:tgtEl>
                                          <p:spTgt spid="72"/>
                                        </p:tgtEl>
                                      </p:cBhvr>
                                    </p:animEffect>
                                  </p:childTnLst>
                                </p:cTn>
                              </p:par>
                            </p:childTnLst>
                          </p:cTn>
                        </p:par>
                        <p:par>
                          <p:cTn id="55" fill="hold">
                            <p:stCondLst>
                              <p:cond delay="500"/>
                            </p:stCondLst>
                            <p:childTnLst>
                              <p:par>
                                <p:cTn id="56" presetID="22" presetClass="entr" presetSubtype="1" fill="hold" grpId="1"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up)">
                                      <p:cBhvr>
                                        <p:cTn id="58" dur="500"/>
                                        <p:tgtEl>
                                          <p:spTgt spid="17"/>
                                        </p:tgtEl>
                                      </p:cBhvr>
                                    </p:animEffect>
                                  </p:childTnLst>
                                </p:cTn>
                              </p:par>
                            </p:childTnLst>
                          </p:cTn>
                        </p:par>
                        <p:par>
                          <p:cTn id="59" fill="hold">
                            <p:stCondLst>
                              <p:cond delay="1000"/>
                            </p:stCondLst>
                            <p:childTnLst>
                              <p:par>
                                <p:cTn id="60" presetID="9" presetClass="entr" presetSubtype="0" fill="hold" nodeType="afterEffect">
                                  <p:stCondLst>
                                    <p:cond delay="0"/>
                                  </p:stCondLst>
                                  <p:childTnLst>
                                    <p:set>
                                      <p:cBhvr>
                                        <p:cTn id="61" dur="1" fill="hold">
                                          <p:stCondLst>
                                            <p:cond delay="0"/>
                                          </p:stCondLst>
                                        </p:cTn>
                                        <p:tgtEl>
                                          <p:spTgt spid="167"/>
                                        </p:tgtEl>
                                        <p:attrNameLst>
                                          <p:attrName>style.visibility</p:attrName>
                                        </p:attrNameLst>
                                      </p:cBhvr>
                                      <p:to>
                                        <p:strVal val="visible"/>
                                      </p:to>
                                    </p:set>
                                    <p:animEffect transition="in" filter="dissolve">
                                      <p:cBhvr>
                                        <p:cTn id="62" dur="500"/>
                                        <p:tgtEl>
                                          <p:spTgt spid="167"/>
                                        </p:tgtEl>
                                      </p:cBhvr>
                                    </p:animEffect>
                                  </p:childTnLst>
                                </p:cTn>
                              </p:par>
                            </p:childTnLst>
                          </p:cTn>
                        </p:par>
                        <p:par>
                          <p:cTn id="63" fill="hold">
                            <p:stCondLst>
                              <p:cond delay="1500"/>
                            </p:stCondLst>
                            <p:childTnLst>
                              <p:par>
                                <p:cTn id="64" presetID="9" presetClass="entr" presetSubtype="0" fill="hold" nodeType="afterEffect">
                                  <p:stCondLst>
                                    <p:cond delay="0"/>
                                  </p:stCondLst>
                                  <p:childTnLst>
                                    <p:set>
                                      <p:cBhvr>
                                        <p:cTn id="65" dur="1" fill="hold">
                                          <p:stCondLst>
                                            <p:cond delay="0"/>
                                          </p:stCondLst>
                                        </p:cTn>
                                        <p:tgtEl>
                                          <p:spTgt spid="171"/>
                                        </p:tgtEl>
                                        <p:attrNameLst>
                                          <p:attrName>style.visibility</p:attrName>
                                        </p:attrNameLst>
                                      </p:cBhvr>
                                      <p:to>
                                        <p:strVal val="visible"/>
                                      </p:to>
                                    </p:set>
                                    <p:animEffect transition="in" filter="dissolve">
                                      <p:cBhvr>
                                        <p:cTn id="66" dur="500"/>
                                        <p:tgtEl>
                                          <p:spTgt spid="171"/>
                                        </p:tgtEl>
                                      </p:cBhvr>
                                    </p:animEffect>
                                  </p:childTnLst>
                                </p:cTn>
                              </p:par>
                            </p:childTnLst>
                          </p:cTn>
                        </p:par>
                        <p:par>
                          <p:cTn id="67" fill="hold">
                            <p:stCondLst>
                              <p:cond delay="2000"/>
                            </p:stCondLst>
                            <p:childTnLst>
                              <p:par>
                                <p:cTn id="68" presetID="22" presetClass="entr" presetSubtype="4" fill="hold" nodeType="afterEffect">
                                  <p:stCondLst>
                                    <p:cond delay="500"/>
                                  </p:stCondLst>
                                  <p:childTnLst>
                                    <p:set>
                                      <p:cBhvr>
                                        <p:cTn id="69" dur="1" fill="hold">
                                          <p:stCondLst>
                                            <p:cond delay="0"/>
                                          </p:stCondLst>
                                        </p:cTn>
                                        <p:tgtEl>
                                          <p:spTgt spid="44"/>
                                        </p:tgtEl>
                                        <p:attrNameLst>
                                          <p:attrName>style.visibility</p:attrName>
                                        </p:attrNameLst>
                                      </p:cBhvr>
                                      <p:to>
                                        <p:strVal val="visible"/>
                                      </p:to>
                                    </p:set>
                                    <p:animEffect transition="in" filter="wipe(down)">
                                      <p:cBhvr>
                                        <p:cTn id="70" dur="1000"/>
                                        <p:tgtEl>
                                          <p:spTgt spid="44"/>
                                        </p:tgtEl>
                                      </p:cBhvr>
                                    </p:animEffect>
                                  </p:childTnLst>
                                </p:cTn>
                              </p:par>
                            </p:childTnLst>
                          </p:cTn>
                        </p:par>
                        <p:par>
                          <p:cTn id="71" fill="hold">
                            <p:stCondLst>
                              <p:cond delay="3500"/>
                            </p:stCondLst>
                            <p:childTnLst>
                              <p:par>
                                <p:cTn id="72" presetID="22" presetClass="entr" presetSubtype="4" fill="hold" grpId="0" nodeType="afterEffect">
                                  <p:stCondLst>
                                    <p:cond delay="0"/>
                                  </p:stCondLst>
                                  <p:childTnLst>
                                    <p:set>
                                      <p:cBhvr>
                                        <p:cTn id="73" dur="1" fill="hold">
                                          <p:stCondLst>
                                            <p:cond delay="0"/>
                                          </p:stCondLst>
                                        </p:cTn>
                                        <p:tgtEl>
                                          <p:spTgt spid="70"/>
                                        </p:tgtEl>
                                        <p:attrNameLst>
                                          <p:attrName>style.visibility</p:attrName>
                                        </p:attrNameLst>
                                      </p:cBhvr>
                                      <p:to>
                                        <p:strVal val="visible"/>
                                      </p:to>
                                    </p:set>
                                    <p:animEffect transition="in" filter="wipe(down)">
                                      <p:cBhvr>
                                        <p:cTn id="74" dur="500"/>
                                        <p:tgtEl>
                                          <p:spTgt spid="70"/>
                                        </p:tgtEl>
                                      </p:cBhvr>
                                    </p:animEffect>
                                  </p:childTnLst>
                                </p:cTn>
                              </p:par>
                            </p:childTnLst>
                          </p:cTn>
                        </p:par>
                        <p:par>
                          <p:cTn id="75" fill="hold">
                            <p:stCondLst>
                              <p:cond delay="4000"/>
                            </p:stCondLst>
                            <p:childTnLst>
                              <p:par>
                                <p:cTn id="76" presetID="22" presetClass="entr" presetSubtype="4" fill="hold" grpId="0" nodeType="afterEffect">
                                  <p:stCondLst>
                                    <p:cond delay="0"/>
                                  </p:stCondLst>
                                  <p:childTnLst>
                                    <p:set>
                                      <p:cBhvr>
                                        <p:cTn id="77" dur="1" fill="hold">
                                          <p:stCondLst>
                                            <p:cond delay="0"/>
                                          </p:stCondLst>
                                        </p:cTn>
                                        <p:tgtEl>
                                          <p:spTgt spid="71"/>
                                        </p:tgtEl>
                                        <p:attrNameLst>
                                          <p:attrName>style.visibility</p:attrName>
                                        </p:attrNameLst>
                                      </p:cBhvr>
                                      <p:to>
                                        <p:strVal val="visible"/>
                                      </p:to>
                                    </p:set>
                                    <p:animEffect transition="in" filter="wipe(down)">
                                      <p:cBhvr>
                                        <p:cTn id="78" dur="500"/>
                                        <p:tgtEl>
                                          <p:spTgt spid="71"/>
                                        </p:tgtEl>
                                      </p:cBhvr>
                                    </p:animEffect>
                                  </p:childTnLst>
                                </p:cTn>
                              </p:par>
                            </p:childTnLst>
                          </p:cTn>
                        </p:par>
                        <p:par>
                          <p:cTn id="79" fill="hold">
                            <p:stCondLst>
                              <p:cond delay="4500"/>
                            </p:stCondLst>
                            <p:childTnLst>
                              <p:par>
                                <p:cTn id="80" presetID="9" presetClass="exit" presetSubtype="0" fill="hold" grpId="3" nodeType="afterEffect">
                                  <p:stCondLst>
                                    <p:cond delay="500"/>
                                  </p:stCondLst>
                                  <p:childTnLst>
                                    <p:animEffect transition="out" filter="dissolve">
                                      <p:cBhvr>
                                        <p:cTn id="81" dur="500"/>
                                        <p:tgtEl>
                                          <p:spTgt spid="72"/>
                                        </p:tgtEl>
                                      </p:cBhvr>
                                    </p:animEffect>
                                    <p:set>
                                      <p:cBhvr>
                                        <p:cTn id="82" dur="1" fill="hold">
                                          <p:stCondLst>
                                            <p:cond delay="499"/>
                                          </p:stCondLst>
                                        </p:cTn>
                                        <p:tgtEl>
                                          <p:spTgt spid="72"/>
                                        </p:tgtEl>
                                        <p:attrNameLst>
                                          <p:attrName>style.visibility</p:attrName>
                                        </p:attrNameLst>
                                      </p:cBhvr>
                                      <p:to>
                                        <p:strVal val="hidden"/>
                                      </p:to>
                                    </p:set>
                                  </p:childTnLst>
                                </p:cTn>
                              </p:par>
                            </p:childTnLst>
                          </p:cTn>
                        </p:par>
                        <p:par>
                          <p:cTn id="83" fill="hold">
                            <p:stCondLst>
                              <p:cond delay="5500"/>
                            </p:stCondLst>
                            <p:childTnLst>
                              <p:par>
                                <p:cTn id="84" presetID="9" presetClass="exit" presetSubtype="0" fill="hold" grpId="4" nodeType="afterEffect">
                                  <p:stCondLst>
                                    <p:cond delay="0"/>
                                  </p:stCondLst>
                                  <p:childTnLst>
                                    <p:animEffect transition="out" filter="dissolve">
                                      <p:cBhvr>
                                        <p:cTn id="85" dur="500"/>
                                        <p:tgtEl>
                                          <p:spTgt spid="17"/>
                                        </p:tgtEl>
                                      </p:cBhvr>
                                    </p:animEffect>
                                    <p:set>
                                      <p:cBhvr>
                                        <p:cTn id="86" dur="1" fill="hold">
                                          <p:stCondLst>
                                            <p:cond delay="499"/>
                                          </p:stCondLst>
                                        </p:cTn>
                                        <p:tgtEl>
                                          <p:spTgt spid="17"/>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xEl>
                                              <p:pRg st="5" end="5"/>
                                            </p:txEl>
                                          </p:spTgt>
                                        </p:tgtEl>
                                        <p:attrNameLst>
                                          <p:attrName>style.visibility</p:attrName>
                                        </p:attrNameLst>
                                      </p:cBhvr>
                                      <p:to>
                                        <p:strVal val="visible"/>
                                      </p:to>
                                    </p:set>
                                  </p:childTnLst>
                                </p:cTn>
                              </p:par>
                            </p:childTnLst>
                          </p:cTn>
                        </p:par>
                        <p:par>
                          <p:cTn id="91" fill="hold">
                            <p:stCondLst>
                              <p:cond delay="0"/>
                            </p:stCondLst>
                            <p:childTnLst>
                              <p:par>
                                <p:cTn id="92" presetID="9" presetClass="entr" presetSubtype="0" fill="hold" grpId="0" nodeType="afterEffect">
                                  <p:stCondLst>
                                    <p:cond delay="0"/>
                                  </p:stCondLst>
                                  <p:childTnLst>
                                    <p:set>
                                      <p:cBhvr>
                                        <p:cTn id="93" dur="1" fill="hold">
                                          <p:stCondLst>
                                            <p:cond delay="0"/>
                                          </p:stCondLst>
                                        </p:cTn>
                                        <p:tgtEl>
                                          <p:spTgt spid="73"/>
                                        </p:tgtEl>
                                        <p:attrNameLst>
                                          <p:attrName>style.visibility</p:attrName>
                                        </p:attrNameLst>
                                      </p:cBhvr>
                                      <p:to>
                                        <p:strVal val="visible"/>
                                      </p:to>
                                    </p:set>
                                    <p:animEffect transition="in" filter="dissolve">
                                      <p:cBhvr>
                                        <p:cTn id="94" dur="500"/>
                                        <p:tgtEl>
                                          <p:spTgt spid="73"/>
                                        </p:tgtEl>
                                      </p:cBhvr>
                                    </p:animEffect>
                                  </p:childTnLst>
                                </p:cTn>
                              </p:par>
                            </p:childTnLst>
                          </p:cTn>
                        </p:par>
                        <p:par>
                          <p:cTn id="95" fill="hold">
                            <p:stCondLst>
                              <p:cond delay="500"/>
                            </p:stCondLst>
                            <p:childTnLst>
                              <p:par>
                                <p:cTn id="96" presetID="22" presetClass="entr" presetSubtype="1" fill="hold" grpId="2" nodeType="afterEffect">
                                  <p:stCondLst>
                                    <p:cond delay="0"/>
                                  </p:stCondLst>
                                  <p:childTnLst>
                                    <p:set>
                                      <p:cBhvr>
                                        <p:cTn id="97" dur="1" fill="hold">
                                          <p:stCondLst>
                                            <p:cond delay="0"/>
                                          </p:stCondLst>
                                        </p:cTn>
                                        <p:tgtEl>
                                          <p:spTgt spid="17"/>
                                        </p:tgtEl>
                                        <p:attrNameLst>
                                          <p:attrName>style.visibility</p:attrName>
                                        </p:attrNameLst>
                                      </p:cBhvr>
                                      <p:to>
                                        <p:strVal val="visible"/>
                                      </p:to>
                                    </p:set>
                                    <p:animEffect transition="in" filter="wipe(up)">
                                      <p:cBhvr>
                                        <p:cTn id="98" dur="500"/>
                                        <p:tgtEl>
                                          <p:spTgt spid="17"/>
                                        </p:tgtEl>
                                      </p:cBhvr>
                                    </p:animEffect>
                                  </p:childTnLst>
                                </p:cTn>
                              </p:par>
                            </p:childTnLst>
                          </p:cTn>
                        </p:par>
                        <p:par>
                          <p:cTn id="99" fill="hold">
                            <p:stCondLst>
                              <p:cond delay="1000"/>
                            </p:stCondLst>
                            <p:childTnLst>
                              <p:par>
                                <p:cTn id="100" presetID="9" presetClass="entr" presetSubtype="0" fill="hold" nodeType="afterEffect">
                                  <p:stCondLst>
                                    <p:cond delay="500"/>
                                  </p:stCondLst>
                                  <p:childTnLst>
                                    <p:set>
                                      <p:cBhvr>
                                        <p:cTn id="101" dur="1" fill="hold">
                                          <p:stCondLst>
                                            <p:cond delay="0"/>
                                          </p:stCondLst>
                                        </p:cTn>
                                        <p:tgtEl>
                                          <p:spTgt spid="175"/>
                                        </p:tgtEl>
                                        <p:attrNameLst>
                                          <p:attrName>style.visibility</p:attrName>
                                        </p:attrNameLst>
                                      </p:cBhvr>
                                      <p:to>
                                        <p:strVal val="visible"/>
                                      </p:to>
                                    </p:set>
                                    <p:animEffect transition="in" filter="dissolve">
                                      <p:cBhvr>
                                        <p:cTn id="102" dur="500"/>
                                        <p:tgtEl>
                                          <p:spTgt spid="175"/>
                                        </p:tgtEl>
                                      </p:cBhvr>
                                    </p:animEffect>
                                  </p:childTnLst>
                                </p:cTn>
                              </p:par>
                            </p:childTnLst>
                          </p:cTn>
                        </p:par>
                        <p:par>
                          <p:cTn id="103" fill="hold">
                            <p:stCondLst>
                              <p:cond delay="2000"/>
                            </p:stCondLst>
                            <p:childTnLst>
                              <p:par>
                                <p:cTn id="104" presetID="22" presetClass="entr" presetSubtype="4" fill="hold" nodeType="afterEffect">
                                  <p:stCondLst>
                                    <p:cond delay="500"/>
                                  </p:stCondLst>
                                  <p:childTnLst>
                                    <p:set>
                                      <p:cBhvr>
                                        <p:cTn id="105" dur="1" fill="hold">
                                          <p:stCondLst>
                                            <p:cond delay="0"/>
                                          </p:stCondLst>
                                        </p:cTn>
                                        <p:tgtEl>
                                          <p:spTgt spid="87"/>
                                        </p:tgtEl>
                                        <p:attrNameLst>
                                          <p:attrName>style.visibility</p:attrName>
                                        </p:attrNameLst>
                                      </p:cBhvr>
                                      <p:to>
                                        <p:strVal val="visible"/>
                                      </p:to>
                                    </p:set>
                                    <p:animEffect transition="in" filter="wipe(down)">
                                      <p:cBhvr>
                                        <p:cTn id="106" dur="500"/>
                                        <p:tgtEl>
                                          <p:spTgt spid="87"/>
                                        </p:tgtEl>
                                      </p:cBhvr>
                                    </p:animEffect>
                                  </p:childTnLst>
                                </p:cTn>
                              </p:par>
                            </p:childTnLst>
                          </p:cTn>
                        </p:par>
                        <p:par>
                          <p:cTn id="107" fill="hold">
                            <p:stCondLst>
                              <p:cond delay="3000"/>
                            </p:stCondLst>
                            <p:childTnLst>
                              <p:par>
                                <p:cTn id="108" presetID="9" presetClass="exit" presetSubtype="0" fill="hold" grpId="1" nodeType="afterEffect">
                                  <p:stCondLst>
                                    <p:cond delay="0"/>
                                  </p:stCondLst>
                                  <p:childTnLst>
                                    <p:animEffect transition="out" filter="dissolve">
                                      <p:cBhvr>
                                        <p:cTn id="109" dur="500"/>
                                        <p:tgtEl>
                                          <p:spTgt spid="73"/>
                                        </p:tgtEl>
                                      </p:cBhvr>
                                    </p:animEffect>
                                    <p:set>
                                      <p:cBhvr>
                                        <p:cTn id="110" dur="1" fill="hold">
                                          <p:stCondLst>
                                            <p:cond delay="499"/>
                                          </p:stCondLst>
                                        </p:cTn>
                                        <p:tgtEl>
                                          <p:spTgt spid="73"/>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6" grpId="2" animBg="1"/>
      <p:bldP spid="17" grpId="0" animBg="1"/>
      <p:bldP spid="17" grpId="1" animBg="1"/>
      <p:bldP spid="17" grpId="2" animBg="1"/>
      <p:bldP spid="17" grpId="3" animBg="1"/>
      <p:bldP spid="17" grpId="4" animBg="1"/>
      <p:bldP spid="70" grpId="0" animBg="1"/>
      <p:bldP spid="71" grpId="0" animBg="1"/>
      <p:bldP spid="72" grpId="0" animBg="1"/>
      <p:bldP spid="72" grpId="1" animBg="1"/>
      <p:bldP spid="72" grpId="2" animBg="1"/>
      <p:bldP spid="72" grpId="3" animBg="1"/>
      <p:bldP spid="73" grpId="0" animBg="1"/>
      <p:bldP spid="73" grpId="1" animBg="1"/>
      <p:bldP spid="19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53"/>
        <p:cNvGrpSpPr/>
        <p:nvPr/>
      </p:nvGrpSpPr>
      <p:grpSpPr>
        <a:xfrm>
          <a:off x="0" y="0"/>
          <a:ext cx="0" cy="0"/>
          <a:chOff x="0" y="0"/>
          <a:chExt cx="0" cy="0"/>
        </a:xfrm>
      </p:grpSpPr>
      <p:sp>
        <p:nvSpPr>
          <p:cNvPr id="4854" name="Google Shape;4854;p11"/>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3600"/>
              <a:buNone/>
            </a:pPr>
            <a:r>
              <a:rPr lang="en-US"/>
              <a:t>SDDC Infrastructure</a:t>
            </a:r>
            <a:br>
              <a:rPr lang="en-US"/>
            </a:br>
            <a:endParaRPr/>
          </a:p>
        </p:txBody>
      </p:sp>
      <p:sp>
        <p:nvSpPr>
          <p:cNvPr id="4855" name="Google Shape;4855;p11"/>
          <p:cNvSpPr txBox="1"/>
          <p:nvPr/>
        </p:nvSpPr>
        <p:spPr>
          <a:xfrm>
            <a:off x="490252" y="2308659"/>
            <a:ext cx="7315200" cy="432278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800"/>
              <a:buFont typeface="Arial"/>
              <a:buChar char="•"/>
            </a:pPr>
            <a:r>
              <a:rPr lang="en-US" sz="2000">
                <a:solidFill>
                  <a:schemeClr val="dk1"/>
                </a:solidFill>
                <a:latin typeface="Arial"/>
                <a:ea typeface="Arial"/>
                <a:cs typeface="Arial"/>
                <a:sym typeface="Arial"/>
              </a:rPr>
              <a:t>Mixed Vendor Clusters</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Memory Optimization with NVMe</a:t>
            </a:r>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Configure vGPU Profiles</a:t>
            </a:r>
            <a:endParaRPr sz="20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Faster vMotion for GPU Workloads</a:t>
            </a:r>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Configure GPU Reservations</a:t>
            </a:r>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Live Patch for ESX </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Virtual Hardware Version 22</a:t>
            </a:r>
            <a:endParaRPr sz="180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a:solidFill>
                <a:srgbClr val="E68C28"/>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sp>
        <p:nvSpPr>
          <p:cNvPr id="4856" name="Google Shape;4856;p11"/>
          <p:cNvSpPr txBox="1"/>
          <p:nvPr/>
        </p:nvSpPr>
        <p:spPr>
          <a:xfrm>
            <a:off x="588963" y="1823094"/>
            <a:ext cx="2200924"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chemeClr val="accent2"/>
                </a:solidFill>
                <a:latin typeface="Arial"/>
                <a:ea typeface="Arial"/>
                <a:cs typeface="Arial"/>
                <a:sym typeface="Arial"/>
              </a:rPr>
              <a:t>COMPUTE | vSphere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61"/>
        <p:cNvGrpSpPr/>
        <p:nvPr/>
      </p:nvGrpSpPr>
      <p:grpSpPr>
        <a:xfrm>
          <a:off x="0" y="0"/>
          <a:ext cx="0" cy="0"/>
          <a:chOff x="0" y="0"/>
          <a:chExt cx="0" cy="0"/>
        </a:xfrm>
      </p:grpSpPr>
      <p:sp>
        <p:nvSpPr>
          <p:cNvPr id="4862" name="Google Shape;4862;p1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Build Clusters Your Way</a:t>
            </a:r>
            <a:endParaRPr/>
          </a:p>
        </p:txBody>
      </p:sp>
      <p:sp>
        <p:nvSpPr>
          <p:cNvPr id="4863" name="Google Shape;4863;p1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Mixed vendor clusters</a:t>
            </a:r>
            <a:endParaRPr/>
          </a:p>
        </p:txBody>
      </p:sp>
      <p:sp>
        <p:nvSpPr>
          <p:cNvPr id="4864" name="Google Shape;4864;p12"/>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a:t>Assign additional images manually or automatically</a:t>
            </a:r>
            <a:endParaRPr/>
          </a:p>
          <a:p>
            <a:pPr marL="0" lvl="0" indent="0" algn="l" rtl="0">
              <a:lnSpc>
                <a:spcPct val="100000"/>
              </a:lnSpc>
              <a:spcBef>
                <a:spcPts val="1200"/>
              </a:spcBef>
              <a:spcAft>
                <a:spcPts val="0"/>
              </a:spcAft>
              <a:buSzPts val="1440"/>
              <a:buNone/>
            </a:pPr>
            <a:endParaRPr/>
          </a:p>
          <a:p>
            <a:pPr marL="0" lvl="0" indent="0" algn="l" rtl="0">
              <a:lnSpc>
                <a:spcPct val="100000"/>
              </a:lnSpc>
              <a:spcBef>
                <a:spcPts val="1200"/>
              </a:spcBef>
              <a:spcAft>
                <a:spcPts val="0"/>
              </a:spcAft>
              <a:buSzPts val="1440"/>
              <a:buNone/>
            </a:pPr>
            <a:r>
              <a:rPr lang="en-US"/>
              <a:t>Multiple Hardware Support Managers (HSM) per cluster image</a:t>
            </a:r>
            <a:endParaRPr/>
          </a:p>
          <a:p>
            <a:pPr marL="0" lvl="0" indent="0" algn="l" rtl="0">
              <a:lnSpc>
                <a:spcPct val="100000"/>
              </a:lnSpc>
              <a:spcBef>
                <a:spcPts val="1200"/>
              </a:spcBef>
              <a:spcAft>
                <a:spcPts val="0"/>
              </a:spcAft>
              <a:buSzPts val="1440"/>
              <a:buNone/>
            </a:pPr>
            <a:endParaRPr/>
          </a:p>
          <a:p>
            <a:pPr marL="0" lvl="0" indent="0" algn="l" rtl="0">
              <a:lnSpc>
                <a:spcPct val="100000"/>
              </a:lnSpc>
              <a:spcBef>
                <a:spcPts val="1200"/>
              </a:spcBef>
              <a:spcAft>
                <a:spcPts val="0"/>
              </a:spcAft>
              <a:buSzPts val="1440"/>
              <a:buNone/>
            </a:pPr>
            <a:r>
              <a:rPr lang="en-US"/>
              <a:t>Up to 4 additional images can be created per cluster image</a:t>
            </a:r>
            <a:endParaRPr/>
          </a:p>
          <a:p>
            <a:pPr marL="0" lvl="0" indent="0" algn="l" rtl="0">
              <a:lnSpc>
                <a:spcPct val="100000"/>
              </a:lnSpc>
              <a:spcBef>
                <a:spcPts val="1200"/>
              </a:spcBef>
              <a:spcAft>
                <a:spcPts val="0"/>
              </a:spcAft>
              <a:buSzPts val="1440"/>
              <a:buNone/>
            </a:pPr>
            <a:endParaRPr/>
          </a:p>
          <a:p>
            <a:pPr marL="0" lvl="0" indent="0" algn="l" rtl="0">
              <a:lnSpc>
                <a:spcPct val="100000"/>
              </a:lnSpc>
              <a:spcBef>
                <a:spcPts val="1200"/>
              </a:spcBef>
              <a:spcAft>
                <a:spcPts val="0"/>
              </a:spcAft>
              <a:buSzPts val="1440"/>
              <a:buNone/>
            </a:pPr>
            <a:r>
              <a:rPr lang="en-US" b="1">
                <a:solidFill>
                  <a:schemeClr val="accent2"/>
                </a:solidFill>
              </a:rPr>
              <a:t>Support multiple server models in a single cluster image</a:t>
            </a:r>
            <a:endParaRPr/>
          </a:p>
          <a:p>
            <a:pPr marL="0" lvl="0" indent="0" algn="l" rtl="0">
              <a:lnSpc>
                <a:spcPct val="100000"/>
              </a:lnSpc>
              <a:spcBef>
                <a:spcPts val="1200"/>
              </a:spcBef>
              <a:spcAft>
                <a:spcPts val="0"/>
              </a:spcAft>
              <a:buSzPts val="1440"/>
              <a:buNone/>
            </a:pPr>
            <a:endParaRPr/>
          </a:p>
        </p:txBody>
      </p:sp>
      <p:sp>
        <p:nvSpPr>
          <p:cNvPr id="4865" name="Google Shape;4865;p12"/>
          <p:cNvSpPr/>
          <p:nvPr/>
        </p:nvSpPr>
        <p:spPr>
          <a:xfrm>
            <a:off x="4685801" y="2552773"/>
            <a:ext cx="3084723" cy="3028453"/>
          </a:xfrm>
          <a:prstGeom prst="rect">
            <a:avLst/>
          </a:prstGeom>
          <a:solidFill>
            <a:schemeClr val="accent2"/>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4866" name="Google Shape;4866;p12"/>
          <p:cNvSpPr/>
          <p:nvPr/>
        </p:nvSpPr>
        <p:spPr>
          <a:xfrm>
            <a:off x="6940320" y="2428175"/>
            <a:ext cx="724859" cy="215863"/>
          </a:xfrm>
          <a:prstGeom prst="roundRect">
            <a:avLst>
              <a:gd name="adj" fmla="val 16667"/>
            </a:avLst>
          </a:prstGeom>
          <a:solidFill>
            <a:schemeClr val="lt1"/>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b="1">
                <a:solidFill>
                  <a:schemeClr val="dk1"/>
                </a:solidFill>
                <a:latin typeface="Arial"/>
                <a:ea typeface="Arial"/>
                <a:cs typeface="Arial"/>
                <a:sym typeface="Arial"/>
              </a:rPr>
              <a:t>Cluster</a:t>
            </a:r>
            <a:endParaRPr sz="1800" b="1">
              <a:solidFill>
                <a:schemeClr val="dk1"/>
              </a:solidFill>
              <a:latin typeface="Arial"/>
              <a:ea typeface="Arial"/>
              <a:cs typeface="Arial"/>
              <a:sym typeface="Arial"/>
            </a:endParaRPr>
          </a:p>
        </p:txBody>
      </p:sp>
      <p:sp>
        <p:nvSpPr>
          <p:cNvPr id="4867" name="Google Shape;4867;p12"/>
          <p:cNvSpPr/>
          <p:nvPr/>
        </p:nvSpPr>
        <p:spPr>
          <a:xfrm>
            <a:off x="659053" y="1977815"/>
            <a:ext cx="3084723" cy="3973530"/>
          </a:xfrm>
          <a:prstGeom prst="rect">
            <a:avLst/>
          </a:prstGeom>
          <a:solidFill>
            <a:schemeClr val="lt1"/>
          </a:solidFill>
          <a:ln w="12700" cap="flat" cmpd="sng">
            <a:solidFill>
              <a:srgbClr val="3F3F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4868" name="Google Shape;4868;p12"/>
          <p:cNvSpPr/>
          <p:nvPr/>
        </p:nvSpPr>
        <p:spPr>
          <a:xfrm>
            <a:off x="2503461" y="1851785"/>
            <a:ext cx="1160854" cy="283226"/>
          </a:xfrm>
          <a:prstGeom prst="roundRect">
            <a:avLst>
              <a:gd name="adj" fmla="val 16667"/>
            </a:avLst>
          </a:prstGeom>
          <a:solidFill>
            <a:schemeClr val="lt1"/>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b="1">
                <a:solidFill>
                  <a:schemeClr val="dk1"/>
                </a:solidFill>
                <a:latin typeface="Arial"/>
                <a:ea typeface="Arial"/>
                <a:cs typeface="Arial"/>
                <a:sym typeface="Arial"/>
              </a:rPr>
              <a:t>Cluster Image</a:t>
            </a:r>
            <a:endParaRPr sz="1800" b="1">
              <a:solidFill>
                <a:schemeClr val="dk1"/>
              </a:solidFill>
              <a:latin typeface="Arial"/>
              <a:ea typeface="Arial"/>
              <a:cs typeface="Arial"/>
              <a:sym typeface="Arial"/>
            </a:endParaRPr>
          </a:p>
        </p:txBody>
      </p:sp>
      <p:sp>
        <p:nvSpPr>
          <p:cNvPr id="4869" name="Google Shape;4869;p12"/>
          <p:cNvSpPr/>
          <p:nvPr/>
        </p:nvSpPr>
        <p:spPr>
          <a:xfrm>
            <a:off x="811204" y="2693958"/>
            <a:ext cx="2778336" cy="1401988"/>
          </a:xfrm>
          <a:prstGeom prst="rect">
            <a:avLst/>
          </a:prstGeom>
          <a:solidFill>
            <a:schemeClr val="accent4"/>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4870" name="Google Shape;4870;p12"/>
          <p:cNvSpPr/>
          <p:nvPr/>
        </p:nvSpPr>
        <p:spPr>
          <a:xfrm>
            <a:off x="935201" y="2552774"/>
            <a:ext cx="1252827" cy="283226"/>
          </a:xfrm>
          <a:prstGeom prst="roundRect">
            <a:avLst>
              <a:gd name="adj" fmla="val 16667"/>
            </a:avLst>
          </a:prstGeom>
          <a:solidFill>
            <a:schemeClr val="lt1"/>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b="1">
                <a:solidFill>
                  <a:schemeClr val="dk1"/>
                </a:solidFill>
                <a:latin typeface="Arial"/>
                <a:ea typeface="Arial"/>
                <a:cs typeface="Arial"/>
                <a:sym typeface="Arial"/>
              </a:rPr>
              <a:t>Additional Image</a:t>
            </a:r>
            <a:endParaRPr sz="1800" b="1">
              <a:solidFill>
                <a:schemeClr val="dk1"/>
              </a:solidFill>
              <a:latin typeface="Arial"/>
              <a:ea typeface="Arial"/>
              <a:cs typeface="Arial"/>
              <a:sym typeface="Arial"/>
            </a:endParaRPr>
          </a:p>
        </p:txBody>
      </p:sp>
      <p:sp>
        <p:nvSpPr>
          <p:cNvPr id="4871" name="Google Shape;4871;p12"/>
          <p:cNvSpPr/>
          <p:nvPr/>
        </p:nvSpPr>
        <p:spPr>
          <a:xfrm>
            <a:off x="811204" y="4388464"/>
            <a:ext cx="2778336" cy="1401988"/>
          </a:xfrm>
          <a:prstGeom prst="rect">
            <a:avLst/>
          </a:prstGeom>
          <a:solidFill>
            <a:schemeClr val="accent3"/>
          </a:solid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4872" name="Google Shape;4872;p12"/>
          <p:cNvSpPr/>
          <p:nvPr/>
        </p:nvSpPr>
        <p:spPr>
          <a:xfrm>
            <a:off x="926408" y="4249540"/>
            <a:ext cx="1252827" cy="283226"/>
          </a:xfrm>
          <a:prstGeom prst="roundRect">
            <a:avLst>
              <a:gd name="adj" fmla="val 16667"/>
            </a:avLst>
          </a:prstGeom>
          <a:solidFill>
            <a:schemeClr val="lt1"/>
          </a:solid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b="1">
                <a:solidFill>
                  <a:schemeClr val="dk1"/>
                </a:solidFill>
                <a:latin typeface="Arial"/>
                <a:ea typeface="Arial"/>
                <a:cs typeface="Arial"/>
                <a:sym typeface="Arial"/>
              </a:rPr>
              <a:t>Additional Image</a:t>
            </a:r>
            <a:endParaRPr sz="1800" b="1">
              <a:solidFill>
                <a:schemeClr val="dk1"/>
              </a:solidFill>
              <a:latin typeface="Arial"/>
              <a:ea typeface="Arial"/>
              <a:cs typeface="Arial"/>
              <a:sym typeface="Arial"/>
            </a:endParaRPr>
          </a:p>
        </p:txBody>
      </p:sp>
      <p:sp>
        <p:nvSpPr>
          <p:cNvPr id="4873" name="Google Shape;4873;p12"/>
          <p:cNvSpPr/>
          <p:nvPr/>
        </p:nvSpPr>
        <p:spPr>
          <a:xfrm>
            <a:off x="927947" y="2936546"/>
            <a:ext cx="2570404" cy="283226"/>
          </a:xfrm>
          <a:prstGeom prst="rect">
            <a:avLst/>
          </a:prstGeom>
          <a:solidFill>
            <a:schemeClr val="lt1"/>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Vendor Add-on</a:t>
            </a:r>
            <a:endParaRPr sz="1800">
              <a:solidFill>
                <a:schemeClr val="dk1"/>
              </a:solidFill>
              <a:latin typeface="Arial"/>
              <a:ea typeface="Arial"/>
              <a:cs typeface="Arial"/>
              <a:sym typeface="Arial"/>
            </a:endParaRPr>
          </a:p>
        </p:txBody>
      </p:sp>
      <p:sp>
        <p:nvSpPr>
          <p:cNvPr id="4874" name="Google Shape;4874;p12"/>
          <p:cNvSpPr/>
          <p:nvPr/>
        </p:nvSpPr>
        <p:spPr>
          <a:xfrm>
            <a:off x="926409" y="3332119"/>
            <a:ext cx="2570404" cy="283226"/>
          </a:xfrm>
          <a:prstGeom prst="rect">
            <a:avLst/>
          </a:prstGeom>
          <a:solidFill>
            <a:schemeClr val="lt1"/>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Firmware (HSM)</a:t>
            </a:r>
            <a:endParaRPr sz="1800">
              <a:solidFill>
                <a:schemeClr val="dk1"/>
              </a:solidFill>
              <a:latin typeface="Arial"/>
              <a:ea typeface="Arial"/>
              <a:cs typeface="Arial"/>
              <a:sym typeface="Arial"/>
            </a:endParaRPr>
          </a:p>
        </p:txBody>
      </p:sp>
      <p:sp>
        <p:nvSpPr>
          <p:cNvPr id="4875" name="Google Shape;4875;p12"/>
          <p:cNvSpPr/>
          <p:nvPr/>
        </p:nvSpPr>
        <p:spPr>
          <a:xfrm>
            <a:off x="926409" y="3727882"/>
            <a:ext cx="2570404" cy="283226"/>
          </a:xfrm>
          <a:prstGeom prst="rect">
            <a:avLst/>
          </a:prstGeom>
          <a:solidFill>
            <a:schemeClr val="lt1"/>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Components</a:t>
            </a:r>
            <a:endParaRPr sz="1800">
              <a:solidFill>
                <a:schemeClr val="dk1"/>
              </a:solidFill>
              <a:latin typeface="Arial"/>
              <a:ea typeface="Arial"/>
              <a:cs typeface="Arial"/>
              <a:sym typeface="Arial"/>
            </a:endParaRPr>
          </a:p>
        </p:txBody>
      </p:sp>
      <p:sp>
        <p:nvSpPr>
          <p:cNvPr id="4876" name="Google Shape;4876;p12"/>
          <p:cNvSpPr/>
          <p:nvPr/>
        </p:nvSpPr>
        <p:spPr>
          <a:xfrm>
            <a:off x="927947" y="4627373"/>
            <a:ext cx="2570404" cy="283226"/>
          </a:xfrm>
          <a:prstGeom prst="rect">
            <a:avLst/>
          </a:prstGeom>
          <a:solidFill>
            <a:schemeClr val="lt1"/>
          </a:solid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Vendor Add-on</a:t>
            </a:r>
            <a:endParaRPr sz="1800">
              <a:solidFill>
                <a:schemeClr val="dk1"/>
              </a:solidFill>
              <a:latin typeface="Arial"/>
              <a:ea typeface="Arial"/>
              <a:cs typeface="Arial"/>
              <a:sym typeface="Arial"/>
            </a:endParaRPr>
          </a:p>
        </p:txBody>
      </p:sp>
      <p:sp>
        <p:nvSpPr>
          <p:cNvPr id="4877" name="Google Shape;4877;p12"/>
          <p:cNvSpPr/>
          <p:nvPr/>
        </p:nvSpPr>
        <p:spPr>
          <a:xfrm>
            <a:off x="926409" y="5022946"/>
            <a:ext cx="2570404" cy="283226"/>
          </a:xfrm>
          <a:prstGeom prst="rect">
            <a:avLst/>
          </a:prstGeom>
          <a:solidFill>
            <a:schemeClr val="lt1"/>
          </a:solid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Firmware (HSM)</a:t>
            </a:r>
            <a:endParaRPr sz="1800">
              <a:solidFill>
                <a:schemeClr val="dk1"/>
              </a:solidFill>
              <a:latin typeface="Arial"/>
              <a:ea typeface="Arial"/>
              <a:cs typeface="Arial"/>
              <a:sym typeface="Arial"/>
            </a:endParaRPr>
          </a:p>
        </p:txBody>
      </p:sp>
      <p:sp>
        <p:nvSpPr>
          <p:cNvPr id="4878" name="Google Shape;4878;p12"/>
          <p:cNvSpPr/>
          <p:nvPr/>
        </p:nvSpPr>
        <p:spPr>
          <a:xfrm>
            <a:off x="926409" y="5418709"/>
            <a:ext cx="2570404" cy="283226"/>
          </a:xfrm>
          <a:prstGeom prst="rect">
            <a:avLst/>
          </a:prstGeom>
          <a:solidFill>
            <a:schemeClr val="lt1"/>
          </a:solid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Components</a:t>
            </a:r>
            <a:endParaRPr sz="1800">
              <a:solidFill>
                <a:schemeClr val="dk1"/>
              </a:solidFill>
              <a:latin typeface="Arial"/>
              <a:ea typeface="Arial"/>
              <a:cs typeface="Arial"/>
              <a:sym typeface="Arial"/>
            </a:endParaRPr>
          </a:p>
        </p:txBody>
      </p:sp>
      <p:sp>
        <p:nvSpPr>
          <p:cNvPr id="4879" name="Google Shape;4879;p12"/>
          <p:cNvSpPr/>
          <p:nvPr/>
        </p:nvSpPr>
        <p:spPr>
          <a:xfrm>
            <a:off x="811203" y="2185848"/>
            <a:ext cx="2778335" cy="283226"/>
          </a:xfrm>
          <a:prstGeom prst="rect">
            <a:avLst/>
          </a:prstGeom>
          <a:solidFill>
            <a:schemeClr val="accent2"/>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000"/>
              <a:buFont typeface="Arial"/>
              <a:buNone/>
            </a:pPr>
            <a:r>
              <a:rPr lang="en-US" sz="1000">
                <a:solidFill>
                  <a:schemeClr val="lt1"/>
                </a:solidFill>
                <a:latin typeface="Arial"/>
                <a:ea typeface="Arial"/>
                <a:cs typeface="Arial"/>
                <a:sym typeface="Arial"/>
              </a:rPr>
              <a:t>ESX Base Version</a:t>
            </a:r>
            <a:endParaRPr sz="1800">
              <a:solidFill>
                <a:schemeClr val="dk1"/>
              </a:solidFill>
              <a:latin typeface="Arial"/>
              <a:ea typeface="Arial"/>
              <a:cs typeface="Arial"/>
              <a:sym typeface="Arial"/>
            </a:endParaRPr>
          </a:p>
        </p:txBody>
      </p:sp>
      <p:sp>
        <p:nvSpPr>
          <p:cNvPr id="4880" name="Google Shape;4880;p12"/>
          <p:cNvSpPr/>
          <p:nvPr/>
        </p:nvSpPr>
        <p:spPr>
          <a:xfrm>
            <a:off x="4843373" y="5139720"/>
            <a:ext cx="2778335" cy="283226"/>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ESX Host</a:t>
            </a:r>
            <a:endParaRPr sz="1800">
              <a:solidFill>
                <a:schemeClr val="dk1"/>
              </a:solidFill>
              <a:latin typeface="Arial"/>
              <a:ea typeface="Arial"/>
              <a:cs typeface="Arial"/>
              <a:sym typeface="Arial"/>
            </a:endParaRPr>
          </a:p>
        </p:txBody>
      </p:sp>
      <p:sp>
        <p:nvSpPr>
          <p:cNvPr id="4881" name="Google Shape;4881;p12"/>
          <p:cNvSpPr/>
          <p:nvPr/>
        </p:nvSpPr>
        <p:spPr>
          <a:xfrm>
            <a:off x="4843373" y="4790385"/>
            <a:ext cx="2778335" cy="283226"/>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ESX Host</a:t>
            </a:r>
            <a:endParaRPr sz="1800">
              <a:solidFill>
                <a:schemeClr val="dk1"/>
              </a:solidFill>
              <a:latin typeface="Arial"/>
              <a:ea typeface="Arial"/>
              <a:cs typeface="Arial"/>
              <a:sym typeface="Arial"/>
            </a:endParaRPr>
          </a:p>
        </p:txBody>
      </p:sp>
      <p:sp>
        <p:nvSpPr>
          <p:cNvPr id="4882" name="Google Shape;4882;p12"/>
          <p:cNvSpPr/>
          <p:nvPr/>
        </p:nvSpPr>
        <p:spPr>
          <a:xfrm>
            <a:off x="4843373" y="4441052"/>
            <a:ext cx="2778335" cy="283226"/>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ESX Host</a:t>
            </a:r>
            <a:endParaRPr sz="1800">
              <a:solidFill>
                <a:schemeClr val="dk1"/>
              </a:solidFill>
              <a:latin typeface="Arial"/>
              <a:ea typeface="Arial"/>
              <a:cs typeface="Arial"/>
              <a:sym typeface="Arial"/>
            </a:endParaRPr>
          </a:p>
        </p:txBody>
      </p:sp>
      <p:sp>
        <p:nvSpPr>
          <p:cNvPr id="4883" name="Google Shape;4883;p12"/>
          <p:cNvSpPr/>
          <p:nvPr/>
        </p:nvSpPr>
        <p:spPr>
          <a:xfrm>
            <a:off x="4843373" y="4091719"/>
            <a:ext cx="2778335" cy="283226"/>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ESX Host</a:t>
            </a:r>
            <a:endParaRPr sz="1800">
              <a:solidFill>
                <a:schemeClr val="dk1"/>
              </a:solidFill>
              <a:latin typeface="Arial"/>
              <a:ea typeface="Arial"/>
              <a:cs typeface="Arial"/>
              <a:sym typeface="Arial"/>
            </a:endParaRPr>
          </a:p>
        </p:txBody>
      </p:sp>
      <p:sp>
        <p:nvSpPr>
          <p:cNvPr id="4884" name="Google Shape;4884;p12"/>
          <p:cNvSpPr/>
          <p:nvPr/>
        </p:nvSpPr>
        <p:spPr>
          <a:xfrm>
            <a:off x="4843373" y="3742386"/>
            <a:ext cx="2778335" cy="283226"/>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ESX Host</a:t>
            </a:r>
            <a:endParaRPr sz="1800">
              <a:solidFill>
                <a:schemeClr val="dk1"/>
              </a:solidFill>
              <a:latin typeface="Arial"/>
              <a:ea typeface="Arial"/>
              <a:cs typeface="Arial"/>
              <a:sym typeface="Arial"/>
            </a:endParaRPr>
          </a:p>
        </p:txBody>
      </p:sp>
      <p:sp>
        <p:nvSpPr>
          <p:cNvPr id="4885" name="Google Shape;4885;p12"/>
          <p:cNvSpPr/>
          <p:nvPr/>
        </p:nvSpPr>
        <p:spPr>
          <a:xfrm>
            <a:off x="4843373" y="3393053"/>
            <a:ext cx="2778335" cy="283226"/>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ESX Host</a:t>
            </a:r>
            <a:endParaRPr sz="1800">
              <a:solidFill>
                <a:schemeClr val="dk1"/>
              </a:solidFill>
              <a:latin typeface="Arial"/>
              <a:ea typeface="Arial"/>
              <a:cs typeface="Arial"/>
              <a:sym typeface="Arial"/>
            </a:endParaRPr>
          </a:p>
        </p:txBody>
      </p:sp>
      <p:sp>
        <p:nvSpPr>
          <p:cNvPr id="4886" name="Google Shape;4886;p12"/>
          <p:cNvSpPr/>
          <p:nvPr/>
        </p:nvSpPr>
        <p:spPr>
          <a:xfrm>
            <a:off x="4843373" y="3043720"/>
            <a:ext cx="2778335" cy="283226"/>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ESX Host</a:t>
            </a:r>
            <a:endParaRPr sz="1800">
              <a:solidFill>
                <a:schemeClr val="dk1"/>
              </a:solidFill>
              <a:latin typeface="Arial"/>
              <a:ea typeface="Arial"/>
              <a:cs typeface="Arial"/>
              <a:sym typeface="Arial"/>
            </a:endParaRPr>
          </a:p>
        </p:txBody>
      </p:sp>
      <p:sp>
        <p:nvSpPr>
          <p:cNvPr id="4887" name="Google Shape;4887;p12"/>
          <p:cNvSpPr/>
          <p:nvPr/>
        </p:nvSpPr>
        <p:spPr>
          <a:xfrm>
            <a:off x="4843373" y="2694387"/>
            <a:ext cx="2778335" cy="283226"/>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ESX Host</a:t>
            </a:r>
            <a:endParaRPr sz="1800">
              <a:solidFill>
                <a:schemeClr val="dk1"/>
              </a:solidFill>
              <a:latin typeface="Arial"/>
              <a:ea typeface="Arial"/>
              <a:cs typeface="Arial"/>
              <a:sym typeface="Arial"/>
            </a:endParaRPr>
          </a:p>
        </p:txBody>
      </p:sp>
      <p:sp>
        <p:nvSpPr>
          <p:cNvPr id="4888" name="Google Shape;4888;p12"/>
          <p:cNvSpPr/>
          <p:nvPr/>
        </p:nvSpPr>
        <p:spPr>
          <a:xfrm>
            <a:off x="3985024" y="3645291"/>
            <a:ext cx="453814" cy="840279"/>
          </a:xfrm>
          <a:prstGeom prst="chevron">
            <a:avLst>
              <a:gd name="adj"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93"/>
        <p:cNvGrpSpPr/>
        <p:nvPr/>
      </p:nvGrpSpPr>
      <p:grpSpPr>
        <a:xfrm>
          <a:off x="0" y="0"/>
          <a:ext cx="0" cy="0"/>
          <a:chOff x="0" y="0"/>
          <a:chExt cx="0" cy="0"/>
        </a:xfrm>
      </p:grpSpPr>
      <p:sp>
        <p:nvSpPr>
          <p:cNvPr id="4894" name="Google Shape;4894;p1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Scale Memory Capacity with Lower TCO</a:t>
            </a:r>
            <a:endParaRPr/>
          </a:p>
        </p:txBody>
      </p:sp>
      <p:sp>
        <p:nvSpPr>
          <p:cNvPr id="4895" name="Google Shape;4895;p1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Memory optimization with NVMe</a:t>
            </a:r>
            <a:endParaRPr/>
          </a:p>
          <a:p>
            <a:pPr marL="0" lvl="0" indent="0" algn="l" rtl="0">
              <a:lnSpc>
                <a:spcPct val="100000"/>
              </a:lnSpc>
              <a:spcBef>
                <a:spcPts val="1200"/>
              </a:spcBef>
              <a:spcAft>
                <a:spcPts val="0"/>
              </a:spcAft>
              <a:buSzPts val="1800"/>
              <a:buNone/>
            </a:pPr>
            <a:endParaRPr/>
          </a:p>
        </p:txBody>
      </p:sp>
      <p:sp>
        <p:nvSpPr>
          <p:cNvPr id="4896" name="Google Shape;4896;p13"/>
          <p:cNvSpPr txBox="1">
            <a:spLocks noGrp="1"/>
          </p:cNvSpPr>
          <p:nvPr>
            <p:ph type="body" idx="2"/>
          </p:nvPr>
        </p:nvSpPr>
        <p:spPr>
          <a:xfrm>
            <a:off x="9294812" y="1609531"/>
            <a:ext cx="2894013" cy="4572000"/>
          </a:xfrm>
          <a:prstGeom prst="rect">
            <a:avLst/>
          </a:prstGeom>
          <a:solidFill>
            <a:srgbClr val="F4F8FA"/>
          </a:solidFill>
          <a:ln>
            <a:noFill/>
          </a:ln>
        </p:spPr>
        <p:txBody>
          <a:bodyPr spcFirstLastPara="1" wrap="square" lIns="274300" tIns="457200" rIns="457200" bIns="457200" anchor="t" anchorCtr="0">
            <a:noAutofit/>
          </a:bodyPr>
          <a:lstStyle/>
          <a:p>
            <a:pPr marL="0" lvl="0" indent="0" algn="l" rtl="0">
              <a:lnSpc>
                <a:spcPct val="100000"/>
              </a:lnSpc>
              <a:spcBef>
                <a:spcPts val="0"/>
              </a:spcBef>
              <a:spcAft>
                <a:spcPts val="0"/>
              </a:spcAft>
              <a:buSzPts val="1620"/>
              <a:buNone/>
            </a:pPr>
            <a:r>
              <a:rPr lang="en-US" dirty="0"/>
              <a:t>NVMe devices help optimize server resource usage</a:t>
            </a:r>
            <a:endParaRPr dirty="0"/>
          </a:p>
          <a:p>
            <a:pPr marL="0" lvl="0" indent="0" algn="l" rtl="0">
              <a:lnSpc>
                <a:spcPct val="100000"/>
              </a:lnSpc>
              <a:spcBef>
                <a:spcPts val="1200"/>
              </a:spcBef>
              <a:spcAft>
                <a:spcPts val="0"/>
              </a:spcAft>
              <a:buSzPts val="1620"/>
              <a:buNone/>
            </a:pPr>
            <a:r>
              <a:rPr lang="en-US" dirty="0"/>
              <a:t>Addresses core-to-memory imbalance</a:t>
            </a:r>
            <a:endParaRPr dirty="0"/>
          </a:p>
          <a:p>
            <a:pPr marL="0" lvl="0" indent="0" algn="l" rtl="0">
              <a:lnSpc>
                <a:spcPct val="100000"/>
              </a:lnSpc>
              <a:spcBef>
                <a:spcPts val="1200"/>
              </a:spcBef>
              <a:spcAft>
                <a:spcPts val="0"/>
              </a:spcAft>
              <a:buSzPts val="1620"/>
              <a:buNone/>
            </a:pPr>
            <a:r>
              <a:rPr lang="en-US" dirty="0"/>
              <a:t>More in-memory computing</a:t>
            </a:r>
            <a:endParaRPr dirty="0"/>
          </a:p>
          <a:p>
            <a:pPr marL="0" lvl="0" indent="0" algn="l" rtl="0">
              <a:lnSpc>
                <a:spcPct val="100000"/>
              </a:lnSpc>
              <a:spcBef>
                <a:spcPts val="1200"/>
              </a:spcBef>
              <a:spcAft>
                <a:spcPts val="0"/>
              </a:spcAft>
              <a:buSzPts val="1620"/>
              <a:buNone/>
            </a:pPr>
            <a:r>
              <a:rPr lang="en-US" b="1" dirty="0"/>
              <a:t>Run more workloads with better CPU utilization!</a:t>
            </a:r>
            <a:endParaRPr dirty="0"/>
          </a:p>
          <a:p>
            <a:pPr marL="0" lvl="0" indent="0" algn="l" rtl="0">
              <a:lnSpc>
                <a:spcPct val="100000"/>
              </a:lnSpc>
              <a:spcBef>
                <a:spcPts val="1200"/>
              </a:spcBef>
              <a:spcAft>
                <a:spcPts val="0"/>
              </a:spcAft>
              <a:buSzPts val="1620"/>
              <a:buNone/>
            </a:pPr>
            <a:endParaRPr dirty="0"/>
          </a:p>
        </p:txBody>
      </p:sp>
      <p:grpSp>
        <p:nvGrpSpPr>
          <p:cNvPr id="4897" name="Google Shape;4897;p13"/>
          <p:cNvGrpSpPr/>
          <p:nvPr/>
        </p:nvGrpSpPr>
        <p:grpSpPr>
          <a:xfrm>
            <a:off x="1059242" y="2309562"/>
            <a:ext cx="6848764" cy="3323795"/>
            <a:chOff x="1059242" y="2309562"/>
            <a:chExt cx="6848764" cy="3323795"/>
          </a:xfrm>
        </p:grpSpPr>
        <p:sp>
          <p:nvSpPr>
            <p:cNvPr id="4898" name="Google Shape;4898;p13"/>
            <p:cNvSpPr/>
            <p:nvPr/>
          </p:nvSpPr>
          <p:spPr>
            <a:xfrm>
              <a:off x="1059242" y="2309562"/>
              <a:ext cx="6848764" cy="3323795"/>
            </a:xfrm>
            <a:prstGeom prst="rect">
              <a:avLst/>
            </a:prstGeom>
            <a:solidFill>
              <a:srgbClr val="F4F8FA"/>
            </a:solidFill>
            <a:ln w="25400" cap="flat" cmpd="sng">
              <a:solidFill>
                <a:srgbClr val="C9D3E4"/>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chemeClr val="lt1"/>
                </a:buClr>
                <a:buSzPts val="667"/>
                <a:buFont typeface="Arial"/>
                <a:buNone/>
              </a:pPr>
              <a:endParaRPr sz="667" u="none" strike="noStrike" cap="none">
                <a:solidFill>
                  <a:srgbClr val="FFFFFF"/>
                </a:solidFill>
                <a:latin typeface="Arial"/>
                <a:ea typeface="Arial"/>
                <a:cs typeface="Arial"/>
                <a:sym typeface="Arial"/>
              </a:endParaRPr>
            </a:p>
          </p:txBody>
        </p:sp>
        <p:sp>
          <p:nvSpPr>
            <p:cNvPr id="4899" name="Google Shape;4899;p13"/>
            <p:cNvSpPr/>
            <p:nvPr/>
          </p:nvSpPr>
          <p:spPr>
            <a:xfrm>
              <a:off x="1575901" y="2463807"/>
              <a:ext cx="2572405" cy="600297"/>
            </a:xfrm>
            <a:prstGeom prst="rect">
              <a:avLst/>
            </a:prstGeom>
            <a:solidFill>
              <a:schemeClr val="lt1"/>
            </a:solidFill>
            <a:ln w="25400" cap="flat" cmpd="sng">
              <a:solidFill>
                <a:schemeClr val="accent2">
                  <a:alpha val="20000"/>
                </a:schemeClr>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chemeClr val="lt1"/>
                </a:buClr>
                <a:buSzPts val="667"/>
                <a:buFont typeface="Arial"/>
                <a:buNone/>
              </a:pPr>
              <a:endParaRPr sz="667" u="none" strike="noStrike" cap="none">
                <a:solidFill>
                  <a:srgbClr val="FFFFFF"/>
                </a:solidFill>
                <a:latin typeface="Arial"/>
                <a:ea typeface="Arial"/>
                <a:cs typeface="Arial"/>
                <a:sym typeface="Arial"/>
              </a:endParaRPr>
            </a:p>
          </p:txBody>
        </p:sp>
        <p:grpSp>
          <p:nvGrpSpPr>
            <p:cNvPr id="4900" name="Google Shape;4900;p13"/>
            <p:cNvGrpSpPr/>
            <p:nvPr/>
          </p:nvGrpSpPr>
          <p:grpSpPr>
            <a:xfrm>
              <a:off x="2249655" y="2567637"/>
              <a:ext cx="1078650" cy="391053"/>
              <a:chOff x="6466351" y="2308461"/>
              <a:chExt cx="1078650" cy="391053"/>
            </a:xfrm>
          </p:grpSpPr>
          <p:grpSp>
            <p:nvGrpSpPr>
              <p:cNvPr id="4901" name="Google Shape;4901;p13"/>
              <p:cNvGrpSpPr/>
              <p:nvPr/>
            </p:nvGrpSpPr>
            <p:grpSpPr>
              <a:xfrm>
                <a:off x="6466351" y="2308461"/>
                <a:ext cx="391053" cy="391053"/>
                <a:chOff x="5574505" y="1554296"/>
                <a:chExt cx="1035620" cy="1035620"/>
              </a:xfrm>
            </p:grpSpPr>
            <p:grpSp>
              <p:nvGrpSpPr>
                <p:cNvPr id="4902" name="Google Shape;4902;p13"/>
                <p:cNvGrpSpPr/>
                <p:nvPr/>
              </p:nvGrpSpPr>
              <p:grpSpPr>
                <a:xfrm>
                  <a:off x="5751021" y="1944645"/>
                  <a:ext cx="663299" cy="217354"/>
                  <a:chOff x="5751021" y="1944645"/>
                  <a:chExt cx="663299" cy="217354"/>
                </a:xfrm>
              </p:grpSpPr>
              <p:sp>
                <p:nvSpPr>
                  <p:cNvPr id="4903" name="Google Shape;4903;p13"/>
                  <p:cNvSpPr/>
                  <p:nvPr/>
                </p:nvSpPr>
                <p:spPr>
                  <a:xfrm>
                    <a:off x="5751021"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sp>
                <p:nvSpPr>
                  <p:cNvPr id="4904" name="Google Shape;4904;p13"/>
                  <p:cNvSpPr/>
                  <p:nvPr/>
                </p:nvSpPr>
                <p:spPr>
                  <a:xfrm>
                    <a:off x="6023553"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sp>
                <p:nvSpPr>
                  <p:cNvPr id="4905" name="Google Shape;4905;p13"/>
                  <p:cNvSpPr/>
                  <p:nvPr/>
                </p:nvSpPr>
                <p:spPr>
                  <a:xfrm>
                    <a:off x="6246106"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grpSp>
            <p:sp>
              <p:nvSpPr>
                <p:cNvPr id="4906" name="Google Shape;4906;p13"/>
                <p:cNvSpPr/>
                <p:nvPr/>
              </p:nvSpPr>
              <p:spPr>
                <a:xfrm>
                  <a:off x="5574505"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grpSp>
          <p:grpSp>
            <p:nvGrpSpPr>
              <p:cNvPr id="4907" name="Google Shape;4907;p13"/>
              <p:cNvGrpSpPr/>
              <p:nvPr/>
            </p:nvGrpSpPr>
            <p:grpSpPr>
              <a:xfrm>
                <a:off x="7153948" y="2308461"/>
                <a:ext cx="391053" cy="391053"/>
                <a:chOff x="5574505" y="1554296"/>
                <a:chExt cx="1035620" cy="1035620"/>
              </a:xfrm>
            </p:grpSpPr>
            <p:grpSp>
              <p:nvGrpSpPr>
                <p:cNvPr id="4908" name="Google Shape;4908;p13"/>
                <p:cNvGrpSpPr/>
                <p:nvPr/>
              </p:nvGrpSpPr>
              <p:grpSpPr>
                <a:xfrm>
                  <a:off x="5751021" y="1944645"/>
                  <a:ext cx="663299" cy="217354"/>
                  <a:chOff x="5751021" y="1944645"/>
                  <a:chExt cx="663299" cy="217354"/>
                </a:xfrm>
              </p:grpSpPr>
              <p:sp>
                <p:nvSpPr>
                  <p:cNvPr id="4909" name="Google Shape;4909;p13"/>
                  <p:cNvSpPr/>
                  <p:nvPr/>
                </p:nvSpPr>
                <p:spPr>
                  <a:xfrm>
                    <a:off x="5751021"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sp>
                <p:nvSpPr>
                  <p:cNvPr id="4910" name="Google Shape;4910;p13"/>
                  <p:cNvSpPr/>
                  <p:nvPr/>
                </p:nvSpPr>
                <p:spPr>
                  <a:xfrm>
                    <a:off x="6023553"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sp>
                <p:nvSpPr>
                  <p:cNvPr id="4911" name="Google Shape;4911;p13"/>
                  <p:cNvSpPr/>
                  <p:nvPr/>
                </p:nvSpPr>
                <p:spPr>
                  <a:xfrm>
                    <a:off x="6246106"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grpSp>
            <p:sp>
              <p:nvSpPr>
                <p:cNvPr id="4912" name="Google Shape;4912;p13"/>
                <p:cNvSpPr/>
                <p:nvPr/>
              </p:nvSpPr>
              <p:spPr>
                <a:xfrm>
                  <a:off x="5574505"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grpSp>
        </p:grpSp>
        <p:sp>
          <p:nvSpPr>
            <p:cNvPr id="4913" name="Google Shape;4913;p13"/>
            <p:cNvSpPr/>
            <p:nvPr/>
          </p:nvSpPr>
          <p:spPr>
            <a:xfrm>
              <a:off x="1293971" y="3214090"/>
              <a:ext cx="6385841" cy="1042972"/>
            </a:xfrm>
            <a:prstGeom prst="rect">
              <a:avLst/>
            </a:prstGeom>
            <a:solidFill>
              <a:schemeClr val="lt1"/>
            </a:solidFill>
            <a:ln w="25400" cap="flat" cmpd="sng">
              <a:solidFill>
                <a:schemeClr val="accent2"/>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chemeClr val="lt1"/>
                </a:buClr>
                <a:buSzPts val="667"/>
                <a:buFont typeface="Arial"/>
                <a:buNone/>
              </a:pPr>
              <a:endParaRPr sz="667" u="none" strike="noStrike" cap="none">
                <a:solidFill>
                  <a:srgbClr val="FFFFFF"/>
                </a:solidFill>
                <a:latin typeface="Arial"/>
                <a:ea typeface="Arial"/>
                <a:cs typeface="Arial"/>
                <a:sym typeface="Arial"/>
              </a:endParaRPr>
            </a:p>
          </p:txBody>
        </p:sp>
        <p:sp>
          <p:nvSpPr>
            <p:cNvPr id="4914" name="Google Shape;4914;p13"/>
            <p:cNvSpPr/>
            <p:nvPr/>
          </p:nvSpPr>
          <p:spPr>
            <a:xfrm>
              <a:off x="1293970" y="4050080"/>
              <a:ext cx="6385841" cy="21483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u="none" strike="noStrike" cap="none">
                <a:solidFill>
                  <a:srgbClr val="FFFFFF"/>
                </a:solidFill>
                <a:latin typeface="Arial"/>
                <a:ea typeface="Arial"/>
                <a:cs typeface="Arial"/>
                <a:sym typeface="Arial"/>
              </a:endParaRPr>
            </a:p>
          </p:txBody>
        </p:sp>
        <p:sp>
          <p:nvSpPr>
            <p:cNvPr id="4915" name="Google Shape;4915;p13"/>
            <p:cNvSpPr txBox="1"/>
            <p:nvPr/>
          </p:nvSpPr>
          <p:spPr>
            <a:xfrm>
              <a:off x="1308881" y="4030780"/>
              <a:ext cx="6381586" cy="261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100"/>
                <a:buFont typeface="Arial"/>
                <a:buNone/>
              </a:pPr>
              <a:r>
                <a:rPr lang="en-US" sz="1100" b="1" u="none" strike="noStrike" cap="none">
                  <a:solidFill>
                    <a:srgbClr val="FFFFFF"/>
                  </a:solidFill>
                  <a:latin typeface="Arial"/>
                  <a:ea typeface="Arial"/>
                  <a:cs typeface="Arial"/>
                  <a:sym typeface="Arial"/>
                </a:rPr>
                <a:t>ESX</a:t>
              </a:r>
              <a:endParaRPr sz="1800">
                <a:solidFill>
                  <a:schemeClr val="dk1"/>
                </a:solidFill>
                <a:latin typeface="Arial"/>
                <a:ea typeface="Arial"/>
                <a:cs typeface="Arial"/>
                <a:sym typeface="Arial"/>
              </a:endParaRPr>
            </a:p>
          </p:txBody>
        </p:sp>
        <p:cxnSp>
          <p:nvCxnSpPr>
            <p:cNvPr id="4916" name="Google Shape;4916;p13"/>
            <p:cNvCxnSpPr/>
            <p:nvPr/>
          </p:nvCxnSpPr>
          <p:spPr>
            <a:xfrm>
              <a:off x="1303503" y="4415702"/>
              <a:ext cx="6385019" cy="0"/>
            </a:xfrm>
            <a:prstGeom prst="straightConnector1">
              <a:avLst/>
            </a:prstGeom>
            <a:noFill/>
            <a:ln w="25400" cap="rnd" cmpd="sng">
              <a:solidFill>
                <a:schemeClr val="accent2"/>
              </a:solidFill>
              <a:prstDash val="dot"/>
              <a:round/>
              <a:headEnd type="none" w="sm" len="sm"/>
              <a:tailEnd type="none" w="sm" len="sm"/>
            </a:ln>
          </p:spPr>
        </p:cxnSp>
        <p:sp>
          <p:nvSpPr>
            <p:cNvPr id="4917" name="Google Shape;4917;p13"/>
            <p:cNvSpPr txBox="1"/>
            <p:nvPr/>
          </p:nvSpPr>
          <p:spPr>
            <a:xfrm>
              <a:off x="3670736" y="4294686"/>
              <a:ext cx="1668436" cy="276999"/>
            </a:xfrm>
            <a:prstGeom prst="rect">
              <a:avLst/>
            </a:prstGeom>
            <a:solidFill>
              <a:srgbClr val="F4F8FA"/>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D428A"/>
                </a:buClr>
                <a:buSzPts val="1200"/>
                <a:buFont typeface="Arial"/>
                <a:buNone/>
              </a:pPr>
              <a:r>
                <a:rPr lang="en-US" sz="1200" u="none" strike="noStrike" cap="none">
                  <a:solidFill>
                    <a:srgbClr val="1D428A"/>
                  </a:solidFill>
                  <a:latin typeface="Arial"/>
                  <a:ea typeface="Arial"/>
                  <a:cs typeface="Arial"/>
                  <a:sym typeface="Arial"/>
                </a:rPr>
                <a:t>Memory Hardware</a:t>
              </a:r>
              <a:endParaRPr sz="1800">
                <a:solidFill>
                  <a:schemeClr val="dk1"/>
                </a:solidFill>
                <a:latin typeface="Arial"/>
                <a:ea typeface="Arial"/>
                <a:cs typeface="Arial"/>
                <a:sym typeface="Arial"/>
              </a:endParaRPr>
            </a:p>
          </p:txBody>
        </p:sp>
        <p:sp>
          <p:nvSpPr>
            <p:cNvPr id="4918" name="Google Shape;4918;p13"/>
            <p:cNvSpPr/>
            <p:nvPr/>
          </p:nvSpPr>
          <p:spPr>
            <a:xfrm>
              <a:off x="1308881" y="4599675"/>
              <a:ext cx="6383329" cy="338547"/>
            </a:xfrm>
            <a:prstGeom prst="roundRect">
              <a:avLst>
                <a:gd name="adj" fmla="val 0"/>
              </a:avLst>
            </a:prstGeom>
            <a:gradFill>
              <a:gsLst>
                <a:gs pos="0">
                  <a:srgbClr val="F7F4FA"/>
                </a:gs>
                <a:gs pos="74000">
                  <a:srgbClr val="BBA8D3"/>
                </a:gs>
                <a:gs pos="81000">
                  <a:srgbClr val="BBA8D3"/>
                </a:gs>
                <a:gs pos="100000">
                  <a:srgbClr val="D2C5E1"/>
                </a:gs>
              </a:gsLst>
              <a:lin ang="5400000" scaled="0"/>
            </a:gradFill>
            <a:ln w="25400" cap="flat" cmpd="sng">
              <a:solidFill>
                <a:schemeClr val="accent5"/>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u="none" strike="noStrike" cap="none">
                <a:solidFill>
                  <a:srgbClr val="FFFFFF"/>
                </a:solidFill>
                <a:latin typeface="Arial"/>
                <a:ea typeface="Arial"/>
                <a:cs typeface="Arial"/>
                <a:sym typeface="Arial"/>
              </a:endParaRPr>
            </a:p>
          </p:txBody>
        </p:sp>
        <p:sp>
          <p:nvSpPr>
            <p:cNvPr id="4919" name="Google Shape;4919;p13"/>
            <p:cNvSpPr txBox="1"/>
            <p:nvPr/>
          </p:nvSpPr>
          <p:spPr>
            <a:xfrm>
              <a:off x="3847618" y="4587524"/>
              <a:ext cx="1426254"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70C0"/>
                </a:buClr>
                <a:buSzPts val="1600"/>
                <a:buFont typeface="Arial"/>
                <a:buNone/>
              </a:pPr>
              <a:r>
                <a:rPr lang="en-US" sz="1600" u="none" strike="noStrike" cap="none">
                  <a:solidFill>
                    <a:srgbClr val="0070C0"/>
                  </a:solidFill>
                  <a:latin typeface="Arial"/>
                  <a:ea typeface="Arial"/>
                  <a:cs typeface="Arial"/>
                  <a:sym typeface="Arial"/>
                </a:rPr>
                <a:t>DDR</a:t>
              </a:r>
              <a:endParaRPr sz="1800">
                <a:solidFill>
                  <a:schemeClr val="dk1"/>
                </a:solidFill>
                <a:latin typeface="Arial"/>
                <a:ea typeface="Arial"/>
                <a:cs typeface="Arial"/>
                <a:sym typeface="Arial"/>
              </a:endParaRPr>
            </a:p>
          </p:txBody>
        </p:sp>
        <p:sp>
          <p:nvSpPr>
            <p:cNvPr id="4920" name="Google Shape;4920;p13"/>
            <p:cNvSpPr/>
            <p:nvPr/>
          </p:nvSpPr>
          <p:spPr>
            <a:xfrm>
              <a:off x="4830279" y="2463807"/>
              <a:ext cx="2572404" cy="600297"/>
            </a:xfrm>
            <a:prstGeom prst="rect">
              <a:avLst/>
            </a:prstGeom>
            <a:solidFill>
              <a:schemeClr val="lt1"/>
            </a:solidFill>
            <a:ln w="25400" cap="flat" cmpd="sng">
              <a:solidFill>
                <a:schemeClr val="accent2">
                  <a:alpha val="20000"/>
                </a:schemeClr>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chemeClr val="lt1"/>
                </a:buClr>
                <a:buSzPts val="667"/>
                <a:buFont typeface="Arial"/>
                <a:buNone/>
              </a:pPr>
              <a:endParaRPr sz="667" u="none" strike="noStrike" cap="none">
                <a:solidFill>
                  <a:srgbClr val="FFFFFF"/>
                </a:solidFill>
                <a:latin typeface="Arial"/>
                <a:ea typeface="Arial"/>
                <a:cs typeface="Arial"/>
                <a:sym typeface="Arial"/>
              </a:endParaRPr>
            </a:p>
          </p:txBody>
        </p:sp>
        <p:sp>
          <p:nvSpPr>
            <p:cNvPr id="4921" name="Google Shape;4921;p13"/>
            <p:cNvSpPr/>
            <p:nvPr/>
          </p:nvSpPr>
          <p:spPr>
            <a:xfrm>
              <a:off x="1303502" y="5095938"/>
              <a:ext cx="6383329" cy="338556"/>
            </a:xfrm>
            <a:prstGeom prst="roundRect">
              <a:avLst>
                <a:gd name="adj" fmla="val 0"/>
              </a:avLst>
            </a:prstGeom>
            <a:gradFill>
              <a:gsLst>
                <a:gs pos="0">
                  <a:srgbClr val="EBF8FF"/>
                </a:gs>
                <a:gs pos="74000">
                  <a:srgbClr val="57C6FF"/>
                </a:gs>
                <a:gs pos="83000">
                  <a:srgbClr val="57C6FF"/>
                </a:gs>
                <a:gs pos="100000">
                  <a:srgbClr val="8FD8FF"/>
                </a:gs>
              </a:gsLst>
              <a:lin ang="5400000" scaled="0"/>
            </a:gradFill>
            <a:ln w="25400" cap="flat" cmpd="sng">
              <a:solidFill>
                <a:srgbClr val="007295"/>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u="none" strike="noStrike" cap="none">
                <a:solidFill>
                  <a:srgbClr val="FFFFFF"/>
                </a:solidFill>
                <a:latin typeface="Arial"/>
                <a:ea typeface="Arial"/>
                <a:cs typeface="Arial"/>
                <a:sym typeface="Arial"/>
              </a:endParaRPr>
            </a:p>
          </p:txBody>
        </p:sp>
        <p:sp>
          <p:nvSpPr>
            <p:cNvPr id="4922" name="Google Shape;4922;p13"/>
            <p:cNvSpPr txBox="1"/>
            <p:nvPr/>
          </p:nvSpPr>
          <p:spPr>
            <a:xfrm>
              <a:off x="3758822" y="5106549"/>
              <a:ext cx="1608423" cy="3385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70C0"/>
                </a:buClr>
                <a:buSzPts val="1600"/>
                <a:buFont typeface="Arial"/>
                <a:buNone/>
              </a:pPr>
              <a:r>
                <a:rPr lang="en-US" sz="1600" u="none" strike="noStrike" cap="none">
                  <a:solidFill>
                    <a:srgbClr val="0070C0"/>
                  </a:solidFill>
                  <a:latin typeface="Arial"/>
                  <a:ea typeface="Arial"/>
                  <a:cs typeface="Arial"/>
                  <a:sym typeface="Arial"/>
                </a:rPr>
                <a:t>NVMe</a:t>
              </a:r>
              <a:endParaRPr sz="1800">
                <a:solidFill>
                  <a:schemeClr val="dk1"/>
                </a:solidFill>
                <a:latin typeface="Arial"/>
                <a:ea typeface="Arial"/>
                <a:cs typeface="Arial"/>
                <a:sym typeface="Arial"/>
              </a:endParaRPr>
            </a:p>
          </p:txBody>
        </p:sp>
        <p:grpSp>
          <p:nvGrpSpPr>
            <p:cNvPr id="4923" name="Google Shape;4923;p13"/>
            <p:cNvGrpSpPr/>
            <p:nvPr/>
          </p:nvGrpSpPr>
          <p:grpSpPr>
            <a:xfrm>
              <a:off x="5609749" y="2557905"/>
              <a:ext cx="1078649" cy="393429"/>
              <a:chOff x="7841546" y="2308461"/>
              <a:chExt cx="1078649" cy="393429"/>
            </a:xfrm>
          </p:grpSpPr>
          <p:grpSp>
            <p:nvGrpSpPr>
              <p:cNvPr id="4924" name="Google Shape;4924;p13"/>
              <p:cNvGrpSpPr/>
              <p:nvPr/>
            </p:nvGrpSpPr>
            <p:grpSpPr>
              <a:xfrm>
                <a:off x="7841546" y="2310837"/>
                <a:ext cx="391053" cy="391053"/>
                <a:chOff x="5574505" y="1554296"/>
                <a:chExt cx="1035620" cy="1035620"/>
              </a:xfrm>
            </p:grpSpPr>
            <p:grpSp>
              <p:nvGrpSpPr>
                <p:cNvPr id="4925" name="Google Shape;4925;p13"/>
                <p:cNvGrpSpPr/>
                <p:nvPr/>
              </p:nvGrpSpPr>
              <p:grpSpPr>
                <a:xfrm>
                  <a:off x="5751021" y="1944645"/>
                  <a:ext cx="663299" cy="217354"/>
                  <a:chOff x="5751021" y="1944645"/>
                  <a:chExt cx="663299" cy="217354"/>
                </a:xfrm>
              </p:grpSpPr>
              <p:sp>
                <p:nvSpPr>
                  <p:cNvPr id="4926" name="Google Shape;4926;p13"/>
                  <p:cNvSpPr/>
                  <p:nvPr/>
                </p:nvSpPr>
                <p:spPr>
                  <a:xfrm>
                    <a:off x="5751021"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sp>
                <p:nvSpPr>
                  <p:cNvPr id="4927" name="Google Shape;4927;p13"/>
                  <p:cNvSpPr/>
                  <p:nvPr/>
                </p:nvSpPr>
                <p:spPr>
                  <a:xfrm>
                    <a:off x="6023553"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sp>
                <p:nvSpPr>
                  <p:cNvPr id="4928" name="Google Shape;4928;p13"/>
                  <p:cNvSpPr/>
                  <p:nvPr/>
                </p:nvSpPr>
                <p:spPr>
                  <a:xfrm>
                    <a:off x="6246106"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grpSp>
            <p:sp>
              <p:nvSpPr>
                <p:cNvPr id="4929" name="Google Shape;4929;p13"/>
                <p:cNvSpPr/>
                <p:nvPr/>
              </p:nvSpPr>
              <p:spPr>
                <a:xfrm>
                  <a:off x="5574505"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grpSp>
          <p:grpSp>
            <p:nvGrpSpPr>
              <p:cNvPr id="4930" name="Google Shape;4930;p13"/>
              <p:cNvGrpSpPr/>
              <p:nvPr/>
            </p:nvGrpSpPr>
            <p:grpSpPr>
              <a:xfrm>
                <a:off x="8529142" y="2308461"/>
                <a:ext cx="391053" cy="391053"/>
                <a:chOff x="5574505" y="1554296"/>
                <a:chExt cx="1035620" cy="1035620"/>
              </a:xfrm>
            </p:grpSpPr>
            <p:grpSp>
              <p:nvGrpSpPr>
                <p:cNvPr id="4931" name="Google Shape;4931;p13"/>
                <p:cNvGrpSpPr/>
                <p:nvPr/>
              </p:nvGrpSpPr>
              <p:grpSpPr>
                <a:xfrm>
                  <a:off x="5751021" y="1944645"/>
                  <a:ext cx="663299" cy="217354"/>
                  <a:chOff x="5751021" y="1944645"/>
                  <a:chExt cx="663299" cy="217354"/>
                </a:xfrm>
              </p:grpSpPr>
              <p:sp>
                <p:nvSpPr>
                  <p:cNvPr id="4932" name="Google Shape;4932;p13"/>
                  <p:cNvSpPr/>
                  <p:nvPr/>
                </p:nvSpPr>
                <p:spPr>
                  <a:xfrm>
                    <a:off x="5751021"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sp>
                <p:nvSpPr>
                  <p:cNvPr id="4933" name="Google Shape;4933;p13"/>
                  <p:cNvSpPr/>
                  <p:nvPr/>
                </p:nvSpPr>
                <p:spPr>
                  <a:xfrm>
                    <a:off x="6023553"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sp>
                <p:nvSpPr>
                  <p:cNvPr id="4934" name="Google Shape;4934;p13"/>
                  <p:cNvSpPr/>
                  <p:nvPr/>
                </p:nvSpPr>
                <p:spPr>
                  <a:xfrm>
                    <a:off x="6246106"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grpSp>
            <p:sp>
              <p:nvSpPr>
                <p:cNvPr id="4935" name="Google Shape;4935;p13"/>
                <p:cNvSpPr/>
                <p:nvPr/>
              </p:nvSpPr>
              <p:spPr>
                <a:xfrm>
                  <a:off x="5574505"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solidFill>
                      <a:srgbClr val="717074"/>
                    </a:solidFill>
                    <a:latin typeface="Arial"/>
                    <a:ea typeface="Arial"/>
                    <a:cs typeface="Arial"/>
                    <a:sym typeface="Arial"/>
                  </a:endParaRPr>
                </a:p>
              </p:txBody>
            </p:sp>
          </p:grpSp>
        </p:grpSp>
        <p:pic>
          <p:nvPicPr>
            <p:cNvPr id="4936" name="Google Shape;4936;p13"/>
            <p:cNvPicPr preferRelativeResize="0"/>
            <p:nvPr/>
          </p:nvPicPr>
          <p:blipFill rotWithShape="1">
            <a:blip r:embed="rId3">
              <a:alphaModFix/>
            </a:blip>
            <a:srcRect/>
            <a:stretch/>
          </p:blipFill>
          <p:spPr>
            <a:xfrm>
              <a:off x="5969423" y="4549291"/>
              <a:ext cx="435518" cy="435516"/>
            </a:xfrm>
            <a:prstGeom prst="rect">
              <a:avLst/>
            </a:prstGeom>
            <a:noFill/>
            <a:ln>
              <a:noFill/>
            </a:ln>
          </p:spPr>
        </p:pic>
        <p:pic>
          <p:nvPicPr>
            <p:cNvPr id="4937" name="Google Shape;4937;p13"/>
            <p:cNvPicPr preferRelativeResize="0"/>
            <p:nvPr/>
          </p:nvPicPr>
          <p:blipFill rotWithShape="1">
            <a:blip r:embed="rId4">
              <a:alphaModFix/>
            </a:blip>
            <a:srcRect/>
            <a:stretch/>
          </p:blipFill>
          <p:spPr>
            <a:xfrm>
              <a:off x="6002473" y="5097142"/>
              <a:ext cx="359158" cy="359158"/>
            </a:xfrm>
            <a:prstGeom prst="rect">
              <a:avLst/>
            </a:prstGeom>
            <a:noFill/>
            <a:ln>
              <a:noFill/>
            </a:ln>
          </p:spPr>
        </p:pic>
        <p:pic>
          <p:nvPicPr>
            <p:cNvPr id="4938" name="Google Shape;4938;p13"/>
            <p:cNvPicPr preferRelativeResize="0"/>
            <p:nvPr/>
          </p:nvPicPr>
          <p:blipFill rotWithShape="1">
            <a:blip r:embed="rId5">
              <a:alphaModFix/>
            </a:blip>
            <a:srcRect/>
            <a:stretch/>
          </p:blipFill>
          <p:spPr>
            <a:xfrm>
              <a:off x="2480685" y="3344474"/>
              <a:ext cx="630936" cy="611104"/>
            </a:xfrm>
            <a:prstGeom prst="rect">
              <a:avLst/>
            </a:prstGeom>
            <a:noFill/>
            <a:ln>
              <a:noFill/>
            </a:ln>
          </p:spPr>
        </p:pic>
        <p:pic>
          <p:nvPicPr>
            <p:cNvPr id="4939" name="Google Shape;4939;p13"/>
            <p:cNvPicPr preferRelativeResize="0"/>
            <p:nvPr/>
          </p:nvPicPr>
          <p:blipFill rotWithShape="1">
            <a:blip r:embed="rId6">
              <a:alphaModFix/>
            </a:blip>
            <a:srcRect/>
            <a:stretch/>
          </p:blipFill>
          <p:spPr>
            <a:xfrm>
              <a:off x="5860955" y="3361884"/>
              <a:ext cx="582320" cy="571038"/>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44"/>
        <p:cNvGrpSpPr/>
        <p:nvPr/>
      </p:nvGrpSpPr>
      <p:grpSpPr>
        <a:xfrm>
          <a:off x="0" y="0"/>
          <a:ext cx="0" cy="0"/>
          <a:chOff x="0" y="0"/>
          <a:chExt cx="0" cy="0"/>
        </a:xfrm>
      </p:grpSpPr>
      <p:sp>
        <p:nvSpPr>
          <p:cNvPr id="4945" name="Google Shape;4945;p14"/>
          <p:cNvSpPr/>
          <p:nvPr/>
        </p:nvSpPr>
        <p:spPr>
          <a:xfrm>
            <a:off x="10844" y="1600200"/>
            <a:ext cx="7995471" cy="4482548"/>
          </a:xfrm>
          <a:prstGeom prst="roundRect">
            <a:avLst>
              <a:gd name="adj" fmla="val 0"/>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00"/>
              <a:buFont typeface="Arial"/>
              <a:buNone/>
            </a:pPr>
            <a:endParaRPr sz="1000" b="0" i="0" u="none" strike="noStrike" cap="none">
              <a:solidFill>
                <a:srgbClr val="000000"/>
              </a:solidFill>
              <a:latin typeface="Arial"/>
              <a:ea typeface="Arial"/>
              <a:cs typeface="Arial"/>
              <a:sym typeface="Arial"/>
            </a:endParaRPr>
          </a:p>
        </p:txBody>
      </p:sp>
      <p:sp>
        <p:nvSpPr>
          <p:cNvPr id="4946" name="Google Shape;4946;p14"/>
          <p:cNvSpPr/>
          <p:nvPr/>
        </p:nvSpPr>
        <p:spPr>
          <a:xfrm>
            <a:off x="592866" y="1774783"/>
            <a:ext cx="7327096" cy="4147046"/>
          </a:xfrm>
          <a:prstGeom prst="roundRect">
            <a:avLst>
              <a:gd name="adj" fmla="val 2790"/>
            </a:avLst>
          </a:prstGeom>
          <a:solidFill>
            <a:schemeClr val="lt1"/>
          </a:solid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a:t>
            </a:r>
            <a:endParaRPr sz="1200" b="0" i="0" u="none" strike="noStrike" cap="none">
              <a:solidFill>
                <a:srgbClr val="FFFFFF"/>
              </a:solidFill>
              <a:latin typeface="Arial"/>
              <a:ea typeface="Arial"/>
              <a:cs typeface="Arial"/>
              <a:sym typeface="Arial"/>
            </a:endParaRPr>
          </a:p>
        </p:txBody>
      </p:sp>
      <p:sp>
        <p:nvSpPr>
          <p:cNvPr id="4947" name="Google Shape;4947;p1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Improved Visibility of GPU Resources</a:t>
            </a:r>
            <a:endParaRPr/>
          </a:p>
        </p:txBody>
      </p:sp>
      <p:sp>
        <p:nvSpPr>
          <p:cNvPr id="4948" name="Google Shape;4948;p1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Configure vGPU profiles from the vSphere client</a:t>
            </a:r>
            <a:endParaRPr/>
          </a:p>
          <a:p>
            <a:pPr marL="0" lvl="0" indent="0" algn="l" rtl="0">
              <a:lnSpc>
                <a:spcPct val="100000"/>
              </a:lnSpc>
              <a:spcBef>
                <a:spcPts val="1200"/>
              </a:spcBef>
              <a:spcAft>
                <a:spcPts val="0"/>
              </a:spcAft>
              <a:buSzPts val="1800"/>
              <a:buNone/>
            </a:pPr>
            <a:endParaRPr/>
          </a:p>
        </p:txBody>
      </p:sp>
      <p:sp>
        <p:nvSpPr>
          <p:cNvPr id="4949" name="Google Shape;4949;p14"/>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Configure </a:t>
            </a:r>
            <a:r>
              <a:rPr lang="en-US" dirty="0" err="1"/>
              <a:t>vGPU</a:t>
            </a:r>
            <a:r>
              <a:rPr lang="en-US" dirty="0"/>
              <a:t> Profiles for improved visibility of valuable GPU resources</a:t>
            </a:r>
            <a:endParaRPr dirty="0"/>
          </a:p>
          <a:p>
            <a:pPr marL="0" lvl="0" indent="0" algn="l" rtl="0">
              <a:lnSpc>
                <a:spcPct val="100000"/>
              </a:lnSpc>
              <a:spcBef>
                <a:spcPts val="1200"/>
              </a:spcBef>
              <a:spcAft>
                <a:spcPts val="0"/>
              </a:spcAft>
              <a:buSzPts val="1440"/>
              <a:buNone/>
            </a:pPr>
            <a:r>
              <a:rPr lang="en-US" dirty="0"/>
              <a:t>Allows admins to perform capacity assessment and planning of GPU resources</a:t>
            </a:r>
            <a:endParaRPr dirty="0"/>
          </a:p>
          <a:p>
            <a:pPr marL="0" lvl="0" indent="0" algn="l" rtl="0">
              <a:lnSpc>
                <a:spcPct val="100000"/>
              </a:lnSpc>
              <a:spcBef>
                <a:spcPts val="1200"/>
              </a:spcBef>
              <a:spcAft>
                <a:spcPts val="0"/>
              </a:spcAft>
              <a:buSzPts val="1440"/>
              <a:buNone/>
            </a:pPr>
            <a:r>
              <a:rPr lang="en-US" dirty="0"/>
              <a:t>Once configured </a:t>
            </a:r>
            <a:r>
              <a:rPr lang="en-US" dirty="0" err="1"/>
              <a:t>vGPU</a:t>
            </a:r>
            <a:r>
              <a:rPr lang="en-US" dirty="0"/>
              <a:t> profiles can be viewed by Profile name or VM name</a:t>
            </a:r>
            <a:endParaRPr dirty="0"/>
          </a:p>
        </p:txBody>
      </p:sp>
      <p:pic>
        <p:nvPicPr>
          <p:cNvPr id="4950" name="Google Shape;4950;p14" descr="A screenshot of a computer&#10;&#10;Description automatically generated"/>
          <p:cNvPicPr preferRelativeResize="0"/>
          <p:nvPr/>
        </p:nvPicPr>
        <p:blipFill rotWithShape="1">
          <a:blip r:embed="rId3">
            <a:alphaModFix/>
          </a:blip>
          <a:srcRect b="17299"/>
          <a:stretch/>
        </p:blipFill>
        <p:spPr>
          <a:xfrm>
            <a:off x="632817" y="1841044"/>
            <a:ext cx="7245290" cy="400482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55"/>
        <p:cNvGrpSpPr/>
        <p:nvPr/>
      </p:nvGrpSpPr>
      <p:grpSpPr>
        <a:xfrm>
          <a:off x="0" y="0"/>
          <a:ext cx="0" cy="0"/>
          <a:chOff x="0" y="0"/>
          <a:chExt cx="0" cy="0"/>
        </a:xfrm>
      </p:grpSpPr>
      <p:sp>
        <p:nvSpPr>
          <p:cNvPr id="4956" name="Google Shape;4956;p15"/>
          <p:cNvSpPr/>
          <p:nvPr/>
        </p:nvSpPr>
        <p:spPr>
          <a:xfrm flipH="1">
            <a:off x="4761" y="1881182"/>
            <a:ext cx="5185818" cy="3611230"/>
          </a:xfrm>
          <a:prstGeom prst="rect">
            <a:avLst/>
          </a:prstGeom>
          <a:gradFill>
            <a:gsLst>
              <a:gs pos="0">
                <a:srgbClr val="DCE8EF"/>
              </a:gs>
              <a:gs pos="48000">
                <a:srgbClr val="F4F8FA"/>
              </a:gs>
              <a:gs pos="100000">
                <a:schemeClr val="lt1"/>
              </a:gs>
            </a:gsLst>
            <a:lin ang="0" scaled="0"/>
          </a:gradFill>
          <a:ln>
            <a:noFill/>
          </a:ln>
        </p:spPr>
        <p:txBody>
          <a:bodyPr spcFirstLastPara="1" wrap="square" lIns="91325" tIns="45650" rIns="91325" bIns="4565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pic>
        <p:nvPicPr>
          <p:cNvPr id="4957" name="Google Shape;4957;p15"/>
          <p:cNvPicPr preferRelativeResize="0"/>
          <p:nvPr/>
        </p:nvPicPr>
        <p:blipFill rotWithShape="1">
          <a:blip r:embed="rId3">
            <a:alphaModFix amt="40000"/>
          </a:blip>
          <a:srcRect l="65" t="65199" r="-34" b="-31279"/>
          <a:stretch/>
        </p:blipFill>
        <p:spPr>
          <a:xfrm rot="5400000">
            <a:off x="1860061" y="3526635"/>
            <a:ext cx="6253166" cy="407870"/>
          </a:xfrm>
          <a:prstGeom prst="rect">
            <a:avLst/>
          </a:prstGeom>
          <a:noFill/>
          <a:ln>
            <a:noFill/>
          </a:ln>
        </p:spPr>
      </p:pic>
      <p:sp>
        <p:nvSpPr>
          <p:cNvPr id="4958" name="Google Shape;4958;p15"/>
          <p:cNvSpPr txBox="1"/>
          <p:nvPr/>
        </p:nvSpPr>
        <p:spPr>
          <a:xfrm>
            <a:off x="506415" y="3114833"/>
            <a:ext cx="4676368" cy="694220"/>
          </a:xfrm>
          <a:prstGeom prst="rect">
            <a:avLst/>
          </a:prstGeom>
          <a:noFill/>
          <a:ln>
            <a:noFill/>
          </a:ln>
        </p:spPr>
        <p:txBody>
          <a:bodyPr spcFirstLastPara="1" wrap="square" lIns="0" tIns="0" rIns="0" bIns="0" anchor="b" anchorCtr="0">
            <a:noAutofit/>
          </a:bodyPr>
          <a:lstStyle/>
          <a:p>
            <a:pPr marL="0" marR="0" lvl="0" indent="0" algn="l" rtl="0">
              <a:lnSpc>
                <a:spcPct val="93000"/>
              </a:lnSpc>
              <a:spcBef>
                <a:spcPts val="0"/>
              </a:spcBef>
              <a:spcAft>
                <a:spcPts val="0"/>
              </a:spcAft>
              <a:buNone/>
            </a:pPr>
            <a:r>
              <a:rPr lang="en-US" sz="1999" b="1">
                <a:solidFill>
                  <a:srgbClr val="6C4B93"/>
                </a:solidFill>
                <a:latin typeface="Arial"/>
                <a:ea typeface="Arial"/>
                <a:cs typeface="Arial"/>
                <a:sym typeface="Arial"/>
              </a:rPr>
              <a:t>A vGPU Profile assigned to a VM allows vMotion of that VM </a:t>
            </a:r>
            <a:endParaRPr/>
          </a:p>
        </p:txBody>
      </p:sp>
      <p:sp>
        <p:nvSpPr>
          <p:cNvPr id="4959" name="Google Shape;4959;p15"/>
          <p:cNvSpPr txBox="1"/>
          <p:nvPr/>
        </p:nvSpPr>
        <p:spPr>
          <a:xfrm>
            <a:off x="506410" y="3898840"/>
            <a:ext cx="3810619" cy="694220"/>
          </a:xfrm>
          <a:prstGeom prst="rect">
            <a:avLst/>
          </a:prstGeom>
          <a:noFill/>
          <a:ln>
            <a:noFill/>
          </a:ln>
        </p:spPr>
        <p:txBody>
          <a:bodyPr spcFirstLastPara="1" wrap="square" lIns="0" tIns="45650" rIns="91350" bIns="45650" anchor="t" anchorCtr="0">
            <a:noAutofit/>
          </a:bodyPr>
          <a:lstStyle/>
          <a:p>
            <a:pPr marL="0" marR="0" lvl="0" indent="0" algn="l" rtl="0">
              <a:lnSpc>
                <a:spcPct val="120000"/>
              </a:lnSpc>
              <a:spcBef>
                <a:spcPts val="0"/>
              </a:spcBef>
              <a:spcAft>
                <a:spcPts val="0"/>
              </a:spcAft>
              <a:buNone/>
            </a:pPr>
            <a:r>
              <a:rPr lang="en-US" sz="1600">
                <a:solidFill>
                  <a:srgbClr val="1B1E35"/>
                </a:solidFill>
                <a:latin typeface="Arial"/>
                <a:ea typeface="Arial"/>
                <a:cs typeface="Arial"/>
                <a:sym typeface="Arial"/>
              </a:rPr>
              <a:t>Memory copy for the GPU contents is taking place during vMotion</a:t>
            </a:r>
            <a:endParaRPr sz="1600">
              <a:solidFill>
                <a:srgbClr val="1B1E35"/>
              </a:solidFill>
              <a:latin typeface="Arial"/>
              <a:ea typeface="Arial"/>
              <a:cs typeface="Arial"/>
              <a:sym typeface="Arial"/>
            </a:endParaRPr>
          </a:p>
          <a:p>
            <a:pPr marL="0" marR="0" lvl="0" indent="0" algn="l" rtl="0">
              <a:lnSpc>
                <a:spcPct val="120000"/>
              </a:lnSpc>
              <a:spcBef>
                <a:spcPts val="1200"/>
              </a:spcBef>
              <a:spcAft>
                <a:spcPts val="0"/>
              </a:spcAft>
              <a:buNone/>
            </a:pPr>
            <a:r>
              <a:rPr lang="en-US" sz="1600">
                <a:solidFill>
                  <a:schemeClr val="dk1"/>
                </a:solidFill>
                <a:latin typeface="Arial"/>
                <a:ea typeface="Arial"/>
                <a:cs typeface="Arial"/>
                <a:sym typeface="Arial"/>
              </a:rPr>
              <a:t>Less than 1 second stun time for 8GB vGPU profile</a:t>
            </a:r>
            <a:endParaRPr/>
          </a:p>
          <a:p>
            <a:pPr marL="0" marR="0" lvl="0" indent="0" algn="l" rtl="0">
              <a:lnSpc>
                <a:spcPct val="120000"/>
              </a:lnSpc>
              <a:spcBef>
                <a:spcPts val="1200"/>
              </a:spcBef>
              <a:spcAft>
                <a:spcPts val="1200"/>
              </a:spcAft>
              <a:buNone/>
            </a:pPr>
            <a:endParaRPr sz="1600">
              <a:solidFill>
                <a:srgbClr val="1B1E35"/>
              </a:solidFill>
              <a:latin typeface="Arial"/>
              <a:ea typeface="Arial"/>
              <a:cs typeface="Arial"/>
              <a:sym typeface="Arial"/>
            </a:endParaRPr>
          </a:p>
        </p:txBody>
      </p:sp>
      <p:sp>
        <p:nvSpPr>
          <p:cNvPr id="4960" name="Google Shape;4960;p15"/>
          <p:cNvSpPr/>
          <p:nvPr/>
        </p:nvSpPr>
        <p:spPr>
          <a:xfrm>
            <a:off x="506416" y="1455748"/>
            <a:ext cx="1296941" cy="1296941"/>
          </a:xfrm>
          <a:prstGeom prst="ellipse">
            <a:avLst/>
          </a:prstGeom>
          <a:gradFill>
            <a:gsLst>
              <a:gs pos="0">
                <a:schemeClr val="accent2"/>
              </a:gs>
              <a:gs pos="100000">
                <a:schemeClr val="accent5"/>
              </a:gs>
            </a:gsLst>
            <a:lin ang="2700000" scaled="0"/>
          </a:gradFill>
          <a:ln>
            <a:noFill/>
          </a:ln>
          <a:effectLst>
            <a:outerShdw sx="120000" sy="120000" algn="ctr" rotWithShape="0">
              <a:schemeClr val="accent5">
                <a:alpha val="23921"/>
              </a:schemeClr>
            </a:outerShdw>
          </a:effectLst>
        </p:spPr>
        <p:txBody>
          <a:bodyPr spcFirstLastPara="1" wrap="square" lIns="365750" tIns="91425" rIns="91425" bIns="91425" anchor="ctr" anchorCtr="0">
            <a:noAutofit/>
          </a:bodyPr>
          <a:lstStyle/>
          <a:p>
            <a:pPr marL="0" marR="0" lvl="0" indent="0" algn="l" rtl="0">
              <a:lnSpc>
                <a:spcPct val="80000"/>
              </a:lnSpc>
              <a:spcBef>
                <a:spcPts val="0"/>
              </a:spcBef>
              <a:spcAft>
                <a:spcPts val="0"/>
              </a:spcAft>
              <a:buNone/>
            </a:pPr>
            <a:endParaRPr sz="1600">
              <a:solidFill>
                <a:srgbClr val="041032"/>
              </a:solidFill>
              <a:latin typeface="Arial"/>
              <a:ea typeface="Arial"/>
              <a:cs typeface="Arial"/>
              <a:sym typeface="Arial"/>
            </a:endParaRPr>
          </a:p>
        </p:txBody>
      </p:sp>
      <p:sp>
        <p:nvSpPr>
          <p:cNvPr id="4961" name="Google Shape;4961;p15"/>
          <p:cNvSpPr txBox="1">
            <a:spLocks noGrp="1"/>
          </p:cNvSpPr>
          <p:nvPr>
            <p:ph type="title"/>
          </p:nvPr>
        </p:nvSpPr>
        <p:spPr>
          <a:xfrm>
            <a:off x="581245" y="413536"/>
            <a:ext cx="10998139"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Increased Uptime for AI/ML Workloads</a:t>
            </a:r>
            <a:endParaRPr/>
          </a:p>
        </p:txBody>
      </p:sp>
      <p:sp>
        <p:nvSpPr>
          <p:cNvPr id="4962" name="Google Shape;4962;p15"/>
          <p:cNvSpPr txBox="1">
            <a:spLocks noGrp="1"/>
          </p:cNvSpPr>
          <p:nvPr>
            <p:ph type="subTitle" idx="1"/>
          </p:nvPr>
        </p:nvSpPr>
        <p:spPr>
          <a:xfrm>
            <a:off x="594300" y="812513"/>
            <a:ext cx="10959832"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Faster vMotion for vGPU enabled VMs</a:t>
            </a:r>
            <a:endParaRPr/>
          </a:p>
        </p:txBody>
      </p:sp>
      <p:pic>
        <p:nvPicPr>
          <p:cNvPr id="4963" name="Google Shape;4963;p15"/>
          <p:cNvPicPr preferRelativeResize="0"/>
          <p:nvPr/>
        </p:nvPicPr>
        <p:blipFill rotWithShape="1">
          <a:blip r:embed="rId4">
            <a:alphaModFix/>
          </a:blip>
          <a:srcRect/>
          <a:stretch/>
        </p:blipFill>
        <p:spPr>
          <a:xfrm>
            <a:off x="654890" y="1619783"/>
            <a:ext cx="999992" cy="999992"/>
          </a:xfrm>
          <a:prstGeom prst="rect">
            <a:avLst/>
          </a:prstGeom>
          <a:noFill/>
          <a:ln>
            <a:noFill/>
          </a:ln>
        </p:spPr>
      </p:pic>
      <p:sp>
        <p:nvSpPr>
          <p:cNvPr id="4964" name="Google Shape;4964;p15"/>
          <p:cNvSpPr txBox="1"/>
          <p:nvPr/>
        </p:nvSpPr>
        <p:spPr>
          <a:xfrm>
            <a:off x="7264157" y="2649005"/>
            <a:ext cx="1000520" cy="3384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000001"/>
                </a:solidFill>
                <a:latin typeface="Arial"/>
                <a:ea typeface="Arial"/>
                <a:cs typeface="Arial"/>
                <a:sym typeface="Arial"/>
              </a:rPr>
              <a:t>GPU 1</a:t>
            </a:r>
            <a:endParaRPr/>
          </a:p>
        </p:txBody>
      </p:sp>
      <p:grpSp>
        <p:nvGrpSpPr>
          <p:cNvPr id="4965" name="Google Shape;4965;p15"/>
          <p:cNvGrpSpPr/>
          <p:nvPr/>
        </p:nvGrpSpPr>
        <p:grpSpPr>
          <a:xfrm>
            <a:off x="6074216" y="2081610"/>
            <a:ext cx="5296743" cy="3066756"/>
            <a:chOff x="6075798" y="2081259"/>
            <a:chExt cx="5298123" cy="3067555"/>
          </a:xfrm>
        </p:grpSpPr>
        <p:sp>
          <p:nvSpPr>
            <p:cNvPr id="4966" name="Google Shape;4966;p15"/>
            <p:cNvSpPr txBox="1"/>
            <p:nvPr/>
          </p:nvSpPr>
          <p:spPr>
            <a:xfrm>
              <a:off x="9570573" y="3780810"/>
              <a:ext cx="1176298" cy="276999"/>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rgbClr val="000001"/>
                  </a:solidFill>
                  <a:latin typeface="Arial"/>
                  <a:ea typeface="Arial"/>
                  <a:cs typeface="Arial"/>
                  <a:sym typeface="Arial"/>
                </a:rPr>
                <a:t>Available</a:t>
              </a:r>
              <a:endParaRPr/>
            </a:p>
          </p:txBody>
        </p:sp>
        <p:sp>
          <p:nvSpPr>
            <p:cNvPr id="4967" name="Google Shape;4967;p15"/>
            <p:cNvSpPr txBox="1"/>
            <p:nvPr/>
          </p:nvSpPr>
          <p:spPr>
            <a:xfrm flipH="1">
              <a:off x="6075798" y="2081259"/>
              <a:ext cx="5298123" cy="257443"/>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400">
                  <a:solidFill>
                    <a:srgbClr val="191919"/>
                  </a:solidFill>
                  <a:latin typeface="Arial"/>
                  <a:ea typeface="Arial"/>
                  <a:cs typeface="Arial"/>
                  <a:sym typeface="Arial"/>
                </a:rPr>
                <a:t>The vGPU profile determines the GPU memory used in a VM</a:t>
              </a:r>
              <a:endParaRPr/>
            </a:p>
          </p:txBody>
        </p:sp>
        <p:sp>
          <p:nvSpPr>
            <p:cNvPr id="4968" name="Google Shape;4968;p15"/>
            <p:cNvSpPr txBox="1"/>
            <p:nvPr/>
          </p:nvSpPr>
          <p:spPr>
            <a:xfrm>
              <a:off x="6463783" y="4951593"/>
              <a:ext cx="2231251" cy="197221"/>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100" b="1">
                  <a:solidFill>
                    <a:srgbClr val="1B1E35"/>
                  </a:solidFill>
                  <a:latin typeface="Arial"/>
                  <a:ea typeface="Arial"/>
                  <a:cs typeface="Arial"/>
                  <a:sym typeface="Arial"/>
                </a:rPr>
                <a:t>Two VMs with 40GB profiles</a:t>
              </a:r>
              <a:endParaRPr/>
            </a:p>
          </p:txBody>
        </p:sp>
        <p:sp>
          <p:nvSpPr>
            <p:cNvPr id="4969" name="Google Shape;4969;p15"/>
            <p:cNvSpPr/>
            <p:nvPr/>
          </p:nvSpPr>
          <p:spPr>
            <a:xfrm>
              <a:off x="6518901" y="3072069"/>
              <a:ext cx="2121014" cy="1725038"/>
            </a:xfrm>
            <a:prstGeom prst="rect">
              <a:avLst/>
            </a:prstGeom>
            <a:gradFill>
              <a:gsLst>
                <a:gs pos="0">
                  <a:schemeClr val="accent3"/>
                </a:gs>
                <a:gs pos="100000">
                  <a:schemeClr val="accent2"/>
                </a:gs>
              </a:gsLst>
              <a:lin ang="5400000" scaled="0"/>
            </a:gradFill>
            <a:ln w="9525" cap="flat" cmpd="sng">
              <a:solidFill>
                <a:srgbClr val="1B1E35"/>
              </a:solidFill>
              <a:prstDash val="solid"/>
              <a:round/>
              <a:headEnd type="none" w="sm" len="sm"/>
              <a:tailEnd type="none" w="sm" len="sm"/>
            </a:ln>
          </p:spPr>
          <p:txBody>
            <a:bodyPr spcFirstLastPara="1" wrap="square" lIns="182675" tIns="1096100" rIns="182675" bIns="45650" anchor="t" anchorCtr="0">
              <a:noAutofit/>
            </a:bodyPr>
            <a:lstStyle/>
            <a:p>
              <a:pPr marL="0" marR="0" lvl="0" indent="0" algn="l" rtl="0">
                <a:spcBef>
                  <a:spcPts val="0"/>
                </a:spcBef>
                <a:spcAft>
                  <a:spcPts val="0"/>
                </a:spcAft>
                <a:buNone/>
              </a:pPr>
              <a:endParaRPr sz="1995">
                <a:solidFill>
                  <a:srgbClr val="5A5A5A"/>
                </a:solidFill>
                <a:latin typeface="Arial"/>
                <a:ea typeface="Arial"/>
                <a:cs typeface="Arial"/>
                <a:sym typeface="Arial"/>
              </a:endParaRPr>
            </a:p>
          </p:txBody>
        </p:sp>
        <p:sp>
          <p:nvSpPr>
            <p:cNvPr id="4970" name="Google Shape;4970;p15"/>
            <p:cNvSpPr/>
            <p:nvPr/>
          </p:nvSpPr>
          <p:spPr>
            <a:xfrm>
              <a:off x="6611920" y="3183609"/>
              <a:ext cx="1935041" cy="1490579"/>
            </a:xfrm>
            <a:prstGeom prst="rect">
              <a:avLst/>
            </a:prstGeom>
            <a:solidFill>
              <a:schemeClr val="lt1"/>
            </a:solidFill>
            <a:ln>
              <a:noFill/>
            </a:ln>
          </p:spPr>
          <p:txBody>
            <a:bodyPr spcFirstLastPara="1" wrap="square" lIns="91325" tIns="91325" rIns="91325" bIns="91325" anchor="ctr" anchorCtr="0">
              <a:noAutofit/>
            </a:bodyPr>
            <a:lstStyle/>
            <a:p>
              <a:pPr marL="0" marR="0" lvl="0" indent="0" algn="ctr" rtl="0">
                <a:spcBef>
                  <a:spcPts val="0"/>
                </a:spcBef>
                <a:spcAft>
                  <a:spcPts val="0"/>
                </a:spcAft>
                <a:buNone/>
              </a:pPr>
              <a:endParaRPr sz="1100">
                <a:solidFill>
                  <a:srgbClr val="000001"/>
                </a:solidFill>
                <a:latin typeface="Arial"/>
                <a:ea typeface="Arial"/>
                <a:cs typeface="Arial"/>
                <a:sym typeface="Arial"/>
              </a:endParaRPr>
            </a:p>
          </p:txBody>
        </p:sp>
        <p:sp>
          <p:nvSpPr>
            <p:cNvPr id="4971" name="Google Shape;4971;p15"/>
            <p:cNvSpPr txBox="1"/>
            <p:nvPr/>
          </p:nvSpPr>
          <p:spPr>
            <a:xfrm>
              <a:off x="6617120" y="3957527"/>
              <a:ext cx="6489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B8C"/>
                  </a:solidFill>
                  <a:latin typeface="Arial"/>
                  <a:ea typeface="Arial"/>
                  <a:cs typeface="Arial"/>
                  <a:sym typeface="Arial"/>
                </a:rPr>
                <a:t>80GB </a:t>
              </a:r>
              <a:br>
                <a:rPr lang="en-US" sz="1200" b="1">
                  <a:solidFill>
                    <a:srgbClr val="005C8A"/>
                  </a:solidFill>
                  <a:latin typeface="Arial"/>
                  <a:ea typeface="Arial"/>
                  <a:cs typeface="Arial"/>
                  <a:sym typeface="Arial"/>
                </a:rPr>
              </a:br>
              <a:r>
                <a:rPr lang="en-US" sz="1200">
                  <a:solidFill>
                    <a:srgbClr val="000001"/>
                  </a:solidFill>
                  <a:latin typeface="Arial"/>
                  <a:ea typeface="Arial"/>
                  <a:cs typeface="Arial"/>
                  <a:sym typeface="Arial"/>
                </a:rPr>
                <a:t>GPU </a:t>
              </a:r>
              <a:endParaRPr/>
            </a:p>
          </p:txBody>
        </p:sp>
        <p:grpSp>
          <p:nvGrpSpPr>
            <p:cNvPr id="4972" name="Google Shape;4972;p15"/>
            <p:cNvGrpSpPr/>
            <p:nvPr/>
          </p:nvGrpSpPr>
          <p:grpSpPr>
            <a:xfrm>
              <a:off x="7318423" y="3231583"/>
              <a:ext cx="1176860" cy="674257"/>
              <a:chOff x="1696606" y="4116140"/>
              <a:chExt cx="1176860" cy="539343"/>
            </a:xfrm>
          </p:grpSpPr>
          <p:sp>
            <p:nvSpPr>
              <p:cNvPr id="4973" name="Google Shape;4973;p15"/>
              <p:cNvSpPr/>
              <p:nvPr/>
            </p:nvSpPr>
            <p:spPr>
              <a:xfrm>
                <a:off x="1696607" y="4116140"/>
                <a:ext cx="1176859" cy="539343"/>
              </a:xfrm>
              <a:prstGeom prst="rect">
                <a:avLst/>
              </a:prstGeom>
              <a:solidFill>
                <a:schemeClr val="accent1"/>
              </a:solidFill>
              <a:ln w="12700" cap="flat" cmpd="sng">
                <a:solidFill>
                  <a:srgbClr val="3B3B3B"/>
                </a:solidFill>
                <a:prstDash val="solid"/>
                <a:round/>
                <a:headEnd type="none" w="sm" len="sm"/>
                <a:tailEnd type="none" w="sm" len="sm"/>
              </a:ln>
            </p:spPr>
            <p:txBody>
              <a:bodyPr spcFirstLastPara="1" wrap="square" lIns="182675" tIns="1096100" rIns="182675" bIns="45650" anchor="ctr" anchorCtr="0">
                <a:noAutofit/>
              </a:bodyPr>
              <a:lstStyle/>
              <a:p>
                <a:pPr marL="0" marR="0" lvl="0" indent="0" algn="ctr" rtl="0">
                  <a:spcBef>
                    <a:spcPts val="0"/>
                  </a:spcBef>
                  <a:spcAft>
                    <a:spcPts val="0"/>
                  </a:spcAft>
                  <a:buNone/>
                </a:pPr>
                <a:endParaRPr sz="1995">
                  <a:solidFill>
                    <a:srgbClr val="5A5A5A"/>
                  </a:solidFill>
                  <a:latin typeface="Arial"/>
                  <a:ea typeface="Arial"/>
                  <a:cs typeface="Arial"/>
                  <a:sym typeface="Arial"/>
                </a:endParaRPr>
              </a:p>
            </p:txBody>
          </p:sp>
          <p:sp>
            <p:nvSpPr>
              <p:cNvPr id="4974" name="Google Shape;4974;p15"/>
              <p:cNvSpPr txBox="1"/>
              <p:nvPr/>
            </p:nvSpPr>
            <p:spPr>
              <a:xfrm>
                <a:off x="1696606" y="4197672"/>
                <a:ext cx="1176859" cy="369289"/>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rgbClr val="FFFFFF"/>
                    </a:solidFill>
                    <a:latin typeface="Arial"/>
                    <a:ea typeface="Arial"/>
                    <a:cs typeface="Arial"/>
                    <a:sym typeface="Arial"/>
                  </a:rPr>
                  <a:t>40GB </a:t>
                </a:r>
                <a:r>
                  <a:rPr lang="en-US" sz="1200">
                    <a:solidFill>
                      <a:srgbClr val="FFFFFF"/>
                    </a:solidFill>
                    <a:latin typeface="Arial"/>
                    <a:ea typeface="Arial"/>
                    <a:cs typeface="Arial"/>
                    <a:sym typeface="Arial"/>
                  </a:rPr>
                  <a:t>vGPU </a:t>
                </a:r>
                <a:br>
                  <a:rPr lang="en-US" sz="1200">
                    <a:solidFill>
                      <a:srgbClr val="FFFFFF"/>
                    </a:solidFill>
                    <a:latin typeface="Arial"/>
                    <a:ea typeface="Arial"/>
                    <a:cs typeface="Arial"/>
                    <a:sym typeface="Arial"/>
                  </a:rPr>
                </a:br>
                <a:r>
                  <a:rPr lang="en-US" sz="1200">
                    <a:solidFill>
                      <a:srgbClr val="FFFFFF"/>
                    </a:solidFill>
                    <a:latin typeface="Arial"/>
                    <a:ea typeface="Arial"/>
                    <a:cs typeface="Arial"/>
                    <a:sym typeface="Arial"/>
                  </a:rPr>
                  <a:t>profile</a:t>
                </a:r>
                <a:endParaRPr/>
              </a:p>
            </p:txBody>
          </p:sp>
        </p:grpSp>
        <p:grpSp>
          <p:nvGrpSpPr>
            <p:cNvPr id="4975" name="Google Shape;4975;p15"/>
            <p:cNvGrpSpPr/>
            <p:nvPr/>
          </p:nvGrpSpPr>
          <p:grpSpPr>
            <a:xfrm>
              <a:off x="7318423" y="3966242"/>
              <a:ext cx="1176861" cy="656676"/>
              <a:chOff x="1696606" y="4703799"/>
              <a:chExt cx="1176861" cy="525280"/>
            </a:xfrm>
          </p:grpSpPr>
          <p:sp>
            <p:nvSpPr>
              <p:cNvPr id="4976" name="Google Shape;4976;p15"/>
              <p:cNvSpPr/>
              <p:nvPr/>
            </p:nvSpPr>
            <p:spPr>
              <a:xfrm>
                <a:off x="1696606" y="4703799"/>
                <a:ext cx="1176859" cy="525280"/>
              </a:xfrm>
              <a:prstGeom prst="rect">
                <a:avLst/>
              </a:prstGeom>
              <a:solidFill>
                <a:srgbClr val="FCFCFE"/>
              </a:solidFill>
              <a:ln w="12700" cap="sq" cmpd="sng">
                <a:solidFill>
                  <a:srgbClr val="3B3B3B"/>
                </a:solidFill>
                <a:prstDash val="solid"/>
                <a:miter lim="800000"/>
                <a:headEnd type="none" w="sm" len="sm"/>
                <a:tailEnd type="none" w="sm" len="sm"/>
              </a:ln>
            </p:spPr>
            <p:txBody>
              <a:bodyPr spcFirstLastPara="1" wrap="square" lIns="91325" tIns="91325" rIns="91325" bIns="91325" anchor="ctr" anchorCtr="0">
                <a:noAutofit/>
              </a:bodyPr>
              <a:lstStyle/>
              <a:p>
                <a:pPr marL="0" marR="0" lvl="0" indent="0" algn="ctr" rtl="0">
                  <a:spcBef>
                    <a:spcPts val="0"/>
                  </a:spcBef>
                  <a:spcAft>
                    <a:spcPts val="0"/>
                  </a:spcAft>
                  <a:buNone/>
                </a:pPr>
                <a:endParaRPr sz="1100">
                  <a:solidFill>
                    <a:srgbClr val="000001"/>
                  </a:solidFill>
                  <a:latin typeface="Arial"/>
                  <a:ea typeface="Arial"/>
                  <a:cs typeface="Arial"/>
                  <a:sym typeface="Arial"/>
                </a:endParaRPr>
              </a:p>
            </p:txBody>
          </p:sp>
          <p:sp>
            <p:nvSpPr>
              <p:cNvPr id="4977" name="Google Shape;4977;p15"/>
              <p:cNvSpPr txBox="1"/>
              <p:nvPr/>
            </p:nvSpPr>
            <p:spPr>
              <a:xfrm>
                <a:off x="1697169" y="4841293"/>
                <a:ext cx="1176298" cy="22157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rgbClr val="000001"/>
                    </a:solidFill>
                    <a:latin typeface="Arial"/>
                    <a:ea typeface="Arial"/>
                    <a:cs typeface="Arial"/>
                    <a:sym typeface="Arial"/>
                  </a:rPr>
                  <a:t>Available</a:t>
                </a:r>
                <a:endParaRPr/>
              </a:p>
            </p:txBody>
          </p:sp>
        </p:grpSp>
        <p:pic>
          <p:nvPicPr>
            <p:cNvPr id="4978" name="Google Shape;4978;p15"/>
            <p:cNvPicPr preferRelativeResize="0"/>
            <p:nvPr/>
          </p:nvPicPr>
          <p:blipFill rotWithShape="1">
            <a:blip r:embed="rId5">
              <a:alphaModFix/>
            </a:blip>
            <a:srcRect/>
            <a:stretch/>
          </p:blipFill>
          <p:spPr>
            <a:xfrm>
              <a:off x="6661739" y="3474996"/>
              <a:ext cx="550454" cy="550454"/>
            </a:xfrm>
            <a:prstGeom prst="rect">
              <a:avLst/>
            </a:prstGeom>
            <a:noFill/>
            <a:ln>
              <a:noFill/>
            </a:ln>
          </p:spPr>
        </p:pic>
        <p:sp>
          <p:nvSpPr>
            <p:cNvPr id="4979" name="Google Shape;4979;p15"/>
            <p:cNvSpPr txBox="1"/>
            <p:nvPr/>
          </p:nvSpPr>
          <p:spPr>
            <a:xfrm>
              <a:off x="8715371" y="4951592"/>
              <a:ext cx="2231251" cy="197221"/>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100" b="1">
                  <a:solidFill>
                    <a:srgbClr val="1B1E35"/>
                  </a:solidFill>
                  <a:latin typeface="Arial"/>
                  <a:ea typeface="Arial"/>
                  <a:cs typeface="Arial"/>
                  <a:sym typeface="Arial"/>
                </a:rPr>
                <a:t>One VM with an 80GB profile</a:t>
              </a:r>
              <a:endParaRPr/>
            </a:p>
          </p:txBody>
        </p:sp>
        <p:sp>
          <p:nvSpPr>
            <p:cNvPr id="4980" name="Google Shape;4980;p15"/>
            <p:cNvSpPr/>
            <p:nvPr/>
          </p:nvSpPr>
          <p:spPr>
            <a:xfrm>
              <a:off x="8770488" y="3072069"/>
              <a:ext cx="2121014" cy="1725038"/>
            </a:xfrm>
            <a:prstGeom prst="rect">
              <a:avLst/>
            </a:prstGeom>
            <a:gradFill>
              <a:gsLst>
                <a:gs pos="0">
                  <a:schemeClr val="accent3"/>
                </a:gs>
                <a:gs pos="100000">
                  <a:schemeClr val="accent2"/>
                </a:gs>
              </a:gsLst>
              <a:lin ang="5400000" scaled="0"/>
            </a:gradFill>
            <a:ln w="9525" cap="flat" cmpd="sng">
              <a:solidFill>
                <a:srgbClr val="1B1E35"/>
              </a:solidFill>
              <a:prstDash val="solid"/>
              <a:round/>
              <a:headEnd type="none" w="sm" len="sm"/>
              <a:tailEnd type="none" w="sm" len="sm"/>
            </a:ln>
          </p:spPr>
          <p:txBody>
            <a:bodyPr spcFirstLastPara="1" wrap="square" lIns="182675" tIns="1096100" rIns="182675" bIns="45650" anchor="t" anchorCtr="0">
              <a:noAutofit/>
            </a:bodyPr>
            <a:lstStyle/>
            <a:p>
              <a:pPr marL="0" marR="0" lvl="0" indent="0" algn="l" rtl="0">
                <a:spcBef>
                  <a:spcPts val="0"/>
                </a:spcBef>
                <a:spcAft>
                  <a:spcPts val="0"/>
                </a:spcAft>
                <a:buNone/>
              </a:pPr>
              <a:endParaRPr sz="1995">
                <a:solidFill>
                  <a:srgbClr val="5A5A5A"/>
                </a:solidFill>
                <a:latin typeface="Arial"/>
                <a:ea typeface="Arial"/>
                <a:cs typeface="Arial"/>
                <a:sym typeface="Arial"/>
              </a:endParaRPr>
            </a:p>
          </p:txBody>
        </p:sp>
        <p:sp>
          <p:nvSpPr>
            <p:cNvPr id="4981" name="Google Shape;4981;p15"/>
            <p:cNvSpPr/>
            <p:nvPr/>
          </p:nvSpPr>
          <p:spPr>
            <a:xfrm>
              <a:off x="8863507" y="3183609"/>
              <a:ext cx="1935041" cy="1490579"/>
            </a:xfrm>
            <a:prstGeom prst="rect">
              <a:avLst/>
            </a:prstGeom>
            <a:solidFill>
              <a:schemeClr val="lt1"/>
            </a:solidFill>
            <a:ln>
              <a:noFill/>
            </a:ln>
          </p:spPr>
          <p:txBody>
            <a:bodyPr spcFirstLastPara="1" wrap="square" lIns="91325" tIns="91325" rIns="91325" bIns="91325" anchor="ctr" anchorCtr="0">
              <a:noAutofit/>
            </a:bodyPr>
            <a:lstStyle/>
            <a:p>
              <a:pPr marL="0" marR="0" lvl="0" indent="0" algn="ctr" rtl="0">
                <a:spcBef>
                  <a:spcPts val="0"/>
                </a:spcBef>
                <a:spcAft>
                  <a:spcPts val="0"/>
                </a:spcAft>
                <a:buNone/>
              </a:pPr>
              <a:endParaRPr sz="1100">
                <a:solidFill>
                  <a:srgbClr val="000001"/>
                </a:solidFill>
                <a:latin typeface="Arial"/>
                <a:ea typeface="Arial"/>
                <a:cs typeface="Arial"/>
                <a:sym typeface="Arial"/>
              </a:endParaRPr>
            </a:p>
          </p:txBody>
        </p:sp>
        <p:sp>
          <p:nvSpPr>
            <p:cNvPr id="4982" name="Google Shape;4982;p15"/>
            <p:cNvSpPr txBox="1"/>
            <p:nvPr/>
          </p:nvSpPr>
          <p:spPr>
            <a:xfrm>
              <a:off x="8868707" y="3957527"/>
              <a:ext cx="6489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B8C"/>
                  </a:solidFill>
                  <a:latin typeface="Arial"/>
                  <a:ea typeface="Arial"/>
                  <a:cs typeface="Arial"/>
                  <a:sym typeface="Arial"/>
                </a:rPr>
                <a:t>80GB </a:t>
              </a:r>
              <a:br>
                <a:rPr lang="en-US" sz="1200" b="1">
                  <a:solidFill>
                    <a:srgbClr val="005C8A"/>
                  </a:solidFill>
                  <a:latin typeface="Arial"/>
                  <a:ea typeface="Arial"/>
                  <a:cs typeface="Arial"/>
                  <a:sym typeface="Arial"/>
                </a:rPr>
              </a:br>
              <a:r>
                <a:rPr lang="en-US" sz="1200">
                  <a:solidFill>
                    <a:srgbClr val="000001"/>
                  </a:solidFill>
                  <a:latin typeface="Arial"/>
                  <a:ea typeface="Arial"/>
                  <a:cs typeface="Arial"/>
                  <a:sym typeface="Arial"/>
                </a:rPr>
                <a:t>GPU </a:t>
              </a:r>
              <a:endParaRPr/>
            </a:p>
          </p:txBody>
        </p:sp>
        <p:grpSp>
          <p:nvGrpSpPr>
            <p:cNvPr id="4983" name="Google Shape;4983;p15"/>
            <p:cNvGrpSpPr/>
            <p:nvPr/>
          </p:nvGrpSpPr>
          <p:grpSpPr>
            <a:xfrm>
              <a:off x="7318423" y="3948661"/>
              <a:ext cx="1176860" cy="674257"/>
              <a:chOff x="9570010" y="3231584"/>
              <a:chExt cx="1176860" cy="674257"/>
            </a:xfrm>
          </p:grpSpPr>
          <p:sp>
            <p:nvSpPr>
              <p:cNvPr id="4984" name="Google Shape;4984;p15"/>
              <p:cNvSpPr/>
              <p:nvPr/>
            </p:nvSpPr>
            <p:spPr>
              <a:xfrm>
                <a:off x="9570011" y="3231584"/>
                <a:ext cx="1176859" cy="674257"/>
              </a:xfrm>
              <a:prstGeom prst="rect">
                <a:avLst/>
              </a:prstGeom>
              <a:solidFill>
                <a:schemeClr val="lt1"/>
              </a:solidFill>
              <a:ln w="12700" cap="flat" cmpd="sng">
                <a:solidFill>
                  <a:srgbClr val="3B3B3B"/>
                </a:solidFill>
                <a:prstDash val="solid"/>
                <a:round/>
                <a:headEnd type="none" w="sm" len="sm"/>
                <a:tailEnd type="none" w="sm" len="sm"/>
              </a:ln>
            </p:spPr>
            <p:txBody>
              <a:bodyPr spcFirstLastPara="1" wrap="square" lIns="182675" tIns="1096100" rIns="182675" bIns="45650" anchor="ctr" anchorCtr="0">
                <a:noAutofit/>
              </a:bodyPr>
              <a:lstStyle/>
              <a:p>
                <a:pPr marL="0" marR="0" lvl="0" indent="0" algn="ctr" rtl="0">
                  <a:spcBef>
                    <a:spcPts val="0"/>
                  </a:spcBef>
                  <a:spcAft>
                    <a:spcPts val="0"/>
                  </a:spcAft>
                  <a:buNone/>
                </a:pPr>
                <a:endParaRPr sz="1995">
                  <a:solidFill>
                    <a:srgbClr val="5A5A5A"/>
                  </a:solidFill>
                  <a:latin typeface="Arial"/>
                  <a:ea typeface="Arial"/>
                  <a:cs typeface="Arial"/>
                  <a:sym typeface="Arial"/>
                </a:endParaRPr>
              </a:p>
            </p:txBody>
          </p:sp>
          <p:sp>
            <p:nvSpPr>
              <p:cNvPr id="4985" name="Google Shape;4985;p15"/>
              <p:cNvSpPr txBox="1"/>
              <p:nvPr/>
            </p:nvSpPr>
            <p:spPr>
              <a:xfrm>
                <a:off x="9570010" y="3333513"/>
                <a:ext cx="1176859" cy="46166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rgbClr val="FFFFFF"/>
                    </a:solidFill>
                    <a:latin typeface="Arial"/>
                    <a:ea typeface="Arial"/>
                    <a:cs typeface="Arial"/>
                    <a:sym typeface="Arial"/>
                  </a:rPr>
                  <a:t>40GB </a:t>
                </a:r>
                <a:r>
                  <a:rPr lang="en-US" sz="1200">
                    <a:solidFill>
                      <a:srgbClr val="FFFFFF"/>
                    </a:solidFill>
                    <a:latin typeface="Arial"/>
                    <a:ea typeface="Arial"/>
                    <a:cs typeface="Arial"/>
                    <a:sym typeface="Arial"/>
                  </a:rPr>
                  <a:t>vGPU </a:t>
                </a:r>
                <a:br>
                  <a:rPr lang="en-US" sz="1200">
                    <a:solidFill>
                      <a:srgbClr val="FFFFFF"/>
                    </a:solidFill>
                    <a:latin typeface="Arial"/>
                    <a:ea typeface="Arial"/>
                    <a:cs typeface="Arial"/>
                    <a:sym typeface="Arial"/>
                  </a:rPr>
                </a:br>
                <a:r>
                  <a:rPr lang="en-US" sz="1200">
                    <a:solidFill>
                      <a:srgbClr val="FFFFFF"/>
                    </a:solidFill>
                    <a:latin typeface="Arial"/>
                    <a:ea typeface="Arial"/>
                    <a:cs typeface="Arial"/>
                    <a:sym typeface="Arial"/>
                  </a:rPr>
                  <a:t>profile</a:t>
                </a:r>
                <a:endParaRPr/>
              </a:p>
            </p:txBody>
          </p:sp>
        </p:grpSp>
        <p:pic>
          <p:nvPicPr>
            <p:cNvPr id="4986" name="Google Shape;4986;p15"/>
            <p:cNvPicPr preferRelativeResize="0"/>
            <p:nvPr/>
          </p:nvPicPr>
          <p:blipFill rotWithShape="1">
            <a:blip r:embed="rId5">
              <a:alphaModFix/>
            </a:blip>
            <a:srcRect/>
            <a:stretch/>
          </p:blipFill>
          <p:spPr>
            <a:xfrm>
              <a:off x="8913326" y="3474996"/>
              <a:ext cx="550454" cy="550454"/>
            </a:xfrm>
            <a:prstGeom prst="rect">
              <a:avLst/>
            </a:prstGeom>
            <a:noFill/>
            <a:ln>
              <a:noFill/>
            </a:ln>
          </p:spPr>
        </p:pic>
        <p:sp>
          <p:nvSpPr>
            <p:cNvPr id="4987" name="Google Shape;4987;p15"/>
            <p:cNvSpPr/>
            <p:nvPr/>
          </p:nvSpPr>
          <p:spPr>
            <a:xfrm>
              <a:off x="9570010" y="3231583"/>
              <a:ext cx="1176859" cy="1391335"/>
            </a:xfrm>
            <a:prstGeom prst="rect">
              <a:avLst/>
            </a:prstGeom>
            <a:solidFill>
              <a:srgbClr val="FCFCFE"/>
            </a:solidFill>
            <a:ln w="12700" cap="sq" cmpd="sng">
              <a:solidFill>
                <a:srgbClr val="3B3B3B"/>
              </a:solidFill>
              <a:prstDash val="solid"/>
              <a:miter lim="800000"/>
              <a:headEnd type="none" w="sm" len="sm"/>
              <a:tailEnd type="none" w="sm" len="sm"/>
            </a:ln>
          </p:spPr>
          <p:txBody>
            <a:bodyPr spcFirstLastPara="1" wrap="square" lIns="91325" tIns="91325" rIns="91325" bIns="91325" anchor="ctr" anchorCtr="0">
              <a:noAutofit/>
            </a:bodyPr>
            <a:lstStyle/>
            <a:p>
              <a:pPr marL="0" marR="0" lvl="0" indent="0" algn="ctr" rtl="0">
                <a:spcBef>
                  <a:spcPts val="0"/>
                </a:spcBef>
                <a:spcAft>
                  <a:spcPts val="0"/>
                </a:spcAft>
                <a:buNone/>
              </a:pPr>
              <a:endParaRPr sz="1100">
                <a:solidFill>
                  <a:srgbClr val="000001"/>
                </a:solidFill>
                <a:latin typeface="Arial"/>
                <a:ea typeface="Arial"/>
                <a:cs typeface="Arial"/>
                <a:sym typeface="Arial"/>
              </a:endParaRPr>
            </a:p>
          </p:txBody>
        </p:sp>
        <p:sp>
          <p:nvSpPr>
            <p:cNvPr id="4988" name="Google Shape;4988;p15"/>
            <p:cNvSpPr txBox="1"/>
            <p:nvPr/>
          </p:nvSpPr>
          <p:spPr>
            <a:xfrm>
              <a:off x="9570573" y="3604084"/>
              <a:ext cx="1176298" cy="646331"/>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rgbClr val="000001"/>
                  </a:solidFill>
                  <a:latin typeface="Arial"/>
                  <a:ea typeface="Arial"/>
                  <a:cs typeface="Arial"/>
                  <a:sym typeface="Arial"/>
                </a:rPr>
                <a:t>80GB vGPU </a:t>
              </a:r>
              <a:endParaRPr/>
            </a:p>
            <a:p>
              <a:pPr marL="0" marR="0" lvl="0" indent="0" algn="ctr" rtl="0">
                <a:spcBef>
                  <a:spcPts val="0"/>
                </a:spcBef>
                <a:spcAft>
                  <a:spcPts val="0"/>
                </a:spcAft>
                <a:buNone/>
              </a:pPr>
              <a:r>
                <a:rPr lang="en-US" sz="1200">
                  <a:solidFill>
                    <a:srgbClr val="000001"/>
                  </a:solidFill>
                  <a:latin typeface="Arial"/>
                  <a:ea typeface="Arial"/>
                  <a:cs typeface="Arial"/>
                  <a:sym typeface="Arial"/>
                </a:rPr>
                <a:t> profile</a:t>
              </a:r>
              <a:endParaRPr/>
            </a:p>
            <a:p>
              <a:pPr marL="0" marR="0" lvl="0" indent="0" algn="ctr" rtl="0">
                <a:spcBef>
                  <a:spcPts val="0"/>
                </a:spcBef>
                <a:spcAft>
                  <a:spcPts val="0"/>
                </a:spcAft>
                <a:buNone/>
              </a:pPr>
              <a:endParaRPr sz="1200">
                <a:solidFill>
                  <a:srgbClr val="000001"/>
                </a:solidFill>
                <a:latin typeface="Arial"/>
                <a:ea typeface="Arial"/>
                <a:cs typeface="Arial"/>
                <a:sym typeface="Arial"/>
              </a:endParaRPr>
            </a:p>
          </p:txBody>
        </p:sp>
      </p:grpSp>
      <p:sp>
        <p:nvSpPr>
          <p:cNvPr id="4989" name="Google Shape;4989;p15"/>
          <p:cNvSpPr txBox="1"/>
          <p:nvPr/>
        </p:nvSpPr>
        <p:spPr>
          <a:xfrm>
            <a:off x="9510372" y="2642618"/>
            <a:ext cx="1000520" cy="3384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000001"/>
                </a:solidFill>
                <a:latin typeface="Arial"/>
                <a:ea typeface="Arial"/>
                <a:cs typeface="Arial"/>
                <a:sym typeface="Arial"/>
              </a:rPr>
              <a:t>GPU 2</a:t>
            </a:r>
            <a:endParaRPr/>
          </a:p>
        </p:txBody>
      </p:sp>
      <p:sp>
        <p:nvSpPr>
          <p:cNvPr id="4990" name="Google Shape;4990;p15"/>
          <p:cNvSpPr/>
          <p:nvPr/>
        </p:nvSpPr>
        <p:spPr>
          <a:xfrm>
            <a:off x="6018463" y="1818828"/>
            <a:ext cx="5368945" cy="3611232"/>
          </a:xfrm>
          <a:prstGeom prst="rect">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95"/>
        <p:cNvGrpSpPr/>
        <p:nvPr/>
      </p:nvGrpSpPr>
      <p:grpSpPr>
        <a:xfrm>
          <a:off x="0" y="0"/>
          <a:ext cx="0" cy="0"/>
          <a:chOff x="0" y="0"/>
          <a:chExt cx="0" cy="0"/>
        </a:xfrm>
      </p:grpSpPr>
      <p:sp>
        <p:nvSpPr>
          <p:cNvPr id="4996" name="Google Shape;4996;p16"/>
          <p:cNvSpPr/>
          <p:nvPr/>
        </p:nvSpPr>
        <p:spPr>
          <a:xfrm flipH="1">
            <a:off x="4761" y="2012034"/>
            <a:ext cx="5185818" cy="3611230"/>
          </a:xfrm>
          <a:prstGeom prst="rect">
            <a:avLst/>
          </a:prstGeom>
          <a:gradFill>
            <a:gsLst>
              <a:gs pos="0">
                <a:srgbClr val="DCE8EF"/>
              </a:gs>
              <a:gs pos="48000">
                <a:srgbClr val="F4F8FA"/>
              </a:gs>
              <a:gs pos="100000">
                <a:schemeClr val="lt1"/>
              </a:gs>
            </a:gsLst>
            <a:lin ang="0" scaled="0"/>
          </a:gradFill>
          <a:ln>
            <a:noFill/>
          </a:ln>
        </p:spPr>
        <p:txBody>
          <a:bodyPr spcFirstLastPara="1" wrap="square" lIns="91325" tIns="45650" rIns="91325" bIns="4565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pic>
        <p:nvPicPr>
          <p:cNvPr id="4997" name="Google Shape;4997;p16"/>
          <p:cNvPicPr preferRelativeResize="0"/>
          <p:nvPr/>
        </p:nvPicPr>
        <p:blipFill rotWithShape="1">
          <a:blip r:embed="rId3">
            <a:alphaModFix amt="40000"/>
          </a:blip>
          <a:srcRect l="65" t="65199" r="-34" b="-31279"/>
          <a:stretch/>
        </p:blipFill>
        <p:spPr>
          <a:xfrm rot="5400000">
            <a:off x="1860061" y="3526635"/>
            <a:ext cx="6253166" cy="407870"/>
          </a:xfrm>
          <a:prstGeom prst="rect">
            <a:avLst/>
          </a:prstGeom>
          <a:noFill/>
          <a:ln>
            <a:noFill/>
          </a:ln>
        </p:spPr>
      </p:pic>
      <p:sp>
        <p:nvSpPr>
          <p:cNvPr id="4998" name="Google Shape;4998;p16"/>
          <p:cNvSpPr txBox="1"/>
          <p:nvPr/>
        </p:nvSpPr>
        <p:spPr>
          <a:xfrm>
            <a:off x="506415" y="3245685"/>
            <a:ext cx="3448411" cy="694220"/>
          </a:xfrm>
          <a:prstGeom prst="rect">
            <a:avLst/>
          </a:prstGeom>
          <a:noFill/>
          <a:ln>
            <a:noFill/>
          </a:ln>
        </p:spPr>
        <p:txBody>
          <a:bodyPr spcFirstLastPara="1" wrap="square" lIns="0" tIns="0" rIns="0" bIns="0" anchor="b" anchorCtr="0">
            <a:noAutofit/>
          </a:bodyPr>
          <a:lstStyle/>
          <a:p>
            <a:pPr marL="0" marR="0" lvl="0" indent="0" algn="l" rtl="0">
              <a:lnSpc>
                <a:spcPct val="93000"/>
              </a:lnSpc>
              <a:spcBef>
                <a:spcPts val="0"/>
              </a:spcBef>
              <a:spcAft>
                <a:spcPts val="0"/>
              </a:spcAft>
              <a:buNone/>
            </a:pPr>
            <a:r>
              <a:rPr lang="en-US" sz="1999" b="1">
                <a:solidFill>
                  <a:srgbClr val="6C4B93"/>
                </a:solidFill>
                <a:latin typeface="Arial"/>
                <a:ea typeface="Arial"/>
                <a:cs typeface="Arial"/>
                <a:sym typeface="Arial"/>
              </a:rPr>
              <a:t>Raise performance and streamline operations</a:t>
            </a:r>
            <a:endParaRPr/>
          </a:p>
        </p:txBody>
      </p:sp>
      <p:sp>
        <p:nvSpPr>
          <p:cNvPr id="4999" name="Google Shape;4999;p16"/>
          <p:cNvSpPr txBox="1"/>
          <p:nvPr/>
        </p:nvSpPr>
        <p:spPr>
          <a:xfrm>
            <a:off x="506410" y="4029692"/>
            <a:ext cx="3810619" cy="694220"/>
          </a:xfrm>
          <a:prstGeom prst="rect">
            <a:avLst/>
          </a:prstGeom>
          <a:noFill/>
          <a:ln>
            <a:noFill/>
          </a:ln>
        </p:spPr>
        <p:txBody>
          <a:bodyPr spcFirstLastPara="1" wrap="square" lIns="0" tIns="45650" rIns="91350" bIns="45650" anchor="t" anchorCtr="0">
            <a:noAutofit/>
          </a:bodyPr>
          <a:lstStyle/>
          <a:p>
            <a:pPr marL="0" marR="0" lvl="0" indent="0" algn="l" rtl="0">
              <a:lnSpc>
                <a:spcPct val="120000"/>
              </a:lnSpc>
              <a:spcBef>
                <a:spcPts val="0"/>
              </a:spcBef>
              <a:spcAft>
                <a:spcPts val="0"/>
              </a:spcAft>
              <a:buNone/>
            </a:pPr>
            <a:r>
              <a:rPr lang="en-US" sz="1600">
                <a:solidFill>
                  <a:srgbClr val="1B1E35"/>
                </a:solidFill>
                <a:latin typeface="Arial"/>
                <a:ea typeface="Arial"/>
                <a:cs typeface="Arial"/>
                <a:sym typeface="Arial"/>
              </a:rPr>
              <a:t>GPU reservation guarantees capacity for a new VM</a:t>
            </a:r>
            <a:endParaRPr/>
          </a:p>
          <a:p>
            <a:pPr marL="0" marR="0" lvl="0" indent="0" algn="l" rtl="0">
              <a:lnSpc>
                <a:spcPct val="120000"/>
              </a:lnSpc>
              <a:spcBef>
                <a:spcPts val="1200"/>
              </a:spcBef>
              <a:spcAft>
                <a:spcPts val="0"/>
              </a:spcAft>
              <a:buNone/>
            </a:pPr>
            <a:r>
              <a:rPr lang="en-US" sz="1600">
                <a:solidFill>
                  <a:srgbClr val="1B1E35"/>
                </a:solidFill>
                <a:latin typeface="Arial"/>
                <a:ea typeface="Arial"/>
                <a:cs typeface="Arial"/>
                <a:sym typeface="Arial"/>
              </a:rPr>
              <a:t>Assured power-on of a new VM</a:t>
            </a:r>
            <a:endParaRPr/>
          </a:p>
          <a:p>
            <a:pPr marL="0" marR="0" lvl="0" indent="0" algn="l" rtl="0">
              <a:lnSpc>
                <a:spcPct val="120000"/>
              </a:lnSpc>
              <a:spcBef>
                <a:spcPts val="1200"/>
              </a:spcBef>
              <a:spcAft>
                <a:spcPts val="1200"/>
              </a:spcAft>
              <a:buNone/>
            </a:pPr>
            <a:endParaRPr sz="1600">
              <a:solidFill>
                <a:srgbClr val="1B1E35"/>
              </a:solidFill>
              <a:latin typeface="Arial"/>
              <a:ea typeface="Arial"/>
              <a:cs typeface="Arial"/>
              <a:sym typeface="Arial"/>
            </a:endParaRPr>
          </a:p>
        </p:txBody>
      </p:sp>
      <p:sp>
        <p:nvSpPr>
          <p:cNvPr id="5000" name="Google Shape;5000;p16"/>
          <p:cNvSpPr txBox="1">
            <a:spLocks noGrp="1"/>
          </p:cNvSpPr>
          <p:nvPr>
            <p:ph type="title"/>
          </p:nvPr>
        </p:nvSpPr>
        <p:spPr>
          <a:xfrm>
            <a:off x="581245" y="413536"/>
            <a:ext cx="10998139"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latin typeface="Arial"/>
                <a:ea typeface="Arial"/>
                <a:cs typeface="Arial"/>
                <a:sym typeface="Arial"/>
              </a:rPr>
              <a:t>Improved Capacity Planning of GPU Resources</a:t>
            </a:r>
            <a:endParaRPr/>
          </a:p>
        </p:txBody>
      </p:sp>
      <p:sp>
        <p:nvSpPr>
          <p:cNvPr id="5001" name="Google Shape;5001;p16"/>
          <p:cNvSpPr txBox="1">
            <a:spLocks noGrp="1"/>
          </p:cNvSpPr>
          <p:nvPr>
            <p:ph type="subTitle" idx="1"/>
          </p:nvPr>
        </p:nvSpPr>
        <p:spPr>
          <a:xfrm>
            <a:off x="594300" y="812513"/>
            <a:ext cx="10959832"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Configure GPU reservations</a:t>
            </a:r>
            <a:endParaRPr/>
          </a:p>
        </p:txBody>
      </p:sp>
      <p:sp>
        <p:nvSpPr>
          <p:cNvPr id="5002" name="Google Shape;5002;p16"/>
          <p:cNvSpPr txBox="1"/>
          <p:nvPr/>
        </p:nvSpPr>
        <p:spPr>
          <a:xfrm>
            <a:off x="5863798" y="5731935"/>
            <a:ext cx="6094413" cy="2538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000001"/>
                </a:solidFill>
                <a:latin typeface="Arial"/>
                <a:ea typeface="Arial"/>
                <a:cs typeface="Arial"/>
                <a:sym typeface="Arial"/>
              </a:rPr>
              <a:t>Note- GPU reservations need to be done as a group with memory and CPU reservations</a:t>
            </a:r>
            <a:endParaRPr/>
          </a:p>
        </p:txBody>
      </p:sp>
      <p:sp>
        <p:nvSpPr>
          <p:cNvPr id="5003" name="Google Shape;5003;p16"/>
          <p:cNvSpPr txBox="1"/>
          <p:nvPr/>
        </p:nvSpPr>
        <p:spPr>
          <a:xfrm>
            <a:off x="6894061" y="1060191"/>
            <a:ext cx="3617747" cy="363081"/>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999" b="1">
                <a:solidFill>
                  <a:srgbClr val="005C8A"/>
                </a:solidFill>
                <a:latin typeface="Arial"/>
                <a:ea typeface="Arial"/>
                <a:cs typeface="Arial"/>
                <a:sym typeface="Arial"/>
              </a:rPr>
              <a:t>AFTER</a:t>
            </a:r>
            <a:endParaRPr/>
          </a:p>
        </p:txBody>
      </p:sp>
      <p:grpSp>
        <p:nvGrpSpPr>
          <p:cNvPr id="5004" name="Google Shape;5004;p16"/>
          <p:cNvGrpSpPr/>
          <p:nvPr/>
        </p:nvGrpSpPr>
        <p:grpSpPr>
          <a:xfrm>
            <a:off x="6018461" y="1946550"/>
            <a:ext cx="5368947" cy="3614362"/>
            <a:chOff x="6020028" y="1815278"/>
            <a:chExt cx="5370346" cy="3615302"/>
          </a:xfrm>
        </p:grpSpPr>
        <p:sp>
          <p:nvSpPr>
            <p:cNvPr id="5005" name="Google Shape;5005;p16"/>
            <p:cNvSpPr txBox="1"/>
            <p:nvPr/>
          </p:nvSpPr>
          <p:spPr>
            <a:xfrm>
              <a:off x="9570573" y="3780810"/>
              <a:ext cx="1176298" cy="276999"/>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rgbClr val="000001"/>
                  </a:solidFill>
                  <a:latin typeface="Arial"/>
                  <a:ea typeface="Arial"/>
                  <a:cs typeface="Arial"/>
                  <a:sym typeface="Arial"/>
                </a:rPr>
                <a:t>Available</a:t>
              </a:r>
              <a:endParaRPr/>
            </a:p>
          </p:txBody>
        </p:sp>
        <p:sp>
          <p:nvSpPr>
            <p:cNvPr id="5006" name="Google Shape;5006;p16"/>
            <p:cNvSpPr txBox="1"/>
            <p:nvPr/>
          </p:nvSpPr>
          <p:spPr>
            <a:xfrm flipH="1">
              <a:off x="6052270" y="2709227"/>
              <a:ext cx="5298123" cy="254237"/>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400">
                  <a:solidFill>
                    <a:srgbClr val="191919"/>
                  </a:solidFill>
                  <a:latin typeface="Arial"/>
                  <a:ea typeface="Arial"/>
                  <a:cs typeface="Arial"/>
                  <a:sym typeface="Arial"/>
                </a:rPr>
                <a:t>Advance reservation provides capacity on GPU 2 </a:t>
              </a:r>
              <a:endParaRPr/>
            </a:p>
          </p:txBody>
        </p:sp>
        <p:sp>
          <p:nvSpPr>
            <p:cNvPr id="5007" name="Google Shape;5007;p16"/>
            <p:cNvSpPr txBox="1"/>
            <p:nvPr/>
          </p:nvSpPr>
          <p:spPr>
            <a:xfrm>
              <a:off x="6891987" y="4863838"/>
              <a:ext cx="1374843" cy="19973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100">
                  <a:solidFill>
                    <a:srgbClr val="1B1E35"/>
                  </a:solidFill>
                  <a:latin typeface="Arial"/>
                  <a:ea typeface="Arial"/>
                  <a:cs typeface="Arial"/>
                  <a:sym typeface="Arial"/>
                </a:rPr>
                <a:t>GPU1</a:t>
              </a:r>
              <a:endParaRPr/>
            </a:p>
          </p:txBody>
        </p:sp>
        <p:sp>
          <p:nvSpPr>
            <p:cNvPr id="5008" name="Google Shape;5008;p16"/>
            <p:cNvSpPr/>
            <p:nvPr/>
          </p:nvSpPr>
          <p:spPr>
            <a:xfrm>
              <a:off x="6518901" y="3072069"/>
              <a:ext cx="2121014" cy="1725038"/>
            </a:xfrm>
            <a:prstGeom prst="rect">
              <a:avLst/>
            </a:prstGeom>
            <a:gradFill>
              <a:gsLst>
                <a:gs pos="0">
                  <a:schemeClr val="accent3"/>
                </a:gs>
                <a:gs pos="100000">
                  <a:schemeClr val="accent2"/>
                </a:gs>
              </a:gsLst>
              <a:lin ang="5400000" scaled="0"/>
            </a:gradFill>
            <a:ln w="9525" cap="flat" cmpd="sng">
              <a:solidFill>
                <a:srgbClr val="1B1E35"/>
              </a:solidFill>
              <a:prstDash val="solid"/>
              <a:round/>
              <a:headEnd type="none" w="sm" len="sm"/>
              <a:tailEnd type="none" w="sm" len="sm"/>
            </a:ln>
          </p:spPr>
          <p:txBody>
            <a:bodyPr spcFirstLastPara="1" wrap="square" lIns="182675" tIns="1096100" rIns="182675" bIns="45650" anchor="t" anchorCtr="0">
              <a:noAutofit/>
            </a:bodyPr>
            <a:lstStyle/>
            <a:p>
              <a:pPr marL="0" marR="0" lvl="0" indent="0" algn="l" rtl="0">
                <a:spcBef>
                  <a:spcPts val="0"/>
                </a:spcBef>
                <a:spcAft>
                  <a:spcPts val="0"/>
                </a:spcAft>
                <a:buNone/>
              </a:pPr>
              <a:endParaRPr sz="1995">
                <a:solidFill>
                  <a:srgbClr val="5A5A5A"/>
                </a:solidFill>
                <a:latin typeface="Arial"/>
                <a:ea typeface="Arial"/>
                <a:cs typeface="Arial"/>
                <a:sym typeface="Arial"/>
              </a:endParaRPr>
            </a:p>
          </p:txBody>
        </p:sp>
        <p:sp>
          <p:nvSpPr>
            <p:cNvPr id="5009" name="Google Shape;5009;p16"/>
            <p:cNvSpPr/>
            <p:nvPr/>
          </p:nvSpPr>
          <p:spPr>
            <a:xfrm>
              <a:off x="6611920" y="3183609"/>
              <a:ext cx="1935041" cy="1490579"/>
            </a:xfrm>
            <a:prstGeom prst="rect">
              <a:avLst/>
            </a:prstGeom>
            <a:solidFill>
              <a:schemeClr val="lt1"/>
            </a:solidFill>
            <a:ln>
              <a:noFill/>
            </a:ln>
          </p:spPr>
          <p:txBody>
            <a:bodyPr spcFirstLastPara="1" wrap="square" lIns="91325" tIns="91325" rIns="91325" bIns="91325" anchor="ctr" anchorCtr="0">
              <a:noAutofit/>
            </a:bodyPr>
            <a:lstStyle/>
            <a:p>
              <a:pPr marL="0" marR="0" lvl="0" indent="0" algn="ctr" rtl="0">
                <a:spcBef>
                  <a:spcPts val="0"/>
                </a:spcBef>
                <a:spcAft>
                  <a:spcPts val="0"/>
                </a:spcAft>
                <a:buNone/>
              </a:pPr>
              <a:endParaRPr sz="1100">
                <a:solidFill>
                  <a:srgbClr val="000001"/>
                </a:solidFill>
                <a:latin typeface="Arial"/>
                <a:ea typeface="Arial"/>
                <a:cs typeface="Arial"/>
                <a:sym typeface="Arial"/>
              </a:endParaRPr>
            </a:p>
          </p:txBody>
        </p:sp>
        <p:sp>
          <p:nvSpPr>
            <p:cNvPr id="5010" name="Google Shape;5010;p16"/>
            <p:cNvSpPr txBox="1"/>
            <p:nvPr/>
          </p:nvSpPr>
          <p:spPr>
            <a:xfrm>
              <a:off x="6617120" y="3957527"/>
              <a:ext cx="6489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B8C"/>
                  </a:solidFill>
                  <a:latin typeface="Arial"/>
                  <a:ea typeface="Arial"/>
                  <a:cs typeface="Arial"/>
                  <a:sym typeface="Arial"/>
                </a:rPr>
                <a:t>80GB </a:t>
              </a:r>
              <a:br>
                <a:rPr lang="en-US" sz="1200" b="1">
                  <a:solidFill>
                    <a:srgbClr val="005C8A"/>
                  </a:solidFill>
                  <a:latin typeface="Arial"/>
                  <a:ea typeface="Arial"/>
                  <a:cs typeface="Arial"/>
                  <a:sym typeface="Arial"/>
                </a:rPr>
              </a:br>
              <a:r>
                <a:rPr lang="en-US" sz="1200">
                  <a:solidFill>
                    <a:srgbClr val="000001"/>
                  </a:solidFill>
                  <a:latin typeface="Arial"/>
                  <a:ea typeface="Arial"/>
                  <a:cs typeface="Arial"/>
                  <a:sym typeface="Arial"/>
                </a:rPr>
                <a:t>GPU </a:t>
              </a:r>
              <a:endParaRPr/>
            </a:p>
          </p:txBody>
        </p:sp>
        <p:grpSp>
          <p:nvGrpSpPr>
            <p:cNvPr id="5011" name="Google Shape;5011;p16"/>
            <p:cNvGrpSpPr/>
            <p:nvPr/>
          </p:nvGrpSpPr>
          <p:grpSpPr>
            <a:xfrm>
              <a:off x="7318423" y="3231583"/>
              <a:ext cx="1176860" cy="674257"/>
              <a:chOff x="1696606" y="4116140"/>
              <a:chExt cx="1176860" cy="539343"/>
            </a:xfrm>
          </p:grpSpPr>
          <p:sp>
            <p:nvSpPr>
              <p:cNvPr id="5012" name="Google Shape;5012;p16"/>
              <p:cNvSpPr/>
              <p:nvPr/>
            </p:nvSpPr>
            <p:spPr>
              <a:xfrm>
                <a:off x="1696607" y="4116140"/>
                <a:ext cx="1176859" cy="539343"/>
              </a:xfrm>
              <a:prstGeom prst="rect">
                <a:avLst/>
              </a:prstGeom>
              <a:solidFill>
                <a:schemeClr val="accent1"/>
              </a:solidFill>
              <a:ln w="12700" cap="flat" cmpd="sng">
                <a:solidFill>
                  <a:srgbClr val="3B3B3B"/>
                </a:solidFill>
                <a:prstDash val="solid"/>
                <a:round/>
                <a:headEnd type="none" w="sm" len="sm"/>
                <a:tailEnd type="none" w="sm" len="sm"/>
              </a:ln>
            </p:spPr>
            <p:txBody>
              <a:bodyPr spcFirstLastPara="1" wrap="square" lIns="182675" tIns="1096100" rIns="182675" bIns="45650" anchor="ctr" anchorCtr="0">
                <a:noAutofit/>
              </a:bodyPr>
              <a:lstStyle/>
              <a:p>
                <a:pPr marL="0" marR="0" lvl="0" indent="0" algn="ctr" rtl="0">
                  <a:spcBef>
                    <a:spcPts val="0"/>
                  </a:spcBef>
                  <a:spcAft>
                    <a:spcPts val="0"/>
                  </a:spcAft>
                  <a:buNone/>
                </a:pPr>
                <a:endParaRPr sz="1995">
                  <a:solidFill>
                    <a:srgbClr val="5A5A5A"/>
                  </a:solidFill>
                  <a:latin typeface="Arial"/>
                  <a:ea typeface="Arial"/>
                  <a:cs typeface="Arial"/>
                  <a:sym typeface="Arial"/>
                </a:endParaRPr>
              </a:p>
            </p:txBody>
          </p:sp>
          <p:sp>
            <p:nvSpPr>
              <p:cNvPr id="5013" name="Google Shape;5013;p16"/>
              <p:cNvSpPr txBox="1"/>
              <p:nvPr/>
            </p:nvSpPr>
            <p:spPr>
              <a:xfrm>
                <a:off x="1696606" y="4197672"/>
                <a:ext cx="1176859" cy="369289"/>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rgbClr val="FFFFFF"/>
                    </a:solidFill>
                    <a:latin typeface="Arial"/>
                    <a:ea typeface="Arial"/>
                    <a:cs typeface="Arial"/>
                    <a:sym typeface="Arial"/>
                  </a:rPr>
                  <a:t>40GB </a:t>
                </a:r>
                <a:r>
                  <a:rPr lang="en-US" sz="1200">
                    <a:solidFill>
                      <a:srgbClr val="FFFFFF"/>
                    </a:solidFill>
                    <a:latin typeface="Arial"/>
                    <a:ea typeface="Arial"/>
                    <a:cs typeface="Arial"/>
                    <a:sym typeface="Arial"/>
                  </a:rPr>
                  <a:t>vGPU </a:t>
                </a:r>
                <a:br>
                  <a:rPr lang="en-US" sz="1200">
                    <a:solidFill>
                      <a:srgbClr val="FFFFFF"/>
                    </a:solidFill>
                    <a:latin typeface="Arial"/>
                    <a:ea typeface="Arial"/>
                    <a:cs typeface="Arial"/>
                    <a:sym typeface="Arial"/>
                  </a:rPr>
                </a:br>
                <a:r>
                  <a:rPr lang="en-US" sz="1200">
                    <a:solidFill>
                      <a:srgbClr val="FFFFFF"/>
                    </a:solidFill>
                    <a:latin typeface="Arial"/>
                    <a:ea typeface="Arial"/>
                    <a:cs typeface="Arial"/>
                    <a:sym typeface="Arial"/>
                  </a:rPr>
                  <a:t>profile</a:t>
                </a:r>
                <a:endParaRPr/>
              </a:p>
            </p:txBody>
          </p:sp>
        </p:grpSp>
        <p:grpSp>
          <p:nvGrpSpPr>
            <p:cNvPr id="5014" name="Google Shape;5014;p16"/>
            <p:cNvGrpSpPr/>
            <p:nvPr/>
          </p:nvGrpSpPr>
          <p:grpSpPr>
            <a:xfrm>
              <a:off x="7318423" y="3966242"/>
              <a:ext cx="1176861" cy="656676"/>
              <a:chOff x="1696606" y="4703799"/>
              <a:chExt cx="1176861" cy="525280"/>
            </a:xfrm>
          </p:grpSpPr>
          <p:sp>
            <p:nvSpPr>
              <p:cNvPr id="5015" name="Google Shape;5015;p16"/>
              <p:cNvSpPr/>
              <p:nvPr/>
            </p:nvSpPr>
            <p:spPr>
              <a:xfrm>
                <a:off x="1696606" y="4703799"/>
                <a:ext cx="1176859" cy="525280"/>
              </a:xfrm>
              <a:prstGeom prst="rect">
                <a:avLst/>
              </a:prstGeom>
              <a:solidFill>
                <a:srgbClr val="FCFCFE"/>
              </a:solidFill>
              <a:ln w="12700" cap="sq" cmpd="sng">
                <a:solidFill>
                  <a:srgbClr val="3B3B3B"/>
                </a:solidFill>
                <a:prstDash val="solid"/>
                <a:miter lim="800000"/>
                <a:headEnd type="none" w="sm" len="sm"/>
                <a:tailEnd type="none" w="sm" len="sm"/>
              </a:ln>
            </p:spPr>
            <p:txBody>
              <a:bodyPr spcFirstLastPara="1" wrap="square" lIns="91325" tIns="91325" rIns="91325" bIns="91325" anchor="ctr" anchorCtr="0">
                <a:noAutofit/>
              </a:bodyPr>
              <a:lstStyle/>
              <a:p>
                <a:pPr marL="0" marR="0" lvl="0" indent="0" algn="ctr" rtl="0">
                  <a:spcBef>
                    <a:spcPts val="0"/>
                  </a:spcBef>
                  <a:spcAft>
                    <a:spcPts val="0"/>
                  </a:spcAft>
                  <a:buNone/>
                </a:pPr>
                <a:endParaRPr sz="1100">
                  <a:solidFill>
                    <a:srgbClr val="000001"/>
                  </a:solidFill>
                  <a:latin typeface="Arial"/>
                  <a:ea typeface="Arial"/>
                  <a:cs typeface="Arial"/>
                  <a:sym typeface="Arial"/>
                </a:endParaRPr>
              </a:p>
            </p:txBody>
          </p:sp>
          <p:sp>
            <p:nvSpPr>
              <p:cNvPr id="5016" name="Google Shape;5016;p16"/>
              <p:cNvSpPr txBox="1"/>
              <p:nvPr/>
            </p:nvSpPr>
            <p:spPr>
              <a:xfrm>
                <a:off x="1697169" y="4841293"/>
                <a:ext cx="1176298" cy="22157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rgbClr val="000001"/>
                    </a:solidFill>
                    <a:latin typeface="Arial"/>
                    <a:ea typeface="Arial"/>
                    <a:cs typeface="Arial"/>
                    <a:sym typeface="Arial"/>
                  </a:rPr>
                  <a:t>Available</a:t>
                </a:r>
                <a:endParaRPr/>
              </a:p>
            </p:txBody>
          </p:sp>
        </p:grpSp>
        <p:pic>
          <p:nvPicPr>
            <p:cNvPr id="5017" name="Google Shape;5017;p16"/>
            <p:cNvPicPr preferRelativeResize="0"/>
            <p:nvPr/>
          </p:nvPicPr>
          <p:blipFill rotWithShape="1">
            <a:blip r:embed="rId4">
              <a:alphaModFix/>
            </a:blip>
            <a:srcRect/>
            <a:stretch/>
          </p:blipFill>
          <p:spPr>
            <a:xfrm>
              <a:off x="6661739" y="3474996"/>
              <a:ext cx="550454" cy="550454"/>
            </a:xfrm>
            <a:prstGeom prst="rect">
              <a:avLst/>
            </a:prstGeom>
            <a:noFill/>
            <a:ln>
              <a:noFill/>
            </a:ln>
          </p:spPr>
        </p:pic>
        <p:sp>
          <p:nvSpPr>
            <p:cNvPr id="5018" name="Google Shape;5018;p16"/>
            <p:cNvSpPr txBox="1"/>
            <p:nvPr/>
          </p:nvSpPr>
          <p:spPr>
            <a:xfrm>
              <a:off x="9143574" y="4863838"/>
              <a:ext cx="1374843" cy="19973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100">
                  <a:solidFill>
                    <a:srgbClr val="1B1E35"/>
                  </a:solidFill>
                  <a:latin typeface="Arial"/>
                  <a:ea typeface="Arial"/>
                  <a:cs typeface="Arial"/>
                  <a:sym typeface="Arial"/>
                </a:rPr>
                <a:t>GPU2</a:t>
              </a:r>
              <a:endParaRPr/>
            </a:p>
          </p:txBody>
        </p:sp>
        <p:sp>
          <p:nvSpPr>
            <p:cNvPr id="5019" name="Google Shape;5019;p16"/>
            <p:cNvSpPr/>
            <p:nvPr/>
          </p:nvSpPr>
          <p:spPr>
            <a:xfrm>
              <a:off x="8770488" y="3072069"/>
              <a:ext cx="2121014" cy="1725038"/>
            </a:xfrm>
            <a:prstGeom prst="rect">
              <a:avLst/>
            </a:prstGeom>
            <a:gradFill>
              <a:gsLst>
                <a:gs pos="0">
                  <a:schemeClr val="accent3"/>
                </a:gs>
                <a:gs pos="100000">
                  <a:schemeClr val="accent2"/>
                </a:gs>
              </a:gsLst>
              <a:lin ang="5400000" scaled="0"/>
            </a:gradFill>
            <a:ln w="9525" cap="flat" cmpd="sng">
              <a:solidFill>
                <a:srgbClr val="1B1E35"/>
              </a:solidFill>
              <a:prstDash val="solid"/>
              <a:round/>
              <a:headEnd type="none" w="sm" len="sm"/>
              <a:tailEnd type="none" w="sm" len="sm"/>
            </a:ln>
          </p:spPr>
          <p:txBody>
            <a:bodyPr spcFirstLastPara="1" wrap="square" lIns="182675" tIns="1096100" rIns="182675" bIns="45650" anchor="t" anchorCtr="0">
              <a:noAutofit/>
            </a:bodyPr>
            <a:lstStyle/>
            <a:p>
              <a:pPr marL="0" marR="0" lvl="0" indent="0" algn="l" rtl="0">
                <a:spcBef>
                  <a:spcPts val="0"/>
                </a:spcBef>
                <a:spcAft>
                  <a:spcPts val="0"/>
                </a:spcAft>
                <a:buNone/>
              </a:pPr>
              <a:endParaRPr sz="1995">
                <a:solidFill>
                  <a:srgbClr val="5A5A5A"/>
                </a:solidFill>
                <a:latin typeface="Arial"/>
                <a:ea typeface="Arial"/>
                <a:cs typeface="Arial"/>
                <a:sym typeface="Arial"/>
              </a:endParaRPr>
            </a:p>
          </p:txBody>
        </p:sp>
        <p:sp>
          <p:nvSpPr>
            <p:cNvPr id="5020" name="Google Shape;5020;p16"/>
            <p:cNvSpPr/>
            <p:nvPr/>
          </p:nvSpPr>
          <p:spPr>
            <a:xfrm>
              <a:off x="8863507" y="3183609"/>
              <a:ext cx="1935041" cy="1490579"/>
            </a:xfrm>
            <a:prstGeom prst="rect">
              <a:avLst/>
            </a:prstGeom>
            <a:solidFill>
              <a:schemeClr val="lt1"/>
            </a:solidFill>
            <a:ln>
              <a:noFill/>
            </a:ln>
          </p:spPr>
          <p:txBody>
            <a:bodyPr spcFirstLastPara="1" wrap="square" lIns="91325" tIns="91325" rIns="91325" bIns="91325" anchor="ctr" anchorCtr="0">
              <a:noAutofit/>
            </a:bodyPr>
            <a:lstStyle/>
            <a:p>
              <a:pPr marL="0" marR="0" lvl="0" indent="0" algn="ctr" rtl="0">
                <a:spcBef>
                  <a:spcPts val="0"/>
                </a:spcBef>
                <a:spcAft>
                  <a:spcPts val="0"/>
                </a:spcAft>
                <a:buNone/>
              </a:pPr>
              <a:endParaRPr sz="1100">
                <a:solidFill>
                  <a:srgbClr val="000001"/>
                </a:solidFill>
                <a:latin typeface="Arial"/>
                <a:ea typeface="Arial"/>
                <a:cs typeface="Arial"/>
                <a:sym typeface="Arial"/>
              </a:endParaRPr>
            </a:p>
          </p:txBody>
        </p:sp>
        <p:sp>
          <p:nvSpPr>
            <p:cNvPr id="5021" name="Google Shape;5021;p16"/>
            <p:cNvSpPr txBox="1"/>
            <p:nvPr/>
          </p:nvSpPr>
          <p:spPr>
            <a:xfrm>
              <a:off x="8868707" y="3957527"/>
              <a:ext cx="6489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B8C"/>
                  </a:solidFill>
                  <a:latin typeface="Arial"/>
                  <a:ea typeface="Arial"/>
                  <a:cs typeface="Arial"/>
                  <a:sym typeface="Arial"/>
                </a:rPr>
                <a:t>80GB </a:t>
              </a:r>
              <a:br>
                <a:rPr lang="en-US" sz="1200" b="1">
                  <a:solidFill>
                    <a:srgbClr val="005C8A"/>
                  </a:solidFill>
                  <a:latin typeface="Arial"/>
                  <a:ea typeface="Arial"/>
                  <a:cs typeface="Arial"/>
                  <a:sym typeface="Arial"/>
                </a:rPr>
              </a:br>
              <a:r>
                <a:rPr lang="en-US" sz="1200">
                  <a:solidFill>
                    <a:srgbClr val="000001"/>
                  </a:solidFill>
                  <a:latin typeface="Arial"/>
                  <a:ea typeface="Arial"/>
                  <a:cs typeface="Arial"/>
                  <a:sym typeface="Arial"/>
                </a:rPr>
                <a:t>GPU </a:t>
              </a:r>
              <a:endParaRPr/>
            </a:p>
          </p:txBody>
        </p:sp>
        <p:grpSp>
          <p:nvGrpSpPr>
            <p:cNvPr id="5022" name="Google Shape;5022;p16"/>
            <p:cNvGrpSpPr/>
            <p:nvPr/>
          </p:nvGrpSpPr>
          <p:grpSpPr>
            <a:xfrm>
              <a:off x="7318423" y="3948661"/>
              <a:ext cx="1176860" cy="674257"/>
              <a:chOff x="9570010" y="3231584"/>
              <a:chExt cx="1176860" cy="674257"/>
            </a:xfrm>
          </p:grpSpPr>
          <p:sp>
            <p:nvSpPr>
              <p:cNvPr id="5023" name="Google Shape;5023;p16"/>
              <p:cNvSpPr/>
              <p:nvPr/>
            </p:nvSpPr>
            <p:spPr>
              <a:xfrm>
                <a:off x="9570011" y="3231584"/>
                <a:ext cx="1176859" cy="674257"/>
              </a:xfrm>
              <a:prstGeom prst="rect">
                <a:avLst/>
              </a:prstGeom>
              <a:solidFill>
                <a:schemeClr val="lt1"/>
              </a:solidFill>
              <a:ln w="12700" cap="flat" cmpd="sng">
                <a:solidFill>
                  <a:srgbClr val="3B3B3B"/>
                </a:solidFill>
                <a:prstDash val="solid"/>
                <a:round/>
                <a:headEnd type="none" w="sm" len="sm"/>
                <a:tailEnd type="none" w="sm" len="sm"/>
              </a:ln>
            </p:spPr>
            <p:txBody>
              <a:bodyPr spcFirstLastPara="1" wrap="square" lIns="182675" tIns="1096100" rIns="182675" bIns="45650" anchor="ctr" anchorCtr="0">
                <a:noAutofit/>
              </a:bodyPr>
              <a:lstStyle/>
              <a:p>
                <a:pPr marL="0" marR="0" lvl="0" indent="0" algn="ctr" rtl="0">
                  <a:spcBef>
                    <a:spcPts val="0"/>
                  </a:spcBef>
                  <a:spcAft>
                    <a:spcPts val="0"/>
                  </a:spcAft>
                  <a:buNone/>
                </a:pPr>
                <a:endParaRPr sz="1995">
                  <a:solidFill>
                    <a:srgbClr val="5A5A5A"/>
                  </a:solidFill>
                  <a:latin typeface="Arial"/>
                  <a:ea typeface="Arial"/>
                  <a:cs typeface="Arial"/>
                  <a:sym typeface="Arial"/>
                </a:endParaRPr>
              </a:p>
            </p:txBody>
          </p:sp>
          <p:sp>
            <p:nvSpPr>
              <p:cNvPr id="5024" name="Google Shape;5024;p16"/>
              <p:cNvSpPr txBox="1"/>
              <p:nvPr/>
            </p:nvSpPr>
            <p:spPr>
              <a:xfrm>
                <a:off x="9570010" y="3333513"/>
                <a:ext cx="1176859" cy="46166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rgbClr val="FFFFFF"/>
                    </a:solidFill>
                    <a:latin typeface="Arial"/>
                    <a:ea typeface="Arial"/>
                    <a:cs typeface="Arial"/>
                    <a:sym typeface="Arial"/>
                  </a:rPr>
                  <a:t>40GB </a:t>
                </a:r>
                <a:r>
                  <a:rPr lang="en-US" sz="1200">
                    <a:solidFill>
                      <a:srgbClr val="FFFFFF"/>
                    </a:solidFill>
                    <a:latin typeface="Arial"/>
                    <a:ea typeface="Arial"/>
                    <a:cs typeface="Arial"/>
                    <a:sym typeface="Arial"/>
                  </a:rPr>
                  <a:t>vGPU </a:t>
                </a:r>
                <a:br>
                  <a:rPr lang="en-US" sz="1200">
                    <a:solidFill>
                      <a:srgbClr val="FFFFFF"/>
                    </a:solidFill>
                    <a:latin typeface="Arial"/>
                    <a:ea typeface="Arial"/>
                    <a:cs typeface="Arial"/>
                    <a:sym typeface="Arial"/>
                  </a:rPr>
                </a:br>
                <a:r>
                  <a:rPr lang="en-US" sz="1200">
                    <a:solidFill>
                      <a:srgbClr val="FFFFFF"/>
                    </a:solidFill>
                    <a:latin typeface="Arial"/>
                    <a:ea typeface="Arial"/>
                    <a:cs typeface="Arial"/>
                    <a:sym typeface="Arial"/>
                  </a:rPr>
                  <a:t>profile</a:t>
                </a:r>
                <a:endParaRPr/>
              </a:p>
            </p:txBody>
          </p:sp>
        </p:grpSp>
        <p:pic>
          <p:nvPicPr>
            <p:cNvPr id="5025" name="Google Shape;5025;p16"/>
            <p:cNvPicPr preferRelativeResize="0"/>
            <p:nvPr/>
          </p:nvPicPr>
          <p:blipFill rotWithShape="1">
            <a:blip r:embed="rId4">
              <a:alphaModFix/>
            </a:blip>
            <a:srcRect/>
            <a:stretch/>
          </p:blipFill>
          <p:spPr>
            <a:xfrm>
              <a:off x="8913326" y="3474996"/>
              <a:ext cx="550454" cy="550454"/>
            </a:xfrm>
            <a:prstGeom prst="rect">
              <a:avLst/>
            </a:prstGeom>
            <a:noFill/>
            <a:ln>
              <a:noFill/>
            </a:ln>
          </p:spPr>
        </p:pic>
        <p:sp>
          <p:nvSpPr>
            <p:cNvPr id="5026" name="Google Shape;5026;p16"/>
            <p:cNvSpPr/>
            <p:nvPr/>
          </p:nvSpPr>
          <p:spPr>
            <a:xfrm flipH="1">
              <a:off x="6020028" y="1815278"/>
              <a:ext cx="5370344" cy="602855"/>
            </a:xfrm>
            <a:custGeom>
              <a:avLst/>
              <a:gdLst/>
              <a:ahLst/>
              <a:cxnLst/>
              <a:rect l="l" t="t" r="r" b="b"/>
              <a:pathLst>
                <a:path w="1062290" h="637374" extrusionOk="0">
                  <a:moveTo>
                    <a:pt x="0" y="0"/>
                  </a:moveTo>
                  <a:lnTo>
                    <a:pt x="1062290" y="0"/>
                  </a:lnTo>
                  <a:lnTo>
                    <a:pt x="1062290" y="637374"/>
                  </a:lnTo>
                  <a:lnTo>
                    <a:pt x="0" y="637374"/>
                  </a:lnTo>
                  <a:lnTo>
                    <a:pt x="0" y="0"/>
                  </a:lnTo>
                  <a:close/>
                </a:path>
              </a:pathLst>
            </a:custGeom>
            <a:solidFill>
              <a:schemeClr val="accent2"/>
            </a:solidFill>
            <a:ln>
              <a:noFill/>
            </a:ln>
          </p:spPr>
          <p:txBody>
            <a:bodyPr spcFirstLastPara="1" wrap="square" lIns="91400" tIns="91400" rIns="91400" bIns="91400" anchor="ctr" anchorCtr="0">
              <a:noAutofit/>
            </a:bodyPr>
            <a:lstStyle/>
            <a:p>
              <a:pPr marL="0" marR="0" lvl="0" indent="0" algn="ctr" rtl="0">
                <a:lnSpc>
                  <a:spcPct val="90000"/>
                </a:lnSpc>
                <a:spcBef>
                  <a:spcPts val="0"/>
                </a:spcBef>
                <a:spcAft>
                  <a:spcPts val="0"/>
                </a:spcAft>
                <a:buNone/>
              </a:pPr>
              <a:r>
                <a:rPr lang="en-US" sz="1400">
                  <a:solidFill>
                    <a:srgbClr val="FFFFFF"/>
                  </a:solidFill>
                  <a:latin typeface="Arial"/>
                  <a:ea typeface="Arial"/>
                  <a:cs typeface="Arial"/>
                  <a:sym typeface="Arial"/>
                </a:rPr>
                <a:t>New workload - </a:t>
              </a:r>
              <a:br>
                <a:rPr lang="en-US" sz="1400">
                  <a:solidFill>
                    <a:srgbClr val="FFFFFF"/>
                  </a:solidFill>
                  <a:latin typeface="Arial"/>
                  <a:ea typeface="Arial"/>
                  <a:cs typeface="Arial"/>
                  <a:sym typeface="Arial"/>
                </a:rPr>
              </a:br>
              <a:r>
                <a:rPr lang="en-US" sz="1400">
                  <a:solidFill>
                    <a:srgbClr val="FFFFFF"/>
                  </a:solidFill>
                  <a:latin typeface="Arial"/>
                  <a:ea typeface="Arial"/>
                  <a:cs typeface="Arial"/>
                  <a:sym typeface="Arial"/>
                </a:rPr>
                <a:t>80GB vGPU profile </a:t>
              </a:r>
              <a:endParaRPr/>
            </a:p>
          </p:txBody>
        </p:sp>
        <p:sp>
          <p:nvSpPr>
            <p:cNvPr id="5027" name="Google Shape;5027;p16"/>
            <p:cNvSpPr/>
            <p:nvPr/>
          </p:nvSpPr>
          <p:spPr>
            <a:xfrm>
              <a:off x="6020030" y="1818409"/>
              <a:ext cx="5370344" cy="3612171"/>
            </a:xfrm>
            <a:prstGeom prst="rect">
              <a:avLst/>
            </a:prstGeom>
            <a:noFill/>
            <a:ln w="25400" cap="flat" cmpd="sng">
              <a:solidFill>
                <a:schemeClr val="accent2"/>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5028" name="Google Shape;5028;p16"/>
            <p:cNvSpPr/>
            <p:nvPr/>
          </p:nvSpPr>
          <p:spPr>
            <a:xfrm>
              <a:off x="9570010" y="3231583"/>
              <a:ext cx="1176859" cy="1391335"/>
            </a:xfrm>
            <a:prstGeom prst="rect">
              <a:avLst/>
            </a:prstGeom>
            <a:solidFill>
              <a:srgbClr val="FCFCFE"/>
            </a:solidFill>
            <a:ln w="12700" cap="sq" cmpd="sng">
              <a:solidFill>
                <a:srgbClr val="3B3B3B"/>
              </a:solidFill>
              <a:prstDash val="solid"/>
              <a:miter lim="800000"/>
              <a:headEnd type="none" w="sm" len="sm"/>
              <a:tailEnd type="none" w="sm" len="sm"/>
            </a:ln>
          </p:spPr>
          <p:txBody>
            <a:bodyPr spcFirstLastPara="1" wrap="square" lIns="91325" tIns="91325" rIns="91325" bIns="91325" anchor="ctr" anchorCtr="0">
              <a:noAutofit/>
            </a:bodyPr>
            <a:lstStyle/>
            <a:p>
              <a:pPr marL="0" marR="0" lvl="0" indent="0" algn="ctr" rtl="0">
                <a:spcBef>
                  <a:spcPts val="0"/>
                </a:spcBef>
                <a:spcAft>
                  <a:spcPts val="0"/>
                </a:spcAft>
                <a:buNone/>
              </a:pPr>
              <a:endParaRPr sz="1100">
                <a:solidFill>
                  <a:srgbClr val="000001"/>
                </a:solidFill>
                <a:latin typeface="Arial"/>
                <a:ea typeface="Arial"/>
                <a:cs typeface="Arial"/>
                <a:sym typeface="Arial"/>
              </a:endParaRPr>
            </a:p>
          </p:txBody>
        </p:sp>
        <p:sp>
          <p:nvSpPr>
            <p:cNvPr id="5029" name="Google Shape;5029;p16"/>
            <p:cNvSpPr txBox="1"/>
            <p:nvPr/>
          </p:nvSpPr>
          <p:spPr>
            <a:xfrm>
              <a:off x="9570573" y="3696418"/>
              <a:ext cx="1176298" cy="46166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rgbClr val="000001"/>
                  </a:solidFill>
                  <a:latin typeface="Arial"/>
                  <a:ea typeface="Arial"/>
                  <a:cs typeface="Arial"/>
                  <a:sym typeface="Arial"/>
                </a:rPr>
                <a:t>80GPU Reserved</a:t>
              </a:r>
              <a:endParaRPr/>
            </a:p>
          </p:txBody>
        </p:sp>
      </p:grpSp>
      <p:sp>
        <p:nvSpPr>
          <p:cNvPr id="5030" name="Google Shape;5030;p16"/>
          <p:cNvSpPr/>
          <p:nvPr/>
        </p:nvSpPr>
        <p:spPr>
          <a:xfrm>
            <a:off x="7042668" y="1483340"/>
            <a:ext cx="3320532" cy="362488"/>
          </a:xfrm>
          <a:prstGeom prst="roundRect">
            <a:avLst>
              <a:gd name="adj" fmla="val 50000"/>
            </a:avLst>
          </a:prstGeom>
          <a:solidFill>
            <a:srgbClr val="0193C2"/>
          </a:solidFill>
          <a:ln>
            <a:noFill/>
          </a:ln>
        </p:spPr>
        <p:txBody>
          <a:bodyPr spcFirstLastPara="1" wrap="square" lIns="91325" tIns="91325" rIns="91325" bIns="91325" anchor="ctr" anchorCtr="0">
            <a:noAutofit/>
          </a:bodyPr>
          <a:lstStyle/>
          <a:p>
            <a:pPr marL="0" marR="0" lvl="0" indent="0" algn="ctr" rtl="0">
              <a:lnSpc>
                <a:spcPct val="90000"/>
              </a:lnSpc>
              <a:spcBef>
                <a:spcPts val="0"/>
              </a:spcBef>
              <a:spcAft>
                <a:spcPts val="0"/>
              </a:spcAft>
              <a:buNone/>
            </a:pPr>
            <a:r>
              <a:rPr lang="en-US" sz="1200">
                <a:solidFill>
                  <a:srgbClr val="FFFFFF"/>
                </a:solidFill>
                <a:latin typeface="Arial"/>
                <a:ea typeface="Arial"/>
                <a:cs typeface="Arial"/>
                <a:sym typeface="Arial"/>
              </a:rPr>
              <a:t>Accelerate Performance</a:t>
            </a:r>
            <a:endParaRPr/>
          </a:p>
        </p:txBody>
      </p:sp>
      <p:sp>
        <p:nvSpPr>
          <p:cNvPr id="5031" name="Google Shape;5031;p16"/>
          <p:cNvSpPr/>
          <p:nvPr/>
        </p:nvSpPr>
        <p:spPr>
          <a:xfrm>
            <a:off x="506416" y="1586600"/>
            <a:ext cx="1296941" cy="1296941"/>
          </a:xfrm>
          <a:prstGeom prst="ellipse">
            <a:avLst/>
          </a:prstGeom>
          <a:gradFill>
            <a:gsLst>
              <a:gs pos="0">
                <a:schemeClr val="accent2"/>
              </a:gs>
              <a:gs pos="100000">
                <a:schemeClr val="accent5"/>
              </a:gs>
            </a:gsLst>
            <a:lin ang="2700000" scaled="0"/>
          </a:gradFill>
          <a:ln>
            <a:noFill/>
          </a:ln>
          <a:effectLst>
            <a:outerShdw sx="120000" sy="120000" algn="ctr" rotWithShape="0">
              <a:schemeClr val="accent5">
                <a:alpha val="23921"/>
              </a:schemeClr>
            </a:outerShdw>
          </a:effectLst>
        </p:spPr>
        <p:txBody>
          <a:bodyPr spcFirstLastPara="1" wrap="square" lIns="365750" tIns="91425" rIns="91425" bIns="91425" anchor="ctr" anchorCtr="0">
            <a:noAutofit/>
          </a:bodyPr>
          <a:lstStyle/>
          <a:p>
            <a:pPr marL="0" marR="0" lvl="0" indent="0" algn="l" rtl="0">
              <a:lnSpc>
                <a:spcPct val="80000"/>
              </a:lnSpc>
              <a:spcBef>
                <a:spcPts val="0"/>
              </a:spcBef>
              <a:spcAft>
                <a:spcPts val="0"/>
              </a:spcAft>
              <a:buNone/>
            </a:pPr>
            <a:endParaRPr sz="1600">
              <a:solidFill>
                <a:srgbClr val="041032"/>
              </a:solidFill>
              <a:latin typeface="Arial"/>
              <a:ea typeface="Arial"/>
              <a:cs typeface="Arial"/>
              <a:sym typeface="Arial"/>
            </a:endParaRPr>
          </a:p>
        </p:txBody>
      </p:sp>
      <p:pic>
        <p:nvPicPr>
          <p:cNvPr id="5032" name="Google Shape;5032;p16"/>
          <p:cNvPicPr preferRelativeResize="0"/>
          <p:nvPr/>
        </p:nvPicPr>
        <p:blipFill rotWithShape="1">
          <a:blip r:embed="rId5">
            <a:alphaModFix/>
          </a:blip>
          <a:srcRect/>
          <a:stretch/>
        </p:blipFill>
        <p:spPr>
          <a:xfrm>
            <a:off x="654890" y="1750635"/>
            <a:ext cx="999992" cy="9999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37"/>
        <p:cNvGrpSpPr/>
        <p:nvPr/>
      </p:nvGrpSpPr>
      <p:grpSpPr>
        <a:xfrm>
          <a:off x="0" y="0"/>
          <a:ext cx="0" cy="0"/>
          <a:chOff x="0" y="0"/>
          <a:chExt cx="0" cy="0"/>
        </a:xfrm>
      </p:grpSpPr>
      <p:sp>
        <p:nvSpPr>
          <p:cNvPr id="5038" name="Google Shape;5038;p1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Patch vSphere Clusters Faster and Less Disruptively</a:t>
            </a:r>
            <a:endParaRPr/>
          </a:p>
        </p:txBody>
      </p:sp>
      <p:sp>
        <p:nvSpPr>
          <p:cNvPr id="5039" name="Google Shape;5039;p1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Live Patch even more of ESX</a:t>
            </a:r>
            <a:endParaRPr/>
          </a:p>
          <a:p>
            <a:pPr marL="0" lvl="0" indent="0" algn="l" rtl="0">
              <a:lnSpc>
                <a:spcPct val="100000"/>
              </a:lnSpc>
              <a:spcBef>
                <a:spcPts val="1200"/>
              </a:spcBef>
              <a:spcAft>
                <a:spcPts val="0"/>
              </a:spcAft>
              <a:buSzPts val="1800"/>
              <a:buNone/>
            </a:pPr>
            <a:endParaRPr/>
          </a:p>
        </p:txBody>
      </p:sp>
      <p:sp>
        <p:nvSpPr>
          <p:cNvPr id="5040" name="Google Shape;5040;p17"/>
          <p:cNvSpPr txBox="1">
            <a:spLocks noGrp="1"/>
          </p:cNvSpPr>
          <p:nvPr>
            <p:ph type="body" idx="2"/>
          </p:nvPr>
        </p:nvSpPr>
        <p:spPr>
          <a:xfrm>
            <a:off x="9294812" y="1609531"/>
            <a:ext cx="2894013" cy="4572000"/>
          </a:xfrm>
          <a:prstGeom prst="rect">
            <a:avLst/>
          </a:prstGeom>
          <a:solidFill>
            <a:srgbClr val="F4F8FA"/>
          </a:solidFill>
          <a:ln>
            <a:noFill/>
          </a:ln>
        </p:spPr>
        <p:txBody>
          <a:bodyPr spcFirstLastPara="1" wrap="square" lIns="274300" tIns="457200" rIns="457200" bIns="457200" anchor="t" anchorCtr="0">
            <a:noAutofit/>
          </a:bodyPr>
          <a:lstStyle/>
          <a:p>
            <a:pPr marL="0" lvl="0" indent="0" algn="l" rtl="0">
              <a:lnSpc>
                <a:spcPct val="100000"/>
              </a:lnSpc>
              <a:spcBef>
                <a:spcPts val="0"/>
              </a:spcBef>
              <a:spcAft>
                <a:spcPts val="0"/>
              </a:spcAft>
              <a:buSzPts val="1440"/>
              <a:buNone/>
            </a:pPr>
            <a:r>
              <a:rPr lang="en-US"/>
              <a:t>Live Patch vmkernel, user-space and NSX components</a:t>
            </a:r>
            <a:endParaRPr/>
          </a:p>
          <a:p>
            <a:pPr marL="0" lvl="0" indent="0" algn="l" rtl="0">
              <a:lnSpc>
                <a:spcPct val="100000"/>
              </a:lnSpc>
              <a:spcBef>
                <a:spcPts val="1200"/>
              </a:spcBef>
              <a:spcAft>
                <a:spcPts val="0"/>
              </a:spcAft>
              <a:buSzPts val="1440"/>
              <a:buNone/>
            </a:pPr>
            <a:r>
              <a:rPr lang="en-US"/>
              <a:t>ESX service restarts required (non-disruptive)</a:t>
            </a:r>
            <a:endParaRPr/>
          </a:p>
          <a:p>
            <a:pPr marL="0" lvl="0" indent="0" algn="l" rtl="0">
              <a:lnSpc>
                <a:spcPct val="100000"/>
              </a:lnSpc>
              <a:spcBef>
                <a:spcPts val="1200"/>
              </a:spcBef>
              <a:spcAft>
                <a:spcPts val="0"/>
              </a:spcAft>
              <a:buSzPts val="1440"/>
              <a:buNone/>
            </a:pPr>
            <a:r>
              <a:rPr lang="en-US"/>
              <a:t>Fast-Suspend-Resume remediates VMs</a:t>
            </a:r>
            <a:endParaRPr/>
          </a:p>
          <a:p>
            <a:pPr marL="0" lvl="0" indent="0" algn="l" rtl="0">
              <a:lnSpc>
                <a:spcPct val="100000"/>
              </a:lnSpc>
              <a:spcBef>
                <a:spcPts val="1200"/>
              </a:spcBef>
              <a:spcAft>
                <a:spcPts val="0"/>
              </a:spcAft>
              <a:buSzPts val="1440"/>
              <a:buNone/>
            </a:pPr>
            <a:r>
              <a:rPr lang="en-US" b="1">
                <a:solidFill>
                  <a:schemeClr val="accent2"/>
                </a:solidFill>
              </a:rPr>
              <a:t>No Evacuation</a:t>
            </a:r>
            <a:r>
              <a:rPr lang="en-US" b="1"/>
              <a:t>, </a:t>
            </a:r>
            <a:r>
              <a:rPr lang="en-US" b="1">
                <a:solidFill>
                  <a:schemeClr val="accent2"/>
                </a:solidFill>
              </a:rPr>
              <a:t>VMs stay running</a:t>
            </a:r>
            <a:endParaRPr/>
          </a:p>
          <a:p>
            <a:pPr marL="0" lvl="0" indent="0" algn="l" rtl="0">
              <a:lnSpc>
                <a:spcPct val="100000"/>
              </a:lnSpc>
              <a:spcBef>
                <a:spcPts val="0"/>
              </a:spcBef>
              <a:spcAft>
                <a:spcPts val="0"/>
              </a:spcAft>
              <a:buSzPts val="1620"/>
              <a:buNone/>
            </a:pPr>
            <a:endParaRPr/>
          </a:p>
        </p:txBody>
      </p:sp>
      <p:pic>
        <p:nvPicPr>
          <p:cNvPr id="5041" name="Google Shape;5041;p17"/>
          <p:cNvPicPr preferRelativeResize="0"/>
          <p:nvPr/>
        </p:nvPicPr>
        <p:blipFill rotWithShape="1">
          <a:blip r:embed="rId3">
            <a:alphaModFix/>
          </a:blip>
          <a:srcRect/>
          <a:stretch/>
        </p:blipFill>
        <p:spPr>
          <a:xfrm>
            <a:off x="3800387" y="5122329"/>
            <a:ext cx="1049871" cy="1049871"/>
          </a:xfrm>
          <a:prstGeom prst="rect">
            <a:avLst/>
          </a:prstGeom>
          <a:noFill/>
          <a:ln>
            <a:noFill/>
          </a:ln>
        </p:spPr>
      </p:pic>
      <p:sp>
        <p:nvSpPr>
          <p:cNvPr id="5042" name="Google Shape;5042;p17"/>
          <p:cNvSpPr/>
          <p:nvPr/>
        </p:nvSpPr>
        <p:spPr>
          <a:xfrm>
            <a:off x="592866" y="3576916"/>
            <a:ext cx="7398303" cy="145624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ESX</a:t>
            </a:r>
            <a:endParaRPr sz="1000" b="0" i="0" u="none" strike="noStrike" cap="none">
              <a:solidFill>
                <a:srgbClr val="000000"/>
              </a:solidFill>
              <a:latin typeface="Arial"/>
              <a:ea typeface="Arial"/>
              <a:cs typeface="Arial"/>
              <a:sym typeface="Arial"/>
            </a:endParaRPr>
          </a:p>
        </p:txBody>
      </p:sp>
      <p:sp>
        <p:nvSpPr>
          <p:cNvPr id="5043" name="Google Shape;5043;p17"/>
          <p:cNvSpPr/>
          <p:nvPr/>
        </p:nvSpPr>
        <p:spPr>
          <a:xfrm>
            <a:off x="825949" y="3850340"/>
            <a:ext cx="1570412" cy="685276"/>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98C7"/>
              </a:buClr>
              <a:buSzPts val="1600"/>
              <a:buFont typeface="Arial"/>
              <a:buNone/>
            </a:pPr>
            <a:r>
              <a:rPr lang="en-US" sz="1600" b="0" i="0" u="none" strike="noStrike" cap="none">
                <a:solidFill>
                  <a:srgbClr val="0098C7"/>
                </a:solidFill>
                <a:latin typeface="Arial"/>
                <a:ea typeface="Arial"/>
                <a:cs typeface="Arial"/>
                <a:sym typeface="Arial"/>
              </a:rPr>
              <a:t>vmkernel</a:t>
            </a:r>
            <a:endParaRPr sz="1000" b="0" i="0" u="none" strike="noStrike" cap="none">
              <a:solidFill>
                <a:srgbClr val="0098C7"/>
              </a:solidFill>
              <a:latin typeface="Arial"/>
              <a:ea typeface="Arial"/>
              <a:cs typeface="Arial"/>
              <a:sym typeface="Arial"/>
            </a:endParaRPr>
          </a:p>
        </p:txBody>
      </p:sp>
      <p:sp>
        <p:nvSpPr>
          <p:cNvPr id="5044" name="Google Shape;5044;p17"/>
          <p:cNvSpPr/>
          <p:nvPr/>
        </p:nvSpPr>
        <p:spPr>
          <a:xfrm>
            <a:off x="2629444" y="3854822"/>
            <a:ext cx="1570412" cy="685276"/>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98C7"/>
              </a:buClr>
              <a:buSzPts val="1600"/>
              <a:buFont typeface="Arial"/>
              <a:buNone/>
            </a:pPr>
            <a:r>
              <a:rPr lang="en-US" sz="1600" b="0" i="0" u="none" strike="noStrike" cap="none">
                <a:solidFill>
                  <a:srgbClr val="0098C7"/>
                </a:solidFill>
                <a:latin typeface="Arial"/>
                <a:ea typeface="Arial"/>
                <a:cs typeface="Arial"/>
                <a:sym typeface="Arial"/>
              </a:rPr>
              <a:t>user-space</a:t>
            </a:r>
            <a:endParaRPr sz="1000" b="0" i="0" u="none" strike="noStrike" cap="none">
              <a:solidFill>
                <a:srgbClr val="0098C7"/>
              </a:solidFill>
              <a:latin typeface="Arial"/>
              <a:ea typeface="Arial"/>
              <a:cs typeface="Arial"/>
              <a:sym typeface="Arial"/>
            </a:endParaRPr>
          </a:p>
        </p:txBody>
      </p:sp>
      <p:sp>
        <p:nvSpPr>
          <p:cNvPr id="5045" name="Google Shape;5045;p17"/>
          <p:cNvSpPr/>
          <p:nvPr/>
        </p:nvSpPr>
        <p:spPr>
          <a:xfrm>
            <a:off x="4432939" y="3852581"/>
            <a:ext cx="1570412" cy="685276"/>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98C7"/>
              </a:buClr>
              <a:buSzPts val="1600"/>
              <a:buFont typeface="Arial"/>
              <a:buNone/>
            </a:pPr>
            <a:r>
              <a:rPr lang="en-US" sz="1600" b="0" i="0" u="none" strike="noStrike" cap="none">
                <a:solidFill>
                  <a:srgbClr val="0098C7"/>
                </a:solidFill>
                <a:latin typeface="Arial"/>
                <a:ea typeface="Arial"/>
                <a:cs typeface="Arial"/>
                <a:sym typeface="Arial"/>
              </a:rPr>
              <a:t>   nsx</a:t>
            </a:r>
            <a:endParaRPr sz="1000" b="0" i="0" u="none" strike="noStrike" cap="none">
              <a:solidFill>
                <a:srgbClr val="0098C7"/>
              </a:solidFill>
              <a:latin typeface="Arial"/>
              <a:ea typeface="Arial"/>
              <a:cs typeface="Arial"/>
              <a:sym typeface="Arial"/>
            </a:endParaRPr>
          </a:p>
        </p:txBody>
      </p:sp>
      <p:sp>
        <p:nvSpPr>
          <p:cNvPr id="5046" name="Google Shape;5046;p17"/>
          <p:cNvSpPr/>
          <p:nvPr/>
        </p:nvSpPr>
        <p:spPr>
          <a:xfrm>
            <a:off x="6212054" y="3850340"/>
            <a:ext cx="1570412" cy="685276"/>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98C7"/>
              </a:buClr>
              <a:buSzPts val="1600"/>
              <a:buFont typeface="Arial"/>
              <a:buNone/>
            </a:pPr>
            <a:r>
              <a:rPr lang="en-US" sz="1600" b="0" i="0" u="none" strike="noStrike" cap="none">
                <a:solidFill>
                  <a:srgbClr val="0098C7"/>
                </a:solidFill>
                <a:latin typeface="Arial"/>
                <a:ea typeface="Arial"/>
                <a:cs typeface="Arial"/>
                <a:sym typeface="Arial"/>
              </a:rPr>
              <a:t>   vmx</a:t>
            </a:r>
            <a:endParaRPr sz="1000" b="0" i="0" u="none" strike="noStrike" cap="none">
              <a:solidFill>
                <a:srgbClr val="0098C7"/>
              </a:solidFill>
              <a:latin typeface="Arial"/>
              <a:ea typeface="Arial"/>
              <a:cs typeface="Arial"/>
              <a:sym typeface="Arial"/>
            </a:endParaRPr>
          </a:p>
        </p:txBody>
      </p:sp>
      <p:pic>
        <p:nvPicPr>
          <p:cNvPr id="5047" name="Google Shape;5047;p17" descr="Lightning bolt with solid fill"/>
          <p:cNvPicPr preferRelativeResize="0"/>
          <p:nvPr/>
        </p:nvPicPr>
        <p:blipFill rotWithShape="1">
          <a:blip r:embed="rId4">
            <a:alphaModFix/>
          </a:blip>
          <a:srcRect/>
          <a:stretch/>
        </p:blipFill>
        <p:spPr>
          <a:xfrm>
            <a:off x="3565781" y="3855507"/>
            <a:ext cx="680109" cy="680109"/>
          </a:xfrm>
          <a:prstGeom prst="rect">
            <a:avLst/>
          </a:prstGeom>
          <a:noFill/>
          <a:ln>
            <a:noFill/>
          </a:ln>
        </p:spPr>
      </p:pic>
      <p:pic>
        <p:nvPicPr>
          <p:cNvPr id="5048" name="Google Shape;5048;p17" descr="Lightning bolt with solid fill"/>
          <p:cNvPicPr preferRelativeResize="0"/>
          <p:nvPr/>
        </p:nvPicPr>
        <p:blipFill rotWithShape="1">
          <a:blip r:embed="rId4">
            <a:alphaModFix/>
          </a:blip>
          <a:srcRect/>
          <a:stretch/>
        </p:blipFill>
        <p:spPr>
          <a:xfrm>
            <a:off x="5344896" y="3855507"/>
            <a:ext cx="680109" cy="680109"/>
          </a:xfrm>
          <a:prstGeom prst="rect">
            <a:avLst/>
          </a:prstGeom>
          <a:noFill/>
          <a:ln>
            <a:noFill/>
          </a:ln>
        </p:spPr>
      </p:pic>
      <p:pic>
        <p:nvPicPr>
          <p:cNvPr id="5049" name="Google Shape;5049;p17" descr="Lightning bolt with solid fill"/>
          <p:cNvPicPr preferRelativeResize="0"/>
          <p:nvPr/>
        </p:nvPicPr>
        <p:blipFill rotWithShape="1">
          <a:blip r:embed="rId4">
            <a:alphaModFix/>
          </a:blip>
          <a:srcRect/>
          <a:stretch/>
        </p:blipFill>
        <p:spPr>
          <a:xfrm>
            <a:off x="7206708" y="3855507"/>
            <a:ext cx="680109" cy="680109"/>
          </a:xfrm>
          <a:prstGeom prst="rect">
            <a:avLst/>
          </a:prstGeom>
          <a:noFill/>
          <a:ln>
            <a:noFill/>
          </a:ln>
        </p:spPr>
      </p:pic>
      <p:grpSp>
        <p:nvGrpSpPr>
          <p:cNvPr id="5050" name="Google Shape;5050;p17"/>
          <p:cNvGrpSpPr/>
          <p:nvPr/>
        </p:nvGrpSpPr>
        <p:grpSpPr>
          <a:xfrm>
            <a:off x="1138313" y="2201423"/>
            <a:ext cx="6215154" cy="1040389"/>
            <a:chOff x="1222338" y="2845811"/>
            <a:chExt cx="6215154" cy="1040389"/>
          </a:xfrm>
        </p:grpSpPr>
        <p:grpSp>
          <p:nvGrpSpPr>
            <p:cNvPr id="5051" name="Google Shape;5051;p17"/>
            <p:cNvGrpSpPr/>
            <p:nvPr/>
          </p:nvGrpSpPr>
          <p:grpSpPr>
            <a:xfrm>
              <a:off x="1222338" y="2845811"/>
              <a:ext cx="1040114" cy="1040389"/>
              <a:chOff x="1500244" y="2557731"/>
              <a:chExt cx="1040114" cy="1040389"/>
            </a:xfrm>
          </p:grpSpPr>
          <p:grpSp>
            <p:nvGrpSpPr>
              <p:cNvPr id="5052" name="Google Shape;5052;p17"/>
              <p:cNvGrpSpPr/>
              <p:nvPr/>
            </p:nvGrpSpPr>
            <p:grpSpPr>
              <a:xfrm>
                <a:off x="1500244" y="2704283"/>
                <a:ext cx="896117" cy="893837"/>
                <a:chOff x="1433953" y="2642740"/>
                <a:chExt cx="896117" cy="893837"/>
              </a:xfrm>
            </p:grpSpPr>
            <p:sp>
              <p:nvSpPr>
                <p:cNvPr id="5053" name="Google Shape;5053;p17"/>
                <p:cNvSpPr/>
                <p:nvPr/>
              </p:nvSpPr>
              <p:spPr>
                <a:xfrm>
                  <a:off x="1433953" y="2642740"/>
                  <a:ext cx="896117" cy="89355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54" name="Google Shape;5054;p17"/>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55" name="Google Shape;5055;p17"/>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56" name="Google Shape;5056;p17"/>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5057" name="Google Shape;5057;p17"/>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000000"/>
                  </a:solidFill>
                  <a:latin typeface="Arial"/>
                  <a:ea typeface="Arial"/>
                  <a:cs typeface="Arial"/>
                  <a:sym typeface="Arial"/>
                </a:endParaRPr>
              </a:p>
            </p:txBody>
          </p:sp>
        </p:grpSp>
        <p:grpSp>
          <p:nvGrpSpPr>
            <p:cNvPr id="5058" name="Google Shape;5058;p17"/>
            <p:cNvGrpSpPr/>
            <p:nvPr/>
          </p:nvGrpSpPr>
          <p:grpSpPr>
            <a:xfrm>
              <a:off x="2516098" y="2845811"/>
              <a:ext cx="1040114" cy="1040389"/>
              <a:chOff x="1500244" y="2557731"/>
              <a:chExt cx="1040114" cy="1040389"/>
            </a:xfrm>
          </p:grpSpPr>
          <p:grpSp>
            <p:nvGrpSpPr>
              <p:cNvPr id="5059" name="Google Shape;5059;p17"/>
              <p:cNvGrpSpPr/>
              <p:nvPr/>
            </p:nvGrpSpPr>
            <p:grpSpPr>
              <a:xfrm>
                <a:off x="1500244" y="2704283"/>
                <a:ext cx="896117" cy="893837"/>
                <a:chOff x="1433953" y="2642740"/>
                <a:chExt cx="896117" cy="893837"/>
              </a:xfrm>
            </p:grpSpPr>
            <p:sp>
              <p:nvSpPr>
                <p:cNvPr id="5060" name="Google Shape;5060;p17"/>
                <p:cNvSpPr/>
                <p:nvPr/>
              </p:nvSpPr>
              <p:spPr>
                <a:xfrm>
                  <a:off x="1433953" y="2642740"/>
                  <a:ext cx="896117" cy="89355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61" name="Google Shape;5061;p17"/>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62" name="Google Shape;5062;p17"/>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63" name="Google Shape;5063;p17"/>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5064" name="Google Shape;5064;p17"/>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000000"/>
                  </a:solidFill>
                  <a:latin typeface="Arial"/>
                  <a:ea typeface="Arial"/>
                  <a:cs typeface="Arial"/>
                  <a:sym typeface="Arial"/>
                </a:endParaRPr>
              </a:p>
            </p:txBody>
          </p:sp>
        </p:grpSp>
        <p:grpSp>
          <p:nvGrpSpPr>
            <p:cNvPr id="5065" name="Google Shape;5065;p17"/>
            <p:cNvGrpSpPr/>
            <p:nvPr/>
          </p:nvGrpSpPr>
          <p:grpSpPr>
            <a:xfrm>
              <a:off x="3809858" y="2845811"/>
              <a:ext cx="1040114" cy="1040389"/>
              <a:chOff x="1500244" y="2557731"/>
              <a:chExt cx="1040114" cy="1040389"/>
            </a:xfrm>
          </p:grpSpPr>
          <p:grpSp>
            <p:nvGrpSpPr>
              <p:cNvPr id="5066" name="Google Shape;5066;p17"/>
              <p:cNvGrpSpPr/>
              <p:nvPr/>
            </p:nvGrpSpPr>
            <p:grpSpPr>
              <a:xfrm>
                <a:off x="1500244" y="2704283"/>
                <a:ext cx="896117" cy="893837"/>
                <a:chOff x="1433953" y="2642740"/>
                <a:chExt cx="896117" cy="893837"/>
              </a:xfrm>
            </p:grpSpPr>
            <p:sp>
              <p:nvSpPr>
                <p:cNvPr id="5067" name="Google Shape;5067;p17"/>
                <p:cNvSpPr/>
                <p:nvPr/>
              </p:nvSpPr>
              <p:spPr>
                <a:xfrm>
                  <a:off x="1433953" y="2642740"/>
                  <a:ext cx="896117" cy="89355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68" name="Google Shape;5068;p17"/>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69" name="Google Shape;5069;p17"/>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70" name="Google Shape;5070;p17"/>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5071" name="Google Shape;5071;p17"/>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000000"/>
                  </a:solidFill>
                  <a:latin typeface="Arial"/>
                  <a:ea typeface="Arial"/>
                  <a:cs typeface="Arial"/>
                  <a:sym typeface="Arial"/>
                </a:endParaRPr>
              </a:p>
            </p:txBody>
          </p:sp>
        </p:grpSp>
        <p:grpSp>
          <p:nvGrpSpPr>
            <p:cNvPr id="5072" name="Google Shape;5072;p17"/>
            <p:cNvGrpSpPr/>
            <p:nvPr/>
          </p:nvGrpSpPr>
          <p:grpSpPr>
            <a:xfrm>
              <a:off x="5103618" y="2845811"/>
              <a:ext cx="1040114" cy="1040389"/>
              <a:chOff x="1500244" y="2557731"/>
              <a:chExt cx="1040114" cy="1040389"/>
            </a:xfrm>
          </p:grpSpPr>
          <p:grpSp>
            <p:nvGrpSpPr>
              <p:cNvPr id="5073" name="Google Shape;5073;p17"/>
              <p:cNvGrpSpPr/>
              <p:nvPr/>
            </p:nvGrpSpPr>
            <p:grpSpPr>
              <a:xfrm>
                <a:off x="1500244" y="2704283"/>
                <a:ext cx="896117" cy="893837"/>
                <a:chOff x="1433953" y="2642740"/>
                <a:chExt cx="896117" cy="893837"/>
              </a:xfrm>
            </p:grpSpPr>
            <p:sp>
              <p:nvSpPr>
                <p:cNvPr id="5074" name="Google Shape;5074;p17"/>
                <p:cNvSpPr/>
                <p:nvPr/>
              </p:nvSpPr>
              <p:spPr>
                <a:xfrm>
                  <a:off x="1433953" y="2642740"/>
                  <a:ext cx="896117" cy="89355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75" name="Google Shape;5075;p17"/>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76" name="Google Shape;5076;p17"/>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77" name="Google Shape;5077;p17"/>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5078" name="Google Shape;5078;p17"/>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000000"/>
                  </a:solidFill>
                  <a:latin typeface="Arial"/>
                  <a:ea typeface="Arial"/>
                  <a:cs typeface="Arial"/>
                  <a:sym typeface="Arial"/>
                </a:endParaRPr>
              </a:p>
            </p:txBody>
          </p:sp>
        </p:grpSp>
        <p:grpSp>
          <p:nvGrpSpPr>
            <p:cNvPr id="5079" name="Google Shape;5079;p17"/>
            <p:cNvGrpSpPr/>
            <p:nvPr/>
          </p:nvGrpSpPr>
          <p:grpSpPr>
            <a:xfrm>
              <a:off x="6397378" y="2845811"/>
              <a:ext cx="1040114" cy="1040389"/>
              <a:chOff x="1500244" y="2557731"/>
              <a:chExt cx="1040114" cy="1040389"/>
            </a:xfrm>
          </p:grpSpPr>
          <p:grpSp>
            <p:nvGrpSpPr>
              <p:cNvPr id="5080" name="Google Shape;5080;p17"/>
              <p:cNvGrpSpPr/>
              <p:nvPr/>
            </p:nvGrpSpPr>
            <p:grpSpPr>
              <a:xfrm>
                <a:off x="1500244" y="2704283"/>
                <a:ext cx="896117" cy="893837"/>
                <a:chOff x="1433953" y="2642740"/>
                <a:chExt cx="896117" cy="893837"/>
              </a:xfrm>
            </p:grpSpPr>
            <p:sp>
              <p:nvSpPr>
                <p:cNvPr id="5081" name="Google Shape;5081;p17"/>
                <p:cNvSpPr/>
                <p:nvPr/>
              </p:nvSpPr>
              <p:spPr>
                <a:xfrm>
                  <a:off x="1433953" y="2642740"/>
                  <a:ext cx="896117" cy="89355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82" name="Google Shape;5082;p17"/>
                <p:cNvSpPr/>
                <p:nvPr/>
              </p:nvSpPr>
              <p:spPr>
                <a:xfrm>
                  <a:off x="1433953" y="2642740"/>
                  <a:ext cx="893842" cy="893837"/>
                </a:xfrm>
                <a:custGeom>
                  <a:avLst/>
                  <a:gdLst/>
                  <a:ahLst/>
                  <a:cxnLst/>
                  <a:rect l="l" t="t" r="r" b="b"/>
                  <a:pathLst>
                    <a:path w="713887" h="713886" extrusionOk="0">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83" name="Google Shape;5083;p17"/>
                <p:cNvSpPr/>
                <p:nvPr/>
              </p:nvSpPr>
              <p:spPr>
                <a:xfrm>
                  <a:off x="1702611" y="3036896"/>
                  <a:ext cx="119709" cy="121590"/>
                </a:xfrm>
                <a:custGeom>
                  <a:avLst/>
                  <a:gdLst/>
                  <a:ahLst/>
                  <a:cxnLst/>
                  <a:rect l="l" t="t" r="r" b="b"/>
                  <a:pathLst>
                    <a:path w="95608" h="97111" extrusionOk="0">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84" name="Google Shape;5084;p17"/>
                <p:cNvSpPr/>
                <p:nvPr/>
              </p:nvSpPr>
              <p:spPr>
                <a:xfrm>
                  <a:off x="1858583" y="3034001"/>
                  <a:ext cx="174860" cy="124485"/>
                </a:xfrm>
                <a:custGeom>
                  <a:avLst/>
                  <a:gdLst/>
                  <a:ahLst/>
                  <a:cxnLst/>
                  <a:rect l="l" t="t" r="r" b="b"/>
                  <a:pathLst>
                    <a:path w="139656" h="99423" extrusionOk="0">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5085" name="Google Shape;5085;p17"/>
              <p:cNvSpPr/>
              <p:nvPr/>
            </p:nvSpPr>
            <p:spPr>
              <a:xfrm rot="5400000">
                <a:off x="2247814" y="2557731"/>
                <a:ext cx="292544" cy="292544"/>
              </a:xfrm>
              <a:prstGeom prst="triangle">
                <a:avLst>
                  <a:gd name="adj" fmla="val 50000"/>
                </a:avLst>
              </a:prstGeom>
              <a:solidFill>
                <a:schemeClr val="accent4"/>
              </a:solidFill>
              <a:ln w="25400" cap="flat" cmpd="sng">
                <a:solidFill>
                  <a:srgbClr val="61A60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000000"/>
                  </a:solidFill>
                  <a:latin typeface="Arial"/>
                  <a:ea typeface="Arial"/>
                  <a:cs typeface="Arial"/>
                  <a:sym typeface="Arial"/>
                </a:endParaRPr>
              </a:p>
            </p:txBody>
          </p:sp>
        </p:grpSp>
      </p:grpSp>
      <p:grpSp>
        <p:nvGrpSpPr>
          <p:cNvPr id="5086" name="Google Shape;5086;p17"/>
          <p:cNvGrpSpPr/>
          <p:nvPr/>
        </p:nvGrpSpPr>
        <p:grpSpPr>
          <a:xfrm>
            <a:off x="7694892" y="3385714"/>
            <a:ext cx="383850" cy="382404"/>
            <a:chOff x="8120744" y="5592216"/>
            <a:chExt cx="977998" cy="974339"/>
          </a:xfrm>
        </p:grpSpPr>
        <p:sp>
          <p:nvSpPr>
            <p:cNvPr id="5087" name="Google Shape;5087;p17"/>
            <p:cNvSpPr/>
            <p:nvPr/>
          </p:nvSpPr>
          <p:spPr>
            <a:xfrm>
              <a:off x="8120744" y="5592216"/>
              <a:ext cx="977998" cy="974339"/>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5088" name="Google Shape;5088;p17"/>
            <p:cNvGrpSpPr/>
            <p:nvPr/>
          </p:nvGrpSpPr>
          <p:grpSpPr>
            <a:xfrm>
              <a:off x="8157972" y="5628816"/>
              <a:ext cx="908917" cy="908918"/>
              <a:chOff x="8501734" y="5811486"/>
              <a:chExt cx="794656" cy="794657"/>
            </a:xfrm>
          </p:grpSpPr>
          <p:sp>
            <p:nvSpPr>
              <p:cNvPr id="5089" name="Google Shape;5089;p17"/>
              <p:cNvSpPr/>
              <p:nvPr/>
            </p:nvSpPr>
            <p:spPr>
              <a:xfrm>
                <a:off x="8501734" y="5812976"/>
                <a:ext cx="794656" cy="791684"/>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5090" name="Google Shape;5090;p17"/>
              <p:cNvSpPr/>
              <p:nvPr/>
            </p:nvSpPr>
            <p:spPr>
              <a:xfrm rot="5400000">
                <a:off x="8501743" y="5812972"/>
                <a:ext cx="794657" cy="791684"/>
              </a:xfrm>
              <a:prstGeom prst="rtTriangl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grpSp>
      </p:grpSp>
      <p:pic>
        <p:nvPicPr>
          <p:cNvPr id="5091" name="Google Shape;5091;p17" descr="Lightning bolt with solid fill"/>
          <p:cNvPicPr preferRelativeResize="0"/>
          <p:nvPr/>
        </p:nvPicPr>
        <p:blipFill rotWithShape="1">
          <a:blip r:embed="rId4">
            <a:alphaModFix/>
          </a:blip>
          <a:srcRect/>
          <a:stretch/>
        </p:blipFill>
        <p:spPr>
          <a:xfrm>
            <a:off x="1759293" y="3850340"/>
            <a:ext cx="687517" cy="68751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0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9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4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49"/>
                                        </p:tgtEl>
                                        <p:attrNameLst>
                                          <p:attrName>style.visibility</p:attrName>
                                        </p:attrNameLst>
                                      </p:cBhvr>
                                      <p:to>
                                        <p:strVal val="visible"/>
                                      </p:to>
                                    </p:set>
                                  </p:childTnLst>
                                </p:cTn>
                              </p:par>
                              <p:par>
                                <p:cTn id="15" presetID="10" presetClass="exit" presetSubtype="0" fill="hold" nodeType="withEffect">
                                  <p:stCondLst>
                                    <p:cond delay="0"/>
                                  </p:stCondLst>
                                  <p:childTnLst>
                                    <p:animEffect transition="out" filter="fade">
                                      <p:cBhvr>
                                        <p:cTn id="16" dur="1000"/>
                                        <p:tgtEl>
                                          <p:spTgt spid="5086"/>
                                        </p:tgtEl>
                                      </p:cBhvr>
                                    </p:animEffect>
                                    <p:set>
                                      <p:cBhvr>
                                        <p:cTn id="17" dur="1" fill="hold">
                                          <p:stCondLst>
                                            <p:cond delay="1000"/>
                                          </p:stCondLst>
                                        </p:cTn>
                                        <p:tgtEl>
                                          <p:spTgt spid="50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96"/>
        <p:cNvGrpSpPr/>
        <p:nvPr/>
      </p:nvGrpSpPr>
      <p:grpSpPr>
        <a:xfrm>
          <a:off x="0" y="0"/>
          <a:ext cx="0" cy="0"/>
          <a:chOff x="0" y="0"/>
          <a:chExt cx="0" cy="0"/>
        </a:xfrm>
      </p:grpSpPr>
      <p:sp>
        <p:nvSpPr>
          <p:cNvPr id="5097" name="Google Shape;5097;p1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2800"/>
              <a:buNone/>
            </a:pPr>
            <a:r>
              <a:rPr lang="en-US"/>
              <a:t>Virtualized Hardware Innovations</a:t>
            </a:r>
            <a:endParaRPr/>
          </a:p>
        </p:txBody>
      </p:sp>
      <p:sp>
        <p:nvSpPr>
          <p:cNvPr id="5098" name="Google Shape;5098;p18"/>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Virtual Hardware Version 22</a:t>
            </a:r>
            <a:endParaRPr/>
          </a:p>
        </p:txBody>
      </p:sp>
      <p:grpSp>
        <p:nvGrpSpPr>
          <p:cNvPr id="5099" name="Google Shape;5099;p18"/>
          <p:cNvGrpSpPr/>
          <p:nvPr/>
        </p:nvGrpSpPr>
        <p:grpSpPr>
          <a:xfrm>
            <a:off x="592866" y="1509659"/>
            <a:ext cx="3306703" cy="4350115"/>
            <a:chOff x="619874" y="2244029"/>
            <a:chExt cx="3673941" cy="3352801"/>
          </a:xfrm>
        </p:grpSpPr>
        <p:sp>
          <p:nvSpPr>
            <p:cNvPr id="5100" name="Google Shape;5100;p18"/>
            <p:cNvSpPr/>
            <p:nvPr/>
          </p:nvSpPr>
          <p:spPr>
            <a:xfrm>
              <a:off x="619874" y="2244029"/>
              <a:ext cx="3673941" cy="3352801"/>
            </a:xfrm>
            <a:prstGeom prst="rect">
              <a:avLst/>
            </a:prstGeom>
            <a:gradFill>
              <a:gsLst>
                <a:gs pos="0">
                  <a:srgbClr val="F4F8FA"/>
                </a:gs>
                <a:gs pos="100000">
                  <a:srgbClr val="F4F8FA">
                    <a:alpha val="0"/>
                  </a:srgbClr>
                </a:gs>
              </a:gsLst>
              <a:lin ang="0" scaled="0"/>
            </a:gradFill>
            <a:ln>
              <a:noFill/>
            </a:ln>
          </p:spPr>
          <p:txBody>
            <a:bodyPr spcFirstLastPara="1" wrap="square" lIns="91400" tIns="45700" rIns="91400" bIns="45700" anchor="t"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u="none" strike="noStrike" cap="none">
                <a:solidFill>
                  <a:srgbClr val="FFFFFF"/>
                </a:solidFill>
                <a:latin typeface="Arial"/>
                <a:ea typeface="Arial"/>
                <a:cs typeface="Arial"/>
                <a:sym typeface="Arial"/>
              </a:endParaRPr>
            </a:p>
          </p:txBody>
        </p:sp>
        <p:cxnSp>
          <p:nvCxnSpPr>
            <p:cNvPr id="5101" name="Google Shape;5101;p18"/>
            <p:cNvCxnSpPr/>
            <p:nvPr/>
          </p:nvCxnSpPr>
          <p:spPr>
            <a:xfrm>
              <a:off x="619875" y="2244029"/>
              <a:ext cx="0" cy="3352801"/>
            </a:xfrm>
            <a:prstGeom prst="straightConnector1">
              <a:avLst/>
            </a:prstGeom>
            <a:noFill/>
            <a:ln w="25400" cap="flat" cmpd="sng">
              <a:solidFill>
                <a:schemeClr val="accent1"/>
              </a:solidFill>
              <a:prstDash val="solid"/>
              <a:miter lim="800000"/>
              <a:headEnd type="none" w="sm" len="sm"/>
              <a:tailEnd type="none" w="sm" len="sm"/>
            </a:ln>
          </p:spPr>
        </p:cxnSp>
      </p:grpSp>
      <p:sp>
        <p:nvSpPr>
          <p:cNvPr id="5102" name="Google Shape;5102;p18"/>
          <p:cNvSpPr txBox="1"/>
          <p:nvPr/>
        </p:nvSpPr>
        <p:spPr>
          <a:xfrm>
            <a:off x="861810" y="1820396"/>
            <a:ext cx="4276337" cy="360098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3F3F3F"/>
              </a:buClr>
              <a:buSzPts val="1800"/>
              <a:buFont typeface="Arial"/>
              <a:buNone/>
            </a:pPr>
            <a:r>
              <a:rPr lang="en-US" sz="1800" u="none" strike="noStrike" cap="none">
                <a:solidFill>
                  <a:srgbClr val="3F3F3F"/>
                </a:solidFill>
                <a:latin typeface="Arial"/>
                <a:ea typeface="Arial"/>
                <a:cs typeface="Arial"/>
                <a:sym typeface="Arial"/>
              </a:rPr>
              <a:t>Up to 960 vCPU </a:t>
            </a:r>
            <a:endParaRPr sz="1800">
              <a:solidFill>
                <a:schemeClr val="dk1"/>
              </a:solidFill>
              <a:latin typeface="Arial"/>
              <a:ea typeface="Arial"/>
              <a:cs typeface="Arial"/>
              <a:sym typeface="Arial"/>
            </a:endParaRPr>
          </a:p>
          <a:p>
            <a:pPr marL="0" marR="0" lvl="0" indent="0" algn="l" rtl="0">
              <a:lnSpc>
                <a:spcPct val="150000"/>
              </a:lnSpc>
              <a:spcBef>
                <a:spcPts val="900"/>
              </a:spcBef>
              <a:spcAft>
                <a:spcPts val="0"/>
              </a:spcAft>
              <a:buClr>
                <a:srgbClr val="3F3F3F"/>
              </a:buClr>
              <a:buSzPts val="1800"/>
              <a:buFont typeface="Arial"/>
              <a:buNone/>
            </a:pPr>
            <a:r>
              <a:rPr lang="en-US" sz="1800" u="none" strike="noStrike" cap="none">
                <a:solidFill>
                  <a:srgbClr val="3F3F3F"/>
                </a:solidFill>
                <a:latin typeface="Arial"/>
                <a:ea typeface="Arial"/>
                <a:cs typeface="Arial"/>
                <a:sym typeface="Arial"/>
              </a:rPr>
              <a:t>Latest CPU support</a:t>
            </a:r>
            <a:endParaRPr sz="1800">
              <a:solidFill>
                <a:schemeClr val="dk1"/>
              </a:solidFill>
              <a:latin typeface="Arial"/>
              <a:ea typeface="Arial"/>
              <a:cs typeface="Arial"/>
              <a:sym typeface="Arial"/>
            </a:endParaRPr>
          </a:p>
          <a:p>
            <a:pPr marL="0" marR="0" lvl="0" indent="0" algn="l" rtl="0">
              <a:lnSpc>
                <a:spcPct val="150000"/>
              </a:lnSpc>
              <a:spcBef>
                <a:spcPts val="900"/>
              </a:spcBef>
              <a:spcAft>
                <a:spcPts val="0"/>
              </a:spcAft>
              <a:buClr>
                <a:srgbClr val="3F3F3F"/>
              </a:buClr>
              <a:buSzPts val="1800"/>
              <a:buFont typeface="Arial"/>
              <a:buNone/>
            </a:pPr>
            <a:r>
              <a:rPr lang="en-US" sz="1800" u="none" strike="noStrike" cap="none">
                <a:solidFill>
                  <a:srgbClr val="3F3F3F"/>
                </a:solidFill>
                <a:latin typeface="Arial"/>
                <a:ea typeface="Arial"/>
                <a:cs typeface="Arial"/>
                <a:sym typeface="Arial"/>
              </a:rPr>
              <a:t>Latest Guest OS support</a:t>
            </a:r>
            <a:endParaRPr sz="1800">
              <a:solidFill>
                <a:schemeClr val="dk1"/>
              </a:solidFill>
              <a:latin typeface="Arial"/>
              <a:ea typeface="Arial"/>
              <a:cs typeface="Arial"/>
              <a:sym typeface="Arial"/>
            </a:endParaRPr>
          </a:p>
          <a:p>
            <a:pPr marL="0" marR="0" lvl="0" indent="0" algn="l" rtl="0">
              <a:lnSpc>
                <a:spcPct val="150000"/>
              </a:lnSpc>
              <a:spcBef>
                <a:spcPts val="900"/>
              </a:spcBef>
              <a:spcAft>
                <a:spcPts val="0"/>
              </a:spcAft>
              <a:buClr>
                <a:srgbClr val="3F3F3F"/>
              </a:buClr>
              <a:buSzPts val="1800"/>
              <a:buFont typeface="Arial"/>
              <a:buNone/>
            </a:pPr>
            <a:r>
              <a:rPr lang="en-US" sz="1800" u="none" strike="noStrike" cap="none">
                <a:solidFill>
                  <a:srgbClr val="3F3F3F"/>
                </a:solidFill>
                <a:latin typeface="Arial"/>
                <a:ea typeface="Arial"/>
                <a:cs typeface="Arial"/>
                <a:sym typeface="Arial"/>
              </a:rPr>
              <a:t>AMD SEV-SNP and Intel TDX</a:t>
            </a:r>
            <a:endParaRPr sz="1800">
              <a:solidFill>
                <a:schemeClr val="dk1"/>
              </a:solidFill>
              <a:latin typeface="Arial"/>
              <a:ea typeface="Arial"/>
              <a:cs typeface="Arial"/>
              <a:sym typeface="Arial"/>
            </a:endParaRPr>
          </a:p>
          <a:p>
            <a:pPr marL="0" marR="0" lvl="0" indent="0" algn="l" rtl="0">
              <a:lnSpc>
                <a:spcPct val="150000"/>
              </a:lnSpc>
              <a:spcBef>
                <a:spcPts val="900"/>
              </a:spcBef>
              <a:spcAft>
                <a:spcPts val="0"/>
              </a:spcAft>
              <a:buClr>
                <a:srgbClr val="3F3F3F"/>
              </a:buClr>
              <a:buSzPts val="1800"/>
              <a:buFont typeface="Arial"/>
              <a:buNone/>
            </a:pPr>
            <a:r>
              <a:rPr lang="en-US" sz="1800">
                <a:solidFill>
                  <a:srgbClr val="3F3F3F"/>
                </a:solidFill>
                <a:latin typeface="Arial"/>
                <a:ea typeface="Arial"/>
                <a:cs typeface="Arial"/>
                <a:sym typeface="Arial"/>
              </a:rPr>
              <a:t>TPM Spec 2.0 Rev 1.59</a:t>
            </a:r>
            <a:endParaRPr sz="1800">
              <a:solidFill>
                <a:schemeClr val="dk1"/>
              </a:solidFill>
              <a:latin typeface="Arial"/>
              <a:ea typeface="Arial"/>
              <a:cs typeface="Arial"/>
              <a:sym typeface="Arial"/>
            </a:endParaRPr>
          </a:p>
          <a:p>
            <a:pPr marL="0" marR="0" lvl="0" indent="0" algn="l" rtl="0">
              <a:lnSpc>
                <a:spcPct val="150000"/>
              </a:lnSpc>
              <a:spcBef>
                <a:spcPts val="900"/>
              </a:spcBef>
              <a:spcAft>
                <a:spcPts val="0"/>
              </a:spcAft>
              <a:buClr>
                <a:srgbClr val="3F3F3F"/>
              </a:buClr>
              <a:buSzPts val="1800"/>
              <a:buFont typeface="Arial"/>
              <a:buNone/>
            </a:pPr>
            <a:r>
              <a:rPr lang="en-US" sz="1800" u="none" strike="noStrike" cap="none">
                <a:solidFill>
                  <a:srgbClr val="3F3F3F"/>
                </a:solidFill>
                <a:latin typeface="Arial"/>
                <a:ea typeface="Arial"/>
                <a:cs typeface="Arial"/>
                <a:sym typeface="Arial"/>
              </a:rPr>
              <a:t>New Guest Customization APIs</a:t>
            </a:r>
            <a:endParaRPr sz="1800">
              <a:solidFill>
                <a:schemeClr val="dk1"/>
              </a:solidFill>
              <a:latin typeface="Arial"/>
              <a:ea typeface="Arial"/>
              <a:cs typeface="Arial"/>
              <a:sym typeface="Arial"/>
            </a:endParaRPr>
          </a:p>
          <a:p>
            <a:pPr marL="0" marR="0" lvl="0" indent="0" algn="l" rtl="0">
              <a:lnSpc>
                <a:spcPct val="150000"/>
              </a:lnSpc>
              <a:spcBef>
                <a:spcPts val="900"/>
              </a:spcBef>
              <a:spcAft>
                <a:spcPts val="0"/>
              </a:spcAft>
              <a:buClr>
                <a:srgbClr val="3F3F3F"/>
              </a:buClr>
              <a:buSzPts val="1800"/>
              <a:buFont typeface="Arial"/>
              <a:buNone/>
            </a:pPr>
            <a:r>
              <a:rPr lang="en-US" sz="1800">
                <a:solidFill>
                  <a:srgbClr val="3F3F3F"/>
                </a:solidFill>
                <a:latin typeface="Arial"/>
                <a:ea typeface="Arial"/>
                <a:cs typeface="Arial"/>
                <a:sym typeface="Arial"/>
              </a:rPr>
              <a:t>Virtual </a:t>
            </a:r>
            <a:r>
              <a:rPr lang="en-US" sz="1800" u="none" strike="noStrike" cap="none">
                <a:solidFill>
                  <a:srgbClr val="3F3F3F"/>
                </a:solidFill>
                <a:latin typeface="Arial"/>
                <a:ea typeface="Arial"/>
                <a:cs typeface="Arial"/>
                <a:sym typeface="Arial"/>
              </a:rPr>
              <a:t>NVMe namespace write protection </a:t>
            </a:r>
            <a:endParaRPr sz="1800">
              <a:solidFill>
                <a:schemeClr val="dk1"/>
              </a:solidFill>
              <a:latin typeface="Arial"/>
              <a:ea typeface="Arial"/>
              <a:cs typeface="Arial"/>
              <a:sym typeface="Arial"/>
            </a:endParaRPr>
          </a:p>
        </p:txBody>
      </p:sp>
      <p:grpSp>
        <p:nvGrpSpPr>
          <p:cNvPr id="5103" name="Google Shape;5103;p18"/>
          <p:cNvGrpSpPr/>
          <p:nvPr/>
        </p:nvGrpSpPr>
        <p:grpSpPr>
          <a:xfrm>
            <a:off x="7812911" y="2860077"/>
            <a:ext cx="899636" cy="899636"/>
            <a:chOff x="7834175" y="3095244"/>
            <a:chExt cx="600836" cy="600837"/>
          </a:xfrm>
        </p:grpSpPr>
        <p:sp>
          <p:nvSpPr>
            <p:cNvPr id="5104" name="Google Shape;5104;p18"/>
            <p:cNvSpPr/>
            <p:nvPr/>
          </p:nvSpPr>
          <p:spPr>
            <a:xfrm>
              <a:off x="7834175" y="3095244"/>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u="none" strike="noStrike" cap="none">
                <a:solidFill>
                  <a:srgbClr val="717074"/>
                </a:solidFill>
                <a:latin typeface="Arial"/>
                <a:ea typeface="Arial"/>
                <a:cs typeface="Arial"/>
                <a:sym typeface="Arial"/>
              </a:endParaRPr>
            </a:p>
          </p:txBody>
        </p:sp>
        <p:sp>
          <p:nvSpPr>
            <p:cNvPr id="5105" name="Google Shape;5105;p18"/>
            <p:cNvSpPr/>
            <p:nvPr/>
          </p:nvSpPr>
          <p:spPr>
            <a:xfrm>
              <a:off x="8013793" y="3360245"/>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u="none" strike="noStrike" cap="none">
                <a:solidFill>
                  <a:srgbClr val="717074"/>
                </a:solidFill>
                <a:latin typeface="Arial"/>
                <a:ea typeface="Arial"/>
                <a:cs typeface="Arial"/>
                <a:sym typeface="Arial"/>
              </a:endParaRPr>
            </a:p>
          </p:txBody>
        </p:sp>
        <p:sp>
          <p:nvSpPr>
            <p:cNvPr id="5106" name="Google Shape;5106;p18"/>
            <p:cNvSpPr/>
            <p:nvPr/>
          </p:nvSpPr>
          <p:spPr>
            <a:xfrm>
              <a:off x="8117517" y="3358348"/>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799"/>
                <a:buFont typeface="Arial"/>
                <a:buNone/>
              </a:pPr>
              <a:endParaRPr sz="1799" u="none" strike="noStrike" cap="none">
                <a:solidFill>
                  <a:srgbClr val="717074"/>
                </a:solidFill>
                <a:latin typeface="Arial"/>
                <a:ea typeface="Arial"/>
                <a:cs typeface="Arial"/>
                <a:sym typeface="Arial"/>
              </a:endParaRPr>
            </a:p>
          </p:txBody>
        </p:sp>
      </p:grpSp>
      <p:grpSp>
        <p:nvGrpSpPr>
          <p:cNvPr id="5107" name="Google Shape;5107;p18"/>
          <p:cNvGrpSpPr/>
          <p:nvPr/>
        </p:nvGrpSpPr>
        <p:grpSpPr>
          <a:xfrm>
            <a:off x="6103377" y="3105960"/>
            <a:ext cx="1647395" cy="428513"/>
            <a:chOff x="7724775" y="2670296"/>
            <a:chExt cx="1647824" cy="428625"/>
          </a:xfrm>
        </p:grpSpPr>
        <p:cxnSp>
          <p:nvCxnSpPr>
            <p:cNvPr id="5108" name="Google Shape;5108;p18"/>
            <p:cNvCxnSpPr/>
            <p:nvPr/>
          </p:nvCxnSpPr>
          <p:spPr>
            <a:xfrm rot="10800000" flipH="1">
              <a:off x="7724775" y="2670296"/>
              <a:ext cx="428625" cy="428625"/>
            </a:xfrm>
            <a:prstGeom prst="straightConnector1">
              <a:avLst/>
            </a:prstGeom>
            <a:noFill/>
            <a:ln w="25400" cap="flat" cmpd="sng">
              <a:solidFill>
                <a:schemeClr val="accent2"/>
              </a:solidFill>
              <a:prstDash val="dash"/>
              <a:miter lim="800000"/>
              <a:headEnd type="none" w="sm" len="sm"/>
              <a:tailEnd type="none" w="sm" len="sm"/>
            </a:ln>
          </p:spPr>
        </p:cxnSp>
        <p:cxnSp>
          <p:nvCxnSpPr>
            <p:cNvPr id="5109" name="Google Shape;5109;p18"/>
            <p:cNvCxnSpPr/>
            <p:nvPr/>
          </p:nvCxnSpPr>
          <p:spPr>
            <a:xfrm>
              <a:off x="8143874" y="2670310"/>
              <a:ext cx="1228725" cy="0"/>
            </a:xfrm>
            <a:prstGeom prst="straightConnector1">
              <a:avLst/>
            </a:prstGeom>
            <a:noFill/>
            <a:ln w="25400" cap="flat" cmpd="sng">
              <a:solidFill>
                <a:schemeClr val="accent2"/>
              </a:solidFill>
              <a:prstDash val="dash"/>
              <a:miter lim="800000"/>
              <a:headEnd type="none" w="sm" len="sm"/>
              <a:tailEnd type="none" w="sm" len="sm"/>
            </a:ln>
          </p:spPr>
        </p:cxnSp>
      </p:grpSp>
      <p:cxnSp>
        <p:nvCxnSpPr>
          <p:cNvPr id="5110" name="Google Shape;5110;p18"/>
          <p:cNvCxnSpPr/>
          <p:nvPr/>
        </p:nvCxnSpPr>
        <p:spPr>
          <a:xfrm>
            <a:off x="8262729" y="3807326"/>
            <a:ext cx="0" cy="542784"/>
          </a:xfrm>
          <a:prstGeom prst="straightConnector1">
            <a:avLst/>
          </a:prstGeom>
          <a:noFill/>
          <a:ln w="25400" cap="flat" cmpd="sng">
            <a:solidFill>
              <a:schemeClr val="accent2"/>
            </a:solidFill>
            <a:prstDash val="solid"/>
            <a:miter lim="800000"/>
            <a:headEnd type="none" w="sm" len="sm"/>
            <a:tailEnd type="oval" w="med" len="med"/>
          </a:ln>
        </p:spPr>
      </p:cxnSp>
      <p:sp>
        <p:nvSpPr>
          <p:cNvPr id="5111" name="Google Shape;5111;p18"/>
          <p:cNvSpPr/>
          <p:nvPr/>
        </p:nvSpPr>
        <p:spPr>
          <a:xfrm>
            <a:off x="8760160" y="2626534"/>
            <a:ext cx="647531" cy="685621"/>
          </a:xfrm>
          <a:custGeom>
            <a:avLst/>
            <a:gdLst/>
            <a:ahLst/>
            <a:cxnLst/>
            <a:rect l="l" t="t" r="r" b="b"/>
            <a:pathLst>
              <a:path w="647700" h="685800" extrusionOk="0">
                <a:moveTo>
                  <a:pt x="0" y="685800"/>
                </a:moveTo>
                <a:lnTo>
                  <a:pt x="333375" y="685800"/>
                </a:lnTo>
                <a:lnTo>
                  <a:pt x="647700" y="371475"/>
                </a:lnTo>
                <a:lnTo>
                  <a:pt x="647700" y="0"/>
                </a:lnTo>
              </a:path>
            </a:pathLst>
          </a:custGeom>
          <a:noFill/>
          <a:ln w="25400" cap="flat" cmpd="sng">
            <a:solidFill>
              <a:schemeClr val="accent2"/>
            </a:solidFill>
            <a:prstDash val="solid"/>
            <a:miter lim="800000"/>
            <a:headEnd type="none" w="sm" len="sm"/>
            <a:tailEnd type="oval"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Arial"/>
              <a:buNone/>
            </a:pPr>
            <a:endParaRPr sz="1799" u="none" strike="noStrike" cap="none">
              <a:solidFill>
                <a:srgbClr val="717074"/>
              </a:solidFill>
              <a:latin typeface="Arial"/>
              <a:ea typeface="Arial"/>
              <a:cs typeface="Arial"/>
              <a:sym typeface="Arial"/>
            </a:endParaRPr>
          </a:p>
        </p:txBody>
      </p:sp>
      <p:sp>
        <p:nvSpPr>
          <p:cNvPr id="5112" name="Google Shape;5112;p18"/>
          <p:cNvSpPr/>
          <p:nvPr/>
        </p:nvSpPr>
        <p:spPr>
          <a:xfrm>
            <a:off x="7387929" y="2479389"/>
            <a:ext cx="859919" cy="333786"/>
          </a:xfrm>
          <a:custGeom>
            <a:avLst/>
            <a:gdLst/>
            <a:ahLst/>
            <a:cxnLst/>
            <a:rect l="l" t="t" r="r" b="b"/>
            <a:pathLst>
              <a:path w="563880" h="175260" extrusionOk="0">
                <a:moveTo>
                  <a:pt x="563880" y="175260"/>
                </a:moveTo>
                <a:lnTo>
                  <a:pt x="563880" y="0"/>
                </a:lnTo>
                <a:lnTo>
                  <a:pt x="0" y="0"/>
                </a:lnTo>
              </a:path>
            </a:pathLst>
          </a:custGeom>
          <a:noFill/>
          <a:ln w="25400" cap="flat" cmpd="sng">
            <a:solidFill>
              <a:schemeClr val="accent2"/>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Arial"/>
              <a:buNone/>
            </a:pPr>
            <a:endParaRPr sz="1799" u="none" strike="noStrike" cap="none">
              <a:solidFill>
                <a:srgbClr val="717074"/>
              </a:solidFill>
              <a:latin typeface="Arial"/>
              <a:ea typeface="Arial"/>
              <a:cs typeface="Arial"/>
              <a:sym typeface="Arial"/>
            </a:endParaRPr>
          </a:p>
        </p:txBody>
      </p:sp>
      <p:sp>
        <p:nvSpPr>
          <p:cNvPr id="5113" name="Google Shape;5113;p18"/>
          <p:cNvSpPr/>
          <p:nvPr/>
        </p:nvSpPr>
        <p:spPr>
          <a:xfrm rot="8097156" flipH="1">
            <a:off x="9045465" y="3280642"/>
            <a:ext cx="577576" cy="958141"/>
          </a:xfrm>
          <a:custGeom>
            <a:avLst/>
            <a:gdLst/>
            <a:ahLst/>
            <a:cxnLst/>
            <a:rect l="l" t="t" r="r" b="b"/>
            <a:pathLst>
              <a:path w="577727" h="958391" extrusionOk="0">
                <a:moveTo>
                  <a:pt x="0" y="958391"/>
                </a:moveTo>
                <a:lnTo>
                  <a:pt x="263402" y="685800"/>
                </a:lnTo>
                <a:lnTo>
                  <a:pt x="577727" y="371475"/>
                </a:lnTo>
                <a:lnTo>
                  <a:pt x="577727" y="0"/>
                </a:lnTo>
              </a:path>
            </a:pathLst>
          </a:custGeom>
          <a:noFill/>
          <a:ln w="25400" cap="flat" cmpd="sng">
            <a:solidFill>
              <a:schemeClr val="accent2"/>
            </a:solidFill>
            <a:prstDash val="solid"/>
            <a:miter lim="800000"/>
            <a:headEnd type="none" w="sm" len="sm"/>
            <a:tailEnd type="oval"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Arial"/>
              <a:buNone/>
            </a:pPr>
            <a:endParaRPr sz="1799" u="none" strike="noStrike" cap="none">
              <a:solidFill>
                <a:srgbClr val="717074"/>
              </a:solidFill>
              <a:latin typeface="Arial"/>
              <a:ea typeface="Arial"/>
              <a:cs typeface="Arial"/>
              <a:sym typeface="Arial"/>
            </a:endParaRPr>
          </a:p>
        </p:txBody>
      </p:sp>
      <p:pic>
        <p:nvPicPr>
          <p:cNvPr id="5114" name="Google Shape;5114;p18"/>
          <p:cNvPicPr preferRelativeResize="0"/>
          <p:nvPr/>
        </p:nvPicPr>
        <p:blipFill rotWithShape="1">
          <a:blip r:embed="rId3">
            <a:alphaModFix/>
          </a:blip>
          <a:srcRect/>
          <a:stretch/>
        </p:blipFill>
        <p:spPr>
          <a:xfrm>
            <a:off x="8977731" y="1820396"/>
            <a:ext cx="859920" cy="859920"/>
          </a:xfrm>
          <a:prstGeom prst="rect">
            <a:avLst/>
          </a:prstGeom>
          <a:noFill/>
          <a:ln>
            <a:noFill/>
          </a:ln>
        </p:spPr>
      </p:pic>
      <p:pic>
        <p:nvPicPr>
          <p:cNvPr id="5115" name="Google Shape;5115;p18"/>
          <p:cNvPicPr preferRelativeResize="0"/>
          <p:nvPr/>
        </p:nvPicPr>
        <p:blipFill rotWithShape="1">
          <a:blip r:embed="rId4">
            <a:alphaModFix/>
          </a:blip>
          <a:srcRect/>
          <a:stretch/>
        </p:blipFill>
        <p:spPr>
          <a:xfrm>
            <a:off x="9955959" y="3723118"/>
            <a:ext cx="711200" cy="711200"/>
          </a:xfrm>
          <a:prstGeom prst="rect">
            <a:avLst/>
          </a:prstGeom>
          <a:noFill/>
          <a:ln>
            <a:noFill/>
          </a:ln>
        </p:spPr>
      </p:pic>
      <p:grpSp>
        <p:nvGrpSpPr>
          <p:cNvPr id="5116" name="Google Shape;5116;p18"/>
          <p:cNvGrpSpPr/>
          <p:nvPr/>
        </p:nvGrpSpPr>
        <p:grpSpPr>
          <a:xfrm>
            <a:off x="7965981" y="4508407"/>
            <a:ext cx="659684" cy="529197"/>
            <a:chOff x="9428298" y="3085669"/>
            <a:chExt cx="659684" cy="529197"/>
          </a:xfrm>
        </p:grpSpPr>
        <p:sp>
          <p:nvSpPr>
            <p:cNvPr id="5117" name="Google Shape;5117;p18"/>
            <p:cNvSpPr/>
            <p:nvPr/>
          </p:nvSpPr>
          <p:spPr>
            <a:xfrm>
              <a:off x="9428298" y="3085669"/>
              <a:ext cx="659637" cy="85031"/>
            </a:xfrm>
            <a:custGeom>
              <a:avLst/>
              <a:gdLst/>
              <a:ahLst/>
              <a:cxnLst/>
              <a:rect l="l" t="t" r="r" b="b"/>
              <a:pathLst>
                <a:path w="659637" h="85031" extrusionOk="0">
                  <a:moveTo>
                    <a:pt x="659638" y="0"/>
                  </a:moveTo>
                  <a:lnTo>
                    <a:pt x="0" y="0"/>
                  </a:lnTo>
                  <a:lnTo>
                    <a:pt x="0" y="85031"/>
                  </a:lnTo>
                  <a:lnTo>
                    <a:pt x="659638" y="85031"/>
                  </a:lnTo>
                  <a:lnTo>
                    <a:pt x="659638" y="0"/>
                  </a:lnTo>
                  <a:close/>
                  <a:moveTo>
                    <a:pt x="41080" y="60468"/>
                  </a:moveTo>
                  <a:cubicBezTo>
                    <a:pt x="31716" y="60468"/>
                    <a:pt x="22399" y="51009"/>
                    <a:pt x="22399" y="41551"/>
                  </a:cubicBezTo>
                  <a:cubicBezTo>
                    <a:pt x="22399" y="30210"/>
                    <a:pt x="31763" y="22634"/>
                    <a:pt x="41080" y="22634"/>
                  </a:cubicBezTo>
                  <a:cubicBezTo>
                    <a:pt x="52280" y="22634"/>
                    <a:pt x="61644" y="30210"/>
                    <a:pt x="61644" y="41551"/>
                  </a:cubicBezTo>
                  <a:cubicBezTo>
                    <a:pt x="61644" y="51009"/>
                    <a:pt x="52280" y="60468"/>
                    <a:pt x="41080" y="60468"/>
                  </a:cubicBezTo>
                  <a:close/>
                  <a:moveTo>
                    <a:pt x="102771" y="60468"/>
                  </a:moveTo>
                  <a:cubicBezTo>
                    <a:pt x="91572" y="60468"/>
                    <a:pt x="84090" y="51009"/>
                    <a:pt x="84090" y="41551"/>
                  </a:cubicBezTo>
                  <a:cubicBezTo>
                    <a:pt x="84090" y="30210"/>
                    <a:pt x="91572" y="22634"/>
                    <a:pt x="102771" y="22634"/>
                  </a:cubicBezTo>
                  <a:cubicBezTo>
                    <a:pt x="112136" y="22634"/>
                    <a:pt x="121453" y="30210"/>
                    <a:pt x="121453" y="41551"/>
                  </a:cubicBezTo>
                  <a:cubicBezTo>
                    <a:pt x="121453" y="51009"/>
                    <a:pt x="112089" y="60468"/>
                    <a:pt x="102771" y="60468"/>
                  </a:cubicBezTo>
                  <a:close/>
                  <a:moveTo>
                    <a:pt x="162580" y="60468"/>
                  </a:moveTo>
                  <a:cubicBezTo>
                    <a:pt x="153216" y="60468"/>
                    <a:pt x="143899" y="51009"/>
                    <a:pt x="143899" y="41551"/>
                  </a:cubicBezTo>
                  <a:cubicBezTo>
                    <a:pt x="143899" y="30210"/>
                    <a:pt x="153263" y="22634"/>
                    <a:pt x="162580" y="22634"/>
                  </a:cubicBezTo>
                  <a:cubicBezTo>
                    <a:pt x="173780" y="22634"/>
                    <a:pt x="181262" y="30210"/>
                    <a:pt x="181262" y="41551"/>
                  </a:cubicBezTo>
                  <a:cubicBezTo>
                    <a:pt x="181262" y="51009"/>
                    <a:pt x="173780" y="60468"/>
                    <a:pt x="162580" y="604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118" name="Google Shape;5118;p18"/>
            <p:cNvSpPr/>
            <p:nvPr/>
          </p:nvSpPr>
          <p:spPr>
            <a:xfrm>
              <a:off x="9428345" y="3197099"/>
              <a:ext cx="659637" cy="417767"/>
            </a:xfrm>
            <a:custGeom>
              <a:avLst/>
              <a:gdLst/>
              <a:ahLst/>
              <a:cxnLst/>
              <a:rect l="l" t="t" r="r" b="b"/>
              <a:pathLst>
                <a:path w="659637" h="417767" extrusionOk="0">
                  <a:moveTo>
                    <a:pt x="0" y="0"/>
                  </a:moveTo>
                  <a:lnTo>
                    <a:pt x="0" y="397251"/>
                  </a:lnTo>
                  <a:cubicBezTo>
                    <a:pt x="0" y="408450"/>
                    <a:pt x="7482" y="417767"/>
                    <a:pt x="18681" y="417767"/>
                  </a:cubicBezTo>
                  <a:lnTo>
                    <a:pt x="639074" y="417767"/>
                  </a:lnTo>
                  <a:cubicBezTo>
                    <a:pt x="650273" y="417767"/>
                    <a:pt x="659638" y="408450"/>
                    <a:pt x="659638" y="397251"/>
                  </a:cubicBezTo>
                  <a:lnTo>
                    <a:pt x="659638" y="0"/>
                  </a:lnTo>
                  <a:lnTo>
                    <a:pt x="0" y="0"/>
                  </a:lnTo>
                  <a:close/>
                  <a:moveTo>
                    <a:pt x="190767" y="362617"/>
                  </a:moveTo>
                  <a:cubicBezTo>
                    <a:pt x="190767" y="371605"/>
                    <a:pt x="183426" y="378899"/>
                    <a:pt x="174438" y="378899"/>
                  </a:cubicBezTo>
                  <a:lnTo>
                    <a:pt x="174438" y="364782"/>
                  </a:lnTo>
                  <a:cubicBezTo>
                    <a:pt x="175615" y="364782"/>
                    <a:pt x="176650" y="363794"/>
                    <a:pt x="176650" y="362617"/>
                  </a:cubicBezTo>
                  <a:lnTo>
                    <a:pt x="176650" y="260034"/>
                  </a:lnTo>
                  <a:cubicBezTo>
                    <a:pt x="176650" y="258811"/>
                    <a:pt x="175662" y="257822"/>
                    <a:pt x="174438" y="257822"/>
                  </a:cubicBezTo>
                  <a:lnTo>
                    <a:pt x="71855" y="257822"/>
                  </a:lnTo>
                  <a:cubicBezTo>
                    <a:pt x="70632" y="257822"/>
                    <a:pt x="69691" y="258811"/>
                    <a:pt x="69691" y="260034"/>
                  </a:cubicBezTo>
                  <a:lnTo>
                    <a:pt x="69691" y="362617"/>
                  </a:lnTo>
                  <a:cubicBezTo>
                    <a:pt x="69691" y="363841"/>
                    <a:pt x="70679" y="364782"/>
                    <a:pt x="71855" y="364782"/>
                  </a:cubicBezTo>
                  <a:lnTo>
                    <a:pt x="139240" y="364782"/>
                  </a:lnTo>
                  <a:lnTo>
                    <a:pt x="139240" y="378899"/>
                  </a:lnTo>
                  <a:lnTo>
                    <a:pt x="71855" y="378899"/>
                  </a:lnTo>
                  <a:cubicBezTo>
                    <a:pt x="62867" y="378899"/>
                    <a:pt x="55574" y="371605"/>
                    <a:pt x="55574" y="362617"/>
                  </a:cubicBezTo>
                  <a:lnTo>
                    <a:pt x="55574" y="260034"/>
                  </a:lnTo>
                  <a:cubicBezTo>
                    <a:pt x="55574" y="251046"/>
                    <a:pt x="62867" y="243753"/>
                    <a:pt x="71855" y="243753"/>
                  </a:cubicBezTo>
                  <a:lnTo>
                    <a:pt x="174438" y="243753"/>
                  </a:lnTo>
                  <a:cubicBezTo>
                    <a:pt x="183426" y="243753"/>
                    <a:pt x="190767" y="251046"/>
                    <a:pt x="190767" y="260034"/>
                  </a:cubicBezTo>
                  <a:lnTo>
                    <a:pt x="190767" y="362617"/>
                  </a:lnTo>
                  <a:close/>
                  <a:moveTo>
                    <a:pt x="190767" y="173874"/>
                  </a:moveTo>
                  <a:cubicBezTo>
                    <a:pt x="190767" y="182861"/>
                    <a:pt x="183426" y="190155"/>
                    <a:pt x="174438" y="190155"/>
                  </a:cubicBezTo>
                  <a:lnTo>
                    <a:pt x="174438" y="176038"/>
                  </a:lnTo>
                  <a:cubicBezTo>
                    <a:pt x="175662" y="176038"/>
                    <a:pt x="176650" y="175050"/>
                    <a:pt x="176650" y="173827"/>
                  </a:cubicBezTo>
                  <a:lnTo>
                    <a:pt x="176650" y="71291"/>
                  </a:lnTo>
                  <a:cubicBezTo>
                    <a:pt x="176650" y="70067"/>
                    <a:pt x="175662" y="69079"/>
                    <a:pt x="174438" y="69079"/>
                  </a:cubicBezTo>
                  <a:lnTo>
                    <a:pt x="71855" y="69079"/>
                  </a:lnTo>
                  <a:cubicBezTo>
                    <a:pt x="70632" y="69079"/>
                    <a:pt x="69691" y="70067"/>
                    <a:pt x="69691" y="71291"/>
                  </a:cubicBezTo>
                  <a:lnTo>
                    <a:pt x="69691" y="173827"/>
                  </a:lnTo>
                  <a:cubicBezTo>
                    <a:pt x="69691" y="175050"/>
                    <a:pt x="70679" y="176038"/>
                    <a:pt x="71855" y="176038"/>
                  </a:cubicBezTo>
                  <a:lnTo>
                    <a:pt x="139240" y="176038"/>
                  </a:lnTo>
                  <a:lnTo>
                    <a:pt x="139240" y="190155"/>
                  </a:lnTo>
                  <a:lnTo>
                    <a:pt x="71855" y="190155"/>
                  </a:lnTo>
                  <a:cubicBezTo>
                    <a:pt x="62867" y="190155"/>
                    <a:pt x="55574" y="182861"/>
                    <a:pt x="55574" y="173874"/>
                  </a:cubicBezTo>
                  <a:lnTo>
                    <a:pt x="55574" y="71338"/>
                  </a:lnTo>
                  <a:cubicBezTo>
                    <a:pt x="55574" y="62350"/>
                    <a:pt x="62867" y="55056"/>
                    <a:pt x="71855" y="55056"/>
                  </a:cubicBezTo>
                  <a:lnTo>
                    <a:pt x="174438" y="55056"/>
                  </a:lnTo>
                  <a:cubicBezTo>
                    <a:pt x="183426" y="55056"/>
                    <a:pt x="190767" y="62350"/>
                    <a:pt x="190767" y="71338"/>
                  </a:cubicBezTo>
                  <a:lnTo>
                    <a:pt x="190767" y="173874"/>
                  </a:lnTo>
                  <a:close/>
                  <a:moveTo>
                    <a:pt x="398286" y="362617"/>
                  </a:moveTo>
                  <a:cubicBezTo>
                    <a:pt x="398286" y="371605"/>
                    <a:pt x="390992" y="378899"/>
                    <a:pt x="382004" y="378899"/>
                  </a:cubicBezTo>
                  <a:lnTo>
                    <a:pt x="382004" y="364782"/>
                  </a:lnTo>
                  <a:cubicBezTo>
                    <a:pt x="382004" y="364782"/>
                    <a:pt x="382004" y="364782"/>
                    <a:pt x="382004" y="364782"/>
                  </a:cubicBezTo>
                  <a:cubicBezTo>
                    <a:pt x="383228" y="364782"/>
                    <a:pt x="384169" y="363794"/>
                    <a:pt x="384169" y="362617"/>
                  </a:cubicBezTo>
                  <a:lnTo>
                    <a:pt x="384169" y="260034"/>
                  </a:lnTo>
                  <a:cubicBezTo>
                    <a:pt x="384169" y="258811"/>
                    <a:pt x="383181" y="257822"/>
                    <a:pt x="382004" y="257822"/>
                  </a:cubicBezTo>
                  <a:lnTo>
                    <a:pt x="279421" y="257822"/>
                  </a:lnTo>
                  <a:cubicBezTo>
                    <a:pt x="278198" y="257822"/>
                    <a:pt x="277210" y="258811"/>
                    <a:pt x="277210" y="260034"/>
                  </a:cubicBezTo>
                  <a:lnTo>
                    <a:pt x="277210" y="362617"/>
                  </a:lnTo>
                  <a:cubicBezTo>
                    <a:pt x="277210" y="363841"/>
                    <a:pt x="278198" y="364782"/>
                    <a:pt x="279421" y="364782"/>
                  </a:cubicBezTo>
                  <a:lnTo>
                    <a:pt x="346806" y="364782"/>
                  </a:lnTo>
                  <a:lnTo>
                    <a:pt x="346806" y="378899"/>
                  </a:lnTo>
                  <a:lnTo>
                    <a:pt x="279421" y="378899"/>
                  </a:lnTo>
                  <a:cubicBezTo>
                    <a:pt x="270434" y="378899"/>
                    <a:pt x="263093" y="371605"/>
                    <a:pt x="263093" y="362617"/>
                  </a:cubicBezTo>
                  <a:lnTo>
                    <a:pt x="263093" y="260034"/>
                  </a:lnTo>
                  <a:cubicBezTo>
                    <a:pt x="263093" y="251046"/>
                    <a:pt x="270434" y="243753"/>
                    <a:pt x="279421" y="243753"/>
                  </a:cubicBezTo>
                  <a:lnTo>
                    <a:pt x="382004" y="243753"/>
                  </a:lnTo>
                  <a:cubicBezTo>
                    <a:pt x="390992" y="243753"/>
                    <a:pt x="398286" y="251046"/>
                    <a:pt x="398286" y="260034"/>
                  </a:cubicBezTo>
                  <a:lnTo>
                    <a:pt x="398286" y="362617"/>
                  </a:lnTo>
                  <a:close/>
                  <a:moveTo>
                    <a:pt x="398286" y="173874"/>
                  </a:moveTo>
                  <a:cubicBezTo>
                    <a:pt x="398286" y="182861"/>
                    <a:pt x="390992" y="190155"/>
                    <a:pt x="382004" y="190155"/>
                  </a:cubicBezTo>
                  <a:lnTo>
                    <a:pt x="382004" y="176038"/>
                  </a:lnTo>
                  <a:cubicBezTo>
                    <a:pt x="382004" y="176038"/>
                    <a:pt x="382004" y="176038"/>
                    <a:pt x="382004" y="176038"/>
                  </a:cubicBezTo>
                  <a:cubicBezTo>
                    <a:pt x="383228" y="176038"/>
                    <a:pt x="384169" y="175050"/>
                    <a:pt x="384169" y="173827"/>
                  </a:cubicBezTo>
                  <a:lnTo>
                    <a:pt x="384169" y="71291"/>
                  </a:lnTo>
                  <a:cubicBezTo>
                    <a:pt x="384169" y="70067"/>
                    <a:pt x="383181" y="69079"/>
                    <a:pt x="382004" y="69079"/>
                  </a:cubicBezTo>
                  <a:lnTo>
                    <a:pt x="279421" y="69079"/>
                  </a:lnTo>
                  <a:cubicBezTo>
                    <a:pt x="278198" y="69079"/>
                    <a:pt x="277210" y="70067"/>
                    <a:pt x="277210" y="71291"/>
                  </a:cubicBezTo>
                  <a:lnTo>
                    <a:pt x="277210" y="173827"/>
                  </a:lnTo>
                  <a:cubicBezTo>
                    <a:pt x="277210" y="175050"/>
                    <a:pt x="278198" y="176038"/>
                    <a:pt x="279421" y="176038"/>
                  </a:cubicBezTo>
                  <a:lnTo>
                    <a:pt x="346806" y="176038"/>
                  </a:lnTo>
                  <a:lnTo>
                    <a:pt x="346806" y="190155"/>
                  </a:lnTo>
                  <a:lnTo>
                    <a:pt x="279421" y="190155"/>
                  </a:lnTo>
                  <a:cubicBezTo>
                    <a:pt x="270434" y="190155"/>
                    <a:pt x="263093" y="182861"/>
                    <a:pt x="263093" y="173874"/>
                  </a:cubicBezTo>
                  <a:lnTo>
                    <a:pt x="263093" y="71338"/>
                  </a:lnTo>
                  <a:cubicBezTo>
                    <a:pt x="263093" y="62350"/>
                    <a:pt x="270434" y="55056"/>
                    <a:pt x="279421" y="55056"/>
                  </a:cubicBezTo>
                  <a:lnTo>
                    <a:pt x="382004" y="55056"/>
                  </a:lnTo>
                  <a:cubicBezTo>
                    <a:pt x="390992" y="55056"/>
                    <a:pt x="398286" y="62350"/>
                    <a:pt x="398286" y="71338"/>
                  </a:cubicBezTo>
                  <a:lnTo>
                    <a:pt x="398286" y="173874"/>
                  </a:lnTo>
                  <a:close/>
                  <a:moveTo>
                    <a:pt x="605805" y="362617"/>
                  </a:moveTo>
                  <a:cubicBezTo>
                    <a:pt x="605805" y="371605"/>
                    <a:pt x="598511" y="378899"/>
                    <a:pt x="589523" y="378899"/>
                  </a:cubicBezTo>
                  <a:lnTo>
                    <a:pt x="589523" y="364782"/>
                  </a:lnTo>
                  <a:cubicBezTo>
                    <a:pt x="589523" y="364782"/>
                    <a:pt x="589523" y="364782"/>
                    <a:pt x="589523" y="364782"/>
                  </a:cubicBezTo>
                  <a:cubicBezTo>
                    <a:pt x="590747" y="364782"/>
                    <a:pt x="591688" y="363794"/>
                    <a:pt x="591688" y="362617"/>
                  </a:cubicBezTo>
                  <a:lnTo>
                    <a:pt x="591688" y="260034"/>
                  </a:lnTo>
                  <a:cubicBezTo>
                    <a:pt x="591688" y="258811"/>
                    <a:pt x="590700" y="257822"/>
                    <a:pt x="589523" y="257822"/>
                  </a:cubicBezTo>
                  <a:lnTo>
                    <a:pt x="486940" y="257822"/>
                  </a:lnTo>
                  <a:cubicBezTo>
                    <a:pt x="485717" y="257822"/>
                    <a:pt x="484776" y="258811"/>
                    <a:pt x="484776" y="260034"/>
                  </a:cubicBezTo>
                  <a:lnTo>
                    <a:pt x="484776" y="362617"/>
                  </a:lnTo>
                  <a:cubicBezTo>
                    <a:pt x="484776" y="363841"/>
                    <a:pt x="485764" y="364782"/>
                    <a:pt x="486940" y="364782"/>
                  </a:cubicBezTo>
                  <a:lnTo>
                    <a:pt x="554325" y="364782"/>
                  </a:lnTo>
                  <a:lnTo>
                    <a:pt x="554325" y="378899"/>
                  </a:lnTo>
                  <a:lnTo>
                    <a:pt x="486940" y="378899"/>
                  </a:lnTo>
                  <a:cubicBezTo>
                    <a:pt x="477953" y="378899"/>
                    <a:pt x="470659" y="371605"/>
                    <a:pt x="470659" y="362617"/>
                  </a:cubicBezTo>
                  <a:lnTo>
                    <a:pt x="470659" y="260034"/>
                  </a:lnTo>
                  <a:cubicBezTo>
                    <a:pt x="470659" y="251046"/>
                    <a:pt x="477953" y="243753"/>
                    <a:pt x="486940" y="243753"/>
                  </a:cubicBezTo>
                  <a:lnTo>
                    <a:pt x="589523" y="243753"/>
                  </a:lnTo>
                  <a:cubicBezTo>
                    <a:pt x="598511" y="243753"/>
                    <a:pt x="605805" y="251046"/>
                    <a:pt x="605805" y="260034"/>
                  </a:cubicBezTo>
                  <a:lnTo>
                    <a:pt x="605805" y="362617"/>
                  </a:lnTo>
                  <a:close/>
                  <a:moveTo>
                    <a:pt x="605805" y="173874"/>
                  </a:moveTo>
                  <a:cubicBezTo>
                    <a:pt x="605805" y="182861"/>
                    <a:pt x="598511" y="190155"/>
                    <a:pt x="589523" y="190155"/>
                  </a:cubicBezTo>
                  <a:lnTo>
                    <a:pt x="589523" y="176038"/>
                  </a:lnTo>
                  <a:cubicBezTo>
                    <a:pt x="589523" y="176038"/>
                    <a:pt x="589523" y="176038"/>
                    <a:pt x="589523" y="176038"/>
                  </a:cubicBezTo>
                  <a:cubicBezTo>
                    <a:pt x="590747" y="176038"/>
                    <a:pt x="591688" y="175050"/>
                    <a:pt x="591688" y="173827"/>
                  </a:cubicBezTo>
                  <a:lnTo>
                    <a:pt x="591688" y="71291"/>
                  </a:lnTo>
                  <a:cubicBezTo>
                    <a:pt x="591688" y="70067"/>
                    <a:pt x="590700" y="69079"/>
                    <a:pt x="589523" y="69079"/>
                  </a:cubicBezTo>
                  <a:lnTo>
                    <a:pt x="486940" y="69079"/>
                  </a:lnTo>
                  <a:cubicBezTo>
                    <a:pt x="485717" y="69079"/>
                    <a:pt x="484776" y="70067"/>
                    <a:pt x="484776" y="71291"/>
                  </a:cubicBezTo>
                  <a:lnTo>
                    <a:pt x="484776" y="173827"/>
                  </a:lnTo>
                  <a:cubicBezTo>
                    <a:pt x="484776" y="175050"/>
                    <a:pt x="485764" y="176038"/>
                    <a:pt x="486940" y="176038"/>
                  </a:cubicBezTo>
                  <a:lnTo>
                    <a:pt x="554325" y="176038"/>
                  </a:lnTo>
                  <a:lnTo>
                    <a:pt x="554325" y="190155"/>
                  </a:lnTo>
                  <a:lnTo>
                    <a:pt x="486940" y="190155"/>
                  </a:lnTo>
                  <a:cubicBezTo>
                    <a:pt x="477953" y="190155"/>
                    <a:pt x="470659" y="182861"/>
                    <a:pt x="470659" y="173874"/>
                  </a:cubicBezTo>
                  <a:lnTo>
                    <a:pt x="470659" y="71338"/>
                  </a:lnTo>
                  <a:cubicBezTo>
                    <a:pt x="470659" y="62350"/>
                    <a:pt x="477953" y="55056"/>
                    <a:pt x="486940" y="55056"/>
                  </a:cubicBezTo>
                  <a:lnTo>
                    <a:pt x="589523" y="55056"/>
                  </a:lnTo>
                  <a:cubicBezTo>
                    <a:pt x="598511" y="55056"/>
                    <a:pt x="605805" y="62350"/>
                    <a:pt x="605805" y="71338"/>
                  </a:cubicBezTo>
                  <a:lnTo>
                    <a:pt x="605805" y="17387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pic>
        <p:nvPicPr>
          <p:cNvPr id="5119" name="Google Shape;5119;p18"/>
          <p:cNvPicPr preferRelativeResize="0"/>
          <p:nvPr/>
        </p:nvPicPr>
        <p:blipFill rotWithShape="1">
          <a:blip r:embed="rId5">
            <a:alphaModFix/>
          </a:blip>
          <a:srcRect/>
          <a:stretch/>
        </p:blipFill>
        <p:spPr>
          <a:xfrm>
            <a:off x="5568114" y="3534473"/>
            <a:ext cx="711200" cy="711200"/>
          </a:xfrm>
          <a:prstGeom prst="rect">
            <a:avLst/>
          </a:prstGeom>
          <a:noFill/>
          <a:ln>
            <a:noFill/>
          </a:ln>
        </p:spPr>
      </p:pic>
      <p:grpSp>
        <p:nvGrpSpPr>
          <p:cNvPr id="5120" name="Google Shape;5120;p18"/>
          <p:cNvGrpSpPr/>
          <p:nvPr/>
        </p:nvGrpSpPr>
        <p:grpSpPr>
          <a:xfrm>
            <a:off x="6914196" y="2064641"/>
            <a:ext cx="428872" cy="578358"/>
            <a:chOff x="6905231" y="2181485"/>
            <a:chExt cx="428872" cy="578358"/>
          </a:xfrm>
        </p:grpSpPr>
        <p:grpSp>
          <p:nvGrpSpPr>
            <p:cNvPr id="5121" name="Google Shape;5121;p18"/>
            <p:cNvGrpSpPr/>
            <p:nvPr/>
          </p:nvGrpSpPr>
          <p:grpSpPr>
            <a:xfrm>
              <a:off x="6905231" y="2181485"/>
              <a:ext cx="428872" cy="578358"/>
              <a:chOff x="5703766" y="4670711"/>
              <a:chExt cx="959474" cy="1293907"/>
            </a:xfrm>
          </p:grpSpPr>
          <p:sp>
            <p:nvSpPr>
              <p:cNvPr id="5122" name="Google Shape;5122;p18"/>
              <p:cNvSpPr/>
              <p:nvPr/>
            </p:nvSpPr>
            <p:spPr>
              <a:xfrm>
                <a:off x="5820066" y="4670711"/>
                <a:ext cx="739780" cy="499238"/>
              </a:xfrm>
              <a:custGeom>
                <a:avLst/>
                <a:gdLst/>
                <a:ahLst/>
                <a:cxnLst/>
                <a:rect l="l" t="t" r="r" b="b"/>
                <a:pathLst>
                  <a:path w="739780" h="499238" extrusionOk="0">
                    <a:moveTo>
                      <a:pt x="69496" y="499239"/>
                    </a:moveTo>
                    <a:lnTo>
                      <a:pt x="138709" y="499239"/>
                    </a:lnTo>
                    <a:lnTo>
                      <a:pt x="138709" y="345921"/>
                    </a:lnTo>
                    <a:cubicBezTo>
                      <a:pt x="138709" y="316137"/>
                      <a:pt x="145800" y="287630"/>
                      <a:pt x="158140" y="261817"/>
                    </a:cubicBezTo>
                    <a:cubicBezTo>
                      <a:pt x="170479" y="236004"/>
                      <a:pt x="187924" y="212602"/>
                      <a:pt x="208489" y="193171"/>
                    </a:cubicBezTo>
                    <a:cubicBezTo>
                      <a:pt x="229196" y="173599"/>
                      <a:pt x="253023" y="157856"/>
                      <a:pt x="278127" y="146793"/>
                    </a:cubicBezTo>
                    <a:cubicBezTo>
                      <a:pt x="303231" y="135872"/>
                      <a:pt x="329611" y="129774"/>
                      <a:pt x="355282" y="129774"/>
                    </a:cubicBezTo>
                    <a:cubicBezTo>
                      <a:pt x="385066" y="129774"/>
                      <a:pt x="415701" y="134738"/>
                      <a:pt x="444634" y="144240"/>
                    </a:cubicBezTo>
                    <a:cubicBezTo>
                      <a:pt x="473709" y="153743"/>
                      <a:pt x="501224" y="167926"/>
                      <a:pt x="524910" y="186364"/>
                    </a:cubicBezTo>
                    <a:cubicBezTo>
                      <a:pt x="548737" y="204801"/>
                      <a:pt x="568735" y="227494"/>
                      <a:pt x="582776" y="254158"/>
                    </a:cubicBezTo>
                    <a:cubicBezTo>
                      <a:pt x="596817" y="280822"/>
                      <a:pt x="605043" y="311599"/>
                      <a:pt x="605043" y="345921"/>
                    </a:cubicBezTo>
                    <a:lnTo>
                      <a:pt x="605043" y="499239"/>
                    </a:lnTo>
                    <a:lnTo>
                      <a:pt x="739781" y="499239"/>
                    </a:lnTo>
                    <a:lnTo>
                      <a:pt x="739781" y="345921"/>
                    </a:lnTo>
                    <a:cubicBezTo>
                      <a:pt x="739781" y="298125"/>
                      <a:pt x="728576" y="252739"/>
                      <a:pt x="708862" y="211325"/>
                    </a:cubicBezTo>
                    <a:cubicBezTo>
                      <a:pt x="689148" y="169911"/>
                      <a:pt x="660782" y="132752"/>
                      <a:pt x="626459" y="101408"/>
                    </a:cubicBezTo>
                    <a:cubicBezTo>
                      <a:pt x="592137" y="70064"/>
                      <a:pt x="551857" y="44818"/>
                      <a:pt x="508316" y="27231"/>
                    </a:cubicBezTo>
                    <a:cubicBezTo>
                      <a:pt x="464632" y="9786"/>
                      <a:pt x="417687" y="0"/>
                      <a:pt x="369890" y="0"/>
                    </a:cubicBezTo>
                    <a:cubicBezTo>
                      <a:pt x="322094" y="0"/>
                      <a:pt x="275149" y="9644"/>
                      <a:pt x="231465" y="27231"/>
                    </a:cubicBezTo>
                    <a:cubicBezTo>
                      <a:pt x="187782" y="44676"/>
                      <a:pt x="147644" y="70064"/>
                      <a:pt x="113322" y="101408"/>
                    </a:cubicBezTo>
                    <a:cubicBezTo>
                      <a:pt x="78999" y="132752"/>
                      <a:pt x="50775" y="169911"/>
                      <a:pt x="30919" y="211325"/>
                    </a:cubicBezTo>
                    <a:cubicBezTo>
                      <a:pt x="11205" y="252739"/>
                      <a:pt x="0" y="298125"/>
                      <a:pt x="0" y="345921"/>
                    </a:cubicBezTo>
                    <a:lnTo>
                      <a:pt x="0" y="499239"/>
                    </a:lnTo>
                    <a:lnTo>
                      <a:pt x="69213" y="49923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123" name="Google Shape;5123;p18"/>
              <p:cNvSpPr/>
              <p:nvPr/>
            </p:nvSpPr>
            <p:spPr>
              <a:xfrm>
                <a:off x="5703766" y="5245119"/>
                <a:ext cx="959474" cy="719499"/>
              </a:xfrm>
              <a:custGeom>
                <a:avLst/>
                <a:gdLst/>
                <a:ahLst/>
                <a:cxnLst/>
                <a:rect l="l" t="t" r="r" b="b"/>
                <a:pathLst>
                  <a:path w="959474" h="719499" extrusionOk="0">
                    <a:moveTo>
                      <a:pt x="954794" y="36450"/>
                    </a:moveTo>
                    <a:cubicBezTo>
                      <a:pt x="951815" y="29359"/>
                      <a:pt x="947419" y="22835"/>
                      <a:pt x="942029" y="17445"/>
                    </a:cubicBezTo>
                    <a:cubicBezTo>
                      <a:pt x="936640" y="12056"/>
                      <a:pt x="930116" y="7659"/>
                      <a:pt x="923024" y="4680"/>
                    </a:cubicBezTo>
                    <a:cubicBezTo>
                      <a:pt x="915933" y="1702"/>
                      <a:pt x="907990" y="0"/>
                      <a:pt x="899764" y="0"/>
                    </a:cubicBezTo>
                    <a:lnTo>
                      <a:pt x="59710" y="0"/>
                    </a:lnTo>
                    <a:cubicBezTo>
                      <a:pt x="51484" y="0"/>
                      <a:pt x="43542" y="1702"/>
                      <a:pt x="36450" y="4680"/>
                    </a:cubicBezTo>
                    <a:cubicBezTo>
                      <a:pt x="29359" y="7659"/>
                      <a:pt x="22835" y="12056"/>
                      <a:pt x="17445" y="17445"/>
                    </a:cubicBezTo>
                    <a:cubicBezTo>
                      <a:pt x="12056" y="22835"/>
                      <a:pt x="7659" y="29359"/>
                      <a:pt x="4680" y="36450"/>
                    </a:cubicBezTo>
                    <a:cubicBezTo>
                      <a:pt x="1702" y="43542"/>
                      <a:pt x="0" y="51484"/>
                      <a:pt x="0" y="59710"/>
                    </a:cubicBezTo>
                    <a:lnTo>
                      <a:pt x="0" y="659789"/>
                    </a:lnTo>
                    <a:cubicBezTo>
                      <a:pt x="0" y="668015"/>
                      <a:pt x="1702" y="675958"/>
                      <a:pt x="4680" y="683049"/>
                    </a:cubicBezTo>
                    <a:cubicBezTo>
                      <a:pt x="7659" y="690141"/>
                      <a:pt x="12056" y="696665"/>
                      <a:pt x="17445" y="702054"/>
                    </a:cubicBezTo>
                    <a:cubicBezTo>
                      <a:pt x="22835" y="707444"/>
                      <a:pt x="29359" y="711841"/>
                      <a:pt x="36450" y="714819"/>
                    </a:cubicBezTo>
                    <a:cubicBezTo>
                      <a:pt x="43542" y="717797"/>
                      <a:pt x="51484" y="719499"/>
                      <a:pt x="59710" y="719499"/>
                    </a:cubicBezTo>
                    <a:lnTo>
                      <a:pt x="899764" y="719499"/>
                    </a:lnTo>
                    <a:cubicBezTo>
                      <a:pt x="907990" y="719499"/>
                      <a:pt x="915933" y="717797"/>
                      <a:pt x="923024" y="714819"/>
                    </a:cubicBezTo>
                    <a:cubicBezTo>
                      <a:pt x="930116" y="711841"/>
                      <a:pt x="936640" y="707444"/>
                      <a:pt x="942029" y="702054"/>
                    </a:cubicBezTo>
                    <a:cubicBezTo>
                      <a:pt x="947419" y="696665"/>
                      <a:pt x="951815" y="690141"/>
                      <a:pt x="954794" y="683049"/>
                    </a:cubicBezTo>
                    <a:cubicBezTo>
                      <a:pt x="957772" y="675958"/>
                      <a:pt x="959474" y="668015"/>
                      <a:pt x="959474" y="659789"/>
                    </a:cubicBezTo>
                    <a:lnTo>
                      <a:pt x="959474" y="59710"/>
                    </a:lnTo>
                    <a:cubicBezTo>
                      <a:pt x="959474" y="51484"/>
                      <a:pt x="957772" y="43542"/>
                      <a:pt x="954794" y="36450"/>
                    </a:cubicBezTo>
                    <a:close/>
                    <a:moveTo>
                      <a:pt x="306493" y="370883"/>
                    </a:moveTo>
                    <a:lnTo>
                      <a:pt x="267348" y="541646"/>
                    </a:lnTo>
                    <a:lnTo>
                      <a:pt x="178847" y="541646"/>
                    </a:lnTo>
                    <a:lnTo>
                      <a:pt x="139702" y="370883"/>
                    </a:lnTo>
                    <a:lnTo>
                      <a:pt x="100557" y="200121"/>
                    </a:lnTo>
                    <a:lnTo>
                      <a:pt x="174166" y="200121"/>
                    </a:lnTo>
                    <a:lnTo>
                      <a:pt x="198277" y="326349"/>
                    </a:lnTo>
                    <a:lnTo>
                      <a:pt x="222388" y="452577"/>
                    </a:lnTo>
                    <a:lnTo>
                      <a:pt x="223806" y="452577"/>
                    </a:lnTo>
                    <a:lnTo>
                      <a:pt x="249194" y="326349"/>
                    </a:lnTo>
                    <a:lnTo>
                      <a:pt x="274581" y="200121"/>
                    </a:lnTo>
                    <a:lnTo>
                      <a:pt x="345779" y="200121"/>
                    </a:lnTo>
                    <a:lnTo>
                      <a:pt x="306635" y="370883"/>
                    </a:lnTo>
                    <a:close/>
                    <a:moveTo>
                      <a:pt x="583343" y="327058"/>
                    </a:moveTo>
                    <a:cubicBezTo>
                      <a:pt x="582067" y="334717"/>
                      <a:pt x="580081" y="341808"/>
                      <a:pt x="577386" y="348332"/>
                    </a:cubicBezTo>
                    <a:cubicBezTo>
                      <a:pt x="574692" y="354857"/>
                      <a:pt x="571571" y="360813"/>
                      <a:pt x="567884" y="366203"/>
                    </a:cubicBezTo>
                    <a:cubicBezTo>
                      <a:pt x="564196" y="371592"/>
                      <a:pt x="560083" y="376273"/>
                      <a:pt x="555261" y="380386"/>
                    </a:cubicBezTo>
                    <a:cubicBezTo>
                      <a:pt x="550581" y="384499"/>
                      <a:pt x="545333" y="388186"/>
                      <a:pt x="539660" y="391307"/>
                    </a:cubicBezTo>
                    <a:cubicBezTo>
                      <a:pt x="533987" y="394427"/>
                      <a:pt x="527746" y="396980"/>
                      <a:pt x="521080" y="399107"/>
                    </a:cubicBezTo>
                    <a:cubicBezTo>
                      <a:pt x="514414" y="401235"/>
                      <a:pt x="507323" y="402795"/>
                      <a:pt x="499948" y="403788"/>
                    </a:cubicBezTo>
                    <a:cubicBezTo>
                      <a:pt x="492573" y="404780"/>
                      <a:pt x="484772" y="405348"/>
                      <a:pt x="476688" y="405348"/>
                    </a:cubicBezTo>
                    <a:lnTo>
                      <a:pt x="439812" y="405348"/>
                    </a:lnTo>
                    <a:lnTo>
                      <a:pt x="439812" y="541646"/>
                    </a:lnTo>
                    <a:lnTo>
                      <a:pt x="370883" y="541646"/>
                    </a:lnTo>
                    <a:lnTo>
                      <a:pt x="370883" y="200121"/>
                    </a:lnTo>
                    <a:lnTo>
                      <a:pt x="491438" y="200121"/>
                    </a:lnTo>
                    <a:cubicBezTo>
                      <a:pt x="500231" y="200121"/>
                      <a:pt x="508316" y="200830"/>
                      <a:pt x="515691" y="202390"/>
                    </a:cubicBezTo>
                    <a:cubicBezTo>
                      <a:pt x="523066" y="203809"/>
                      <a:pt x="529732" y="206078"/>
                      <a:pt x="535689" y="209056"/>
                    </a:cubicBezTo>
                    <a:cubicBezTo>
                      <a:pt x="541646" y="212035"/>
                      <a:pt x="547035" y="215438"/>
                      <a:pt x="551857" y="219268"/>
                    </a:cubicBezTo>
                    <a:cubicBezTo>
                      <a:pt x="556679" y="223097"/>
                      <a:pt x="560934" y="227494"/>
                      <a:pt x="564622" y="232174"/>
                    </a:cubicBezTo>
                    <a:cubicBezTo>
                      <a:pt x="568309" y="236997"/>
                      <a:pt x="571430" y="242102"/>
                      <a:pt x="574124" y="247492"/>
                    </a:cubicBezTo>
                    <a:cubicBezTo>
                      <a:pt x="576819" y="253023"/>
                      <a:pt x="578805" y="258696"/>
                      <a:pt x="580507" y="264937"/>
                    </a:cubicBezTo>
                    <a:cubicBezTo>
                      <a:pt x="582067" y="271035"/>
                      <a:pt x="583343" y="277276"/>
                      <a:pt x="584052" y="283517"/>
                    </a:cubicBezTo>
                    <a:cubicBezTo>
                      <a:pt x="584903" y="289757"/>
                      <a:pt x="585187" y="296139"/>
                      <a:pt x="585187" y="302522"/>
                    </a:cubicBezTo>
                    <a:cubicBezTo>
                      <a:pt x="585187" y="311315"/>
                      <a:pt x="584478" y="319541"/>
                      <a:pt x="583201" y="327200"/>
                    </a:cubicBezTo>
                    <a:close/>
                    <a:moveTo>
                      <a:pt x="836508" y="370883"/>
                    </a:moveTo>
                    <a:lnTo>
                      <a:pt x="836508" y="541646"/>
                    </a:lnTo>
                    <a:lnTo>
                      <a:pt x="758077" y="541646"/>
                    </a:lnTo>
                    <a:lnTo>
                      <a:pt x="715954" y="422084"/>
                    </a:lnTo>
                    <a:lnTo>
                      <a:pt x="673830" y="302522"/>
                    </a:lnTo>
                    <a:lnTo>
                      <a:pt x="672837" y="302522"/>
                    </a:lnTo>
                    <a:lnTo>
                      <a:pt x="672837" y="541646"/>
                    </a:lnTo>
                    <a:lnTo>
                      <a:pt x="609723" y="541646"/>
                    </a:lnTo>
                    <a:lnTo>
                      <a:pt x="609723" y="200121"/>
                    </a:lnTo>
                    <a:lnTo>
                      <a:pt x="689148" y="200121"/>
                    </a:lnTo>
                    <a:lnTo>
                      <a:pt x="730704" y="317130"/>
                    </a:lnTo>
                    <a:lnTo>
                      <a:pt x="772260" y="434139"/>
                    </a:lnTo>
                    <a:lnTo>
                      <a:pt x="773253" y="434139"/>
                    </a:lnTo>
                    <a:lnTo>
                      <a:pt x="773253" y="200263"/>
                    </a:lnTo>
                    <a:lnTo>
                      <a:pt x="836366" y="200263"/>
                    </a:lnTo>
                    <a:lnTo>
                      <a:pt x="836366" y="37102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124" name="Google Shape;5124;p18"/>
              <p:cNvSpPr/>
              <p:nvPr/>
            </p:nvSpPr>
            <p:spPr>
              <a:xfrm>
                <a:off x="6143720" y="5495872"/>
                <a:ext cx="76445" cy="103818"/>
              </a:xfrm>
              <a:custGeom>
                <a:avLst/>
                <a:gdLst/>
                <a:ahLst/>
                <a:cxnLst/>
                <a:rect l="l" t="t" r="r" b="b"/>
                <a:pathLst>
                  <a:path w="76445" h="103818" extrusionOk="0">
                    <a:moveTo>
                      <a:pt x="65525" y="13474"/>
                    </a:moveTo>
                    <a:cubicBezTo>
                      <a:pt x="61838" y="9077"/>
                      <a:pt x="57015" y="5673"/>
                      <a:pt x="50775" y="3404"/>
                    </a:cubicBezTo>
                    <a:cubicBezTo>
                      <a:pt x="44676" y="1135"/>
                      <a:pt x="37301" y="0"/>
                      <a:pt x="28649" y="0"/>
                    </a:cubicBezTo>
                    <a:lnTo>
                      <a:pt x="0" y="0"/>
                    </a:lnTo>
                    <a:lnTo>
                      <a:pt x="0" y="103819"/>
                    </a:lnTo>
                    <a:lnTo>
                      <a:pt x="30635" y="103819"/>
                    </a:lnTo>
                    <a:cubicBezTo>
                      <a:pt x="37443" y="103819"/>
                      <a:pt x="43683" y="102826"/>
                      <a:pt x="49215" y="100699"/>
                    </a:cubicBezTo>
                    <a:cubicBezTo>
                      <a:pt x="54746" y="98571"/>
                      <a:pt x="59710" y="95451"/>
                      <a:pt x="63823" y="91338"/>
                    </a:cubicBezTo>
                    <a:cubicBezTo>
                      <a:pt x="68078" y="87225"/>
                      <a:pt x="71198" y="81835"/>
                      <a:pt x="73326" y="75453"/>
                    </a:cubicBezTo>
                    <a:cubicBezTo>
                      <a:pt x="75453" y="68929"/>
                      <a:pt x="76446" y="61412"/>
                      <a:pt x="76446" y="52619"/>
                    </a:cubicBezTo>
                    <a:cubicBezTo>
                      <a:pt x="76446" y="43825"/>
                      <a:pt x="75595" y="36450"/>
                      <a:pt x="73751" y="29926"/>
                    </a:cubicBezTo>
                    <a:cubicBezTo>
                      <a:pt x="71907" y="23402"/>
                      <a:pt x="69213" y="17871"/>
                      <a:pt x="65525" y="1347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sp>
          <p:nvSpPr>
            <p:cNvPr id="5125" name="Google Shape;5125;p18"/>
            <p:cNvSpPr/>
            <p:nvPr/>
          </p:nvSpPr>
          <p:spPr>
            <a:xfrm>
              <a:off x="6905231" y="2502008"/>
              <a:ext cx="428872" cy="21097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900"/>
                <a:buFont typeface="Arial"/>
                <a:buNone/>
              </a:pPr>
              <a:r>
                <a:rPr lang="en-US" sz="900">
                  <a:solidFill>
                    <a:schemeClr val="lt1"/>
                  </a:solidFill>
                  <a:latin typeface="Arial"/>
                  <a:ea typeface="Arial"/>
                  <a:cs typeface="Arial"/>
                  <a:sym typeface="Arial"/>
                </a:rPr>
                <a:t>TPM</a:t>
              </a:r>
              <a:endParaRPr sz="100">
                <a:solidFill>
                  <a:schemeClr val="lt1"/>
                </a:solidFill>
                <a:latin typeface="Arial"/>
                <a:ea typeface="Arial"/>
                <a:cs typeface="Arial"/>
                <a:sym typeface="Arial"/>
              </a:endParaRPr>
            </a:p>
          </p:txBody>
        </p:sp>
      </p:grpSp>
      <p:grpSp>
        <p:nvGrpSpPr>
          <p:cNvPr id="5126" name="Google Shape;5126;p18"/>
          <p:cNvGrpSpPr/>
          <p:nvPr/>
        </p:nvGrpSpPr>
        <p:grpSpPr>
          <a:xfrm>
            <a:off x="6962333" y="4148675"/>
            <a:ext cx="542784" cy="542784"/>
            <a:chOff x="6962333" y="4148675"/>
            <a:chExt cx="542784" cy="542784"/>
          </a:xfrm>
        </p:grpSpPr>
        <p:sp>
          <p:nvSpPr>
            <p:cNvPr id="5127" name="Google Shape;5127;p18"/>
            <p:cNvSpPr/>
            <p:nvPr/>
          </p:nvSpPr>
          <p:spPr>
            <a:xfrm>
              <a:off x="7088623" y="4262694"/>
              <a:ext cx="302421" cy="314371"/>
            </a:xfrm>
            <a:custGeom>
              <a:avLst/>
              <a:gdLst/>
              <a:ahLst/>
              <a:cxnLst/>
              <a:rect l="l" t="t" r="r" b="b"/>
              <a:pathLst>
                <a:path w="327718" h="340668" extrusionOk="0">
                  <a:moveTo>
                    <a:pt x="157240" y="340668"/>
                  </a:moveTo>
                  <a:cubicBezTo>
                    <a:pt x="135104" y="340668"/>
                    <a:pt x="112336" y="336241"/>
                    <a:pt x="90200" y="326754"/>
                  </a:cubicBezTo>
                  <a:cubicBezTo>
                    <a:pt x="86405" y="324857"/>
                    <a:pt x="84507" y="320430"/>
                    <a:pt x="85772" y="316635"/>
                  </a:cubicBezTo>
                  <a:cubicBezTo>
                    <a:pt x="87670" y="312840"/>
                    <a:pt x="92097" y="310943"/>
                    <a:pt x="95892" y="312208"/>
                  </a:cubicBezTo>
                  <a:cubicBezTo>
                    <a:pt x="174317" y="345728"/>
                    <a:pt x="265391" y="309045"/>
                    <a:pt x="298911" y="230620"/>
                  </a:cubicBezTo>
                  <a:cubicBezTo>
                    <a:pt x="332432" y="152195"/>
                    <a:pt x="295749" y="61121"/>
                    <a:pt x="217324" y="27601"/>
                  </a:cubicBezTo>
                  <a:cubicBezTo>
                    <a:pt x="179376" y="11157"/>
                    <a:pt x="137634" y="11157"/>
                    <a:pt x="99054" y="26336"/>
                  </a:cubicBezTo>
                  <a:cubicBezTo>
                    <a:pt x="61106" y="42147"/>
                    <a:pt x="31381" y="71241"/>
                    <a:pt x="14937" y="109188"/>
                  </a:cubicBezTo>
                  <a:cubicBezTo>
                    <a:pt x="13039" y="112983"/>
                    <a:pt x="8612" y="114880"/>
                    <a:pt x="4817" y="113615"/>
                  </a:cubicBezTo>
                  <a:cubicBezTo>
                    <a:pt x="1023" y="111718"/>
                    <a:pt x="-875" y="107291"/>
                    <a:pt x="390" y="103496"/>
                  </a:cubicBezTo>
                  <a:cubicBezTo>
                    <a:pt x="18099" y="61754"/>
                    <a:pt x="51620" y="29498"/>
                    <a:pt x="93994" y="12422"/>
                  </a:cubicBezTo>
                  <a:cubicBezTo>
                    <a:pt x="136369" y="-4655"/>
                    <a:pt x="182539" y="-4022"/>
                    <a:pt x="224281" y="13687"/>
                  </a:cubicBezTo>
                  <a:cubicBezTo>
                    <a:pt x="310928" y="50369"/>
                    <a:pt x="350773" y="150930"/>
                    <a:pt x="314090" y="237578"/>
                  </a:cubicBezTo>
                  <a:cubicBezTo>
                    <a:pt x="286262" y="302088"/>
                    <a:pt x="223016" y="340668"/>
                    <a:pt x="157240" y="34066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128" name="Google Shape;5128;p18"/>
            <p:cNvSpPr/>
            <p:nvPr/>
          </p:nvSpPr>
          <p:spPr>
            <a:xfrm>
              <a:off x="6962333" y="4148675"/>
              <a:ext cx="542784" cy="542784"/>
            </a:xfrm>
            <a:custGeom>
              <a:avLst/>
              <a:gdLst/>
              <a:ahLst/>
              <a:cxnLst/>
              <a:rect l="l" t="t" r="r" b="b"/>
              <a:pathLst>
                <a:path w="588187" h="588187" extrusionOk="0">
                  <a:moveTo>
                    <a:pt x="337101" y="588188"/>
                  </a:moveTo>
                  <a:lnTo>
                    <a:pt x="248557" y="588188"/>
                  </a:lnTo>
                  <a:cubicBezTo>
                    <a:pt x="245394" y="588188"/>
                    <a:pt x="242865" y="586290"/>
                    <a:pt x="241600" y="583761"/>
                  </a:cubicBezTo>
                  <a:cubicBezTo>
                    <a:pt x="238437" y="576804"/>
                    <a:pt x="235275" y="567317"/>
                    <a:pt x="232113" y="553403"/>
                  </a:cubicBezTo>
                  <a:cubicBezTo>
                    <a:pt x="229583" y="542018"/>
                    <a:pt x="227053" y="533796"/>
                    <a:pt x="225788" y="528104"/>
                  </a:cubicBezTo>
                  <a:cubicBezTo>
                    <a:pt x="193533" y="514190"/>
                    <a:pt x="181516" y="508498"/>
                    <a:pt x="176456" y="505968"/>
                  </a:cubicBezTo>
                  <a:cubicBezTo>
                    <a:pt x="170132" y="508498"/>
                    <a:pt x="162542" y="512293"/>
                    <a:pt x="153688" y="517352"/>
                  </a:cubicBezTo>
                  <a:cubicBezTo>
                    <a:pt x="141039" y="524942"/>
                    <a:pt x="132817" y="530002"/>
                    <a:pt x="127757" y="532531"/>
                  </a:cubicBezTo>
                  <a:cubicBezTo>
                    <a:pt x="125227" y="533796"/>
                    <a:pt x="122697" y="533164"/>
                    <a:pt x="120167" y="531899"/>
                  </a:cubicBezTo>
                  <a:cubicBezTo>
                    <a:pt x="111945" y="526207"/>
                    <a:pt x="90442" y="505968"/>
                    <a:pt x="55024" y="469918"/>
                  </a:cubicBezTo>
                  <a:cubicBezTo>
                    <a:pt x="53127" y="468020"/>
                    <a:pt x="52494" y="464858"/>
                    <a:pt x="53127" y="462328"/>
                  </a:cubicBezTo>
                  <a:cubicBezTo>
                    <a:pt x="54392" y="458533"/>
                    <a:pt x="58186" y="448414"/>
                    <a:pt x="79690" y="411099"/>
                  </a:cubicBezTo>
                  <a:cubicBezTo>
                    <a:pt x="78425" y="407304"/>
                    <a:pt x="75263" y="399715"/>
                    <a:pt x="68938" y="386433"/>
                  </a:cubicBezTo>
                  <a:cubicBezTo>
                    <a:pt x="64511" y="376314"/>
                    <a:pt x="61349" y="366827"/>
                    <a:pt x="59451" y="358605"/>
                  </a:cubicBezTo>
                  <a:cubicBezTo>
                    <a:pt x="52494" y="357340"/>
                    <a:pt x="43640" y="355443"/>
                    <a:pt x="34153" y="352913"/>
                  </a:cubicBezTo>
                  <a:cubicBezTo>
                    <a:pt x="20871" y="349118"/>
                    <a:pt x="11384" y="346588"/>
                    <a:pt x="6325" y="345323"/>
                  </a:cubicBezTo>
                  <a:cubicBezTo>
                    <a:pt x="2530" y="344691"/>
                    <a:pt x="0" y="341528"/>
                    <a:pt x="0" y="337734"/>
                  </a:cubicBezTo>
                  <a:lnTo>
                    <a:pt x="0" y="247292"/>
                  </a:lnTo>
                  <a:cubicBezTo>
                    <a:pt x="0" y="243497"/>
                    <a:pt x="2530" y="240335"/>
                    <a:pt x="6325" y="239702"/>
                  </a:cubicBezTo>
                  <a:cubicBezTo>
                    <a:pt x="10752" y="238437"/>
                    <a:pt x="19606" y="235908"/>
                    <a:pt x="32888" y="232113"/>
                  </a:cubicBezTo>
                  <a:cubicBezTo>
                    <a:pt x="42375" y="229583"/>
                    <a:pt x="50597" y="227053"/>
                    <a:pt x="58186" y="226421"/>
                  </a:cubicBezTo>
                  <a:cubicBezTo>
                    <a:pt x="60716" y="221361"/>
                    <a:pt x="64511" y="213139"/>
                    <a:pt x="69571" y="201122"/>
                  </a:cubicBezTo>
                  <a:cubicBezTo>
                    <a:pt x="73998" y="190370"/>
                    <a:pt x="78425" y="182148"/>
                    <a:pt x="82220" y="175191"/>
                  </a:cubicBezTo>
                  <a:cubicBezTo>
                    <a:pt x="67041" y="146731"/>
                    <a:pt x="58819" y="135346"/>
                    <a:pt x="55024" y="130919"/>
                  </a:cubicBezTo>
                  <a:cubicBezTo>
                    <a:pt x="52494" y="128389"/>
                    <a:pt x="52494" y="123962"/>
                    <a:pt x="54392" y="121432"/>
                  </a:cubicBezTo>
                  <a:cubicBezTo>
                    <a:pt x="60084" y="113210"/>
                    <a:pt x="81587" y="91074"/>
                    <a:pt x="118902" y="54392"/>
                  </a:cubicBezTo>
                  <a:cubicBezTo>
                    <a:pt x="121432" y="51862"/>
                    <a:pt x="124595" y="51229"/>
                    <a:pt x="127757" y="53127"/>
                  </a:cubicBezTo>
                  <a:cubicBezTo>
                    <a:pt x="148628" y="63246"/>
                    <a:pt x="165705" y="72733"/>
                    <a:pt x="177721" y="81587"/>
                  </a:cubicBezTo>
                  <a:cubicBezTo>
                    <a:pt x="207447" y="68938"/>
                    <a:pt x="221361" y="63878"/>
                    <a:pt x="228318" y="61981"/>
                  </a:cubicBezTo>
                  <a:cubicBezTo>
                    <a:pt x="229583" y="57554"/>
                    <a:pt x="231480" y="49964"/>
                    <a:pt x="235275" y="36050"/>
                  </a:cubicBezTo>
                  <a:cubicBezTo>
                    <a:pt x="238437" y="24033"/>
                    <a:pt x="241600" y="13914"/>
                    <a:pt x="243497" y="5692"/>
                  </a:cubicBezTo>
                  <a:cubicBezTo>
                    <a:pt x="244762" y="2530"/>
                    <a:pt x="247292" y="0"/>
                    <a:pt x="251087" y="0"/>
                  </a:cubicBezTo>
                  <a:lnTo>
                    <a:pt x="339631" y="0"/>
                  </a:lnTo>
                  <a:cubicBezTo>
                    <a:pt x="342793" y="0"/>
                    <a:pt x="345956" y="1897"/>
                    <a:pt x="347221" y="5060"/>
                  </a:cubicBezTo>
                  <a:cubicBezTo>
                    <a:pt x="350383" y="13282"/>
                    <a:pt x="355443" y="30991"/>
                    <a:pt x="363664" y="60084"/>
                  </a:cubicBezTo>
                  <a:cubicBezTo>
                    <a:pt x="367459" y="61981"/>
                    <a:pt x="375049" y="64511"/>
                    <a:pt x="388330" y="69571"/>
                  </a:cubicBezTo>
                  <a:cubicBezTo>
                    <a:pt x="399082" y="73365"/>
                    <a:pt x="407304" y="77793"/>
                    <a:pt x="413629" y="81587"/>
                  </a:cubicBezTo>
                  <a:cubicBezTo>
                    <a:pt x="419953" y="79690"/>
                    <a:pt x="426910" y="75895"/>
                    <a:pt x="434500" y="70203"/>
                  </a:cubicBezTo>
                  <a:cubicBezTo>
                    <a:pt x="447149" y="62614"/>
                    <a:pt x="456004" y="57554"/>
                    <a:pt x="461696" y="55024"/>
                  </a:cubicBezTo>
                  <a:cubicBezTo>
                    <a:pt x="464226" y="53759"/>
                    <a:pt x="466755" y="54392"/>
                    <a:pt x="468653" y="55656"/>
                  </a:cubicBezTo>
                  <a:cubicBezTo>
                    <a:pt x="478772" y="61981"/>
                    <a:pt x="490789" y="72100"/>
                    <a:pt x="504071" y="86647"/>
                  </a:cubicBezTo>
                  <a:cubicBezTo>
                    <a:pt x="518617" y="101826"/>
                    <a:pt x="529369" y="111945"/>
                    <a:pt x="535694" y="117005"/>
                  </a:cubicBezTo>
                  <a:cubicBezTo>
                    <a:pt x="538856" y="119535"/>
                    <a:pt x="539488" y="123330"/>
                    <a:pt x="537591" y="127124"/>
                  </a:cubicBezTo>
                  <a:cubicBezTo>
                    <a:pt x="525574" y="149261"/>
                    <a:pt x="516087" y="165705"/>
                    <a:pt x="509130" y="177089"/>
                  </a:cubicBezTo>
                  <a:cubicBezTo>
                    <a:pt x="520515" y="209344"/>
                    <a:pt x="525574" y="223258"/>
                    <a:pt x="527472" y="228951"/>
                  </a:cubicBezTo>
                  <a:cubicBezTo>
                    <a:pt x="535061" y="230215"/>
                    <a:pt x="544548" y="232113"/>
                    <a:pt x="554035" y="235275"/>
                  </a:cubicBezTo>
                  <a:cubicBezTo>
                    <a:pt x="567317" y="239070"/>
                    <a:pt x="576804" y="241600"/>
                    <a:pt x="581863" y="242865"/>
                  </a:cubicBezTo>
                  <a:cubicBezTo>
                    <a:pt x="585658" y="243497"/>
                    <a:pt x="588188" y="246659"/>
                    <a:pt x="588188" y="250454"/>
                  </a:cubicBezTo>
                  <a:lnTo>
                    <a:pt x="588188" y="340263"/>
                  </a:lnTo>
                  <a:cubicBezTo>
                    <a:pt x="588188" y="344058"/>
                    <a:pt x="585658" y="347221"/>
                    <a:pt x="581863" y="347853"/>
                  </a:cubicBezTo>
                  <a:cubicBezTo>
                    <a:pt x="578701" y="348485"/>
                    <a:pt x="571744" y="350383"/>
                    <a:pt x="555300" y="355443"/>
                  </a:cubicBezTo>
                  <a:cubicBezTo>
                    <a:pt x="545813" y="357972"/>
                    <a:pt x="537591" y="360502"/>
                    <a:pt x="530002" y="361767"/>
                  </a:cubicBezTo>
                  <a:cubicBezTo>
                    <a:pt x="528104" y="366194"/>
                    <a:pt x="524309" y="373151"/>
                    <a:pt x="519250" y="387066"/>
                  </a:cubicBezTo>
                  <a:cubicBezTo>
                    <a:pt x="515455" y="398450"/>
                    <a:pt x="511028" y="406672"/>
                    <a:pt x="506600" y="412996"/>
                  </a:cubicBezTo>
                  <a:cubicBezTo>
                    <a:pt x="509130" y="417424"/>
                    <a:pt x="513558" y="424381"/>
                    <a:pt x="518617" y="433868"/>
                  </a:cubicBezTo>
                  <a:cubicBezTo>
                    <a:pt x="524309" y="443987"/>
                    <a:pt x="529369" y="451576"/>
                    <a:pt x="533796" y="457269"/>
                  </a:cubicBezTo>
                  <a:cubicBezTo>
                    <a:pt x="535694" y="459798"/>
                    <a:pt x="536326" y="463593"/>
                    <a:pt x="533796" y="466755"/>
                  </a:cubicBezTo>
                  <a:cubicBezTo>
                    <a:pt x="528104" y="474977"/>
                    <a:pt x="507233" y="497114"/>
                    <a:pt x="469285" y="533796"/>
                  </a:cubicBezTo>
                  <a:cubicBezTo>
                    <a:pt x="466755" y="536326"/>
                    <a:pt x="463593" y="536959"/>
                    <a:pt x="460431" y="535061"/>
                  </a:cubicBezTo>
                  <a:cubicBezTo>
                    <a:pt x="443354" y="526839"/>
                    <a:pt x="426910" y="517352"/>
                    <a:pt x="411099" y="506600"/>
                  </a:cubicBezTo>
                  <a:cubicBezTo>
                    <a:pt x="394023" y="516087"/>
                    <a:pt x="376946" y="523044"/>
                    <a:pt x="361135" y="526207"/>
                  </a:cubicBezTo>
                  <a:cubicBezTo>
                    <a:pt x="359237" y="530634"/>
                    <a:pt x="356075" y="538224"/>
                    <a:pt x="353545" y="550873"/>
                  </a:cubicBezTo>
                  <a:cubicBezTo>
                    <a:pt x="349750" y="566684"/>
                    <a:pt x="346588" y="577436"/>
                    <a:pt x="343426" y="583128"/>
                  </a:cubicBezTo>
                  <a:cubicBezTo>
                    <a:pt x="342793" y="586290"/>
                    <a:pt x="339631" y="588188"/>
                    <a:pt x="337101" y="588188"/>
                  </a:cubicBezTo>
                  <a:close/>
                  <a:moveTo>
                    <a:pt x="253616" y="572376"/>
                  </a:moveTo>
                  <a:lnTo>
                    <a:pt x="331409" y="572376"/>
                  </a:lnTo>
                  <a:cubicBezTo>
                    <a:pt x="333306" y="567949"/>
                    <a:pt x="335204" y="560360"/>
                    <a:pt x="338366" y="547710"/>
                  </a:cubicBezTo>
                  <a:cubicBezTo>
                    <a:pt x="341528" y="533164"/>
                    <a:pt x="345323" y="522412"/>
                    <a:pt x="349750" y="515455"/>
                  </a:cubicBezTo>
                  <a:cubicBezTo>
                    <a:pt x="351015" y="513558"/>
                    <a:pt x="352913" y="512293"/>
                    <a:pt x="354810" y="511660"/>
                  </a:cubicBezTo>
                  <a:cubicBezTo>
                    <a:pt x="371254" y="508498"/>
                    <a:pt x="388963" y="501541"/>
                    <a:pt x="407937" y="490789"/>
                  </a:cubicBezTo>
                  <a:cubicBezTo>
                    <a:pt x="410467" y="489524"/>
                    <a:pt x="413629" y="489524"/>
                    <a:pt x="416159" y="490789"/>
                  </a:cubicBezTo>
                  <a:cubicBezTo>
                    <a:pt x="431338" y="500908"/>
                    <a:pt x="447149" y="510395"/>
                    <a:pt x="462961" y="517985"/>
                  </a:cubicBezTo>
                  <a:cubicBezTo>
                    <a:pt x="496481" y="485097"/>
                    <a:pt x="511660" y="469285"/>
                    <a:pt x="517985" y="461696"/>
                  </a:cubicBezTo>
                  <a:cubicBezTo>
                    <a:pt x="514190" y="456004"/>
                    <a:pt x="509763" y="449679"/>
                    <a:pt x="505336" y="441457"/>
                  </a:cubicBezTo>
                  <a:cubicBezTo>
                    <a:pt x="495216" y="423116"/>
                    <a:pt x="492054" y="418056"/>
                    <a:pt x="490789" y="416159"/>
                  </a:cubicBezTo>
                  <a:cubicBezTo>
                    <a:pt x="488892" y="412996"/>
                    <a:pt x="489524" y="409202"/>
                    <a:pt x="492054" y="406672"/>
                  </a:cubicBezTo>
                  <a:cubicBezTo>
                    <a:pt x="495216" y="403509"/>
                    <a:pt x="499643" y="396552"/>
                    <a:pt x="505336" y="381373"/>
                  </a:cubicBezTo>
                  <a:cubicBezTo>
                    <a:pt x="511028" y="365562"/>
                    <a:pt x="515455" y="355443"/>
                    <a:pt x="518617" y="350383"/>
                  </a:cubicBezTo>
                  <a:cubicBezTo>
                    <a:pt x="519882" y="348485"/>
                    <a:pt x="521779" y="347221"/>
                    <a:pt x="524309" y="346588"/>
                  </a:cubicBezTo>
                  <a:cubicBezTo>
                    <a:pt x="531899" y="345323"/>
                    <a:pt x="540753" y="343426"/>
                    <a:pt x="551505" y="340263"/>
                  </a:cubicBezTo>
                  <a:cubicBezTo>
                    <a:pt x="560360" y="337734"/>
                    <a:pt x="567949" y="335836"/>
                    <a:pt x="573009" y="333939"/>
                  </a:cubicBezTo>
                  <a:lnTo>
                    <a:pt x="573009" y="256146"/>
                  </a:lnTo>
                  <a:cubicBezTo>
                    <a:pt x="567317" y="254881"/>
                    <a:pt x="559727" y="252984"/>
                    <a:pt x="550240" y="249822"/>
                  </a:cubicBezTo>
                  <a:cubicBezTo>
                    <a:pt x="540121" y="246659"/>
                    <a:pt x="531899" y="244762"/>
                    <a:pt x="524309" y="244130"/>
                  </a:cubicBezTo>
                  <a:cubicBezTo>
                    <a:pt x="516720" y="246027"/>
                    <a:pt x="516720" y="245394"/>
                    <a:pt x="493319" y="178354"/>
                  </a:cubicBezTo>
                  <a:cubicBezTo>
                    <a:pt x="492054" y="175824"/>
                    <a:pt x="492054" y="173294"/>
                    <a:pt x="493319" y="171397"/>
                  </a:cubicBezTo>
                  <a:cubicBezTo>
                    <a:pt x="499643" y="161910"/>
                    <a:pt x="508498" y="146731"/>
                    <a:pt x="520515" y="125227"/>
                  </a:cubicBezTo>
                  <a:cubicBezTo>
                    <a:pt x="513558" y="118902"/>
                    <a:pt x="504703" y="110048"/>
                    <a:pt x="492054" y="97399"/>
                  </a:cubicBezTo>
                  <a:cubicBezTo>
                    <a:pt x="481302" y="86015"/>
                    <a:pt x="471815" y="77160"/>
                    <a:pt x="463593" y="71468"/>
                  </a:cubicBezTo>
                  <a:cubicBezTo>
                    <a:pt x="458533" y="73998"/>
                    <a:pt x="451576" y="77793"/>
                    <a:pt x="442722" y="83485"/>
                  </a:cubicBezTo>
                  <a:cubicBezTo>
                    <a:pt x="431970" y="90442"/>
                    <a:pt x="422483" y="95501"/>
                    <a:pt x="413629" y="97399"/>
                  </a:cubicBezTo>
                  <a:cubicBezTo>
                    <a:pt x="411099" y="98031"/>
                    <a:pt x="408569" y="97399"/>
                    <a:pt x="406672" y="96134"/>
                  </a:cubicBezTo>
                  <a:cubicBezTo>
                    <a:pt x="401612" y="92339"/>
                    <a:pt x="392758" y="87912"/>
                    <a:pt x="382006" y="83485"/>
                  </a:cubicBezTo>
                  <a:cubicBezTo>
                    <a:pt x="366194" y="77793"/>
                    <a:pt x="356707" y="73998"/>
                    <a:pt x="352913" y="72100"/>
                  </a:cubicBezTo>
                  <a:cubicBezTo>
                    <a:pt x="351015" y="70836"/>
                    <a:pt x="349118" y="68938"/>
                    <a:pt x="348485" y="67041"/>
                  </a:cubicBezTo>
                  <a:cubicBezTo>
                    <a:pt x="342161" y="41742"/>
                    <a:pt x="337101" y="24666"/>
                    <a:pt x="333939" y="15179"/>
                  </a:cubicBezTo>
                  <a:lnTo>
                    <a:pt x="257411" y="15179"/>
                  </a:lnTo>
                  <a:cubicBezTo>
                    <a:pt x="255514" y="22136"/>
                    <a:pt x="252984" y="29726"/>
                    <a:pt x="250454" y="39213"/>
                  </a:cubicBezTo>
                  <a:cubicBezTo>
                    <a:pt x="246027" y="56289"/>
                    <a:pt x="242865" y="66408"/>
                    <a:pt x="242232" y="70203"/>
                  </a:cubicBezTo>
                  <a:cubicBezTo>
                    <a:pt x="240967" y="73365"/>
                    <a:pt x="238437" y="75895"/>
                    <a:pt x="235275" y="75895"/>
                  </a:cubicBezTo>
                  <a:cubicBezTo>
                    <a:pt x="233378" y="75895"/>
                    <a:pt x="224523" y="77793"/>
                    <a:pt x="180251" y="97399"/>
                  </a:cubicBezTo>
                  <a:cubicBezTo>
                    <a:pt x="177721" y="98664"/>
                    <a:pt x="174559" y="98031"/>
                    <a:pt x="172029" y="96766"/>
                  </a:cubicBezTo>
                  <a:cubicBezTo>
                    <a:pt x="161277" y="88544"/>
                    <a:pt x="145466" y="79690"/>
                    <a:pt x="125860" y="69571"/>
                  </a:cubicBezTo>
                  <a:cubicBezTo>
                    <a:pt x="92339" y="102459"/>
                    <a:pt x="77160" y="118270"/>
                    <a:pt x="70836" y="125860"/>
                  </a:cubicBezTo>
                  <a:cubicBezTo>
                    <a:pt x="77793" y="134714"/>
                    <a:pt x="86647" y="149893"/>
                    <a:pt x="98031" y="172029"/>
                  </a:cubicBezTo>
                  <a:cubicBezTo>
                    <a:pt x="99296" y="174559"/>
                    <a:pt x="99296" y="177721"/>
                    <a:pt x="97399" y="180251"/>
                  </a:cubicBezTo>
                  <a:cubicBezTo>
                    <a:pt x="93604" y="185943"/>
                    <a:pt x="88544" y="194798"/>
                    <a:pt x="83485" y="207447"/>
                  </a:cubicBezTo>
                  <a:cubicBezTo>
                    <a:pt x="77160" y="222626"/>
                    <a:pt x="72733" y="232113"/>
                    <a:pt x="69571" y="237173"/>
                  </a:cubicBezTo>
                  <a:cubicBezTo>
                    <a:pt x="68306" y="239070"/>
                    <a:pt x="66408" y="240967"/>
                    <a:pt x="63878" y="240967"/>
                  </a:cubicBezTo>
                  <a:cubicBezTo>
                    <a:pt x="56289" y="242232"/>
                    <a:pt x="47435" y="244130"/>
                    <a:pt x="36683" y="247292"/>
                  </a:cubicBezTo>
                  <a:cubicBezTo>
                    <a:pt x="27196" y="249822"/>
                    <a:pt x="20239" y="252352"/>
                    <a:pt x="15179" y="253616"/>
                  </a:cubicBezTo>
                  <a:lnTo>
                    <a:pt x="15179" y="332041"/>
                  </a:lnTo>
                  <a:cubicBezTo>
                    <a:pt x="20871" y="333306"/>
                    <a:pt x="28461" y="335204"/>
                    <a:pt x="37948" y="338366"/>
                  </a:cubicBezTo>
                  <a:cubicBezTo>
                    <a:pt x="49332" y="341528"/>
                    <a:pt x="58819" y="343426"/>
                    <a:pt x="66408" y="344691"/>
                  </a:cubicBezTo>
                  <a:cubicBezTo>
                    <a:pt x="70203" y="345323"/>
                    <a:pt x="72733" y="347853"/>
                    <a:pt x="73365" y="351648"/>
                  </a:cubicBezTo>
                  <a:cubicBezTo>
                    <a:pt x="74630" y="360502"/>
                    <a:pt x="77793" y="369989"/>
                    <a:pt x="82220" y="381373"/>
                  </a:cubicBezTo>
                  <a:cubicBezTo>
                    <a:pt x="92339" y="402877"/>
                    <a:pt x="94237" y="408569"/>
                    <a:pt x="94869" y="410467"/>
                  </a:cubicBezTo>
                  <a:cubicBezTo>
                    <a:pt x="95501" y="412364"/>
                    <a:pt x="95501" y="414894"/>
                    <a:pt x="94237" y="416791"/>
                  </a:cubicBezTo>
                  <a:cubicBezTo>
                    <a:pt x="78425" y="444619"/>
                    <a:pt x="71468" y="457269"/>
                    <a:pt x="68938" y="462961"/>
                  </a:cubicBezTo>
                  <a:cubicBezTo>
                    <a:pt x="101826" y="496481"/>
                    <a:pt x="117005" y="510395"/>
                    <a:pt x="124595" y="516087"/>
                  </a:cubicBezTo>
                  <a:cubicBezTo>
                    <a:pt x="129022" y="513558"/>
                    <a:pt x="135979" y="509763"/>
                    <a:pt x="144833" y="504071"/>
                  </a:cubicBezTo>
                  <a:cubicBezTo>
                    <a:pt x="156218" y="497114"/>
                    <a:pt x="165705" y="492686"/>
                    <a:pt x="173927" y="490156"/>
                  </a:cubicBezTo>
                  <a:cubicBezTo>
                    <a:pt x="176456" y="489524"/>
                    <a:pt x="178986" y="489524"/>
                    <a:pt x="180884" y="491421"/>
                  </a:cubicBezTo>
                  <a:cubicBezTo>
                    <a:pt x="182148" y="492054"/>
                    <a:pt x="191003" y="496481"/>
                    <a:pt x="234643" y="515455"/>
                  </a:cubicBezTo>
                  <a:cubicBezTo>
                    <a:pt x="236540" y="516087"/>
                    <a:pt x="237805" y="517985"/>
                    <a:pt x="239070" y="519882"/>
                  </a:cubicBezTo>
                  <a:cubicBezTo>
                    <a:pt x="241600" y="525574"/>
                    <a:pt x="244130" y="535694"/>
                    <a:pt x="247292" y="550240"/>
                  </a:cubicBezTo>
                  <a:cubicBezTo>
                    <a:pt x="249822" y="559095"/>
                    <a:pt x="251719" y="566684"/>
                    <a:pt x="253616" y="57237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sp>
        <p:nvSpPr>
          <p:cNvPr id="5129" name="Google Shape;5129;p18"/>
          <p:cNvSpPr/>
          <p:nvPr/>
        </p:nvSpPr>
        <p:spPr>
          <a:xfrm rot="-5400000">
            <a:off x="7204145" y="3520034"/>
            <a:ext cx="542777" cy="542785"/>
          </a:xfrm>
          <a:custGeom>
            <a:avLst/>
            <a:gdLst/>
            <a:ahLst/>
            <a:cxnLst/>
            <a:rect l="l" t="t" r="r" b="b"/>
            <a:pathLst>
              <a:path w="563880" h="175260" extrusionOk="0">
                <a:moveTo>
                  <a:pt x="563880" y="175260"/>
                </a:moveTo>
                <a:lnTo>
                  <a:pt x="563880" y="0"/>
                </a:lnTo>
                <a:lnTo>
                  <a:pt x="0" y="0"/>
                </a:lnTo>
              </a:path>
            </a:pathLst>
          </a:custGeom>
          <a:noFill/>
          <a:ln w="25400" cap="flat" cmpd="sng">
            <a:solidFill>
              <a:schemeClr val="accent2"/>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799"/>
              <a:buFont typeface="Arial"/>
              <a:buNone/>
            </a:pPr>
            <a:endParaRPr sz="1799" u="none" strike="noStrike" cap="none">
              <a:solidFill>
                <a:srgbClr val="71707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10"/>
                                        </p:tgtEl>
                                        <p:attrNameLst>
                                          <p:attrName>style.visibility</p:attrName>
                                        </p:attrNameLst>
                                      </p:cBhvr>
                                      <p:to>
                                        <p:strVal val="visible"/>
                                      </p:to>
                                    </p:set>
                                    <p:animEffect transition="in" filter="fade">
                                      <p:cBhvr>
                                        <p:cTn id="7" dur="500"/>
                                        <p:tgtEl>
                                          <p:spTgt spid="5110"/>
                                        </p:tgtEl>
                                      </p:cBhvr>
                                    </p:animEffect>
                                  </p:childTnLst>
                                </p:cTn>
                              </p:par>
                              <p:par>
                                <p:cTn id="8" presetID="10" presetClass="entr" presetSubtype="0" fill="hold" nodeType="withEffect">
                                  <p:stCondLst>
                                    <p:cond delay="0"/>
                                  </p:stCondLst>
                                  <p:childTnLst>
                                    <p:set>
                                      <p:cBhvr>
                                        <p:cTn id="9" dur="1" fill="hold">
                                          <p:stCondLst>
                                            <p:cond delay="0"/>
                                          </p:stCondLst>
                                        </p:cTn>
                                        <p:tgtEl>
                                          <p:spTgt spid="5113"/>
                                        </p:tgtEl>
                                        <p:attrNameLst>
                                          <p:attrName>style.visibility</p:attrName>
                                        </p:attrNameLst>
                                      </p:cBhvr>
                                      <p:to>
                                        <p:strVal val="visible"/>
                                      </p:to>
                                    </p:set>
                                    <p:animEffect transition="in" filter="fade">
                                      <p:cBhvr>
                                        <p:cTn id="10" dur="500"/>
                                        <p:tgtEl>
                                          <p:spTgt spid="5113"/>
                                        </p:tgtEl>
                                      </p:cBhvr>
                                    </p:animEffect>
                                  </p:childTnLst>
                                </p:cTn>
                              </p:par>
                              <p:par>
                                <p:cTn id="11" presetID="10" presetClass="entr" presetSubtype="0" fill="hold" nodeType="withEffect">
                                  <p:stCondLst>
                                    <p:cond delay="0"/>
                                  </p:stCondLst>
                                  <p:childTnLst>
                                    <p:set>
                                      <p:cBhvr>
                                        <p:cTn id="12" dur="1" fill="hold">
                                          <p:stCondLst>
                                            <p:cond delay="0"/>
                                          </p:stCondLst>
                                        </p:cTn>
                                        <p:tgtEl>
                                          <p:spTgt spid="5111"/>
                                        </p:tgtEl>
                                        <p:attrNameLst>
                                          <p:attrName>style.visibility</p:attrName>
                                        </p:attrNameLst>
                                      </p:cBhvr>
                                      <p:to>
                                        <p:strVal val="visible"/>
                                      </p:to>
                                    </p:set>
                                    <p:animEffect transition="in" filter="fade">
                                      <p:cBhvr>
                                        <p:cTn id="13" dur="500"/>
                                        <p:tgtEl>
                                          <p:spTgt spid="5111"/>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5114"/>
                                        </p:tgtEl>
                                        <p:attrNameLst>
                                          <p:attrName>style.visibility</p:attrName>
                                        </p:attrNameLst>
                                      </p:cBhvr>
                                      <p:to>
                                        <p:strVal val="visible"/>
                                      </p:to>
                                    </p:set>
                                    <p:animEffect transition="in" filter="fade">
                                      <p:cBhvr>
                                        <p:cTn id="17" dur="500"/>
                                        <p:tgtEl>
                                          <p:spTgt spid="5114"/>
                                        </p:tgtEl>
                                      </p:cBhvr>
                                    </p:animEffect>
                                  </p:childTnLst>
                                </p:cTn>
                              </p:par>
                              <p:par>
                                <p:cTn id="18" presetID="10" presetClass="entr" presetSubtype="0" fill="hold" nodeType="withEffect">
                                  <p:stCondLst>
                                    <p:cond delay="0"/>
                                  </p:stCondLst>
                                  <p:childTnLst>
                                    <p:set>
                                      <p:cBhvr>
                                        <p:cTn id="19" dur="1" fill="hold">
                                          <p:stCondLst>
                                            <p:cond delay="0"/>
                                          </p:stCondLst>
                                        </p:cTn>
                                        <p:tgtEl>
                                          <p:spTgt spid="5115"/>
                                        </p:tgtEl>
                                        <p:attrNameLst>
                                          <p:attrName>style.visibility</p:attrName>
                                        </p:attrNameLst>
                                      </p:cBhvr>
                                      <p:to>
                                        <p:strVal val="visible"/>
                                      </p:to>
                                    </p:set>
                                    <p:animEffect transition="in" filter="fade">
                                      <p:cBhvr>
                                        <p:cTn id="20" dur="500"/>
                                        <p:tgtEl>
                                          <p:spTgt spid="5115"/>
                                        </p:tgtEl>
                                      </p:cBhvr>
                                    </p:animEffect>
                                  </p:childTnLst>
                                </p:cTn>
                              </p:par>
                              <p:par>
                                <p:cTn id="21" presetID="10" presetClass="entr" presetSubtype="0" fill="hold" nodeType="withEffect">
                                  <p:stCondLst>
                                    <p:cond delay="0"/>
                                  </p:stCondLst>
                                  <p:childTnLst>
                                    <p:set>
                                      <p:cBhvr>
                                        <p:cTn id="22" dur="1" fill="hold">
                                          <p:stCondLst>
                                            <p:cond delay="0"/>
                                          </p:stCondLst>
                                        </p:cTn>
                                        <p:tgtEl>
                                          <p:spTgt spid="5116"/>
                                        </p:tgtEl>
                                        <p:attrNameLst>
                                          <p:attrName>style.visibility</p:attrName>
                                        </p:attrNameLst>
                                      </p:cBhvr>
                                      <p:to>
                                        <p:strVal val="visible"/>
                                      </p:to>
                                    </p:set>
                                    <p:animEffect transition="in" filter="fade">
                                      <p:cBhvr>
                                        <p:cTn id="23" dur="500"/>
                                        <p:tgtEl>
                                          <p:spTgt spid="5116"/>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5112"/>
                                        </p:tgtEl>
                                        <p:attrNameLst>
                                          <p:attrName>style.visibility</p:attrName>
                                        </p:attrNameLst>
                                      </p:cBhvr>
                                      <p:to>
                                        <p:strVal val="visible"/>
                                      </p:to>
                                    </p:set>
                                    <p:animEffect transition="in" filter="fade">
                                      <p:cBhvr>
                                        <p:cTn id="27" dur="500"/>
                                        <p:tgtEl>
                                          <p:spTgt spid="5112"/>
                                        </p:tgtEl>
                                      </p:cBhvr>
                                    </p:animEffect>
                                  </p:childTnLst>
                                </p:cTn>
                              </p:par>
                              <p:par>
                                <p:cTn id="28" presetID="10" presetClass="entr" presetSubtype="0" fill="hold" nodeType="withEffect">
                                  <p:stCondLst>
                                    <p:cond delay="0"/>
                                  </p:stCondLst>
                                  <p:childTnLst>
                                    <p:set>
                                      <p:cBhvr>
                                        <p:cTn id="29" dur="1" fill="hold">
                                          <p:stCondLst>
                                            <p:cond delay="0"/>
                                          </p:stCondLst>
                                        </p:cTn>
                                        <p:tgtEl>
                                          <p:spTgt spid="5107"/>
                                        </p:tgtEl>
                                        <p:attrNameLst>
                                          <p:attrName>style.visibility</p:attrName>
                                        </p:attrNameLst>
                                      </p:cBhvr>
                                      <p:to>
                                        <p:strVal val="visible"/>
                                      </p:to>
                                    </p:set>
                                    <p:animEffect transition="in" filter="fade">
                                      <p:cBhvr>
                                        <p:cTn id="30" dur="500"/>
                                        <p:tgtEl>
                                          <p:spTgt spid="5107"/>
                                        </p:tgtEl>
                                      </p:cBhvr>
                                    </p:animEffect>
                                  </p:childTnLst>
                                </p:cTn>
                              </p:par>
                              <p:par>
                                <p:cTn id="31" presetID="10" presetClass="entr" presetSubtype="0" fill="hold" nodeType="withEffect">
                                  <p:stCondLst>
                                    <p:cond delay="0"/>
                                  </p:stCondLst>
                                  <p:childTnLst>
                                    <p:set>
                                      <p:cBhvr>
                                        <p:cTn id="32" dur="1" fill="hold">
                                          <p:stCondLst>
                                            <p:cond delay="0"/>
                                          </p:stCondLst>
                                        </p:cTn>
                                        <p:tgtEl>
                                          <p:spTgt spid="5129"/>
                                        </p:tgtEl>
                                        <p:attrNameLst>
                                          <p:attrName>style.visibility</p:attrName>
                                        </p:attrNameLst>
                                      </p:cBhvr>
                                      <p:to>
                                        <p:strVal val="visible"/>
                                      </p:to>
                                    </p:set>
                                    <p:animEffect transition="in" filter="fade">
                                      <p:cBhvr>
                                        <p:cTn id="33" dur="500"/>
                                        <p:tgtEl>
                                          <p:spTgt spid="5129"/>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5126"/>
                                        </p:tgtEl>
                                        <p:attrNameLst>
                                          <p:attrName>style.visibility</p:attrName>
                                        </p:attrNameLst>
                                      </p:cBhvr>
                                      <p:to>
                                        <p:strVal val="visible"/>
                                      </p:to>
                                    </p:set>
                                    <p:animEffect transition="in" filter="fade">
                                      <p:cBhvr>
                                        <p:cTn id="37" dur="500"/>
                                        <p:tgtEl>
                                          <p:spTgt spid="5126"/>
                                        </p:tgtEl>
                                      </p:cBhvr>
                                    </p:animEffect>
                                  </p:childTnLst>
                                </p:cTn>
                              </p:par>
                              <p:par>
                                <p:cTn id="38" presetID="10" presetClass="entr" presetSubtype="0" fill="hold" nodeType="withEffect">
                                  <p:stCondLst>
                                    <p:cond delay="0"/>
                                  </p:stCondLst>
                                  <p:childTnLst>
                                    <p:set>
                                      <p:cBhvr>
                                        <p:cTn id="39" dur="1" fill="hold">
                                          <p:stCondLst>
                                            <p:cond delay="0"/>
                                          </p:stCondLst>
                                        </p:cTn>
                                        <p:tgtEl>
                                          <p:spTgt spid="5119"/>
                                        </p:tgtEl>
                                        <p:attrNameLst>
                                          <p:attrName>style.visibility</p:attrName>
                                        </p:attrNameLst>
                                      </p:cBhvr>
                                      <p:to>
                                        <p:strVal val="visible"/>
                                      </p:to>
                                    </p:set>
                                    <p:animEffect transition="in" filter="fade">
                                      <p:cBhvr>
                                        <p:cTn id="40" dur="500"/>
                                        <p:tgtEl>
                                          <p:spTgt spid="5119"/>
                                        </p:tgtEl>
                                      </p:cBhvr>
                                    </p:animEffect>
                                  </p:childTnLst>
                                </p:cTn>
                              </p:par>
                              <p:par>
                                <p:cTn id="41" presetID="10" presetClass="entr" presetSubtype="0" fill="hold" nodeType="withEffect">
                                  <p:stCondLst>
                                    <p:cond delay="0"/>
                                  </p:stCondLst>
                                  <p:childTnLst>
                                    <p:set>
                                      <p:cBhvr>
                                        <p:cTn id="42" dur="1" fill="hold">
                                          <p:stCondLst>
                                            <p:cond delay="0"/>
                                          </p:stCondLst>
                                        </p:cTn>
                                        <p:tgtEl>
                                          <p:spTgt spid="5120"/>
                                        </p:tgtEl>
                                        <p:attrNameLst>
                                          <p:attrName>style.visibility</p:attrName>
                                        </p:attrNameLst>
                                      </p:cBhvr>
                                      <p:to>
                                        <p:strVal val="visible"/>
                                      </p:to>
                                    </p:set>
                                    <p:animEffect transition="in" filter="fade">
                                      <p:cBhvr>
                                        <p:cTn id="43" dur="500"/>
                                        <p:tgtEl>
                                          <p:spTgt spid="5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34"/>
        <p:cNvGrpSpPr/>
        <p:nvPr/>
      </p:nvGrpSpPr>
      <p:grpSpPr>
        <a:xfrm>
          <a:off x="0" y="0"/>
          <a:ext cx="0" cy="0"/>
          <a:chOff x="0" y="0"/>
          <a:chExt cx="0" cy="0"/>
        </a:xfrm>
      </p:grpSpPr>
      <p:sp>
        <p:nvSpPr>
          <p:cNvPr id="5135" name="Google Shape;5135;p19"/>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SDDC Infrastructure</a:t>
            </a:r>
            <a:br>
              <a:rPr lang="en-US"/>
            </a:br>
            <a:endParaRPr/>
          </a:p>
        </p:txBody>
      </p:sp>
      <p:sp>
        <p:nvSpPr>
          <p:cNvPr id="5136" name="Google Shape;5136;p19"/>
          <p:cNvSpPr txBox="1"/>
          <p:nvPr/>
        </p:nvSpPr>
        <p:spPr>
          <a:xfrm>
            <a:off x="589108" y="2252519"/>
            <a:ext cx="6093015" cy="2469907"/>
          </a:xfrm>
          <a:prstGeom prst="rect">
            <a:avLst/>
          </a:prstGeom>
          <a:noFill/>
          <a:ln>
            <a:noFill/>
          </a:ln>
        </p:spPr>
        <p:txBody>
          <a:bodyPr spcFirstLastPara="1" wrap="square" lIns="0" tIns="0" rIns="0" bIns="0" anchor="t" anchorCtr="0">
            <a:spAutoFit/>
          </a:bodyPr>
          <a:lstStyle/>
          <a:p>
            <a:pPr marL="342900" marR="0" lvl="0" indent="-342900" algn="l" rtl="0">
              <a:lnSpc>
                <a:spcPct val="150000"/>
              </a:lnSpc>
              <a:spcBef>
                <a:spcPts val="0"/>
              </a:spcBef>
              <a:spcAft>
                <a:spcPts val="0"/>
              </a:spcAft>
              <a:buClr>
                <a:schemeClr val="dk1"/>
              </a:buClr>
              <a:buSzPts val="2000"/>
              <a:buFont typeface="Arial"/>
              <a:buChar char="•"/>
            </a:pPr>
            <a:r>
              <a:rPr lang="en-US" sz="2000" b="0">
                <a:solidFill>
                  <a:schemeClr val="dk1"/>
                </a:solidFill>
                <a:latin typeface="Arial"/>
                <a:ea typeface="Arial"/>
                <a:cs typeface="Arial"/>
                <a:sym typeface="Arial"/>
              </a:rPr>
              <a:t>vSAN Cluster-wide Deduplication</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000"/>
              <a:buFont typeface="Arial"/>
              <a:buChar char="•"/>
            </a:pPr>
            <a:r>
              <a:rPr lang="en-US" sz="2000" b="0">
                <a:solidFill>
                  <a:schemeClr val="dk1"/>
                </a:solidFill>
                <a:latin typeface="Arial"/>
                <a:ea typeface="Arial"/>
                <a:cs typeface="Arial"/>
                <a:sym typeface="Arial"/>
              </a:rPr>
              <a:t>vSAN Storage Cluster Traffic Separation</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000"/>
              <a:buFont typeface="Arial"/>
              <a:buChar char="•"/>
            </a:pPr>
            <a:r>
              <a:rPr lang="en-US" sz="2000" b="0">
                <a:solidFill>
                  <a:schemeClr val="dk1"/>
                </a:solidFill>
                <a:latin typeface="Arial"/>
                <a:ea typeface="Arial"/>
                <a:cs typeface="Arial"/>
                <a:sym typeface="Arial"/>
              </a:rPr>
              <a:t>Improved Scalability with vSAN File Services</a:t>
            </a:r>
            <a:endParaRPr sz="1800" baseline="300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vSAN Stretched Cluster Enhancements</a:t>
            </a:r>
            <a:endParaRPr/>
          </a:p>
          <a:p>
            <a:pPr marL="0" marR="0" lvl="0" indent="0" algn="ctr" rtl="0">
              <a:lnSpc>
                <a:spcPct val="150000"/>
              </a:lnSpc>
              <a:spcBef>
                <a:spcPts val="0"/>
              </a:spcBef>
              <a:spcAft>
                <a:spcPts val="0"/>
              </a:spcAft>
              <a:buClr>
                <a:schemeClr val="dk1"/>
              </a:buClr>
              <a:buSzPts val="900"/>
              <a:buFont typeface="Arial"/>
              <a:buNone/>
            </a:pPr>
            <a:endParaRPr sz="900">
              <a:solidFill>
                <a:schemeClr val="dk2"/>
              </a:solidFill>
              <a:latin typeface="Arial"/>
              <a:ea typeface="Arial"/>
              <a:cs typeface="Arial"/>
              <a:sym typeface="Arial"/>
            </a:endParaRPr>
          </a:p>
          <a:p>
            <a:pPr marL="0" marR="0" lvl="0" indent="0" algn="ctr" rtl="0">
              <a:lnSpc>
                <a:spcPct val="150000"/>
              </a:lnSpc>
              <a:spcBef>
                <a:spcPts val="0"/>
              </a:spcBef>
              <a:spcAft>
                <a:spcPts val="0"/>
              </a:spcAft>
              <a:buClr>
                <a:schemeClr val="dk1"/>
              </a:buClr>
              <a:buSzPts val="900"/>
              <a:buFont typeface="Arial"/>
              <a:buNone/>
            </a:pPr>
            <a:endParaRPr sz="900">
              <a:solidFill>
                <a:schemeClr val="dk2"/>
              </a:solidFill>
              <a:latin typeface="Arial"/>
              <a:ea typeface="Arial"/>
              <a:cs typeface="Arial"/>
              <a:sym typeface="Arial"/>
            </a:endParaRPr>
          </a:p>
          <a:p>
            <a:pPr marL="0" marR="0" lvl="0" indent="0" algn="ctr" rtl="0">
              <a:lnSpc>
                <a:spcPct val="150000"/>
              </a:lnSpc>
              <a:spcBef>
                <a:spcPts val="0"/>
              </a:spcBef>
              <a:spcAft>
                <a:spcPts val="0"/>
              </a:spcAft>
              <a:buClr>
                <a:schemeClr val="dk1"/>
              </a:buClr>
              <a:buSzPts val="900"/>
              <a:buFont typeface="Arial"/>
              <a:buNone/>
            </a:pPr>
            <a:endParaRPr sz="900">
              <a:solidFill>
                <a:schemeClr val="dk2"/>
              </a:solidFill>
              <a:latin typeface="Arial"/>
              <a:ea typeface="Arial"/>
              <a:cs typeface="Arial"/>
              <a:sym typeface="Arial"/>
            </a:endParaRPr>
          </a:p>
        </p:txBody>
      </p:sp>
      <p:sp>
        <p:nvSpPr>
          <p:cNvPr id="5137" name="Google Shape;5137;p19"/>
          <p:cNvSpPr txBox="1"/>
          <p:nvPr/>
        </p:nvSpPr>
        <p:spPr>
          <a:xfrm>
            <a:off x="588963" y="1823094"/>
            <a:ext cx="196592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chemeClr val="accent2"/>
                </a:solidFill>
                <a:latin typeface="Arial"/>
                <a:ea typeface="Arial"/>
                <a:cs typeface="Arial"/>
                <a:sym typeface="Arial"/>
              </a:rPr>
              <a:t>STORAGE | vSAN</a:t>
            </a:r>
            <a:endParaRPr sz="1800">
              <a:solidFill>
                <a:schemeClr val="accen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42"/>
        <p:cNvGrpSpPr/>
        <p:nvPr/>
      </p:nvGrpSpPr>
      <p:grpSpPr>
        <a:xfrm>
          <a:off x="0" y="0"/>
          <a:ext cx="0" cy="0"/>
          <a:chOff x="0" y="0"/>
          <a:chExt cx="0" cy="0"/>
        </a:xfrm>
      </p:grpSpPr>
      <p:sp>
        <p:nvSpPr>
          <p:cNvPr id="5143" name="Google Shape;5143;p2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Additional Space Efficiency Reducing Cost Per TB</a:t>
            </a:r>
            <a:endParaRPr/>
          </a:p>
        </p:txBody>
      </p:sp>
      <p:sp>
        <p:nvSpPr>
          <p:cNvPr id="5144" name="Google Shape;5144;p2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Cluster-wide deduplication in vSAN ESA as a part of VCF 9.0 (Limited Availability)</a:t>
            </a:r>
            <a:endParaRPr/>
          </a:p>
        </p:txBody>
      </p:sp>
      <p:sp>
        <p:nvSpPr>
          <p:cNvPr id="5145" name="Google Shape;5145;p20"/>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b="1" dirty="0"/>
              <a:t>Effective.  </a:t>
            </a:r>
            <a:r>
              <a:rPr lang="en-US" dirty="0"/>
              <a:t>Optimized for maximum space efficiency</a:t>
            </a:r>
            <a:endParaRPr dirty="0"/>
          </a:p>
          <a:p>
            <a:pPr marL="457200" lvl="1" indent="-184150" algn="l" rtl="0">
              <a:lnSpc>
                <a:spcPct val="100000"/>
              </a:lnSpc>
              <a:spcBef>
                <a:spcPts val="1200"/>
              </a:spcBef>
              <a:spcAft>
                <a:spcPts val="0"/>
              </a:spcAft>
              <a:buSzPts val="1260"/>
              <a:buChar char="•"/>
            </a:pPr>
            <a:r>
              <a:rPr lang="en-US" dirty="0"/>
              <a:t>Uses 4KB granularity</a:t>
            </a:r>
            <a:endParaRPr dirty="0"/>
          </a:p>
          <a:p>
            <a:pPr marL="457200" lvl="1" indent="-184150" algn="l" rtl="0">
              <a:lnSpc>
                <a:spcPct val="100000"/>
              </a:lnSpc>
              <a:spcBef>
                <a:spcPts val="1200"/>
              </a:spcBef>
              <a:spcAft>
                <a:spcPts val="0"/>
              </a:spcAft>
              <a:buSzPts val="1260"/>
              <a:buChar char="•"/>
            </a:pPr>
            <a:r>
              <a:rPr lang="en-US" dirty="0"/>
              <a:t>Cluster-wide </a:t>
            </a:r>
            <a:r>
              <a:rPr lang="en-US" dirty="0" err="1"/>
              <a:t>dedup</a:t>
            </a:r>
            <a:r>
              <a:rPr lang="en-US" dirty="0"/>
              <a:t> domain</a:t>
            </a:r>
            <a:endParaRPr dirty="0"/>
          </a:p>
          <a:p>
            <a:pPr marL="0" lvl="0" indent="0" algn="l" rtl="0">
              <a:lnSpc>
                <a:spcPct val="100000"/>
              </a:lnSpc>
              <a:spcBef>
                <a:spcPts val="1200"/>
              </a:spcBef>
              <a:spcAft>
                <a:spcPts val="0"/>
              </a:spcAft>
              <a:buSzPts val="1440"/>
              <a:buNone/>
            </a:pPr>
            <a:r>
              <a:rPr lang="en-US" b="1" dirty="0"/>
              <a:t>Runs asynchronously</a:t>
            </a:r>
            <a:endParaRPr dirty="0"/>
          </a:p>
          <a:p>
            <a:pPr marL="457200" lvl="1" indent="-184150" algn="l" rtl="0">
              <a:lnSpc>
                <a:spcPct val="100000"/>
              </a:lnSpc>
              <a:spcBef>
                <a:spcPts val="1200"/>
              </a:spcBef>
              <a:spcAft>
                <a:spcPts val="0"/>
              </a:spcAft>
              <a:buSzPts val="1260"/>
              <a:buChar char="•"/>
            </a:pPr>
            <a:r>
              <a:rPr lang="en-US" dirty="0"/>
              <a:t>Adaptive throttling</a:t>
            </a:r>
            <a:endParaRPr dirty="0"/>
          </a:p>
          <a:p>
            <a:pPr marL="457200" lvl="1" indent="-184150" algn="l" rtl="0">
              <a:lnSpc>
                <a:spcPct val="100000"/>
              </a:lnSpc>
              <a:spcBef>
                <a:spcPts val="1200"/>
              </a:spcBef>
              <a:spcAft>
                <a:spcPts val="0"/>
              </a:spcAft>
              <a:buSzPts val="1260"/>
              <a:buChar char="•"/>
            </a:pPr>
            <a:r>
              <a:rPr lang="en-US" dirty="0"/>
              <a:t>Minimal performance impact  </a:t>
            </a:r>
            <a:endParaRPr dirty="0"/>
          </a:p>
          <a:p>
            <a:pPr marL="0" lvl="0" indent="0" algn="l" rtl="0">
              <a:lnSpc>
                <a:spcPct val="100000"/>
              </a:lnSpc>
              <a:spcBef>
                <a:spcPts val="1200"/>
              </a:spcBef>
              <a:spcAft>
                <a:spcPts val="0"/>
              </a:spcAft>
              <a:buSzPts val="1440"/>
              <a:buNone/>
            </a:pPr>
            <a:r>
              <a:rPr lang="en-US" b="1" dirty="0" err="1"/>
              <a:t>vSAN</a:t>
            </a:r>
            <a:r>
              <a:rPr lang="en-US" b="1" dirty="0"/>
              <a:t> data services integration</a:t>
            </a:r>
            <a:endParaRPr dirty="0"/>
          </a:p>
          <a:p>
            <a:pPr marL="457200" lvl="1" indent="-184150" algn="l" rtl="0">
              <a:lnSpc>
                <a:spcPct val="100000"/>
              </a:lnSpc>
              <a:spcBef>
                <a:spcPts val="1200"/>
              </a:spcBef>
              <a:spcAft>
                <a:spcPts val="0"/>
              </a:spcAft>
              <a:buSzPts val="1260"/>
              <a:buChar char="•"/>
            </a:pPr>
            <a:r>
              <a:rPr lang="en-US" dirty="0"/>
              <a:t>Compression</a:t>
            </a:r>
            <a:endParaRPr dirty="0"/>
          </a:p>
          <a:p>
            <a:pPr marL="457200" lvl="1" indent="-184150" algn="l" rtl="0">
              <a:lnSpc>
                <a:spcPct val="100000"/>
              </a:lnSpc>
              <a:spcBef>
                <a:spcPts val="1200"/>
              </a:spcBef>
              <a:spcAft>
                <a:spcPts val="0"/>
              </a:spcAft>
              <a:buSzPts val="1260"/>
              <a:buChar char="•"/>
            </a:pPr>
            <a:r>
              <a:rPr lang="en-US" dirty="0"/>
              <a:t>Snapshots and clones</a:t>
            </a:r>
            <a:endParaRPr dirty="0"/>
          </a:p>
          <a:p>
            <a:pPr marL="457200" lvl="1" indent="-184150" algn="l" rtl="0">
              <a:lnSpc>
                <a:spcPct val="100000"/>
              </a:lnSpc>
              <a:spcBef>
                <a:spcPts val="1200"/>
              </a:spcBef>
              <a:spcAft>
                <a:spcPts val="0"/>
              </a:spcAft>
              <a:buSzPts val="1260"/>
              <a:buChar char="•"/>
            </a:pPr>
            <a:r>
              <a:rPr lang="en-US" dirty="0"/>
              <a:t>Erasure coding &amp; mirroring</a:t>
            </a:r>
            <a:endParaRPr dirty="0"/>
          </a:p>
          <a:p>
            <a:pPr marL="457200" lvl="1" indent="-184150" algn="l" rtl="0">
              <a:lnSpc>
                <a:spcPct val="100000"/>
              </a:lnSpc>
              <a:spcBef>
                <a:spcPts val="1200"/>
              </a:spcBef>
              <a:spcAft>
                <a:spcPts val="0"/>
              </a:spcAft>
              <a:buSzPts val="1260"/>
              <a:buChar char="•"/>
            </a:pPr>
            <a:r>
              <a:rPr lang="en-US" dirty="0"/>
              <a:t>Data-in-Transit encryption</a:t>
            </a:r>
            <a:endParaRPr dirty="0"/>
          </a:p>
        </p:txBody>
      </p:sp>
      <p:grpSp>
        <p:nvGrpSpPr>
          <p:cNvPr id="5146" name="Google Shape;5146;p20"/>
          <p:cNvGrpSpPr/>
          <p:nvPr/>
        </p:nvGrpSpPr>
        <p:grpSpPr>
          <a:xfrm>
            <a:off x="1410325" y="4204866"/>
            <a:ext cx="5044376" cy="337184"/>
            <a:chOff x="1410325" y="3943123"/>
            <a:chExt cx="5044376" cy="337184"/>
          </a:xfrm>
        </p:grpSpPr>
        <p:sp>
          <p:nvSpPr>
            <p:cNvPr id="5147" name="Google Shape;5147;p20"/>
            <p:cNvSpPr/>
            <p:nvPr/>
          </p:nvSpPr>
          <p:spPr>
            <a:xfrm>
              <a:off x="4505619" y="4096137"/>
              <a:ext cx="401436" cy="52386"/>
            </a:xfrm>
            <a:custGeom>
              <a:avLst/>
              <a:gdLst/>
              <a:ahLst/>
              <a:cxnLst/>
              <a:rect l="l" t="t" r="r" b="b"/>
              <a:pathLst>
                <a:path w="233809" h="30510" extrusionOk="0">
                  <a:moveTo>
                    <a:pt x="203151" y="0"/>
                  </a:moveTo>
                  <a:lnTo>
                    <a:pt x="233809" y="0"/>
                  </a:lnTo>
                  <a:lnTo>
                    <a:pt x="233809" y="30510"/>
                  </a:lnTo>
                  <a:lnTo>
                    <a:pt x="203151" y="30510"/>
                  </a:lnTo>
                  <a:close/>
                  <a:moveTo>
                    <a:pt x="101650" y="0"/>
                  </a:moveTo>
                  <a:lnTo>
                    <a:pt x="132160" y="0"/>
                  </a:lnTo>
                  <a:lnTo>
                    <a:pt x="132160" y="30510"/>
                  </a:lnTo>
                  <a:lnTo>
                    <a:pt x="101650" y="30510"/>
                  </a:lnTo>
                  <a:close/>
                  <a:moveTo>
                    <a:pt x="0" y="0"/>
                  </a:moveTo>
                  <a:lnTo>
                    <a:pt x="30510" y="0"/>
                  </a:lnTo>
                  <a:lnTo>
                    <a:pt x="30510" y="30510"/>
                  </a:lnTo>
                  <a:lnTo>
                    <a:pt x="0" y="3051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99">
                <a:solidFill>
                  <a:schemeClr val="lt1"/>
                </a:solidFill>
                <a:latin typeface="Arial"/>
                <a:ea typeface="Arial"/>
                <a:cs typeface="Arial"/>
                <a:sym typeface="Arial"/>
              </a:endParaRPr>
            </a:p>
          </p:txBody>
        </p:sp>
        <p:grpSp>
          <p:nvGrpSpPr>
            <p:cNvPr id="5148" name="Google Shape;5148;p20"/>
            <p:cNvGrpSpPr/>
            <p:nvPr/>
          </p:nvGrpSpPr>
          <p:grpSpPr>
            <a:xfrm>
              <a:off x="5101389" y="3943123"/>
              <a:ext cx="1353312" cy="337184"/>
              <a:chOff x="5060950" y="5251450"/>
              <a:chExt cx="1236133" cy="332317"/>
            </a:xfrm>
          </p:grpSpPr>
          <p:cxnSp>
            <p:nvCxnSpPr>
              <p:cNvPr id="5149" name="Google Shape;5149;p20"/>
              <p:cNvCxnSpPr/>
              <p:nvPr/>
            </p:nvCxnSpPr>
            <p:spPr>
              <a:xfrm>
                <a:off x="6010427"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50" name="Google Shape;5150;p20"/>
              <p:cNvCxnSpPr/>
              <p:nvPr/>
            </p:nvCxnSpPr>
            <p:spPr>
              <a:xfrm>
                <a:off x="6097120"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51" name="Google Shape;5151;p20"/>
              <p:cNvCxnSpPr/>
              <p:nvPr/>
            </p:nvCxnSpPr>
            <p:spPr>
              <a:xfrm>
                <a:off x="6183813"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52" name="Google Shape;5152;p20"/>
              <p:cNvCxnSpPr/>
              <p:nvPr/>
            </p:nvCxnSpPr>
            <p:spPr>
              <a:xfrm>
                <a:off x="5170587"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53" name="Google Shape;5153;p20"/>
              <p:cNvCxnSpPr/>
              <p:nvPr/>
            </p:nvCxnSpPr>
            <p:spPr>
              <a:xfrm>
                <a:off x="5257280"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54" name="Google Shape;5154;p20"/>
              <p:cNvCxnSpPr/>
              <p:nvPr/>
            </p:nvCxnSpPr>
            <p:spPr>
              <a:xfrm>
                <a:off x="5346683" y="5324175"/>
                <a:ext cx="0" cy="184223"/>
              </a:xfrm>
              <a:prstGeom prst="straightConnector1">
                <a:avLst/>
              </a:prstGeom>
              <a:noFill/>
              <a:ln w="25400" cap="flat" cmpd="sng">
                <a:solidFill>
                  <a:srgbClr val="7F7F7F"/>
                </a:solidFill>
                <a:prstDash val="solid"/>
                <a:miter lim="800000"/>
                <a:headEnd type="none" w="med" len="med"/>
                <a:tailEnd type="none" w="med" len="med"/>
              </a:ln>
            </p:spPr>
          </p:cxnSp>
          <p:sp>
            <p:nvSpPr>
              <p:cNvPr id="5155" name="Google Shape;5155;p20"/>
              <p:cNvSpPr/>
              <p:nvPr/>
            </p:nvSpPr>
            <p:spPr>
              <a:xfrm>
                <a:off x="5609471" y="5345848"/>
                <a:ext cx="135458" cy="140877"/>
              </a:xfrm>
              <a:prstGeom prst="ellipse">
                <a:avLst/>
              </a:prstGeom>
              <a:noFill/>
              <a:ln w="25400" cap="flat" cmpd="sng">
                <a:solidFill>
                  <a:srgbClr val="7F7F7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156" name="Google Shape;5156;p20"/>
              <p:cNvSpPr/>
              <p:nvPr/>
            </p:nvSpPr>
            <p:spPr>
              <a:xfrm>
                <a:off x="5060950" y="5251450"/>
                <a:ext cx="1236133" cy="332317"/>
              </a:xfrm>
              <a:prstGeom prst="rect">
                <a:avLst/>
              </a:prstGeom>
              <a:noFill/>
              <a:ln w="254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Arial"/>
                  <a:buNone/>
                </a:pPr>
                <a:endParaRPr sz="2800" b="0" i="0" u="none" strike="noStrike" cap="none">
                  <a:solidFill>
                    <a:srgbClr val="FFFFFF"/>
                  </a:solidFill>
                  <a:latin typeface="Arial"/>
                  <a:ea typeface="Arial"/>
                  <a:cs typeface="Arial"/>
                  <a:sym typeface="Arial"/>
                </a:endParaRPr>
              </a:p>
            </p:txBody>
          </p:sp>
        </p:grpSp>
        <p:grpSp>
          <p:nvGrpSpPr>
            <p:cNvPr id="5157" name="Google Shape;5157;p20"/>
            <p:cNvGrpSpPr/>
            <p:nvPr/>
          </p:nvGrpSpPr>
          <p:grpSpPr>
            <a:xfrm>
              <a:off x="1410325" y="3943123"/>
              <a:ext cx="1353312" cy="337184"/>
              <a:chOff x="5060950" y="5251450"/>
              <a:chExt cx="1236133" cy="332317"/>
            </a:xfrm>
          </p:grpSpPr>
          <p:cxnSp>
            <p:nvCxnSpPr>
              <p:cNvPr id="5158" name="Google Shape;5158;p20"/>
              <p:cNvCxnSpPr/>
              <p:nvPr/>
            </p:nvCxnSpPr>
            <p:spPr>
              <a:xfrm>
                <a:off x="6010427"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59" name="Google Shape;5159;p20"/>
              <p:cNvCxnSpPr/>
              <p:nvPr/>
            </p:nvCxnSpPr>
            <p:spPr>
              <a:xfrm>
                <a:off x="6097120"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60" name="Google Shape;5160;p20"/>
              <p:cNvCxnSpPr/>
              <p:nvPr/>
            </p:nvCxnSpPr>
            <p:spPr>
              <a:xfrm>
                <a:off x="6183813"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61" name="Google Shape;5161;p20"/>
              <p:cNvCxnSpPr/>
              <p:nvPr/>
            </p:nvCxnSpPr>
            <p:spPr>
              <a:xfrm>
                <a:off x="5170587"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62" name="Google Shape;5162;p20"/>
              <p:cNvCxnSpPr/>
              <p:nvPr/>
            </p:nvCxnSpPr>
            <p:spPr>
              <a:xfrm>
                <a:off x="5257280"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63" name="Google Shape;5163;p20"/>
              <p:cNvCxnSpPr/>
              <p:nvPr/>
            </p:nvCxnSpPr>
            <p:spPr>
              <a:xfrm>
                <a:off x="5346683" y="5324175"/>
                <a:ext cx="0" cy="184223"/>
              </a:xfrm>
              <a:prstGeom prst="straightConnector1">
                <a:avLst/>
              </a:prstGeom>
              <a:noFill/>
              <a:ln w="25400" cap="flat" cmpd="sng">
                <a:solidFill>
                  <a:srgbClr val="7F7F7F"/>
                </a:solidFill>
                <a:prstDash val="solid"/>
                <a:miter lim="800000"/>
                <a:headEnd type="none" w="med" len="med"/>
                <a:tailEnd type="none" w="med" len="med"/>
              </a:ln>
            </p:spPr>
          </p:cxnSp>
          <p:sp>
            <p:nvSpPr>
              <p:cNvPr id="5164" name="Google Shape;5164;p20"/>
              <p:cNvSpPr/>
              <p:nvPr/>
            </p:nvSpPr>
            <p:spPr>
              <a:xfrm>
                <a:off x="5609471" y="5345848"/>
                <a:ext cx="135458" cy="140877"/>
              </a:xfrm>
              <a:prstGeom prst="ellipse">
                <a:avLst/>
              </a:prstGeom>
              <a:noFill/>
              <a:ln w="25400" cap="flat" cmpd="sng">
                <a:solidFill>
                  <a:srgbClr val="7F7F7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165" name="Google Shape;5165;p20"/>
              <p:cNvSpPr/>
              <p:nvPr/>
            </p:nvSpPr>
            <p:spPr>
              <a:xfrm>
                <a:off x="5060950" y="5251450"/>
                <a:ext cx="1236133" cy="332317"/>
              </a:xfrm>
              <a:prstGeom prst="rect">
                <a:avLst/>
              </a:prstGeom>
              <a:noFill/>
              <a:ln w="254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Arial"/>
                  <a:buNone/>
                </a:pPr>
                <a:endParaRPr sz="2800" b="0" i="0" u="none" strike="noStrike" cap="none">
                  <a:solidFill>
                    <a:srgbClr val="FFFFFF"/>
                  </a:solidFill>
                  <a:latin typeface="Arial"/>
                  <a:ea typeface="Arial"/>
                  <a:cs typeface="Arial"/>
                  <a:sym typeface="Arial"/>
                </a:endParaRPr>
              </a:p>
            </p:txBody>
          </p:sp>
        </p:grpSp>
        <p:grpSp>
          <p:nvGrpSpPr>
            <p:cNvPr id="5166" name="Google Shape;5166;p20"/>
            <p:cNvGrpSpPr/>
            <p:nvPr/>
          </p:nvGrpSpPr>
          <p:grpSpPr>
            <a:xfrm>
              <a:off x="2957972" y="3943123"/>
              <a:ext cx="1353312" cy="337184"/>
              <a:chOff x="5060950" y="5251450"/>
              <a:chExt cx="1236133" cy="332317"/>
            </a:xfrm>
          </p:grpSpPr>
          <p:cxnSp>
            <p:nvCxnSpPr>
              <p:cNvPr id="5167" name="Google Shape;5167;p20"/>
              <p:cNvCxnSpPr/>
              <p:nvPr/>
            </p:nvCxnSpPr>
            <p:spPr>
              <a:xfrm>
                <a:off x="6010427"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68" name="Google Shape;5168;p20"/>
              <p:cNvCxnSpPr/>
              <p:nvPr/>
            </p:nvCxnSpPr>
            <p:spPr>
              <a:xfrm>
                <a:off x="6097120"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69" name="Google Shape;5169;p20"/>
              <p:cNvCxnSpPr/>
              <p:nvPr/>
            </p:nvCxnSpPr>
            <p:spPr>
              <a:xfrm>
                <a:off x="6183813"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70" name="Google Shape;5170;p20"/>
              <p:cNvCxnSpPr/>
              <p:nvPr/>
            </p:nvCxnSpPr>
            <p:spPr>
              <a:xfrm>
                <a:off x="5170587"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71" name="Google Shape;5171;p20"/>
              <p:cNvCxnSpPr/>
              <p:nvPr/>
            </p:nvCxnSpPr>
            <p:spPr>
              <a:xfrm>
                <a:off x="5257280" y="5324175"/>
                <a:ext cx="0" cy="184223"/>
              </a:xfrm>
              <a:prstGeom prst="straightConnector1">
                <a:avLst/>
              </a:prstGeom>
              <a:noFill/>
              <a:ln w="25400" cap="flat" cmpd="sng">
                <a:solidFill>
                  <a:srgbClr val="7F7F7F"/>
                </a:solidFill>
                <a:prstDash val="solid"/>
                <a:miter lim="800000"/>
                <a:headEnd type="none" w="med" len="med"/>
                <a:tailEnd type="none" w="med" len="med"/>
              </a:ln>
            </p:spPr>
          </p:cxnSp>
          <p:cxnSp>
            <p:nvCxnSpPr>
              <p:cNvPr id="5172" name="Google Shape;5172;p20"/>
              <p:cNvCxnSpPr/>
              <p:nvPr/>
            </p:nvCxnSpPr>
            <p:spPr>
              <a:xfrm>
                <a:off x="5346683" y="5324175"/>
                <a:ext cx="0" cy="184223"/>
              </a:xfrm>
              <a:prstGeom prst="straightConnector1">
                <a:avLst/>
              </a:prstGeom>
              <a:noFill/>
              <a:ln w="25400" cap="flat" cmpd="sng">
                <a:solidFill>
                  <a:srgbClr val="7F7F7F"/>
                </a:solidFill>
                <a:prstDash val="solid"/>
                <a:miter lim="800000"/>
                <a:headEnd type="none" w="med" len="med"/>
                <a:tailEnd type="none" w="med" len="med"/>
              </a:ln>
            </p:spPr>
          </p:cxnSp>
          <p:sp>
            <p:nvSpPr>
              <p:cNvPr id="5173" name="Google Shape;5173;p20"/>
              <p:cNvSpPr/>
              <p:nvPr/>
            </p:nvSpPr>
            <p:spPr>
              <a:xfrm>
                <a:off x="5609471" y="5345848"/>
                <a:ext cx="135458" cy="140877"/>
              </a:xfrm>
              <a:prstGeom prst="ellipse">
                <a:avLst/>
              </a:prstGeom>
              <a:noFill/>
              <a:ln w="25400" cap="flat" cmpd="sng">
                <a:solidFill>
                  <a:srgbClr val="7F7F7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717074"/>
                  </a:solidFill>
                  <a:latin typeface="Arial"/>
                  <a:ea typeface="Arial"/>
                  <a:cs typeface="Arial"/>
                  <a:sym typeface="Arial"/>
                </a:endParaRPr>
              </a:p>
            </p:txBody>
          </p:sp>
          <p:sp>
            <p:nvSpPr>
              <p:cNvPr id="5174" name="Google Shape;5174;p20"/>
              <p:cNvSpPr/>
              <p:nvPr/>
            </p:nvSpPr>
            <p:spPr>
              <a:xfrm>
                <a:off x="5060950" y="5251450"/>
                <a:ext cx="1236133" cy="332317"/>
              </a:xfrm>
              <a:prstGeom prst="rect">
                <a:avLst/>
              </a:prstGeom>
              <a:noFill/>
              <a:ln w="254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Arial"/>
                  <a:buNone/>
                </a:pPr>
                <a:endParaRPr sz="2800" b="0" i="0" u="none" strike="noStrike" cap="none">
                  <a:solidFill>
                    <a:srgbClr val="FFFFFF"/>
                  </a:solidFill>
                  <a:latin typeface="Arial"/>
                  <a:ea typeface="Arial"/>
                  <a:cs typeface="Arial"/>
                  <a:sym typeface="Arial"/>
                </a:endParaRPr>
              </a:p>
            </p:txBody>
          </p:sp>
        </p:grpSp>
      </p:grpSp>
      <p:grpSp>
        <p:nvGrpSpPr>
          <p:cNvPr id="5175" name="Google Shape;5175;p20"/>
          <p:cNvGrpSpPr/>
          <p:nvPr/>
        </p:nvGrpSpPr>
        <p:grpSpPr>
          <a:xfrm>
            <a:off x="1410325" y="3789052"/>
            <a:ext cx="5044376" cy="337184"/>
            <a:chOff x="1410325" y="3527309"/>
            <a:chExt cx="5044376" cy="337184"/>
          </a:xfrm>
        </p:grpSpPr>
        <p:sp>
          <p:nvSpPr>
            <p:cNvPr id="5176" name="Google Shape;5176;p20"/>
            <p:cNvSpPr/>
            <p:nvPr/>
          </p:nvSpPr>
          <p:spPr>
            <a:xfrm>
              <a:off x="1410325" y="3527309"/>
              <a:ext cx="5044376" cy="337184"/>
            </a:xfrm>
            <a:prstGeom prst="rect">
              <a:avLst/>
            </a:prstGeom>
            <a:noFill/>
            <a:ln w="9525" cap="flat" cmpd="sng">
              <a:solidFill>
                <a:srgbClr val="316E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5177" name="Google Shape;5177;p20"/>
            <p:cNvSpPr/>
            <p:nvPr/>
          </p:nvSpPr>
          <p:spPr>
            <a:xfrm>
              <a:off x="1459107" y="3567421"/>
              <a:ext cx="815040" cy="26161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100">
                  <a:solidFill>
                    <a:schemeClr val="dk2"/>
                  </a:solidFill>
                  <a:latin typeface="Arial"/>
                  <a:ea typeface="Arial"/>
                  <a:cs typeface="Arial"/>
                  <a:sym typeface="Arial"/>
                </a:rPr>
                <a:t>vSphere</a:t>
              </a:r>
              <a:endParaRPr/>
            </a:p>
          </p:txBody>
        </p:sp>
        <p:sp>
          <p:nvSpPr>
            <p:cNvPr id="5178" name="Google Shape;5178;p20"/>
            <p:cNvSpPr/>
            <p:nvPr/>
          </p:nvSpPr>
          <p:spPr>
            <a:xfrm>
              <a:off x="5511216" y="3567421"/>
              <a:ext cx="917810" cy="26161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100">
                  <a:solidFill>
                    <a:schemeClr val="dk2"/>
                  </a:solidFill>
                  <a:latin typeface="Arial"/>
                  <a:ea typeface="Arial"/>
                  <a:cs typeface="Arial"/>
                  <a:sym typeface="Arial"/>
                </a:rPr>
                <a:t>vSAN ESA</a:t>
              </a:r>
              <a:endParaRPr/>
            </a:p>
          </p:txBody>
        </p:sp>
        <p:cxnSp>
          <p:nvCxnSpPr>
            <p:cNvPr id="5179" name="Google Shape;5179;p20"/>
            <p:cNvCxnSpPr/>
            <p:nvPr/>
          </p:nvCxnSpPr>
          <p:spPr>
            <a:xfrm rot="10800000">
              <a:off x="2271066" y="3698226"/>
              <a:ext cx="1661447" cy="0"/>
            </a:xfrm>
            <a:prstGeom prst="straightConnector1">
              <a:avLst/>
            </a:prstGeom>
            <a:noFill/>
            <a:ln w="9525" cap="flat" cmpd="sng">
              <a:solidFill>
                <a:schemeClr val="accent2"/>
              </a:solidFill>
              <a:prstDash val="solid"/>
              <a:miter lim="800000"/>
              <a:headEnd type="none" w="sm" len="sm"/>
              <a:tailEnd type="triangle" w="med" len="med"/>
            </a:ln>
          </p:spPr>
        </p:cxnSp>
        <p:cxnSp>
          <p:nvCxnSpPr>
            <p:cNvPr id="5180" name="Google Shape;5180;p20"/>
            <p:cNvCxnSpPr>
              <a:endCxn id="5178" idx="1"/>
            </p:cNvCxnSpPr>
            <p:nvPr/>
          </p:nvCxnSpPr>
          <p:spPr>
            <a:xfrm>
              <a:off x="3932616" y="3698226"/>
              <a:ext cx="1578600" cy="0"/>
            </a:xfrm>
            <a:prstGeom prst="straightConnector1">
              <a:avLst/>
            </a:prstGeom>
            <a:noFill/>
            <a:ln w="9525" cap="flat" cmpd="sng">
              <a:solidFill>
                <a:schemeClr val="accent2"/>
              </a:solidFill>
              <a:prstDash val="solid"/>
              <a:miter lim="800000"/>
              <a:headEnd type="none" w="sm" len="sm"/>
              <a:tailEnd type="triangle" w="med" len="med"/>
            </a:ln>
          </p:spPr>
        </p:cxnSp>
      </p:grpSp>
      <p:sp>
        <p:nvSpPr>
          <p:cNvPr id="5181" name="Google Shape;5181;p20"/>
          <p:cNvSpPr/>
          <p:nvPr/>
        </p:nvSpPr>
        <p:spPr>
          <a:xfrm>
            <a:off x="1410325" y="4637831"/>
            <a:ext cx="5047488" cy="1355941"/>
          </a:xfrm>
          <a:prstGeom prst="rect">
            <a:avLst/>
          </a:prstGeom>
          <a:noFill/>
          <a:ln w="12700" cap="flat" cmpd="sng">
            <a:solidFill>
              <a:srgbClr val="487C0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5182" name="Google Shape;5182;p20"/>
          <p:cNvSpPr/>
          <p:nvPr/>
        </p:nvSpPr>
        <p:spPr>
          <a:xfrm>
            <a:off x="2946197" y="5775455"/>
            <a:ext cx="1975745" cy="1938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400">
                <a:solidFill>
                  <a:srgbClr val="487C0A"/>
                </a:solidFill>
                <a:latin typeface="Arial"/>
                <a:ea typeface="Arial"/>
                <a:cs typeface="Arial"/>
                <a:sym typeface="Arial"/>
              </a:rPr>
              <a:t>vSAN ESA Datastore</a:t>
            </a:r>
            <a:endParaRPr/>
          </a:p>
        </p:txBody>
      </p:sp>
      <p:pic>
        <p:nvPicPr>
          <p:cNvPr id="5183" name="Google Shape;5183;p20"/>
          <p:cNvPicPr preferRelativeResize="0"/>
          <p:nvPr/>
        </p:nvPicPr>
        <p:blipFill rotWithShape="1">
          <a:blip r:embed="rId3">
            <a:alphaModFix/>
          </a:blip>
          <a:srcRect/>
          <a:stretch/>
        </p:blipFill>
        <p:spPr>
          <a:xfrm>
            <a:off x="1410325" y="3066056"/>
            <a:ext cx="377952" cy="377952"/>
          </a:xfrm>
          <a:prstGeom prst="rect">
            <a:avLst/>
          </a:prstGeom>
          <a:noFill/>
          <a:ln>
            <a:noFill/>
          </a:ln>
        </p:spPr>
      </p:pic>
      <p:cxnSp>
        <p:nvCxnSpPr>
          <p:cNvPr id="5184" name="Google Shape;5184;p20"/>
          <p:cNvCxnSpPr/>
          <p:nvPr/>
        </p:nvCxnSpPr>
        <p:spPr>
          <a:xfrm>
            <a:off x="1516829"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185" name="Google Shape;5185;p20"/>
          <p:cNvCxnSpPr/>
          <p:nvPr/>
        </p:nvCxnSpPr>
        <p:spPr>
          <a:xfrm rot="10800000">
            <a:off x="1661299" y="3489841"/>
            <a:ext cx="0" cy="194788"/>
          </a:xfrm>
          <a:prstGeom prst="straightConnector1">
            <a:avLst/>
          </a:prstGeom>
          <a:noFill/>
          <a:ln w="19050" cap="flat" cmpd="sng">
            <a:solidFill>
              <a:srgbClr val="007295"/>
            </a:solidFill>
            <a:prstDash val="solid"/>
            <a:miter lim="800000"/>
            <a:headEnd type="none" w="sm" len="sm"/>
            <a:tailEnd type="triangle" w="med" len="med"/>
          </a:ln>
        </p:spPr>
      </p:cxnSp>
      <p:pic>
        <p:nvPicPr>
          <p:cNvPr id="5186" name="Google Shape;5186;p20"/>
          <p:cNvPicPr preferRelativeResize="0"/>
          <p:nvPr/>
        </p:nvPicPr>
        <p:blipFill rotWithShape="1">
          <a:blip r:embed="rId3">
            <a:alphaModFix/>
          </a:blip>
          <a:srcRect/>
          <a:stretch/>
        </p:blipFill>
        <p:spPr>
          <a:xfrm>
            <a:off x="2447309" y="3066056"/>
            <a:ext cx="377952" cy="377952"/>
          </a:xfrm>
          <a:prstGeom prst="rect">
            <a:avLst/>
          </a:prstGeom>
          <a:noFill/>
          <a:ln>
            <a:noFill/>
          </a:ln>
        </p:spPr>
      </p:pic>
      <p:cxnSp>
        <p:nvCxnSpPr>
          <p:cNvPr id="5187" name="Google Shape;5187;p20"/>
          <p:cNvCxnSpPr/>
          <p:nvPr/>
        </p:nvCxnSpPr>
        <p:spPr>
          <a:xfrm>
            <a:off x="2553813"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188" name="Google Shape;5188;p20"/>
          <p:cNvCxnSpPr/>
          <p:nvPr/>
        </p:nvCxnSpPr>
        <p:spPr>
          <a:xfrm rot="10800000">
            <a:off x="2698283" y="3489841"/>
            <a:ext cx="0" cy="194788"/>
          </a:xfrm>
          <a:prstGeom prst="straightConnector1">
            <a:avLst/>
          </a:prstGeom>
          <a:noFill/>
          <a:ln w="19050" cap="flat" cmpd="sng">
            <a:solidFill>
              <a:srgbClr val="007295"/>
            </a:solidFill>
            <a:prstDash val="solid"/>
            <a:miter lim="800000"/>
            <a:headEnd type="none" w="sm" len="sm"/>
            <a:tailEnd type="triangle" w="med" len="med"/>
          </a:ln>
        </p:spPr>
      </p:cxnSp>
      <p:pic>
        <p:nvPicPr>
          <p:cNvPr id="5189" name="Google Shape;5189;p20"/>
          <p:cNvPicPr preferRelativeResize="0"/>
          <p:nvPr/>
        </p:nvPicPr>
        <p:blipFill rotWithShape="1">
          <a:blip r:embed="rId3">
            <a:alphaModFix/>
          </a:blip>
          <a:srcRect/>
          <a:stretch/>
        </p:blipFill>
        <p:spPr>
          <a:xfrm>
            <a:off x="1928817" y="3066056"/>
            <a:ext cx="377952" cy="377952"/>
          </a:xfrm>
          <a:prstGeom prst="rect">
            <a:avLst/>
          </a:prstGeom>
          <a:noFill/>
          <a:ln>
            <a:noFill/>
          </a:ln>
        </p:spPr>
      </p:pic>
      <p:cxnSp>
        <p:nvCxnSpPr>
          <p:cNvPr id="5190" name="Google Shape;5190;p20"/>
          <p:cNvCxnSpPr/>
          <p:nvPr/>
        </p:nvCxnSpPr>
        <p:spPr>
          <a:xfrm>
            <a:off x="2035321"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191" name="Google Shape;5191;p20"/>
          <p:cNvCxnSpPr/>
          <p:nvPr/>
        </p:nvCxnSpPr>
        <p:spPr>
          <a:xfrm rot="10800000">
            <a:off x="2179791" y="3489841"/>
            <a:ext cx="0" cy="194788"/>
          </a:xfrm>
          <a:prstGeom prst="straightConnector1">
            <a:avLst/>
          </a:prstGeom>
          <a:noFill/>
          <a:ln w="19050" cap="flat" cmpd="sng">
            <a:solidFill>
              <a:srgbClr val="007295"/>
            </a:solidFill>
            <a:prstDash val="solid"/>
            <a:miter lim="800000"/>
            <a:headEnd type="none" w="sm" len="sm"/>
            <a:tailEnd type="triangle" w="med" len="med"/>
          </a:ln>
        </p:spPr>
      </p:cxnSp>
      <p:pic>
        <p:nvPicPr>
          <p:cNvPr id="5192" name="Google Shape;5192;p20"/>
          <p:cNvPicPr preferRelativeResize="0"/>
          <p:nvPr/>
        </p:nvPicPr>
        <p:blipFill rotWithShape="1">
          <a:blip r:embed="rId3">
            <a:alphaModFix/>
          </a:blip>
          <a:srcRect/>
          <a:stretch/>
        </p:blipFill>
        <p:spPr>
          <a:xfrm>
            <a:off x="2965801" y="3066056"/>
            <a:ext cx="377952" cy="377952"/>
          </a:xfrm>
          <a:prstGeom prst="rect">
            <a:avLst/>
          </a:prstGeom>
          <a:noFill/>
          <a:ln>
            <a:noFill/>
          </a:ln>
        </p:spPr>
      </p:pic>
      <p:cxnSp>
        <p:nvCxnSpPr>
          <p:cNvPr id="5193" name="Google Shape;5193;p20"/>
          <p:cNvCxnSpPr/>
          <p:nvPr/>
        </p:nvCxnSpPr>
        <p:spPr>
          <a:xfrm>
            <a:off x="3072305"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194" name="Google Shape;5194;p20"/>
          <p:cNvCxnSpPr/>
          <p:nvPr/>
        </p:nvCxnSpPr>
        <p:spPr>
          <a:xfrm rot="10800000">
            <a:off x="3216775" y="3489841"/>
            <a:ext cx="0" cy="194788"/>
          </a:xfrm>
          <a:prstGeom prst="straightConnector1">
            <a:avLst/>
          </a:prstGeom>
          <a:noFill/>
          <a:ln w="19050" cap="flat" cmpd="sng">
            <a:solidFill>
              <a:srgbClr val="007295"/>
            </a:solidFill>
            <a:prstDash val="solid"/>
            <a:miter lim="800000"/>
            <a:headEnd type="none" w="sm" len="sm"/>
            <a:tailEnd type="triangle" w="med" len="med"/>
          </a:ln>
        </p:spPr>
      </p:cxnSp>
      <p:pic>
        <p:nvPicPr>
          <p:cNvPr id="5195" name="Google Shape;5195;p20"/>
          <p:cNvPicPr preferRelativeResize="0"/>
          <p:nvPr/>
        </p:nvPicPr>
        <p:blipFill rotWithShape="1">
          <a:blip r:embed="rId3">
            <a:alphaModFix/>
          </a:blip>
          <a:srcRect/>
          <a:stretch/>
        </p:blipFill>
        <p:spPr>
          <a:xfrm>
            <a:off x="4002785" y="3066056"/>
            <a:ext cx="377952" cy="377952"/>
          </a:xfrm>
          <a:prstGeom prst="rect">
            <a:avLst/>
          </a:prstGeom>
          <a:noFill/>
          <a:ln>
            <a:noFill/>
          </a:ln>
        </p:spPr>
      </p:pic>
      <p:cxnSp>
        <p:nvCxnSpPr>
          <p:cNvPr id="5196" name="Google Shape;5196;p20"/>
          <p:cNvCxnSpPr/>
          <p:nvPr/>
        </p:nvCxnSpPr>
        <p:spPr>
          <a:xfrm>
            <a:off x="4109289"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197" name="Google Shape;5197;p20"/>
          <p:cNvCxnSpPr/>
          <p:nvPr/>
        </p:nvCxnSpPr>
        <p:spPr>
          <a:xfrm rot="10800000">
            <a:off x="4253759" y="3489841"/>
            <a:ext cx="0" cy="194788"/>
          </a:xfrm>
          <a:prstGeom prst="straightConnector1">
            <a:avLst/>
          </a:prstGeom>
          <a:noFill/>
          <a:ln w="19050" cap="flat" cmpd="sng">
            <a:solidFill>
              <a:srgbClr val="007295"/>
            </a:solidFill>
            <a:prstDash val="solid"/>
            <a:miter lim="800000"/>
            <a:headEnd type="none" w="sm" len="sm"/>
            <a:tailEnd type="triangle" w="med" len="med"/>
          </a:ln>
        </p:spPr>
      </p:cxnSp>
      <p:pic>
        <p:nvPicPr>
          <p:cNvPr id="5198" name="Google Shape;5198;p20"/>
          <p:cNvPicPr preferRelativeResize="0"/>
          <p:nvPr/>
        </p:nvPicPr>
        <p:blipFill rotWithShape="1">
          <a:blip r:embed="rId3">
            <a:alphaModFix/>
          </a:blip>
          <a:srcRect/>
          <a:stretch/>
        </p:blipFill>
        <p:spPr>
          <a:xfrm>
            <a:off x="3484293" y="3066056"/>
            <a:ext cx="377952" cy="377952"/>
          </a:xfrm>
          <a:prstGeom prst="rect">
            <a:avLst/>
          </a:prstGeom>
          <a:noFill/>
          <a:ln>
            <a:noFill/>
          </a:ln>
        </p:spPr>
      </p:pic>
      <p:cxnSp>
        <p:nvCxnSpPr>
          <p:cNvPr id="5199" name="Google Shape;5199;p20"/>
          <p:cNvCxnSpPr/>
          <p:nvPr/>
        </p:nvCxnSpPr>
        <p:spPr>
          <a:xfrm>
            <a:off x="3590797"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200" name="Google Shape;5200;p20"/>
          <p:cNvCxnSpPr/>
          <p:nvPr/>
        </p:nvCxnSpPr>
        <p:spPr>
          <a:xfrm rot="10800000">
            <a:off x="3735267" y="3489841"/>
            <a:ext cx="0" cy="194788"/>
          </a:xfrm>
          <a:prstGeom prst="straightConnector1">
            <a:avLst/>
          </a:prstGeom>
          <a:noFill/>
          <a:ln w="19050" cap="flat" cmpd="sng">
            <a:solidFill>
              <a:srgbClr val="007295"/>
            </a:solidFill>
            <a:prstDash val="solid"/>
            <a:miter lim="800000"/>
            <a:headEnd type="none" w="sm" len="sm"/>
            <a:tailEnd type="triangle" w="med" len="med"/>
          </a:ln>
        </p:spPr>
      </p:cxnSp>
      <p:pic>
        <p:nvPicPr>
          <p:cNvPr id="5201" name="Google Shape;5201;p20"/>
          <p:cNvPicPr preferRelativeResize="0"/>
          <p:nvPr/>
        </p:nvPicPr>
        <p:blipFill rotWithShape="1">
          <a:blip r:embed="rId3">
            <a:alphaModFix/>
          </a:blip>
          <a:srcRect/>
          <a:stretch/>
        </p:blipFill>
        <p:spPr>
          <a:xfrm>
            <a:off x="5039769" y="3066056"/>
            <a:ext cx="377952" cy="377952"/>
          </a:xfrm>
          <a:prstGeom prst="rect">
            <a:avLst/>
          </a:prstGeom>
          <a:noFill/>
          <a:ln>
            <a:noFill/>
          </a:ln>
        </p:spPr>
      </p:pic>
      <p:cxnSp>
        <p:nvCxnSpPr>
          <p:cNvPr id="5202" name="Google Shape;5202;p20"/>
          <p:cNvCxnSpPr/>
          <p:nvPr/>
        </p:nvCxnSpPr>
        <p:spPr>
          <a:xfrm>
            <a:off x="5146273"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203" name="Google Shape;5203;p20"/>
          <p:cNvCxnSpPr/>
          <p:nvPr/>
        </p:nvCxnSpPr>
        <p:spPr>
          <a:xfrm rot="10800000">
            <a:off x="5290743" y="3489841"/>
            <a:ext cx="0" cy="194788"/>
          </a:xfrm>
          <a:prstGeom prst="straightConnector1">
            <a:avLst/>
          </a:prstGeom>
          <a:noFill/>
          <a:ln w="19050" cap="flat" cmpd="sng">
            <a:solidFill>
              <a:srgbClr val="007295"/>
            </a:solidFill>
            <a:prstDash val="solid"/>
            <a:miter lim="800000"/>
            <a:headEnd type="none" w="sm" len="sm"/>
            <a:tailEnd type="triangle" w="med" len="med"/>
          </a:ln>
        </p:spPr>
      </p:cxnSp>
      <p:pic>
        <p:nvPicPr>
          <p:cNvPr id="5204" name="Google Shape;5204;p20"/>
          <p:cNvPicPr preferRelativeResize="0"/>
          <p:nvPr/>
        </p:nvPicPr>
        <p:blipFill rotWithShape="1">
          <a:blip r:embed="rId3">
            <a:alphaModFix/>
          </a:blip>
          <a:srcRect/>
          <a:stretch/>
        </p:blipFill>
        <p:spPr>
          <a:xfrm>
            <a:off x="6076749" y="3066056"/>
            <a:ext cx="377952" cy="377952"/>
          </a:xfrm>
          <a:prstGeom prst="rect">
            <a:avLst/>
          </a:prstGeom>
          <a:noFill/>
          <a:ln>
            <a:noFill/>
          </a:ln>
        </p:spPr>
      </p:pic>
      <p:cxnSp>
        <p:nvCxnSpPr>
          <p:cNvPr id="5205" name="Google Shape;5205;p20"/>
          <p:cNvCxnSpPr/>
          <p:nvPr/>
        </p:nvCxnSpPr>
        <p:spPr>
          <a:xfrm>
            <a:off x="6183253"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206" name="Google Shape;5206;p20"/>
          <p:cNvCxnSpPr/>
          <p:nvPr/>
        </p:nvCxnSpPr>
        <p:spPr>
          <a:xfrm rot="10800000">
            <a:off x="6327723" y="3489841"/>
            <a:ext cx="0" cy="194788"/>
          </a:xfrm>
          <a:prstGeom prst="straightConnector1">
            <a:avLst/>
          </a:prstGeom>
          <a:noFill/>
          <a:ln w="19050" cap="flat" cmpd="sng">
            <a:solidFill>
              <a:srgbClr val="007295"/>
            </a:solidFill>
            <a:prstDash val="solid"/>
            <a:miter lim="800000"/>
            <a:headEnd type="none" w="sm" len="sm"/>
            <a:tailEnd type="triangle" w="med" len="med"/>
          </a:ln>
        </p:spPr>
      </p:cxnSp>
      <p:pic>
        <p:nvPicPr>
          <p:cNvPr id="5207" name="Google Shape;5207;p20"/>
          <p:cNvPicPr preferRelativeResize="0"/>
          <p:nvPr/>
        </p:nvPicPr>
        <p:blipFill rotWithShape="1">
          <a:blip r:embed="rId3">
            <a:alphaModFix/>
          </a:blip>
          <a:srcRect/>
          <a:stretch/>
        </p:blipFill>
        <p:spPr>
          <a:xfrm>
            <a:off x="5558261" y="3066056"/>
            <a:ext cx="377952" cy="377952"/>
          </a:xfrm>
          <a:prstGeom prst="rect">
            <a:avLst/>
          </a:prstGeom>
          <a:noFill/>
          <a:ln>
            <a:noFill/>
          </a:ln>
        </p:spPr>
      </p:pic>
      <p:cxnSp>
        <p:nvCxnSpPr>
          <p:cNvPr id="5208" name="Google Shape;5208;p20"/>
          <p:cNvCxnSpPr/>
          <p:nvPr/>
        </p:nvCxnSpPr>
        <p:spPr>
          <a:xfrm>
            <a:off x="5664765"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209" name="Google Shape;5209;p20"/>
          <p:cNvCxnSpPr/>
          <p:nvPr/>
        </p:nvCxnSpPr>
        <p:spPr>
          <a:xfrm rot="10800000">
            <a:off x="5809235" y="3489841"/>
            <a:ext cx="0" cy="194788"/>
          </a:xfrm>
          <a:prstGeom prst="straightConnector1">
            <a:avLst/>
          </a:prstGeom>
          <a:noFill/>
          <a:ln w="19050" cap="flat" cmpd="sng">
            <a:solidFill>
              <a:srgbClr val="007295"/>
            </a:solidFill>
            <a:prstDash val="solid"/>
            <a:miter lim="800000"/>
            <a:headEnd type="none" w="sm" len="sm"/>
            <a:tailEnd type="triangle" w="med" len="med"/>
          </a:ln>
        </p:spPr>
      </p:cxnSp>
      <p:pic>
        <p:nvPicPr>
          <p:cNvPr id="5210" name="Google Shape;5210;p20"/>
          <p:cNvPicPr preferRelativeResize="0"/>
          <p:nvPr/>
        </p:nvPicPr>
        <p:blipFill rotWithShape="1">
          <a:blip r:embed="rId3">
            <a:alphaModFix/>
          </a:blip>
          <a:srcRect/>
          <a:stretch/>
        </p:blipFill>
        <p:spPr>
          <a:xfrm>
            <a:off x="4521277" y="3066056"/>
            <a:ext cx="377952" cy="377952"/>
          </a:xfrm>
          <a:prstGeom prst="rect">
            <a:avLst/>
          </a:prstGeom>
          <a:noFill/>
          <a:ln>
            <a:noFill/>
          </a:ln>
        </p:spPr>
      </p:pic>
      <p:cxnSp>
        <p:nvCxnSpPr>
          <p:cNvPr id="5211" name="Google Shape;5211;p20"/>
          <p:cNvCxnSpPr/>
          <p:nvPr/>
        </p:nvCxnSpPr>
        <p:spPr>
          <a:xfrm>
            <a:off x="4627781" y="3489841"/>
            <a:ext cx="0" cy="194788"/>
          </a:xfrm>
          <a:prstGeom prst="straightConnector1">
            <a:avLst/>
          </a:prstGeom>
          <a:noFill/>
          <a:ln w="19050" cap="flat" cmpd="sng">
            <a:solidFill>
              <a:srgbClr val="007295"/>
            </a:solidFill>
            <a:prstDash val="solid"/>
            <a:miter lim="800000"/>
            <a:headEnd type="none" w="sm" len="sm"/>
            <a:tailEnd type="triangle" w="med" len="med"/>
          </a:ln>
        </p:spPr>
      </p:cxnSp>
      <p:cxnSp>
        <p:nvCxnSpPr>
          <p:cNvPr id="5212" name="Google Shape;5212;p20"/>
          <p:cNvCxnSpPr/>
          <p:nvPr/>
        </p:nvCxnSpPr>
        <p:spPr>
          <a:xfrm rot="10800000">
            <a:off x="4772251" y="3489841"/>
            <a:ext cx="0" cy="194788"/>
          </a:xfrm>
          <a:prstGeom prst="straightConnector1">
            <a:avLst/>
          </a:prstGeom>
          <a:noFill/>
          <a:ln w="19050" cap="flat" cmpd="sng">
            <a:solidFill>
              <a:srgbClr val="007295"/>
            </a:solidFill>
            <a:prstDash val="solid"/>
            <a:miter lim="800000"/>
            <a:headEnd type="none" w="sm" len="sm"/>
            <a:tailEnd type="triangle" w="med" len="med"/>
          </a:ln>
        </p:spPr>
      </p:cxnSp>
      <p:sp>
        <p:nvSpPr>
          <p:cNvPr id="5213" name="Google Shape;5213;p20"/>
          <p:cNvSpPr/>
          <p:nvPr/>
        </p:nvSpPr>
        <p:spPr>
          <a:xfrm>
            <a:off x="14684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14" name="Google Shape;5214;p20"/>
          <p:cNvSpPr/>
          <p:nvPr/>
        </p:nvSpPr>
        <p:spPr>
          <a:xfrm>
            <a:off x="16208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15" name="Google Shape;5215;p20"/>
          <p:cNvSpPr/>
          <p:nvPr/>
        </p:nvSpPr>
        <p:spPr>
          <a:xfrm>
            <a:off x="17732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16" name="Google Shape;5216;p20"/>
          <p:cNvSpPr/>
          <p:nvPr/>
        </p:nvSpPr>
        <p:spPr>
          <a:xfrm>
            <a:off x="19256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17" name="Google Shape;5217;p20"/>
          <p:cNvSpPr/>
          <p:nvPr/>
        </p:nvSpPr>
        <p:spPr>
          <a:xfrm>
            <a:off x="20780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18" name="Google Shape;5218;p20"/>
          <p:cNvSpPr/>
          <p:nvPr/>
        </p:nvSpPr>
        <p:spPr>
          <a:xfrm>
            <a:off x="22304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19" name="Google Shape;5219;p20"/>
          <p:cNvSpPr/>
          <p:nvPr/>
        </p:nvSpPr>
        <p:spPr>
          <a:xfrm>
            <a:off x="23828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0" name="Google Shape;5220;p20"/>
          <p:cNvSpPr/>
          <p:nvPr/>
        </p:nvSpPr>
        <p:spPr>
          <a:xfrm>
            <a:off x="25352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1" name="Google Shape;5221;p20"/>
          <p:cNvSpPr/>
          <p:nvPr/>
        </p:nvSpPr>
        <p:spPr>
          <a:xfrm>
            <a:off x="26876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2" name="Google Shape;5222;p20"/>
          <p:cNvSpPr/>
          <p:nvPr/>
        </p:nvSpPr>
        <p:spPr>
          <a:xfrm>
            <a:off x="28400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3" name="Google Shape;5223;p20"/>
          <p:cNvSpPr/>
          <p:nvPr/>
        </p:nvSpPr>
        <p:spPr>
          <a:xfrm>
            <a:off x="29924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4" name="Google Shape;5224;p20"/>
          <p:cNvSpPr/>
          <p:nvPr/>
        </p:nvSpPr>
        <p:spPr>
          <a:xfrm>
            <a:off x="31448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5" name="Google Shape;5225;p20"/>
          <p:cNvSpPr/>
          <p:nvPr/>
        </p:nvSpPr>
        <p:spPr>
          <a:xfrm>
            <a:off x="32972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6" name="Google Shape;5226;p20"/>
          <p:cNvSpPr/>
          <p:nvPr/>
        </p:nvSpPr>
        <p:spPr>
          <a:xfrm>
            <a:off x="34496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7" name="Google Shape;5227;p20"/>
          <p:cNvSpPr/>
          <p:nvPr/>
        </p:nvSpPr>
        <p:spPr>
          <a:xfrm>
            <a:off x="36020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8" name="Google Shape;5228;p20"/>
          <p:cNvSpPr/>
          <p:nvPr/>
        </p:nvSpPr>
        <p:spPr>
          <a:xfrm>
            <a:off x="37544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29" name="Google Shape;5229;p20"/>
          <p:cNvSpPr/>
          <p:nvPr/>
        </p:nvSpPr>
        <p:spPr>
          <a:xfrm>
            <a:off x="39068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0" name="Google Shape;5230;p20"/>
          <p:cNvSpPr/>
          <p:nvPr/>
        </p:nvSpPr>
        <p:spPr>
          <a:xfrm>
            <a:off x="40592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1" name="Google Shape;5231;p20"/>
          <p:cNvSpPr/>
          <p:nvPr/>
        </p:nvSpPr>
        <p:spPr>
          <a:xfrm>
            <a:off x="42116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2" name="Google Shape;5232;p20"/>
          <p:cNvSpPr/>
          <p:nvPr/>
        </p:nvSpPr>
        <p:spPr>
          <a:xfrm>
            <a:off x="43640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3" name="Google Shape;5233;p20"/>
          <p:cNvSpPr/>
          <p:nvPr/>
        </p:nvSpPr>
        <p:spPr>
          <a:xfrm>
            <a:off x="45164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4" name="Google Shape;5234;p20"/>
          <p:cNvSpPr/>
          <p:nvPr/>
        </p:nvSpPr>
        <p:spPr>
          <a:xfrm>
            <a:off x="46688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5" name="Google Shape;5235;p20"/>
          <p:cNvSpPr/>
          <p:nvPr/>
        </p:nvSpPr>
        <p:spPr>
          <a:xfrm>
            <a:off x="48212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6" name="Google Shape;5236;p20"/>
          <p:cNvSpPr/>
          <p:nvPr/>
        </p:nvSpPr>
        <p:spPr>
          <a:xfrm>
            <a:off x="49736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7" name="Google Shape;5237;p20"/>
          <p:cNvSpPr/>
          <p:nvPr/>
        </p:nvSpPr>
        <p:spPr>
          <a:xfrm>
            <a:off x="51260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8" name="Google Shape;5238;p20"/>
          <p:cNvSpPr/>
          <p:nvPr/>
        </p:nvSpPr>
        <p:spPr>
          <a:xfrm>
            <a:off x="52784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39" name="Google Shape;5239;p20"/>
          <p:cNvSpPr/>
          <p:nvPr/>
        </p:nvSpPr>
        <p:spPr>
          <a:xfrm>
            <a:off x="54308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0" name="Google Shape;5240;p20"/>
          <p:cNvSpPr/>
          <p:nvPr/>
        </p:nvSpPr>
        <p:spPr>
          <a:xfrm>
            <a:off x="55832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1" name="Google Shape;5241;p20"/>
          <p:cNvSpPr/>
          <p:nvPr/>
        </p:nvSpPr>
        <p:spPr>
          <a:xfrm>
            <a:off x="57356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2" name="Google Shape;5242;p20"/>
          <p:cNvSpPr/>
          <p:nvPr/>
        </p:nvSpPr>
        <p:spPr>
          <a:xfrm>
            <a:off x="58880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3" name="Google Shape;5243;p20"/>
          <p:cNvSpPr/>
          <p:nvPr/>
        </p:nvSpPr>
        <p:spPr>
          <a:xfrm>
            <a:off x="60404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4" name="Google Shape;5244;p20"/>
          <p:cNvSpPr/>
          <p:nvPr/>
        </p:nvSpPr>
        <p:spPr>
          <a:xfrm>
            <a:off x="6192844" y="49837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5" name="Google Shape;5245;p20"/>
          <p:cNvSpPr/>
          <p:nvPr/>
        </p:nvSpPr>
        <p:spPr>
          <a:xfrm>
            <a:off x="14684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6" name="Google Shape;5246;p20"/>
          <p:cNvSpPr/>
          <p:nvPr/>
        </p:nvSpPr>
        <p:spPr>
          <a:xfrm>
            <a:off x="16208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7" name="Google Shape;5247;p20"/>
          <p:cNvSpPr/>
          <p:nvPr/>
        </p:nvSpPr>
        <p:spPr>
          <a:xfrm>
            <a:off x="17732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8" name="Google Shape;5248;p20"/>
          <p:cNvSpPr/>
          <p:nvPr/>
        </p:nvSpPr>
        <p:spPr>
          <a:xfrm>
            <a:off x="19256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49" name="Google Shape;5249;p20"/>
          <p:cNvSpPr/>
          <p:nvPr/>
        </p:nvSpPr>
        <p:spPr>
          <a:xfrm>
            <a:off x="20780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0" name="Google Shape;5250;p20"/>
          <p:cNvSpPr/>
          <p:nvPr/>
        </p:nvSpPr>
        <p:spPr>
          <a:xfrm>
            <a:off x="22304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1" name="Google Shape;5251;p20"/>
          <p:cNvSpPr/>
          <p:nvPr/>
        </p:nvSpPr>
        <p:spPr>
          <a:xfrm>
            <a:off x="23828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2" name="Google Shape;5252;p20"/>
          <p:cNvSpPr/>
          <p:nvPr/>
        </p:nvSpPr>
        <p:spPr>
          <a:xfrm>
            <a:off x="25352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3" name="Google Shape;5253;p20"/>
          <p:cNvSpPr/>
          <p:nvPr/>
        </p:nvSpPr>
        <p:spPr>
          <a:xfrm>
            <a:off x="26876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4" name="Google Shape;5254;p20"/>
          <p:cNvSpPr/>
          <p:nvPr/>
        </p:nvSpPr>
        <p:spPr>
          <a:xfrm>
            <a:off x="28400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5" name="Google Shape;5255;p20"/>
          <p:cNvSpPr/>
          <p:nvPr/>
        </p:nvSpPr>
        <p:spPr>
          <a:xfrm>
            <a:off x="29924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6" name="Google Shape;5256;p20"/>
          <p:cNvSpPr/>
          <p:nvPr/>
        </p:nvSpPr>
        <p:spPr>
          <a:xfrm>
            <a:off x="31448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7" name="Google Shape;5257;p20"/>
          <p:cNvSpPr/>
          <p:nvPr/>
        </p:nvSpPr>
        <p:spPr>
          <a:xfrm>
            <a:off x="32972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8" name="Google Shape;5258;p20"/>
          <p:cNvSpPr/>
          <p:nvPr/>
        </p:nvSpPr>
        <p:spPr>
          <a:xfrm>
            <a:off x="34496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59" name="Google Shape;5259;p20"/>
          <p:cNvSpPr/>
          <p:nvPr/>
        </p:nvSpPr>
        <p:spPr>
          <a:xfrm>
            <a:off x="36020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0" name="Google Shape;5260;p20"/>
          <p:cNvSpPr/>
          <p:nvPr/>
        </p:nvSpPr>
        <p:spPr>
          <a:xfrm>
            <a:off x="37544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1" name="Google Shape;5261;p20"/>
          <p:cNvSpPr/>
          <p:nvPr/>
        </p:nvSpPr>
        <p:spPr>
          <a:xfrm>
            <a:off x="39068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2" name="Google Shape;5262;p20"/>
          <p:cNvSpPr/>
          <p:nvPr/>
        </p:nvSpPr>
        <p:spPr>
          <a:xfrm>
            <a:off x="40592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3" name="Google Shape;5263;p20"/>
          <p:cNvSpPr/>
          <p:nvPr/>
        </p:nvSpPr>
        <p:spPr>
          <a:xfrm>
            <a:off x="42116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4" name="Google Shape;5264;p20"/>
          <p:cNvSpPr/>
          <p:nvPr/>
        </p:nvSpPr>
        <p:spPr>
          <a:xfrm>
            <a:off x="43640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5" name="Google Shape;5265;p20"/>
          <p:cNvSpPr/>
          <p:nvPr/>
        </p:nvSpPr>
        <p:spPr>
          <a:xfrm>
            <a:off x="45164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6" name="Google Shape;5266;p20"/>
          <p:cNvSpPr/>
          <p:nvPr/>
        </p:nvSpPr>
        <p:spPr>
          <a:xfrm>
            <a:off x="46688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7" name="Google Shape;5267;p20"/>
          <p:cNvSpPr/>
          <p:nvPr/>
        </p:nvSpPr>
        <p:spPr>
          <a:xfrm>
            <a:off x="48212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8" name="Google Shape;5268;p20"/>
          <p:cNvSpPr/>
          <p:nvPr/>
        </p:nvSpPr>
        <p:spPr>
          <a:xfrm>
            <a:off x="49736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69" name="Google Shape;5269;p20"/>
          <p:cNvSpPr/>
          <p:nvPr/>
        </p:nvSpPr>
        <p:spPr>
          <a:xfrm>
            <a:off x="51260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0" name="Google Shape;5270;p20"/>
          <p:cNvSpPr/>
          <p:nvPr/>
        </p:nvSpPr>
        <p:spPr>
          <a:xfrm>
            <a:off x="52784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1" name="Google Shape;5271;p20"/>
          <p:cNvSpPr/>
          <p:nvPr/>
        </p:nvSpPr>
        <p:spPr>
          <a:xfrm>
            <a:off x="54308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2" name="Google Shape;5272;p20"/>
          <p:cNvSpPr/>
          <p:nvPr/>
        </p:nvSpPr>
        <p:spPr>
          <a:xfrm>
            <a:off x="55832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3" name="Google Shape;5273;p20"/>
          <p:cNvSpPr/>
          <p:nvPr/>
        </p:nvSpPr>
        <p:spPr>
          <a:xfrm>
            <a:off x="57356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4" name="Google Shape;5274;p20"/>
          <p:cNvSpPr/>
          <p:nvPr/>
        </p:nvSpPr>
        <p:spPr>
          <a:xfrm>
            <a:off x="58880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5" name="Google Shape;5275;p20"/>
          <p:cNvSpPr/>
          <p:nvPr/>
        </p:nvSpPr>
        <p:spPr>
          <a:xfrm>
            <a:off x="60404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6" name="Google Shape;5276;p20"/>
          <p:cNvSpPr/>
          <p:nvPr/>
        </p:nvSpPr>
        <p:spPr>
          <a:xfrm>
            <a:off x="6192844" y="51361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7" name="Google Shape;5277;p20"/>
          <p:cNvSpPr/>
          <p:nvPr/>
        </p:nvSpPr>
        <p:spPr>
          <a:xfrm>
            <a:off x="14684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8" name="Google Shape;5278;p20"/>
          <p:cNvSpPr/>
          <p:nvPr/>
        </p:nvSpPr>
        <p:spPr>
          <a:xfrm>
            <a:off x="16208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79" name="Google Shape;5279;p20"/>
          <p:cNvSpPr/>
          <p:nvPr/>
        </p:nvSpPr>
        <p:spPr>
          <a:xfrm>
            <a:off x="17732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0" name="Google Shape;5280;p20"/>
          <p:cNvSpPr/>
          <p:nvPr/>
        </p:nvSpPr>
        <p:spPr>
          <a:xfrm>
            <a:off x="19256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1" name="Google Shape;5281;p20"/>
          <p:cNvSpPr/>
          <p:nvPr/>
        </p:nvSpPr>
        <p:spPr>
          <a:xfrm>
            <a:off x="20780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2" name="Google Shape;5282;p20"/>
          <p:cNvSpPr/>
          <p:nvPr/>
        </p:nvSpPr>
        <p:spPr>
          <a:xfrm>
            <a:off x="22304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3" name="Google Shape;5283;p20"/>
          <p:cNvSpPr/>
          <p:nvPr/>
        </p:nvSpPr>
        <p:spPr>
          <a:xfrm>
            <a:off x="23828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4" name="Google Shape;5284;p20"/>
          <p:cNvSpPr/>
          <p:nvPr/>
        </p:nvSpPr>
        <p:spPr>
          <a:xfrm>
            <a:off x="25352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5" name="Google Shape;5285;p20"/>
          <p:cNvSpPr/>
          <p:nvPr/>
        </p:nvSpPr>
        <p:spPr>
          <a:xfrm>
            <a:off x="26876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6" name="Google Shape;5286;p20"/>
          <p:cNvSpPr/>
          <p:nvPr/>
        </p:nvSpPr>
        <p:spPr>
          <a:xfrm>
            <a:off x="28400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7" name="Google Shape;5287;p20"/>
          <p:cNvSpPr/>
          <p:nvPr/>
        </p:nvSpPr>
        <p:spPr>
          <a:xfrm>
            <a:off x="29924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8" name="Google Shape;5288;p20"/>
          <p:cNvSpPr/>
          <p:nvPr/>
        </p:nvSpPr>
        <p:spPr>
          <a:xfrm>
            <a:off x="31448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89" name="Google Shape;5289;p20"/>
          <p:cNvSpPr/>
          <p:nvPr/>
        </p:nvSpPr>
        <p:spPr>
          <a:xfrm>
            <a:off x="32972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0" name="Google Shape;5290;p20"/>
          <p:cNvSpPr/>
          <p:nvPr/>
        </p:nvSpPr>
        <p:spPr>
          <a:xfrm>
            <a:off x="34496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1" name="Google Shape;5291;p20"/>
          <p:cNvSpPr/>
          <p:nvPr/>
        </p:nvSpPr>
        <p:spPr>
          <a:xfrm>
            <a:off x="36020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2" name="Google Shape;5292;p20"/>
          <p:cNvSpPr/>
          <p:nvPr/>
        </p:nvSpPr>
        <p:spPr>
          <a:xfrm>
            <a:off x="37544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3" name="Google Shape;5293;p20"/>
          <p:cNvSpPr/>
          <p:nvPr/>
        </p:nvSpPr>
        <p:spPr>
          <a:xfrm>
            <a:off x="39068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4" name="Google Shape;5294;p20"/>
          <p:cNvSpPr/>
          <p:nvPr/>
        </p:nvSpPr>
        <p:spPr>
          <a:xfrm>
            <a:off x="40592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5" name="Google Shape;5295;p20"/>
          <p:cNvSpPr/>
          <p:nvPr/>
        </p:nvSpPr>
        <p:spPr>
          <a:xfrm>
            <a:off x="42116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6" name="Google Shape;5296;p20"/>
          <p:cNvSpPr/>
          <p:nvPr/>
        </p:nvSpPr>
        <p:spPr>
          <a:xfrm>
            <a:off x="43640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7" name="Google Shape;5297;p20"/>
          <p:cNvSpPr/>
          <p:nvPr/>
        </p:nvSpPr>
        <p:spPr>
          <a:xfrm>
            <a:off x="45164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8" name="Google Shape;5298;p20"/>
          <p:cNvSpPr/>
          <p:nvPr/>
        </p:nvSpPr>
        <p:spPr>
          <a:xfrm>
            <a:off x="46688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299" name="Google Shape;5299;p20"/>
          <p:cNvSpPr/>
          <p:nvPr/>
        </p:nvSpPr>
        <p:spPr>
          <a:xfrm>
            <a:off x="48212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0" name="Google Shape;5300;p20"/>
          <p:cNvSpPr/>
          <p:nvPr/>
        </p:nvSpPr>
        <p:spPr>
          <a:xfrm>
            <a:off x="49736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1" name="Google Shape;5301;p20"/>
          <p:cNvSpPr/>
          <p:nvPr/>
        </p:nvSpPr>
        <p:spPr>
          <a:xfrm>
            <a:off x="51260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2" name="Google Shape;5302;p20"/>
          <p:cNvSpPr/>
          <p:nvPr/>
        </p:nvSpPr>
        <p:spPr>
          <a:xfrm>
            <a:off x="52784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3" name="Google Shape;5303;p20"/>
          <p:cNvSpPr/>
          <p:nvPr/>
        </p:nvSpPr>
        <p:spPr>
          <a:xfrm>
            <a:off x="54308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4" name="Google Shape;5304;p20"/>
          <p:cNvSpPr/>
          <p:nvPr/>
        </p:nvSpPr>
        <p:spPr>
          <a:xfrm>
            <a:off x="55832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5" name="Google Shape;5305;p20"/>
          <p:cNvSpPr/>
          <p:nvPr/>
        </p:nvSpPr>
        <p:spPr>
          <a:xfrm>
            <a:off x="57356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6" name="Google Shape;5306;p20"/>
          <p:cNvSpPr/>
          <p:nvPr/>
        </p:nvSpPr>
        <p:spPr>
          <a:xfrm>
            <a:off x="58880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7" name="Google Shape;5307;p20"/>
          <p:cNvSpPr/>
          <p:nvPr/>
        </p:nvSpPr>
        <p:spPr>
          <a:xfrm>
            <a:off x="60404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8" name="Google Shape;5308;p20"/>
          <p:cNvSpPr/>
          <p:nvPr/>
        </p:nvSpPr>
        <p:spPr>
          <a:xfrm>
            <a:off x="6192844" y="52885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09" name="Google Shape;5309;p20"/>
          <p:cNvSpPr/>
          <p:nvPr/>
        </p:nvSpPr>
        <p:spPr>
          <a:xfrm>
            <a:off x="14684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0" name="Google Shape;5310;p20"/>
          <p:cNvSpPr/>
          <p:nvPr/>
        </p:nvSpPr>
        <p:spPr>
          <a:xfrm>
            <a:off x="16208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1" name="Google Shape;5311;p20"/>
          <p:cNvSpPr/>
          <p:nvPr/>
        </p:nvSpPr>
        <p:spPr>
          <a:xfrm>
            <a:off x="17732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2" name="Google Shape;5312;p20"/>
          <p:cNvSpPr/>
          <p:nvPr/>
        </p:nvSpPr>
        <p:spPr>
          <a:xfrm>
            <a:off x="19256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3" name="Google Shape;5313;p20"/>
          <p:cNvSpPr/>
          <p:nvPr/>
        </p:nvSpPr>
        <p:spPr>
          <a:xfrm>
            <a:off x="20780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4" name="Google Shape;5314;p20"/>
          <p:cNvSpPr/>
          <p:nvPr/>
        </p:nvSpPr>
        <p:spPr>
          <a:xfrm>
            <a:off x="22304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5" name="Google Shape;5315;p20"/>
          <p:cNvSpPr/>
          <p:nvPr/>
        </p:nvSpPr>
        <p:spPr>
          <a:xfrm>
            <a:off x="23828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6" name="Google Shape;5316;p20"/>
          <p:cNvSpPr/>
          <p:nvPr/>
        </p:nvSpPr>
        <p:spPr>
          <a:xfrm>
            <a:off x="25352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7" name="Google Shape;5317;p20"/>
          <p:cNvSpPr/>
          <p:nvPr/>
        </p:nvSpPr>
        <p:spPr>
          <a:xfrm>
            <a:off x="26876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8" name="Google Shape;5318;p20"/>
          <p:cNvSpPr/>
          <p:nvPr/>
        </p:nvSpPr>
        <p:spPr>
          <a:xfrm>
            <a:off x="28400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19" name="Google Shape;5319;p20"/>
          <p:cNvSpPr/>
          <p:nvPr/>
        </p:nvSpPr>
        <p:spPr>
          <a:xfrm>
            <a:off x="29924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0" name="Google Shape;5320;p20"/>
          <p:cNvSpPr/>
          <p:nvPr/>
        </p:nvSpPr>
        <p:spPr>
          <a:xfrm>
            <a:off x="31448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1" name="Google Shape;5321;p20"/>
          <p:cNvSpPr/>
          <p:nvPr/>
        </p:nvSpPr>
        <p:spPr>
          <a:xfrm>
            <a:off x="32972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2" name="Google Shape;5322;p20"/>
          <p:cNvSpPr/>
          <p:nvPr/>
        </p:nvSpPr>
        <p:spPr>
          <a:xfrm>
            <a:off x="34496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3" name="Google Shape;5323;p20"/>
          <p:cNvSpPr/>
          <p:nvPr/>
        </p:nvSpPr>
        <p:spPr>
          <a:xfrm>
            <a:off x="36020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4" name="Google Shape;5324;p20"/>
          <p:cNvSpPr/>
          <p:nvPr/>
        </p:nvSpPr>
        <p:spPr>
          <a:xfrm>
            <a:off x="37544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5" name="Google Shape;5325;p20"/>
          <p:cNvSpPr/>
          <p:nvPr/>
        </p:nvSpPr>
        <p:spPr>
          <a:xfrm>
            <a:off x="39068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6" name="Google Shape;5326;p20"/>
          <p:cNvSpPr/>
          <p:nvPr/>
        </p:nvSpPr>
        <p:spPr>
          <a:xfrm>
            <a:off x="40592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7" name="Google Shape;5327;p20"/>
          <p:cNvSpPr/>
          <p:nvPr/>
        </p:nvSpPr>
        <p:spPr>
          <a:xfrm>
            <a:off x="42116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8" name="Google Shape;5328;p20"/>
          <p:cNvSpPr/>
          <p:nvPr/>
        </p:nvSpPr>
        <p:spPr>
          <a:xfrm>
            <a:off x="43640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29" name="Google Shape;5329;p20"/>
          <p:cNvSpPr/>
          <p:nvPr/>
        </p:nvSpPr>
        <p:spPr>
          <a:xfrm>
            <a:off x="45164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0" name="Google Shape;5330;p20"/>
          <p:cNvSpPr/>
          <p:nvPr/>
        </p:nvSpPr>
        <p:spPr>
          <a:xfrm>
            <a:off x="46688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1" name="Google Shape;5331;p20"/>
          <p:cNvSpPr/>
          <p:nvPr/>
        </p:nvSpPr>
        <p:spPr>
          <a:xfrm>
            <a:off x="48212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2" name="Google Shape;5332;p20"/>
          <p:cNvSpPr/>
          <p:nvPr/>
        </p:nvSpPr>
        <p:spPr>
          <a:xfrm>
            <a:off x="49736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3" name="Google Shape;5333;p20"/>
          <p:cNvSpPr/>
          <p:nvPr/>
        </p:nvSpPr>
        <p:spPr>
          <a:xfrm>
            <a:off x="51260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4" name="Google Shape;5334;p20"/>
          <p:cNvSpPr/>
          <p:nvPr/>
        </p:nvSpPr>
        <p:spPr>
          <a:xfrm>
            <a:off x="52784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5" name="Google Shape;5335;p20"/>
          <p:cNvSpPr/>
          <p:nvPr/>
        </p:nvSpPr>
        <p:spPr>
          <a:xfrm>
            <a:off x="54308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6" name="Google Shape;5336;p20"/>
          <p:cNvSpPr/>
          <p:nvPr/>
        </p:nvSpPr>
        <p:spPr>
          <a:xfrm>
            <a:off x="55832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7" name="Google Shape;5337;p20"/>
          <p:cNvSpPr/>
          <p:nvPr/>
        </p:nvSpPr>
        <p:spPr>
          <a:xfrm>
            <a:off x="57356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8" name="Google Shape;5338;p20"/>
          <p:cNvSpPr/>
          <p:nvPr/>
        </p:nvSpPr>
        <p:spPr>
          <a:xfrm>
            <a:off x="58880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39" name="Google Shape;5339;p20"/>
          <p:cNvSpPr/>
          <p:nvPr/>
        </p:nvSpPr>
        <p:spPr>
          <a:xfrm>
            <a:off x="60404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0" name="Google Shape;5340;p20"/>
          <p:cNvSpPr/>
          <p:nvPr/>
        </p:nvSpPr>
        <p:spPr>
          <a:xfrm>
            <a:off x="6192844" y="54409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1" name="Google Shape;5341;p20"/>
          <p:cNvSpPr/>
          <p:nvPr/>
        </p:nvSpPr>
        <p:spPr>
          <a:xfrm>
            <a:off x="14684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2" name="Google Shape;5342;p20"/>
          <p:cNvSpPr/>
          <p:nvPr/>
        </p:nvSpPr>
        <p:spPr>
          <a:xfrm>
            <a:off x="16208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3" name="Google Shape;5343;p20"/>
          <p:cNvSpPr/>
          <p:nvPr/>
        </p:nvSpPr>
        <p:spPr>
          <a:xfrm>
            <a:off x="17732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4" name="Google Shape;5344;p20"/>
          <p:cNvSpPr/>
          <p:nvPr/>
        </p:nvSpPr>
        <p:spPr>
          <a:xfrm>
            <a:off x="19256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5" name="Google Shape;5345;p20"/>
          <p:cNvSpPr/>
          <p:nvPr/>
        </p:nvSpPr>
        <p:spPr>
          <a:xfrm>
            <a:off x="20780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6" name="Google Shape;5346;p20"/>
          <p:cNvSpPr/>
          <p:nvPr/>
        </p:nvSpPr>
        <p:spPr>
          <a:xfrm>
            <a:off x="22304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7" name="Google Shape;5347;p20"/>
          <p:cNvSpPr/>
          <p:nvPr/>
        </p:nvSpPr>
        <p:spPr>
          <a:xfrm>
            <a:off x="23828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8" name="Google Shape;5348;p20"/>
          <p:cNvSpPr/>
          <p:nvPr/>
        </p:nvSpPr>
        <p:spPr>
          <a:xfrm>
            <a:off x="25352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49" name="Google Shape;5349;p20"/>
          <p:cNvSpPr/>
          <p:nvPr/>
        </p:nvSpPr>
        <p:spPr>
          <a:xfrm>
            <a:off x="26876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0" name="Google Shape;5350;p20"/>
          <p:cNvSpPr/>
          <p:nvPr/>
        </p:nvSpPr>
        <p:spPr>
          <a:xfrm>
            <a:off x="28400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1" name="Google Shape;5351;p20"/>
          <p:cNvSpPr/>
          <p:nvPr/>
        </p:nvSpPr>
        <p:spPr>
          <a:xfrm>
            <a:off x="29924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2" name="Google Shape;5352;p20"/>
          <p:cNvSpPr/>
          <p:nvPr/>
        </p:nvSpPr>
        <p:spPr>
          <a:xfrm>
            <a:off x="31448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3" name="Google Shape;5353;p20"/>
          <p:cNvSpPr/>
          <p:nvPr/>
        </p:nvSpPr>
        <p:spPr>
          <a:xfrm>
            <a:off x="32972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4" name="Google Shape;5354;p20"/>
          <p:cNvSpPr/>
          <p:nvPr/>
        </p:nvSpPr>
        <p:spPr>
          <a:xfrm>
            <a:off x="34496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5" name="Google Shape;5355;p20"/>
          <p:cNvSpPr/>
          <p:nvPr/>
        </p:nvSpPr>
        <p:spPr>
          <a:xfrm>
            <a:off x="36020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6" name="Google Shape;5356;p20"/>
          <p:cNvSpPr/>
          <p:nvPr/>
        </p:nvSpPr>
        <p:spPr>
          <a:xfrm>
            <a:off x="37544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7" name="Google Shape;5357;p20"/>
          <p:cNvSpPr/>
          <p:nvPr/>
        </p:nvSpPr>
        <p:spPr>
          <a:xfrm>
            <a:off x="39068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8" name="Google Shape;5358;p20"/>
          <p:cNvSpPr/>
          <p:nvPr/>
        </p:nvSpPr>
        <p:spPr>
          <a:xfrm>
            <a:off x="40592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59" name="Google Shape;5359;p20"/>
          <p:cNvSpPr/>
          <p:nvPr/>
        </p:nvSpPr>
        <p:spPr>
          <a:xfrm>
            <a:off x="42116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0" name="Google Shape;5360;p20"/>
          <p:cNvSpPr/>
          <p:nvPr/>
        </p:nvSpPr>
        <p:spPr>
          <a:xfrm>
            <a:off x="43640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1" name="Google Shape;5361;p20"/>
          <p:cNvSpPr/>
          <p:nvPr/>
        </p:nvSpPr>
        <p:spPr>
          <a:xfrm>
            <a:off x="45164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2" name="Google Shape;5362;p20"/>
          <p:cNvSpPr/>
          <p:nvPr/>
        </p:nvSpPr>
        <p:spPr>
          <a:xfrm>
            <a:off x="46688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3" name="Google Shape;5363;p20"/>
          <p:cNvSpPr/>
          <p:nvPr/>
        </p:nvSpPr>
        <p:spPr>
          <a:xfrm>
            <a:off x="48212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4" name="Google Shape;5364;p20"/>
          <p:cNvSpPr/>
          <p:nvPr/>
        </p:nvSpPr>
        <p:spPr>
          <a:xfrm>
            <a:off x="49736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5" name="Google Shape;5365;p20"/>
          <p:cNvSpPr/>
          <p:nvPr/>
        </p:nvSpPr>
        <p:spPr>
          <a:xfrm>
            <a:off x="51260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6" name="Google Shape;5366;p20"/>
          <p:cNvSpPr/>
          <p:nvPr/>
        </p:nvSpPr>
        <p:spPr>
          <a:xfrm>
            <a:off x="52784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7" name="Google Shape;5367;p20"/>
          <p:cNvSpPr/>
          <p:nvPr/>
        </p:nvSpPr>
        <p:spPr>
          <a:xfrm>
            <a:off x="54308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8" name="Google Shape;5368;p20"/>
          <p:cNvSpPr/>
          <p:nvPr/>
        </p:nvSpPr>
        <p:spPr>
          <a:xfrm>
            <a:off x="55832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69" name="Google Shape;5369;p20"/>
          <p:cNvSpPr/>
          <p:nvPr/>
        </p:nvSpPr>
        <p:spPr>
          <a:xfrm>
            <a:off x="57356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70" name="Google Shape;5370;p20"/>
          <p:cNvSpPr/>
          <p:nvPr/>
        </p:nvSpPr>
        <p:spPr>
          <a:xfrm>
            <a:off x="58880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71" name="Google Shape;5371;p20"/>
          <p:cNvSpPr/>
          <p:nvPr/>
        </p:nvSpPr>
        <p:spPr>
          <a:xfrm>
            <a:off x="60404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72" name="Google Shape;5372;p20"/>
          <p:cNvSpPr/>
          <p:nvPr/>
        </p:nvSpPr>
        <p:spPr>
          <a:xfrm>
            <a:off x="6192844" y="5593361"/>
            <a:ext cx="123821" cy="123821"/>
          </a:xfrm>
          <a:prstGeom prst="rect">
            <a:avLst/>
          </a:prstGeom>
          <a:solidFill>
            <a:srgbClr val="007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73" name="Google Shape;5373;p20"/>
          <p:cNvSpPr txBox="1"/>
          <p:nvPr/>
        </p:nvSpPr>
        <p:spPr>
          <a:xfrm>
            <a:off x="6860980" y="4665421"/>
            <a:ext cx="1136008"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chemeClr val="accent5"/>
                </a:solidFill>
                <a:latin typeface="Arial"/>
                <a:ea typeface="Arial"/>
                <a:cs typeface="Arial"/>
                <a:sym typeface="Arial"/>
              </a:rPr>
              <a:t>Background</a:t>
            </a:r>
            <a:endParaRPr/>
          </a:p>
          <a:p>
            <a:pPr marL="0" marR="0" lvl="0" indent="0" algn="l" rtl="0">
              <a:spcBef>
                <a:spcPts val="0"/>
              </a:spcBef>
              <a:spcAft>
                <a:spcPts val="0"/>
              </a:spcAft>
              <a:buNone/>
            </a:pPr>
            <a:r>
              <a:rPr lang="en-US" sz="1200">
                <a:solidFill>
                  <a:schemeClr val="accent5"/>
                </a:solidFill>
                <a:latin typeface="Arial"/>
                <a:ea typeface="Arial"/>
                <a:cs typeface="Arial"/>
                <a:sym typeface="Arial"/>
              </a:rPr>
              <a:t>deduplication</a:t>
            </a:r>
            <a:endParaRPr/>
          </a:p>
          <a:p>
            <a:pPr marL="0" marR="0" lvl="0" indent="0" algn="l" rtl="0">
              <a:spcBef>
                <a:spcPts val="0"/>
              </a:spcBef>
              <a:spcAft>
                <a:spcPts val="0"/>
              </a:spcAft>
              <a:buNone/>
            </a:pPr>
            <a:r>
              <a:rPr lang="en-US" sz="1200">
                <a:solidFill>
                  <a:schemeClr val="accent5"/>
                </a:solidFill>
                <a:latin typeface="Arial"/>
                <a:ea typeface="Arial"/>
                <a:cs typeface="Arial"/>
                <a:sym typeface="Arial"/>
              </a:rPr>
              <a:t>process</a:t>
            </a:r>
            <a:endParaRPr/>
          </a:p>
        </p:txBody>
      </p:sp>
      <p:grpSp>
        <p:nvGrpSpPr>
          <p:cNvPr id="5374" name="Google Shape;5374;p20"/>
          <p:cNvGrpSpPr/>
          <p:nvPr/>
        </p:nvGrpSpPr>
        <p:grpSpPr>
          <a:xfrm>
            <a:off x="6637135" y="4240563"/>
            <a:ext cx="265790" cy="265790"/>
            <a:chOff x="7280596" y="3723863"/>
            <a:chExt cx="265790" cy="265790"/>
          </a:xfrm>
        </p:grpSpPr>
        <p:sp>
          <p:nvSpPr>
            <p:cNvPr id="5375" name="Google Shape;5375;p20"/>
            <p:cNvSpPr/>
            <p:nvPr/>
          </p:nvSpPr>
          <p:spPr>
            <a:xfrm>
              <a:off x="7337430" y="3781788"/>
              <a:ext cx="147848" cy="147845"/>
            </a:xfrm>
            <a:custGeom>
              <a:avLst/>
              <a:gdLst/>
              <a:ahLst/>
              <a:cxnLst/>
              <a:rect l="l" t="t" r="r" b="b"/>
              <a:pathLst>
                <a:path w="147848" h="147845" extrusionOk="0">
                  <a:moveTo>
                    <a:pt x="73990" y="147845"/>
                  </a:moveTo>
                  <a:cubicBezTo>
                    <a:pt x="73717" y="147845"/>
                    <a:pt x="73444" y="147845"/>
                    <a:pt x="73171" y="147845"/>
                  </a:cubicBezTo>
                  <a:cubicBezTo>
                    <a:pt x="69076" y="147800"/>
                    <a:pt x="65800" y="144433"/>
                    <a:pt x="65845" y="140383"/>
                  </a:cubicBezTo>
                  <a:cubicBezTo>
                    <a:pt x="65891" y="136333"/>
                    <a:pt x="69212" y="133056"/>
                    <a:pt x="73262" y="133056"/>
                  </a:cubicBezTo>
                  <a:cubicBezTo>
                    <a:pt x="73444" y="133056"/>
                    <a:pt x="73763" y="133056"/>
                    <a:pt x="73990" y="133056"/>
                  </a:cubicBezTo>
                  <a:cubicBezTo>
                    <a:pt x="106298" y="133056"/>
                    <a:pt x="132782" y="106937"/>
                    <a:pt x="133146" y="74538"/>
                  </a:cubicBezTo>
                  <a:cubicBezTo>
                    <a:pt x="133510" y="41911"/>
                    <a:pt x="107254" y="15109"/>
                    <a:pt x="74627" y="14745"/>
                  </a:cubicBezTo>
                  <a:cubicBezTo>
                    <a:pt x="58883" y="14654"/>
                    <a:pt x="43912" y="20570"/>
                    <a:pt x="32627" y="31627"/>
                  </a:cubicBezTo>
                  <a:cubicBezTo>
                    <a:pt x="21342" y="42685"/>
                    <a:pt x="15017" y="57474"/>
                    <a:pt x="14835" y="73264"/>
                  </a:cubicBezTo>
                  <a:cubicBezTo>
                    <a:pt x="14789" y="77314"/>
                    <a:pt x="11468" y="80590"/>
                    <a:pt x="7418" y="80590"/>
                  </a:cubicBezTo>
                  <a:cubicBezTo>
                    <a:pt x="7372" y="80590"/>
                    <a:pt x="7372" y="80590"/>
                    <a:pt x="7327" y="80590"/>
                  </a:cubicBezTo>
                  <a:cubicBezTo>
                    <a:pt x="3231" y="80544"/>
                    <a:pt x="-45" y="77177"/>
                    <a:pt x="0" y="73127"/>
                  </a:cubicBezTo>
                  <a:cubicBezTo>
                    <a:pt x="228" y="53378"/>
                    <a:pt x="8100" y="34904"/>
                    <a:pt x="22207" y="21070"/>
                  </a:cubicBezTo>
                  <a:cubicBezTo>
                    <a:pt x="36313" y="7237"/>
                    <a:pt x="55152" y="-135"/>
                    <a:pt x="74718" y="2"/>
                  </a:cubicBezTo>
                  <a:cubicBezTo>
                    <a:pt x="115490" y="457"/>
                    <a:pt x="148299" y="33994"/>
                    <a:pt x="147844" y="74765"/>
                  </a:cubicBezTo>
                  <a:cubicBezTo>
                    <a:pt x="147480" y="115173"/>
                    <a:pt x="114398" y="147845"/>
                    <a:pt x="73990" y="14784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76" name="Google Shape;5376;p20"/>
            <p:cNvSpPr/>
            <p:nvPr/>
          </p:nvSpPr>
          <p:spPr>
            <a:xfrm>
              <a:off x="7280596" y="3723863"/>
              <a:ext cx="265790" cy="265790"/>
            </a:xfrm>
            <a:custGeom>
              <a:avLst/>
              <a:gdLst/>
              <a:ahLst/>
              <a:cxnLst/>
              <a:rect l="l" t="t" r="r" b="b"/>
              <a:pathLst>
                <a:path w="265790" h="265790" extrusionOk="0">
                  <a:moveTo>
                    <a:pt x="154624" y="265791"/>
                  </a:moveTo>
                  <a:lnTo>
                    <a:pt x="106799" y="265290"/>
                  </a:lnTo>
                  <a:lnTo>
                    <a:pt x="104842" y="261104"/>
                  </a:lnTo>
                  <a:cubicBezTo>
                    <a:pt x="103295" y="257873"/>
                    <a:pt x="101930" y="253186"/>
                    <a:pt x="100564" y="246906"/>
                  </a:cubicBezTo>
                  <a:cubicBezTo>
                    <a:pt x="99654" y="242720"/>
                    <a:pt x="98926" y="239899"/>
                    <a:pt x="98380" y="237942"/>
                  </a:cubicBezTo>
                  <a:cubicBezTo>
                    <a:pt x="88187" y="233301"/>
                    <a:pt x="82863" y="230843"/>
                    <a:pt x="79997" y="229478"/>
                  </a:cubicBezTo>
                  <a:cubicBezTo>
                    <a:pt x="77721" y="230388"/>
                    <a:pt x="75173" y="231708"/>
                    <a:pt x="72306" y="233437"/>
                  </a:cubicBezTo>
                  <a:cubicBezTo>
                    <a:pt x="66618" y="236895"/>
                    <a:pt x="62796" y="238989"/>
                    <a:pt x="60293" y="240035"/>
                  </a:cubicBezTo>
                  <a:lnTo>
                    <a:pt x="56607" y="241628"/>
                  </a:lnTo>
                  <a:lnTo>
                    <a:pt x="53286" y="239398"/>
                  </a:lnTo>
                  <a:cubicBezTo>
                    <a:pt x="50601" y="237624"/>
                    <a:pt x="44913" y="232846"/>
                    <a:pt x="24436" y="211504"/>
                  </a:cubicBezTo>
                  <a:lnTo>
                    <a:pt x="21478" y="208410"/>
                  </a:lnTo>
                  <a:lnTo>
                    <a:pt x="22661" y="204314"/>
                  </a:lnTo>
                  <a:cubicBezTo>
                    <a:pt x="23298" y="202130"/>
                    <a:pt x="25164" y="197807"/>
                    <a:pt x="33946" y="182973"/>
                  </a:cubicBezTo>
                  <a:cubicBezTo>
                    <a:pt x="33218" y="181198"/>
                    <a:pt x="31990" y="178377"/>
                    <a:pt x="30078" y="173963"/>
                  </a:cubicBezTo>
                  <a:cubicBezTo>
                    <a:pt x="28531" y="170232"/>
                    <a:pt x="27348" y="166773"/>
                    <a:pt x="26529" y="163497"/>
                  </a:cubicBezTo>
                  <a:cubicBezTo>
                    <a:pt x="23890" y="162951"/>
                    <a:pt x="20977" y="162177"/>
                    <a:pt x="17838" y="161313"/>
                  </a:cubicBezTo>
                  <a:cubicBezTo>
                    <a:pt x="10557" y="159129"/>
                    <a:pt x="7372" y="158264"/>
                    <a:pt x="5916" y="157991"/>
                  </a:cubicBezTo>
                  <a:lnTo>
                    <a:pt x="0" y="156717"/>
                  </a:lnTo>
                  <a:lnTo>
                    <a:pt x="546" y="105115"/>
                  </a:lnTo>
                  <a:lnTo>
                    <a:pt x="6280" y="103841"/>
                  </a:lnTo>
                  <a:cubicBezTo>
                    <a:pt x="8191" y="103431"/>
                    <a:pt x="12059" y="102385"/>
                    <a:pt x="17838" y="100747"/>
                  </a:cubicBezTo>
                  <a:cubicBezTo>
                    <a:pt x="21341" y="99745"/>
                    <a:pt x="24481" y="99017"/>
                    <a:pt x="27303" y="98471"/>
                  </a:cubicBezTo>
                  <a:cubicBezTo>
                    <a:pt x="28213" y="96560"/>
                    <a:pt x="29487" y="93739"/>
                    <a:pt x="31307" y="89552"/>
                  </a:cubicBezTo>
                  <a:cubicBezTo>
                    <a:pt x="32945" y="85685"/>
                    <a:pt x="34538" y="82499"/>
                    <a:pt x="36039" y="79860"/>
                  </a:cubicBezTo>
                  <a:cubicBezTo>
                    <a:pt x="29987" y="68438"/>
                    <a:pt x="27075" y="64434"/>
                    <a:pt x="25892" y="63069"/>
                  </a:cubicBezTo>
                  <a:lnTo>
                    <a:pt x="22070" y="58701"/>
                  </a:lnTo>
                  <a:lnTo>
                    <a:pt x="25437" y="53968"/>
                  </a:lnTo>
                  <a:cubicBezTo>
                    <a:pt x="27166" y="51556"/>
                    <a:pt x="32035" y="45868"/>
                    <a:pt x="54560" y="24390"/>
                  </a:cubicBezTo>
                  <a:lnTo>
                    <a:pt x="58336" y="20795"/>
                  </a:lnTo>
                  <a:lnTo>
                    <a:pt x="62978" y="23116"/>
                  </a:lnTo>
                  <a:cubicBezTo>
                    <a:pt x="71442" y="27348"/>
                    <a:pt x="78222" y="31216"/>
                    <a:pt x="83500" y="34811"/>
                  </a:cubicBezTo>
                  <a:cubicBezTo>
                    <a:pt x="92965" y="30852"/>
                    <a:pt x="98562" y="28804"/>
                    <a:pt x="102021" y="27712"/>
                  </a:cubicBezTo>
                  <a:cubicBezTo>
                    <a:pt x="102658" y="25482"/>
                    <a:pt x="103522" y="22434"/>
                    <a:pt x="104614" y="18520"/>
                  </a:cubicBezTo>
                  <a:cubicBezTo>
                    <a:pt x="106116" y="13105"/>
                    <a:pt x="107436" y="8646"/>
                    <a:pt x="108528" y="5187"/>
                  </a:cubicBezTo>
                  <a:lnTo>
                    <a:pt x="110211" y="0"/>
                  </a:lnTo>
                  <a:lnTo>
                    <a:pt x="159265" y="546"/>
                  </a:lnTo>
                  <a:lnTo>
                    <a:pt x="161085" y="5187"/>
                  </a:lnTo>
                  <a:cubicBezTo>
                    <a:pt x="161995" y="7463"/>
                    <a:pt x="163588" y="12286"/>
                    <a:pt x="167547" y="27940"/>
                  </a:cubicBezTo>
                  <a:cubicBezTo>
                    <a:pt x="169367" y="28668"/>
                    <a:pt x="172143" y="29805"/>
                    <a:pt x="176375" y="31443"/>
                  </a:cubicBezTo>
                  <a:cubicBezTo>
                    <a:pt x="180424" y="32991"/>
                    <a:pt x="183746" y="34583"/>
                    <a:pt x="186477" y="36221"/>
                  </a:cubicBezTo>
                  <a:cubicBezTo>
                    <a:pt x="188479" y="35357"/>
                    <a:pt x="190754" y="34128"/>
                    <a:pt x="193211" y="32536"/>
                  </a:cubicBezTo>
                  <a:cubicBezTo>
                    <a:pt x="199172" y="28941"/>
                    <a:pt x="203086" y="26802"/>
                    <a:pt x="205679" y="25755"/>
                  </a:cubicBezTo>
                  <a:lnTo>
                    <a:pt x="209183" y="24345"/>
                  </a:lnTo>
                  <a:lnTo>
                    <a:pt x="212414" y="26347"/>
                  </a:lnTo>
                  <a:cubicBezTo>
                    <a:pt x="217192" y="29350"/>
                    <a:pt x="222516" y="34037"/>
                    <a:pt x="228568" y="40726"/>
                  </a:cubicBezTo>
                  <a:cubicBezTo>
                    <a:pt x="236213" y="48781"/>
                    <a:pt x="239990" y="52239"/>
                    <a:pt x="241810" y="53741"/>
                  </a:cubicBezTo>
                  <a:lnTo>
                    <a:pt x="246588" y="57654"/>
                  </a:lnTo>
                  <a:lnTo>
                    <a:pt x="243584" y="63069"/>
                  </a:lnTo>
                  <a:cubicBezTo>
                    <a:pt x="238715" y="71851"/>
                    <a:pt x="234802" y="78495"/>
                    <a:pt x="231708" y="83273"/>
                  </a:cubicBezTo>
                  <a:cubicBezTo>
                    <a:pt x="235121" y="93420"/>
                    <a:pt x="237032" y="98972"/>
                    <a:pt x="238124" y="101975"/>
                  </a:cubicBezTo>
                  <a:cubicBezTo>
                    <a:pt x="241127" y="102567"/>
                    <a:pt x="244403" y="103386"/>
                    <a:pt x="248089" y="104523"/>
                  </a:cubicBezTo>
                  <a:cubicBezTo>
                    <a:pt x="253823" y="106253"/>
                    <a:pt x="257782" y="107390"/>
                    <a:pt x="259829" y="107800"/>
                  </a:cubicBezTo>
                  <a:lnTo>
                    <a:pt x="265790" y="109028"/>
                  </a:lnTo>
                  <a:lnTo>
                    <a:pt x="265244" y="160585"/>
                  </a:lnTo>
                  <a:lnTo>
                    <a:pt x="259511" y="161859"/>
                  </a:lnTo>
                  <a:cubicBezTo>
                    <a:pt x="257554" y="162268"/>
                    <a:pt x="253732" y="163315"/>
                    <a:pt x="247953" y="164953"/>
                  </a:cubicBezTo>
                  <a:cubicBezTo>
                    <a:pt x="244403" y="165954"/>
                    <a:pt x="241264" y="166682"/>
                    <a:pt x="238442" y="167228"/>
                  </a:cubicBezTo>
                  <a:cubicBezTo>
                    <a:pt x="237623" y="169003"/>
                    <a:pt x="236440" y="171779"/>
                    <a:pt x="234757" y="176056"/>
                  </a:cubicBezTo>
                  <a:cubicBezTo>
                    <a:pt x="233255" y="180061"/>
                    <a:pt x="231708" y="183337"/>
                    <a:pt x="230070" y="186022"/>
                  </a:cubicBezTo>
                  <a:cubicBezTo>
                    <a:pt x="231116" y="187887"/>
                    <a:pt x="232481" y="190254"/>
                    <a:pt x="234074" y="193166"/>
                  </a:cubicBezTo>
                  <a:cubicBezTo>
                    <a:pt x="236395" y="197398"/>
                    <a:pt x="238488" y="200720"/>
                    <a:pt x="240217" y="202995"/>
                  </a:cubicBezTo>
                  <a:lnTo>
                    <a:pt x="243493" y="207318"/>
                  </a:lnTo>
                  <a:lnTo>
                    <a:pt x="240354" y="211732"/>
                  </a:lnTo>
                  <a:cubicBezTo>
                    <a:pt x="238670" y="214143"/>
                    <a:pt x="233801" y="219831"/>
                    <a:pt x="211413" y="241309"/>
                  </a:cubicBezTo>
                  <a:lnTo>
                    <a:pt x="207682" y="244859"/>
                  </a:lnTo>
                  <a:lnTo>
                    <a:pt x="203040" y="242583"/>
                  </a:lnTo>
                  <a:cubicBezTo>
                    <a:pt x="196260" y="239262"/>
                    <a:pt x="189525" y="235394"/>
                    <a:pt x="183018" y="231071"/>
                  </a:cubicBezTo>
                  <a:cubicBezTo>
                    <a:pt x="176511" y="234438"/>
                    <a:pt x="170186" y="236850"/>
                    <a:pt x="164134" y="238261"/>
                  </a:cubicBezTo>
                  <a:cubicBezTo>
                    <a:pt x="163451" y="239990"/>
                    <a:pt x="162541" y="242629"/>
                    <a:pt x="161631" y="246542"/>
                  </a:cubicBezTo>
                  <a:cubicBezTo>
                    <a:pt x="159857" y="253869"/>
                    <a:pt x="158355" y="258646"/>
                    <a:pt x="156853" y="261559"/>
                  </a:cubicBezTo>
                  <a:lnTo>
                    <a:pt x="154624" y="265791"/>
                  </a:lnTo>
                  <a:close/>
                  <a:moveTo>
                    <a:pt x="116718" y="250592"/>
                  </a:moveTo>
                  <a:lnTo>
                    <a:pt x="145068" y="250911"/>
                  </a:lnTo>
                  <a:cubicBezTo>
                    <a:pt x="145614" y="249136"/>
                    <a:pt x="146296" y="246633"/>
                    <a:pt x="147115" y="243221"/>
                  </a:cubicBezTo>
                  <a:cubicBezTo>
                    <a:pt x="148799" y="236349"/>
                    <a:pt x="150619" y="231344"/>
                    <a:pt x="152758" y="227977"/>
                  </a:cubicBezTo>
                  <a:lnTo>
                    <a:pt x="154533" y="225155"/>
                  </a:lnTo>
                  <a:lnTo>
                    <a:pt x="157763" y="224609"/>
                  </a:lnTo>
                  <a:cubicBezTo>
                    <a:pt x="164498" y="223426"/>
                    <a:pt x="171870" y="220605"/>
                    <a:pt x="179696" y="216145"/>
                  </a:cubicBezTo>
                  <a:lnTo>
                    <a:pt x="183792" y="213825"/>
                  </a:lnTo>
                  <a:lnTo>
                    <a:pt x="187614" y="216510"/>
                  </a:lnTo>
                  <a:cubicBezTo>
                    <a:pt x="193257" y="220468"/>
                    <a:pt x="199036" y="224018"/>
                    <a:pt x="204860" y="227112"/>
                  </a:cubicBezTo>
                  <a:cubicBezTo>
                    <a:pt x="215872" y="216510"/>
                    <a:pt x="221788" y="210503"/>
                    <a:pt x="224928" y="207090"/>
                  </a:cubicBezTo>
                  <a:cubicBezTo>
                    <a:pt x="223699" y="205133"/>
                    <a:pt x="222425" y="202949"/>
                    <a:pt x="221014" y="200446"/>
                  </a:cubicBezTo>
                  <a:cubicBezTo>
                    <a:pt x="217692" y="194440"/>
                    <a:pt x="215599" y="190800"/>
                    <a:pt x="214826" y="189525"/>
                  </a:cubicBezTo>
                  <a:lnTo>
                    <a:pt x="211777" y="184611"/>
                  </a:lnTo>
                  <a:lnTo>
                    <a:pt x="215827" y="180470"/>
                  </a:lnTo>
                  <a:cubicBezTo>
                    <a:pt x="216509" y="179788"/>
                    <a:pt x="218375" y="177421"/>
                    <a:pt x="220832" y="170914"/>
                  </a:cubicBezTo>
                  <a:cubicBezTo>
                    <a:pt x="224473" y="161495"/>
                    <a:pt x="226247" y="158310"/>
                    <a:pt x="227248" y="156717"/>
                  </a:cubicBezTo>
                  <a:lnTo>
                    <a:pt x="229114" y="153759"/>
                  </a:lnTo>
                  <a:lnTo>
                    <a:pt x="232572" y="153304"/>
                  </a:lnTo>
                  <a:cubicBezTo>
                    <a:pt x="235576" y="152940"/>
                    <a:pt x="239352" y="152121"/>
                    <a:pt x="243812" y="150847"/>
                  </a:cubicBezTo>
                  <a:cubicBezTo>
                    <a:pt x="246360" y="150119"/>
                    <a:pt x="248590" y="149527"/>
                    <a:pt x="250456" y="149027"/>
                  </a:cubicBezTo>
                  <a:lnTo>
                    <a:pt x="250774" y="120859"/>
                  </a:lnTo>
                  <a:cubicBezTo>
                    <a:pt x="248772" y="120313"/>
                    <a:pt x="246451" y="119585"/>
                    <a:pt x="243675" y="118766"/>
                  </a:cubicBezTo>
                  <a:cubicBezTo>
                    <a:pt x="239853" y="117583"/>
                    <a:pt x="236486" y="116764"/>
                    <a:pt x="233664" y="116309"/>
                  </a:cubicBezTo>
                  <a:cubicBezTo>
                    <a:pt x="227703" y="117219"/>
                    <a:pt x="225929" y="112214"/>
                    <a:pt x="223335" y="104751"/>
                  </a:cubicBezTo>
                  <a:cubicBezTo>
                    <a:pt x="221788" y="100291"/>
                    <a:pt x="219467" y="93557"/>
                    <a:pt x="216464" y="84593"/>
                  </a:cubicBezTo>
                  <a:lnTo>
                    <a:pt x="215281" y="81089"/>
                  </a:lnTo>
                  <a:lnTo>
                    <a:pt x="217419" y="78040"/>
                  </a:lnTo>
                  <a:cubicBezTo>
                    <a:pt x="219922" y="74445"/>
                    <a:pt x="223380" y="68757"/>
                    <a:pt x="227749" y="61067"/>
                  </a:cubicBezTo>
                  <a:cubicBezTo>
                    <a:pt x="225019" y="58473"/>
                    <a:pt x="221697" y="55060"/>
                    <a:pt x="217647" y="50828"/>
                  </a:cubicBezTo>
                  <a:cubicBezTo>
                    <a:pt x="213916" y="46733"/>
                    <a:pt x="210594" y="43548"/>
                    <a:pt x="207727" y="41227"/>
                  </a:cubicBezTo>
                  <a:cubicBezTo>
                    <a:pt x="206089" y="42091"/>
                    <a:pt x="203905" y="43366"/>
                    <a:pt x="200947" y="45140"/>
                  </a:cubicBezTo>
                  <a:cubicBezTo>
                    <a:pt x="195941" y="48326"/>
                    <a:pt x="191391" y="50464"/>
                    <a:pt x="187205" y="51602"/>
                  </a:cubicBezTo>
                  <a:lnTo>
                    <a:pt x="183655" y="52557"/>
                  </a:lnTo>
                  <a:lnTo>
                    <a:pt x="180789" y="50282"/>
                  </a:lnTo>
                  <a:cubicBezTo>
                    <a:pt x="179423" y="49236"/>
                    <a:pt x="176602" y="47506"/>
                    <a:pt x="171005" y="45277"/>
                  </a:cubicBezTo>
                  <a:cubicBezTo>
                    <a:pt x="161722" y="41636"/>
                    <a:pt x="159219" y="40544"/>
                    <a:pt x="158127" y="40044"/>
                  </a:cubicBezTo>
                  <a:lnTo>
                    <a:pt x="154988" y="38542"/>
                  </a:lnTo>
                  <a:lnTo>
                    <a:pt x="154123" y="35129"/>
                  </a:lnTo>
                  <a:cubicBezTo>
                    <a:pt x="151620" y="25164"/>
                    <a:pt x="149937" y="19021"/>
                    <a:pt x="148844" y="15244"/>
                  </a:cubicBezTo>
                  <a:lnTo>
                    <a:pt x="121041" y="14925"/>
                  </a:lnTo>
                  <a:cubicBezTo>
                    <a:pt x="120404" y="17155"/>
                    <a:pt x="119676" y="19703"/>
                    <a:pt x="118903" y="22479"/>
                  </a:cubicBezTo>
                  <a:cubicBezTo>
                    <a:pt x="116764" y="30078"/>
                    <a:pt x="115444" y="34674"/>
                    <a:pt x="114989" y="36221"/>
                  </a:cubicBezTo>
                  <a:lnTo>
                    <a:pt x="113397" y="41181"/>
                  </a:lnTo>
                  <a:lnTo>
                    <a:pt x="108209" y="41363"/>
                  </a:lnTo>
                  <a:cubicBezTo>
                    <a:pt x="107618" y="41454"/>
                    <a:pt x="103522" y="42456"/>
                    <a:pt x="85457" y="50100"/>
                  </a:cubicBezTo>
                  <a:lnTo>
                    <a:pt x="81498" y="51784"/>
                  </a:lnTo>
                  <a:lnTo>
                    <a:pt x="78085" y="49145"/>
                  </a:lnTo>
                  <a:cubicBezTo>
                    <a:pt x="74081" y="46050"/>
                    <a:pt x="68347" y="42547"/>
                    <a:pt x="61067" y="38724"/>
                  </a:cubicBezTo>
                  <a:cubicBezTo>
                    <a:pt x="50100" y="49236"/>
                    <a:pt x="44185" y="55197"/>
                    <a:pt x="40954" y="58655"/>
                  </a:cubicBezTo>
                  <a:cubicBezTo>
                    <a:pt x="43229" y="62159"/>
                    <a:pt x="46460" y="67710"/>
                    <a:pt x="51192" y="76811"/>
                  </a:cubicBezTo>
                  <a:lnTo>
                    <a:pt x="53286" y="80816"/>
                  </a:lnTo>
                  <a:lnTo>
                    <a:pt x="50646" y="84502"/>
                  </a:lnTo>
                  <a:cubicBezTo>
                    <a:pt x="49554" y="86049"/>
                    <a:pt x="47643" y="89188"/>
                    <a:pt x="44958" y="95468"/>
                  </a:cubicBezTo>
                  <a:cubicBezTo>
                    <a:pt x="42000" y="102294"/>
                    <a:pt x="39998" y="106526"/>
                    <a:pt x="38633" y="108892"/>
                  </a:cubicBezTo>
                  <a:lnTo>
                    <a:pt x="36813" y="112077"/>
                  </a:lnTo>
                  <a:lnTo>
                    <a:pt x="33173" y="112532"/>
                  </a:lnTo>
                  <a:cubicBezTo>
                    <a:pt x="30169" y="112896"/>
                    <a:pt x="26392" y="113715"/>
                    <a:pt x="21888" y="114989"/>
                  </a:cubicBezTo>
                  <a:cubicBezTo>
                    <a:pt x="19339" y="115717"/>
                    <a:pt x="17110" y="116309"/>
                    <a:pt x="15289" y="116810"/>
                  </a:cubicBezTo>
                  <a:lnTo>
                    <a:pt x="14971" y="144977"/>
                  </a:lnTo>
                  <a:cubicBezTo>
                    <a:pt x="16973" y="145523"/>
                    <a:pt x="19339" y="146251"/>
                    <a:pt x="22070" y="147070"/>
                  </a:cubicBezTo>
                  <a:cubicBezTo>
                    <a:pt x="26711" y="148390"/>
                    <a:pt x="30761" y="149300"/>
                    <a:pt x="33901" y="149755"/>
                  </a:cubicBezTo>
                  <a:lnTo>
                    <a:pt x="39452" y="150528"/>
                  </a:lnTo>
                  <a:lnTo>
                    <a:pt x="40180" y="156080"/>
                  </a:lnTo>
                  <a:cubicBezTo>
                    <a:pt x="40635" y="159493"/>
                    <a:pt x="41818" y="163497"/>
                    <a:pt x="43730" y="168047"/>
                  </a:cubicBezTo>
                  <a:cubicBezTo>
                    <a:pt x="47916" y="177558"/>
                    <a:pt x="48872" y="180106"/>
                    <a:pt x="49236" y="181244"/>
                  </a:cubicBezTo>
                  <a:lnTo>
                    <a:pt x="50282" y="184429"/>
                  </a:lnTo>
                  <a:lnTo>
                    <a:pt x="48553" y="187296"/>
                  </a:lnTo>
                  <a:cubicBezTo>
                    <a:pt x="43047" y="196488"/>
                    <a:pt x="40180" y="201766"/>
                    <a:pt x="38633" y="204724"/>
                  </a:cubicBezTo>
                  <a:cubicBezTo>
                    <a:pt x="49463" y="215918"/>
                    <a:pt x="55288" y="221515"/>
                    <a:pt x="58382" y="224336"/>
                  </a:cubicBezTo>
                  <a:cubicBezTo>
                    <a:pt x="59929" y="223472"/>
                    <a:pt x="62022" y="222289"/>
                    <a:pt x="64753" y="220605"/>
                  </a:cubicBezTo>
                  <a:cubicBezTo>
                    <a:pt x="69940" y="217511"/>
                    <a:pt x="74445" y="215417"/>
                    <a:pt x="78495" y="214189"/>
                  </a:cubicBezTo>
                  <a:lnTo>
                    <a:pt x="81862" y="213188"/>
                  </a:lnTo>
                  <a:lnTo>
                    <a:pt x="84774" y="215190"/>
                  </a:lnTo>
                  <a:cubicBezTo>
                    <a:pt x="84956" y="215235"/>
                    <a:pt x="88415" y="216965"/>
                    <a:pt x="107572" y="225610"/>
                  </a:cubicBezTo>
                  <a:lnTo>
                    <a:pt x="110393" y="226884"/>
                  </a:lnTo>
                  <a:lnTo>
                    <a:pt x="111440" y="229797"/>
                  </a:lnTo>
                  <a:cubicBezTo>
                    <a:pt x="112487" y="232618"/>
                    <a:pt x="113670" y="237123"/>
                    <a:pt x="115080" y="243539"/>
                  </a:cubicBezTo>
                  <a:cubicBezTo>
                    <a:pt x="115626" y="246633"/>
                    <a:pt x="116218" y="248863"/>
                    <a:pt x="116718" y="25059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cxnSp>
        <p:nvCxnSpPr>
          <p:cNvPr id="5377" name="Google Shape;5377;p20"/>
          <p:cNvCxnSpPr/>
          <p:nvPr/>
        </p:nvCxnSpPr>
        <p:spPr>
          <a:xfrm rot="10800000">
            <a:off x="6337932" y="5350471"/>
            <a:ext cx="429961" cy="0"/>
          </a:xfrm>
          <a:prstGeom prst="straightConnector1">
            <a:avLst/>
          </a:prstGeom>
          <a:noFill/>
          <a:ln w="25400" cap="flat" cmpd="sng">
            <a:solidFill>
              <a:schemeClr val="accent5"/>
            </a:solidFill>
            <a:prstDash val="solid"/>
            <a:miter lim="800000"/>
            <a:headEnd type="none" w="sm" len="sm"/>
            <a:tailEnd type="triangle" w="med" len="med"/>
          </a:ln>
        </p:spPr>
      </p:cxnSp>
      <p:cxnSp>
        <p:nvCxnSpPr>
          <p:cNvPr id="5378" name="Google Shape;5378;p20"/>
          <p:cNvCxnSpPr/>
          <p:nvPr/>
        </p:nvCxnSpPr>
        <p:spPr>
          <a:xfrm>
            <a:off x="6765925" y="4600373"/>
            <a:ext cx="0" cy="750098"/>
          </a:xfrm>
          <a:prstGeom prst="straightConnector1">
            <a:avLst/>
          </a:prstGeom>
          <a:noFill/>
          <a:ln w="25400" cap="flat" cmpd="sng">
            <a:solidFill>
              <a:schemeClr val="accent5"/>
            </a:solidFill>
            <a:prstDash val="solid"/>
            <a:miter lim="800000"/>
            <a:headEnd type="none" w="sm" len="sm"/>
            <a:tailEnd type="none" w="sm" len="sm"/>
          </a:ln>
        </p:spPr>
      </p:cxnSp>
      <p:cxnSp>
        <p:nvCxnSpPr>
          <p:cNvPr id="5379" name="Google Shape;5379;p20"/>
          <p:cNvCxnSpPr/>
          <p:nvPr/>
        </p:nvCxnSpPr>
        <p:spPr>
          <a:xfrm>
            <a:off x="6765925" y="3957644"/>
            <a:ext cx="0" cy="209492"/>
          </a:xfrm>
          <a:prstGeom prst="straightConnector1">
            <a:avLst/>
          </a:prstGeom>
          <a:noFill/>
          <a:ln w="25400" cap="flat" cmpd="sng">
            <a:solidFill>
              <a:schemeClr val="accent5"/>
            </a:solidFill>
            <a:prstDash val="solid"/>
            <a:miter lim="800000"/>
            <a:headEnd type="none" w="sm" len="sm"/>
            <a:tailEnd type="none" w="sm" len="sm"/>
          </a:ln>
        </p:spPr>
      </p:cxnSp>
      <p:cxnSp>
        <p:nvCxnSpPr>
          <p:cNvPr id="5380" name="Google Shape;5380;p20"/>
          <p:cNvCxnSpPr/>
          <p:nvPr/>
        </p:nvCxnSpPr>
        <p:spPr>
          <a:xfrm rot="10800000">
            <a:off x="6537280" y="3957644"/>
            <a:ext cx="228645" cy="0"/>
          </a:xfrm>
          <a:prstGeom prst="straightConnector1">
            <a:avLst/>
          </a:prstGeom>
          <a:noFill/>
          <a:ln w="25400" cap="flat" cmpd="sng">
            <a:solidFill>
              <a:schemeClr val="accent5"/>
            </a:solidFill>
            <a:prstDash val="solid"/>
            <a:miter lim="800000"/>
            <a:headEnd type="none" w="sm" len="sm"/>
            <a:tailEnd type="none" w="sm" len="sm"/>
          </a:ln>
        </p:spPr>
      </p:cxnSp>
      <p:sp>
        <p:nvSpPr>
          <p:cNvPr id="5381" name="Google Shape;5381;p20"/>
          <p:cNvSpPr txBox="1"/>
          <p:nvPr/>
        </p:nvSpPr>
        <p:spPr>
          <a:xfrm>
            <a:off x="3366065" y="4718463"/>
            <a:ext cx="1136008"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5"/>
                </a:solidFill>
                <a:latin typeface="Arial"/>
                <a:ea typeface="Arial"/>
                <a:cs typeface="Arial"/>
                <a:sym typeface="Arial"/>
              </a:rPr>
              <a:t>Frees capacity</a:t>
            </a:r>
            <a:endParaRPr/>
          </a:p>
        </p:txBody>
      </p:sp>
      <p:cxnSp>
        <p:nvCxnSpPr>
          <p:cNvPr id="5382" name="Google Shape;5382;p20"/>
          <p:cNvCxnSpPr/>
          <p:nvPr/>
        </p:nvCxnSpPr>
        <p:spPr>
          <a:xfrm>
            <a:off x="3302137" y="4729109"/>
            <a:ext cx="0" cy="174020"/>
          </a:xfrm>
          <a:prstGeom prst="straightConnector1">
            <a:avLst/>
          </a:prstGeom>
          <a:noFill/>
          <a:ln w="25400" cap="flat" cmpd="sng">
            <a:solidFill>
              <a:schemeClr val="accent5"/>
            </a:solidFill>
            <a:prstDash val="solid"/>
            <a:miter lim="800000"/>
            <a:headEnd type="none" w="sm" len="sm"/>
            <a:tailEnd type="triangle" w="med" len="med"/>
          </a:ln>
        </p:spPr>
      </p:cxnSp>
      <p:cxnSp>
        <p:nvCxnSpPr>
          <p:cNvPr id="5383" name="Google Shape;5383;p20"/>
          <p:cNvCxnSpPr/>
          <p:nvPr/>
        </p:nvCxnSpPr>
        <p:spPr>
          <a:xfrm>
            <a:off x="4566002" y="4729109"/>
            <a:ext cx="0" cy="174020"/>
          </a:xfrm>
          <a:prstGeom prst="straightConnector1">
            <a:avLst/>
          </a:prstGeom>
          <a:noFill/>
          <a:ln w="25400" cap="flat" cmpd="sng">
            <a:solidFill>
              <a:schemeClr val="accent5"/>
            </a:solidFill>
            <a:prstDash val="solid"/>
            <a:miter lim="800000"/>
            <a:headEnd type="none" w="sm" len="sm"/>
            <a:tailEnd type="triangle" w="med" len="med"/>
          </a:ln>
        </p:spPr>
      </p:cxnSp>
      <p:sp>
        <p:nvSpPr>
          <p:cNvPr id="5384" name="Google Shape;5384;p20"/>
          <p:cNvSpPr/>
          <p:nvPr/>
        </p:nvSpPr>
        <p:spPr>
          <a:xfrm>
            <a:off x="2196333" y="1600200"/>
            <a:ext cx="3463858" cy="115585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5385" name="Google Shape;5385;p20"/>
          <p:cNvSpPr/>
          <p:nvPr/>
        </p:nvSpPr>
        <p:spPr>
          <a:xfrm>
            <a:off x="2491548" y="1907250"/>
            <a:ext cx="1760432" cy="2216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000">
                <a:solidFill>
                  <a:schemeClr val="dk2"/>
                </a:solidFill>
                <a:latin typeface="Arial"/>
                <a:ea typeface="Arial"/>
                <a:cs typeface="Arial"/>
                <a:sym typeface="Arial"/>
              </a:rPr>
              <a:t>Used 181 TB/905 TB (20%)</a:t>
            </a:r>
            <a:endParaRPr/>
          </a:p>
        </p:txBody>
      </p:sp>
      <p:grpSp>
        <p:nvGrpSpPr>
          <p:cNvPr id="5386" name="Google Shape;5386;p20"/>
          <p:cNvGrpSpPr/>
          <p:nvPr/>
        </p:nvGrpSpPr>
        <p:grpSpPr>
          <a:xfrm>
            <a:off x="2330256" y="1968453"/>
            <a:ext cx="99211" cy="99210"/>
            <a:chOff x="3779761" y="2443085"/>
            <a:chExt cx="272588" cy="272587"/>
          </a:xfrm>
        </p:grpSpPr>
        <p:sp>
          <p:nvSpPr>
            <p:cNvPr id="5387" name="Google Shape;5387;p20"/>
            <p:cNvSpPr/>
            <p:nvPr/>
          </p:nvSpPr>
          <p:spPr>
            <a:xfrm>
              <a:off x="3779761" y="2443085"/>
              <a:ext cx="272588" cy="272587"/>
            </a:xfrm>
            <a:prstGeom prst="ellipse">
              <a:avLst/>
            </a:prstGeom>
            <a:solidFill>
              <a:schemeClr val="accent4"/>
            </a:solid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60323" marR="0" lvl="0" indent="0" algn="ctr" rtl="0">
                <a:spcBef>
                  <a:spcPts val="0"/>
                </a:spcBef>
                <a:spcAft>
                  <a:spcPts val="0"/>
                </a:spcAft>
                <a:buNone/>
              </a:pPr>
              <a:endParaRPr sz="1000">
                <a:solidFill>
                  <a:srgbClr val="FFFFFF"/>
                </a:solidFill>
                <a:latin typeface="Arial"/>
                <a:ea typeface="Arial"/>
                <a:cs typeface="Arial"/>
                <a:sym typeface="Arial"/>
              </a:endParaRPr>
            </a:p>
          </p:txBody>
        </p:sp>
        <p:sp>
          <p:nvSpPr>
            <p:cNvPr id="5388" name="Google Shape;5388;p20"/>
            <p:cNvSpPr/>
            <p:nvPr/>
          </p:nvSpPr>
          <p:spPr>
            <a:xfrm rot="-2700000">
              <a:off x="3832637" y="2523785"/>
              <a:ext cx="164461" cy="79795"/>
            </a:xfrm>
            <a:prstGeom prst="corner">
              <a:avLst>
                <a:gd name="adj1" fmla="val 43503"/>
                <a:gd name="adj2" fmla="val 4716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grpSp>
      <p:sp>
        <p:nvSpPr>
          <p:cNvPr id="5389" name="Google Shape;5389;p20"/>
          <p:cNvSpPr/>
          <p:nvPr/>
        </p:nvSpPr>
        <p:spPr>
          <a:xfrm>
            <a:off x="2330257" y="2149085"/>
            <a:ext cx="740308" cy="114628"/>
          </a:xfrm>
          <a:prstGeom prst="rect">
            <a:avLst/>
          </a:prstGeom>
          <a:solidFill>
            <a:srgbClr val="487C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90" name="Google Shape;5390;p20"/>
          <p:cNvSpPr/>
          <p:nvPr/>
        </p:nvSpPr>
        <p:spPr>
          <a:xfrm>
            <a:off x="2314727" y="1650617"/>
            <a:ext cx="1586216" cy="2216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chemeClr val="dk2"/>
                </a:solidFill>
                <a:latin typeface="Arial"/>
                <a:ea typeface="Arial"/>
                <a:cs typeface="Arial"/>
                <a:sym typeface="Arial"/>
              </a:rPr>
              <a:t>Capacity Overview</a:t>
            </a:r>
            <a:endParaRPr sz="1000">
              <a:solidFill>
                <a:schemeClr val="dk2"/>
              </a:solidFill>
              <a:latin typeface="Arial"/>
              <a:ea typeface="Arial"/>
              <a:cs typeface="Arial"/>
              <a:sym typeface="Arial"/>
            </a:endParaRPr>
          </a:p>
        </p:txBody>
      </p:sp>
      <p:grpSp>
        <p:nvGrpSpPr>
          <p:cNvPr id="5391" name="Google Shape;5391;p20"/>
          <p:cNvGrpSpPr/>
          <p:nvPr/>
        </p:nvGrpSpPr>
        <p:grpSpPr>
          <a:xfrm>
            <a:off x="2330257" y="2317559"/>
            <a:ext cx="1271787" cy="221616"/>
            <a:chOff x="2425885" y="3400791"/>
            <a:chExt cx="1271787" cy="221616"/>
          </a:xfrm>
        </p:grpSpPr>
        <p:sp>
          <p:nvSpPr>
            <p:cNvPr id="5392" name="Google Shape;5392;p20"/>
            <p:cNvSpPr/>
            <p:nvPr/>
          </p:nvSpPr>
          <p:spPr>
            <a:xfrm>
              <a:off x="2611283" y="3400791"/>
              <a:ext cx="1086389" cy="2216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000">
                  <a:solidFill>
                    <a:schemeClr val="dk2"/>
                  </a:solidFill>
                  <a:latin typeface="Arial"/>
                  <a:ea typeface="Arial"/>
                  <a:cs typeface="Arial"/>
                  <a:sym typeface="Arial"/>
                </a:rPr>
                <a:t>Actually Written</a:t>
              </a:r>
              <a:endParaRPr/>
            </a:p>
          </p:txBody>
        </p:sp>
        <p:sp>
          <p:nvSpPr>
            <p:cNvPr id="5393" name="Google Shape;5393;p20"/>
            <p:cNvSpPr/>
            <p:nvPr/>
          </p:nvSpPr>
          <p:spPr>
            <a:xfrm>
              <a:off x="2425885" y="3453136"/>
              <a:ext cx="123584" cy="114628"/>
            </a:xfrm>
            <a:prstGeom prst="rect">
              <a:avLst/>
            </a:prstGeom>
            <a:solidFill>
              <a:srgbClr val="487C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sp>
        <p:nvSpPr>
          <p:cNvPr id="5394" name="Google Shape;5394;p20"/>
          <p:cNvSpPr/>
          <p:nvPr/>
        </p:nvSpPr>
        <p:spPr>
          <a:xfrm>
            <a:off x="2330256" y="2151003"/>
            <a:ext cx="3161101" cy="113818"/>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395" name="Google Shape;5395;p20"/>
          <p:cNvSpPr/>
          <p:nvPr/>
        </p:nvSpPr>
        <p:spPr>
          <a:xfrm>
            <a:off x="2330257" y="2510886"/>
            <a:ext cx="1876815" cy="2216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000">
                <a:solidFill>
                  <a:schemeClr val="dk2"/>
                </a:solidFill>
                <a:latin typeface="Arial"/>
                <a:ea typeface="Arial"/>
                <a:cs typeface="Arial"/>
                <a:sym typeface="Arial"/>
              </a:rPr>
              <a:t>Space efficiency savings:</a:t>
            </a:r>
            <a:endParaRPr/>
          </a:p>
        </p:txBody>
      </p:sp>
      <p:sp>
        <p:nvSpPr>
          <p:cNvPr id="5396" name="Google Shape;5396;p20"/>
          <p:cNvSpPr/>
          <p:nvPr/>
        </p:nvSpPr>
        <p:spPr>
          <a:xfrm>
            <a:off x="3917073" y="2510886"/>
            <a:ext cx="1256822" cy="2216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000">
                <a:solidFill>
                  <a:schemeClr val="accent3"/>
                </a:solidFill>
                <a:latin typeface="Arial"/>
                <a:ea typeface="Arial"/>
                <a:cs typeface="Arial"/>
                <a:sym typeface="Arial"/>
              </a:rPr>
              <a:t>314 TB (Ratio: 4.73x)</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46"/>
                                        </p:tgtEl>
                                        <p:attrNameLst>
                                          <p:attrName>style.visibility</p:attrName>
                                        </p:attrNameLst>
                                      </p:cBhvr>
                                      <p:to>
                                        <p:strVal val="visible"/>
                                      </p:to>
                                    </p:set>
                                    <p:animEffect transition="in" filter="fade">
                                      <p:cBhvr>
                                        <p:cTn id="7" dur="500"/>
                                        <p:tgtEl>
                                          <p:spTgt spid="5146"/>
                                        </p:tgtEl>
                                      </p:cBhvr>
                                    </p:animEffect>
                                  </p:childTnLst>
                                </p:cTn>
                              </p:par>
                            </p:childTnLst>
                          </p:cTn>
                        </p:par>
                        <p:par>
                          <p:cTn id="8" fill="hold">
                            <p:stCondLst>
                              <p:cond delay="500"/>
                            </p:stCondLst>
                            <p:childTnLst>
                              <p:par>
                                <p:cTn id="9" presetID="10" presetClass="entr" presetSubtype="0" fill="hold" nodeType="afterEffect">
                                  <p:stCondLst>
                                    <p:cond delay="250"/>
                                  </p:stCondLst>
                                  <p:childTnLst>
                                    <p:set>
                                      <p:cBhvr>
                                        <p:cTn id="10" dur="1" fill="hold">
                                          <p:stCondLst>
                                            <p:cond delay="0"/>
                                          </p:stCondLst>
                                        </p:cTn>
                                        <p:tgtEl>
                                          <p:spTgt spid="5175"/>
                                        </p:tgtEl>
                                        <p:attrNameLst>
                                          <p:attrName>style.visibility</p:attrName>
                                        </p:attrNameLst>
                                      </p:cBhvr>
                                      <p:to>
                                        <p:strVal val="visible"/>
                                      </p:to>
                                    </p:set>
                                    <p:animEffect transition="in" filter="fade">
                                      <p:cBhvr>
                                        <p:cTn id="11" dur="750"/>
                                        <p:tgtEl>
                                          <p:spTgt spid="5175"/>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5181"/>
                                        </p:tgtEl>
                                        <p:attrNameLst>
                                          <p:attrName>style.visibility</p:attrName>
                                        </p:attrNameLst>
                                      </p:cBhvr>
                                      <p:to>
                                        <p:strVal val="visible"/>
                                      </p:to>
                                    </p:set>
                                    <p:animEffect transition="in" filter="fade">
                                      <p:cBhvr>
                                        <p:cTn id="15" dur="500"/>
                                        <p:tgtEl>
                                          <p:spTgt spid="5181"/>
                                        </p:tgtEl>
                                      </p:cBhvr>
                                    </p:animEffect>
                                  </p:childTnLst>
                                </p:cTn>
                              </p:par>
                            </p:childTnLst>
                          </p:cTn>
                        </p:par>
                        <p:par>
                          <p:cTn id="16" fill="hold">
                            <p:stCondLst>
                              <p:cond delay="1750"/>
                            </p:stCondLst>
                            <p:childTnLst>
                              <p:par>
                                <p:cTn id="17" presetID="10" presetClass="entr" presetSubtype="0" fill="hold" nodeType="afterEffect">
                                  <p:stCondLst>
                                    <p:cond delay="0"/>
                                  </p:stCondLst>
                                  <p:childTnLst>
                                    <p:set>
                                      <p:cBhvr>
                                        <p:cTn id="18" dur="1" fill="hold">
                                          <p:stCondLst>
                                            <p:cond delay="0"/>
                                          </p:stCondLst>
                                        </p:cTn>
                                        <p:tgtEl>
                                          <p:spTgt spid="5182"/>
                                        </p:tgtEl>
                                        <p:attrNameLst>
                                          <p:attrName>style.visibility</p:attrName>
                                        </p:attrNameLst>
                                      </p:cBhvr>
                                      <p:to>
                                        <p:strVal val="visible"/>
                                      </p:to>
                                    </p:set>
                                    <p:animEffect transition="in" filter="fade">
                                      <p:cBhvr>
                                        <p:cTn id="19" dur="500"/>
                                        <p:tgtEl>
                                          <p:spTgt spid="5182"/>
                                        </p:tgtEl>
                                      </p:cBhvr>
                                    </p:animEffect>
                                  </p:childTnLst>
                                </p:cTn>
                              </p:par>
                            </p:childTnLst>
                          </p:cTn>
                        </p:par>
                        <p:par>
                          <p:cTn id="20" fill="hold">
                            <p:stCondLst>
                              <p:cond delay="2250"/>
                            </p:stCondLst>
                            <p:childTnLst>
                              <p:par>
                                <p:cTn id="21" presetID="10" presetClass="entr" presetSubtype="0" fill="hold" nodeType="afterEffect">
                                  <p:stCondLst>
                                    <p:cond delay="0"/>
                                  </p:stCondLst>
                                  <p:childTnLst>
                                    <p:set>
                                      <p:cBhvr>
                                        <p:cTn id="22" dur="1" fill="hold">
                                          <p:stCondLst>
                                            <p:cond delay="0"/>
                                          </p:stCondLst>
                                        </p:cTn>
                                        <p:tgtEl>
                                          <p:spTgt spid="5183"/>
                                        </p:tgtEl>
                                        <p:attrNameLst>
                                          <p:attrName>style.visibility</p:attrName>
                                        </p:attrNameLst>
                                      </p:cBhvr>
                                      <p:to>
                                        <p:strVal val="visible"/>
                                      </p:to>
                                    </p:set>
                                    <p:animEffect transition="in" filter="fade">
                                      <p:cBhvr>
                                        <p:cTn id="23" dur="500"/>
                                        <p:tgtEl>
                                          <p:spTgt spid="5183"/>
                                        </p:tgtEl>
                                      </p:cBhvr>
                                    </p:animEffect>
                                  </p:childTnLst>
                                </p:cTn>
                              </p:par>
                              <p:par>
                                <p:cTn id="24" presetID="10" presetClass="entr" presetSubtype="0" fill="hold" nodeType="withEffect">
                                  <p:stCondLst>
                                    <p:cond delay="0"/>
                                  </p:stCondLst>
                                  <p:childTnLst>
                                    <p:set>
                                      <p:cBhvr>
                                        <p:cTn id="25" dur="1" fill="hold">
                                          <p:stCondLst>
                                            <p:cond delay="0"/>
                                          </p:stCondLst>
                                        </p:cTn>
                                        <p:tgtEl>
                                          <p:spTgt spid="5186"/>
                                        </p:tgtEl>
                                        <p:attrNameLst>
                                          <p:attrName>style.visibility</p:attrName>
                                        </p:attrNameLst>
                                      </p:cBhvr>
                                      <p:to>
                                        <p:strVal val="visible"/>
                                      </p:to>
                                    </p:set>
                                    <p:animEffect transition="in" filter="fade">
                                      <p:cBhvr>
                                        <p:cTn id="26" dur="500"/>
                                        <p:tgtEl>
                                          <p:spTgt spid="5186"/>
                                        </p:tgtEl>
                                      </p:cBhvr>
                                    </p:animEffect>
                                  </p:childTnLst>
                                </p:cTn>
                              </p:par>
                              <p:par>
                                <p:cTn id="27" presetID="10" presetClass="entr" presetSubtype="0" fill="hold" nodeType="withEffect">
                                  <p:stCondLst>
                                    <p:cond delay="0"/>
                                  </p:stCondLst>
                                  <p:childTnLst>
                                    <p:set>
                                      <p:cBhvr>
                                        <p:cTn id="28" dur="1" fill="hold">
                                          <p:stCondLst>
                                            <p:cond delay="0"/>
                                          </p:stCondLst>
                                        </p:cTn>
                                        <p:tgtEl>
                                          <p:spTgt spid="5189"/>
                                        </p:tgtEl>
                                        <p:attrNameLst>
                                          <p:attrName>style.visibility</p:attrName>
                                        </p:attrNameLst>
                                      </p:cBhvr>
                                      <p:to>
                                        <p:strVal val="visible"/>
                                      </p:to>
                                    </p:set>
                                    <p:animEffect transition="in" filter="fade">
                                      <p:cBhvr>
                                        <p:cTn id="29" dur="500"/>
                                        <p:tgtEl>
                                          <p:spTgt spid="5189"/>
                                        </p:tgtEl>
                                      </p:cBhvr>
                                    </p:animEffect>
                                  </p:childTnLst>
                                </p:cTn>
                              </p:par>
                              <p:par>
                                <p:cTn id="30" presetID="10" presetClass="entr" presetSubtype="0" fill="hold" nodeType="withEffect">
                                  <p:stCondLst>
                                    <p:cond delay="0"/>
                                  </p:stCondLst>
                                  <p:childTnLst>
                                    <p:set>
                                      <p:cBhvr>
                                        <p:cTn id="31" dur="1" fill="hold">
                                          <p:stCondLst>
                                            <p:cond delay="0"/>
                                          </p:stCondLst>
                                        </p:cTn>
                                        <p:tgtEl>
                                          <p:spTgt spid="5192"/>
                                        </p:tgtEl>
                                        <p:attrNameLst>
                                          <p:attrName>style.visibility</p:attrName>
                                        </p:attrNameLst>
                                      </p:cBhvr>
                                      <p:to>
                                        <p:strVal val="visible"/>
                                      </p:to>
                                    </p:set>
                                    <p:animEffect transition="in" filter="fade">
                                      <p:cBhvr>
                                        <p:cTn id="32" dur="500"/>
                                        <p:tgtEl>
                                          <p:spTgt spid="5192"/>
                                        </p:tgtEl>
                                      </p:cBhvr>
                                    </p:animEffect>
                                  </p:childTnLst>
                                </p:cTn>
                              </p:par>
                              <p:par>
                                <p:cTn id="33" presetID="10" presetClass="entr" presetSubtype="0" fill="hold" nodeType="withEffect">
                                  <p:stCondLst>
                                    <p:cond delay="0"/>
                                  </p:stCondLst>
                                  <p:childTnLst>
                                    <p:set>
                                      <p:cBhvr>
                                        <p:cTn id="34" dur="1" fill="hold">
                                          <p:stCondLst>
                                            <p:cond delay="0"/>
                                          </p:stCondLst>
                                        </p:cTn>
                                        <p:tgtEl>
                                          <p:spTgt spid="5195"/>
                                        </p:tgtEl>
                                        <p:attrNameLst>
                                          <p:attrName>style.visibility</p:attrName>
                                        </p:attrNameLst>
                                      </p:cBhvr>
                                      <p:to>
                                        <p:strVal val="visible"/>
                                      </p:to>
                                    </p:set>
                                    <p:animEffect transition="in" filter="fade">
                                      <p:cBhvr>
                                        <p:cTn id="35" dur="500"/>
                                        <p:tgtEl>
                                          <p:spTgt spid="5195"/>
                                        </p:tgtEl>
                                      </p:cBhvr>
                                    </p:animEffect>
                                  </p:childTnLst>
                                </p:cTn>
                              </p:par>
                              <p:par>
                                <p:cTn id="36" presetID="10" presetClass="entr" presetSubtype="0" fill="hold" nodeType="withEffect">
                                  <p:stCondLst>
                                    <p:cond delay="0"/>
                                  </p:stCondLst>
                                  <p:childTnLst>
                                    <p:set>
                                      <p:cBhvr>
                                        <p:cTn id="37" dur="1" fill="hold">
                                          <p:stCondLst>
                                            <p:cond delay="0"/>
                                          </p:stCondLst>
                                        </p:cTn>
                                        <p:tgtEl>
                                          <p:spTgt spid="5198"/>
                                        </p:tgtEl>
                                        <p:attrNameLst>
                                          <p:attrName>style.visibility</p:attrName>
                                        </p:attrNameLst>
                                      </p:cBhvr>
                                      <p:to>
                                        <p:strVal val="visible"/>
                                      </p:to>
                                    </p:set>
                                    <p:animEffect transition="in" filter="fade">
                                      <p:cBhvr>
                                        <p:cTn id="38" dur="500"/>
                                        <p:tgtEl>
                                          <p:spTgt spid="5198"/>
                                        </p:tgtEl>
                                      </p:cBhvr>
                                    </p:animEffect>
                                  </p:childTnLst>
                                </p:cTn>
                              </p:par>
                              <p:par>
                                <p:cTn id="39" presetID="10" presetClass="entr" presetSubtype="0" fill="hold" nodeType="withEffect">
                                  <p:stCondLst>
                                    <p:cond delay="0"/>
                                  </p:stCondLst>
                                  <p:childTnLst>
                                    <p:set>
                                      <p:cBhvr>
                                        <p:cTn id="40" dur="1" fill="hold">
                                          <p:stCondLst>
                                            <p:cond delay="0"/>
                                          </p:stCondLst>
                                        </p:cTn>
                                        <p:tgtEl>
                                          <p:spTgt spid="5201"/>
                                        </p:tgtEl>
                                        <p:attrNameLst>
                                          <p:attrName>style.visibility</p:attrName>
                                        </p:attrNameLst>
                                      </p:cBhvr>
                                      <p:to>
                                        <p:strVal val="visible"/>
                                      </p:to>
                                    </p:set>
                                    <p:animEffect transition="in" filter="fade">
                                      <p:cBhvr>
                                        <p:cTn id="41" dur="500"/>
                                        <p:tgtEl>
                                          <p:spTgt spid="5201"/>
                                        </p:tgtEl>
                                      </p:cBhvr>
                                    </p:animEffect>
                                  </p:childTnLst>
                                </p:cTn>
                              </p:par>
                              <p:par>
                                <p:cTn id="42" presetID="10" presetClass="entr" presetSubtype="0" fill="hold" nodeType="withEffect">
                                  <p:stCondLst>
                                    <p:cond delay="0"/>
                                  </p:stCondLst>
                                  <p:childTnLst>
                                    <p:set>
                                      <p:cBhvr>
                                        <p:cTn id="43" dur="1" fill="hold">
                                          <p:stCondLst>
                                            <p:cond delay="0"/>
                                          </p:stCondLst>
                                        </p:cTn>
                                        <p:tgtEl>
                                          <p:spTgt spid="5204"/>
                                        </p:tgtEl>
                                        <p:attrNameLst>
                                          <p:attrName>style.visibility</p:attrName>
                                        </p:attrNameLst>
                                      </p:cBhvr>
                                      <p:to>
                                        <p:strVal val="visible"/>
                                      </p:to>
                                    </p:set>
                                    <p:animEffect transition="in" filter="fade">
                                      <p:cBhvr>
                                        <p:cTn id="44" dur="500"/>
                                        <p:tgtEl>
                                          <p:spTgt spid="5204"/>
                                        </p:tgtEl>
                                      </p:cBhvr>
                                    </p:animEffect>
                                  </p:childTnLst>
                                </p:cTn>
                              </p:par>
                              <p:par>
                                <p:cTn id="45" presetID="10" presetClass="entr" presetSubtype="0" fill="hold" nodeType="withEffect">
                                  <p:stCondLst>
                                    <p:cond delay="0"/>
                                  </p:stCondLst>
                                  <p:childTnLst>
                                    <p:set>
                                      <p:cBhvr>
                                        <p:cTn id="46" dur="1" fill="hold">
                                          <p:stCondLst>
                                            <p:cond delay="0"/>
                                          </p:stCondLst>
                                        </p:cTn>
                                        <p:tgtEl>
                                          <p:spTgt spid="5207"/>
                                        </p:tgtEl>
                                        <p:attrNameLst>
                                          <p:attrName>style.visibility</p:attrName>
                                        </p:attrNameLst>
                                      </p:cBhvr>
                                      <p:to>
                                        <p:strVal val="visible"/>
                                      </p:to>
                                    </p:set>
                                    <p:animEffect transition="in" filter="fade">
                                      <p:cBhvr>
                                        <p:cTn id="47" dur="500"/>
                                        <p:tgtEl>
                                          <p:spTgt spid="5207"/>
                                        </p:tgtEl>
                                      </p:cBhvr>
                                    </p:animEffect>
                                  </p:childTnLst>
                                </p:cTn>
                              </p:par>
                              <p:par>
                                <p:cTn id="48" presetID="10" presetClass="entr" presetSubtype="0" fill="hold" nodeType="withEffect">
                                  <p:stCondLst>
                                    <p:cond delay="0"/>
                                  </p:stCondLst>
                                  <p:childTnLst>
                                    <p:set>
                                      <p:cBhvr>
                                        <p:cTn id="49" dur="1" fill="hold">
                                          <p:stCondLst>
                                            <p:cond delay="0"/>
                                          </p:stCondLst>
                                        </p:cTn>
                                        <p:tgtEl>
                                          <p:spTgt spid="5210"/>
                                        </p:tgtEl>
                                        <p:attrNameLst>
                                          <p:attrName>style.visibility</p:attrName>
                                        </p:attrNameLst>
                                      </p:cBhvr>
                                      <p:to>
                                        <p:strVal val="visible"/>
                                      </p:to>
                                    </p:set>
                                    <p:animEffect transition="in" filter="fade">
                                      <p:cBhvr>
                                        <p:cTn id="50" dur="500"/>
                                        <p:tgtEl>
                                          <p:spTgt spid="5210"/>
                                        </p:tgtEl>
                                      </p:cBhvr>
                                    </p:animEffect>
                                  </p:childTnLst>
                                </p:cTn>
                              </p:par>
                            </p:childTnLst>
                          </p:cTn>
                        </p:par>
                        <p:par>
                          <p:cTn id="51" fill="hold">
                            <p:stCondLst>
                              <p:cond delay="2750"/>
                            </p:stCondLst>
                            <p:childTnLst>
                              <p:par>
                                <p:cTn id="52" presetID="10" presetClass="entr" presetSubtype="0" fill="hold" nodeType="afterEffect">
                                  <p:stCondLst>
                                    <p:cond delay="0"/>
                                  </p:stCondLst>
                                  <p:childTnLst>
                                    <p:set>
                                      <p:cBhvr>
                                        <p:cTn id="53" dur="1" fill="hold">
                                          <p:stCondLst>
                                            <p:cond delay="0"/>
                                          </p:stCondLst>
                                        </p:cTn>
                                        <p:tgtEl>
                                          <p:spTgt spid="5213"/>
                                        </p:tgtEl>
                                        <p:attrNameLst>
                                          <p:attrName>style.visibility</p:attrName>
                                        </p:attrNameLst>
                                      </p:cBhvr>
                                      <p:to>
                                        <p:strVal val="visible"/>
                                      </p:to>
                                    </p:set>
                                    <p:animEffect transition="in" filter="fade">
                                      <p:cBhvr>
                                        <p:cTn id="54" dur="500"/>
                                        <p:tgtEl>
                                          <p:spTgt spid="5213"/>
                                        </p:tgtEl>
                                      </p:cBhvr>
                                    </p:animEffect>
                                  </p:childTnLst>
                                </p:cTn>
                              </p:par>
                              <p:par>
                                <p:cTn id="55" presetID="10" presetClass="entr" presetSubtype="0" fill="hold" nodeType="withEffect">
                                  <p:stCondLst>
                                    <p:cond delay="0"/>
                                  </p:stCondLst>
                                  <p:childTnLst>
                                    <p:set>
                                      <p:cBhvr>
                                        <p:cTn id="56" dur="1" fill="hold">
                                          <p:stCondLst>
                                            <p:cond delay="0"/>
                                          </p:stCondLst>
                                        </p:cTn>
                                        <p:tgtEl>
                                          <p:spTgt spid="5214"/>
                                        </p:tgtEl>
                                        <p:attrNameLst>
                                          <p:attrName>style.visibility</p:attrName>
                                        </p:attrNameLst>
                                      </p:cBhvr>
                                      <p:to>
                                        <p:strVal val="visible"/>
                                      </p:to>
                                    </p:set>
                                    <p:animEffect transition="in" filter="fade">
                                      <p:cBhvr>
                                        <p:cTn id="57" dur="500"/>
                                        <p:tgtEl>
                                          <p:spTgt spid="5214"/>
                                        </p:tgtEl>
                                      </p:cBhvr>
                                    </p:animEffect>
                                  </p:childTnLst>
                                </p:cTn>
                              </p:par>
                              <p:par>
                                <p:cTn id="58" presetID="10" presetClass="entr" presetSubtype="0" fill="hold" nodeType="withEffect">
                                  <p:stCondLst>
                                    <p:cond delay="0"/>
                                  </p:stCondLst>
                                  <p:childTnLst>
                                    <p:set>
                                      <p:cBhvr>
                                        <p:cTn id="59" dur="1" fill="hold">
                                          <p:stCondLst>
                                            <p:cond delay="0"/>
                                          </p:stCondLst>
                                        </p:cTn>
                                        <p:tgtEl>
                                          <p:spTgt spid="5215"/>
                                        </p:tgtEl>
                                        <p:attrNameLst>
                                          <p:attrName>style.visibility</p:attrName>
                                        </p:attrNameLst>
                                      </p:cBhvr>
                                      <p:to>
                                        <p:strVal val="visible"/>
                                      </p:to>
                                    </p:set>
                                    <p:animEffect transition="in" filter="fade">
                                      <p:cBhvr>
                                        <p:cTn id="60" dur="500"/>
                                        <p:tgtEl>
                                          <p:spTgt spid="5215"/>
                                        </p:tgtEl>
                                      </p:cBhvr>
                                    </p:animEffect>
                                  </p:childTnLst>
                                </p:cTn>
                              </p:par>
                              <p:par>
                                <p:cTn id="61" presetID="10" presetClass="entr" presetSubtype="0" fill="hold" nodeType="withEffect">
                                  <p:stCondLst>
                                    <p:cond delay="0"/>
                                  </p:stCondLst>
                                  <p:childTnLst>
                                    <p:set>
                                      <p:cBhvr>
                                        <p:cTn id="62" dur="1" fill="hold">
                                          <p:stCondLst>
                                            <p:cond delay="0"/>
                                          </p:stCondLst>
                                        </p:cTn>
                                        <p:tgtEl>
                                          <p:spTgt spid="5216"/>
                                        </p:tgtEl>
                                        <p:attrNameLst>
                                          <p:attrName>style.visibility</p:attrName>
                                        </p:attrNameLst>
                                      </p:cBhvr>
                                      <p:to>
                                        <p:strVal val="visible"/>
                                      </p:to>
                                    </p:set>
                                    <p:animEffect transition="in" filter="fade">
                                      <p:cBhvr>
                                        <p:cTn id="63" dur="500"/>
                                        <p:tgtEl>
                                          <p:spTgt spid="5216"/>
                                        </p:tgtEl>
                                      </p:cBhvr>
                                    </p:animEffect>
                                  </p:childTnLst>
                                </p:cTn>
                              </p:par>
                              <p:par>
                                <p:cTn id="64" presetID="10" presetClass="entr" presetSubtype="0" fill="hold" nodeType="withEffect">
                                  <p:stCondLst>
                                    <p:cond delay="0"/>
                                  </p:stCondLst>
                                  <p:childTnLst>
                                    <p:set>
                                      <p:cBhvr>
                                        <p:cTn id="65" dur="1" fill="hold">
                                          <p:stCondLst>
                                            <p:cond delay="0"/>
                                          </p:stCondLst>
                                        </p:cTn>
                                        <p:tgtEl>
                                          <p:spTgt spid="5217"/>
                                        </p:tgtEl>
                                        <p:attrNameLst>
                                          <p:attrName>style.visibility</p:attrName>
                                        </p:attrNameLst>
                                      </p:cBhvr>
                                      <p:to>
                                        <p:strVal val="visible"/>
                                      </p:to>
                                    </p:set>
                                    <p:animEffect transition="in" filter="fade">
                                      <p:cBhvr>
                                        <p:cTn id="66" dur="500"/>
                                        <p:tgtEl>
                                          <p:spTgt spid="5217"/>
                                        </p:tgtEl>
                                      </p:cBhvr>
                                    </p:animEffect>
                                  </p:childTnLst>
                                </p:cTn>
                              </p:par>
                              <p:par>
                                <p:cTn id="67" presetID="10" presetClass="entr" presetSubtype="0" fill="hold" nodeType="withEffect">
                                  <p:stCondLst>
                                    <p:cond delay="0"/>
                                  </p:stCondLst>
                                  <p:childTnLst>
                                    <p:set>
                                      <p:cBhvr>
                                        <p:cTn id="68" dur="1" fill="hold">
                                          <p:stCondLst>
                                            <p:cond delay="0"/>
                                          </p:stCondLst>
                                        </p:cTn>
                                        <p:tgtEl>
                                          <p:spTgt spid="5218"/>
                                        </p:tgtEl>
                                        <p:attrNameLst>
                                          <p:attrName>style.visibility</p:attrName>
                                        </p:attrNameLst>
                                      </p:cBhvr>
                                      <p:to>
                                        <p:strVal val="visible"/>
                                      </p:to>
                                    </p:set>
                                    <p:animEffect transition="in" filter="fade">
                                      <p:cBhvr>
                                        <p:cTn id="69" dur="500"/>
                                        <p:tgtEl>
                                          <p:spTgt spid="5218"/>
                                        </p:tgtEl>
                                      </p:cBhvr>
                                    </p:animEffect>
                                  </p:childTnLst>
                                </p:cTn>
                              </p:par>
                              <p:par>
                                <p:cTn id="70" presetID="10" presetClass="entr" presetSubtype="0" fill="hold" nodeType="withEffect">
                                  <p:stCondLst>
                                    <p:cond delay="0"/>
                                  </p:stCondLst>
                                  <p:childTnLst>
                                    <p:set>
                                      <p:cBhvr>
                                        <p:cTn id="71" dur="1" fill="hold">
                                          <p:stCondLst>
                                            <p:cond delay="0"/>
                                          </p:stCondLst>
                                        </p:cTn>
                                        <p:tgtEl>
                                          <p:spTgt spid="5219"/>
                                        </p:tgtEl>
                                        <p:attrNameLst>
                                          <p:attrName>style.visibility</p:attrName>
                                        </p:attrNameLst>
                                      </p:cBhvr>
                                      <p:to>
                                        <p:strVal val="visible"/>
                                      </p:to>
                                    </p:set>
                                    <p:animEffect transition="in" filter="fade">
                                      <p:cBhvr>
                                        <p:cTn id="72" dur="500"/>
                                        <p:tgtEl>
                                          <p:spTgt spid="5219"/>
                                        </p:tgtEl>
                                      </p:cBhvr>
                                    </p:animEffect>
                                  </p:childTnLst>
                                </p:cTn>
                              </p:par>
                              <p:par>
                                <p:cTn id="73" presetID="10" presetClass="entr" presetSubtype="0" fill="hold" nodeType="withEffect">
                                  <p:stCondLst>
                                    <p:cond delay="0"/>
                                  </p:stCondLst>
                                  <p:childTnLst>
                                    <p:set>
                                      <p:cBhvr>
                                        <p:cTn id="74" dur="1" fill="hold">
                                          <p:stCondLst>
                                            <p:cond delay="0"/>
                                          </p:stCondLst>
                                        </p:cTn>
                                        <p:tgtEl>
                                          <p:spTgt spid="5220"/>
                                        </p:tgtEl>
                                        <p:attrNameLst>
                                          <p:attrName>style.visibility</p:attrName>
                                        </p:attrNameLst>
                                      </p:cBhvr>
                                      <p:to>
                                        <p:strVal val="visible"/>
                                      </p:to>
                                    </p:set>
                                    <p:animEffect transition="in" filter="fade">
                                      <p:cBhvr>
                                        <p:cTn id="75" dur="500"/>
                                        <p:tgtEl>
                                          <p:spTgt spid="5220"/>
                                        </p:tgtEl>
                                      </p:cBhvr>
                                    </p:animEffect>
                                  </p:childTnLst>
                                </p:cTn>
                              </p:par>
                              <p:par>
                                <p:cTn id="76" presetID="10" presetClass="entr" presetSubtype="0" fill="hold" nodeType="withEffect">
                                  <p:stCondLst>
                                    <p:cond delay="0"/>
                                  </p:stCondLst>
                                  <p:childTnLst>
                                    <p:set>
                                      <p:cBhvr>
                                        <p:cTn id="77" dur="1" fill="hold">
                                          <p:stCondLst>
                                            <p:cond delay="0"/>
                                          </p:stCondLst>
                                        </p:cTn>
                                        <p:tgtEl>
                                          <p:spTgt spid="5221"/>
                                        </p:tgtEl>
                                        <p:attrNameLst>
                                          <p:attrName>style.visibility</p:attrName>
                                        </p:attrNameLst>
                                      </p:cBhvr>
                                      <p:to>
                                        <p:strVal val="visible"/>
                                      </p:to>
                                    </p:set>
                                    <p:animEffect transition="in" filter="fade">
                                      <p:cBhvr>
                                        <p:cTn id="78" dur="500"/>
                                        <p:tgtEl>
                                          <p:spTgt spid="5221"/>
                                        </p:tgtEl>
                                      </p:cBhvr>
                                    </p:animEffect>
                                  </p:childTnLst>
                                </p:cTn>
                              </p:par>
                              <p:par>
                                <p:cTn id="79" presetID="10" presetClass="entr" presetSubtype="0" fill="hold" nodeType="withEffect">
                                  <p:stCondLst>
                                    <p:cond delay="0"/>
                                  </p:stCondLst>
                                  <p:childTnLst>
                                    <p:set>
                                      <p:cBhvr>
                                        <p:cTn id="80" dur="1" fill="hold">
                                          <p:stCondLst>
                                            <p:cond delay="0"/>
                                          </p:stCondLst>
                                        </p:cTn>
                                        <p:tgtEl>
                                          <p:spTgt spid="5222"/>
                                        </p:tgtEl>
                                        <p:attrNameLst>
                                          <p:attrName>style.visibility</p:attrName>
                                        </p:attrNameLst>
                                      </p:cBhvr>
                                      <p:to>
                                        <p:strVal val="visible"/>
                                      </p:to>
                                    </p:set>
                                    <p:animEffect transition="in" filter="fade">
                                      <p:cBhvr>
                                        <p:cTn id="81" dur="500"/>
                                        <p:tgtEl>
                                          <p:spTgt spid="5222"/>
                                        </p:tgtEl>
                                      </p:cBhvr>
                                    </p:animEffect>
                                  </p:childTnLst>
                                </p:cTn>
                              </p:par>
                              <p:par>
                                <p:cTn id="82" presetID="10" presetClass="entr" presetSubtype="0" fill="hold" nodeType="withEffect">
                                  <p:stCondLst>
                                    <p:cond delay="0"/>
                                  </p:stCondLst>
                                  <p:childTnLst>
                                    <p:set>
                                      <p:cBhvr>
                                        <p:cTn id="83" dur="1" fill="hold">
                                          <p:stCondLst>
                                            <p:cond delay="0"/>
                                          </p:stCondLst>
                                        </p:cTn>
                                        <p:tgtEl>
                                          <p:spTgt spid="5223"/>
                                        </p:tgtEl>
                                        <p:attrNameLst>
                                          <p:attrName>style.visibility</p:attrName>
                                        </p:attrNameLst>
                                      </p:cBhvr>
                                      <p:to>
                                        <p:strVal val="visible"/>
                                      </p:to>
                                    </p:set>
                                    <p:animEffect transition="in" filter="fade">
                                      <p:cBhvr>
                                        <p:cTn id="84" dur="500"/>
                                        <p:tgtEl>
                                          <p:spTgt spid="5223"/>
                                        </p:tgtEl>
                                      </p:cBhvr>
                                    </p:animEffect>
                                  </p:childTnLst>
                                </p:cTn>
                              </p:par>
                              <p:par>
                                <p:cTn id="85" presetID="10" presetClass="entr" presetSubtype="0" fill="hold" nodeType="withEffect">
                                  <p:stCondLst>
                                    <p:cond delay="0"/>
                                  </p:stCondLst>
                                  <p:childTnLst>
                                    <p:set>
                                      <p:cBhvr>
                                        <p:cTn id="86" dur="1" fill="hold">
                                          <p:stCondLst>
                                            <p:cond delay="0"/>
                                          </p:stCondLst>
                                        </p:cTn>
                                        <p:tgtEl>
                                          <p:spTgt spid="5224"/>
                                        </p:tgtEl>
                                        <p:attrNameLst>
                                          <p:attrName>style.visibility</p:attrName>
                                        </p:attrNameLst>
                                      </p:cBhvr>
                                      <p:to>
                                        <p:strVal val="visible"/>
                                      </p:to>
                                    </p:set>
                                    <p:animEffect transition="in" filter="fade">
                                      <p:cBhvr>
                                        <p:cTn id="87" dur="500"/>
                                        <p:tgtEl>
                                          <p:spTgt spid="5224"/>
                                        </p:tgtEl>
                                      </p:cBhvr>
                                    </p:animEffect>
                                  </p:childTnLst>
                                </p:cTn>
                              </p:par>
                              <p:par>
                                <p:cTn id="88" presetID="10" presetClass="entr" presetSubtype="0" fill="hold" nodeType="withEffect">
                                  <p:stCondLst>
                                    <p:cond delay="0"/>
                                  </p:stCondLst>
                                  <p:childTnLst>
                                    <p:set>
                                      <p:cBhvr>
                                        <p:cTn id="89" dur="1" fill="hold">
                                          <p:stCondLst>
                                            <p:cond delay="0"/>
                                          </p:stCondLst>
                                        </p:cTn>
                                        <p:tgtEl>
                                          <p:spTgt spid="5225"/>
                                        </p:tgtEl>
                                        <p:attrNameLst>
                                          <p:attrName>style.visibility</p:attrName>
                                        </p:attrNameLst>
                                      </p:cBhvr>
                                      <p:to>
                                        <p:strVal val="visible"/>
                                      </p:to>
                                    </p:set>
                                    <p:animEffect transition="in" filter="fade">
                                      <p:cBhvr>
                                        <p:cTn id="90" dur="500"/>
                                        <p:tgtEl>
                                          <p:spTgt spid="5225"/>
                                        </p:tgtEl>
                                      </p:cBhvr>
                                    </p:animEffect>
                                  </p:childTnLst>
                                </p:cTn>
                              </p:par>
                              <p:par>
                                <p:cTn id="91" presetID="10" presetClass="entr" presetSubtype="0" fill="hold" nodeType="withEffect">
                                  <p:stCondLst>
                                    <p:cond delay="0"/>
                                  </p:stCondLst>
                                  <p:childTnLst>
                                    <p:set>
                                      <p:cBhvr>
                                        <p:cTn id="92" dur="1" fill="hold">
                                          <p:stCondLst>
                                            <p:cond delay="0"/>
                                          </p:stCondLst>
                                        </p:cTn>
                                        <p:tgtEl>
                                          <p:spTgt spid="5226"/>
                                        </p:tgtEl>
                                        <p:attrNameLst>
                                          <p:attrName>style.visibility</p:attrName>
                                        </p:attrNameLst>
                                      </p:cBhvr>
                                      <p:to>
                                        <p:strVal val="visible"/>
                                      </p:to>
                                    </p:set>
                                    <p:animEffect transition="in" filter="fade">
                                      <p:cBhvr>
                                        <p:cTn id="93" dur="500"/>
                                        <p:tgtEl>
                                          <p:spTgt spid="5226"/>
                                        </p:tgtEl>
                                      </p:cBhvr>
                                    </p:animEffect>
                                  </p:childTnLst>
                                </p:cTn>
                              </p:par>
                              <p:par>
                                <p:cTn id="94" presetID="10" presetClass="entr" presetSubtype="0" fill="hold" nodeType="withEffect">
                                  <p:stCondLst>
                                    <p:cond delay="0"/>
                                  </p:stCondLst>
                                  <p:childTnLst>
                                    <p:set>
                                      <p:cBhvr>
                                        <p:cTn id="95" dur="1" fill="hold">
                                          <p:stCondLst>
                                            <p:cond delay="0"/>
                                          </p:stCondLst>
                                        </p:cTn>
                                        <p:tgtEl>
                                          <p:spTgt spid="5227"/>
                                        </p:tgtEl>
                                        <p:attrNameLst>
                                          <p:attrName>style.visibility</p:attrName>
                                        </p:attrNameLst>
                                      </p:cBhvr>
                                      <p:to>
                                        <p:strVal val="visible"/>
                                      </p:to>
                                    </p:set>
                                    <p:animEffect transition="in" filter="fade">
                                      <p:cBhvr>
                                        <p:cTn id="96" dur="500"/>
                                        <p:tgtEl>
                                          <p:spTgt spid="5227"/>
                                        </p:tgtEl>
                                      </p:cBhvr>
                                    </p:animEffect>
                                  </p:childTnLst>
                                </p:cTn>
                              </p:par>
                              <p:par>
                                <p:cTn id="97" presetID="10" presetClass="entr" presetSubtype="0" fill="hold" nodeType="withEffect">
                                  <p:stCondLst>
                                    <p:cond delay="0"/>
                                  </p:stCondLst>
                                  <p:childTnLst>
                                    <p:set>
                                      <p:cBhvr>
                                        <p:cTn id="98" dur="1" fill="hold">
                                          <p:stCondLst>
                                            <p:cond delay="0"/>
                                          </p:stCondLst>
                                        </p:cTn>
                                        <p:tgtEl>
                                          <p:spTgt spid="5228"/>
                                        </p:tgtEl>
                                        <p:attrNameLst>
                                          <p:attrName>style.visibility</p:attrName>
                                        </p:attrNameLst>
                                      </p:cBhvr>
                                      <p:to>
                                        <p:strVal val="visible"/>
                                      </p:to>
                                    </p:set>
                                    <p:animEffect transition="in" filter="fade">
                                      <p:cBhvr>
                                        <p:cTn id="99" dur="500"/>
                                        <p:tgtEl>
                                          <p:spTgt spid="5228"/>
                                        </p:tgtEl>
                                      </p:cBhvr>
                                    </p:animEffect>
                                  </p:childTnLst>
                                </p:cTn>
                              </p:par>
                              <p:par>
                                <p:cTn id="100" presetID="10" presetClass="entr" presetSubtype="0" fill="hold" nodeType="withEffect">
                                  <p:stCondLst>
                                    <p:cond delay="0"/>
                                  </p:stCondLst>
                                  <p:childTnLst>
                                    <p:set>
                                      <p:cBhvr>
                                        <p:cTn id="101" dur="1" fill="hold">
                                          <p:stCondLst>
                                            <p:cond delay="0"/>
                                          </p:stCondLst>
                                        </p:cTn>
                                        <p:tgtEl>
                                          <p:spTgt spid="5229"/>
                                        </p:tgtEl>
                                        <p:attrNameLst>
                                          <p:attrName>style.visibility</p:attrName>
                                        </p:attrNameLst>
                                      </p:cBhvr>
                                      <p:to>
                                        <p:strVal val="visible"/>
                                      </p:to>
                                    </p:set>
                                    <p:animEffect transition="in" filter="fade">
                                      <p:cBhvr>
                                        <p:cTn id="102" dur="500"/>
                                        <p:tgtEl>
                                          <p:spTgt spid="5229"/>
                                        </p:tgtEl>
                                      </p:cBhvr>
                                    </p:animEffect>
                                  </p:childTnLst>
                                </p:cTn>
                              </p:par>
                              <p:par>
                                <p:cTn id="103" presetID="10" presetClass="entr" presetSubtype="0" fill="hold" nodeType="withEffect">
                                  <p:stCondLst>
                                    <p:cond delay="0"/>
                                  </p:stCondLst>
                                  <p:childTnLst>
                                    <p:set>
                                      <p:cBhvr>
                                        <p:cTn id="104" dur="1" fill="hold">
                                          <p:stCondLst>
                                            <p:cond delay="0"/>
                                          </p:stCondLst>
                                        </p:cTn>
                                        <p:tgtEl>
                                          <p:spTgt spid="5230"/>
                                        </p:tgtEl>
                                        <p:attrNameLst>
                                          <p:attrName>style.visibility</p:attrName>
                                        </p:attrNameLst>
                                      </p:cBhvr>
                                      <p:to>
                                        <p:strVal val="visible"/>
                                      </p:to>
                                    </p:set>
                                    <p:animEffect transition="in" filter="fade">
                                      <p:cBhvr>
                                        <p:cTn id="105" dur="500"/>
                                        <p:tgtEl>
                                          <p:spTgt spid="5230"/>
                                        </p:tgtEl>
                                      </p:cBhvr>
                                    </p:animEffect>
                                  </p:childTnLst>
                                </p:cTn>
                              </p:par>
                              <p:par>
                                <p:cTn id="106" presetID="10" presetClass="entr" presetSubtype="0" fill="hold" nodeType="withEffect">
                                  <p:stCondLst>
                                    <p:cond delay="0"/>
                                  </p:stCondLst>
                                  <p:childTnLst>
                                    <p:set>
                                      <p:cBhvr>
                                        <p:cTn id="107" dur="1" fill="hold">
                                          <p:stCondLst>
                                            <p:cond delay="0"/>
                                          </p:stCondLst>
                                        </p:cTn>
                                        <p:tgtEl>
                                          <p:spTgt spid="5231"/>
                                        </p:tgtEl>
                                        <p:attrNameLst>
                                          <p:attrName>style.visibility</p:attrName>
                                        </p:attrNameLst>
                                      </p:cBhvr>
                                      <p:to>
                                        <p:strVal val="visible"/>
                                      </p:to>
                                    </p:set>
                                    <p:animEffect transition="in" filter="fade">
                                      <p:cBhvr>
                                        <p:cTn id="108" dur="500"/>
                                        <p:tgtEl>
                                          <p:spTgt spid="5231"/>
                                        </p:tgtEl>
                                      </p:cBhvr>
                                    </p:animEffect>
                                  </p:childTnLst>
                                </p:cTn>
                              </p:par>
                              <p:par>
                                <p:cTn id="109" presetID="10" presetClass="entr" presetSubtype="0" fill="hold" nodeType="withEffect">
                                  <p:stCondLst>
                                    <p:cond delay="0"/>
                                  </p:stCondLst>
                                  <p:childTnLst>
                                    <p:set>
                                      <p:cBhvr>
                                        <p:cTn id="110" dur="1" fill="hold">
                                          <p:stCondLst>
                                            <p:cond delay="0"/>
                                          </p:stCondLst>
                                        </p:cTn>
                                        <p:tgtEl>
                                          <p:spTgt spid="5232"/>
                                        </p:tgtEl>
                                        <p:attrNameLst>
                                          <p:attrName>style.visibility</p:attrName>
                                        </p:attrNameLst>
                                      </p:cBhvr>
                                      <p:to>
                                        <p:strVal val="visible"/>
                                      </p:to>
                                    </p:set>
                                    <p:animEffect transition="in" filter="fade">
                                      <p:cBhvr>
                                        <p:cTn id="111" dur="500"/>
                                        <p:tgtEl>
                                          <p:spTgt spid="5232"/>
                                        </p:tgtEl>
                                      </p:cBhvr>
                                    </p:animEffect>
                                  </p:childTnLst>
                                </p:cTn>
                              </p:par>
                              <p:par>
                                <p:cTn id="112" presetID="10" presetClass="entr" presetSubtype="0" fill="hold" nodeType="withEffect">
                                  <p:stCondLst>
                                    <p:cond delay="0"/>
                                  </p:stCondLst>
                                  <p:childTnLst>
                                    <p:set>
                                      <p:cBhvr>
                                        <p:cTn id="113" dur="1" fill="hold">
                                          <p:stCondLst>
                                            <p:cond delay="0"/>
                                          </p:stCondLst>
                                        </p:cTn>
                                        <p:tgtEl>
                                          <p:spTgt spid="5233"/>
                                        </p:tgtEl>
                                        <p:attrNameLst>
                                          <p:attrName>style.visibility</p:attrName>
                                        </p:attrNameLst>
                                      </p:cBhvr>
                                      <p:to>
                                        <p:strVal val="visible"/>
                                      </p:to>
                                    </p:set>
                                    <p:animEffect transition="in" filter="fade">
                                      <p:cBhvr>
                                        <p:cTn id="114" dur="500"/>
                                        <p:tgtEl>
                                          <p:spTgt spid="5233"/>
                                        </p:tgtEl>
                                      </p:cBhvr>
                                    </p:animEffect>
                                  </p:childTnLst>
                                </p:cTn>
                              </p:par>
                              <p:par>
                                <p:cTn id="115" presetID="10" presetClass="entr" presetSubtype="0" fill="hold" nodeType="withEffect">
                                  <p:stCondLst>
                                    <p:cond delay="0"/>
                                  </p:stCondLst>
                                  <p:childTnLst>
                                    <p:set>
                                      <p:cBhvr>
                                        <p:cTn id="116" dur="1" fill="hold">
                                          <p:stCondLst>
                                            <p:cond delay="0"/>
                                          </p:stCondLst>
                                        </p:cTn>
                                        <p:tgtEl>
                                          <p:spTgt spid="5234"/>
                                        </p:tgtEl>
                                        <p:attrNameLst>
                                          <p:attrName>style.visibility</p:attrName>
                                        </p:attrNameLst>
                                      </p:cBhvr>
                                      <p:to>
                                        <p:strVal val="visible"/>
                                      </p:to>
                                    </p:set>
                                    <p:animEffect transition="in" filter="fade">
                                      <p:cBhvr>
                                        <p:cTn id="117" dur="500"/>
                                        <p:tgtEl>
                                          <p:spTgt spid="5234"/>
                                        </p:tgtEl>
                                      </p:cBhvr>
                                    </p:animEffect>
                                  </p:childTnLst>
                                </p:cTn>
                              </p:par>
                              <p:par>
                                <p:cTn id="118" presetID="10" presetClass="entr" presetSubtype="0" fill="hold" nodeType="withEffect">
                                  <p:stCondLst>
                                    <p:cond delay="0"/>
                                  </p:stCondLst>
                                  <p:childTnLst>
                                    <p:set>
                                      <p:cBhvr>
                                        <p:cTn id="119" dur="1" fill="hold">
                                          <p:stCondLst>
                                            <p:cond delay="0"/>
                                          </p:stCondLst>
                                        </p:cTn>
                                        <p:tgtEl>
                                          <p:spTgt spid="5235"/>
                                        </p:tgtEl>
                                        <p:attrNameLst>
                                          <p:attrName>style.visibility</p:attrName>
                                        </p:attrNameLst>
                                      </p:cBhvr>
                                      <p:to>
                                        <p:strVal val="visible"/>
                                      </p:to>
                                    </p:set>
                                    <p:animEffect transition="in" filter="fade">
                                      <p:cBhvr>
                                        <p:cTn id="120" dur="500"/>
                                        <p:tgtEl>
                                          <p:spTgt spid="5235"/>
                                        </p:tgtEl>
                                      </p:cBhvr>
                                    </p:animEffect>
                                  </p:childTnLst>
                                </p:cTn>
                              </p:par>
                              <p:par>
                                <p:cTn id="121" presetID="10" presetClass="entr" presetSubtype="0" fill="hold" nodeType="withEffect">
                                  <p:stCondLst>
                                    <p:cond delay="0"/>
                                  </p:stCondLst>
                                  <p:childTnLst>
                                    <p:set>
                                      <p:cBhvr>
                                        <p:cTn id="122" dur="1" fill="hold">
                                          <p:stCondLst>
                                            <p:cond delay="0"/>
                                          </p:stCondLst>
                                        </p:cTn>
                                        <p:tgtEl>
                                          <p:spTgt spid="5236"/>
                                        </p:tgtEl>
                                        <p:attrNameLst>
                                          <p:attrName>style.visibility</p:attrName>
                                        </p:attrNameLst>
                                      </p:cBhvr>
                                      <p:to>
                                        <p:strVal val="visible"/>
                                      </p:to>
                                    </p:set>
                                    <p:animEffect transition="in" filter="fade">
                                      <p:cBhvr>
                                        <p:cTn id="123" dur="500"/>
                                        <p:tgtEl>
                                          <p:spTgt spid="5236"/>
                                        </p:tgtEl>
                                      </p:cBhvr>
                                    </p:animEffect>
                                  </p:childTnLst>
                                </p:cTn>
                              </p:par>
                              <p:par>
                                <p:cTn id="124" presetID="10" presetClass="entr" presetSubtype="0" fill="hold" nodeType="withEffect">
                                  <p:stCondLst>
                                    <p:cond delay="0"/>
                                  </p:stCondLst>
                                  <p:childTnLst>
                                    <p:set>
                                      <p:cBhvr>
                                        <p:cTn id="125" dur="1" fill="hold">
                                          <p:stCondLst>
                                            <p:cond delay="0"/>
                                          </p:stCondLst>
                                        </p:cTn>
                                        <p:tgtEl>
                                          <p:spTgt spid="5237"/>
                                        </p:tgtEl>
                                        <p:attrNameLst>
                                          <p:attrName>style.visibility</p:attrName>
                                        </p:attrNameLst>
                                      </p:cBhvr>
                                      <p:to>
                                        <p:strVal val="visible"/>
                                      </p:to>
                                    </p:set>
                                    <p:animEffect transition="in" filter="fade">
                                      <p:cBhvr>
                                        <p:cTn id="126" dur="500"/>
                                        <p:tgtEl>
                                          <p:spTgt spid="5237"/>
                                        </p:tgtEl>
                                      </p:cBhvr>
                                    </p:animEffect>
                                  </p:childTnLst>
                                </p:cTn>
                              </p:par>
                              <p:par>
                                <p:cTn id="127" presetID="10" presetClass="entr" presetSubtype="0" fill="hold" nodeType="withEffect">
                                  <p:stCondLst>
                                    <p:cond delay="0"/>
                                  </p:stCondLst>
                                  <p:childTnLst>
                                    <p:set>
                                      <p:cBhvr>
                                        <p:cTn id="128" dur="1" fill="hold">
                                          <p:stCondLst>
                                            <p:cond delay="0"/>
                                          </p:stCondLst>
                                        </p:cTn>
                                        <p:tgtEl>
                                          <p:spTgt spid="5238"/>
                                        </p:tgtEl>
                                        <p:attrNameLst>
                                          <p:attrName>style.visibility</p:attrName>
                                        </p:attrNameLst>
                                      </p:cBhvr>
                                      <p:to>
                                        <p:strVal val="visible"/>
                                      </p:to>
                                    </p:set>
                                    <p:animEffect transition="in" filter="fade">
                                      <p:cBhvr>
                                        <p:cTn id="129" dur="500"/>
                                        <p:tgtEl>
                                          <p:spTgt spid="5238"/>
                                        </p:tgtEl>
                                      </p:cBhvr>
                                    </p:animEffect>
                                  </p:childTnLst>
                                </p:cTn>
                              </p:par>
                              <p:par>
                                <p:cTn id="130" presetID="10" presetClass="entr" presetSubtype="0" fill="hold" nodeType="withEffect">
                                  <p:stCondLst>
                                    <p:cond delay="0"/>
                                  </p:stCondLst>
                                  <p:childTnLst>
                                    <p:set>
                                      <p:cBhvr>
                                        <p:cTn id="131" dur="1" fill="hold">
                                          <p:stCondLst>
                                            <p:cond delay="0"/>
                                          </p:stCondLst>
                                        </p:cTn>
                                        <p:tgtEl>
                                          <p:spTgt spid="5239"/>
                                        </p:tgtEl>
                                        <p:attrNameLst>
                                          <p:attrName>style.visibility</p:attrName>
                                        </p:attrNameLst>
                                      </p:cBhvr>
                                      <p:to>
                                        <p:strVal val="visible"/>
                                      </p:to>
                                    </p:set>
                                    <p:animEffect transition="in" filter="fade">
                                      <p:cBhvr>
                                        <p:cTn id="132" dur="500"/>
                                        <p:tgtEl>
                                          <p:spTgt spid="5239"/>
                                        </p:tgtEl>
                                      </p:cBhvr>
                                    </p:animEffect>
                                  </p:childTnLst>
                                </p:cTn>
                              </p:par>
                              <p:par>
                                <p:cTn id="133" presetID="10" presetClass="entr" presetSubtype="0" fill="hold" nodeType="withEffect">
                                  <p:stCondLst>
                                    <p:cond delay="0"/>
                                  </p:stCondLst>
                                  <p:childTnLst>
                                    <p:set>
                                      <p:cBhvr>
                                        <p:cTn id="134" dur="1" fill="hold">
                                          <p:stCondLst>
                                            <p:cond delay="0"/>
                                          </p:stCondLst>
                                        </p:cTn>
                                        <p:tgtEl>
                                          <p:spTgt spid="5240"/>
                                        </p:tgtEl>
                                        <p:attrNameLst>
                                          <p:attrName>style.visibility</p:attrName>
                                        </p:attrNameLst>
                                      </p:cBhvr>
                                      <p:to>
                                        <p:strVal val="visible"/>
                                      </p:to>
                                    </p:set>
                                    <p:animEffect transition="in" filter="fade">
                                      <p:cBhvr>
                                        <p:cTn id="135" dur="500"/>
                                        <p:tgtEl>
                                          <p:spTgt spid="5240"/>
                                        </p:tgtEl>
                                      </p:cBhvr>
                                    </p:animEffect>
                                  </p:childTnLst>
                                </p:cTn>
                              </p:par>
                              <p:par>
                                <p:cTn id="136" presetID="10" presetClass="entr" presetSubtype="0" fill="hold" nodeType="withEffect">
                                  <p:stCondLst>
                                    <p:cond delay="0"/>
                                  </p:stCondLst>
                                  <p:childTnLst>
                                    <p:set>
                                      <p:cBhvr>
                                        <p:cTn id="137" dur="1" fill="hold">
                                          <p:stCondLst>
                                            <p:cond delay="0"/>
                                          </p:stCondLst>
                                        </p:cTn>
                                        <p:tgtEl>
                                          <p:spTgt spid="5241"/>
                                        </p:tgtEl>
                                        <p:attrNameLst>
                                          <p:attrName>style.visibility</p:attrName>
                                        </p:attrNameLst>
                                      </p:cBhvr>
                                      <p:to>
                                        <p:strVal val="visible"/>
                                      </p:to>
                                    </p:set>
                                    <p:animEffect transition="in" filter="fade">
                                      <p:cBhvr>
                                        <p:cTn id="138" dur="500"/>
                                        <p:tgtEl>
                                          <p:spTgt spid="5241"/>
                                        </p:tgtEl>
                                      </p:cBhvr>
                                    </p:animEffect>
                                  </p:childTnLst>
                                </p:cTn>
                              </p:par>
                              <p:par>
                                <p:cTn id="139" presetID="10" presetClass="entr" presetSubtype="0" fill="hold" nodeType="withEffect">
                                  <p:stCondLst>
                                    <p:cond delay="0"/>
                                  </p:stCondLst>
                                  <p:childTnLst>
                                    <p:set>
                                      <p:cBhvr>
                                        <p:cTn id="140" dur="1" fill="hold">
                                          <p:stCondLst>
                                            <p:cond delay="0"/>
                                          </p:stCondLst>
                                        </p:cTn>
                                        <p:tgtEl>
                                          <p:spTgt spid="5242"/>
                                        </p:tgtEl>
                                        <p:attrNameLst>
                                          <p:attrName>style.visibility</p:attrName>
                                        </p:attrNameLst>
                                      </p:cBhvr>
                                      <p:to>
                                        <p:strVal val="visible"/>
                                      </p:to>
                                    </p:set>
                                    <p:animEffect transition="in" filter="fade">
                                      <p:cBhvr>
                                        <p:cTn id="141" dur="500"/>
                                        <p:tgtEl>
                                          <p:spTgt spid="5242"/>
                                        </p:tgtEl>
                                      </p:cBhvr>
                                    </p:animEffect>
                                  </p:childTnLst>
                                </p:cTn>
                              </p:par>
                              <p:par>
                                <p:cTn id="142" presetID="10" presetClass="entr" presetSubtype="0" fill="hold" nodeType="withEffect">
                                  <p:stCondLst>
                                    <p:cond delay="0"/>
                                  </p:stCondLst>
                                  <p:childTnLst>
                                    <p:set>
                                      <p:cBhvr>
                                        <p:cTn id="143" dur="1" fill="hold">
                                          <p:stCondLst>
                                            <p:cond delay="0"/>
                                          </p:stCondLst>
                                        </p:cTn>
                                        <p:tgtEl>
                                          <p:spTgt spid="5243"/>
                                        </p:tgtEl>
                                        <p:attrNameLst>
                                          <p:attrName>style.visibility</p:attrName>
                                        </p:attrNameLst>
                                      </p:cBhvr>
                                      <p:to>
                                        <p:strVal val="visible"/>
                                      </p:to>
                                    </p:set>
                                    <p:animEffect transition="in" filter="fade">
                                      <p:cBhvr>
                                        <p:cTn id="144" dur="500"/>
                                        <p:tgtEl>
                                          <p:spTgt spid="5243"/>
                                        </p:tgtEl>
                                      </p:cBhvr>
                                    </p:animEffect>
                                  </p:childTnLst>
                                </p:cTn>
                              </p:par>
                              <p:par>
                                <p:cTn id="145" presetID="10" presetClass="entr" presetSubtype="0" fill="hold" nodeType="withEffect">
                                  <p:stCondLst>
                                    <p:cond delay="0"/>
                                  </p:stCondLst>
                                  <p:childTnLst>
                                    <p:set>
                                      <p:cBhvr>
                                        <p:cTn id="146" dur="1" fill="hold">
                                          <p:stCondLst>
                                            <p:cond delay="0"/>
                                          </p:stCondLst>
                                        </p:cTn>
                                        <p:tgtEl>
                                          <p:spTgt spid="5244"/>
                                        </p:tgtEl>
                                        <p:attrNameLst>
                                          <p:attrName>style.visibility</p:attrName>
                                        </p:attrNameLst>
                                      </p:cBhvr>
                                      <p:to>
                                        <p:strVal val="visible"/>
                                      </p:to>
                                    </p:set>
                                    <p:animEffect transition="in" filter="fade">
                                      <p:cBhvr>
                                        <p:cTn id="147" dur="500"/>
                                        <p:tgtEl>
                                          <p:spTgt spid="5244"/>
                                        </p:tgtEl>
                                      </p:cBhvr>
                                    </p:animEffect>
                                  </p:childTnLst>
                                </p:cTn>
                              </p:par>
                              <p:par>
                                <p:cTn id="148" presetID="10" presetClass="entr" presetSubtype="0" fill="hold" nodeType="withEffect">
                                  <p:stCondLst>
                                    <p:cond delay="0"/>
                                  </p:stCondLst>
                                  <p:childTnLst>
                                    <p:set>
                                      <p:cBhvr>
                                        <p:cTn id="149" dur="1" fill="hold">
                                          <p:stCondLst>
                                            <p:cond delay="0"/>
                                          </p:stCondLst>
                                        </p:cTn>
                                        <p:tgtEl>
                                          <p:spTgt spid="5245"/>
                                        </p:tgtEl>
                                        <p:attrNameLst>
                                          <p:attrName>style.visibility</p:attrName>
                                        </p:attrNameLst>
                                      </p:cBhvr>
                                      <p:to>
                                        <p:strVal val="visible"/>
                                      </p:to>
                                    </p:set>
                                    <p:animEffect transition="in" filter="fade">
                                      <p:cBhvr>
                                        <p:cTn id="150" dur="500"/>
                                        <p:tgtEl>
                                          <p:spTgt spid="5245"/>
                                        </p:tgtEl>
                                      </p:cBhvr>
                                    </p:animEffect>
                                  </p:childTnLst>
                                </p:cTn>
                              </p:par>
                              <p:par>
                                <p:cTn id="151" presetID="10" presetClass="entr" presetSubtype="0" fill="hold" nodeType="withEffect">
                                  <p:stCondLst>
                                    <p:cond delay="0"/>
                                  </p:stCondLst>
                                  <p:childTnLst>
                                    <p:set>
                                      <p:cBhvr>
                                        <p:cTn id="152" dur="1" fill="hold">
                                          <p:stCondLst>
                                            <p:cond delay="0"/>
                                          </p:stCondLst>
                                        </p:cTn>
                                        <p:tgtEl>
                                          <p:spTgt spid="5246"/>
                                        </p:tgtEl>
                                        <p:attrNameLst>
                                          <p:attrName>style.visibility</p:attrName>
                                        </p:attrNameLst>
                                      </p:cBhvr>
                                      <p:to>
                                        <p:strVal val="visible"/>
                                      </p:to>
                                    </p:set>
                                    <p:animEffect transition="in" filter="fade">
                                      <p:cBhvr>
                                        <p:cTn id="153" dur="500"/>
                                        <p:tgtEl>
                                          <p:spTgt spid="5246"/>
                                        </p:tgtEl>
                                      </p:cBhvr>
                                    </p:animEffect>
                                  </p:childTnLst>
                                </p:cTn>
                              </p:par>
                              <p:par>
                                <p:cTn id="154" presetID="10" presetClass="entr" presetSubtype="0" fill="hold" nodeType="withEffect">
                                  <p:stCondLst>
                                    <p:cond delay="0"/>
                                  </p:stCondLst>
                                  <p:childTnLst>
                                    <p:set>
                                      <p:cBhvr>
                                        <p:cTn id="155" dur="1" fill="hold">
                                          <p:stCondLst>
                                            <p:cond delay="0"/>
                                          </p:stCondLst>
                                        </p:cTn>
                                        <p:tgtEl>
                                          <p:spTgt spid="5247"/>
                                        </p:tgtEl>
                                        <p:attrNameLst>
                                          <p:attrName>style.visibility</p:attrName>
                                        </p:attrNameLst>
                                      </p:cBhvr>
                                      <p:to>
                                        <p:strVal val="visible"/>
                                      </p:to>
                                    </p:set>
                                    <p:animEffect transition="in" filter="fade">
                                      <p:cBhvr>
                                        <p:cTn id="156" dur="500"/>
                                        <p:tgtEl>
                                          <p:spTgt spid="5247"/>
                                        </p:tgtEl>
                                      </p:cBhvr>
                                    </p:animEffect>
                                  </p:childTnLst>
                                </p:cTn>
                              </p:par>
                              <p:par>
                                <p:cTn id="157" presetID="10" presetClass="entr" presetSubtype="0" fill="hold" nodeType="withEffect">
                                  <p:stCondLst>
                                    <p:cond delay="0"/>
                                  </p:stCondLst>
                                  <p:childTnLst>
                                    <p:set>
                                      <p:cBhvr>
                                        <p:cTn id="158" dur="1" fill="hold">
                                          <p:stCondLst>
                                            <p:cond delay="0"/>
                                          </p:stCondLst>
                                        </p:cTn>
                                        <p:tgtEl>
                                          <p:spTgt spid="5248"/>
                                        </p:tgtEl>
                                        <p:attrNameLst>
                                          <p:attrName>style.visibility</p:attrName>
                                        </p:attrNameLst>
                                      </p:cBhvr>
                                      <p:to>
                                        <p:strVal val="visible"/>
                                      </p:to>
                                    </p:set>
                                    <p:animEffect transition="in" filter="fade">
                                      <p:cBhvr>
                                        <p:cTn id="159" dur="500"/>
                                        <p:tgtEl>
                                          <p:spTgt spid="5248"/>
                                        </p:tgtEl>
                                      </p:cBhvr>
                                    </p:animEffect>
                                  </p:childTnLst>
                                </p:cTn>
                              </p:par>
                              <p:par>
                                <p:cTn id="160" presetID="10" presetClass="entr" presetSubtype="0" fill="hold" nodeType="withEffect">
                                  <p:stCondLst>
                                    <p:cond delay="0"/>
                                  </p:stCondLst>
                                  <p:childTnLst>
                                    <p:set>
                                      <p:cBhvr>
                                        <p:cTn id="161" dur="1" fill="hold">
                                          <p:stCondLst>
                                            <p:cond delay="0"/>
                                          </p:stCondLst>
                                        </p:cTn>
                                        <p:tgtEl>
                                          <p:spTgt spid="5249"/>
                                        </p:tgtEl>
                                        <p:attrNameLst>
                                          <p:attrName>style.visibility</p:attrName>
                                        </p:attrNameLst>
                                      </p:cBhvr>
                                      <p:to>
                                        <p:strVal val="visible"/>
                                      </p:to>
                                    </p:set>
                                    <p:animEffect transition="in" filter="fade">
                                      <p:cBhvr>
                                        <p:cTn id="162" dur="500"/>
                                        <p:tgtEl>
                                          <p:spTgt spid="5249"/>
                                        </p:tgtEl>
                                      </p:cBhvr>
                                    </p:animEffect>
                                  </p:childTnLst>
                                </p:cTn>
                              </p:par>
                              <p:par>
                                <p:cTn id="163" presetID="10" presetClass="entr" presetSubtype="0" fill="hold" nodeType="withEffect">
                                  <p:stCondLst>
                                    <p:cond delay="0"/>
                                  </p:stCondLst>
                                  <p:childTnLst>
                                    <p:set>
                                      <p:cBhvr>
                                        <p:cTn id="164" dur="1" fill="hold">
                                          <p:stCondLst>
                                            <p:cond delay="0"/>
                                          </p:stCondLst>
                                        </p:cTn>
                                        <p:tgtEl>
                                          <p:spTgt spid="5250"/>
                                        </p:tgtEl>
                                        <p:attrNameLst>
                                          <p:attrName>style.visibility</p:attrName>
                                        </p:attrNameLst>
                                      </p:cBhvr>
                                      <p:to>
                                        <p:strVal val="visible"/>
                                      </p:to>
                                    </p:set>
                                    <p:animEffect transition="in" filter="fade">
                                      <p:cBhvr>
                                        <p:cTn id="165" dur="500"/>
                                        <p:tgtEl>
                                          <p:spTgt spid="5250"/>
                                        </p:tgtEl>
                                      </p:cBhvr>
                                    </p:animEffect>
                                  </p:childTnLst>
                                </p:cTn>
                              </p:par>
                              <p:par>
                                <p:cTn id="166" presetID="10" presetClass="entr" presetSubtype="0" fill="hold" nodeType="withEffect">
                                  <p:stCondLst>
                                    <p:cond delay="0"/>
                                  </p:stCondLst>
                                  <p:childTnLst>
                                    <p:set>
                                      <p:cBhvr>
                                        <p:cTn id="167" dur="1" fill="hold">
                                          <p:stCondLst>
                                            <p:cond delay="0"/>
                                          </p:stCondLst>
                                        </p:cTn>
                                        <p:tgtEl>
                                          <p:spTgt spid="5251"/>
                                        </p:tgtEl>
                                        <p:attrNameLst>
                                          <p:attrName>style.visibility</p:attrName>
                                        </p:attrNameLst>
                                      </p:cBhvr>
                                      <p:to>
                                        <p:strVal val="visible"/>
                                      </p:to>
                                    </p:set>
                                    <p:animEffect transition="in" filter="fade">
                                      <p:cBhvr>
                                        <p:cTn id="168" dur="500"/>
                                        <p:tgtEl>
                                          <p:spTgt spid="5251"/>
                                        </p:tgtEl>
                                      </p:cBhvr>
                                    </p:animEffect>
                                  </p:childTnLst>
                                </p:cTn>
                              </p:par>
                              <p:par>
                                <p:cTn id="169" presetID="10" presetClass="entr" presetSubtype="0" fill="hold" nodeType="withEffect">
                                  <p:stCondLst>
                                    <p:cond delay="0"/>
                                  </p:stCondLst>
                                  <p:childTnLst>
                                    <p:set>
                                      <p:cBhvr>
                                        <p:cTn id="170" dur="1" fill="hold">
                                          <p:stCondLst>
                                            <p:cond delay="0"/>
                                          </p:stCondLst>
                                        </p:cTn>
                                        <p:tgtEl>
                                          <p:spTgt spid="5252"/>
                                        </p:tgtEl>
                                        <p:attrNameLst>
                                          <p:attrName>style.visibility</p:attrName>
                                        </p:attrNameLst>
                                      </p:cBhvr>
                                      <p:to>
                                        <p:strVal val="visible"/>
                                      </p:to>
                                    </p:set>
                                    <p:animEffect transition="in" filter="fade">
                                      <p:cBhvr>
                                        <p:cTn id="171" dur="500"/>
                                        <p:tgtEl>
                                          <p:spTgt spid="5252"/>
                                        </p:tgtEl>
                                      </p:cBhvr>
                                    </p:animEffect>
                                  </p:childTnLst>
                                </p:cTn>
                              </p:par>
                              <p:par>
                                <p:cTn id="172" presetID="10" presetClass="entr" presetSubtype="0" fill="hold" nodeType="withEffect">
                                  <p:stCondLst>
                                    <p:cond delay="0"/>
                                  </p:stCondLst>
                                  <p:childTnLst>
                                    <p:set>
                                      <p:cBhvr>
                                        <p:cTn id="173" dur="1" fill="hold">
                                          <p:stCondLst>
                                            <p:cond delay="0"/>
                                          </p:stCondLst>
                                        </p:cTn>
                                        <p:tgtEl>
                                          <p:spTgt spid="5253"/>
                                        </p:tgtEl>
                                        <p:attrNameLst>
                                          <p:attrName>style.visibility</p:attrName>
                                        </p:attrNameLst>
                                      </p:cBhvr>
                                      <p:to>
                                        <p:strVal val="visible"/>
                                      </p:to>
                                    </p:set>
                                    <p:animEffect transition="in" filter="fade">
                                      <p:cBhvr>
                                        <p:cTn id="174" dur="500"/>
                                        <p:tgtEl>
                                          <p:spTgt spid="5253"/>
                                        </p:tgtEl>
                                      </p:cBhvr>
                                    </p:animEffect>
                                  </p:childTnLst>
                                </p:cTn>
                              </p:par>
                              <p:par>
                                <p:cTn id="175" presetID="10" presetClass="entr" presetSubtype="0" fill="hold" nodeType="withEffect">
                                  <p:stCondLst>
                                    <p:cond delay="0"/>
                                  </p:stCondLst>
                                  <p:childTnLst>
                                    <p:set>
                                      <p:cBhvr>
                                        <p:cTn id="176" dur="1" fill="hold">
                                          <p:stCondLst>
                                            <p:cond delay="0"/>
                                          </p:stCondLst>
                                        </p:cTn>
                                        <p:tgtEl>
                                          <p:spTgt spid="5254"/>
                                        </p:tgtEl>
                                        <p:attrNameLst>
                                          <p:attrName>style.visibility</p:attrName>
                                        </p:attrNameLst>
                                      </p:cBhvr>
                                      <p:to>
                                        <p:strVal val="visible"/>
                                      </p:to>
                                    </p:set>
                                    <p:animEffect transition="in" filter="fade">
                                      <p:cBhvr>
                                        <p:cTn id="177" dur="500"/>
                                        <p:tgtEl>
                                          <p:spTgt spid="5254"/>
                                        </p:tgtEl>
                                      </p:cBhvr>
                                    </p:animEffect>
                                  </p:childTnLst>
                                </p:cTn>
                              </p:par>
                              <p:par>
                                <p:cTn id="178" presetID="10" presetClass="entr" presetSubtype="0" fill="hold" nodeType="withEffect">
                                  <p:stCondLst>
                                    <p:cond delay="0"/>
                                  </p:stCondLst>
                                  <p:childTnLst>
                                    <p:set>
                                      <p:cBhvr>
                                        <p:cTn id="179" dur="1" fill="hold">
                                          <p:stCondLst>
                                            <p:cond delay="0"/>
                                          </p:stCondLst>
                                        </p:cTn>
                                        <p:tgtEl>
                                          <p:spTgt spid="5255"/>
                                        </p:tgtEl>
                                        <p:attrNameLst>
                                          <p:attrName>style.visibility</p:attrName>
                                        </p:attrNameLst>
                                      </p:cBhvr>
                                      <p:to>
                                        <p:strVal val="visible"/>
                                      </p:to>
                                    </p:set>
                                    <p:animEffect transition="in" filter="fade">
                                      <p:cBhvr>
                                        <p:cTn id="180" dur="500"/>
                                        <p:tgtEl>
                                          <p:spTgt spid="5255"/>
                                        </p:tgtEl>
                                      </p:cBhvr>
                                    </p:animEffect>
                                  </p:childTnLst>
                                </p:cTn>
                              </p:par>
                              <p:par>
                                <p:cTn id="181" presetID="10" presetClass="entr" presetSubtype="0" fill="hold" nodeType="withEffect">
                                  <p:stCondLst>
                                    <p:cond delay="0"/>
                                  </p:stCondLst>
                                  <p:childTnLst>
                                    <p:set>
                                      <p:cBhvr>
                                        <p:cTn id="182" dur="1" fill="hold">
                                          <p:stCondLst>
                                            <p:cond delay="0"/>
                                          </p:stCondLst>
                                        </p:cTn>
                                        <p:tgtEl>
                                          <p:spTgt spid="5256"/>
                                        </p:tgtEl>
                                        <p:attrNameLst>
                                          <p:attrName>style.visibility</p:attrName>
                                        </p:attrNameLst>
                                      </p:cBhvr>
                                      <p:to>
                                        <p:strVal val="visible"/>
                                      </p:to>
                                    </p:set>
                                    <p:animEffect transition="in" filter="fade">
                                      <p:cBhvr>
                                        <p:cTn id="183" dur="500"/>
                                        <p:tgtEl>
                                          <p:spTgt spid="5256"/>
                                        </p:tgtEl>
                                      </p:cBhvr>
                                    </p:animEffect>
                                  </p:childTnLst>
                                </p:cTn>
                              </p:par>
                              <p:par>
                                <p:cTn id="184" presetID="10" presetClass="entr" presetSubtype="0" fill="hold" nodeType="withEffect">
                                  <p:stCondLst>
                                    <p:cond delay="0"/>
                                  </p:stCondLst>
                                  <p:childTnLst>
                                    <p:set>
                                      <p:cBhvr>
                                        <p:cTn id="185" dur="1" fill="hold">
                                          <p:stCondLst>
                                            <p:cond delay="0"/>
                                          </p:stCondLst>
                                        </p:cTn>
                                        <p:tgtEl>
                                          <p:spTgt spid="5257"/>
                                        </p:tgtEl>
                                        <p:attrNameLst>
                                          <p:attrName>style.visibility</p:attrName>
                                        </p:attrNameLst>
                                      </p:cBhvr>
                                      <p:to>
                                        <p:strVal val="visible"/>
                                      </p:to>
                                    </p:set>
                                    <p:animEffect transition="in" filter="fade">
                                      <p:cBhvr>
                                        <p:cTn id="186" dur="500"/>
                                        <p:tgtEl>
                                          <p:spTgt spid="5257"/>
                                        </p:tgtEl>
                                      </p:cBhvr>
                                    </p:animEffect>
                                  </p:childTnLst>
                                </p:cTn>
                              </p:par>
                              <p:par>
                                <p:cTn id="187" presetID="10" presetClass="entr" presetSubtype="0" fill="hold" nodeType="withEffect">
                                  <p:stCondLst>
                                    <p:cond delay="0"/>
                                  </p:stCondLst>
                                  <p:childTnLst>
                                    <p:set>
                                      <p:cBhvr>
                                        <p:cTn id="188" dur="1" fill="hold">
                                          <p:stCondLst>
                                            <p:cond delay="0"/>
                                          </p:stCondLst>
                                        </p:cTn>
                                        <p:tgtEl>
                                          <p:spTgt spid="5258"/>
                                        </p:tgtEl>
                                        <p:attrNameLst>
                                          <p:attrName>style.visibility</p:attrName>
                                        </p:attrNameLst>
                                      </p:cBhvr>
                                      <p:to>
                                        <p:strVal val="visible"/>
                                      </p:to>
                                    </p:set>
                                    <p:animEffect transition="in" filter="fade">
                                      <p:cBhvr>
                                        <p:cTn id="189" dur="500"/>
                                        <p:tgtEl>
                                          <p:spTgt spid="5258"/>
                                        </p:tgtEl>
                                      </p:cBhvr>
                                    </p:animEffect>
                                  </p:childTnLst>
                                </p:cTn>
                              </p:par>
                              <p:par>
                                <p:cTn id="190" presetID="10" presetClass="entr" presetSubtype="0" fill="hold" nodeType="withEffect">
                                  <p:stCondLst>
                                    <p:cond delay="0"/>
                                  </p:stCondLst>
                                  <p:childTnLst>
                                    <p:set>
                                      <p:cBhvr>
                                        <p:cTn id="191" dur="1" fill="hold">
                                          <p:stCondLst>
                                            <p:cond delay="0"/>
                                          </p:stCondLst>
                                        </p:cTn>
                                        <p:tgtEl>
                                          <p:spTgt spid="5259"/>
                                        </p:tgtEl>
                                        <p:attrNameLst>
                                          <p:attrName>style.visibility</p:attrName>
                                        </p:attrNameLst>
                                      </p:cBhvr>
                                      <p:to>
                                        <p:strVal val="visible"/>
                                      </p:to>
                                    </p:set>
                                    <p:animEffect transition="in" filter="fade">
                                      <p:cBhvr>
                                        <p:cTn id="192" dur="500"/>
                                        <p:tgtEl>
                                          <p:spTgt spid="5259"/>
                                        </p:tgtEl>
                                      </p:cBhvr>
                                    </p:animEffect>
                                  </p:childTnLst>
                                </p:cTn>
                              </p:par>
                              <p:par>
                                <p:cTn id="193" presetID="10" presetClass="entr" presetSubtype="0" fill="hold" nodeType="withEffect">
                                  <p:stCondLst>
                                    <p:cond delay="0"/>
                                  </p:stCondLst>
                                  <p:childTnLst>
                                    <p:set>
                                      <p:cBhvr>
                                        <p:cTn id="194" dur="1" fill="hold">
                                          <p:stCondLst>
                                            <p:cond delay="0"/>
                                          </p:stCondLst>
                                        </p:cTn>
                                        <p:tgtEl>
                                          <p:spTgt spid="5260"/>
                                        </p:tgtEl>
                                        <p:attrNameLst>
                                          <p:attrName>style.visibility</p:attrName>
                                        </p:attrNameLst>
                                      </p:cBhvr>
                                      <p:to>
                                        <p:strVal val="visible"/>
                                      </p:to>
                                    </p:set>
                                    <p:animEffect transition="in" filter="fade">
                                      <p:cBhvr>
                                        <p:cTn id="195" dur="500"/>
                                        <p:tgtEl>
                                          <p:spTgt spid="5260"/>
                                        </p:tgtEl>
                                      </p:cBhvr>
                                    </p:animEffect>
                                  </p:childTnLst>
                                </p:cTn>
                              </p:par>
                              <p:par>
                                <p:cTn id="196" presetID="10" presetClass="entr" presetSubtype="0" fill="hold" nodeType="withEffect">
                                  <p:stCondLst>
                                    <p:cond delay="0"/>
                                  </p:stCondLst>
                                  <p:childTnLst>
                                    <p:set>
                                      <p:cBhvr>
                                        <p:cTn id="197" dur="1" fill="hold">
                                          <p:stCondLst>
                                            <p:cond delay="0"/>
                                          </p:stCondLst>
                                        </p:cTn>
                                        <p:tgtEl>
                                          <p:spTgt spid="5261"/>
                                        </p:tgtEl>
                                        <p:attrNameLst>
                                          <p:attrName>style.visibility</p:attrName>
                                        </p:attrNameLst>
                                      </p:cBhvr>
                                      <p:to>
                                        <p:strVal val="visible"/>
                                      </p:to>
                                    </p:set>
                                    <p:animEffect transition="in" filter="fade">
                                      <p:cBhvr>
                                        <p:cTn id="198" dur="500"/>
                                        <p:tgtEl>
                                          <p:spTgt spid="5261"/>
                                        </p:tgtEl>
                                      </p:cBhvr>
                                    </p:animEffect>
                                  </p:childTnLst>
                                </p:cTn>
                              </p:par>
                              <p:par>
                                <p:cTn id="199" presetID="10" presetClass="entr" presetSubtype="0" fill="hold" nodeType="withEffect">
                                  <p:stCondLst>
                                    <p:cond delay="0"/>
                                  </p:stCondLst>
                                  <p:childTnLst>
                                    <p:set>
                                      <p:cBhvr>
                                        <p:cTn id="200" dur="1" fill="hold">
                                          <p:stCondLst>
                                            <p:cond delay="0"/>
                                          </p:stCondLst>
                                        </p:cTn>
                                        <p:tgtEl>
                                          <p:spTgt spid="5262"/>
                                        </p:tgtEl>
                                        <p:attrNameLst>
                                          <p:attrName>style.visibility</p:attrName>
                                        </p:attrNameLst>
                                      </p:cBhvr>
                                      <p:to>
                                        <p:strVal val="visible"/>
                                      </p:to>
                                    </p:set>
                                    <p:animEffect transition="in" filter="fade">
                                      <p:cBhvr>
                                        <p:cTn id="201" dur="500"/>
                                        <p:tgtEl>
                                          <p:spTgt spid="5262"/>
                                        </p:tgtEl>
                                      </p:cBhvr>
                                    </p:animEffect>
                                  </p:childTnLst>
                                </p:cTn>
                              </p:par>
                              <p:par>
                                <p:cTn id="202" presetID="10" presetClass="entr" presetSubtype="0" fill="hold" nodeType="withEffect">
                                  <p:stCondLst>
                                    <p:cond delay="0"/>
                                  </p:stCondLst>
                                  <p:childTnLst>
                                    <p:set>
                                      <p:cBhvr>
                                        <p:cTn id="203" dur="1" fill="hold">
                                          <p:stCondLst>
                                            <p:cond delay="0"/>
                                          </p:stCondLst>
                                        </p:cTn>
                                        <p:tgtEl>
                                          <p:spTgt spid="5263"/>
                                        </p:tgtEl>
                                        <p:attrNameLst>
                                          <p:attrName>style.visibility</p:attrName>
                                        </p:attrNameLst>
                                      </p:cBhvr>
                                      <p:to>
                                        <p:strVal val="visible"/>
                                      </p:to>
                                    </p:set>
                                    <p:animEffect transition="in" filter="fade">
                                      <p:cBhvr>
                                        <p:cTn id="204" dur="500"/>
                                        <p:tgtEl>
                                          <p:spTgt spid="5263"/>
                                        </p:tgtEl>
                                      </p:cBhvr>
                                    </p:animEffect>
                                  </p:childTnLst>
                                </p:cTn>
                              </p:par>
                              <p:par>
                                <p:cTn id="205" presetID="10" presetClass="entr" presetSubtype="0" fill="hold" nodeType="withEffect">
                                  <p:stCondLst>
                                    <p:cond delay="0"/>
                                  </p:stCondLst>
                                  <p:childTnLst>
                                    <p:set>
                                      <p:cBhvr>
                                        <p:cTn id="206" dur="1" fill="hold">
                                          <p:stCondLst>
                                            <p:cond delay="0"/>
                                          </p:stCondLst>
                                        </p:cTn>
                                        <p:tgtEl>
                                          <p:spTgt spid="5264"/>
                                        </p:tgtEl>
                                        <p:attrNameLst>
                                          <p:attrName>style.visibility</p:attrName>
                                        </p:attrNameLst>
                                      </p:cBhvr>
                                      <p:to>
                                        <p:strVal val="visible"/>
                                      </p:to>
                                    </p:set>
                                    <p:animEffect transition="in" filter="fade">
                                      <p:cBhvr>
                                        <p:cTn id="207" dur="500"/>
                                        <p:tgtEl>
                                          <p:spTgt spid="5264"/>
                                        </p:tgtEl>
                                      </p:cBhvr>
                                    </p:animEffect>
                                  </p:childTnLst>
                                </p:cTn>
                              </p:par>
                              <p:par>
                                <p:cTn id="208" presetID="10" presetClass="entr" presetSubtype="0" fill="hold" nodeType="withEffect">
                                  <p:stCondLst>
                                    <p:cond delay="0"/>
                                  </p:stCondLst>
                                  <p:childTnLst>
                                    <p:set>
                                      <p:cBhvr>
                                        <p:cTn id="209" dur="1" fill="hold">
                                          <p:stCondLst>
                                            <p:cond delay="0"/>
                                          </p:stCondLst>
                                        </p:cTn>
                                        <p:tgtEl>
                                          <p:spTgt spid="5265"/>
                                        </p:tgtEl>
                                        <p:attrNameLst>
                                          <p:attrName>style.visibility</p:attrName>
                                        </p:attrNameLst>
                                      </p:cBhvr>
                                      <p:to>
                                        <p:strVal val="visible"/>
                                      </p:to>
                                    </p:set>
                                    <p:animEffect transition="in" filter="fade">
                                      <p:cBhvr>
                                        <p:cTn id="210" dur="500"/>
                                        <p:tgtEl>
                                          <p:spTgt spid="5265"/>
                                        </p:tgtEl>
                                      </p:cBhvr>
                                    </p:animEffect>
                                  </p:childTnLst>
                                </p:cTn>
                              </p:par>
                              <p:par>
                                <p:cTn id="211" presetID="10" presetClass="entr" presetSubtype="0" fill="hold" nodeType="withEffect">
                                  <p:stCondLst>
                                    <p:cond delay="0"/>
                                  </p:stCondLst>
                                  <p:childTnLst>
                                    <p:set>
                                      <p:cBhvr>
                                        <p:cTn id="212" dur="1" fill="hold">
                                          <p:stCondLst>
                                            <p:cond delay="0"/>
                                          </p:stCondLst>
                                        </p:cTn>
                                        <p:tgtEl>
                                          <p:spTgt spid="5266"/>
                                        </p:tgtEl>
                                        <p:attrNameLst>
                                          <p:attrName>style.visibility</p:attrName>
                                        </p:attrNameLst>
                                      </p:cBhvr>
                                      <p:to>
                                        <p:strVal val="visible"/>
                                      </p:to>
                                    </p:set>
                                    <p:animEffect transition="in" filter="fade">
                                      <p:cBhvr>
                                        <p:cTn id="213" dur="500"/>
                                        <p:tgtEl>
                                          <p:spTgt spid="5266"/>
                                        </p:tgtEl>
                                      </p:cBhvr>
                                    </p:animEffect>
                                  </p:childTnLst>
                                </p:cTn>
                              </p:par>
                              <p:par>
                                <p:cTn id="214" presetID="10" presetClass="entr" presetSubtype="0" fill="hold" nodeType="withEffect">
                                  <p:stCondLst>
                                    <p:cond delay="0"/>
                                  </p:stCondLst>
                                  <p:childTnLst>
                                    <p:set>
                                      <p:cBhvr>
                                        <p:cTn id="215" dur="1" fill="hold">
                                          <p:stCondLst>
                                            <p:cond delay="0"/>
                                          </p:stCondLst>
                                        </p:cTn>
                                        <p:tgtEl>
                                          <p:spTgt spid="5267"/>
                                        </p:tgtEl>
                                        <p:attrNameLst>
                                          <p:attrName>style.visibility</p:attrName>
                                        </p:attrNameLst>
                                      </p:cBhvr>
                                      <p:to>
                                        <p:strVal val="visible"/>
                                      </p:to>
                                    </p:set>
                                    <p:animEffect transition="in" filter="fade">
                                      <p:cBhvr>
                                        <p:cTn id="216" dur="500"/>
                                        <p:tgtEl>
                                          <p:spTgt spid="5267"/>
                                        </p:tgtEl>
                                      </p:cBhvr>
                                    </p:animEffect>
                                  </p:childTnLst>
                                </p:cTn>
                              </p:par>
                              <p:par>
                                <p:cTn id="217" presetID="10" presetClass="entr" presetSubtype="0" fill="hold" nodeType="withEffect">
                                  <p:stCondLst>
                                    <p:cond delay="0"/>
                                  </p:stCondLst>
                                  <p:childTnLst>
                                    <p:set>
                                      <p:cBhvr>
                                        <p:cTn id="218" dur="1" fill="hold">
                                          <p:stCondLst>
                                            <p:cond delay="0"/>
                                          </p:stCondLst>
                                        </p:cTn>
                                        <p:tgtEl>
                                          <p:spTgt spid="5268"/>
                                        </p:tgtEl>
                                        <p:attrNameLst>
                                          <p:attrName>style.visibility</p:attrName>
                                        </p:attrNameLst>
                                      </p:cBhvr>
                                      <p:to>
                                        <p:strVal val="visible"/>
                                      </p:to>
                                    </p:set>
                                    <p:animEffect transition="in" filter="fade">
                                      <p:cBhvr>
                                        <p:cTn id="219" dur="500"/>
                                        <p:tgtEl>
                                          <p:spTgt spid="5268"/>
                                        </p:tgtEl>
                                      </p:cBhvr>
                                    </p:animEffect>
                                  </p:childTnLst>
                                </p:cTn>
                              </p:par>
                              <p:par>
                                <p:cTn id="220" presetID="10" presetClass="entr" presetSubtype="0" fill="hold" nodeType="withEffect">
                                  <p:stCondLst>
                                    <p:cond delay="0"/>
                                  </p:stCondLst>
                                  <p:childTnLst>
                                    <p:set>
                                      <p:cBhvr>
                                        <p:cTn id="221" dur="1" fill="hold">
                                          <p:stCondLst>
                                            <p:cond delay="0"/>
                                          </p:stCondLst>
                                        </p:cTn>
                                        <p:tgtEl>
                                          <p:spTgt spid="5269"/>
                                        </p:tgtEl>
                                        <p:attrNameLst>
                                          <p:attrName>style.visibility</p:attrName>
                                        </p:attrNameLst>
                                      </p:cBhvr>
                                      <p:to>
                                        <p:strVal val="visible"/>
                                      </p:to>
                                    </p:set>
                                    <p:animEffect transition="in" filter="fade">
                                      <p:cBhvr>
                                        <p:cTn id="222" dur="500"/>
                                        <p:tgtEl>
                                          <p:spTgt spid="5269"/>
                                        </p:tgtEl>
                                      </p:cBhvr>
                                    </p:animEffect>
                                  </p:childTnLst>
                                </p:cTn>
                              </p:par>
                              <p:par>
                                <p:cTn id="223" presetID="10" presetClass="entr" presetSubtype="0" fill="hold" nodeType="withEffect">
                                  <p:stCondLst>
                                    <p:cond delay="0"/>
                                  </p:stCondLst>
                                  <p:childTnLst>
                                    <p:set>
                                      <p:cBhvr>
                                        <p:cTn id="224" dur="1" fill="hold">
                                          <p:stCondLst>
                                            <p:cond delay="0"/>
                                          </p:stCondLst>
                                        </p:cTn>
                                        <p:tgtEl>
                                          <p:spTgt spid="5270"/>
                                        </p:tgtEl>
                                        <p:attrNameLst>
                                          <p:attrName>style.visibility</p:attrName>
                                        </p:attrNameLst>
                                      </p:cBhvr>
                                      <p:to>
                                        <p:strVal val="visible"/>
                                      </p:to>
                                    </p:set>
                                    <p:animEffect transition="in" filter="fade">
                                      <p:cBhvr>
                                        <p:cTn id="225" dur="500"/>
                                        <p:tgtEl>
                                          <p:spTgt spid="5270"/>
                                        </p:tgtEl>
                                      </p:cBhvr>
                                    </p:animEffect>
                                  </p:childTnLst>
                                </p:cTn>
                              </p:par>
                              <p:par>
                                <p:cTn id="226" presetID="10" presetClass="entr" presetSubtype="0" fill="hold" nodeType="withEffect">
                                  <p:stCondLst>
                                    <p:cond delay="0"/>
                                  </p:stCondLst>
                                  <p:childTnLst>
                                    <p:set>
                                      <p:cBhvr>
                                        <p:cTn id="227" dur="1" fill="hold">
                                          <p:stCondLst>
                                            <p:cond delay="0"/>
                                          </p:stCondLst>
                                        </p:cTn>
                                        <p:tgtEl>
                                          <p:spTgt spid="5271"/>
                                        </p:tgtEl>
                                        <p:attrNameLst>
                                          <p:attrName>style.visibility</p:attrName>
                                        </p:attrNameLst>
                                      </p:cBhvr>
                                      <p:to>
                                        <p:strVal val="visible"/>
                                      </p:to>
                                    </p:set>
                                    <p:animEffect transition="in" filter="fade">
                                      <p:cBhvr>
                                        <p:cTn id="228" dur="500"/>
                                        <p:tgtEl>
                                          <p:spTgt spid="5271"/>
                                        </p:tgtEl>
                                      </p:cBhvr>
                                    </p:animEffect>
                                  </p:childTnLst>
                                </p:cTn>
                              </p:par>
                              <p:par>
                                <p:cTn id="229" presetID="10" presetClass="entr" presetSubtype="0" fill="hold" nodeType="withEffect">
                                  <p:stCondLst>
                                    <p:cond delay="0"/>
                                  </p:stCondLst>
                                  <p:childTnLst>
                                    <p:set>
                                      <p:cBhvr>
                                        <p:cTn id="230" dur="1" fill="hold">
                                          <p:stCondLst>
                                            <p:cond delay="0"/>
                                          </p:stCondLst>
                                        </p:cTn>
                                        <p:tgtEl>
                                          <p:spTgt spid="5272"/>
                                        </p:tgtEl>
                                        <p:attrNameLst>
                                          <p:attrName>style.visibility</p:attrName>
                                        </p:attrNameLst>
                                      </p:cBhvr>
                                      <p:to>
                                        <p:strVal val="visible"/>
                                      </p:to>
                                    </p:set>
                                    <p:animEffect transition="in" filter="fade">
                                      <p:cBhvr>
                                        <p:cTn id="231" dur="500"/>
                                        <p:tgtEl>
                                          <p:spTgt spid="5272"/>
                                        </p:tgtEl>
                                      </p:cBhvr>
                                    </p:animEffect>
                                  </p:childTnLst>
                                </p:cTn>
                              </p:par>
                              <p:par>
                                <p:cTn id="232" presetID="10" presetClass="entr" presetSubtype="0" fill="hold" nodeType="withEffect">
                                  <p:stCondLst>
                                    <p:cond delay="0"/>
                                  </p:stCondLst>
                                  <p:childTnLst>
                                    <p:set>
                                      <p:cBhvr>
                                        <p:cTn id="233" dur="1" fill="hold">
                                          <p:stCondLst>
                                            <p:cond delay="0"/>
                                          </p:stCondLst>
                                        </p:cTn>
                                        <p:tgtEl>
                                          <p:spTgt spid="5273"/>
                                        </p:tgtEl>
                                        <p:attrNameLst>
                                          <p:attrName>style.visibility</p:attrName>
                                        </p:attrNameLst>
                                      </p:cBhvr>
                                      <p:to>
                                        <p:strVal val="visible"/>
                                      </p:to>
                                    </p:set>
                                    <p:animEffect transition="in" filter="fade">
                                      <p:cBhvr>
                                        <p:cTn id="234" dur="500"/>
                                        <p:tgtEl>
                                          <p:spTgt spid="5273"/>
                                        </p:tgtEl>
                                      </p:cBhvr>
                                    </p:animEffect>
                                  </p:childTnLst>
                                </p:cTn>
                              </p:par>
                              <p:par>
                                <p:cTn id="235" presetID="10" presetClass="entr" presetSubtype="0" fill="hold" nodeType="withEffect">
                                  <p:stCondLst>
                                    <p:cond delay="0"/>
                                  </p:stCondLst>
                                  <p:childTnLst>
                                    <p:set>
                                      <p:cBhvr>
                                        <p:cTn id="236" dur="1" fill="hold">
                                          <p:stCondLst>
                                            <p:cond delay="0"/>
                                          </p:stCondLst>
                                        </p:cTn>
                                        <p:tgtEl>
                                          <p:spTgt spid="5274"/>
                                        </p:tgtEl>
                                        <p:attrNameLst>
                                          <p:attrName>style.visibility</p:attrName>
                                        </p:attrNameLst>
                                      </p:cBhvr>
                                      <p:to>
                                        <p:strVal val="visible"/>
                                      </p:to>
                                    </p:set>
                                    <p:animEffect transition="in" filter="fade">
                                      <p:cBhvr>
                                        <p:cTn id="237" dur="500"/>
                                        <p:tgtEl>
                                          <p:spTgt spid="5274"/>
                                        </p:tgtEl>
                                      </p:cBhvr>
                                    </p:animEffect>
                                  </p:childTnLst>
                                </p:cTn>
                              </p:par>
                              <p:par>
                                <p:cTn id="238" presetID="10" presetClass="entr" presetSubtype="0" fill="hold" nodeType="withEffect">
                                  <p:stCondLst>
                                    <p:cond delay="0"/>
                                  </p:stCondLst>
                                  <p:childTnLst>
                                    <p:set>
                                      <p:cBhvr>
                                        <p:cTn id="239" dur="1" fill="hold">
                                          <p:stCondLst>
                                            <p:cond delay="0"/>
                                          </p:stCondLst>
                                        </p:cTn>
                                        <p:tgtEl>
                                          <p:spTgt spid="5275"/>
                                        </p:tgtEl>
                                        <p:attrNameLst>
                                          <p:attrName>style.visibility</p:attrName>
                                        </p:attrNameLst>
                                      </p:cBhvr>
                                      <p:to>
                                        <p:strVal val="visible"/>
                                      </p:to>
                                    </p:set>
                                    <p:animEffect transition="in" filter="fade">
                                      <p:cBhvr>
                                        <p:cTn id="240" dur="500"/>
                                        <p:tgtEl>
                                          <p:spTgt spid="5275"/>
                                        </p:tgtEl>
                                      </p:cBhvr>
                                    </p:animEffect>
                                  </p:childTnLst>
                                </p:cTn>
                              </p:par>
                              <p:par>
                                <p:cTn id="241" presetID="10" presetClass="entr" presetSubtype="0" fill="hold" nodeType="withEffect">
                                  <p:stCondLst>
                                    <p:cond delay="0"/>
                                  </p:stCondLst>
                                  <p:childTnLst>
                                    <p:set>
                                      <p:cBhvr>
                                        <p:cTn id="242" dur="1" fill="hold">
                                          <p:stCondLst>
                                            <p:cond delay="0"/>
                                          </p:stCondLst>
                                        </p:cTn>
                                        <p:tgtEl>
                                          <p:spTgt spid="5276"/>
                                        </p:tgtEl>
                                        <p:attrNameLst>
                                          <p:attrName>style.visibility</p:attrName>
                                        </p:attrNameLst>
                                      </p:cBhvr>
                                      <p:to>
                                        <p:strVal val="visible"/>
                                      </p:to>
                                    </p:set>
                                    <p:animEffect transition="in" filter="fade">
                                      <p:cBhvr>
                                        <p:cTn id="243" dur="500"/>
                                        <p:tgtEl>
                                          <p:spTgt spid="5276"/>
                                        </p:tgtEl>
                                      </p:cBhvr>
                                    </p:animEffect>
                                  </p:childTnLst>
                                </p:cTn>
                              </p:par>
                              <p:par>
                                <p:cTn id="244" presetID="10" presetClass="entr" presetSubtype="0" fill="hold" nodeType="withEffect">
                                  <p:stCondLst>
                                    <p:cond delay="0"/>
                                  </p:stCondLst>
                                  <p:childTnLst>
                                    <p:set>
                                      <p:cBhvr>
                                        <p:cTn id="245" dur="1" fill="hold">
                                          <p:stCondLst>
                                            <p:cond delay="0"/>
                                          </p:stCondLst>
                                        </p:cTn>
                                        <p:tgtEl>
                                          <p:spTgt spid="5277"/>
                                        </p:tgtEl>
                                        <p:attrNameLst>
                                          <p:attrName>style.visibility</p:attrName>
                                        </p:attrNameLst>
                                      </p:cBhvr>
                                      <p:to>
                                        <p:strVal val="visible"/>
                                      </p:to>
                                    </p:set>
                                    <p:animEffect transition="in" filter="fade">
                                      <p:cBhvr>
                                        <p:cTn id="246" dur="500"/>
                                        <p:tgtEl>
                                          <p:spTgt spid="5277"/>
                                        </p:tgtEl>
                                      </p:cBhvr>
                                    </p:animEffect>
                                  </p:childTnLst>
                                </p:cTn>
                              </p:par>
                              <p:par>
                                <p:cTn id="247" presetID="10" presetClass="entr" presetSubtype="0" fill="hold" nodeType="withEffect">
                                  <p:stCondLst>
                                    <p:cond delay="0"/>
                                  </p:stCondLst>
                                  <p:childTnLst>
                                    <p:set>
                                      <p:cBhvr>
                                        <p:cTn id="248" dur="1" fill="hold">
                                          <p:stCondLst>
                                            <p:cond delay="0"/>
                                          </p:stCondLst>
                                        </p:cTn>
                                        <p:tgtEl>
                                          <p:spTgt spid="5278"/>
                                        </p:tgtEl>
                                        <p:attrNameLst>
                                          <p:attrName>style.visibility</p:attrName>
                                        </p:attrNameLst>
                                      </p:cBhvr>
                                      <p:to>
                                        <p:strVal val="visible"/>
                                      </p:to>
                                    </p:set>
                                    <p:animEffect transition="in" filter="fade">
                                      <p:cBhvr>
                                        <p:cTn id="249" dur="500"/>
                                        <p:tgtEl>
                                          <p:spTgt spid="5278"/>
                                        </p:tgtEl>
                                      </p:cBhvr>
                                    </p:animEffect>
                                  </p:childTnLst>
                                </p:cTn>
                              </p:par>
                              <p:par>
                                <p:cTn id="250" presetID="10" presetClass="entr" presetSubtype="0" fill="hold" nodeType="withEffect">
                                  <p:stCondLst>
                                    <p:cond delay="0"/>
                                  </p:stCondLst>
                                  <p:childTnLst>
                                    <p:set>
                                      <p:cBhvr>
                                        <p:cTn id="251" dur="1" fill="hold">
                                          <p:stCondLst>
                                            <p:cond delay="0"/>
                                          </p:stCondLst>
                                        </p:cTn>
                                        <p:tgtEl>
                                          <p:spTgt spid="5279"/>
                                        </p:tgtEl>
                                        <p:attrNameLst>
                                          <p:attrName>style.visibility</p:attrName>
                                        </p:attrNameLst>
                                      </p:cBhvr>
                                      <p:to>
                                        <p:strVal val="visible"/>
                                      </p:to>
                                    </p:set>
                                    <p:animEffect transition="in" filter="fade">
                                      <p:cBhvr>
                                        <p:cTn id="252" dur="500"/>
                                        <p:tgtEl>
                                          <p:spTgt spid="5279"/>
                                        </p:tgtEl>
                                      </p:cBhvr>
                                    </p:animEffect>
                                  </p:childTnLst>
                                </p:cTn>
                              </p:par>
                              <p:par>
                                <p:cTn id="253" presetID="10" presetClass="entr" presetSubtype="0" fill="hold" nodeType="withEffect">
                                  <p:stCondLst>
                                    <p:cond delay="0"/>
                                  </p:stCondLst>
                                  <p:childTnLst>
                                    <p:set>
                                      <p:cBhvr>
                                        <p:cTn id="254" dur="1" fill="hold">
                                          <p:stCondLst>
                                            <p:cond delay="0"/>
                                          </p:stCondLst>
                                        </p:cTn>
                                        <p:tgtEl>
                                          <p:spTgt spid="5280"/>
                                        </p:tgtEl>
                                        <p:attrNameLst>
                                          <p:attrName>style.visibility</p:attrName>
                                        </p:attrNameLst>
                                      </p:cBhvr>
                                      <p:to>
                                        <p:strVal val="visible"/>
                                      </p:to>
                                    </p:set>
                                    <p:animEffect transition="in" filter="fade">
                                      <p:cBhvr>
                                        <p:cTn id="255" dur="500"/>
                                        <p:tgtEl>
                                          <p:spTgt spid="5280"/>
                                        </p:tgtEl>
                                      </p:cBhvr>
                                    </p:animEffect>
                                  </p:childTnLst>
                                </p:cTn>
                              </p:par>
                              <p:par>
                                <p:cTn id="256" presetID="10" presetClass="entr" presetSubtype="0" fill="hold" nodeType="withEffect">
                                  <p:stCondLst>
                                    <p:cond delay="0"/>
                                  </p:stCondLst>
                                  <p:childTnLst>
                                    <p:set>
                                      <p:cBhvr>
                                        <p:cTn id="257" dur="1" fill="hold">
                                          <p:stCondLst>
                                            <p:cond delay="0"/>
                                          </p:stCondLst>
                                        </p:cTn>
                                        <p:tgtEl>
                                          <p:spTgt spid="5281"/>
                                        </p:tgtEl>
                                        <p:attrNameLst>
                                          <p:attrName>style.visibility</p:attrName>
                                        </p:attrNameLst>
                                      </p:cBhvr>
                                      <p:to>
                                        <p:strVal val="visible"/>
                                      </p:to>
                                    </p:set>
                                    <p:animEffect transition="in" filter="fade">
                                      <p:cBhvr>
                                        <p:cTn id="258" dur="500"/>
                                        <p:tgtEl>
                                          <p:spTgt spid="5281"/>
                                        </p:tgtEl>
                                      </p:cBhvr>
                                    </p:animEffect>
                                  </p:childTnLst>
                                </p:cTn>
                              </p:par>
                              <p:par>
                                <p:cTn id="259" presetID="10" presetClass="entr" presetSubtype="0" fill="hold" nodeType="withEffect">
                                  <p:stCondLst>
                                    <p:cond delay="0"/>
                                  </p:stCondLst>
                                  <p:childTnLst>
                                    <p:set>
                                      <p:cBhvr>
                                        <p:cTn id="260" dur="1" fill="hold">
                                          <p:stCondLst>
                                            <p:cond delay="0"/>
                                          </p:stCondLst>
                                        </p:cTn>
                                        <p:tgtEl>
                                          <p:spTgt spid="5282"/>
                                        </p:tgtEl>
                                        <p:attrNameLst>
                                          <p:attrName>style.visibility</p:attrName>
                                        </p:attrNameLst>
                                      </p:cBhvr>
                                      <p:to>
                                        <p:strVal val="visible"/>
                                      </p:to>
                                    </p:set>
                                    <p:animEffect transition="in" filter="fade">
                                      <p:cBhvr>
                                        <p:cTn id="261" dur="500"/>
                                        <p:tgtEl>
                                          <p:spTgt spid="5282"/>
                                        </p:tgtEl>
                                      </p:cBhvr>
                                    </p:animEffect>
                                  </p:childTnLst>
                                </p:cTn>
                              </p:par>
                              <p:par>
                                <p:cTn id="262" presetID="10" presetClass="entr" presetSubtype="0" fill="hold" nodeType="withEffect">
                                  <p:stCondLst>
                                    <p:cond delay="0"/>
                                  </p:stCondLst>
                                  <p:childTnLst>
                                    <p:set>
                                      <p:cBhvr>
                                        <p:cTn id="263" dur="1" fill="hold">
                                          <p:stCondLst>
                                            <p:cond delay="0"/>
                                          </p:stCondLst>
                                        </p:cTn>
                                        <p:tgtEl>
                                          <p:spTgt spid="5283"/>
                                        </p:tgtEl>
                                        <p:attrNameLst>
                                          <p:attrName>style.visibility</p:attrName>
                                        </p:attrNameLst>
                                      </p:cBhvr>
                                      <p:to>
                                        <p:strVal val="visible"/>
                                      </p:to>
                                    </p:set>
                                    <p:animEffect transition="in" filter="fade">
                                      <p:cBhvr>
                                        <p:cTn id="264" dur="500"/>
                                        <p:tgtEl>
                                          <p:spTgt spid="5283"/>
                                        </p:tgtEl>
                                      </p:cBhvr>
                                    </p:animEffect>
                                  </p:childTnLst>
                                </p:cTn>
                              </p:par>
                              <p:par>
                                <p:cTn id="265" presetID="10" presetClass="entr" presetSubtype="0" fill="hold" nodeType="withEffect">
                                  <p:stCondLst>
                                    <p:cond delay="0"/>
                                  </p:stCondLst>
                                  <p:childTnLst>
                                    <p:set>
                                      <p:cBhvr>
                                        <p:cTn id="266" dur="1" fill="hold">
                                          <p:stCondLst>
                                            <p:cond delay="0"/>
                                          </p:stCondLst>
                                        </p:cTn>
                                        <p:tgtEl>
                                          <p:spTgt spid="5284"/>
                                        </p:tgtEl>
                                        <p:attrNameLst>
                                          <p:attrName>style.visibility</p:attrName>
                                        </p:attrNameLst>
                                      </p:cBhvr>
                                      <p:to>
                                        <p:strVal val="visible"/>
                                      </p:to>
                                    </p:set>
                                    <p:animEffect transition="in" filter="fade">
                                      <p:cBhvr>
                                        <p:cTn id="267" dur="500"/>
                                        <p:tgtEl>
                                          <p:spTgt spid="5284"/>
                                        </p:tgtEl>
                                      </p:cBhvr>
                                    </p:animEffect>
                                  </p:childTnLst>
                                </p:cTn>
                              </p:par>
                              <p:par>
                                <p:cTn id="268" presetID="10" presetClass="entr" presetSubtype="0" fill="hold" nodeType="withEffect">
                                  <p:stCondLst>
                                    <p:cond delay="0"/>
                                  </p:stCondLst>
                                  <p:childTnLst>
                                    <p:set>
                                      <p:cBhvr>
                                        <p:cTn id="269" dur="1" fill="hold">
                                          <p:stCondLst>
                                            <p:cond delay="0"/>
                                          </p:stCondLst>
                                        </p:cTn>
                                        <p:tgtEl>
                                          <p:spTgt spid="5285"/>
                                        </p:tgtEl>
                                        <p:attrNameLst>
                                          <p:attrName>style.visibility</p:attrName>
                                        </p:attrNameLst>
                                      </p:cBhvr>
                                      <p:to>
                                        <p:strVal val="visible"/>
                                      </p:to>
                                    </p:set>
                                    <p:animEffect transition="in" filter="fade">
                                      <p:cBhvr>
                                        <p:cTn id="270" dur="500"/>
                                        <p:tgtEl>
                                          <p:spTgt spid="5285"/>
                                        </p:tgtEl>
                                      </p:cBhvr>
                                    </p:animEffect>
                                  </p:childTnLst>
                                </p:cTn>
                              </p:par>
                              <p:par>
                                <p:cTn id="271" presetID="10" presetClass="entr" presetSubtype="0" fill="hold" nodeType="withEffect">
                                  <p:stCondLst>
                                    <p:cond delay="0"/>
                                  </p:stCondLst>
                                  <p:childTnLst>
                                    <p:set>
                                      <p:cBhvr>
                                        <p:cTn id="272" dur="1" fill="hold">
                                          <p:stCondLst>
                                            <p:cond delay="0"/>
                                          </p:stCondLst>
                                        </p:cTn>
                                        <p:tgtEl>
                                          <p:spTgt spid="5286"/>
                                        </p:tgtEl>
                                        <p:attrNameLst>
                                          <p:attrName>style.visibility</p:attrName>
                                        </p:attrNameLst>
                                      </p:cBhvr>
                                      <p:to>
                                        <p:strVal val="visible"/>
                                      </p:to>
                                    </p:set>
                                    <p:animEffect transition="in" filter="fade">
                                      <p:cBhvr>
                                        <p:cTn id="273" dur="500"/>
                                        <p:tgtEl>
                                          <p:spTgt spid="5286"/>
                                        </p:tgtEl>
                                      </p:cBhvr>
                                    </p:animEffect>
                                  </p:childTnLst>
                                </p:cTn>
                              </p:par>
                              <p:par>
                                <p:cTn id="274" presetID="10" presetClass="entr" presetSubtype="0" fill="hold" nodeType="withEffect">
                                  <p:stCondLst>
                                    <p:cond delay="0"/>
                                  </p:stCondLst>
                                  <p:childTnLst>
                                    <p:set>
                                      <p:cBhvr>
                                        <p:cTn id="275" dur="1" fill="hold">
                                          <p:stCondLst>
                                            <p:cond delay="0"/>
                                          </p:stCondLst>
                                        </p:cTn>
                                        <p:tgtEl>
                                          <p:spTgt spid="5287"/>
                                        </p:tgtEl>
                                        <p:attrNameLst>
                                          <p:attrName>style.visibility</p:attrName>
                                        </p:attrNameLst>
                                      </p:cBhvr>
                                      <p:to>
                                        <p:strVal val="visible"/>
                                      </p:to>
                                    </p:set>
                                    <p:animEffect transition="in" filter="fade">
                                      <p:cBhvr>
                                        <p:cTn id="276" dur="500"/>
                                        <p:tgtEl>
                                          <p:spTgt spid="5287"/>
                                        </p:tgtEl>
                                      </p:cBhvr>
                                    </p:animEffect>
                                  </p:childTnLst>
                                </p:cTn>
                              </p:par>
                              <p:par>
                                <p:cTn id="277" presetID="10" presetClass="entr" presetSubtype="0" fill="hold" nodeType="withEffect">
                                  <p:stCondLst>
                                    <p:cond delay="0"/>
                                  </p:stCondLst>
                                  <p:childTnLst>
                                    <p:set>
                                      <p:cBhvr>
                                        <p:cTn id="278" dur="1" fill="hold">
                                          <p:stCondLst>
                                            <p:cond delay="0"/>
                                          </p:stCondLst>
                                        </p:cTn>
                                        <p:tgtEl>
                                          <p:spTgt spid="5288"/>
                                        </p:tgtEl>
                                        <p:attrNameLst>
                                          <p:attrName>style.visibility</p:attrName>
                                        </p:attrNameLst>
                                      </p:cBhvr>
                                      <p:to>
                                        <p:strVal val="visible"/>
                                      </p:to>
                                    </p:set>
                                    <p:animEffect transition="in" filter="fade">
                                      <p:cBhvr>
                                        <p:cTn id="279" dur="500"/>
                                        <p:tgtEl>
                                          <p:spTgt spid="5288"/>
                                        </p:tgtEl>
                                      </p:cBhvr>
                                    </p:animEffect>
                                  </p:childTnLst>
                                </p:cTn>
                              </p:par>
                              <p:par>
                                <p:cTn id="280" presetID="10" presetClass="entr" presetSubtype="0" fill="hold" nodeType="withEffect">
                                  <p:stCondLst>
                                    <p:cond delay="0"/>
                                  </p:stCondLst>
                                  <p:childTnLst>
                                    <p:set>
                                      <p:cBhvr>
                                        <p:cTn id="281" dur="1" fill="hold">
                                          <p:stCondLst>
                                            <p:cond delay="0"/>
                                          </p:stCondLst>
                                        </p:cTn>
                                        <p:tgtEl>
                                          <p:spTgt spid="5289"/>
                                        </p:tgtEl>
                                        <p:attrNameLst>
                                          <p:attrName>style.visibility</p:attrName>
                                        </p:attrNameLst>
                                      </p:cBhvr>
                                      <p:to>
                                        <p:strVal val="visible"/>
                                      </p:to>
                                    </p:set>
                                    <p:animEffect transition="in" filter="fade">
                                      <p:cBhvr>
                                        <p:cTn id="282" dur="500"/>
                                        <p:tgtEl>
                                          <p:spTgt spid="5289"/>
                                        </p:tgtEl>
                                      </p:cBhvr>
                                    </p:animEffect>
                                  </p:childTnLst>
                                </p:cTn>
                              </p:par>
                              <p:par>
                                <p:cTn id="283" presetID="10" presetClass="entr" presetSubtype="0" fill="hold" nodeType="withEffect">
                                  <p:stCondLst>
                                    <p:cond delay="0"/>
                                  </p:stCondLst>
                                  <p:childTnLst>
                                    <p:set>
                                      <p:cBhvr>
                                        <p:cTn id="284" dur="1" fill="hold">
                                          <p:stCondLst>
                                            <p:cond delay="0"/>
                                          </p:stCondLst>
                                        </p:cTn>
                                        <p:tgtEl>
                                          <p:spTgt spid="5290"/>
                                        </p:tgtEl>
                                        <p:attrNameLst>
                                          <p:attrName>style.visibility</p:attrName>
                                        </p:attrNameLst>
                                      </p:cBhvr>
                                      <p:to>
                                        <p:strVal val="visible"/>
                                      </p:to>
                                    </p:set>
                                    <p:animEffect transition="in" filter="fade">
                                      <p:cBhvr>
                                        <p:cTn id="285" dur="500"/>
                                        <p:tgtEl>
                                          <p:spTgt spid="5290"/>
                                        </p:tgtEl>
                                      </p:cBhvr>
                                    </p:animEffect>
                                  </p:childTnLst>
                                </p:cTn>
                              </p:par>
                              <p:par>
                                <p:cTn id="286" presetID="10" presetClass="entr" presetSubtype="0" fill="hold" nodeType="withEffect">
                                  <p:stCondLst>
                                    <p:cond delay="0"/>
                                  </p:stCondLst>
                                  <p:childTnLst>
                                    <p:set>
                                      <p:cBhvr>
                                        <p:cTn id="287" dur="1" fill="hold">
                                          <p:stCondLst>
                                            <p:cond delay="0"/>
                                          </p:stCondLst>
                                        </p:cTn>
                                        <p:tgtEl>
                                          <p:spTgt spid="5291"/>
                                        </p:tgtEl>
                                        <p:attrNameLst>
                                          <p:attrName>style.visibility</p:attrName>
                                        </p:attrNameLst>
                                      </p:cBhvr>
                                      <p:to>
                                        <p:strVal val="visible"/>
                                      </p:to>
                                    </p:set>
                                    <p:animEffect transition="in" filter="fade">
                                      <p:cBhvr>
                                        <p:cTn id="288" dur="500"/>
                                        <p:tgtEl>
                                          <p:spTgt spid="5291"/>
                                        </p:tgtEl>
                                      </p:cBhvr>
                                    </p:animEffect>
                                  </p:childTnLst>
                                </p:cTn>
                              </p:par>
                              <p:par>
                                <p:cTn id="289" presetID="10" presetClass="entr" presetSubtype="0" fill="hold" nodeType="withEffect">
                                  <p:stCondLst>
                                    <p:cond delay="0"/>
                                  </p:stCondLst>
                                  <p:childTnLst>
                                    <p:set>
                                      <p:cBhvr>
                                        <p:cTn id="290" dur="1" fill="hold">
                                          <p:stCondLst>
                                            <p:cond delay="0"/>
                                          </p:stCondLst>
                                        </p:cTn>
                                        <p:tgtEl>
                                          <p:spTgt spid="5292"/>
                                        </p:tgtEl>
                                        <p:attrNameLst>
                                          <p:attrName>style.visibility</p:attrName>
                                        </p:attrNameLst>
                                      </p:cBhvr>
                                      <p:to>
                                        <p:strVal val="visible"/>
                                      </p:to>
                                    </p:set>
                                    <p:animEffect transition="in" filter="fade">
                                      <p:cBhvr>
                                        <p:cTn id="291" dur="500"/>
                                        <p:tgtEl>
                                          <p:spTgt spid="5292"/>
                                        </p:tgtEl>
                                      </p:cBhvr>
                                    </p:animEffect>
                                  </p:childTnLst>
                                </p:cTn>
                              </p:par>
                              <p:par>
                                <p:cTn id="292" presetID="10" presetClass="entr" presetSubtype="0" fill="hold" nodeType="withEffect">
                                  <p:stCondLst>
                                    <p:cond delay="0"/>
                                  </p:stCondLst>
                                  <p:childTnLst>
                                    <p:set>
                                      <p:cBhvr>
                                        <p:cTn id="293" dur="1" fill="hold">
                                          <p:stCondLst>
                                            <p:cond delay="0"/>
                                          </p:stCondLst>
                                        </p:cTn>
                                        <p:tgtEl>
                                          <p:spTgt spid="5293"/>
                                        </p:tgtEl>
                                        <p:attrNameLst>
                                          <p:attrName>style.visibility</p:attrName>
                                        </p:attrNameLst>
                                      </p:cBhvr>
                                      <p:to>
                                        <p:strVal val="visible"/>
                                      </p:to>
                                    </p:set>
                                    <p:animEffect transition="in" filter="fade">
                                      <p:cBhvr>
                                        <p:cTn id="294" dur="500"/>
                                        <p:tgtEl>
                                          <p:spTgt spid="5293"/>
                                        </p:tgtEl>
                                      </p:cBhvr>
                                    </p:animEffect>
                                  </p:childTnLst>
                                </p:cTn>
                              </p:par>
                              <p:par>
                                <p:cTn id="295" presetID="10" presetClass="entr" presetSubtype="0" fill="hold" nodeType="withEffect">
                                  <p:stCondLst>
                                    <p:cond delay="0"/>
                                  </p:stCondLst>
                                  <p:childTnLst>
                                    <p:set>
                                      <p:cBhvr>
                                        <p:cTn id="296" dur="1" fill="hold">
                                          <p:stCondLst>
                                            <p:cond delay="0"/>
                                          </p:stCondLst>
                                        </p:cTn>
                                        <p:tgtEl>
                                          <p:spTgt spid="5294"/>
                                        </p:tgtEl>
                                        <p:attrNameLst>
                                          <p:attrName>style.visibility</p:attrName>
                                        </p:attrNameLst>
                                      </p:cBhvr>
                                      <p:to>
                                        <p:strVal val="visible"/>
                                      </p:to>
                                    </p:set>
                                    <p:animEffect transition="in" filter="fade">
                                      <p:cBhvr>
                                        <p:cTn id="297" dur="500"/>
                                        <p:tgtEl>
                                          <p:spTgt spid="5294"/>
                                        </p:tgtEl>
                                      </p:cBhvr>
                                    </p:animEffect>
                                  </p:childTnLst>
                                </p:cTn>
                              </p:par>
                              <p:par>
                                <p:cTn id="298" presetID="10" presetClass="entr" presetSubtype="0" fill="hold" nodeType="withEffect">
                                  <p:stCondLst>
                                    <p:cond delay="0"/>
                                  </p:stCondLst>
                                  <p:childTnLst>
                                    <p:set>
                                      <p:cBhvr>
                                        <p:cTn id="299" dur="1" fill="hold">
                                          <p:stCondLst>
                                            <p:cond delay="0"/>
                                          </p:stCondLst>
                                        </p:cTn>
                                        <p:tgtEl>
                                          <p:spTgt spid="5295"/>
                                        </p:tgtEl>
                                        <p:attrNameLst>
                                          <p:attrName>style.visibility</p:attrName>
                                        </p:attrNameLst>
                                      </p:cBhvr>
                                      <p:to>
                                        <p:strVal val="visible"/>
                                      </p:to>
                                    </p:set>
                                    <p:animEffect transition="in" filter="fade">
                                      <p:cBhvr>
                                        <p:cTn id="300" dur="500"/>
                                        <p:tgtEl>
                                          <p:spTgt spid="5295"/>
                                        </p:tgtEl>
                                      </p:cBhvr>
                                    </p:animEffect>
                                  </p:childTnLst>
                                </p:cTn>
                              </p:par>
                              <p:par>
                                <p:cTn id="301" presetID="10" presetClass="entr" presetSubtype="0" fill="hold" nodeType="withEffect">
                                  <p:stCondLst>
                                    <p:cond delay="0"/>
                                  </p:stCondLst>
                                  <p:childTnLst>
                                    <p:set>
                                      <p:cBhvr>
                                        <p:cTn id="302" dur="1" fill="hold">
                                          <p:stCondLst>
                                            <p:cond delay="0"/>
                                          </p:stCondLst>
                                        </p:cTn>
                                        <p:tgtEl>
                                          <p:spTgt spid="5296"/>
                                        </p:tgtEl>
                                        <p:attrNameLst>
                                          <p:attrName>style.visibility</p:attrName>
                                        </p:attrNameLst>
                                      </p:cBhvr>
                                      <p:to>
                                        <p:strVal val="visible"/>
                                      </p:to>
                                    </p:set>
                                    <p:animEffect transition="in" filter="fade">
                                      <p:cBhvr>
                                        <p:cTn id="303" dur="500"/>
                                        <p:tgtEl>
                                          <p:spTgt spid="5296"/>
                                        </p:tgtEl>
                                      </p:cBhvr>
                                    </p:animEffect>
                                  </p:childTnLst>
                                </p:cTn>
                              </p:par>
                              <p:par>
                                <p:cTn id="304" presetID="10" presetClass="entr" presetSubtype="0" fill="hold" nodeType="withEffect">
                                  <p:stCondLst>
                                    <p:cond delay="0"/>
                                  </p:stCondLst>
                                  <p:childTnLst>
                                    <p:set>
                                      <p:cBhvr>
                                        <p:cTn id="305" dur="1" fill="hold">
                                          <p:stCondLst>
                                            <p:cond delay="0"/>
                                          </p:stCondLst>
                                        </p:cTn>
                                        <p:tgtEl>
                                          <p:spTgt spid="5297"/>
                                        </p:tgtEl>
                                        <p:attrNameLst>
                                          <p:attrName>style.visibility</p:attrName>
                                        </p:attrNameLst>
                                      </p:cBhvr>
                                      <p:to>
                                        <p:strVal val="visible"/>
                                      </p:to>
                                    </p:set>
                                    <p:animEffect transition="in" filter="fade">
                                      <p:cBhvr>
                                        <p:cTn id="306" dur="500"/>
                                        <p:tgtEl>
                                          <p:spTgt spid="5297"/>
                                        </p:tgtEl>
                                      </p:cBhvr>
                                    </p:animEffect>
                                  </p:childTnLst>
                                </p:cTn>
                              </p:par>
                              <p:par>
                                <p:cTn id="307" presetID="10" presetClass="entr" presetSubtype="0" fill="hold" nodeType="withEffect">
                                  <p:stCondLst>
                                    <p:cond delay="0"/>
                                  </p:stCondLst>
                                  <p:childTnLst>
                                    <p:set>
                                      <p:cBhvr>
                                        <p:cTn id="308" dur="1" fill="hold">
                                          <p:stCondLst>
                                            <p:cond delay="0"/>
                                          </p:stCondLst>
                                        </p:cTn>
                                        <p:tgtEl>
                                          <p:spTgt spid="5298"/>
                                        </p:tgtEl>
                                        <p:attrNameLst>
                                          <p:attrName>style.visibility</p:attrName>
                                        </p:attrNameLst>
                                      </p:cBhvr>
                                      <p:to>
                                        <p:strVal val="visible"/>
                                      </p:to>
                                    </p:set>
                                    <p:animEffect transition="in" filter="fade">
                                      <p:cBhvr>
                                        <p:cTn id="309" dur="500"/>
                                        <p:tgtEl>
                                          <p:spTgt spid="5298"/>
                                        </p:tgtEl>
                                      </p:cBhvr>
                                    </p:animEffect>
                                  </p:childTnLst>
                                </p:cTn>
                              </p:par>
                              <p:par>
                                <p:cTn id="310" presetID="10" presetClass="entr" presetSubtype="0" fill="hold" nodeType="withEffect">
                                  <p:stCondLst>
                                    <p:cond delay="0"/>
                                  </p:stCondLst>
                                  <p:childTnLst>
                                    <p:set>
                                      <p:cBhvr>
                                        <p:cTn id="311" dur="1" fill="hold">
                                          <p:stCondLst>
                                            <p:cond delay="0"/>
                                          </p:stCondLst>
                                        </p:cTn>
                                        <p:tgtEl>
                                          <p:spTgt spid="5299"/>
                                        </p:tgtEl>
                                        <p:attrNameLst>
                                          <p:attrName>style.visibility</p:attrName>
                                        </p:attrNameLst>
                                      </p:cBhvr>
                                      <p:to>
                                        <p:strVal val="visible"/>
                                      </p:to>
                                    </p:set>
                                    <p:animEffect transition="in" filter="fade">
                                      <p:cBhvr>
                                        <p:cTn id="312" dur="500"/>
                                        <p:tgtEl>
                                          <p:spTgt spid="5299"/>
                                        </p:tgtEl>
                                      </p:cBhvr>
                                    </p:animEffect>
                                  </p:childTnLst>
                                </p:cTn>
                              </p:par>
                              <p:par>
                                <p:cTn id="313" presetID="10" presetClass="entr" presetSubtype="0" fill="hold" nodeType="withEffect">
                                  <p:stCondLst>
                                    <p:cond delay="0"/>
                                  </p:stCondLst>
                                  <p:childTnLst>
                                    <p:set>
                                      <p:cBhvr>
                                        <p:cTn id="314" dur="1" fill="hold">
                                          <p:stCondLst>
                                            <p:cond delay="0"/>
                                          </p:stCondLst>
                                        </p:cTn>
                                        <p:tgtEl>
                                          <p:spTgt spid="5300"/>
                                        </p:tgtEl>
                                        <p:attrNameLst>
                                          <p:attrName>style.visibility</p:attrName>
                                        </p:attrNameLst>
                                      </p:cBhvr>
                                      <p:to>
                                        <p:strVal val="visible"/>
                                      </p:to>
                                    </p:set>
                                    <p:animEffect transition="in" filter="fade">
                                      <p:cBhvr>
                                        <p:cTn id="315" dur="500"/>
                                        <p:tgtEl>
                                          <p:spTgt spid="5300"/>
                                        </p:tgtEl>
                                      </p:cBhvr>
                                    </p:animEffect>
                                  </p:childTnLst>
                                </p:cTn>
                              </p:par>
                              <p:par>
                                <p:cTn id="316" presetID="10" presetClass="entr" presetSubtype="0" fill="hold" nodeType="withEffect">
                                  <p:stCondLst>
                                    <p:cond delay="0"/>
                                  </p:stCondLst>
                                  <p:childTnLst>
                                    <p:set>
                                      <p:cBhvr>
                                        <p:cTn id="317" dur="1" fill="hold">
                                          <p:stCondLst>
                                            <p:cond delay="0"/>
                                          </p:stCondLst>
                                        </p:cTn>
                                        <p:tgtEl>
                                          <p:spTgt spid="5301"/>
                                        </p:tgtEl>
                                        <p:attrNameLst>
                                          <p:attrName>style.visibility</p:attrName>
                                        </p:attrNameLst>
                                      </p:cBhvr>
                                      <p:to>
                                        <p:strVal val="visible"/>
                                      </p:to>
                                    </p:set>
                                    <p:animEffect transition="in" filter="fade">
                                      <p:cBhvr>
                                        <p:cTn id="318" dur="500"/>
                                        <p:tgtEl>
                                          <p:spTgt spid="5301"/>
                                        </p:tgtEl>
                                      </p:cBhvr>
                                    </p:animEffect>
                                  </p:childTnLst>
                                </p:cTn>
                              </p:par>
                              <p:par>
                                <p:cTn id="319" presetID="10" presetClass="entr" presetSubtype="0" fill="hold" nodeType="withEffect">
                                  <p:stCondLst>
                                    <p:cond delay="0"/>
                                  </p:stCondLst>
                                  <p:childTnLst>
                                    <p:set>
                                      <p:cBhvr>
                                        <p:cTn id="320" dur="1" fill="hold">
                                          <p:stCondLst>
                                            <p:cond delay="0"/>
                                          </p:stCondLst>
                                        </p:cTn>
                                        <p:tgtEl>
                                          <p:spTgt spid="5302"/>
                                        </p:tgtEl>
                                        <p:attrNameLst>
                                          <p:attrName>style.visibility</p:attrName>
                                        </p:attrNameLst>
                                      </p:cBhvr>
                                      <p:to>
                                        <p:strVal val="visible"/>
                                      </p:to>
                                    </p:set>
                                    <p:animEffect transition="in" filter="fade">
                                      <p:cBhvr>
                                        <p:cTn id="321" dur="500"/>
                                        <p:tgtEl>
                                          <p:spTgt spid="5302"/>
                                        </p:tgtEl>
                                      </p:cBhvr>
                                    </p:animEffect>
                                  </p:childTnLst>
                                </p:cTn>
                              </p:par>
                              <p:par>
                                <p:cTn id="322" presetID="10" presetClass="entr" presetSubtype="0" fill="hold" nodeType="withEffect">
                                  <p:stCondLst>
                                    <p:cond delay="0"/>
                                  </p:stCondLst>
                                  <p:childTnLst>
                                    <p:set>
                                      <p:cBhvr>
                                        <p:cTn id="323" dur="1" fill="hold">
                                          <p:stCondLst>
                                            <p:cond delay="0"/>
                                          </p:stCondLst>
                                        </p:cTn>
                                        <p:tgtEl>
                                          <p:spTgt spid="5303"/>
                                        </p:tgtEl>
                                        <p:attrNameLst>
                                          <p:attrName>style.visibility</p:attrName>
                                        </p:attrNameLst>
                                      </p:cBhvr>
                                      <p:to>
                                        <p:strVal val="visible"/>
                                      </p:to>
                                    </p:set>
                                    <p:animEffect transition="in" filter="fade">
                                      <p:cBhvr>
                                        <p:cTn id="324" dur="500"/>
                                        <p:tgtEl>
                                          <p:spTgt spid="5303"/>
                                        </p:tgtEl>
                                      </p:cBhvr>
                                    </p:animEffect>
                                  </p:childTnLst>
                                </p:cTn>
                              </p:par>
                              <p:par>
                                <p:cTn id="325" presetID="10" presetClass="entr" presetSubtype="0" fill="hold" nodeType="withEffect">
                                  <p:stCondLst>
                                    <p:cond delay="0"/>
                                  </p:stCondLst>
                                  <p:childTnLst>
                                    <p:set>
                                      <p:cBhvr>
                                        <p:cTn id="326" dur="1" fill="hold">
                                          <p:stCondLst>
                                            <p:cond delay="0"/>
                                          </p:stCondLst>
                                        </p:cTn>
                                        <p:tgtEl>
                                          <p:spTgt spid="5304"/>
                                        </p:tgtEl>
                                        <p:attrNameLst>
                                          <p:attrName>style.visibility</p:attrName>
                                        </p:attrNameLst>
                                      </p:cBhvr>
                                      <p:to>
                                        <p:strVal val="visible"/>
                                      </p:to>
                                    </p:set>
                                    <p:animEffect transition="in" filter="fade">
                                      <p:cBhvr>
                                        <p:cTn id="327" dur="500"/>
                                        <p:tgtEl>
                                          <p:spTgt spid="5304"/>
                                        </p:tgtEl>
                                      </p:cBhvr>
                                    </p:animEffect>
                                  </p:childTnLst>
                                </p:cTn>
                              </p:par>
                              <p:par>
                                <p:cTn id="328" presetID="10" presetClass="entr" presetSubtype="0" fill="hold" nodeType="withEffect">
                                  <p:stCondLst>
                                    <p:cond delay="0"/>
                                  </p:stCondLst>
                                  <p:childTnLst>
                                    <p:set>
                                      <p:cBhvr>
                                        <p:cTn id="329" dur="1" fill="hold">
                                          <p:stCondLst>
                                            <p:cond delay="0"/>
                                          </p:stCondLst>
                                        </p:cTn>
                                        <p:tgtEl>
                                          <p:spTgt spid="5305"/>
                                        </p:tgtEl>
                                        <p:attrNameLst>
                                          <p:attrName>style.visibility</p:attrName>
                                        </p:attrNameLst>
                                      </p:cBhvr>
                                      <p:to>
                                        <p:strVal val="visible"/>
                                      </p:to>
                                    </p:set>
                                    <p:animEffect transition="in" filter="fade">
                                      <p:cBhvr>
                                        <p:cTn id="330" dur="500"/>
                                        <p:tgtEl>
                                          <p:spTgt spid="5305"/>
                                        </p:tgtEl>
                                      </p:cBhvr>
                                    </p:animEffect>
                                  </p:childTnLst>
                                </p:cTn>
                              </p:par>
                              <p:par>
                                <p:cTn id="331" presetID="10" presetClass="entr" presetSubtype="0" fill="hold" nodeType="withEffect">
                                  <p:stCondLst>
                                    <p:cond delay="0"/>
                                  </p:stCondLst>
                                  <p:childTnLst>
                                    <p:set>
                                      <p:cBhvr>
                                        <p:cTn id="332" dur="1" fill="hold">
                                          <p:stCondLst>
                                            <p:cond delay="0"/>
                                          </p:stCondLst>
                                        </p:cTn>
                                        <p:tgtEl>
                                          <p:spTgt spid="5306"/>
                                        </p:tgtEl>
                                        <p:attrNameLst>
                                          <p:attrName>style.visibility</p:attrName>
                                        </p:attrNameLst>
                                      </p:cBhvr>
                                      <p:to>
                                        <p:strVal val="visible"/>
                                      </p:to>
                                    </p:set>
                                    <p:animEffect transition="in" filter="fade">
                                      <p:cBhvr>
                                        <p:cTn id="333" dur="500"/>
                                        <p:tgtEl>
                                          <p:spTgt spid="5306"/>
                                        </p:tgtEl>
                                      </p:cBhvr>
                                    </p:animEffect>
                                  </p:childTnLst>
                                </p:cTn>
                              </p:par>
                              <p:par>
                                <p:cTn id="334" presetID="10" presetClass="entr" presetSubtype="0" fill="hold" nodeType="withEffect">
                                  <p:stCondLst>
                                    <p:cond delay="0"/>
                                  </p:stCondLst>
                                  <p:childTnLst>
                                    <p:set>
                                      <p:cBhvr>
                                        <p:cTn id="335" dur="1" fill="hold">
                                          <p:stCondLst>
                                            <p:cond delay="0"/>
                                          </p:stCondLst>
                                        </p:cTn>
                                        <p:tgtEl>
                                          <p:spTgt spid="5307"/>
                                        </p:tgtEl>
                                        <p:attrNameLst>
                                          <p:attrName>style.visibility</p:attrName>
                                        </p:attrNameLst>
                                      </p:cBhvr>
                                      <p:to>
                                        <p:strVal val="visible"/>
                                      </p:to>
                                    </p:set>
                                    <p:animEffect transition="in" filter="fade">
                                      <p:cBhvr>
                                        <p:cTn id="336" dur="500"/>
                                        <p:tgtEl>
                                          <p:spTgt spid="5307"/>
                                        </p:tgtEl>
                                      </p:cBhvr>
                                    </p:animEffect>
                                  </p:childTnLst>
                                </p:cTn>
                              </p:par>
                              <p:par>
                                <p:cTn id="337" presetID="10" presetClass="entr" presetSubtype="0" fill="hold" nodeType="withEffect">
                                  <p:stCondLst>
                                    <p:cond delay="0"/>
                                  </p:stCondLst>
                                  <p:childTnLst>
                                    <p:set>
                                      <p:cBhvr>
                                        <p:cTn id="338" dur="1" fill="hold">
                                          <p:stCondLst>
                                            <p:cond delay="0"/>
                                          </p:stCondLst>
                                        </p:cTn>
                                        <p:tgtEl>
                                          <p:spTgt spid="5308"/>
                                        </p:tgtEl>
                                        <p:attrNameLst>
                                          <p:attrName>style.visibility</p:attrName>
                                        </p:attrNameLst>
                                      </p:cBhvr>
                                      <p:to>
                                        <p:strVal val="visible"/>
                                      </p:to>
                                    </p:set>
                                    <p:animEffect transition="in" filter="fade">
                                      <p:cBhvr>
                                        <p:cTn id="339" dur="500"/>
                                        <p:tgtEl>
                                          <p:spTgt spid="5308"/>
                                        </p:tgtEl>
                                      </p:cBhvr>
                                    </p:animEffect>
                                  </p:childTnLst>
                                </p:cTn>
                              </p:par>
                              <p:par>
                                <p:cTn id="340" presetID="10" presetClass="entr" presetSubtype="0" fill="hold" nodeType="withEffect">
                                  <p:stCondLst>
                                    <p:cond delay="0"/>
                                  </p:stCondLst>
                                  <p:childTnLst>
                                    <p:set>
                                      <p:cBhvr>
                                        <p:cTn id="341" dur="1" fill="hold">
                                          <p:stCondLst>
                                            <p:cond delay="0"/>
                                          </p:stCondLst>
                                        </p:cTn>
                                        <p:tgtEl>
                                          <p:spTgt spid="5309"/>
                                        </p:tgtEl>
                                        <p:attrNameLst>
                                          <p:attrName>style.visibility</p:attrName>
                                        </p:attrNameLst>
                                      </p:cBhvr>
                                      <p:to>
                                        <p:strVal val="visible"/>
                                      </p:to>
                                    </p:set>
                                    <p:animEffect transition="in" filter="fade">
                                      <p:cBhvr>
                                        <p:cTn id="342" dur="500"/>
                                        <p:tgtEl>
                                          <p:spTgt spid="5309"/>
                                        </p:tgtEl>
                                      </p:cBhvr>
                                    </p:animEffect>
                                  </p:childTnLst>
                                </p:cTn>
                              </p:par>
                              <p:par>
                                <p:cTn id="343" presetID="10" presetClass="entr" presetSubtype="0" fill="hold" nodeType="withEffect">
                                  <p:stCondLst>
                                    <p:cond delay="0"/>
                                  </p:stCondLst>
                                  <p:childTnLst>
                                    <p:set>
                                      <p:cBhvr>
                                        <p:cTn id="344" dur="1" fill="hold">
                                          <p:stCondLst>
                                            <p:cond delay="0"/>
                                          </p:stCondLst>
                                        </p:cTn>
                                        <p:tgtEl>
                                          <p:spTgt spid="5310"/>
                                        </p:tgtEl>
                                        <p:attrNameLst>
                                          <p:attrName>style.visibility</p:attrName>
                                        </p:attrNameLst>
                                      </p:cBhvr>
                                      <p:to>
                                        <p:strVal val="visible"/>
                                      </p:to>
                                    </p:set>
                                    <p:animEffect transition="in" filter="fade">
                                      <p:cBhvr>
                                        <p:cTn id="345" dur="500"/>
                                        <p:tgtEl>
                                          <p:spTgt spid="5310"/>
                                        </p:tgtEl>
                                      </p:cBhvr>
                                    </p:animEffect>
                                  </p:childTnLst>
                                </p:cTn>
                              </p:par>
                              <p:par>
                                <p:cTn id="346" presetID="10" presetClass="entr" presetSubtype="0" fill="hold" nodeType="withEffect">
                                  <p:stCondLst>
                                    <p:cond delay="0"/>
                                  </p:stCondLst>
                                  <p:childTnLst>
                                    <p:set>
                                      <p:cBhvr>
                                        <p:cTn id="347" dur="1" fill="hold">
                                          <p:stCondLst>
                                            <p:cond delay="0"/>
                                          </p:stCondLst>
                                        </p:cTn>
                                        <p:tgtEl>
                                          <p:spTgt spid="5311"/>
                                        </p:tgtEl>
                                        <p:attrNameLst>
                                          <p:attrName>style.visibility</p:attrName>
                                        </p:attrNameLst>
                                      </p:cBhvr>
                                      <p:to>
                                        <p:strVal val="visible"/>
                                      </p:to>
                                    </p:set>
                                    <p:animEffect transition="in" filter="fade">
                                      <p:cBhvr>
                                        <p:cTn id="348" dur="500"/>
                                        <p:tgtEl>
                                          <p:spTgt spid="5311"/>
                                        </p:tgtEl>
                                      </p:cBhvr>
                                    </p:animEffect>
                                  </p:childTnLst>
                                </p:cTn>
                              </p:par>
                              <p:par>
                                <p:cTn id="349" presetID="10" presetClass="entr" presetSubtype="0" fill="hold" nodeType="withEffect">
                                  <p:stCondLst>
                                    <p:cond delay="0"/>
                                  </p:stCondLst>
                                  <p:childTnLst>
                                    <p:set>
                                      <p:cBhvr>
                                        <p:cTn id="350" dur="1" fill="hold">
                                          <p:stCondLst>
                                            <p:cond delay="0"/>
                                          </p:stCondLst>
                                        </p:cTn>
                                        <p:tgtEl>
                                          <p:spTgt spid="5312"/>
                                        </p:tgtEl>
                                        <p:attrNameLst>
                                          <p:attrName>style.visibility</p:attrName>
                                        </p:attrNameLst>
                                      </p:cBhvr>
                                      <p:to>
                                        <p:strVal val="visible"/>
                                      </p:to>
                                    </p:set>
                                    <p:animEffect transition="in" filter="fade">
                                      <p:cBhvr>
                                        <p:cTn id="351" dur="500"/>
                                        <p:tgtEl>
                                          <p:spTgt spid="5312"/>
                                        </p:tgtEl>
                                      </p:cBhvr>
                                    </p:animEffect>
                                  </p:childTnLst>
                                </p:cTn>
                              </p:par>
                              <p:par>
                                <p:cTn id="352" presetID="10" presetClass="entr" presetSubtype="0" fill="hold" nodeType="withEffect">
                                  <p:stCondLst>
                                    <p:cond delay="0"/>
                                  </p:stCondLst>
                                  <p:childTnLst>
                                    <p:set>
                                      <p:cBhvr>
                                        <p:cTn id="353" dur="1" fill="hold">
                                          <p:stCondLst>
                                            <p:cond delay="0"/>
                                          </p:stCondLst>
                                        </p:cTn>
                                        <p:tgtEl>
                                          <p:spTgt spid="5313"/>
                                        </p:tgtEl>
                                        <p:attrNameLst>
                                          <p:attrName>style.visibility</p:attrName>
                                        </p:attrNameLst>
                                      </p:cBhvr>
                                      <p:to>
                                        <p:strVal val="visible"/>
                                      </p:to>
                                    </p:set>
                                    <p:animEffect transition="in" filter="fade">
                                      <p:cBhvr>
                                        <p:cTn id="354" dur="500"/>
                                        <p:tgtEl>
                                          <p:spTgt spid="5313"/>
                                        </p:tgtEl>
                                      </p:cBhvr>
                                    </p:animEffect>
                                  </p:childTnLst>
                                </p:cTn>
                              </p:par>
                              <p:par>
                                <p:cTn id="355" presetID="10" presetClass="entr" presetSubtype="0" fill="hold" nodeType="withEffect">
                                  <p:stCondLst>
                                    <p:cond delay="0"/>
                                  </p:stCondLst>
                                  <p:childTnLst>
                                    <p:set>
                                      <p:cBhvr>
                                        <p:cTn id="356" dur="1" fill="hold">
                                          <p:stCondLst>
                                            <p:cond delay="0"/>
                                          </p:stCondLst>
                                        </p:cTn>
                                        <p:tgtEl>
                                          <p:spTgt spid="5314"/>
                                        </p:tgtEl>
                                        <p:attrNameLst>
                                          <p:attrName>style.visibility</p:attrName>
                                        </p:attrNameLst>
                                      </p:cBhvr>
                                      <p:to>
                                        <p:strVal val="visible"/>
                                      </p:to>
                                    </p:set>
                                    <p:animEffect transition="in" filter="fade">
                                      <p:cBhvr>
                                        <p:cTn id="357" dur="500"/>
                                        <p:tgtEl>
                                          <p:spTgt spid="5314"/>
                                        </p:tgtEl>
                                      </p:cBhvr>
                                    </p:animEffect>
                                  </p:childTnLst>
                                </p:cTn>
                              </p:par>
                              <p:par>
                                <p:cTn id="358" presetID="10" presetClass="entr" presetSubtype="0" fill="hold" nodeType="withEffect">
                                  <p:stCondLst>
                                    <p:cond delay="0"/>
                                  </p:stCondLst>
                                  <p:childTnLst>
                                    <p:set>
                                      <p:cBhvr>
                                        <p:cTn id="359" dur="1" fill="hold">
                                          <p:stCondLst>
                                            <p:cond delay="0"/>
                                          </p:stCondLst>
                                        </p:cTn>
                                        <p:tgtEl>
                                          <p:spTgt spid="5315"/>
                                        </p:tgtEl>
                                        <p:attrNameLst>
                                          <p:attrName>style.visibility</p:attrName>
                                        </p:attrNameLst>
                                      </p:cBhvr>
                                      <p:to>
                                        <p:strVal val="visible"/>
                                      </p:to>
                                    </p:set>
                                    <p:animEffect transition="in" filter="fade">
                                      <p:cBhvr>
                                        <p:cTn id="360" dur="500"/>
                                        <p:tgtEl>
                                          <p:spTgt spid="5315"/>
                                        </p:tgtEl>
                                      </p:cBhvr>
                                    </p:animEffect>
                                  </p:childTnLst>
                                </p:cTn>
                              </p:par>
                              <p:par>
                                <p:cTn id="361" presetID="10" presetClass="entr" presetSubtype="0" fill="hold" nodeType="withEffect">
                                  <p:stCondLst>
                                    <p:cond delay="0"/>
                                  </p:stCondLst>
                                  <p:childTnLst>
                                    <p:set>
                                      <p:cBhvr>
                                        <p:cTn id="362" dur="1" fill="hold">
                                          <p:stCondLst>
                                            <p:cond delay="0"/>
                                          </p:stCondLst>
                                        </p:cTn>
                                        <p:tgtEl>
                                          <p:spTgt spid="5316"/>
                                        </p:tgtEl>
                                        <p:attrNameLst>
                                          <p:attrName>style.visibility</p:attrName>
                                        </p:attrNameLst>
                                      </p:cBhvr>
                                      <p:to>
                                        <p:strVal val="visible"/>
                                      </p:to>
                                    </p:set>
                                    <p:animEffect transition="in" filter="fade">
                                      <p:cBhvr>
                                        <p:cTn id="363" dur="500"/>
                                        <p:tgtEl>
                                          <p:spTgt spid="5316"/>
                                        </p:tgtEl>
                                      </p:cBhvr>
                                    </p:animEffect>
                                  </p:childTnLst>
                                </p:cTn>
                              </p:par>
                              <p:par>
                                <p:cTn id="364" presetID="10" presetClass="entr" presetSubtype="0" fill="hold" nodeType="withEffect">
                                  <p:stCondLst>
                                    <p:cond delay="0"/>
                                  </p:stCondLst>
                                  <p:childTnLst>
                                    <p:set>
                                      <p:cBhvr>
                                        <p:cTn id="365" dur="1" fill="hold">
                                          <p:stCondLst>
                                            <p:cond delay="0"/>
                                          </p:stCondLst>
                                        </p:cTn>
                                        <p:tgtEl>
                                          <p:spTgt spid="5317"/>
                                        </p:tgtEl>
                                        <p:attrNameLst>
                                          <p:attrName>style.visibility</p:attrName>
                                        </p:attrNameLst>
                                      </p:cBhvr>
                                      <p:to>
                                        <p:strVal val="visible"/>
                                      </p:to>
                                    </p:set>
                                    <p:animEffect transition="in" filter="fade">
                                      <p:cBhvr>
                                        <p:cTn id="366" dur="500"/>
                                        <p:tgtEl>
                                          <p:spTgt spid="5317"/>
                                        </p:tgtEl>
                                      </p:cBhvr>
                                    </p:animEffect>
                                  </p:childTnLst>
                                </p:cTn>
                              </p:par>
                              <p:par>
                                <p:cTn id="367" presetID="10" presetClass="entr" presetSubtype="0" fill="hold" nodeType="withEffect">
                                  <p:stCondLst>
                                    <p:cond delay="0"/>
                                  </p:stCondLst>
                                  <p:childTnLst>
                                    <p:set>
                                      <p:cBhvr>
                                        <p:cTn id="368" dur="1" fill="hold">
                                          <p:stCondLst>
                                            <p:cond delay="0"/>
                                          </p:stCondLst>
                                        </p:cTn>
                                        <p:tgtEl>
                                          <p:spTgt spid="5318"/>
                                        </p:tgtEl>
                                        <p:attrNameLst>
                                          <p:attrName>style.visibility</p:attrName>
                                        </p:attrNameLst>
                                      </p:cBhvr>
                                      <p:to>
                                        <p:strVal val="visible"/>
                                      </p:to>
                                    </p:set>
                                    <p:animEffect transition="in" filter="fade">
                                      <p:cBhvr>
                                        <p:cTn id="369" dur="500"/>
                                        <p:tgtEl>
                                          <p:spTgt spid="5318"/>
                                        </p:tgtEl>
                                      </p:cBhvr>
                                    </p:animEffect>
                                  </p:childTnLst>
                                </p:cTn>
                              </p:par>
                              <p:par>
                                <p:cTn id="370" presetID="10" presetClass="entr" presetSubtype="0" fill="hold" nodeType="withEffect">
                                  <p:stCondLst>
                                    <p:cond delay="0"/>
                                  </p:stCondLst>
                                  <p:childTnLst>
                                    <p:set>
                                      <p:cBhvr>
                                        <p:cTn id="371" dur="1" fill="hold">
                                          <p:stCondLst>
                                            <p:cond delay="0"/>
                                          </p:stCondLst>
                                        </p:cTn>
                                        <p:tgtEl>
                                          <p:spTgt spid="5319"/>
                                        </p:tgtEl>
                                        <p:attrNameLst>
                                          <p:attrName>style.visibility</p:attrName>
                                        </p:attrNameLst>
                                      </p:cBhvr>
                                      <p:to>
                                        <p:strVal val="visible"/>
                                      </p:to>
                                    </p:set>
                                    <p:animEffect transition="in" filter="fade">
                                      <p:cBhvr>
                                        <p:cTn id="372" dur="500"/>
                                        <p:tgtEl>
                                          <p:spTgt spid="5319"/>
                                        </p:tgtEl>
                                      </p:cBhvr>
                                    </p:animEffect>
                                  </p:childTnLst>
                                </p:cTn>
                              </p:par>
                              <p:par>
                                <p:cTn id="373" presetID="10" presetClass="entr" presetSubtype="0" fill="hold" nodeType="withEffect">
                                  <p:stCondLst>
                                    <p:cond delay="0"/>
                                  </p:stCondLst>
                                  <p:childTnLst>
                                    <p:set>
                                      <p:cBhvr>
                                        <p:cTn id="374" dur="1" fill="hold">
                                          <p:stCondLst>
                                            <p:cond delay="0"/>
                                          </p:stCondLst>
                                        </p:cTn>
                                        <p:tgtEl>
                                          <p:spTgt spid="5320"/>
                                        </p:tgtEl>
                                        <p:attrNameLst>
                                          <p:attrName>style.visibility</p:attrName>
                                        </p:attrNameLst>
                                      </p:cBhvr>
                                      <p:to>
                                        <p:strVal val="visible"/>
                                      </p:to>
                                    </p:set>
                                    <p:animEffect transition="in" filter="fade">
                                      <p:cBhvr>
                                        <p:cTn id="375" dur="500"/>
                                        <p:tgtEl>
                                          <p:spTgt spid="5320"/>
                                        </p:tgtEl>
                                      </p:cBhvr>
                                    </p:animEffect>
                                  </p:childTnLst>
                                </p:cTn>
                              </p:par>
                              <p:par>
                                <p:cTn id="376" presetID="10" presetClass="entr" presetSubtype="0" fill="hold" nodeType="withEffect">
                                  <p:stCondLst>
                                    <p:cond delay="0"/>
                                  </p:stCondLst>
                                  <p:childTnLst>
                                    <p:set>
                                      <p:cBhvr>
                                        <p:cTn id="377" dur="1" fill="hold">
                                          <p:stCondLst>
                                            <p:cond delay="0"/>
                                          </p:stCondLst>
                                        </p:cTn>
                                        <p:tgtEl>
                                          <p:spTgt spid="5321"/>
                                        </p:tgtEl>
                                        <p:attrNameLst>
                                          <p:attrName>style.visibility</p:attrName>
                                        </p:attrNameLst>
                                      </p:cBhvr>
                                      <p:to>
                                        <p:strVal val="visible"/>
                                      </p:to>
                                    </p:set>
                                    <p:animEffect transition="in" filter="fade">
                                      <p:cBhvr>
                                        <p:cTn id="378" dur="500"/>
                                        <p:tgtEl>
                                          <p:spTgt spid="5321"/>
                                        </p:tgtEl>
                                      </p:cBhvr>
                                    </p:animEffect>
                                  </p:childTnLst>
                                </p:cTn>
                              </p:par>
                              <p:par>
                                <p:cTn id="379" presetID="10" presetClass="entr" presetSubtype="0" fill="hold" nodeType="withEffect">
                                  <p:stCondLst>
                                    <p:cond delay="0"/>
                                  </p:stCondLst>
                                  <p:childTnLst>
                                    <p:set>
                                      <p:cBhvr>
                                        <p:cTn id="380" dur="1" fill="hold">
                                          <p:stCondLst>
                                            <p:cond delay="0"/>
                                          </p:stCondLst>
                                        </p:cTn>
                                        <p:tgtEl>
                                          <p:spTgt spid="5322"/>
                                        </p:tgtEl>
                                        <p:attrNameLst>
                                          <p:attrName>style.visibility</p:attrName>
                                        </p:attrNameLst>
                                      </p:cBhvr>
                                      <p:to>
                                        <p:strVal val="visible"/>
                                      </p:to>
                                    </p:set>
                                    <p:animEffect transition="in" filter="fade">
                                      <p:cBhvr>
                                        <p:cTn id="381" dur="500"/>
                                        <p:tgtEl>
                                          <p:spTgt spid="5322"/>
                                        </p:tgtEl>
                                      </p:cBhvr>
                                    </p:animEffect>
                                  </p:childTnLst>
                                </p:cTn>
                              </p:par>
                              <p:par>
                                <p:cTn id="382" presetID="10" presetClass="entr" presetSubtype="0" fill="hold" nodeType="withEffect">
                                  <p:stCondLst>
                                    <p:cond delay="0"/>
                                  </p:stCondLst>
                                  <p:childTnLst>
                                    <p:set>
                                      <p:cBhvr>
                                        <p:cTn id="383" dur="1" fill="hold">
                                          <p:stCondLst>
                                            <p:cond delay="0"/>
                                          </p:stCondLst>
                                        </p:cTn>
                                        <p:tgtEl>
                                          <p:spTgt spid="5323"/>
                                        </p:tgtEl>
                                        <p:attrNameLst>
                                          <p:attrName>style.visibility</p:attrName>
                                        </p:attrNameLst>
                                      </p:cBhvr>
                                      <p:to>
                                        <p:strVal val="visible"/>
                                      </p:to>
                                    </p:set>
                                    <p:animEffect transition="in" filter="fade">
                                      <p:cBhvr>
                                        <p:cTn id="384" dur="500"/>
                                        <p:tgtEl>
                                          <p:spTgt spid="5323"/>
                                        </p:tgtEl>
                                      </p:cBhvr>
                                    </p:animEffect>
                                  </p:childTnLst>
                                </p:cTn>
                              </p:par>
                              <p:par>
                                <p:cTn id="385" presetID="10" presetClass="entr" presetSubtype="0" fill="hold" nodeType="withEffect">
                                  <p:stCondLst>
                                    <p:cond delay="0"/>
                                  </p:stCondLst>
                                  <p:childTnLst>
                                    <p:set>
                                      <p:cBhvr>
                                        <p:cTn id="386" dur="1" fill="hold">
                                          <p:stCondLst>
                                            <p:cond delay="0"/>
                                          </p:stCondLst>
                                        </p:cTn>
                                        <p:tgtEl>
                                          <p:spTgt spid="5324"/>
                                        </p:tgtEl>
                                        <p:attrNameLst>
                                          <p:attrName>style.visibility</p:attrName>
                                        </p:attrNameLst>
                                      </p:cBhvr>
                                      <p:to>
                                        <p:strVal val="visible"/>
                                      </p:to>
                                    </p:set>
                                    <p:animEffect transition="in" filter="fade">
                                      <p:cBhvr>
                                        <p:cTn id="387" dur="500"/>
                                        <p:tgtEl>
                                          <p:spTgt spid="5324"/>
                                        </p:tgtEl>
                                      </p:cBhvr>
                                    </p:animEffect>
                                  </p:childTnLst>
                                </p:cTn>
                              </p:par>
                              <p:par>
                                <p:cTn id="388" presetID="10" presetClass="entr" presetSubtype="0" fill="hold" nodeType="withEffect">
                                  <p:stCondLst>
                                    <p:cond delay="0"/>
                                  </p:stCondLst>
                                  <p:childTnLst>
                                    <p:set>
                                      <p:cBhvr>
                                        <p:cTn id="389" dur="1" fill="hold">
                                          <p:stCondLst>
                                            <p:cond delay="0"/>
                                          </p:stCondLst>
                                        </p:cTn>
                                        <p:tgtEl>
                                          <p:spTgt spid="5325"/>
                                        </p:tgtEl>
                                        <p:attrNameLst>
                                          <p:attrName>style.visibility</p:attrName>
                                        </p:attrNameLst>
                                      </p:cBhvr>
                                      <p:to>
                                        <p:strVal val="visible"/>
                                      </p:to>
                                    </p:set>
                                    <p:animEffect transition="in" filter="fade">
                                      <p:cBhvr>
                                        <p:cTn id="390" dur="500"/>
                                        <p:tgtEl>
                                          <p:spTgt spid="5325"/>
                                        </p:tgtEl>
                                      </p:cBhvr>
                                    </p:animEffect>
                                  </p:childTnLst>
                                </p:cTn>
                              </p:par>
                              <p:par>
                                <p:cTn id="391" presetID="10" presetClass="entr" presetSubtype="0" fill="hold" nodeType="withEffect">
                                  <p:stCondLst>
                                    <p:cond delay="0"/>
                                  </p:stCondLst>
                                  <p:childTnLst>
                                    <p:set>
                                      <p:cBhvr>
                                        <p:cTn id="392" dur="1" fill="hold">
                                          <p:stCondLst>
                                            <p:cond delay="0"/>
                                          </p:stCondLst>
                                        </p:cTn>
                                        <p:tgtEl>
                                          <p:spTgt spid="5326"/>
                                        </p:tgtEl>
                                        <p:attrNameLst>
                                          <p:attrName>style.visibility</p:attrName>
                                        </p:attrNameLst>
                                      </p:cBhvr>
                                      <p:to>
                                        <p:strVal val="visible"/>
                                      </p:to>
                                    </p:set>
                                    <p:animEffect transition="in" filter="fade">
                                      <p:cBhvr>
                                        <p:cTn id="393" dur="500"/>
                                        <p:tgtEl>
                                          <p:spTgt spid="5326"/>
                                        </p:tgtEl>
                                      </p:cBhvr>
                                    </p:animEffect>
                                  </p:childTnLst>
                                </p:cTn>
                              </p:par>
                              <p:par>
                                <p:cTn id="394" presetID="10" presetClass="entr" presetSubtype="0" fill="hold" nodeType="withEffect">
                                  <p:stCondLst>
                                    <p:cond delay="0"/>
                                  </p:stCondLst>
                                  <p:childTnLst>
                                    <p:set>
                                      <p:cBhvr>
                                        <p:cTn id="395" dur="1" fill="hold">
                                          <p:stCondLst>
                                            <p:cond delay="0"/>
                                          </p:stCondLst>
                                        </p:cTn>
                                        <p:tgtEl>
                                          <p:spTgt spid="5327"/>
                                        </p:tgtEl>
                                        <p:attrNameLst>
                                          <p:attrName>style.visibility</p:attrName>
                                        </p:attrNameLst>
                                      </p:cBhvr>
                                      <p:to>
                                        <p:strVal val="visible"/>
                                      </p:to>
                                    </p:set>
                                    <p:animEffect transition="in" filter="fade">
                                      <p:cBhvr>
                                        <p:cTn id="396" dur="500"/>
                                        <p:tgtEl>
                                          <p:spTgt spid="5327"/>
                                        </p:tgtEl>
                                      </p:cBhvr>
                                    </p:animEffect>
                                  </p:childTnLst>
                                </p:cTn>
                              </p:par>
                              <p:par>
                                <p:cTn id="397" presetID="10" presetClass="entr" presetSubtype="0" fill="hold" nodeType="withEffect">
                                  <p:stCondLst>
                                    <p:cond delay="0"/>
                                  </p:stCondLst>
                                  <p:childTnLst>
                                    <p:set>
                                      <p:cBhvr>
                                        <p:cTn id="398" dur="1" fill="hold">
                                          <p:stCondLst>
                                            <p:cond delay="0"/>
                                          </p:stCondLst>
                                        </p:cTn>
                                        <p:tgtEl>
                                          <p:spTgt spid="5328"/>
                                        </p:tgtEl>
                                        <p:attrNameLst>
                                          <p:attrName>style.visibility</p:attrName>
                                        </p:attrNameLst>
                                      </p:cBhvr>
                                      <p:to>
                                        <p:strVal val="visible"/>
                                      </p:to>
                                    </p:set>
                                    <p:animEffect transition="in" filter="fade">
                                      <p:cBhvr>
                                        <p:cTn id="399" dur="500"/>
                                        <p:tgtEl>
                                          <p:spTgt spid="5328"/>
                                        </p:tgtEl>
                                      </p:cBhvr>
                                    </p:animEffect>
                                  </p:childTnLst>
                                </p:cTn>
                              </p:par>
                              <p:par>
                                <p:cTn id="400" presetID="10" presetClass="entr" presetSubtype="0" fill="hold" nodeType="withEffect">
                                  <p:stCondLst>
                                    <p:cond delay="0"/>
                                  </p:stCondLst>
                                  <p:childTnLst>
                                    <p:set>
                                      <p:cBhvr>
                                        <p:cTn id="401" dur="1" fill="hold">
                                          <p:stCondLst>
                                            <p:cond delay="0"/>
                                          </p:stCondLst>
                                        </p:cTn>
                                        <p:tgtEl>
                                          <p:spTgt spid="5329"/>
                                        </p:tgtEl>
                                        <p:attrNameLst>
                                          <p:attrName>style.visibility</p:attrName>
                                        </p:attrNameLst>
                                      </p:cBhvr>
                                      <p:to>
                                        <p:strVal val="visible"/>
                                      </p:to>
                                    </p:set>
                                    <p:animEffect transition="in" filter="fade">
                                      <p:cBhvr>
                                        <p:cTn id="402" dur="500"/>
                                        <p:tgtEl>
                                          <p:spTgt spid="5329"/>
                                        </p:tgtEl>
                                      </p:cBhvr>
                                    </p:animEffect>
                                  </p:childTnLst>
                                </p:cTn>
                              </p:par>
                              <p:par>
                                <p:cTn id="403" presetID="10" presetClass="entr" presetSubtype="0" fill="hold" nodeType="withEffect">
                                  <p:stCondLst>
                                    <p:cond delay="0"/>
                                  </p:stCondLst>
                                  <p:childTnLst>
                                    <p:set>
                                      <p:cBhvr>
                                        <p:cTn id="404" dur="1" fill="hold">
                                          <p:stCondLst>
                                            <p:cond delay="0"/>
                                          </p:stCondLst>
                                        </p:cTn>
                                        <p:tgtEl>
                                          <p:spTgt spid="5330"/>
                                        </p:tgtEl>
                                        <p:attrNameLst>
                                          <p:attrName>style.visibility</p:attrName>
                                        </p:attrNameLst>
                                      </p:cBhvr>
                                      <p:to>
                                        <p:strVal val="visible"/>
                                      </p:to>
                                    </p:set>
                                    <p:animEffect transition="in" filter="fade">
                                      <p:cBhvr>
                                        <p:cTn id="405" dur="500"/>
                                        <p:tgtEl>
                                          <p:spTgt spid="5330"/>
                                        </p:tgtEl>
                                      </p:cBhvr>
                                    </p:animEffect>
                                  </p:childTnLst>
                                </p:cTn>
                              </p:par>
                              <p:par>
                                <p:cTn id="406" presetID="10" presetClass="entr" presetSubtype="0" fill="hold" nodeType="withEffect">
                                  <p:stCondLst>
                                    <p:cond delay="0"/>
                                  </p:stCondLst>
                                  <p:childTnLst>
                                    <p:set>
                                      <p:cBhvr>
                                        <p:cTn id="407" dur="1" fill="hold">
                                          <p:stCondLst>
                                            <p:cond delay="0"/>
                                          </p:stCondLst>
                                        </p:cTn>
                                        <p:tgtEl>
                                          <p:spTgt spid="5331"/>
                                        </p:tgtEl>
                                        <p:attrNameLst>
                                          <p:attrName>style.visibility</p:attrName>
                                        </p:attrNameLst>
                                      </p:cBhvr>
                                      <p:to>
                                        <p:strVal val="visible"/>
                                      </p:to>
                                    </p:set>
                                    <p:animEffect transition="in" filter="fade">
                                      <p:cBhvr>
                                        <p:cTn id="408" dur="500"/>
                                        <p:tgtEl>
                                          <p:spTgt spid="5331"/>
                                        </p:tgtEl>
                                      </p:cBhvr>
                                    </p:animEffect>
                                  </p:childTnLst>
                                </p:cTn>
                              </p:par>
                              <p:par>
                                <p:cTn id="409" presetID="10" presetClass="entr" presetSubtype="0" fill="hold" nodeType="withEffect">
                                  <p:stCondLst>
                                    <p:cond delay="0"/>
                                  </p:stCondLst>
                                  <p:childTnLst>
                                    <p:set>
                                      <p:cBhvr>
                                        <p:cTn id="410" dur="1" fill="hold">
                                          <p:stCondLst>
                                            <p:cond delay="0"/>
                                          </p:stCondLst>
                                        </p:cTn>
                                        <p:tgtEl>
                                          <p:spTgt spid="5332"/>
                                        </p:tgtEl>
                                        <p:attrNameLst>
                                          <p:attrName>style.visibility</p:attrName>
                                        </p:attrNameLst>
                                      </p:cBhvr>
                                      <p:to>
                                        <p:strVal val="visible"/>
                                      </p:to>
                                    </p:set>
                                    <p:animEffect transition="in" filter="fade">
                                      <p:cBhvr>
                                        <p:cTn id="411" dur="500"/>
                                        <p:tgtEl>
                                          <p:spTgt spid="5332"/>
                                        </p:tgtEl>
                                      </p:cBhvr>
                                    </p:animEffect>
                                  </p:childTnLst>
                                </p:cTn>
                              </p:par>
                              <p:par>
                                <p:cTn id="412" presetID="10" presetClass="entr" presetSubtype="0" fill="hold" nodeType="withEffect">
                                  <p:stCondLst>
                                    <p:cond delay="0"/>
                                  </p:stCondLst>
                                  <p:childTnLst>
                                    <p:set>
                                      <p:cBhvr>
                                        <p:cTn id="413" dur="1" fill="hold">
                                          <p:stCondLst>
                                            <p:cond delay="0"/>
                                          </p:stCondLst>
                                        </p:cTn>
                                        <p:tgtEl>
                                          <p:spTgt spid="5333"/>
                                        </p:tgtEl>
                                        <p:attrNameLst>
                                          <p:attrName>style.visibility</p:attrName>
                                        </p:attrNameLst>
                                      </p:cBhvr>
                                      <p:to>
                                        <p:strVal val="visible"/>
                                      </p:to>
                                    </p:set>
                                    <p:animEffect transition="in" filter="fade">
                                      <p:cBhvr>
                                        <p:cTn id="414" dur="500"/>
                                        <p:tgtEl>
                                          <p:spTgt spid="5333"/>
                                        </p:tgtEl>
                                      </p:cBhvr>
                                    </p:animEffect>
                                  </p:childTnLst>
                                </p:cTn>
                              </p:par>
                              <p:par>
                                <p:cTn id="415" presetID="10" presetClass="entr" presetSubtype="0" fill="hold" nodeType="withEffect">
                                  <p:stCondLst>
                                    <p:cond delay="0"/>
                                  </p:stCondLst>
                                  <p:childTnLst>
                                    <p:set>
                                      <p:cBhvr>
                                        <p:cTn id="416" dur="1" fill="hold">
                                          <p:stCondLst>
                                            <p:cond delay="0"/>
                                          </p:stCondLst>
                                        </p:cTn>
                                        <p:tgtEl>
                                          <p:spTgt spid="5334"/>
                                        </p:tgtEl>
                                        <p:attrNameLst>
                                          <p:attrName>style.visibility</p:attrName>
                                        </p:attrNameLst>
                                      </p:cBhvr>
                                      <p:to>
                                        <p:strVal val="visible"/>
                                      </p:to>
                                    </p:set>
                                    <p:animEffect transition="in" filter="fade">
                                      <p:cBhvr>
                                        <p:cTn id="417" dur="500"/>
                                        <p:tgtEl>
                                          <p:spTgt spid="5334"/>
                                        </p:tgtEl>
                                      </p:cBhvr>
                                    </p:animEffect>
                                  </p:childTnLst>
                                </p:cTn>
                              </p:par>
                              <p:par>
                                <p:cTn id="418" presetID="10" presetClass="entr" presetSubtype="0" fill="hold" nodeType="withEffect">
                                  <p:stCondLst>
                                    <p:cond delay="0"/>
                                  </p:stCondLst>
                                  <p:childTnLst>
                                    <p:set>
                                      <p:cBhvr>
                                        <p:cTn id="419" dur="1" fill="hold">
                                          <p:stCondLst>
                                            <p:cond delay="0"/>
                                          </p:stCondLst>
                                        </p:cTn>
                                        <p:tgtEl>
                                          <p:spTgt spid="5335"/>
                                        </p:tgtEl>
                                        <p:attrNameLst>
                                          <p:attrName>style.visibility</p:attrName>
                                        </p:attrNameLst>
                                      </p:cBhvr>
                                      <p:to>
                                        <p:strVal val="visible"/>
                                      </p:to>
                                    </p:set>
                                    <p:animEffect transition="in" filter="fade">
                                      <p:cBhvr>
                                        <p:cTn id="420" dur="500"/>
                                        <p:tgtEl>
                                          <p:spTgt spid="5335"/>
                                        </p:tgtEl>
                                      </p:cBhvr>
                                    </p:animEffect>
                                  </p:childTnLst>
                                </p:cTn>
                              </p:par>
                              <p:par>
                                <p:cTn id="421" presetID="10" presetClass="entr" presetSubtype="0" fill="hold" nodeType="withEffect">
                                  <p:stCondLst>
                                    <p:cond delay="0"/>
                                  </p:stCondLst>
                                  <p:childTnLst>
                                    <p:set>
                                      <p:cBhvr>
                                        <p:cTn id="422" dur="1" fill="hold">
                                          <p:stCondLst>
                                            <p:cond delay="0"/>
                                          </p:stCondLst>
                                        </p:cTn>
                                        <p:tgtEl>
                                          <p:spTgt spid="5336"/>
                                        </p:tgtEl>
                                        <p:attrNameLst>
                                          <p:attrName>style.visibility</p:attrName>
                                        </p:attrNameLst>
                                      </p:cBhvr>
                                      <p:to>
                                        <p:strVal val="visible"/>
                                      </p:to>
                                    </p:set>
                                    <p:animEffect transition="in" filter="fade">
                                      <p:cBhvr>
                                        <p:cTn id="423" dur="500"/>
                                        <p:tgtEl>
                                          <p:spTgt spid="5336"/>
                                        </p:tgtEl>
                                      </p:cBhvr>
                                    </p:animEffect>
                                  </p:childTnLst>
                                </p:cTn>
                              </p:par>
                              <p:par>
                                <p:cTn id="424" presetID="10" presetClass="entr" presetSubtype="0" fill="hold" nodeType="withEffect">
                                  <p:stCondLst>
                                    <p:cond delay="0"/>
                                  </p:stCondLst>
                                  <p:childTnLst>
                                    <p:set>
                                      <p:cBhvr>
                                        <p:cTn id="425" dur="1" fill="hold">
                                          <p:stCondLst>
                                            <p:cond delay="0"/>
                                          </p:stCondLst>
                                        </p:cTn>
                                        <p:tgtEl>
                                          <p:spTgt spid="5337"/>
                                        </p:tgtEl>
                                        <p:attrNameLst>
                                          <p:attrName>style.visibility</p:attrName>
                                        </p:attrNameLst>
                                      </p:cBhvr>
                                      <p:to>
                                        <p:strVal val="visible"/>
                                      </p:to>
                                    </p:set>
                                    <p:animEffect transition="in" filter="fade">
                                      <p:cBhvr>
                                        <p:cTn id="426" dur="500"/>
                                        <p:tgtEl>
                                          <p:spTgt spid="5337"/>
                                        </p:tgtEl>
                                      </p:cBhvr>
                                    </p:animEffect>
                                  </p:childTnLst>
                                </p:cTn>
                              </p:par>
                              <p:par>
                                <p:cTn id="427" presetID="10" presetClass="entr" presetSubtype="0" fill="hold" nodeType="withEffect">
                                  <p:stCondLst>
                                    <p:cond delay="0"/>
                                  </p:stCondLst>
                                  <p:childTnLst>
                                    <p:set>
                                      <p:cBhvr>
                                        <p:cTn id="428" dur="1" fill="hold">
                                          <p:stCondLst>
                                            <p:cond delay="0"/>
                                          </p:stCondLst>
                                        </p:cTn>
                                        <p:tgtEl>
                                          <p:spTgt spid="5338"/>
                                        </p:tgtEl>
                                        <p:attrNameLst>
                                          <p:attrName>style.visibility</p:attrName>
                                        </p:attrNameLst>
                                      </p:cBhvr>
                                      <p:to>
                                        <p:strVal val="visible"/>
                                      </p:to>
                                    </p:set>
                                    <p:animEffect transition="in" filter="fade">
                                      <p:cBhvr>
                                        <p:cTn id="429" dur="500"/>
                                        <p:tgtEl>
                                          <p:spTgt spid="5338"/>
                                        </p:tgtEl>
                                      </p:cBhvr>
                                    </p:animEffect>
                                  </p:childTnLst>
                                </p:cTn>
                              </p:par>
                              <p:par>
                                <p:cTn id="430" presetID="10" presetClass="entr" presetSubtype="0" fill="hold" nodeType="withEffect">
                                  <p:stCondLst>
                                    <p:cond delay="0"/>
                                  </p:stCondLst>
                                  <p:childTnLst>
                                    <p:set>
                                      <p:cBhvr>
                                        <p:cTn id="431" dur="1" fill="hold">
                                          <p:stCondLst>
                                            <p:cond delay="0"/>
                                          </p:stCondLst>
                                        </p:cTn>
                                        <p:tgtEl>
                                          <p:spTgt spid="5339"/>
                                        </p:tgtEl>
                                        <p:attrNameLst>
                                          <p:attrName>style.visibility</p:attrName>
                                        </p:attrNameLst>
                                      </p:cBhvr>
                                      <p:to>
                                        <p:strVal val="visible"/>
                                      </p:to>
                                    </p:set>
                                    <p:animEffect transition="in" filter="fade">
                                      <p:cBhvr>
                                        <p:cTn id="432" dur="500"/>
                                        <p:tgtEl>
                                          <p:spTgt spid="5339"/>
                                        </p:tgtEl>
                                      </p:cBhvr>
                                    </p:animEffect>
                                  </p:childTnLst>
                                </p:cTn>
                              </p:par>
                              <p:par>
                                <p:cTn id="433" presetID="10" presetClass="entr" presetSubtype="0" fill="hold" nodeType="withEffect">
                                  <p:stCondLst>
                                    <p:cond delay="0"/>
                                  </p:stCondLst>
                                  <p:childTnLst>
                                    <p:set>
                                      <p:cBhvr>
                                        <p:cTn id="434" dur="1" fill="hold">
                                          <p:stCondLst>
                                            <p:cond delay="0"/>
                                          </p:stCondLst>
                                        </p:cTn>
                                        <p:tgtEl>
                                          <p:spTgt spid="5340"/>
                                        </p:tgtEl>
                                        <p:attrNameLst>
                                          <p:attrName>style.visibility</p:attrName>
                                        </p:attrNameLst>
                                      </p:cBhvr>
                                      <p:to>
                                        <p:strVal val="visible"/>
                                      </p:to>
                                    </p:set>
                                    <p:animEffect transition="in" filter="fade">
                                      <p:cBhvr>
                                        <p:cTn id="435" dur="500"/>
                                        <p:tgtEl>
                                          <p:spTgt spid="5340"/>
                                        </p:tgtEl>
                                      </p:cBhvr>
                                    </p:animEffect>
                                  </p:childTnLst>
                                </p:cTn>
                              </p:par>
                              <p:par>
                                <p:cTn id="436" presetID="10" presetClass="entr" presetSubtype="0" fill="hold" nodeType="withEffect">
                                  <p:stCondLst>
                                    <p:cond delay="0"/>
                                  </p:stCondLst>
                                  <p:childTnLst>
                                    <p:set>
                                      <p:cBhvr>
                                        <p:cTn id="437" dur="1" fill="hold">
                                          <p:stCondLst>
                                            <p:cond delay="0"/>
                                          </p:stCondLst>
                                        </p:cTn>
                                        <p:tgtEl>
                                          <p:spTgt spid="5341"/>
                                        </p:tgtEl>
                                        <p:attrNameLst>
                                          <p:attrName>style.visibility</p:attrName>
                                        </p:attrNameLst>
                                      </p:cBhvr>
                                      <p:to>
                                        <p:strVal val="visible"/>
                                      </p:to>
                                    </p:set>
                                    <p:animEffect transition="in" filter="fade">
                                      <p:cBhvr>
                                        <p:cTn id="438" dur="500"/>
                                        <p:tgtEl>
                                          <p:spTgt spid="5341"/>
                                        </p:tgtEl>
                                      </p:cBhvr>
                                    </p:animEffect>
                                  </p:childTnLst>
                                </p:cTn>
                              </p:par>
                              <p:par>
                                <p:cTn id="439" presetID="10" presetClass="entr" presetSubtype="0" fill="hold" nodeType="withEffect">
                                  <p:stCondLst>
                                    <p:cond delay="0"/>
                                  </p:stCondLst>
                                  <p:childTnLst>
                                    <p:set>
                                      <p:cBhvr>
                                        <p:cTn id="440" dur="1" fill="hold">
                                          <p:stCondLst>
                                            <p:cond delay="0"/>
                                          </p:stCondLst>
                                        </p:cTn>
                                        <p:tgtEl>
                                          <p:spTgt spid="5342"/>
                                        </p:tgtEl>
                                        <p:attrNameLst>
                                          <p:attrName>style.visibility</p:attrName>
                                        </p:attrNameLst>
                                      </p:cBhvr>
                                      <p:to>
                                        <p:strVal val="visible"/>
                                      </p:to>
                                    </p:set>
                                    <p:animEffect transition="in" filter="fade">
                                      <p:cBhvr>
                                        <p:cTn id="441" dur="500"/>
                                        <p:tgtEl>
                                          <p:spTgt spid="5342"/>
                                        </p:tgtEl>
                                      </p:cBhvr>
                                    </p:animEffect>
                                  </p:childTnLst>
                                </p:cTn>
                              </p:par>
                              <p:par>
                                <p:cTn id="442" presetID="10" presetClass="entr" presetSubtype="0" fill="hold" nodeType="withEffect">
                                  <p:stCondLst>
                                    <p:cond delay="0"/>
                                  </p:stCondLst>
                                  <p:childTnLst>
                                    <p:set>
                                      <p:cBhvr>
                                        <p:cTn id="443" dur="1" fill="hold">
                                          <p:stCondLst>
                                            <p:cond delay="0"/>
                                          </p:stCondLst>
                                        </p:cTn>
                                        <p:tgtEl>
                                          <p:spTgt spid="5343"/>
                                        </p:tgtEl>
                                        <p:attrNameLst>
                                          <p:attrName>style.visibility</p:attrName>
                                        </p:attrNameLst>
                                      </p:cBhvr>
                                      <p:to>
                                        <p:strVal val="visible"/>
                                      </p:to>
                                    </p:set>
                                    <p:animEffect transition="in" filter="fade">
                                      <p:cBhvr>
                                        <p:cTn id="444" dur="500"/>
                                        <p:tgtEl>
                                          <p:spTgt spid="5343"/>
                                        </p:tgtEl>
                                      </p:cBhvr>
                                    </p:animEffect>
                                  </p:childTnLst>
                                </p:cTn>
                              </p:par>
                              <p:par>
                                <p:cTn id="445" presetID="10" presetClass="entr" presetSubtype="0" fill="hold" nodeType="withEffect">
                                  <p:stCondLst>
                                    <p:cond delay="0"/>
                                  </p:stCondLst>
                                  <p:childTnLst>
                                    <p:set>
                                      <p:cBhvr>
                                        <p:cTn id="446" dur="1" fill="hold">
                                          <p:stCondLst>
                                            <p:cond delay="0"/>
                                          </p:stCondLst>
                                        </p:cTn>
                                        <p:tgtEl>
                                          <p:spTgt spid="5344"/>
                                        </p:tgtEl>
                                        <p:attrNameLst>
                                          <p:attrName>style.visibility</p:attrName>
                                        </p:attrNameLst>
                                      </p:cBhvr>
                                      <p:to>
                                        <p:strVal val="visible"/>
                                      </p:to>
                                    </p:set>
                                    <p:animEffect transition="in" filter="fade">
                                      <p:cBhvr>
                                        <p:cTn id="447" dur="500"/>
                                        <p:tgtEl>
                                          <p:spTgt spid="5344"/>
                                        </p:tgtEl>
                                      </p:cBhvr>
                                    </p:animEffect>
                                  </p:childTnLst>
                                </p:cTn>
                              </p:par>
                              <p:par>
                                <p:cTn id="448" presetID="10" presetClass="entr" presetSubtype="0" fill="hold" nodeType="withEffect">
                                  <p:stCondLst>
                                    <p:cond delay="0"/>
                                  </p:stCondLst>
                                  <p:childTnLst>
                                    <p:set>
                                      <p:cBhvr>
                                        <p:cTn id="449" dur="1" fill="hold">
                                          <p:stCondLst>
                                            <p:cond delay="0"/>
                                          </p:stCondLst>
                                        </p:cTn>
                                        <p:tgtEl>
                                          <p:spTgt spid="5345"/>
                                        </p:tgtEl>
                                        <p:attrNameLst>
                                          <p:attrName>style.visibility</p:attrName>
                                        </p:attrNameLst>
                                      </p:cBhvr>
                                      <p:to>
                                        <p:strVal val="visible"/>
                                      </p:to>
                                    </p:set>
                                    <p:animEffect transition="in" filter="fade">
                                      <p:cBhvr>
                                        <p:cTn id="450" dur="500"/>
                                        <p:tgtEl>
                                          <p:spTgt spid="5345"/>
                                        </p:tgtEl>
                                      </p:cBhvr>
                                    </p:animEffect>
                                  </p:childTnLst>
                                </p:cTn>
                              </p:par>
                              <p:par>
                                <p:cTn id="451" presetID="10" presetClass="entr" presetSubtype="0" fill="hold" nodeType="withEffect">
                                  <p:stCondLst>
                                    <p:cond delay="0"/>
                                  </p:stCondLst>
                                  <p:childTnLst>
                                    <p:set>
                                      <p:cBhvr>
                                        <p:cTn id="452" dur="1" fill="hold">
                                          <p:stCondLst>
                                            <p:cond delay="0"/>
                                          </p:stCondLst>
                                        </p:cTn>
                                        <p:tgtEl>
                                          <p:spTgt spid="5346"/>
                                        </p:tgtEl>
                                        <p:attrNameLst>
                                          <p:attrName>style.visibility</p:attrName>
                                        </p:attrNameLst>
                                      </p:cBhvr>
                                      <p:to>
                                        <p:strVal val="visible"/>
                                      </p:to>
                                    </p:set>
                                    <p:animEffect transition="in" filter="fade">
                                      <p:cBhvr>
                                        <p:cTn id="453" dur="500"/>
                                        <p:tgtEl>
                                          <p:spTgt spid="5346"/>
                                        </p:tgtEl>
                                      </p:cBhvr>
                                    </p:animEffect>
                                  </p:childTnLst>
                                </p:cTn>
                              </p:par>
                              <p:par>
                                <p:cTn id="454" presetID="10" presetClass="entr" presetSubtype="0" fill="hold" nodeType="withEffect">
                                  <p:stCondLst>
                                    <p:cond delay="0"/>
                                  </p:stCondLst>
                                  <p:childTnLst>
                                    <p:set>
                                      <p:cBhvr>
                                        <p:cTn id="455" dur="1" fill="hold">
                                          <p:stCondLst>
                                            <p:cond delay="0"/>
                                          </p:stCondLst>
                                        </p:cTn>
                                        <p:tgtEl>
                                          <p:spTgt spid="5347"/>
                                        </p:tgtEl>
                                        <p:attrNameLst>
                                          <p:attrName>style.visibility</p:attrName>
                                        </p:attrNameLst>
                                      </p:cBhvr>
                                      <p:to>
                                        <p:strVal val="visible"/>
                                      </p:to>
                                    </p:set>
                                    <p:animEffect transition="in" filter="fade">
                                      <p:cBhvr>
                                        <p:cTn id="456" dur="500"/>
                                        <p:tgtEl>
                                          <p:spTgt spid="5347"/>
                                        </p:tgtEl>
                                      </p:cBhvr>
                                    </p:animEffect>
                                  </p:childTnLst>
                                </p:cTn>
                              </p:par>
                              <p:par>
                                <p:cTn id="457" presetID="10" presetClass="entr" presetSubtype="0" fill="hold" nodeType="withEffect">
                                  <p:stCondLst>
                                    <p:cond delay="0"/>
                                  </p:stCondLst>
                                  <p:childTnLst>
                                    <p:set>
                                      <p:cBhvr>
                                        <p:cTn id="458" dur="1" fill="hold">
                                          <p:stCondLst>
                                            <p:cond delay="0"/>
                                          </p:stCondLst>
                                        </p:cTn>
                                        <p:tgtEl>
                                          <p:spTgt spid="5348"/>
                                        </p:tgtEl>
                                        <p:attrNameLst>
                                          <p:attrName>style.visibility</p:attrName>
                                        </p:attrNameLst>
                                      </p:cBhvr>
                                      <p:to>
                                        <p:strVal val="visible"/>
                                      </p:to>
                                    </p:set>
                                    <p:animEffect transition="in" filter="fade">
                                      <p:cBhvr>
                                        <p:cTn id="459" dur="500"/>
                                        <p:tgtEl>
                                          <p:spTgt spid="5348"/>
                                        </p:tgtEl>
                                      </p:cBhvr>
                                    </p:animEffect>
                                  </p:childTnLst>
                                </p:cTn>
                              </p:par>
                              <p:par>
                                <p:cTn id="460" presetID="10" presetClass="entr" presetSubtype="0" fill="hold" nodeType="withEffect">
                                  <p:stCondLst>
                                    <p:cond delay="0"/>
                                  </p:stCondLst>
                                  <p:childTnLst>
                                    <p:set>
                                      <p:cBhvr>
                                        <p:cTn id="461" dur="1" fill="hold">
                                          <p:stCondLst>
                                            <p:cond delay="0"/>
                                          </p:stCondLst>
                                        </p:cTn>
                                        <p:tgtEl>
                                          <p:spTgt spid="5349"/>
                                        </p:tgtEl>
                                        <p:attrNameLst>
                                          <p:attrName>style.visibility</p:attrName>
                                        </p:attrNameLst>
                                      </p:cBhvr>
                                      <p:to>
                                        <p:strVal val="visible"/>
                                      </p:to>
                                    </p:set>
                                    <p:animEffect transition="in" filter="fade">
                                      <p:cBhvr>
                                        <p:cTn id="462" dur="500"/>
                                        <p:tgtEl>
                                          <p:spTgt spid="5349"/>
                                        </p:tgtEl>
                                      </p:cBhvr>
                                    </p:animEffect>
                                  </p:childTnLst>
                                </p:cTn>
                              </p:par>
                              <p:par>
                                <p:cTn id="463" presetID="10" presetClass="entr" presetSubtype="0" fill="hold" nodeType="withEffect">
                                  <p:stCondLst>
                                    <p:cond delay="0"/>
                                  </p:stCondLst>
                                  <p:childTnLst>
                                    <p:set>
                                      <p:cBhvr>
                                        <p:cTn id="464" dur="1" fill="hold">
                                          <p:stCondLst>
                                            <p:cond delay="0"/>
                                          </p:stCondLst>
                                        </p:cTn>
                                        <p:tgtEl>
                                          <p:spTgt spid="5350"/>
                                        </p:tgtEl>
                                        <p:attrNameLst>
                                          <p:attrName>style.visibility</p:attrName>
                                        </p:attrNameLst>
                                      </p:cBhvr>
                                      <p:to>
                                        <p:strVal val="visible"/>
                                      </p:to>
                                    </p:set>
                                    <p:animEffect transition="in" filter="fade">
                                      <p:cBhvr>
                                        <p:cTn id="465" dur="500"/>
                                        <p:tgtEl>
                                          <p:spTgt spid="5350"/>
                                        </p:tgtEl>
                                      </p:cBhvr>
                                    </p:animEffect>
                                  </p:childTnLst>
                                </p:cTn>
                              </p:par>
                              <p:par>
                                <p:cTn id="466" presetID="10" presetClass="entr" presetSubtype="0" fill="hold" nodeType="withEffect">
                                  <p:stCondLst>
                                    <p:cond delay="0"/>
                                  </p:stCondLst>
                                  <p:childTnLst>
                                    <p:set>
                                      <p:cBhvr>
                                        <p:cTn id="467" dur="1" fill="hold">
                                          <p:stCondLst>
                                            <p:cond delay="0"/>
                                          </p:stCondLst>
                                        </p:cTn>
                                        <p:tgtEl>
                                          <p:spTgt spid="5351"/>
                                        </p:tgtEl>
                                        <p:attrNameLst>
                                          <p:attrName>style.visibility</p:attrName>
                                        </p:attrNameLst>
                                      </p:cBhvr>
                                      <p:to>
                                        <p:strVal val="visible"/>
                                      </p:to>
                                    </p:set>
                                    <p:animEffect transition="in" filter="fade">
                                      <p:cBhvr>
                                        <p:cTn id="468" dur="500"/>
                                        <p:tgtEl>
                                          <p:spTgt spid="5351"/>
                                        </p:tgtEl>
                                      </p:cBhvr>
                                    </p:animEffect>
                                  </p:childTnLst>
                                </p:cTn>
                              </p:par>
                              <p:par>
                                <p:cTn id="469" presetID="10" presetClass="entr" presetSubtype="0" fill="hold" nodeType="withEffect">
                                  <p:stCondLst>
                                    <p:cond delay="0"/>
                                  </p:stCondLst>
                                  <p:childTnLst>
                                    <p:set>
                                      <p:cBhvr>
                                        <p:cTn id="470" dur="1" fill="hold">
                                          <p:stCondLst>
                                            <p:cond delay="0"/>
                                          </p:stCondLst>
                                        </p:cTn>
                                        <p:tgtEl>
                                          <p:spTgt spid="5352"/>
                                        </p:tgtEl>
                                        <p:attrNameLst>
                                          <p:attrName>style.visibility</p:attrName>
                                        </p:attrNameLst>
                                      </p:cBhvr>
                                      <p:to>
                                        <p:strVal val="visible"/>
                                      </p:to>
                                    </p:set>
                                    <p:animEffect transition="in" filter="fade">
                                      <p:cBhvr>
                                        <p:cTn id="471" dur="500"/>
                                        <p:tgtEl>
                                          <p:spTgt spid="5352"/>
                                        </p:tgtEl>
                                      </p:cBhvr>
                                    </p:animEffect>
                                  </p:childTnLst>
                                </p:cTn>
                              </p:par>
                              <p:par>
                                <p:cTn id="472" presetID="10" presetClass="entr" presetSubtype="0" fill="hold" nodeType="withEffect">
                                  <p:stCondLst>
                                    <p:cond delay="0"/>
                                  </p:stCondLst>
                                  <p:childTnLst>
                                    <p:set>
                                      <p:cBhvr>
                                        <p:cTn id="473" dur="1" fill="hold">
                                          <p:stCondLst>
                                            <p:cond delay="0"/>
                                          </p:stCondLst>
                                        </p:cTn>
                                        <p:tgtEl>
                                          <p:spTgt spid="5353"/>
                                        </p:tgtEl>
                                        <p:attrNameLst>
                                          <p:attrName>style.visibility</p:attrName>
                                        </p:attrNameLst>
                                      </p:cBhvr>
                                      <p:to>
                                        <p:strVal val="visible"/>
                                      </p:to>
                                    </p:set>
                                    <p:animEffect transition="in" filter="fade">
                                      <p:cBhvr>
                                        <p:cTn id="474" dur="500"/>
                                        <p:tgtEl>
                                          <p:spTgt spid="5353"/>
                                        </p:tgtEl>
                                      </p:cBhvr>
                                    </p:animEffect>
                                  </p:childTnLst>
                                </p:cTn>
                              </p:par>
                              <p:par>
                                <p:cTn id="475" presetID="10" presetClass="entr" presetSubtype="0" fill="hold" nodeType="withEffect">
                                  <p:stCondLst>
                                    <p:cond delay="0"/>
                                  </p:stCondLst>
                                  <p:childTnLst>
                                    <p:set>
                                      <p:cBhvr>
                                        <p:cTn id="476" dur="1" fill="hold">
                                          <p:stCondLst>
                                            <p:cond delay="0"/>
                                          </p:stCondLst>
                                        </p:cTn>
                                        <p:tgtEl>
                                          <p:spTgt spid="5354"/>
                                        </p:tgtEl>
                                        <p:attrNameLst>
                                          <p:attrName>style.visibility</p:attrName>
                                        </p:attrNameLst>
                                      </p:cBhvr>
                                      <p:to>
                                        <p:strVal val="visible"/>
                                      </p:to>
                                    </p:set>
                                    <p:animEffect transition="in" filter="fade">
                                      <p:cBhvr>
                                        <p:cTn id="477" dur="500"/>
                                        <p:tgtEl>
                                          <p:spTgt spid="5354"/>
                                        </p:tgtEl>
                                      </p:cBhvr>
                                    </p:animEffect>
                                  </p:childTnLst>
                                </p:cTn>
                              </p:par>
                              <p:par>
                                <p:cTn id="478" presetID="10" presetClass="entr" presetSubtype="0" fill="hold" nodeType="withEffect">
                                  <p:stCondLst>
                                    <p:cond delay="0"/>
                                  </p:stCondLst>
                                  <p:childTnLst>
                                    <p:set>
                                      <p:cBhvr>
                                        <p:cTn id="479" dur="1" fill="hold">
                                          <p:stCondLst>
                                            <p:cond delay="0"/>
                                          </p:stCondLst>
                                        </p:cTn>
                                        <p:tgtEl>
                                          <p:spTgt spid="5355"/>
                                        </p:tgtEl>
                                        <p:attrNameLst>
                                          <p:attrName>style.visibility</p:attrName>
                                        </p:attrNameLst>
                                      </p:cBhvr>
                                      <p:to>
                                        <p:strVal val="visible"/>
                                      </p:to>
                                    </p:set>
                                    <p:animEffect transition="in" filter="fade">
                                      <p:cBhvr>
                                        <p:cTn id="480" dur="500"/>
                                        <p:tgtEl>
                                          <p:spTgt spid="5355"/>
                                        </p:tgtEl>
                                      </p:cBhvr>
                                    </p:animEffect>
                                  </p:childTnLst>
                                </p:cTn>
                              </p:par>
                              <p:par>
                                <p:cTn id="481" presetID="10" presetClass="entr" presetSubtype="0" fill="hold" nodeType="withEffect">
                                  <p:stCondLst>
                                    <p:cond delay="0"/>
                                  </p:stCondLst>
                                  <p:childTnLst>
                                    <p:set>
                                      <p:cBhvr>
                                        <p:cTn id="482" dur="1" fill="hold">
                                          <p:stCondLst>
                                            <p:cond delay="0"/>
                                          </p:stCondLst>
                                        </p:cTn>
                                        <p:tgtEl>
                                          <p:spTgt spid="5356"/>
                                        </p:tgtEl>
                                        <p:attrNameLst>
                                          <p:attrName>style.visibility</p:attrName>
                                        </p:attrNameLst>
                                      </p:cBhvr>
                                      <p:to>
                                        <p:strVal val="visible"/>
                                      </p:to>
                                    </p:set>
                                    <p:animEffect transition="in" filter="fade">
                                      <p:cBhvr>
                                        <p:cTn id="483" dur="500"/>
                                        <p:tgtEl>
                                          <p:spTgt spid="5356"/>
                                        </p:tgtEl>
                                      </p:cBhvr>
                                    </p:animEffect>
                                  </p:childTnLst>
                                </p:cTn>
                              </p:par>
                              <p:par>
                                <p:cTn id="484" presetID="10" presetClass="entr" presetSubtype="0" fill="hold" nodeType="withEffect">
                                  <p:stCondLst>
                                    <p:cond delay="0"/>
                                  </p:stCondLst>
                                  <p:childTnLst>
                                    <p:set>
                                      <p:cBhvr>
                                        <p:cTn id="485" dur="1" fill="hold">
                                          <p:stCondLst>
                                            <p:cond delay="0"/>
                                          </p:stCondLst>
                                        </p:cTn>
                                        <p:tgtEl>
                                          <p:spTgt spid="5357"/>
                                        </p:tgtEl>
                                        <p:attrNameLst>
                                          <p:attrName>style.visibility</p:attrName>
                                        </p:attrNameLst>
                                      </p:cBhvr>
                                      <p:to>
                                        <p:strVal val="visible"/>
                                      </p:to>
                                    </p:set>
                                    <p:animEffect transition="in" filter="fade">
                                      <p:cBhvr>
                                        <p:cTn id="486" dur="500"/>
                                        <p:tgtEl>
                                          <p:spTgt spid="5357"/>
                                        </p:tgtEl>
                                      </p:cBhvr>
                                    </p:animEffect>
                                  </p:childTnLst>
                                </p:cTn>
                              </p:par>
                              <p:par>
                                <p:cTn id="487" presetID="10" presetClass="entr" presetSubtype="0" fill="hold" nodeType="withEffect">
                                  <p:stCondLst>
                                    <p:cond delay="0"/>
                                  </p:stCondLst>
                                  <p:childTnLst>
                                    <p:set>
                                      <p:cBhvr>
                                        <p:cTn id="488" dur="1" fill="hold">
                                          <p:stCondLst>
                                            <p:cond delay="0"/>
                                          </p:stCondLst>
                                        </p:cTn>
                                        <p:tgtEl>
                                          <p:spTgt spid="5358"/>
                                        </p:tgtEl>
                                        <p:attrNameLst>
                                          <p:attrName>style.visibility</p:attrName>
                                        </p:attrNameLst>
                                      </p:cBhvr>
                                      <p:to>
                                        <p:strVal val="visible"/>
                                      </p:to>
                                    </p:set>
                                    <p:animEffect transition="in" filter="fade">
                                      <p:cBhvr>
                                        <p:cTn id="489" dur="500"/>
                                        <p:tgtEl>
                                          <p:spTgt spid="5358"/>
                                        </p:tgtEl>
                                      </p:cBhvr>
                                    </p:animEffect>
                                  </p:childTnLst>
                                </p:cTn>
                              </p:par>
                              <p:par>
                                <p:cTn id="490" presetID="10" presetClass="entr" presetSubtype="0" fill="hold" nodeType="withEffect">
                                  <p:stCondLst>
                                    <p:cond delay="0"/>
                                  </p:stCondLst>
                                  <p:childTnLst>
                                    <p:set>
                                      <p:cBhvr>
                                        <p:cTn id="491" dur="1" fill="hold">
                                          <p:stCondLst>
                                            <p:cond delay="0"/>
                                          </p:stCondLst>
                                        </p:cTn>
                                        <p:tgtEl>
                                          <p:spTgt spid="5359"/>
                                        </p:tgtEl>
                                        <p:attrNameLst>
                                          <p:attrName>style.visibility</p:attrName>
                                        </p:attrNameLst>
                                      </p:cBhvr>
                                      <p:to>
                                        <p:strVal val="visible"/>
                                      </p:to>
                                    </p:set>
                                    <p:animEffect transition="in" filter="fade">
                                      <p:cBhvr>
                                        <p:cTn id="492" dur="500"/>
                                        <p:tgtEl>
                                          <p:spTgt spid="5359"/>
                                        </p:tgtEl>
                                      </p:cBhvr>
                                    </p:animEffect>
                                  </p:childTnLst>
                                </p:cTn>
                              </p:par>
                              <p:par>
                                <p:cTn id="493" presetID="10" presetClass="entr" presetSubtype="0" fill="hold" nodeType="withEffect">
                                  <p:stCondLst>
                                    <p:cond delay="0"/>
                                  </p:stCondLst>
                                  <p:childTnLst>
                                    <p:set>
                                      <p:cBhvr>
                                        <p:cTn id="494" dur="1" fill="hold">
                                          <p:stCondLst>
                                            <p:cond delay="0"/>
                                          </p:stCondLst>
                                        </p:cTn>
                                        <p:tgtEl>
                                          <p:spTgt spid="5360"/>
                                        </p:tgtEl>
                                        <p:attrNameLst>
                                          <p:attrName>style.visibility</p:attrName>
                                        </p:attrNameLst>
                                      </p:cBhvr>
                                      <p:to>
                                        <p:strVal val="visible"/>
                                      </p:to>
                                    </p:set>
                                    <p:animEffect transition="in" filter="fade">
                                      <p:cBhvr>
                                        <p:cTn id="495" dur="500"/>
                                        <p:tgtEl>
                                          <p:spTgt spid="5360"/>
                                        </p:tgtEl>
                                      </p:cBhvr>
                                    </p:animEffect>
                                  </p:childTnLst>
                                </p:cTn>
                              </p:par>
                              <p:par>
                                <p:cTn id="496" presetID="10" presetClass="entr" presetSubtype="0" fill="hold" nodeType="withEffect">
                                  <p:stCondLst>
                                    <p:cond delay="0"/>
                                  </p:stCondLst>
                                  <p:childTnLst>
                                    <p:set>
                                      <p:cBhvr>
                                        <p:cTn id="497" dur="1" fill="hold">
                                          <p:stCondLst>
                                            <p:cond delay="0"/>
                                          </p:stCondLst>
                                        </p:cTn>
                                        <p:tgtEl>
                                          <p:spTgt spid="5361"/>
                                        </p:tgtEl>
                                        <p:attrNameLst>
                                          <p:attrName>style.visibility</p:attrName>
                                        </p:attrNameLst>
                                      </p:cBhvr>
                                      <p:to>
                                        <p:strVal val="visible"/>
                                      </p:to>
                                    </p:set>
                                    <p:animEffect transition="in" filter="fade">
                                      <p:cBhvr>
                                        <p:cTn id="498" dur="500"/>
                                        <p:tgtEl>
                                          <p:spTgt spid="5361"/>
                                        </p:tgtEl>
                                      </p:cBhvr>
                                    </p:animEffect>
                                  </p:childTnLst>
                                </p:cTn>
                              </p:par>
                              <p:par>
                                <p:cTn id="499" presetID="10" presetClass="entr" presetSubtype="0" fill="hold" nodeType="withEffect">
                                  <p:stCondLst>
                                    <p:cond delay="0"/>
                                  </p:stCondLst>
                                  <p:childTnLst>
                                    <p:set>
                                      <p:cBhvr>
                                        <p:cTn id="500" dur="1" fill="hold">
                                          <p:stCondLst>
                                            <p:cond delay="0"/>
                                          </p:stCondLst>
                                        </p:cTn>
                                        <p:tgtEl>
                                          <p:spTgt spid="5362"/>
                                        </p:tgtEl>
                                        <p:attrNameLst>
                                          <p:attrName>style.visibility</p:attrName>
                                        </p:attrNameLst>
                                      </p:cBhvr>
                                      <p:to>
                                        <p:strVal val="visible"/>
                                      </p:to>
                                    </p:set>
                                    <p:animEffect transition="in" filter="fade">
                                      <p:cBhvr>
                                        <p:cTn id="501" dur="500"/>
                                        <p:tgtEl>
                                          <p:spTgt spid="5362"/>
                                        </p:tgtEl>
                                      </p:cBhvr>
                                    </p:animEffect>
                                  </p:childTnLst>
                                </p:cTn>
                              </p:par>
                              <p:par>
                                <p:cTn id="502" presetID="10" presetClass="entr" presetSubtype="0" fill="hold" nodeType="withEffect">
                                  <p:stCondLst>
                                    <p:cond delay="0"/>
                                  </p:stCondLst>
                                  <p:childTnLst>
                                    <p:set>
                                      <p:cBhvr>
                                        <p:cTn id="503" dur="1" fill="hold">
                                          <p:stCondLst>
                                            <p:cond delay="0"/>
                                          </p:stCondLst>
                                        </p:cTn>
                                        <p:tgtEl>
                                          <p:spTgt spid="5363"/>
                                        </p:tgtEl>
                                        <p:attrNameLst>
                                          <p:attrName>style.visibility</p:attrName>
                                        </p:attrNameLst>
                                      </p:cBhvr>
                                      <p:to>
                                        <p:strVal val="visible"/>
                                      </p:to>
                                    </p:set>
                                    <p:animEffect transition="in" filter="fade">
                                      <p:cBhvr>
                                        <p:cTn id="504" dur="500"/>
                                        <p:tgtEl>
                                          <p:spTgt spid="5363"/>
                                        </p:tgtEl>
                                      </p:cBhvr>
                                    </p:animEffect>
                                  </p:childTnLst>
                                </p:cTn>
                              </p:par>
                              <p:par>
                                <p:cTn id="505" presetID="10" presetClass="entr" presetSubtype="0" fill="hold" nodeType="withEffect">
                                  <p:stCondLst>
                                    <p:cond delay="0"/>
                                  </p:stCondLst>
                                  <p:childTnLst>
                                    <p:set>
                                      <p:cBhvr>
                                        <p:cTn id="506" dur="1" fill="hold">
                                          <p:stCondLst>
                                            <p:cond delay="0"/>
                                          </p:stCondLst>
                                        </p:cTn>
                                        <p:tgtEl>
                                          <p:spTgt spid="5364"/>
                                        </p:tgtEl>
                                        <p:attrNameLst>
                                          <p:attrName>style.visibility</p:attrName>
                                        </p:attrNameLst>
                                      </p:cBhvr>
                                      <p:to>
                                        <p:strVal val="visible"/>
                                      </p:to>
                                    </p:set>
                                    <p:animEffect transition="in" filter="fade">
                                      <p:cBhvr>
                                        <p:cTn id="507" dur="500"/>
                                        <p:tgtEl>
                                          <p:spTgt spid="5364"/>
                                        </p:tgtEl>
                                      </p:cBhvr>
                                    </p:animEffect>
                                  </p:childTnLst>
                                </p:cTn>
                              </p:par>
                              <p:par>
                                <p:cTn id="508" presetID="10" presetClass="entr" presetSubtype="0" fill="hold" nodeType="withEffect">
                                  <p:stCondLst>
                                    <p:cond delay="0"/>
                                  </p:stCondLst>
                                  <p:childTnLst>
                                    <p:set>
                                      <p:cBhvr>
                                        <p:cTn id="509" dur="1" fill="hold">
                                          <p:stCondLst>
                                            <p:cond delay="0"/>
                                          </p:stCondLst>
                                        </p:cTn>
                                        <p:tgtEl>
                                          <p:spTgt spid="5365"/>
                                        </p:tgtEl>
                                        <p:attrNameLst>
                                          <p:attrName>style.visibility</p:attrName>
                                        </p:attrNameLst>
                                      </p:cBhvr>
                                      <p:to>
                                        <p:strVal val="visible"/>
                                      </p:to>
                                    </p:set>
                                    <p:animEffect transition="in" filter="fade">
                                      <p:cBhvr>
                                        <p:cTn id="510" dur="500"/>
                                        <p:tgtEl>
                                          <p:spTgt spid="5365"/>
                                        </p:tgtEl>
                                      </p:cBhvr>
                                    </p:animEffect>
                                  </p:childTnLst>
                                </p:cTn>
                              </p:par>
                              <p:par>
                                <p:cTn id="511" presetID="10" presetClass="entr" presetSubtype="0" fill="hold" nodeType="withEffect">
                                  <p:stCondLst>
                                    <p:cond delay="0"/>
                                  </p:stCondLst>
                                  <p:childTnLst>
                                    <p:set>
                                      <p:cBhvr>
                                        <p:cTn id="512" dur="1" fill="hold">
                                          <p:stCondLst>
                                            <p:cond delay="0"/>
                                          </p:stCondLst>
                                        </p:cTn>
                                        <p:tgtEl>
                                          <p:spTgt spid="5366"/>
                                        </p:tgtEl>
                                        <p:attrNameLst>
                                          <p:attrName>style.visibility</p:attrName>
                                        </p:attrNameLst>
                                      </p:cBhvr>
                                      <p:to>
                                        <p:strVal val="visible"/>
                                      </p:to>
                                    </p:set>
                                    <p:animEffect transition="in" filter="fade">
                                      <p:cBhvr>
                                        <p:cTn id="513" dur="500"/>
                                        <p:tgtEl>
                                          <p:spTgt spid="5366"/>
                                        </p:tgtEl>
                                      </p:cBhvr>
                                    </p:animEffect>
                                  </p:childTnLst>
                                </p:cTn>
                              </p:par>
                              <p:par>
                                <p:cTn id="514" presetID="10" presetClass="entr" presetSubtype="0" fill="hold" nodeType="withEffect">
                                  <p:stCondLst>
                                    <p:cond delay="0"/>
                                  </p:stCondLst>
                                  <p:childTnLst>
                                    <p:set>
                                      <p:cBhvr>
                                        <p:cTn id="515" dur="1" fill="hold">
                                          <p:stCondLst>
                                            <p:cond delay="0"/>
                                          </p:stCondLst>
                                        </p:cTn>
                                        <p:tgtEl>
                                          <p:spTgt spid="5367"/>
                                        </p:tgtEl>
                                        <p:attrNameLst>
                                          <p:attrName>style.visibility</p:attrName>
                                        </p:attrNameLst>
                                      </p:cBhvr>
                                      <p:to>
                                        <p:strVal val="visible"/>
                                      </p:to>
                                    </p:set>
                                    <p:animEffect transition="in" filter="fade">
                                      <p:cBhvr>
                                        <p:cTn id="516" dur="500"/>
                                        <p:tgtEl>
                                          <p:spTgt spid="5367"/>
                                        </p:tgtEl>
                                      </p:cBhvr>
                                    </p:animEffect>
                                  </p:childTnLst>
                                </p:cTn>
                              </p:par>
                              <p:par>
                                <p:cTn id="517" presetID="10" presetClass="entr" presetSubtype="0" fill="hold" nodeType="withEffect">
                                  <p:stCondLst>
                                    <p:cond delay="0"/>
                                  </p:stCondLst>
                                  <p:childTnLst>
                                    <p:set>
                                      <p:cBhvr>
                                        <p:cTn id="518" dur="1" fill="hold">
                                          <p:stCondLst>
                                            <p:cond delay="0"/>
                                          </p:stCondLst>
                                        </p:cTn>
                                        <p:tgtEl>
                                          <p:spTgt spid="5368"/>
                                        </p:tgtEl>
                                        <p:attrNameLst>
                                          <p:attrName>style.visibility</p:attrName>
                                        </p:attrNameLst>
                                      </p:cBhvr>
                                      <p:to>
                                        <p:strVal val="visible"/>
                                      </p:to>
                                    </p:set>
                                    <p:animEffect transition="in" filter="fade">
                                      <p:cBhvr>
                                        <p:cTn id="519" dur="500"/>
                                        <p:tgtEl>
                                          <p:spTgt spid="5368"/>
                                        </p:tgtEl>
                                      </p:cBhvr>
                                    </p:animEffect>
                                  </p:childTnLst>
                                </p:cTn>
                              </p:par>
                              <p:par>
                                <p:cTn id="520" presetID="10" presetClass="entr" presetSubtype="0" fill="hold" nodeType="withEffect">
                                  <p:stCondLst>
                                    <p:cond delay="0"/>
                                  </p:stCondLst>
                                  <p:childTnLst>
                                    <p:set>
                                      <p:cBhvr>
                                        <p:cTn id="521" dur="1" fill="hold">
                                          <p:stCondLst>
                                            <p:cond delay="0"/>
                                          </p:stCondLst>
                                        </p:cTn>
                                        <p:tgtEl>
                                          <p:spTgt spid="5369"/>
                                        </p:tgtEl>
                                        <p:attrNameLst>
                                          <p:attrName>style.visibility</p:attrName>
                                        </p:attrNameLst>
                                      </p:cBhvr>
                                      <p:to>
                                        <p:strVal val="visible"/>
                                      </p:to>
                                    </p:set>
                                    <p:animEffect transition="in" filter="fade">
                                      <p:cBhvr>
                                        <p:cTn id="522" dur="500"/>
                                        <p:tgtEl>
                                          <p:spTgt spid="5369"/>
                                        </p:tgtEl>
                                      </p:cBhvr>
                                    </p:animEffect>
                                  </p:childTnLst>
                                </p:cTn>
                              </p:par>
                              <p:par>
                                <p:cTn id="523" presetID="10" presetClass="entr" presetSubtype="0" fill="hold" nodeType="withEffect">
                                  <p:stCondLst>
                                    <p:cond delay="0"/>
                                  </p:stCondLst>
                                  <p:childTnLst>
                                    <p:set>
                                      <p:cBhvr>
                                        <p:cTn id="524" dur="1" fill="hold">
                                          <p:stCondLst>
                                            <p:cond delay="0"/>
                                          </p:stCondLst>
                                        </p:cTn>
                                        <p:tgtEl>
                                          <p:spTgt spid="5370"/>
                                        </p:tgtEl>
                                        <p:attrNameLst>
                                          <p:attrName>style.visibility</p:attrName>
                                        </p:attrNameLst>
                                      </p:cBhvr>
                                      <p:to>
                                        <p:strVal val="visible"/>
                                      </p:to>
                                    </p:set>
                                    <p:animEffect transition="in" filter="fade">
                                      <p:cBhvr>
                                        <p:cTn id="525" dur="500"/>
                                        <p:tgtEl>
                                          <p:spTgt spid="5370"/>
                                        </p:tgtEl>
                                      </p:cBhvr>
                                    </p:animEffect>
                                  </p:childTnLst>
                                </p:cTn>
                              </p:par>
                              <p:par>
                                <p:cTn id="526" presetID="10" presetClass="entr" presetSubtype="0" fill="hold" nodeType="withEffect">
                                  <p:stCondLst>
                                    <p:cond delay="0"/>
                                  </p:stCondLst>
                                  <p:childTnLst>
                                    <p:set>
                                      <p:cBhvr>
                                        <p:cTn id="527" dur="1" fill="hold">
                                          <p:stCondLst>
                                            <p:cond delay="0"/>
                                          </p:stCondLst>
                                        </p:cTn>
                                        <p:tgtEl>
                                          <p:spTgt spid="5371"/>
                                        </p:tgtEl>
                                        <p:attrNameLst>
                                          <p:attrName>style.visibility</p:attrName>
                                        </p:attrNameLst>
                                      </p:cBhvr>
                                      <p:to>
                                        <p:strVal val="visible"/>
                                      </p:to>
                                    </p:set>
                                    <p:animEffect transition="in" filter="fade">
                                      <p:cBhvr>
                                        <p:cTn id="528" dur="500"/>
                                        <p:tgtEl>
                                          <p:spTgt spid="5371"/>
                                        </p:tgtEl>
                                      </p:cBhvr>
                                    </p:animEffect>
                                  </p:childTnLst>
                                </p:cTn>
                              </p:par>
                              <p:par>
                                <p:cTn id="529" presetID="10" presetClass="entr" presetSubtype="0" fill="hold" nodeType="withEffect">
                                  <p:stCondLst>
                                    <p:cond delay="0"/>
                                  </p:stCondLst>
                                  <p:childTnLst>
                                    <p:set>
                                      <p:cBhvr>
                                        <p:cTn id="530" dur="1" fill="hold">
                                          <p:stCondLst>
                                            <p:cond delay="0"/>
                                          </p:stCondLst>
                                        </p:cTn>
                                        <p:tgtEl>
                                          <p:spTgt spid="5372"/>
                                        </p:tgtEl>
                                        <p:attrNameLst>
                                          <p:attrName>style.visibility</p:attrName>
                                        </p:attrNameLst>
                                      </p:cBhvr>
                                      <p:to>
                                        <p:strVal val="visible"/>
                                      </p:to>
                                    </p:set>
                                    <p:animEffect transition="in" filter="fade">
                                      <p:cBhvr>
                                        <p:cTn id="531" dur="500"/>
                                        <p:tgtEl>
                                          <p:spTgt spid="5372"/>
                                        </p:tgtEl>
                                      </p:cBhvr>
                                    </p:animEffect>
                                  </p:childTnLst>
                                </p:cTn>
                              </p:par>
                            </p:childTnLst>
                          </p:cTn>
                        </p:par>
                        <p:par>
                          <p:cTn id="532" fill="hold">
                            <p:stCondLst>
                              <p:cond delay="3250"/>
                            </p:stCondLst>
                            <p:childTnLst>
                              <p:par>
                                <p:cTn id="533" presetID="10" presetClass="entr" presetSubtype="0" fill="hold" nodeType="afterEffect">
                                  <p:stCondLst>
                                    <p:cond delay="0"/>
                                  </p:stCondLst>
                                  <p:childTnLst>
                                    <p:set>
                                      <p:cBhvr>
                                        <p:cTn id="534" dur="1" fill="hold">
                                          <p:stCondLst>
                                            <p:cond delay="0"/>
                                          </p:stCondLst>
                                        </p:cTn>
                                        <p:tgtEl>
                                          <p:spTgt spid="5184"/>
                                        </p:tgtEl>
                                        <p:attrNameLst>
                                          <p:attrName>style.visibility</p:attrName>
                                        </p:attrNameLst>
                                      </p:cBhvr>
                                      <p:to>
                                        <p:strVal val="visible"/>
                                      </p:to>
                                    </p:set>
                                    <p:animEffect transition="in" filter="fade">
                                      <p:cBhvr>
                                        <p:cTn id="535" dur="250"/>
                                        <p:tgtEl>
                                          <p:spTgt spid="5184"/>
                                        </p:tgtEl>
                                      </p:cBhvr>
                                    </p:animEffect>
                                  </p:childTnLst>
                                </p:cTn>
                              </p:par>
                              <p:par>
                                <p:cTn id="536" presetID="10" presetClass="entr" presetSubtype="0" fill="hold" nodeType="withEffect">
                                  <p:stCondLst>
                                    <p:cond delay="0"/>
                                  </p:stCondLst>
                                  <p:childTnLst>
                                    <p:set>
                                      <p:cBhvr>
                                        <p:cTn id="537" dur="1" fill="hold">
                                          <p:stCondLst>
                                            <p:cond delay="0"/>
                                          </p:stCondLst>
                                        </p:cTn>
                                        <p:tgtEl>
                                          <p:spTgt spid="5190"/>
                                        </p:tgtEl>
                                        <p:attrNameLst>
                                          <p:attrName>style.visibility</p:attrName>
                                        </p:attrNameLst>
                                      </p:cBhvr>
                                      <p:to>
                                        <p:strVal val="visible"/>
                                      </p:to>
                                    </p:set>
                                    <p:animEffect transition="in" filter="fade">
                                      <p:cBhvr>
                                        <p:cTn id="538" dur="250"/>
                                        <p:tgtEl>
                                          <p:spTgt spid="5190"/>
                                        </p:tgtEl>
                                      </p:cBhvr>
                                    </p:animEffect>
                                  </p:childTnLst>
                                </p:cTn>
                              </p:par>
                              <p:par>
                                <p:cTn id="539" presetID="10" presetClass="entr" presetSubtype="0" fill="hold" nodeType="withEffect">
                                  <p:stCondLst>
                                    <p:cond delay="0"/>
                                  </p:stCondLst>
                                  <p:childTnLst>
                                    <p:set>
                                      <p:cBhvr>
                                        <p:cTn id="540" dur="1" fill="hold">
                                          <p:stCondLst>
                                            <p:cond delay="0"/>
                                          </p:stCondLst>
                                        </p:cTn>
                                        <p:tgtEl>
                                          <p:spTgt spid="5187"/>
                                        </p:tgtEl>
                                        <p:attrNameLst>
                                          <p:attrName>style.visibility</p:attrName>
                                        </p:attrNameLst>
                                      </p:cBhvr>
                                      <p:to>
                                        <p:strVal val="visible"/>
                                      </p:to>
                                    </p:set>
                                    <p:animEffect transition="in" filter="fade">
                                      <p:cBhvr>
                                        <p:cTn id="541" dur="250"/>
                                        <p:tgtEl>
                                          <p:spTgt spid="5187"/>
                                        </p:tgtEl>
                                      </p:cBhvr>
                                    </p:animEffect>
                                  </p:childTnLst>
                                </p:cTn>
                              </p:par>
                              <p:par>
                                <p:cTn id="542" presetID="10" presetClass="entr" presetSubtype="0" fill="hold" nodeType="withEffect">
                                  <p:stCondLst>
                                    <p:cond delay="0"/>
                                  </p:stCondLst>
                                  <p:childTnLst>
                                    <p:set>
                                      <p:cBhvr>
                                        <p:cTn id="543" dur="1" fill="hold">
                                          <p:stCondLst>
                                            <p:cond delay="0"/>
                                          </p:stCondLst>
                                        </p:cTn>
                                        <p:tgtEl>
                                          <p:spTgt spid="5193"/>
                                        </p:tgtEl>
                                        <p:attrNameLst>
                                          <p:attrName>style.visibility</p:attrName>
                                        </p:attrNameLst>
                                      </p:cBhvr>
                                      <p:to>
                                        <p:strVal val="visible"/>
                                      </p:to>
                                    </p:set>
                                    <p:animEffect transition="in" filter="fade">
                                      <p:cBhvr>
                                        <p:cTn id="544" dur="250"/>
                                        <p:tgtEl>
                                          <p:spTgt spid="5193"/>
                                        </p:tgtEl>
                                      </p:cBhvr>
                                    </p:animEffect>
                                  </p:childTnLst>
                                </p:cTn>
                              </p:par>
                              <p:par>
                                <p:cTn id="545" presetID="10" presetClass="entr" presetSubtype="0" fill="hold" nodeType="withEffect">
                                  <p:stCondLst>
                                    <p:cond delay="0"/>
                                  </p:stCondLst>
                                  <p:childTnLst>
                                    <p:set>
                                      <p:cBhvr>
                                        <p:cTn id="546" dur="1" fill="hold">
                                          <p:stCondLst>
                                            <p:cond delay="0"/>
                                          </p:stCondLst>
                                        </p:cTn>
                                        <p:tgtEl>
                                          <p:spTgt spid="5199"/>
                                        </p:tgtEl>
                                        <p:attrNameLst>
                                          <p:attrName>style.visibility</p:attrName>
                                        </p:attrNameLst>
                                      </p:cBhvr>
                                      <p:to>
                                        <p:strVal val="visible"/>
                                      </p:to>
                                    </p:set>
                                    <p:animEffect transition="in" filter="fade">
                                      <p:cBhvr>
                                        <p:cTn id="547" dur="250"/>
                                        <p:tgtEl>
                                          <p:spTgt spid="5199"/>
                                        </p:tgtEl>
                                      </p:cBhvr>
                                    </p:animEffect>
                                  </p:childTnLst>
                                </p:cTn>
                              </p:par>
                              <p:par>
                                <p:cTn id="548" presetID="10" presetClass="entr" presetSubtype="0" fill="hold" nodeType="withEffect">
                                  <p:stCondLst>
                                    <p:cond delay="0"/>
                                  </p:stCondLst>
                                  <p:childTnLst>
                                    <p:set>
                                      <p:cBhvr>
                                        <p:cTn id="549" dur="1" fill="hold">
                                          <p:stCondLst>
                                            <p:cond delay="0"/>
                                          </p:stCondLst>
                                        </p:cTn>
                                        <p:tgtEl>
                                          <p:spTgt spid="5196"/>
                                        </p:tgtEl>
                                        <p:attrNameLst>
                                          <p:attrName>style.visibility</p:attrName>
                                        </p:attrNameLst>
                                      </p:cBhvr>
                                      <p:to>
                                        <p:strVal val="visible"/>
                                      </p:to>
                                    </p:set>
                                    <p:animEffect transition="in" filter="fade">
                                      <p:cBhvr>
                                        <p:cTn id="550" dur="250"/>
                                        <p:tgtEl>
                                          <p:spTgt spid="5196"/>
                                        </p:tgtEl>
                                      </p:cBhvr>
                                    </p:animEffect>
                                  </p:childTnLst>
                                </p:cTn>
                              </p:par>
                              <p:par>
                                <p:cTn id="551" presetID="10" presetClass="entr" presetSubtype="0" fill="hold" nodeType="withEffect">
                                  <p:stCondLst>
                                    <p:cond delay="0"/>
                                  </p:stCondLst>
                                  <p:childTnLst>
                                    <p:set>
                                      <p:cBhvr>
                                        <p:cTn id="552" dur="1" fill="hold">
                                          <p:stCondLst>
                                            <p:cond delay="0"/>
                                          </p:stCondLst>
                                        </p:cTn>
                                        <p:tgtEl>
                                          <p:spTgt spid="5211"/>
                                        </p:tgtEl>
                                        <p:attrNameLst>
                                          <p:attrName>style.visibility</p:attrName>
                                        </p:attrNameLst>
                                      </p:cBhvr>
                                      <p:to>
                                        <p:strVal val="visible"/>
                                      </p:to>
                                    </p:set>
                                    <p:animEffect transition="in" filter="fade">
                                      <p:cBhvr>
                                        <p:cTn id="553" dur="250"/>
                                        <p:tgtEl>
                                          <p:spTgt spid="5211"/>
                                        </p:tgtEl>
                                      </p:cBhvr>
                                    </p:animEffect>
                                  </p:childTnLst>
                                </p:cTn>
                              </p:par>
                              <p:par>
                                <p:cTn id="554" presetID="10" presetClass="entr" presetSubtype="0" fill="hold" nodeType="withEffect">
                                  <p:stCondLst>
                                    <p:cond delay="0"/>
                                  </p:stCondLst>
                                  <p:childTnLst>
                                    <p:set>
                                      <p:cBhvr>
                                        <p:cTn id="555" dur="1" fill="hold">
                                          <p:stCondLst>
                                            <p:cond delay="0"/>
                                          </p:stCondLst>
                                        </p:cTn>
                                        <p:tgtEl>
                                          <p:spTgt spid="5202"/>
                                        </p:tgtEl>
                                        <p:attrNameLst>
                                          <p:attrName>style.visibility</p:attrName>
                                        </p:attrNameLst>
                                      </p:cBhvr>
                                      <p:to>
                                        <p:strVal val="visible"/>
                                      </p:to>
                                    </p:set>
                                    <p:animEffect transition="in" filter="fade">
                                      <p:cBhvr>
                                        <p:cTn id="556" dur="250"/>
                                        <p:tgtEl>
                                          <p:spTgt spid="5202"/>
                                        </p:tgtEl>
                                      </p:cBhvr>
                                    </p:animEffect>
                                  </p:childTnLst>
                                </p:cTn>
                              </p:par>
                              <p:par>
                                <p:cTn id="557" presetID="10" presetClass="entr" presetSubtype="0" fill="hold" nodeType="withEffect">
                                  <p:stCondLst>
                                    <p:cond delay="0"/>
                                  </p:stCondLst>
                                  <p:childTnLst>
                                    <p:set>
                                      <p:cBhvr>
                                        <p:cTn id="558" dur="1" fill="hold">
                                          <p:stCondLst>
                                            <p:cond delay="0"/>
                                          </p:stCondLst>
                                        </p:cTn>
                                        <p:tgtEl>
                                          <p:spTgt spid="5208"/>
                                        </p:tgtEl>
                                        <p:attrNameLst>
                                          <p:attrName>style.visibility</p:attrName>
                                        </p:attrNameLst>
                                      </p:cBhvr>
                                      <p:to>
                                        <p:strVal val="visible"/>
                                      </p:to>
                                    </p:set>
                                    <p:animEffect transition="in" filter="fade">
                                      <p:cBhvr>
                                        <p:cTn id="559" dur="250"/>
                                        <p:tgtEl>
                                          <p:spTgt spid="5208"/>
                                        </p:tgtEl>
                                      </p:cBhvr>
                                    </p:animEffect>
                                  </p:childTnLst>
                                </p:cTn>
                              </p:par>
                              <p:par>
                                <p:cTn id="560" presetID="10" presetClass="entr" presetSubtype="0" fill="hold" nodeType="withEffect">
                                  <p:stCondLst>
                                    <p:cond delay="0"/>
                                  </p:stCondLst>
                                  <p:childTnLst>
                                    <p:set>
                                      <p:cBhvr>
                                        <p:cTn id="561" dur="1" fill="hold">
                                          <p:stCondLst>
                                            <p:cond delay="0"/>
                                          </p:stCondLst>
                                        </p:cTn>
                                        <p:tgtEl>
                                          <p:spTgt spid="5205"/>
                                        </p:tgtEl>
                                        <p:attrNameLst>
                                          <p:attrName>style.visibility</p:attrName>
                                        </p:attrNameLst>
                                      </p:cBhvr>
                                      <p:to>
                                        <p:strVal val="visible"/>
                                      </p:to>
                                    </p:set>
                                    <p:animEffect transition="in" filter="fade">
                                      <p:cBhvr>
                                        <p:cTn id="562" dur="250"/>
                                        <p:tgtEl>
                                          <p:spTgt spid="5205"/>
                                        </p:tgtEl>
                                      </p:cBhvr>
                                    </p:animEffect>
                                  </p:childTnLst>
                                </p:cTn>
                              </p:par>
                            </p:childTnLst>
                          </p:cTn>
                        </p:par>
                        <p:par>
                          <p:cTn id="563" fill="hold">
                            <p:stCondLst>
                              <p:cond delay="3500"/>
                            </p:stCondLst>
                            <p:childTnLst>
                              <p:par>
                                <p:cTn id="564" presetID="10" presetClass="entr" presetSubtype="0" fill="hold" nodeType="afterEffect">
                                  <p:stCondLst>
                                    <p:cond delay="0"/>
                                  </p:stCondLst>
                                  <p:childTnLst>
                                    <p:set>
                                      <p:cBhvr>
                                        <p:cTn id="565" dur="1" fill="hold">
                                          <p:stCondLst>
                                            <p:cond delay="0"/>
                                          </p:stCondLst>
                                        </p:cTn>
                                        <p:tgtEl>
                                          <p:spTgt spid="5185"/>
                                        </p:tgtEl>
                                        <p:attrNameLst>
                                          <p:attrName>style.visibility</p:attrName>
                                        </p:attrNameLst>
                                      </p:cBhvr>
                                      <p:to>
                                        <p:strVal val="visible"/>
                                      </p:to>
                                    </p:set>
                                    <p:animEffect transition="in" filter="fade">
                                      <p:cBhvr>
                                        <p:cTn id="566" dur="250"/>
                                        <p:tgtEl>
                                          <p:spTgt spid="5185"/>
                                        </p:tgtEl>
                                      </p:cBhvr>
                                    </p:animEffect>
                                  </p:childTnLst>
                                </p:cTn>
                              </p:par>
                              <p:par>
                                <p:cTn id="567" presetID="10" presetClass="entr" presetSubtype="0" fill="hold" nodeType="withEffect">
                                  <p:stCondLst>
                                    <p:cond delay="0"/>
                                  </p:stCondLst>
                                  <p:childTnLst>
                                    <p:set>
                                      <p:cBhvr>
                                        <p:cTn id="568" dur="1" fill="hold">
                                          <p:stCondLst>
                                            <p:cond delay="0"/>
                                          </p:stCondLst>
                                        </p:cTn>
                                        <p:tgtEl>
                                          <p:spTgt spid="5191"/>
                                        </p:tgtEl>
                                        <p:attrNameLst>
                                          <p:attrName>style.visibility</p:attrName>
                                        </p:attrNameLst>
                                      </p:cBhvr>
                                      <p:to>
                                        <p:strVal val="visible"/>
                                      </p:to>
                                    </p:set>
                                    <p:animEffect transition="in" filter="fade">
                                      <p:cBhvr>
                                        <p:cTn id="569" dur="250"/>
                                        <p:tgtEl>
                                          <p:spTgt spid="5191"/>
                                        </p:tgtEl>
                                      </p:cBhvr>
                                    </p:animEffect>
                                  </p:childTnLst>
                                </p:cTn>
                              </p:par>
                              <p:par>
                                <p:cTn id="570" presetID="10" presetClass="entr" presetSubtype="0" fill="hold" nodeType="withEffect">
                                  <p:stCondLst>
                                    <p:cond delay="0"/>
                                  </p:stCondLst>
                                  <p:childTnLst>
                                    <p:set>
                                      <p:cBhvr>
                                        <p:cTn id="571" dur="1" fill="hold">
                                          <p:stCondLst>
                                            <p:cond delay="0"/>
                                          </p:stCondLst>
                                        </p:cTn>
                                        <p:tgtEl>
                                          <p:spTgt spid="5188"/>
                                        </p:tgtEl>
                                        <p:attrNameLst>
                                          <p:attrName>style.visibility</p:attrName>
                                        </p:attrNameLst>
                                      </p:cBhvr>
                                      <p:to>
                                        <p:strVal val="visible"/>
                                      </p:to>
                                    </p:set>
                                    <p:animEffect transition="in" filter="fade">
                                      <p:cBhvr>
                                        <p:cTn id="572" dur="250"/>
                                        <p:tgtEl>
                                          <p:spTgt spid="5188"/>
                                        </p:tgtEl>
                                      </p:cBhvr>
                                    </p:animEffect>
                                  </p:childTnLst>
                                </p:cTn>
                              </p:par>
                              <p:par>
                                <p:cTn id="573" presetID="10" presetClass="entr" presetSubtype="0" fill="hold" nodeType="withEffect">
                                  <p:stCondLst>
                                    <p:cond delay="0"/>
                                  </p:stCondLst>
                                  <p:childTnLst>
                                    <p:set>
                                      <p:cBhvr>
                                        <p:cTn id="574" dur="1" fill="hold">
                                          <p:stCondLst>
                                            <p:cond delay="0"/>
                                          </p:stCondLst>
                                        </p:cTn>
                                        <p:tgtEl>
                                          <p:spTgt spid="5194"/>
                                        </p:tgtEl>
                                        <p:attrNameLst>
                                          <p:attrName>style.visibility</p:attrName>
                                        </p:attrNameLst>
                                      </p:cBhvr>
                                      <p:to>
                                        <p:strVal val="visible"/>
                                      </p:to>
                                    </p:set>
                                    <p:animEffect transition="in" filter="fade">
                                      <p:cBhvr>
                                        <p:cTn id="575" dur="250"/>
                                        <p:tgtEl>
                                          <p:spTgt spid="5194"/>
                                        </p:tgtEl>
                                      </p:cBhvr>
                                    </p:animEffect>
                                  </p:childTnLst>
                                </p:cTn>
                              </p:par>
                              <p:par>
                                <p:cTn id="576" presetID="10" presetClass="entr" presetSubtype="0" fill="hold" nodeType="withEffect">
                                  <p:stCondLst>
                                    <p:cond delay="0"/>
                                  </p:stCondLst>
                                  <p:childTnLst>
                                    <p:set>
                                      <p:cBhvr>
                                        <p:cTn id="577" dur="1" fill="hold">
                                          <p:stCondLst>
                                            <p:cond delay="0"/>
                                          </p:stCondLst>
                                        </p:cTn>
                                        <p:tgtEl>
                                          <p:spTgt spid="5200"/>
                                        </p:tgtEl>
                                        <p:attrNameLst>
                                          <p:attrName>style.visibility</p:attrName>
                                        </p:attrNameLst>
                                      </p:cBhvr>
                                      <p:to>
                                        <p:strVal val="visible"/>
                                      </p:to>
                                    </p:set>
                                    <p:animEffect transition="in" filter="fade">
                                      <p:cBhvr>
                                        <p:cTn id="578" dur="250"/>
                                        <p:tgtEl>
                                          <p:spTgt spid="5200"/>
                                        </p:tgtEl>
                                      </p:cBhvr>
                                    </p:animEffect>
                                  </p:childTnLst>
                                </p:cTn>
                              </p:par>
                              <p:par>
                                <p:cTn id="579" presetID="10" presetClass="entr" presetSubtype="0" fill="hold" nodeType="withEffect">
                                  <p:stCondLst>
                                    <p:cond delay="0"/>
                                  </p:stCondLst>
                                  <p:childTnLst>
                                    <p:set>
                                      <p:cBhvr>
                                        <p:cTn id="580" dur="1" fill="hold">
                                          <p:stCondLst>
                                            <p:cond delay="0"/>
                                          </p:stCondLst>
                                        </p:cTn>
                                        <p:tgtEl>
                                          <p:spTgt spid="5197"/>
                                        </p:tgtEl>
                                        <p:attrNameLst>
                                          <p:attrName>style.visibility</p:attrName>
                                        </p:attrNameLst>
                                      </p:cBhvr>
                                      <p:to>
                                        <p:strVal val="visible"/>
                                      </p:to>
                                    </p:set>
                                    <p:animEffect transition="in" filter="fade">
                                      <p:cBhvr>
                                        <p:cTn id="581" dur="250"/>
                                        <p:tgtEl>
                                          <p:spTgt spid="5197"/>
                                        </p:tgtEl>
                                      </p:cBhvr>
                                    </p:animEffect>
                                  </p:childTnLst>
                                </p:cTn>
                              </p:par>
                              <p:par>
                                <p:cTn id="582" presetID="10" presetClass="entr" presetSubtype="0" fill="hold" nodeType="withEffect">
                                  <p:stCondLst>
                                    <p:cond delay="0"/>
                                  </p:stCondLst>
                                  <p:childTnLst>
                                    <p:set>
                                      <p:cBhvr>
                                        <p:cTn id="583" dur="1" fill="hold">
                                          <p:stCondLst>
                                            <p:cond delay="0"/>
                                          </p:stCondLst>
                                        </p:cTn>
                                        <p:tgtEl>
                                          <p:spTgt spid="5212"/>
                                        </p:tgtEl>
                                        <p:attrNameLst>
                                          <p:attrName>style.visibility</p:attrName>
                                        </p:attrNameLst>
                                      </p:cBhvr>
                                      <p:to>
                                        <p:strVal val="visible"/>
                                      </p:to>
                                    </p:set>
                                    <p:animEffect transition="in" filter="fade">
                                      <p:cBhvr>
                                        <p:cTn id="584" dur="250"/>
                                        <p:tgtEl>
                                          <p:spTgt spid="5212"/>
                                        </p:tgtEl>
                                      </p:cBhvr>
                                    </p:animEffect>
                                  </p:childTnLst>
                                </p:cTn>
                              </p:par>
                              <p:par>
                                <p:cTn id="585" presetID="10" presetClass="entr" presetSubtype="0" fill="hold" nodeType="withEffect">
                                  <p:stCondLst>
                                    <p:cond delay="0"/>
                                  </p:stCondLst>
                                  <p:childTnLst>
                                    <p:set>
                                      <p:cBhvr>
                                        <p:cTn id="586" dur="1" fill="hold">
                                          <p:stCondLst>
                                            <p:cond delay="0"/>
                                          </p:stCondLst>
                                        </p:cTn>
                                        <p:tgtEl>
                                          <p:spTgt spid="5203"/>
                                        </p:tgtEl>
                                        <p:attrNameLst>
                                          <p:attrName>style.visibility</p:attrName>
                                        </p:attrNameLst>
                                      </p:cBhvr>
                                      <p:to>
                                        <p:strVal val="visible"/>
                                      </p:to>
                                    </p:set>
                                    <p:animEffect transition="in" filter="fade">
                                      <p:cBhvr>
                                        <p:cTn id="587" dur="250"/>
                                        <p:tgtEl>
                                          <p:spTgt spid="5203"/>
                                        </p:tgtEl>
                                      </p:cBhvr>
                                    </p:animEffect>
                                  </p:childTnLst>
                                </p:cTn>
                              </p:par>
                              <p:par>
                                <p:cTn id="588" presetID="10" presetClass="entr" presetSubtype="0" fill="hold" nodeType="withEffect">
                                  <p:stCondLst>
                                    <p:cond delay="0"/>
                                  </p:stCondLst>
                                  <p:childTnLst>
                                    <p:set>
                                      <p:cBhvr>
                                        <p:cTn id="589" dur="1" fill="hold">
                                          <p:stCondLst>
                                            <p:cond delay="0"/>
                                          </p:stCondLst>
                                        </p:cTn>
                                        <p:tgtEl>
                                          <p:spTgt spid="5209"/>
                                        </p:tgtEl>
                                        <p:attrNameLst>
                                          <p:attrName>style.visibility</p:attrName>
                                        </p:attrNameLst>
                                      </p:cBhvr>
                                      <p:to>
                                        <p:strVal val="visible"/>
                                      </p:to>
                                    </p:set>
                                    <p:animEffect transition="in" filter="fade">
                                      <p:cBhvr>
                                        <p:cTn id="590" dur="250"/>
                                        <p:tgtEl>
                                          <p:spTgt spid="5209"/>
                                        </p:tgtEl>
                                      </p:cBhvr>
                                    </p:animEffect>
                                  </p:childTnLst>
                                </p:cTn>
                              </p:par>
                              <p:par>
                                <p:cTn id="591" presetID="10" presetClass="entr" presetSubtype="0" fill="hold" nodeType="withEffect">
                                  <p:stCondLst>
                                    <p:cond delay="0"/>
                                  </p:stCondLst>
                                  <p:childTnLst>
                                    <p:set>
                                      <p:cBhvr>
                                        <p:cTn id="592" dur="1" fill="hold">
                                          <p:stCondLst>
                                            <p:cond delay="0"/>
                                          </p:stCondLst>
                                        </p:cTn>
                                        <p:tgtEl>
                                          <p:spTgt spid="5206"/>
                                        </p:tgtEl>
                                        <p:attrNameLst>
                                          <p:attrName>style.visibility</p:attrName>
                                        </p:attrNameLst>
                                      </p:cBhvr>
                                      <p:to>
                                        <p:strVal val="visible"/>
                                      </p:to>
                                    </p:set>
                                    <p:animEffect transition="in" filter="fade">
                                      <p:cBhvr>
                                        <p:cTn id="593" dur="250"/>
                                        <p:tgtEl>
                                          <p:spTgt spid="5206"/>
                                        </p:tgtEl>
                                      </p:cBhvr>
                                    </p:animEffect>
                                  </p:childTnLst>
                                </p:cTn>
                              </p:par>
                            </p:childTnLst>
                          </p:cTn>
                        </p:par>
                        <p:par>
                          <p:cTn id="594" fill="hold">
                            <p:stCondLst>
                              <p:cond delay="3750"/>
                            </p:stCondLst>
                            <p:childTnLst>
                              <p:par>
                                <p:cTn id="595" presetID="10" presetClass="entr" presetSubtype="0" fill="hold" nodeType="afterEffect">
                                  <p:stCondLst>
                                    <p:cond delay="1250"/>
                                  </p:stCondLst>
                                  <p:childTnLst>
                                    <p:set>
                                      <p:cBhvr>
                                        <p:cTn id="596" dur="1" fill="hold">
                                          <p:stCondLst>
                                            <p:cond delay="0"/>
                                          </p:stCondLst>
                                        </p:cTn>
                                        <p:tgtEl>
                                          <p:spTgt spid="5380"/>
                                        </p:tgtEl>
                                        <p:attrNameLst>
                                          <p:attrName>style.visibility</p:attrName>
                                        </p:attrNameLst>
                                      </p:cBhvr>
                                      <p:to>
                                        <p:strVal val="visible"/>
                                      </p:to>
                                    </p:set>
                                    <p:animEffect transition="in" filter="fade">
                                      <p:cBhvr>
                                        <p:cTn id="597" dur="250"/>
                                        <p:tgtEl>
                                          <p:spTgt spid="5380"/>
                                        </p:tgtEl>
                                      </p:cBhvr>
                                    </p:animEffect>
                                  </p:childTnLst>
                                </p:cTn>
                              </p:par>
                            </p:childTnLst>
                          </p:cTn>
                        </p:par>
                        <p:par>
                          <p:cTn id="598" fill="hold">
                            <p:stCondLst>
                              <p:cond delay="4000"/>
                            </p:stCondLst>
                            <p:childTnLst>
                              <p:par>
                                <p:cTn id="599" presetID="10" presetClass="entr" presetSubtype="0" fill="hold" nodeType="afterEffect">
                                  <p:stCondLst>
                                    <p:cond delay="0"/>
                                  </p:stCondLst>
                                  <p:childTnLst>
                                    <p:set>
                                      <p:cBhvr>
                                        <p:cTn id="600" dur="1" fill="hold">
                                          <p:stCondLst>
                                            <p:cond delay="0"/>
                                          </p:stCondLst>
                                        </p:cTn>
                                        <p:tgtEl>
                                          <p:spTgt spid="5379"/>
                                        </p:tgtEl>
                                        <p:attrNameLst>
                                          <p:attrName>style.visibility</p:attrName>
                                        </p:attrNameLst>
                                      </p:cBhvr>
                                      <p:to>
                                        <p:strVal val="visible"/>
                                      </p:to>
                                    </p:set>
                                    <p:animEffect transition="in" filter="fade">
                                      <p:cBhvr>
                                        <p:cTn id="601" dur="250"/>
                                        <p:tgtEl>
                                          <p:spTgt spid="5379"/>
                                        </p:tgtEl>
                                      </p:cBhvr>
                                    </p:animEffect>
                                  </p:childTnLst>
                                </p:cTn>
                              </p:par>
                            </p:childTnLst>
                          </p:cTn>
                        </p:par>
                        <p:par>
                          <p:cTn id="602" fill="hold">
                            <p:stCondLst>
                              <p:cond delay="4250"/>
                            </p:stCondLst>
                            <p:childTnLst>
                              <p:par>
                                <p:cTn id="603" presetID="10" presetClass="entr" presetSubtype="0" fill="hold" nodeType="afterEffect">
                                  <p:stCondLst>
                                    <p:cond delay="0"/>
                                  </p:stCondLst>
                                  <p:childTnLst>
                                    <p:set>
                                      <p:cBhvr>
                                        <p:cTn id="604" dur="1" fill="hold">
                                          <p:stCondLst>
                                            <p:cond delay="0"/>
                                          </p:stCondLst>
                                        </p:cTn>
                                        <p:tgtEl>
                                          <p:spTgt spid="5374"/>
                                        </p:tgtEl>
                                        <p:attrNameLst>
                                          <p:attrName>style.visibility</p:attrName>
                                        </p:attrNameLst>
                                      </p:cBhvr>
                                      <p:to>
                                        <p:strVal val="visible"/>
                                      </p:to>
                                    </p:set>
                                    <p:animEffect transition="in" filter="fade">
                                      <p:cBhvr>
                                        <p:cTn id="605" dur="500"/>
                                        <p:tgtEl>
                                          <p:spTgt spid="5374"/>
                                        </p:tgtEl>
                                      </p:cBhvr>
                                    </p:animEffect>
                                  </p:childTnLst>
                                </p:cTn>
                              </p:par>
                            </p:childTnLst>
                          </p:cTn>
                        </p:par>
                        <p:par>
                          <p:cTn id="606" fill="hold">
                            <p:stCondLst>
                              <p:cond delay="4750"/>
                            </p:stCondLst>
                            <p:childTnLst>
                              <p:par>
                                <p:cTn id="607" presetID="10" presetClass="entr" presetSubtype="0" fill="hold" nodeType="afterEffect">
                                  <p:stCondLst>
                                    <p:cond delay="0"/>
                                  </p:stCondLst>
                                  <p:childTnLst>
                                    <p:set>
                                      <p:cBhvr>
                                        <p:cTn id="608" dur="1" fill="hold">
                                          <p:stCondLst>
                                            <p:cond delay="0"/>
                                          </p:stCondLst>
                                        </p:cTn>
                                        <p:tgtEl>
                                          <p:spTgt spid="5378"/>
                                        </p:tgtEl>
                                        <p:attrNameLst>
                                          <p:attrName>style.visibility</p:attrName>
                                        </p:attrNameLst>
                                      </p:cBhvr>
                                      <p:to>
                                        <p:strVal val="visible"/>
                                      </p:to>
                                    </p:set>
                                    <p:animEffect transition="in" filter="fade">
                                      <p:cBhvr>
                                        <p:cTn id="609" dur="500"/>
                                        <p:tgtEl>
                                          <p:spTgt spid="5378"/>
                                        </p:tgtEl>
                                      </p:cBhvr>
                                    </p:animEffect>
                                  </p:childTnLst>
                                </p:cTn>
                              </p:par>
                            </p:childTnLst>
                          </p:cTn>
                        </p:par>
                        <p:par>
                          <p:cTn id="610" fill="hold">
                            <p:stCondLst>
                              <p:cond delay="5250"/>
                            </p:stCondLst>
                            <p:childTnLst>
                              <p:par>
                                <p:cTn id="611" presetID="10" presetClass="entr" presetSubtype="0" fill="hold" nodeType="afterEffect">
                                  <p:stCondLst>
                                    <p:cond delay="0"/>
                                  </p:stCondLst>
                                  <p:childTnLst>
                                    <p:set>
                                      <p:cBhvr>
                                        <p:cTn id="612" dur="1" fill="hold">
                                          <p:stCondLst>
                                            <p:cond delay="0"/>
                                          </p:stCondLst>
                                        </p:cTn>
                                        <p:tgtEl>
                                          <p:spTgt spid="5377"/>
                                        </p:tgtEl>
                                        <p:attrNameLst>
                                          <p:attrName>style.visibility</p:attrName>
                                        </p:attrNameLst>
                                      </p:cBhvr>
                                      <p:to>
                                        <p:strVal val="visible"/>
                                      </p:to>
                                    </p:set>
                                    <p:animEffect transition="in" filter="fade">
                                      <p:cBhvr>
                                        <p:cTn id="613" dur="500"/>
                                        <p:tgtEl>
                                          <p:spTgt spid="5377"/>
                                        </p:tgtEl>
                                      </p:cBhvr>
                                    </p:animEffect>
                                  </p:childTnLst>
                                </p:cTn>
                              </p:par>
                            </p:childTnLst>
                          </p:cTn>
                        </p:par>
                        <p:par>
                          <p:cTn id="614" fill="hold">
                            <p:stCondLst>
                              <p:cond delay="5750"/>
                            </p:stCondLst>
                            <p:childTnLst>
                              <p:par>
                                <p:cTn id="615" presetID="10" presetClass="entr" presetSubtype="0" fill="hold" nodeType="afterEffect">
                                  <p:stCondLst>
                                    <p:cond delay="0"/>
                                  </p:stCondLst>
                                  <p:childTnLst>
                                    <p:set>
                                      <p:cBhvr>
                                        <p:cTn id="616" dur="1" fill="hold">
                                          <p:stCondLst>
                                            <p:cond delay="0"/>
                                          </p:stCondLst>
                                        </p:cTn>
                                        <p:tgtEl>
                                          <p:spTgt spid="5373"/>
                                        </p:tgtEl>
                                        <p:attrNameLst>
                                          <p:attrName>style.visibility</p:attrName>
                                        </p:attrNameLst>
                                      </p:cBhvr>
                                      <p:to>
                                        <p:strVal val="visible"/>
                                      </p:to>
                                    </p:set>
                                    <p:animEffect transition="in" filter="fade">
                                      <p:cBhvr>
                                        <p:cTn id="617" dur="500"/>
                                        <p:tgtEl>
                                          <p:spTgt spid="5373"/>
                                        </p:tgtEl>
                                      </p:cBhvr>
                                    </p:animEffect>
                                  </p:childTnLst>
                                </p:cTn>
                              </p:par>
                            </p:childTnLst>
                          </p:cTn>
                        </p:par>
                        <p:par>
                          <p:cTn id="618" fill="hold">
                            <p:stCondLst>
                              <p:cond delay="6250"/>
                            </p:stCondLst>
                            <p:childTnLst>
                              <p:par>
                                <p:cTn id="619" presetID="8" presetClass="emph" presetSubtype="0" fill="hold" nodeType="afterEffect">
                                  <p:stCondLst>
                                    <p:cond delay="0"/>
                                  </p:stCondLst>
                                  <p:childTnLst>
                                    <p:animRot by="-21600000">
                                      <p:cBhvr>
                                        <p:cTn id="620" dur="2000" fill="hold"/>
                                        <p:tgtEl>
                                          <p:spTgt spid="5374"/>
                                        </p:tgtEl>
                                        <p:attrNameLst>
                                          <p:attrName>r</p:attrName>
                                        </p:attrNameLst>
                                      </p:cBhvr>
                                    </p:animRot>
                                  </p:childTnLst>
                                </p:cTn>
                              </p:par>
                            </p:childTnLst>
                          </p:cTn>
                        </p:par>
                        <p:par>
                          <p:cTn id="621" fill="hold">
                            <p:stCondLst>
                              <p:cond delay="8250"/>
                            </p:stCondLst>
                            <p:childTnLst>
                              <p:par>
                                <p:cTn id="622" presetID="10" presetClass="entr" presetSubtype="0" fill="hold" nodeType="afterEffect">
                                  <p:stCondLst>
                                    <p:cond delay="500"/>
                                  </p:stCondLst>
                                  <p:childTnLst>
                                    <p:set>
                                      <p:cBhvr>
                                        <p:cTn id="623" dur="1" fill="hold">
                                          <p:stCondLst>
                                            <p:cond delay="0"/>
                                          </p:stCondLst>
                                        </p:cTn>
                                        <p:tgtEl>
                                          <p:spTgt spid="5381"/>
                                        </p:tgtEl>
                                        <p:attrNameLst>
                                          <p:attrName>style.visibility</p:attrName>
                                        </p:attrNameLst>
                                      </p:cBhvr>
                                      <p:to>
                                        <p:strVal val="visible"/>
                                      </p:to>
                                    </p:set>
                                    <p:animEffect transition="in" filter="fade">
                                      <p:cBhvr>
                                        <p:cTn id="624" dur="250"/>
                                        <p:tgtEl>
                                          <p:spTgt spid="5381"/>
                                        </p:tgtEl>
                                      </p:cBhvr>
                                    </p:animEffect>
                                  </p:childTnLst>
                                </p:cTn>
                              </p:par>
                              <p:par>
                                <p:cTn id="625" presetID="10" presetClass="entr" presetSubtype="0" fill="hold" nodeType="withEffect">
                                  <p:stCondLst>
                                    <p:cond delay="500"/>
                                  </p:stCondLst>
                                  <p:childTnLst>
                                    <p:set>
                                      <p:cBhvr>
                                        <p:cTn id="626" dur="1" fill="hold">
                                          <p:stCondLst>
                                            <p:cond delay="0"/>
                                          </p:stCondLst>
                                        </p:cTn>
                                        <p:tgtEl>
                                          <p:spTgt spid="5383"/>
                                        </p:tgtEl>
                                        <p:attrNameLst>
                                          <p:attrName>style.visibility</p:attrName>
                                        </p:attrNameLst>
                                      </p:cBhvr>
                                      <p:to>
                                        <p:strVal val="visible"/>
                                      </p:to>
                                    </p:set>
                                    <p:animEffect transition="in" filter="fade">
                                      <p:cBhvr>
                                        <p:cTn id="627" dur="250"/>
                                        <p:tgtEl>
                                          <p:spTgt spid="5383"/>
                                        </p:tgtEl>
                                      </p:cBhvr>
                                    </p:animEffect>
                                  </p:childTnLst>
                                </p:cTn>
                              </p:par>
                              <p:par>
                                <p:cTn id="628" presetID="10" presetClass="entr" presetSubtype="0" fill="hold" nodeType="withEffect">
                                  <p:stCondLst>
                                    <p:cond delay="500"/>
                                  </p:stCondLst>
                                  <p:childTnLst>
                                    <p:set>
                                      <p:cBhvr>
                                        <p:cTn id="629" dur="1" fill="hold">
                                          <p:stCondLst>
                                            <p:cond delay="0"/>
                                          </p:stCondLst>
                                        </p:cTn>
                                        <p:tgtEl>
                                          <p:spTgt spid="5382"/>
                                        </p:tgtEl>
                                        <p:attrNameLst>
                                          <p:attrName>style.visibility</p:attrName>
                                        </p:attrNameLst>
                                      </p:cBhvr>
                                      <p:to>
                                        <p:strVal val="visible"/>
                                      </p:to>
                                    </p:set>
                                    <p:animEffect transition="in" filter="fade">
                                      <p:cBhvr>
                                        <p:cTn id="630" dur="250"/>
                                        <p:tgtEl>
                                          <p:spTgt spid="5382"/>
                                        </p:tgtEl>
                                      </p:cBhvr>
                                    </p:animEffect>
                                  </p:childTnLst>
                                </p:cTn>
                              </p:par>
                            </p:childTnLst>
                          </p:cTn>
                        </p:par>
                        <p:par>
                          <p:cTn id="631" fill="hold">
                            <p:stCondLst>
                              <p:cond delay="8500"/>
                            </p:stCondLst>
                            <p:childTnLst>
                              <p:par>
                                <p:cTn id="632" presetID="10" presetClass="exit" presetSubtype="0" fill="hold" nodeType="afterEffect">
                                  <p:stCondLst>
                                    <p:cond delay="0"/>
                                  </p:stCondLst>
                                  <p:childTnLst>
                                    <p:animEffect transition="out" filter="fade">
                                      <p:cBhvr>
                                        <p:cTn id="633" dur="500"/>
                                        <p:tgtEl>
                                          <p:spTgt spid="5213"/>
                                        </p:tgtEl>
                                      </p:cBhvr>
                                    </p:animEffect>
                                    <p:set>
                                      <p:cBhvr>
                                        <p:cTn id="634" dur="1" fill="hold">
                                          <p:stCondLst>
                                            <p:cond delay="500"/>
                                          </p:stCondLst>
                                        </p:cTn>
                                        <p:tgtEl>
                                          <p:spTgt spid="5213"/>
                                        </p:tgtEl>
                                        <p:attrNameLst>
                                          <p:attrName>style.visibility</p:attrName>
                                        </p:attrNameLst>
                                      </p:cBhvr>
                                      <p:to>
                                        <p:strVal val="hidden"/>
                                      </p:to>
                                    </p:set>
                                  </p:childTnLst>
                                </p:cTn>
                              </p:par>
                              <p:par>
                                <p:cTn id="635" presetID="10" presetClass="exit" presetSubtype="0" fill="hold" nodeType="withEffect">
                                  <p:stCondLst>
                                    <p:cond delay="0"/>
                                  </p:stCondLst>
                                  <p:childTnLst>
                                    <p:animEffect transition="out" filter="fade">
                                      <p:cBhvr>
                                        <p:cTn id="636" dur="500"/>
                                        <p:tgtEl>
                                          <p:spTgt spid="5214"/>
                                        </p:tgtEl>
                                      </p:cBhvr>
                                    </p:animEffect>
                                    <p:set>
                                      <p:cBhvr>
                                        <p:cTn id="637" dur="1" fill="hold">
                                          <p:stCondLst>
                                            <p:cond delay="500"/>
                                          </p:stCondLst>
                                        </p:cTn>
                                        <p:tgtEl>
                                          <p:spTgt spid="5214"/>
                                        </p:tgtEl>
                                        <p:attrNameLst>
                                          <p:attrName>style.visibility</p:attrName>
                                        </p:attrNameLst>
                                      </p:cBhvr>
                                      <p:to>
                                        <p:strVal val="hidden"/>
                                      </p:to>
                                    </p:set>
                                  </p:childTnLst>
                                </p:cTn>
                              </p:par>
                              <p:par>
                                <p:cTn id="638" presetID="10" presetClass="exit" presetSubtype="0" fill="hold" nodeType="withEffect">
                                  <p:stCondLst>
                                    <p:cond delay="0"/>
                                  </p:stCondLst>
                                  <p:childTnLst>
                                    <p:animEffect transition="out" filter="fade">
                                      <p:cBhvr>
                                        <p:cTn id="639" dur="500"/>
                                        <p:tgtEl>
                                          <p:spTgt spid="5215"/>
                                        </p:tgtEl>
                                      </p:cBhvr>
                                    </p:animEffect>
                                    <p:set>
                                      <p:cBhvr>
                                        <p:cTn id="640" dur="1" fill="hold">
                                          <p:stCondLst>
                                            <p:cond delay="500"/>
                                          </p:stCondLst>
                                        </p:cTn>
                                        <p:tgtEl>
                                          <p:spTgt spid="5215"/>
                                        </p:tgtEl>
                                        <p:attrNameLst>
                                          <p:attrName>style.visibility</p:attrName>
                                        </p:attrNameLst>
                                      </p:cBhvr>
                                      <p:to>
                                        <p:strVal val="hidden"/>
                                      </p:to>
                                    </p:set>
                                  </p:childTnLst>
                                </p:cTn>
                              </p:par>
                              <p:par>
                                <p:cTn id="641" presetID="10" presetClass="exit" presetSubtype="0" fill="hold" nodeType="withEffect">
                                  <p:stCondLst>
                                    <p:cond delay="0"/>
                                  </p:stCondLst>
                                  <p:childTnLst>
                                    <p:animEffect transition="out" filter="fade">
                                      <p:cBhvr>
                                        <p:cTn id="642" dur="500"/>
                                        <p:tgtEl>
                                          <p:spTgt spid="5216"/>
                                        </p:tgtEl>
                                      </p:cBhvr>
                                    </p:animEffect>
                                    <p:set>
                                      <p:cBhvr>
                                        <p:cTn id="643" dur="1" fill="hold">
                                          <p:stCondLst>
                                            <p:cond delay="500"/>
                                          </p:stCondLst>
                                        </p:cTn>
                                        <p:tgtEl>
                                          <p:spTgt spid="5216"/>
                                        </p:tgtEl>
                                        <p:attrNameLst>
                                          <p:attrName>style.visibility</p:attrName>
                                        </p:attrNameLst>
                                      </p:cBhvr>
                                      <p:to>
                                        <p:strVal val="hidden"/>
                                      </p:to>
                                    </p:set>
                                  </p:childTnLst>
                                </p:cTn>
                              </p:par>
                              <p:par>
                                <p:cTn id="644" presetID="10" presetClass="exit" presetSubtype="0" fill="hold" nodeType="withEffect">
                                  <p:stCondLst>
                                    <p:cond delay="0"/>
                                  </p:stCondLst>
                                  <p:childTnLst>
                                    <p:animEffect transition="out" filter="fade">
                                      <p:cBhvr>
                                        <p:cTn id="645" dur="500"/>
                                        <p:tgtEl>
                                          <p:spTgt spid="5217"/>
                                        </p:tgtEl>
                                      </p:cBhvr>
                                    </p:animEffect>
                                    <p:set>
                                      <p:cBhvr>
                                        <p:cTn id="646" dur="1" fill="hold">
                                          <p:stCondLst>
                                            <p:cond delay="500"/>
                                          </p:stCondLst>
                                        </p:cTn>
                                        <p:tgtEl>
                                          <p:spTgt spid="5217"/>
                                        </p:tgtEl>
                                        <p:attrNameLst>
                                          <p:attrName>style.visibility</p:attrName>
                                        </p:attrNameLst>
                                      </p:cBhvr>
                                      <p:to>
                                        <p:strVal val="hidden"/>
                                      </p:to>
                                    </p:set>
                                  </p:childTnLst>
                                </p:cTn>
                              </p:par>
                              <p:par>
                                <p:cTn id="647" presetID="10" presetClass="exit" presetSubtype="0" fill="hold" nodeType="withEffect">
                                  <p:stCondLst>
                                    <p:cond delay="0"/>
                                  </p:stCondLst>
                                  <p:childTnLst>
                                    <p:animEffect transition="out" filter="fade">
                                      <p:cBhvr>
                                        <p:cTn id="648" dur="500"/>
                                        <p:tgtEl>
                                          <p:spTgt spid="5218"/>
                                        </p:tgtEl>
                                      </p:cBhvr>
                                    </p:animEffect>
                                    <p:set>
                                      <p:cBhvr>
                                        <p:cTn id="649" dur="1" fill="hold">
                                          <p:stCondLst>
                                            <p:cond delay="500"/>
                                          </p:stCondLst>
                                        </p:cTn>
                                        <p:tgtEl>
                                          <p:spTgt spid="5218"/>
                                        </p:tgtEl>
                                        <p:attrNameLst>
                                          <p:attrName>style.visibility</p:attrName>
                                        </p:attrNameLst>
                                      </p:cBhvr>
                                      <p:to>
                                        <p:strVal val="hidden"/>
                                      </p:to>
                                    </p:set>
                                  </p:childTnLst>
                                </p:cTn>
                              </p:par>
                              <p:par>
                                <p:cTn id="650" presetID="10" presetClass="exit" presetSubtype="0" fill="hold" nodeType="withEffect">
                                  <p:stCondLst>
                                    <p:cond delay="0"/>
                                  </p:stCondLst>
                                  <p:childTnLst>
                                    <p:animEffect transition="out" filter="fade">
                                      <p:cBhvr>
                                        <p:cTn id="651" dur="500"/>
                                        <p:tgtEl>
                                          <p:spTgt spid="5219"/>
                                        </p:tgtEl>
                                      </p:cBhvr>
                                    </p:animEffect>
                                    <p:set>
                                      <p:cBhvr>
                                        <p:cTn id="652" dur="1" fill="hold">
                                          <p:stCondLst>
                                            <p:cond delay="500"/>
                                          </p:stCondLst>
                                        </p:cTn>
                                        <p:tgtEl>
                                          <p:spTgt spid="5219"/>
                                        </p:tgtEl>
                                        <p:attrNameLst>
                                          <p:attrName>style.visibility</p:attrName>
                                        </p:attrNameLst>
                                      </p:cBhvr>
                                      <p:to>
                                        <p:strVal val="hidden"/>
                                      </p:to>
                                    </p:set>
                                  </p:childTnLst>
                                </p:cTn>
                              </p:par>
                              <p:par>
                                <p:cTn id="653" presetID="10" presetClass="exit" presetSubtype="0" fill="hold" nodeType="withEffect">
                                  <p:stCondLst>
                                    <p:cond delay="0"/>
                                  </p:stCondLst>
                                  <p:childTnLst>
                                    <p:animEffect transition="out" filter="fade">
                                      <p:cBhvr>
                                        <p:cTn id="654" dur="500"/>
                                        <p:tgtEl>
                                          <p:spTgt spid="5220"/>
                                        </p:tgtEl>
                                      </p:cBhvr>
                                    </p:animEffect>
                                    <p:set>
                                      <p:cBhvr>
                                        <p:cTn id="655" dur="1" fill="hold">
                                          <p:stCondLst>
                                            <p:cond delay="500"/>
                                          </p:stCondLst>
                                        </p:cTn>
                                        <p:tgtEl>
                                          <p:spTgt spid="5220"/>
                                        </p:tgtEl>
                                        <p:attrNameLst>
                                          <p:attrName>style.visibility</p:attrName>
                                        </p:attrNameLst>
                                      </p:cBhvr>
                                      <p:to>
                                        <p:strVal val="hidden"/>
                                      </p:to>
                                    </p:set>
                                  </p:childTnLst>
                                </p:cTn>
                              </p:par>
                              <p:par>
                                <p:cTn id="656" presetID="10" presetClass="exit" presetSubtype="0" fill="hold" nodeType="withEffect">
                                  <p:stCondLst>
                                    <p:cond delay="0"/>
                                  </p:stCondLst>
                                  <p:childTnLst>
                                    <p:animEffect transition="out" filter="fade">
                                      <p:cBhvr>
                                        <p:cTn id="657" dur="500"/>
                                        <p:tgtEl>
                                          <p:spTgt spid="5221"/>
                                        </p:tgtEl>
                                      </p:cBhvr>
                                    </p:animEffect>
                                    <p:set>
                                      <p:cBhvr>
                                        <p:cTn id="658" dur="1" fill="hold">
                                          <p:stCondLst>
                                            <p:cond delay="500"/>
                                          </p:stCondLst>
                                        </p:cTn>
                                        <p:tgtEl>
                                          <p:spTgt spid="5221"/>
                                        </p:tgtEl>
                                        <p:attrNameLst>
                                          <p:attrName>style.visibility</p:attrName>
                                        </p:attrNameLst>
                                      </p:cBhvr>
                                      <p:to>
                                        <p:strVal val="hidden"/>
                                      </p:to>
                                    </p:set>
                                  </p:childTnLst>
                                </p:cTn>
                              </p:par>
                              <p:par>
                                <p:cTn id="659" presetID="10" presetClass="exit" presetSubtype="0" fill="hold" nodeType="withEffect">
                                  <p:stCondLst>
                                    <p:cond delay="0"/>
                                  </p:stCondLst>
                                  <p:childTnLst>
                                    <p:animEffect transition="out" filter="fade">
                                      <p:cBhvr>
                                        <p:cTn id="660" dur="500"/>
                                        <p:tgtEl>
                                          <p:spTgt spid="5222"/>
                                        </p:tgtEl>
                                      </p:cBhvr>
                                    </p:animEffect>
                                    <p:set>
                                      <p:cBhvr>
                                        <p:cTn id="661" dur="1" fill="hold">
                                          <p:stCondLst>
                                            <p:cond delay="500"/>
                                          </p:stCondLst>
                                        </p:cTn>
                                        <p:tgtEl>
                                          <p:spTgt spid="5222"/>
                                        </p:tgtEl>
                                        <p:attrNameLst>
                                          <p:attrName>style.visibility</p:attrName>
                                        </p:attrNameLst>
                                      </p:cBhvr>
                                      <p:to>
                                        <p:strVal val="hidden"/>
                                      </p:to>
                                    </p:set>
                                  </p:childTnLst>
                                </p:cTn>
                              </p:par>
                              <p:par>
                                <p:cTn id="662" presetID="10" presetClass="exit" presetSubtype="0" fill="hold" nodeType="withEffect">
                                  <p:stCondLst>
                                    <p:cond delay="0"/>
                                  </p:stCondLst>
                                  <p:childTnLst>
                                    <p:animEffect transition="out" filter="fade">
                                      <p:cBhvr>
                                        <p:cTn id="663" dur="500"/>
                                        <p:tgtEl>
                                          <p:spTgt spid="5223"/>
                                        </p:tgtEl>
                                      </p:cBhvr>
                                    </p:animEffect>
                                    <p:set>
                                      <p:cBhvr>
                                        <p:cTn id="664" dur="1" fill="hold">
                                          <p:stCondLst>
                                            <p:cond delay="500"/>
                                          </p:stCondLst>
                                        </p:cTn>
                                        <p:tgtEl>
                                          <p:spTgt spid="5223"/>
                                        </p:tgtEl>
                                        <p:attrNameLst>
                                          <p:attrName>style.visibility</p:attrName>
                                        </p:attrNameLst>
                                      </p:cBhvr>
                                      <p:to>
                                        <p:strVal val="hidden"/>
                                      </p:to>
                                    </p:set>
                                  </p:childTnLst>
                                </p:cTn>
                              </p:par>
                              <p:par>
                                <p:cTn id="665" presetID="10" presetClass="exit" presetSubtype="0" fill="hold" nodeType="withEffect">
                                  <p:stCondLst>
                                    <p:cond delay="0"/>
                                  </p:stCondLst>
                                  <p:childTnLst>
                                    <p:animEffect transition="out" filter="fade">
                                      <p:cBhvr>
                                        <p:cTn id="666" dur="500"/>
                                        <p:tgtEl>
                                          <p:spTgt spid="5224"/>
                                        </p:tgtEl>
                                      </p:cBhvr>
                                    </p:animEffect>
                                    <p:set>
                                      <p:cBhvr>
                                        <p:cTn id="667" dur="1" fill="hold">
                                          <p:stCondLst>
                                            <p:cond delay="500"/>
                                          </p:stCondLst>
                                        </p:cTn>
                                        <p:tgtEl>
                                          <p:spTgt spid="5224"/>
                                        </p:tgtEl>
                                        <p:attrNameLst>
                                          <p:attrName>style.visibility</p:attrName>
                                        </p:attrNameLst>
                                      </p:cBhvr>
                                      <p:to>
                                        <p:strVal val="hidden"/>
                                      </p:to>
                                    </p:set>
                                  </p:childTnLst>
                                </p:cTn>
                              </p:par>
                              <p:par>
                                <p:cTn id="668" presetID="10" presetClass="exit" presetSubtype="0" fill="hold" nodeType="withEffect">
                                  <p:stCondLst>
                                    <p:cond delay="0"/>
                                  </p:stCondLst>
                                  <p:childTnLst>
                                    <p:animEffect transition="out" filter="fade">
                                      <p:cBhvr>
                                        <p:cTn id="669" dur="500"/>
                                        <p:tgtEl>
                                          <p:spTgt spid="5225"/>
                                        </p:tgtEl>
                                      </p:cBhvr>
                                    </p:animEffect>
                                    <p:set>
                                      <p:cBhvr>
                                        <p:cTn id="670" dur="1" fill="hold">
                                          <p:stCondLst>
                                            <p:cond delay="500"/>
                                          </p:stCondLst>
                                        </p:cTn>
                                        <p:tgtEl>
                                          <p:spTgt spid="5225"/>
                                        </p:tgtEl>
                                        <p:attrNameLst>
                                          <p:attrName>style.visibility</p:attrName>
                                        </p:attrNameLst>
                                      </p:cBhvr>
                                      <p:to>
                                        <p:strVal val="hidden"/>
                                      </p:to>
                                    </p:set>
                                  </p:childTnLst>
                                </p:cTn>
                              </p:par>
                              <p:par>
                                <p:cTn id="671" presetID="10" presetClass="exit" presetSubtype="0" fill="hold" nodeType="withEffect">
                                  <p:stCondLst>
                                    <p:cond delay="0"/>
                                  </p:stCondLst>
                                  <p:childTnLst>
                                    <p:animEffect transition="out" filter="fade">
                                      <p:cBhvr>
                                        <p:cTn id="672" dur="500"/>
                                        <p:tgtEl>
                                          <p:spTgt spid="5226"/>
                                        </p:tgtEl>
                                      </p:cBhvr>
                                    </p:animEffect>
                                    <p:set>
                                      <p:cBhvr>
                                        <p:cTn id="673" dur="1" fill="hold">
                                          <p:stCondLst>
                                            <p:cond delay="500"/>
                                          </p:stCondLst>
                                        </p:cTn>
                                        <p:tgtEl>
                                          <p:spTgt spid="5226"/>
                                        </p:tgtEl>
                                        <p:attrNameLst>
                                          <p:attrName>style.visibility</p:attrName>
                                        </p:attrNameLst>
                                      </p:cBhvr>
                                      <p:to>
                                        <p:strVal val="hidden"/>
                                      </p:to>
                                    </p:set>
                                  </p:childTnLst>
                                </p:cTn>
                              </p:par>
                              <p:par>
                                <p:cTn id="674" presetID="10" presetClass="exit" presetSubtype="0" fill="hold" nodeType="withEffect">
                                  <p:stCondLst>
                                    <p:cond delay="0"/>
                                  </p:stCondLst>
                                  <p:childTnLst>
                                    <p:animEffect transition="out" filter="fade">
                                      <p:cBhvr>
                                        <p:cTn id="675" dur="500"/>
                                        <p:tgtEl>
                                          <p:spTgt spid="5227"/>
                                        </p:tgtEl>
                                      </p:cBhvr>
                                    </p:animEffect>
                                    <p:set>
                                      <p:cBhvr>
                                        <p:cTn id="676" dur="1" fill="hold">
                                          <p:stCondLst>
                                            <p:cond delay="500"/>
                                          </p:stCondLst>
                                        </p:cTn>
                                        <p:tgtEl>
                                          <p:spTgt spid="5227"/>
                                        </p:tgtEl>
                                        <p:attrNameLst>
                                          <p:attrName>style.visibility</p:attrName>
                                        </p:attrNameLst>
                                      </p:cBhvr>
                                      <p:to>
                                        <p:strVal val="hidden"/>
                                      </p:to>
                                    </p:set>
                                  </p:childTnLst>
                                </p:cTn>
                              </p:par>
                              <p:par>
                                <p:cTn id="677" presetID="10" presetClass="exit" presetSubtype="0" fill="hold" nodeType="withEffect">
                                  <p:stCondLst>
                                    <p:cond delay="0"/>
                                  </p:stCondLst>
                                  <p:childTnLst>
                                    <p:animEffect transition="out" filter="fade">
                                      <p:cBhvr>
                                        <p:cTn id="678" dur="500"/>
                                        <p:tgtEl>
                                          <p:spTgt spid="5228"/>
                                        </p:tgtEl>
                                      </p:cBhvr>
                                    </p:animEffect>
                                    <p:set>
                                      <p:cBhvr>
                                        <p:cTn id="679" dur="1" fill="hold">
                                          <p:stCondLst>
                                            <p:cond delay="500"/>
                                          </p:stCondLst>
                                        </p:cTn>
                                        <p:tgtEl>
                                          <p:spTgt spid="5228"/>
                                        </p:tgtEl>
                                        <p:attrNameLst>
                                          <p:attrName>style.visibility</p:attrName>
                                        </p:attrNameLst>
                                      </p:cBhvr>
                                      <p:to>
                                        <p:strVal val="hidden"/>
                                      </p:to>
                                    </p:set>
                                  </p:childTnLst>
                                </p:cTn>
                              </p:par>
                              <p:par>
                                <p:cTn id="680" presetID="10" presetClass="exit" presetSubtype="0" fill="hold" nodeType="withEffect">
                                  <p:stCondLst>
                                    <p:cond delay="0"/>
                                  </p:stCondLst>
                                  <p:childTnLst>
                                    <p:animEffect transition="out" filter="fade">
                                      <p:cBhvr>
                                        <p:cTn id="681" dur="500"/>
                                        <p:tgtEl>
                                          <p:spTgt spid="5229"/>
                                        </p:tgtEl>
                                      </p:cBhvr>
                                    </p:animEffect>
                                    <p:set>
                                      <p:cBhvr>
                                        <p:cTn id="682" dur="1" fill="hold">
                                          <p:stCondLst>
                                            <p:cond delay="500"/>
                                          </p:stCondLst>
                                        </p:cTn>
                                        <p:tgtEl>
                                          <p:spTgt spid="5229"/>
                                        </p:tgtEl>
                                        <p:attrNameLst>
                                          <p:attrName>style.visibility</p:attrName>
                                        </p:attrNameLst>
                                      </p:cBhvr>
                                      <p:to>
                                        <p:strVal val="hidden"/>
                                      </p:to>
                                    </p:set>
                                  </p:childTnLst>
                                </p:cTn>
                              </p:par>
                              <p:par>
                                <p:cTn id="683" presetID="10" presetClass="exit" presetSubtype="0" fill="hold" nodeType="withEffect">
                                  <p:stCondLst>
                                    <p:cond delay="0"/>
                                  </p:stCondLst>
                                  <p:childTnLst>
                                    <p:animEffect transition="out" filter="fade">
                                      <p:cBhvr>
                                        <p:cTn id="684" dur="500"/>
                                        <p:tgtEl>
                                          <p:spTgt spid="5230"/>
                                        </p:tgtEl>
                                      </p:cBhvr>
                                    </p:animEffect>
                                    <p:set>
                                      <p:cBhvr>
                                        <p:cTn id="685" dur="1" fill="hold">
                                          <p:stCondLst>
                                            <p:cond delay="500"/>
                                          </p:stCondLst>
                                        </p:cTn>
                                        <p:tgtEl>
                                          <p:spTgt spid="5230"/>
                                        </p:tgtEl>
                                        <p:attrNameLst>
                                          <p:attrName>style.visibility</p:attrName>
                                        </p:attrNameLst>
                                      </p:cBhvr>
                                      <p:to>
                                        <p:strVal val="hidden"/>
                                      </p:to>
                                    </p:set>
                                  </p:childTnLst>
                                </p:cTn>
                              </p:par>
                              <p:par>
                                <p:cTn id="686" presetID="10" presetClass="exit" presetSubtype="0" fill="hold" nodeType="withEffect">
                                  <p:stCondLst>
                                    <p:cond delay="0"/>
                                  </p:stCondLst>
                                  <p:childTnLst>
                                    <p:animEffect transition="out" filter="fade">
                                      <p:cBhvr>
                                        <p:cTn id="687" dur="500"/>
                                        <p:tgtEl>
                                          <p:spTgt spid="5231"/>
                                        </p:tgtEl>
                                      </p:cBhvr>
                                    </p:animEffect>
                                    <p:set>
                                      <p:cBhvr>
                                        <p:cTn id="688" dur="1" fill="hold">
                                          <p:stCondLst>
                                            <p:cond delay="500"/>
                                          </p:stCondLst>
                                        </p:cTn>
                                        <p:tgtEl>
                                          <p:spTgt spid="5231"/>
                                        </p:tgtEl>
                                        <p:attrNameLst>
                                          <p:attrName>style.visibility</p:attrName>
                                        </p:attrNameLst>
                                      </p:cBhvr>
                                      <p:to>
                                        <p:strVal val="hidden"/>
                                      </p:to>
                                    </p:set>
                                  </p:childTnLst>
                                </p:cTn>
                              </p:par>
                              <p:par>
                                <p:cTn id="689" presetID="10" presetClass="exit" presetSubtype="0" fill="hold" nodeType="withEffect">
                                  <p:stCondLst>
                                    <p:cond delay="0"/>
                                  </p:stCondLst>
                                  <p:childTnLst>
                                    <p:animEffect transition="out" filter="fade">
                                      <p:cBhvr>
                                        <p:cTn id="690" dur="500"/>
                                        <p:tgtEl>
                                          <p:spTgt spid="5232"/>
                                        </p:tgtEl>
                                      </p:cBhvr>
                                    </p:animEffect>
                                    <p:set>
                                      <p:cBhvr>
                                        <p:cTn id="691" dur="1" fill="hold">
                                          <p:stCondLst>
                                            <p:cond delay="500"/>
                                          </p:stCondLst>
                                        </p:cTn>
                                        <p:tgtEl>
                                          <p:spTgt spid="5232"/>
                                        </p:tgtEl>
                                        <p:attrNameLst>
                                          <p:attrName>style.visibility</p:attrName>
                                        </p:attrNameLst>
                                      </p:cBhvr>
                                      <p:to>
                                        <p:strVal val="hidden"/>
                                      </p:to>
                                    </p:set>
                                  </p:childTnLst>
                                </p:cTn>
                              </p:par>
                              <p:par>
                                <p:cTn id="692" presetID="10" presetClass="exit" presetSubtype="0" fill="hold" nodeType="withEffect">
                                  <p:stCondLst>
                                    <p:cond delay="0"/>
                                  </p:stCondLst>
                                  <p:childTnLst>
                                    <p:animEffect transition="out" filter="fade">
                                      <p:cBhvr>
                                        <p:cTn id="693" dur="500"/>
                                        <p:tgtEl>
                                          <p:spTgt spid="5233"/>
                                        </p:tgtEl>
                                      </p:cBhvr>
                                    </p:animEffect>
                                    <p:set>
                                      <p:cBhvr>
                                        <p:cTn id="694" dur="1" fill="hold">
                                          <p:stCondLst>
                                            <p:cond delay="500"/>
                                          </p:stCondLst>
                                        </p:cTn>
                                        <p:tgtEl>
                                          <p:spTgt spid="5233"/>
                                        </p:tgtEl>
                                        <p:attrNameLst>
                                          <p:attrName>style.visibility</p:attrName>
                                        </p:attrNameLst>
                                      </p:cBhvr>
                                      <p:to>
                                        <p:strVal val="hidden"/>
                                      </p:to>
                                    </p:set>
                                  </p:childTnLst>
                                </p:cTn>
                              </p:par>
                              <p:par>
                                <p:cTn id="695" presetID="10" presetClass="exit" presetSubtype="0" fill="hold" nodeType="withEffect">
                                  <p:stCondLst>
                                    <p:cond delay="0"/>
                                  </p:stCondLst>
                                  <p:childTnLst>
                                    <p:animEffect transition="out" filter="fade">
                                      <p:cBhvr>
                                        <p:cTn id="696" dur="500"/>
                                        <p:tgtEl>
                                          <p:spTgt spid="5234"/>
                                        </p:tgtEl>
                                      </p:cBhvr>
                                    </p:animEffect>
                                    <p:set>
                                      <p:cBhvr>
                                        <p:cTn id="697" dur="1" fill="hold">
                                          <p:stCondLst>
                                            <p:cond delay="500"/>
                                          </p:stCondLst>
                                        </p:cTn>
                                        <p:tgtEl>
                                          <p:spTgt spid="5234"/>
                                        </p:tgtEl>
                                        <p:attrNameLst>
                                          <p:attrName>style.visibility</p:attrName>
                                        </p:attrNameLst>
                                      </p:cBhvr>
                                      <p:to>
                                        <p:strVal val="hidden"/>
                                      </p:to>
                                    </p:set>
                                  </p:childTnLst>
                                </p:cTn>
                              </p:par>
                              <p:par>
                                <p:cTn id="698" presetID="10" presetClass="exit" presetSubtype="0" fill="hold" nodeType="withEffect">
                                  <p:stCondLst>
                                    <p:cond delay="0"/>
                                  </p:stCondLst>
                                  <p:childTnLst>
                                    <p:animEffect transition="out" filter="fade">
                                      <p:cBhvr>
                                        <p:cTn id="699" dur="500"/>
                                        <p:tgtEl>
                                          <p:spTgt spid="5235"/>
                                        </p:tgtEl>
                                      </p:cBhvr>
                                    </p:animEffect>
                                    <p:set>
                                      <p:cBhvr>
                                        <p:cTn id="700" dur="1" fill="hold">
                                          <p:stCondLst>
                                            <p:cond delay="500"/>
                                          </p:stCondLst>
                                        </p:cTn>
                                        <p:tgtEl>
                                          <p:spTgt spid="5235"/>
                                        </p:tgtEl>
                                        <p:attrNameLst>
                                          <p:attrName>style.visibility</p:attrName>
                                        </p:attrNameLst>
                                      </p:cBhvr>
                                      <p:to>
                                        <p:strVal val="hidden"/>
                                      </p:to>
                                    </p:set>
                                  </p:childTnLst>
                                </p:cTn>
                              </p:par>
                              <p:par>
                                <p:cTn id="701" presetID="10" presetClass="exit" presetSubtype="0" fill="hold" nodeType="withEffect">
                                  <p:stCondLst>
                                    <p:cond delay="0"/>
                                  </p:stCondLst>
                                  <p:childTnLst>
                                    <p:animEffect transition="out" filter="fade">
                                      <p:cBhvr>
                                        <p:cTn id="702" dur="500"/>
                                        <p:tgtEl>
                                          <p:spTgt spid="5236"/>
                                        </p:tgtEl>
                                      </p:cBhvr>
                                    </p:animEffect>
                                    <p:set>
                                      <p:cBhvr>
                                        <p:cTn id="703" dur="1" fill="hold">
                                          <p:stCondLst>
                                            <p:cond delay="500"/>
                                          </p:stCondLst>
                                        </p:cTn>
                                        <p:tgtEl>
                                          <p:spTgt spid="5236"/>
                                        </p:tgtEl>
                                        <p:attrNameLst>
                                          <p:attrName>style.visibility</p:attrName>
                                        </p:attrNameLst>
                                      </p:cBhvr>
                                      <p:to>
                                        <p:strVal val="hidden"/>
                                      </p:to>
                                    </p:set>
                                  </p:childTnLst>
                                </p:cTn>
                              </p:par>
                              <p:par>
                                <p:cTn id="704" presetID="10" presetClass="exit" presetSubtype="0" fill="hold" nodeType="withEffect">
                                  <p:stCondLst>
                                    <p:cond delay="0"/>
                                  </p:stCondLst>
                                  <p:childTnLst>
                                    <p:animEffect transition="out" filter="fade">
                                      <p:cBhvr>
                                        <p:cTn id="705" dur="500"/>
                                        <p:tgtEl>
                                          <p:spTgt spid="5237"/>
                                        </p:tgtEl>
                                      </p:cBhvr>
                                    </p:animEffect>
                                    <p:set>
                                      <p:cBhvr>
                                        <p:cTn id="706" dur="1" fill="hold">
                                          <p:stCondLst>
                                            <p:cond delay="500"/>
                                          </p:stCondLst>
                                        </p:cTn>
                                        <p:tgtEl>
                                          <p:spTgt spid="5237"/>
                                        </p:tgtEl>
                                        <p:attrNameLst>
                                          <p:attrName>style.visibility</p:attrName>
                                        </p:attrNameLst>
                                      </p:cBhvr>
                                      <p:to>
                                        <p:strVal val="hidden"/>
                                      </p:to>
                                    </p:set>
                                  </p:childTnLst>
                                </p:cTn>
                              </p:par>
                              <p:par>
                                <p:cTn id="707" presetID="10" presetClass="exit" presetSubtype="0" fill="hold" nodeType="withEffect">
                                  <p:stCondLst>
                                    <p:cond delay="0"/>
                                  </p:stCondLst>
                                  <p:childTnLst>
                                    <p:animEffect transition="out" filter="fade">
                                      <p:cBhvr>
                                        <p:cTn id="708" dur="500"/>
                                        <p:tgtEl>
                                          <p:spTgt spid="5238"/>
                                        </p:tgtEl>
                                      </p:cBhvr>
                                    </p:animEffect>
                                    <p:set>
                                      <p:cBhvr>
                                        <p:cTn id="709" dur="1" fill="hold">
                                          <p:stCondLst>
                                            <p:cond delay="500"/>
                                          </p:stCondLst>
                                        </p:cTn>
                                        <p:tgtEl>
                                          <p:spTgt spid="5238"/>
                                        </p:tgtEl>
                                        <p:attrNameLst>
                                          <p:attrName>style.visibility</p:attrName>
                                        </p:attrNameLst>
                                      </p:cBhvr>
                                      <p:to>
                                        <p:strVal val="hidden"/>
                                      </p:to>
                                    </p:set>
                                  </p:childTnLst>
                                </p:cTn>
                              </p:par>
                              <p:par>
                                <p:cTn id="710" presetID="10" presetClass="exit" presetSubtype="0" fill="hold" nodeType="withEffect">
                                  <p:stCondLst>
                                    <p:cond delay="0"/>
                                  </p:stCondLst>
                                  <p:childTnLst>
                                    <p:animEffect transition="out" filter="fade">
                                      <p:cBhvr>
                                        <p:cTn id="711" dur="500"/>
                                        <p:tgtEl>
                                          <p:spTgt spid="5239"/>
                                        </p:tgtEl>
                                      </p:cBhvr>
                                    </p:animEffect>
                                    <p:set>
                                      <p:cBhvr>
                                        <p:cTn id="712" dur="1" fill="hold">
                                          <p:stCondLst>
                                            <p:cond delay="500"/>
                                          </p:stCondLst>
                                        </p:cTn>
                                        <p:tgtEl>
                                          <p:spTgt spid="5239"/>
                                        </p:tgtEl>
                                        <p:attrNameLst>
                                          <p:attrName>style.visibility</p:attrName>
                                        </p:attrNameLst>
                                      </p:cBhvr>
                                      <p:to>
                                        <p:strVal val="hidden"/>
                                      </p:to>
                                    </p:set>
                                  </p:childTnLst>
                                </p:cTn>
                              </p:par>
                              <p:par>
                                <p:cTn id="713" presetID="10" presetClass="exit" presetSubtype="0" fill="hold" nodeType="withEffect">
                                  <p:stCondLst>
                                    <p:cond delay="0"/>
                                  </p:stCondLst>
                                  <p:childTnLst>
                                    <p:animEffect transition="out" filter="fade">
                                      <p:cBhvr>
                                        <p:cTn id="714" dur="500"/>
                                        <p:tgtEl>
                                          <p:spTgt spid="5240"/>
                                        </p:tgtEl>
                                      </p:cBhvr>
                                    </p:animEffect>
                                    <p:set>
                                      <p:cBhvr>
                                        <p:cTn id="715" dur="1" fill="hold">
                                          <p:stCondLst>
                                            <p:cond delay="500"/>
                                          </p:stCondLst>
                                        </p:cTn>
                                        <p:tgtEl>
                                          <p:spTgt spid="5240"/>
                                        </p:tgtEl>
                                        <p:attrNameLst>
                                          <p:attrName>style.visibility</p:attrName>
                                        </p:attrNameLst>
                                      </p:cBhvr>
                                      <p:to>
                                        <p:strVal val="hidden"/>
                                      </p:to>
                                    </p:set>
                                  </p:childTnLst>
                                </p:cTn>
                              </p:par>
                              <p:par>
                                <p:cTn id="716" presetID="10" presetClass="exit" presetSubtype="0" fill="hold" nodeType="withEffect">
                                  <p:stCondLst>
                                    <p:cond delay="0"/>
                                  </p:stCondLst>
                                  <p:childTnLst>
                                    <p:animEffect transition="out" filter="fade">
                                      <p:cBhvr>
                                        <p:cTn id="717" dur="500"/>
                                        <p:tgtEl>
                                          <p:spTgt spid="5241"/>
                                        </p:tgtEl>
                                      </p:cBhvr>
                                    </p:animEffect>
                                    <p:set>
                                      <p:cBhvr>
                                        <p:cTn id="718" dur="1" fill="hold">
                                          <p:stCondLst>
                                            <p:cond delay="500"/>
                                          </p:stCondLst>
                                        </p:cTn>
                                        <p:tgtEl>
                                          <p:spTgt spid="5241"/>
                                        </p:tgtEl>
                                        <p:attrNameLst>
                                          <p:attrName>style.visibility</p:attrName>
                                        </p:attrNameLst>
                                      </p:cBhvr>
                                      <p:to>
                                        <p:strVal val="hidden"/>
                                      </p:to>
                                    </p:set>
                                  </p:childTnLst>
                                </p:cTn>
                              </p:par>
                              <p:par>
                                <p:cTn id="719" presetID="10" presetClass="exit" presetSubtype="0" fill="hold" nodeType="withEffect">
                                  <p:stCondLst>
                                    <p:cond delay="0"/>
                                  </p:stCondLst>
                                  <p:childTnLst>
                                    <p:animEffect transition="out" filter="fade">
                                      <p:cBhvr>
                                        <p:cTn id="720" dur="500"/>
                                        <p:tgtEl>
                                          <p:spTgt spid="5242"/>
                                        </p:tgtEl>
                                      </p:cBhvr>
                                    </p:animEffect>
                                    <p:set>
                                      <p:cBhvr>
                                        <p:cTn id="721" dur="1" fill="hold">
                                          <p:stCondLst>
                                            <p:cond delay="500"/>
                                          </p:stCondLst>
                                        </p:cTn>
                                        <p:tgtEl>
                                          <p:spTgt spid="5242"/>
                                        </p:tgtEl>
                                        <p:attrNameLst>
                                          <p:attrName>style.visibility</p:attrName>
                                        </p:attrNameLst>
                                      </p:cBhvr>
                                      <p:to>
                                        <p:strVal val="hidden"/>
                                      </p:to>
                                    </p:set>
                                  </p:childTnLst>
                                </p:cTn>
                              </p:par>
                              <p:par>
                                <p:cTn id="722" presetID="10" presetClass="exit" presetSubtype="0" fill="hold" nodeType="withEffect">
                                  <p:stCondLst>
                                    <p:cond delay="0"/>
                                  </p:stCondLst>
                                  <p:childTnLst>
                                    <p:animEffect transition="out" filter="fade">
                                      <p:cBhvr>
                                        <p:cTn id="723" dur="500"/>
                                        <p:tgtEl>
                                          <p:spTgt spid="5243"/>
                                        </p:tgtEl>
                                      </p:cBhvr>
                                    </p:animEffect>
                                    <p:set>
                                      <p:cBhvr>
                                        <p:cTn id="724" dur="1" fill="hold">
                                          <p:stCondLst>
                                            <p:cond delay="500"/>
                                          </p:stCondLst>
                                        </p:cTn>
                                        <p:tgtEl>
                                          <p:spTgt spid="5243"/>
                                        </p:tgtEl>
                                        <p:attrNameLst>
                                          <p:attrName>style.visibility</p:attrName>
                                        </p:attrNameLst>
                                      </p:cBhvr>
                                      <p:to>
                                        <p:strVal val="hidden"/>
                                      </p:to>
                                    </p:set>
                                  </p:childTnLst>
                                </p:cTn>
                              </p:par>
                              <p:par>
                                <p:cTn id="725" presetID="10" presetClass="exit" presetSubtype="0" fill="hold" nodeType="withEffect">
                                  <p:stCondLst>
                                    <p:cond delay="0"/>
                                  </p:stCondLst>
                                  <p:childTnLst>
                                    <p:animEffect transition="out" filter="fade">
                                      <p:cBhvr>
                                        <p:cTn id="726" dur="500"/>
                                        <p:tgtEl>
                                          <p:spTgt spid="5244"/>
                                        </p:tgtEl>
                                      </p:cBhvr>
                                    </p:animEffect>
                                    <p:set>
                                      <p:cBhvr>
                                        <p:cTn id="727" dur="1" fill="hold">
                                          <p:stCondLst>
                                            <p:cond delay="500"/>
                                          </p:stCondLst>
                                        </p:cTn>
                                        <p:tgtEl>
                                          <p:spTgt spid="5244"/>
                                        </p:tgtEl>
                                        <p:attrNameLst>
                                          <p:attrName>style.visibility</p:attrName>
                                        </p:attrNameLst>
                                      </p:cBhvr>
                                      <p:to>
                                        <p:strVal val="hidden"/>
                                      </p:to>
                                    </p:set>
                                  </p:childTnLst>
                                </p:cTn>
                              </p:par>
                              <p:par>
                                <p:cTn id="728" presetID="10" presetClass="exit" presetSubtype="0" fill="hold" nodeType="withEffect">
                                  <p:stCondLst>
                                    <p:cond delay="0"/>
                                  </p:stCondLst>
                                  <p:childTnLst>
                                    <p:animEffect transition="out" filter="fade">
                                      <p:cBhvr>
                                        <p:cTn id="729" dur="500"/>
                                        <p:tgtEl>
                                          <p:spTgt spid="5245"/>
                                        </p:tgtEl>
                                      </p:cBhvr>
                                    </p:animEffect>
                                    <p:set>
                                      <p:cBhvr>
                                        <p:cTn id="730" dur="1" fill="hold">
                                          <p:stCondLst>
                                            <p:cond delay="500"/>
                                          </p:stCondLst>
                                        </p:cTn>
                                        <p:tgtEl>
                                          <p:spTgt spid="5245"/>
                                        </p:tgtEl>
                                        <p:attrNameLst>
                                          <p:attrName>style.visibility</p:attrName>
                                        </p:attrNameLst>
                                      </p:cBhvr>
                                      <p:to>
                                        <p:strVal val="hidden"/>
                                      </p:to>
                                    </p:set>
                                  </p:childTnLst>
                                </p:cTn>
                              </p:par>
                              <p:par>
                                <p:cTn id="731" presetID="10" presetClass="exit" presetSubtype="0" fill="hold" nodeType="withEffect">
                                  <p:stCondLst>
                                    <p:cond delay="0"/>
                                  </p:stCondLst>
                                  <p:childTnLst>
                                    <p:animEffect transition="out" filter="fade">
                                      <p:cBhvr>
                                        <p:cTn id="732" dur="500"/>
                                        <p:tgtEl>
                                          <p:spTgt spid="5246"/>
                                        </p:tgtEl>
                                      </p:cBhvr>
                                    </p:animEffect>
                                    <p:set>
                                      <p:cBhvr>
                                        <p:cTn id="733" dur="1" fill="hold">
                                          <p:stCondLst>
                                            <p:cond delay="500"/>
                                          </p:stCondLst>
                                        </p:cTn>
                                        <p:tgtEl>
                                          <p:spTgt spid="5246"/>
                                        </p:tgtEl>
                                        <p:attrNameLst>
                                          <p:attrName>style.visibility</p:attrName>
                                        </p:attrNameLst>
                                      </p:cBhvr>
                                      <p:to>
                                        <p:strVal val="hidden"/>
                                      </p:to>
                                    </p:set>
                                  </p:childTnLst>
                                </p:cTn>
                              </p:par>
                              <p:par>
                                <p:cTn id="734" presetID="10" presetClass="exit" presetSubtype="0" fill="hold" nodeType="withEffect">
                                  <p:stCondLst>
                                    <p:cond delay="0"/>
                                  </p:stCondLst>
                                  <p:childTnLst>
                                    <p:animEffect transition="out" filter="fade">
                                      <p:cBhvr>
                                        <p:cTn id="735" dur="500"/>
                                        <p:tgtEl>
                                          <p:spTgt spid="5247"/>
                                        </p:tgtEl>
                                      </p:cBhvr>
                                    </p:animEffect>
                                    <p:set>
                                      <p:cBhvr>
                                        <p:cTn id="736" dur="1" fill="hold">
                                          <p:stCondLst>
                                            <p:cond delay="500"/>
                                          </p:stCondLst>
                                        </p:cTn>
                                        <p:tgtEl>
                                          <p:spTgt spid="5247"/>
                                        </p:tgtEl>
                                        <p:attrNameLst>
                                          <p:attrName>style.visibility</p:attrName>
                                        </p:attrNameLst>
                                      </p:cBhvr>
                                      <p:to>
                                        <p:strVal val="hidden"/>
                                      </p:to>
                                    </p:set>
                                  </p:childTnLst>
                                </p:cTn>
                              </p:par>
                              <p:par>
                                <p:cTn id="737" presetID="10" presetClass="exit" presetSubtype="0" fill="hold" nodeType="withEffect">
                                  <p:stCondLst>
                                    <p:cond delay="0"/>
                                  </p:stCondLst>
                                  <p:childTnLst>
                                    <p:animEffect transition="out" filter="fade">
                                      <p:cBhvr>
                                        <p:cTn id="738" dur="500"/>
                                        <p:tgtEl>
                                          <p:spTgt spid="5248"/>
                                        </p:tgtEl>
                                      </p:cBhvr>
                                    </p:animEffect>
                                    <p:set>
                                      <p:cBhvr>
                                        <p:cTn id="739" dur="1" fill="hold">
                                          <p:stCondLst>
                                            <p:cond delay="500"/>
                                          </p:stCondLst>
                                        </p:cTn>
                                        <p:tgtEl>
                                          <p:spTgt spid="5248"/>
                                        </p:tgtEl>
                                        <p:attrNameLst>
                                          <p:attrName>style.visibility</p:attrName>
                                        </p:attrNameLst>
                                      </p:cBhvr>
                                      <p:to>
                                        <p:strVal val="hidden"/>
                                      </p:to>
                                    </p:set>
                                  </p:childTnLst>
                                </p:cTn>
                              </p:par>
                              <p:par>
                                <p:cTn id="740" presetID="10" presetClass="exit" presetSubtype="0" fill="hold" nodeType="withEffect">
                                  <p:stCondLst>
                                    <p:cond delay="0"/>
                                  </p:stCondLst>
                                  <p:childTnLst>
                                    <p:animEffect transition="out" filter="fade">
                                      <p:cBhvr>
                                        <p:cTn id="741" dur="500"/>
                                        <p:tgtEl>
                                          <p:spTgt spid="5249"/>
                                        </p:tgtEl>
                                      </p:cBhvr>
                                    </p:animEffect>
                                    <p:set>
                                      <p:cBhvr>
                                        <p:cTn id="742" dur="1" fill="hold">
                                          <p:stCondLst>
                                            <p:cond delay="500"/>
                                          </p:stCondLst>
                                        </p:cTn>
                                        <p:tgtEl>
                                          <p:spTgt spid="5249"/>
                                        </p:tgtEl>
                                        <p:attrNameLst>
                                          <p:attrName>style.visibility</p:attrName>
                                        </p:attrNameLst>
                                      </p:cBhvr>
                                      <p:to>
                                        <p:strVal val="hidden"/>
                                      </p:to>
                                    </p:set>
                                  </p:childTnLst>
                                </p:cTn>
                              </p:par>
                              <p:par>
                                <p:cTn id="743" presetID="10" presetClass="exit" presetSubtype="0" fill="hold" nodeType="withEffect">
                                  <p:stCondLst>
                                    <p:cond delay="0"/>
                                  </p:stCondLst>
                                  <p:childTnLst>
                                    <p:animEffect transition="out" filter="fade">
                                      <p:cBhvr>
                                        <p:cTn id="744" dur="500"/>
                                        <p:tgtEl>
                                          <p:spTgt spid="5250"/>
                                        </p:tgtEl>
                                      </p:cBhvr>
                                    </p:animEffect>
                                    <p:set>
                                      <p:cBhvr>
                                        <p:cTn id="745" dur="1" fill="hold">
                                          <p:stCondLst>
                                            <p:cond delay="500"/>
                                          </p:stCondLst>
                                        </p:cTn>
                                        <p:tgtEl>
                                          <p:spTgt spid="5250"/>
                                        </p:tgtEl>
                                        <p:attrNameLst>
                                          <p:attrName>style.visibility</p:attrName>
                                        </p:attrNameLst>
                                      </p:cBhvr>
                                      <p:to>
                                        <p:strVal val="hidden"/>
                                      </p:to>
                                    </p:set>
                                  </p:childTnLst>
                                </p:cTn>
                              </p:par>
                              <p:par>
                                <p:cTn id="746" presetID="10" presetClass="exit" presetSubtype="0" fill="hold" nodeType="withEffect">
                                  <p:stCondLst>
                                    <p:cond delay="0"/>
                                  </p:stCondLst>
                                  <p:childTnLst>
                                    <p:animEffect transition="out" filter="fade">
                                      <p:cBhvr>
                                        <p:cTn id="747" dur="500"/>
                                        <p:tgtEl>
                                          <p:spTgt spid="5251"/>
                                        </p:tgtEl>
                                      </p:cBhvr>
                                    </p:animEffect>
                                    <p:set>
                                      <p:cBhvr>
                                        <p:cTn id="748" dur="1" fill="hold">
                                          <p:stCondLst>
                                            <p:cond delay="500"/>
                                          </p:stCondLst>
                                        </p:cTn>
                                        <p:tgtEl>
                                          <p:spTgt spid="5251"/>
                                        </p:tgtEl>
                                        <p:attrNameLst>
                                          <p:attrName>style.visibility</p:attrName>
                                        </p:attrNameLst>
                                      </p:cBhvr>
                                      <p:to>
                                        <p:strVal val="hidden"/>
                                      </p:to>
                                    </p:set>
                                  </p:childTnLst>
                                </p:cTn>
                              </p:par>
                              <p:par>
                                <p:cTn id="749" presetID="10" presetClass="exit" presetSubtype="0" fill="hold" nodeType="withEffect">
                                  <p:stCondLst>
                                    <p:cond delay="0"/>
                                  </p:stCondLst>
                                  <p:childTnLst>
                                    <p:animEffect transition="out" filter="fade">
                                      <p:cBhvr>
                                        <p:cTn id="750" dur="500"/>
                                        <p:tgtEl>
                                          <p:spTgt spid="5252"/>
                                        </p:tgtEl>
                                      </p:cBhvr>
                                    </p:animEffect>
                                    <p:set>
                                      <p:cBhvr>
                                        <p:cTn id="751" dur="1" fill="hold">
                                          <p:stCondLst>
                                            <p:cond delay="500"/>
                                          </p:stCondLst>
                                        </p:cTn>
                                        <p:tgtEl>
                                          <p:spTgt spid="5252"/>
                                        </p:tgtEl>
                                        <p:attrNameLst>
                                          <p:attrName>style.visibility</p:attrName>
                                        </p:attrNameLst>
                                      </p:cBhvr>
                                      <p:to>
                                        <p:strVal val="hidden"/>
                                      </p:to>
                                    </p:set>
                                  </p:childTnLst>
                                </p:cTn>
                              </p:par>
                              <p:par>
                                <p:cTn id="752" presetID="10" presetClass="exit" presetSubtype="0" fill="hold" nodeType="withEffect">
                                  <p:stCondLst>
                                    <p:cond delay="0"/>
                                  </p:stCondLst>
                                  <p:childTnLst>
                                    <p:animEffect transition="out" filter="fade">
                                      <p:cBhvr>
                                        <p:cTn id="753" dur="500"/>
                                        <p:tgtEl>
                                          <p:spTgt spid="5253"/>
                                        </p:tgtEl>
                                      </p:cBhvr>
                                    </p:animEffect>
                                    <p:set>
                                      <p:cBhvr>
                                        <p:cTn id="754" dur="1" fill="hold">
                                          <p:stCondLst>
                                            <p:cond delay="500"/>
                                          </p:stCondLst>
                                        </p:cTn>
                                        <p:tgtEl>
                                          <p:spTgt spid="5253"/>
                                        </p:tgtEl>
                                        <p:attrNameLst>
                                          <p:attrName>style.visibility</p:attrName>
                                        </p:attrNameLst>
                                      </p:cBhvr>
                                      <p:to>
                                        <p:strVal val="hidden"/>
                                      </p:to>
                                    </p:set>
                                  </p:childTnLst>
                                </p:cTn>
                              </p:par>
                              <p:par>
                                <p:cTn id="755" presetID="10" presetClass="exit" presetSubtype="0" fill="hold" nodeType="withEffect">
                                  <p:stCondLst>
                                    <p:cond delay="0"/>
                                  </p:stCondLst>
                                  <p:childTnLst>
                                    <p:animEffect transition="out" filter="fade">
                                      <p:cBhvr>
                                        <p:cTn id="756" dur="500"/>
                                        <p:tgtEl>
                                          <p:spTgt spid="5254"/>
                                        </p:tgtEl>
                                      </p:cBhvr>
                                    </p:animEffect>
                                    <p:set>
                                      <p:cBhvr>
                                        <p:cTn id="757" dur="1" fill="hold">
                                          <p:stCondLst>
                                            <p:cond delay="500"/>
                                          </p:stCondLst>
                                        </p:cTn>
                                        <p:tgtEl>
                                          <p:spTgt spid="5254"/>
                                        </p:tgtEl>
                                        <p:attrNameLst>
                                          <p:attrName>style.visibility</p:attrName>
                                        </p:attrNameLst>
                                      </p:cBhvr>
                                      <p:to>
                                        <p:strVal val="hidden"/>
                                      </p:to>
                                    </p:set>
                                  </p:childTnLst>
                                </p:cTn>
                              </p:par>
                              <p:par>
                                <p:cTn id="758" presetID="10" presetClass="exit" presetSubtype="0" fill="hold" nodeType="withEffect">
                                  <p:stCondLst>
                                    <p:cond delay="0"/>
                                  </p:stCondLst>
                                  <p:childTnLst>
                                    <p:animEffect transition="out" filter="fade">
                                      <p:cBhvr>
                                        <p:cTn id="759" dur="500"/>
                                        <p:tgtEl>
                                          <p:spTgt spid="5255"/>
                                        </p:tgtEl>
                                      </p:cBhvr>
                                    </p:animEffect>
                                    <p:set>
                                      <p:cBhvr>
                                        <p:cTn id="760" dur="1" fill="hold">
                                          <p:stCondLst>
                                            <p:cond delay="500"/>
                                          </p:stCondLst>
                                        </p:cTn>
                                        <p:tgtEl>
                                          <p:spTgt spid="5255"/>
                                        </p:tgtEl>
                                        <p:attrNameLst>
                                          <p:attrName>style.visibility</p:attrName>
                                        </p:attrNameLst>
                                      </p:cBhvr>
                                      <p:to>
                                        <p:strVal val="hidden"/>
                                      </p:to>
                                    </p:set>
                                  </p:childTnLst>
                                </p:cTn>
                              </p:par>
                              <p:par>
                                <p:cTn id="761" presetID="10" presetClass="exit" presetSubtype="0" fill="hold" nodeType="withEffect">
                                  <p:stCondLst>
                                    <p:cond delay="0"/>
                                  </p:stCondLst>
                                  <p:childTnLst>
                                    <p:animEffect transition="out" filter="fade">
                                      <p:cBhvr>
                                        <p:cTn id="762" dur="500"/>
                                        <p:tgtEl>
                                          <p:spTgt spid="5256"/>
                                        </p:tgtEl>
                                      </p:cBhvr>
                                    </p:animEffect>
                                    <p:set>
                                      <p:cBhvr>
                                        <p:cTn id="763" dur="1" fill="hold">
                                          <p:stCondLst>
                                            <p:cond delay="500"/>
                                          </p:stCondLst>
                                        </p:cTn>
                                        <p:tgtEl>
                                          <p:spTgt spid="5256"/>
                                        </p:tgtEl>
                                        <p:attrNameLst>
                                          <p:attrName>style.visibility</p:attrName>
                                        </p:attrNameLst>
                                      </p:cBhvr>
                                      <p:to>
                                        <p:strVal val="hidden"/>
                                      </p:to>
                                    </p:set>
                                  </p:childTnLst>
                                </p:cTn>
                              </p:par>
                              <p:par>
                                <p:cTn id="764" presetID="10" presetClass="exit" presetSubtype="0" fill="hold" nodeType="withEffect">
                                  <p:stCondLst>
                                    <p:cond delay="0"/>
                                  </p:stCondLst>
                                  <p:childTnLst>
                                    <p:animEffect transition="out" filter="fade">
                                      <p:cBhvr>
                                        <p:cTn id="765" dur="500"/>
                                        <p:tgtEl>
                                          <p:spTgt spid="5257"/>
                                        </p:tgtEl>
                                      </p:cBhvr>
                                    </p:animEffect>
                                    <p:set>
                                      <p:cBhvr>
                                        <p:cTn id="766" dur="1" fill="hold">
                                          <p:stCondLst>
                                            <p:cond delay="500"/>
                                          </p:stCondLst>
                                        </p:cTn>
                                        <p:tgtEl>
                                          <p:spTgt spid="5257"/>
                                        </p:tgtEl>
                                        <p:attrNameLst>
                                          <p:attrName>style.visibility</p:attrName>
                                        </p:attrNameLst>
                                      </p:cBhvr>
                                      <p:to>
                                        <p:strVal val="hidden"/>
                                      </p:to>
                                    </p:set>
                                  </p:childTnLst>
                                </p:cTn>
                              </p:par>
                              <p:par>
                                <p:cTn id="767" presetID="10" presetClass="exit" presetSubtype="0" fill="hold" nodeType="withEffect">
                                  <p:stCondLst>
                                    <p:cond delay="0"/>
                                  </p:stCondLst>
                                  <p:childTnLst>
                                    <p:animEffect transition="out" filter="fade">
                                      <p:cBhvr>
                                        <p:cTn id="768" dur="500"/>
                                        <p:tgtEl>
                                          <p:spTgt spid="5258"/>
                                        </p:tgtEl>
                                      </p:cBhvr>
                                    </p:animEffect>
                                    <p:set>
                                      <p:cBhvr>
                                        <p:cTn id="769" dur="1" fill="hold">
                                          <p:stCondLst>
                                            <p:cond delay="500"/>
                                          </p:stCondLst>
                                        </p:cTn>
                                        <p:tgtEl>
                                          <p:spTgt spid="5258"/>
                                        </p:tgtEl>
                                        <p:attrNameLst>
                                          <p:attrName>style.visibility</p:attrName>
                                        </p:attrNameLst>
                                      </p:cBhvr>
                                      <p:to>
                                        <p:strVal val="hidden"/>
                                      </p:to>
                                    </p:set>
                                  </p:childTnLst>
                                </p:cTn>
                              </p:par>
                              <p:par>
                                <p:cTn id="770" presetID="10" presetClass="exit" presetSubtype="0" fill="hold" nodeType="withEffect">
                                  <p:stCondLst>
                                    <p:cond delay="0"/>
                                  </p:stCondLst>
                                  <p:childTnLst>
                                    <p:animEffect transition="out" filter="fade">
                                      <p:cBhvr>
                                        <p:cTn id="771" dur="500"/>
                                        <p:tgtEl>
                                          <p:spTgt spid="5259"/>
                                        </p:tgtEl>
                                      </p:cBhvr>
                                    </p:animEffect>
                                    <p:set>
                                      <p:cBhvr>
                                        <p:cTn id="772" dur="1" fill="hold">
                                          <p:stCondLst>
                                            <p:cond delay="500"/>
                                          </p:stCondLst>
                                        </p:cTn>
                                        <p:tgtEl>
                                          <p:spTgt spid="5259"/>
                                        </p:tgtEl>
                                        <p:attrNameLst>
                                          <p:attrName>style.visibility</p:attrName>
                                        </p:attrNameLst>
                                      </p:cBhvr>
                                      <p:to>
                                        <p:strVal val="hidden"/>
                                      </p:to>
                                    </p:set>
                                  </p:childTnLst>
                                </p:cTn>
                              </p:par>
                              <p:par>
                                <p:cTn id="773" presetID="10" presetClass="exit" presetSubtype="0" fill="hold" nodeType="withEffect">
                                  <p:stCondLst>
                                    <p:cond delay="0"/>
                                  </p:stCondLst>
                                  <p:childTnLst>
                                    <p:animEffect transition="out" filter="fade">
                                      <p:cBhvr>
                                        <p:cTn id="774" dur="500"/>
                                        <p:tgtEl>
                                          <p:spTgt spid="5260"/>
                                        </p:tgtEl>
                                      </p:cBhvr>
                                    </p:animEffect>
                                    <p:set>
                                      <p:cBhvr>
                                        <p:cTn id="775" dur="1" fill="hold">
                                          <p:stCondLst>
                                            <p:cond delay="500"/>
                                          </p:stCondLst>
                                        </p:cTn>
                                        <p:tgtEl>
                                          <p:spTgt spid="5260"/>
                                        </p:tgtEl>
                                        <p:attrNameLst>
                                          <p:attrName>style.visibility</p:attrName>
                                        </p:attrNameLst>
                                      </p:cBhvr>
                                      <p:to>
                                        <p:strVal val="hidden"/>
                                      </p:to>
                                    </p:set>
                                  </p:childTnLst>
                                </p:cTn>
                              </p:par>
                              <p:par>
                                <p:cTn id="776" presetID="10" presetClass="exit" presetSubtype="0" fill="hold" nodeType="withEffect">
                                  <p:stCondLst>
                                    <p:cond delay="0"/>
                                  </p:stCondLst>
                                  <p:childTnLst>
                                    <p:animEffect transition="out" filter="fade">
                                      <p:cBhvr>
                                        <p:cTn id="777" dur="500"/>
                                        <p:tgtEl>
                                          <p:spTgt spid="5261"/>
                                        </p:tgtEl>
                                      </p:cBhvr>
                                    </p:animEffect>
                                    <p:set>
                                      <p:cBhvr>
                                        <p:cTn id="778" dur="1" fill="hold">
                                          <p:stCondLst>
                                            <p:cond delay="500"/>
                                          </p:stCondLst>
                                        </p:cTn>
                                        <p:tgtEl>
                                          <p:spTgt spid="5261"/>
                                        </p:tgtEl>
                                        <p:attrNameLst>
                                          <p:attrName>style.visibility</p:attrName>
                                        </p:attrNameLst>
                                      </p:cBhvr>
                                      <p:to>
                                        <p:strVal val="hidden"/>
                                      </p:to>
                                    </p:set>
                                  </p:childTnLst>
                                </p:cTn>
                              </p:par>
                              <p:par>
                                <p:cTn id="779" presetID="10" presetClass="exit" presetSubtype="0" fill="hold" nodeType="withEffect">
                                  <p:stCondLst>
                                    <p:cond delay="0"/>
                                  </p:stCondLst>
                                  <p:childTnLst>
                                    <p:animEffect transition="out" filter="fade">
                                      <p:cBhvr>
                                        <p:cTn id="780" dur="500"/>
                                        <p:tgtEl>
                                          <p:spTgt spid="5262"/>
                                        </p:tgtEl>
                                      </p:cBhvr>
                                    </p:animEffect>
                                    <p:set>
                                      <p:cBhvr>
                                        <p:cTn id="781" dur="1" fill="hold">
                                          <p:stCondLst>
                                            <p:cond delay="500"/>
                                          </p:stCondLst>
                                        </p:cTn>
                                        <p:tgtEl>
                                          <p:spTgt spid="5262"/>
                                        </p:tgtEl>
                                        <p:attrNameLst>
                                          <p:attrName>style.visibility</p:attrName>
                                        </p:attrNameLst>
                                      </p:cBhvr>
                                      <p:to>
                                        <p:strVal val="hidden"/>
                                      </p:to>
                                    </p:set>
                                  </p:childTnLst>
                                </p:cTn>
                              </p:par>
                              <p:par>
                                <p:cTn id="782" presetID="10" presetClass="exit" presetSubtype="0" fill="hold" nodeType="withEffect">
                                  <p:stCondLst>
                                    <p:cond delay="0"/>
                                  </p:stCondLst>
                                  <p:childTnLst>
                                    <p:animEffect transition="out" filter="fade">
                                      <p:cBhvr>
                                        <p:cTn id="783" dur="500"/>
                                        <p:tgtEl>
                                          <p:spTgt spid="5263"/>
                                        </p:tgtEl>
                                      </p:cBhvr>
                                    </p:animEffect>
                                    <p:set>
                                      <p:cBhvr>
                                        <p:cTn id="784" dur="1" fill="hold">
                                          <p:stCondLst>
                                            <p:cond delay="500"/>
                                          </p:stCondLst>
                                        </p:cTn>
                                        <p:tgtEl>
                                          <p:spTgt spid="5263"/>
                                        </p:tgtEl>
                                        <p:attrNameLst>
                                          <p:attrName>style.visibility</p:attrName>
                                        </p:attrNameLst>
                                      </p:cBhvr>
                                      <p:to>
                                        <p:strVal val="hidden"/>
                                      </p:to>
                                    </p:set>
                                  </p:childTnLst>
                                </p:cTn>
                              </p:par>
                              <p:par>
                                <p:cTn id="785" presetID="10" presetClass="exit" presetSubtype="0" fill="hold" nodeType="withEffect">
                                  <p:stCondLst>
                                    <p:cond delay="0"/>
                                  </p:stCondLst>
                                  <p:childTnLst>
                                    <p:animEffect transition="out" filter="fade">
                                      <p:cBhvr>
                                        <p:cTn id="786" dur="500"/>
                                        <p:tgtEl>
                                          <p:spTgt spid="5264"/>
                                        </p:tgtEl>
                                      </p:cBhvr>
                                    </p:animEffect>
                                    <p:set>
                                      <p:cBhvr>
                                        <p:cTn id="787" dur="1" fill="hold">
                                          <p:stCondLst>
                                            <p:cond delay="500"/>
                                          </p:stCondLst>
                                        </p:cTn>
                                        <p:tgtEl>
                                          <p:spTgt spid="5264"/>
                                        </p:tgtEl>
                                        <p:attrNameLst>
                                          <p:attrName>style.visibility</p:attrName>
                                        </p:attrNameLst>
                                      </p:cBhvr>
                                      <p:to>
                                        <p:strVal val="hidden"/>
                                      </p:to>
                                    </p:set>
                                  </p:childTnLst>
                                </p:cTn>
                              </p:par>
                              <p:par>
                                <p:cTn id="788" presetID="10" presetClass="exit" presetSubtype="0" fill="hold" nodeType="withEffect">
                                  <p:stCondLst>
                                    <p:cond delay="0"/>
                                  </p:stCondLst>
                                  <p:childTnLst>
                                    <p:animEffect transition="out" filter="fade">
                                      <p:cBhvr>
                                        <p:cTn id="789" dur="500"/>
                                        <p:tgtEl>
                                          <p:spTgt spid="5265"/>
                                        </p:tgtEl>
                                      </p:cBhvr>
                                    </p:animEffect>
                                    <p:set>
                                      <p:cBhvr>
                                        <p:cTn id="790" dur="1" fill="hold">
                                          <p:stCondLst>
                                            <p:cond delay="500"/>
                                          </p:stCondLst>
                                        </p:cTn>
                                        <p:tgtEl>
                                          <p:spTgt spid="5265"/>
                                        </p:tgtEl>
                                        <p:attrNameLst>
                                          <p:attrName>style.visibility</p:attrName>
                                        </p:attrNameLst>
                                      </p:cBhvr>
                                      <p:to>
                                        <p:strVal val="hidden"/>
                                      </p:to>
                                    </p:set>
                                  </p:childTnLst>
                                </p:cTn>
                              </p:par>
                              <p:par>
                                <p:cTn id="791" presetID="10" presetClass="exit" presetSubtype="0" fill="hold" nodeType="withEffect">
                                  <p:stCondLst>
                                    <p:cond delay="0"/>
                                  </p:stCondLst>
                                  <p:childTnLst>
                                    <p:animEffect transition="out" filter="fade">
                                      <p:cBhvr>
                                        <p:cTn id="792" dur="500"/>
                                        <p:tgtEl>
                                          <p:spTgt spid="5266"/>
                                        </p:tgtEl>
                                      </p:cBhvr>
                                    </p:animEffect>
                                    <p:set>
                                      <p:cBhvr>
                                        <p:cTn id="793" dur="1" fill="hold">
                                          <p:stCondLst>
                                            <p:cond delay="500"/>
                                          </p:stCondLst>
                                        </p:cTn>
                                        <p:tgtEl>
                                          <p:spTgt spid="5266"/>
                                        </p:tgtEl>
                                        <p:attrNameLst>
                                          <p:attrName>style.visibility</p:attrName>
                                        </p:attrNameLst>
                                      </p:cBhvr>
                                      <p:to>
                                        <p:strVal val="hidden"/>
                                      </p:to>
                                    </p:set>
                                  </p:childTnLst>
                                </p:cTn>
                              </p:par>
                              <p:par>
                                <p:cTn id="794" presetID="10" presetClass="exit" presetSubtype="0" fill="hold" nodeType="withEffect">
                                  <p:stCondLst>
                                    <p:cond delay="0"/>
                                  </p:stCondLst>
                                  <p:childTnLst>
                                    <p:animEffect transition="out" filter="fade">
                                      <p:cBhvr>
                                        <p:cTn id="795" dur="500"/>
                                        <p:tgtEl>
                                          <p:spTgt spid="5267"/>
                                        </p:tgtEl>
                                      </p:cBhvr>
                                    </p:animEffect>
                                    <p:set>
                                      <p:cBhvr>
                                        <p:cTn id="796" dur="1" fill="hold">
                                          <p:stCondLst>
                                            <p:cond delay="500"/>
                                          </p:stCondLst>
                                        </p:cTn>
                                        <p:tgtEl>
                                          <p:spTgt spid="5267"/>
                                        </p:tgtEl>
                                        <p:attrNameLst>
                                          <p:attrName>style.visibility</p:attrName>
                                        </p:attrNameLst>
                                      </p:cBhvr>
                                      <p:to>
                                        <p:strVal val="hidden"/>
                                      </p:to>
                                    </p:set>
                                  </p:childTnLst>
                                </p:cTn>
                              </p:par>
                              <p:par>
                                <p:cTn id="797" presetID="10" presetClass="exit" presetSubtype="0" fill="hold" nodeType="withEffect">
                                  <p:stCondLst>
                                    <p:cond delay="0"/>
                                  </p:stCondLst>
                                  <p:childTnLst>
                                    <p:animEffect transition="out" filter="fade">
                                      <p:cBhvr>
                                        <p:cTn id="798" dur="500"/>
                                        <p:tgtEl>
                                          <p:spTgt spid="5268"/>
                                        </p:tgtEl>
                                      </p:cBhvr>
                                    </p:animEffect>
                                    <p:set>
                                      <p:cBhvr>
                                        <p:cTn id="799" dur="1" fill="hold">
                                          <p:stCondLst>
                                            <p:cond delay="500"/>
                                          </p:stCondLst>
                                        </p:cTn>
                                        <p:tgtEl>
                                          <p:spTgt spid="5268"/>
                                        </p:tgtEl>
                                        <p:attrNameLst>
                                          <p:attrName>style.visibility</p:attrName>
                                        </p:attrNameLst>
                                      </p:cBhvr>
                                      <p:to>
                                        <p:strVal val="hidden"/>
                                      </p:to>
                                    </p:set>
                                  </p:childTnLst>
                                </p:cTn>
                              </p:par>
                              <p:par>
                                <p:cTn id="800" presetID="10" presetClass="exit" presetSubtype="0" fill="hold" nodeType="withEffect">
                                  <p:stCondLst>
                                    <p:cond delay="0"/>
                                  </p:stCondLst>
                                  <p:childTnLst>
                                    <p:animEffect transition="out" filter="fade">
                                      <p:cBhvr>
                                        <p:cTn id="801" dur="500"/>
                                        <p:tgtEl>
                                          <p:spTgt spid="5269"/>
                                        </p:tgtEl>
                                      </p:cBhvr>
                                    </p:animEffect>
                                    <p:set>
                                      <p:cBhvr>
                                        <p:cTn id="802" dur="1" fill="hold">
                                          <p:stCondLst>
                                            <p:cond delay="500"/>
                                          </p:stCondLst>
                                        </p:cTn>
                                        <p:tgtEl>
                                          <p:spTgt spid="5269"/>
                                        </p:tgtEl>
                                        <p:attrNameLst>
                                          <p:attrName>style.visibility</p:attrName>
                                        </p:attrNameLst>
                                      </p:cBhvr>
                                      <p:to>
                                        <p:strVal val="hidden"/>
                                      </p:to>
                                    </p:set>
                                  </p:childTnLst>
                                </p:cTn>
                              </p:par>
                              <p:par>
                                <p:cTn id="803" presetID="10" presetClass="exit" presetSubtype="0" fill="hold" nodeType="withEffect">
                                  <p:stCondLst>
                                    <p:cond delay="0"/>
                                  </p:stCondLst>
                                  <p:childTnLst>
                                    <p:animEffect transition="out" filter="fade">
                                      <p:cBhvr>
                                        <p:cTn id="804" dur="500"/>
                                        <p:tgtEl>
                                          <p:spTgt spid="5270"/>
                                        </p:tgtEl>
                                      </p:cBhvr>
                                    </p:animEffect>
                                    <p:set>
                                      <p:cBhvr>
                                        <p:cTn id="805" dur="1" fill="hold">
                                          <p:stCondLst>
                                            <p:cond delay="500"/>
                                          </p:stCondLst>
                                        </p:cTn>
                                        <p:tgtEl>
                                          <p:spTgt spid="5270"/>
                                        </p:tgtEl>
                                        <p:attrNameLst>
                                          <p:attrName>style.visibility</p:attrName>
                                        </p:attrNameLst>
                                      </p:cBhvr>
                                      <p:to>
                                        <p:strVal val="hidden"/>
                                      </p:to>
                                    </p:set>
                                  </p:childTnLst>
                                </p:cTn>
                              </p:par>
                              <p:par>
                                <p:cTn id="806" presetID="10" presetClass="exit" presetSubtype="0" fill="hold" nodeType="withEffect">
                                  <p:stCondLst>
                                    <p:cond delay="0"/>
                                  </p:stCondLst>
                                  <p:childTnLst>
                                    <p:animEffect transition="out" filter="fade">
                                      <p:cBhvr>
                                        <p:cTn id="807" dur="500"/>
                                        <p:tgtEl>
                                          <p:spTgt spid="5271"/>
                                        </p:tgtEl>
                                      </p:cBhvr>
                                    </p:animEffect>
                                    <p:set>
                                      <p:cBhvr>
                                        <p:cTn id="808" dur="1" fill="hold">
                                          <p:stCondLst>
                                            <p:cond delay="500"/>
                                          </p:stCondLst>
                                        </p:cTn>
                                        <p:tgtEl>
                                          <p:spTgt spid="5271"/>
                                        </p:tgtEl>
                                        <p:attrNameLst>
                                          <p:attrName>style.visibility</p:attrName>
                                        </p:attrNameLst>
                                      </p:cBhvr>
                                      <p:to>
                                        <p:strVal val="hidden"/>
                                      </p:to>
                                    </p:set>
                                  </p:childTnLst>
                                </p:cTn>
                              </p:par>
                              <p:par>
                                <p:cTn id="809" presetID="10" presetClass="exit" presetSubtype="0" fill="hold" nodeType="withEffect">
                                  <p:stCondLst>
                                    <p:cond delay="0"/>
                                  </p:stCondLst>
                                  <p:childTnLst>
                                    <p:animEffect transition="out" filter="fade">
                                      <p:cBhvr>
                                        <p:cTn id="810" dur="500"/>
                                        <p:tgtEl>
                                          <p:spTgt spid="5272"/>
                                        </p:tgtEl>
                                      </p:cBhvr>
                                    </p:animEffect>
                                    <p:set>
                                      <p:cBhvr>
                                        <p:cTn id="811" dur="1" fill="hold">
                                          <p:stCondLst>
                                            <p:cond delay="500"/>
                                          </p:stCondLst>
                                        </p:cTn>
                                        <p:tgtEl>
                                          <p:spTgt spid="5272"/>
                                        </p:tgtEl>
                                        <p:attrNameLst>
                                          <p:attrName>style.visibility</p:attrName>
                                        </p:attrNameLst>
                                      </p:cBhvr>
                                      <p:to>
                                        <p:strVal val="hidden"/>
                                      </p:to>
                                    </p:set>
                                  </p:childTnLst>
                                </p:cTn>
                              </p:par>
                              <p:par>
                                <p:cTn id="812" presetID="10" presetClass="exit" presetSubtype="0" fill="hold" nodeType="withEffect">
                                  <p:stCondLst>
                                    <p:cond delay="0"/>
                                  </p:stCondLst>
                                  <p:childTnLst>
                                    <p:animEffect transition="out" filter="fade">
                                      <p:cBhvr>
                                        <p:cTn id="813" dur="500"/>
                                        <p:tgtEl>
                                          <p:spTgt spid="5273"/>
                                        </p:tgtEl>
                                      </p:cBhvr>
                                    </p:animEffect>
                                    <p:set>
                                      <p:cBhvr>
                                        <p:cTn id="814" dur="1" fill="hold">
                                          <p:stCondLst>
                                            <p:cond delay="500"/>
                                          </p:stCondLst>
                                        </p:cTn>
                                        <p:tgtEl>
                                          <p:spTgt spid="5273"/>
                                        </p:tgtEl>
                                        <p:attrNameLst>
                                          <p:attrName>style.visibility</p:attrName>
                                        </p:attrNameLst>
                                      </p:cBhvr>
                                      <p:to>
                                        <p:strVal val="hidden"/>
                                      </p:to>
                                    </p:set>
                                  </p:childTnLst>
                                </p:cTn>
                              </p:par>
                              <p:par>
                                <p:cTn id="815" presetID="10" presetClass="exit" presetSubtype="0" fill="hold" nodeType="withEffect">
                                  <p:stCondLst>
                                    <p:cond delay="0"/>
                                  </p:stCondLst>
                                  <p:childTnLst>
                                    <p:animEffect transition="out" filter="fade">
                                      <p:cBhvr>
                                        <p:cTn id="816" dur="500"/>
                                        <p:tgtEl>
                                          <p:spTgt spid="5274"/>
                                        </p:tgtEl>
                                      </p:cBhvr>
                                    </p:animEffect>
                                    <p:set>
                                      <p:cBhvr>
                                        <p:cTn id="817" dur="1" fill="hold">
                                          <p:stCondLst>
                                            <p:cond delay="500"/>
                                          </p:stCondLst>
                                        </p:cTn>
                                        <p:tgtEl>
                                          <p:spTgt spid="5274"/>
                                        </p:tgtEl>
                                        <p:attrNameLst>
                                          <p:attrName>style.visibility</p:attrName>
                                        </p:attrNameLst>
                                      </p:cBhvr>
                                      <p:to>
                                        <p:strVal val="hidden"/>
                                      </p:to>
                                    </p:set>
                                  </p:childTnLst>
                                </p:cTn>
                              </p:par>
                              <p:par>
                                <p:cTn id="818" presetID="10" presetClass="exit" presetSubtype="0" fill="hold" nodeType="withEffect">
                                  <p:stCondLst>
                                    <p:cond delay="0"/>
                                  </p:stCondLst>
                                  <p:childTnLst>
                                    <p:animEffect transition="out" filter="fade">
                                      <p:cBhvr>
                                        <p:cTn id="819" dur="500"/>
                                        <p:tgtEl>
                                          <p:spTgt spid="5275"/>
                                        </p:tgtEl>
                                      </p:cBhvr>
                                    </p:animEffect>
                                    <p:set>
                                      <p:cBhvr>
                                        <p:cTn id="820" dur="1" fill="hold">
                                          <p:stCondLst>
                                            <p:cond delay="500"/>
                                          </p:stCondLst>
                                        </p:cTn>
                                        <p:tgtEl>
                                          <p:spTgt spid="5275"/>
                                        </p:tgtEl>
                                        <p:attrNameLst>
                                          <p:attrName>style.visibility</p:attrName>
                                        </p:attrNameLst>
                                      </p:cBhvr>
                                      <p:to>
                                        <p:strVal val="hidden"/>
                                      </p:to>
                                    </p:set>
                                  </p:childTnLst>
                                </p:cTn>
                              </p:par>
                              <p:par>
                                <p:cTn id="821" presetID="10" presetClass="exit" presetSubtype="0" fill="hold" nodeType="withEffect">
                                  <p:stCondLst>
                                    <p:cond delay="0"/>
                                  </p:stCondLst>
                                  <p:childTnLst>
                                    <p:animEffect transition="out" filter="fade">
                                      <p:cBhvr>
                                        <p:cTn id="822" dur="500"/>
                                        <p:tgtEl>
                                          <p:spTgt spid="5276"/>
                                        </p:tgtEl>
                                      </p:cBhvr>
                                    </p:animEffect>
                                    <p:set>
                                      <p:cBhvr>
                                        <p:cTn id="823" dur="1" fill="hold">
                                          <p:stCondLst>
                                            <p:cond delay="500"/>
                                          </p:stCondLst>
                                        </p:cTn>
                                        <p:tgtEl>
                                          <p:spTgt spid="5276"/>
                                        </p:tgtEl>
                                        <p:attrNameLst>
                                          <p:attrName>style.visibility</p:attrName>
                                        </p:attrNameLst>
                                      </p:cBhvr>
                                      <p:to>
                                        <p:strVal val="hidden"/>
                                      </p:to>
                                    </p:set>
                                  </p:childTnLst>
                                </p:cTn>
                              </p:par>
                            </p:childTnLst>
                          </p:cTn>
                        </p:par>
                        <p:par>
                          <p:cTn id="824" fill="hold">
                            <p:stCondLst>
                              <p:cond delay="9000"/>
                            </p:stCondLst>
                            <p:childTnLst>
                              <p:par>
                                <p:cTn id="825" presetID="10" presetClass="entr" presetSubtype="0" fill="hold" nodeType="afterEffect">
                                  <p:stCondLst>
                                    <p:cond delay="500"/>
                                  </p:stCondLst>
                                  <p:childTnLst>
                                    <p:set>
                                      <p:cBhvr>
                                        <p:cTn id="826" dur="1" fill="hold">
                                          <p:stCondLst>
                                            <p:cond delay="0"/>
                                          </p:stCondLst>
                                        </p:cTn>
                                        <p:tgtEl>
                                          <p:spTgt spid="5390"/>
                                        </p:tgtEl>
                                        <p:attrNameLst>
                                          <p:attrName>style.visibility</p:attrName>
                                        </p:attrNameLst>
                                      </p:cBhvr>
                                      <p:to>
                                        <p:strVal val="visible"/>
                                      </p:to>
                                    </p:set>
                                    <p:animEffect transition="in" filter="fade">
                                      <p:cBhvr>
                                        <p:cTn id="827" dur="500"/>
                                        <p:tgtEl>
                                          <p:spTgt spid="5390"/>
                                        </p:tgtEl>
                                      </p:cBhvr>
                                    </p:animEffect>
                                  </p:childTnLst>
                                </p:cTn>
                              </p:par>
                              <p:par>
                                <p:cTn id="828" presetID="10" presetClass="entr" presetSubtype="0" fill="hold" nodeType="withEffect">
                                  <p:stCondLst>
                                    <p:cond delay="500"/>
                                  </p:stCondLst>
                                  <p:childTnLst>
                                    <p:set>
                                      <p:cBhvr>
                                        <p:cTn id="829" dur="1" fill="hold">
                                          <p:stCondLst>
                                            <p:cond delay="0"/>
                                          </p:stCondLst>
                                        </p:cTn>
                                        <p:tgtEl>
                                          <p:spTgt spid="5384"/>
                                        </p:tgtEl>
                                        <p:attrNameLst>
                                          <p:attrName>style.visibility</p:attrName>
                                        </p:attrNameLst>
                                      </p:cBhvr>
                                      <p:to>
                                        <p:strVal val="visible"/>
                                      </p:to>
                                    </p:set>
                                    <p:animEffect transition="in" filter="fade">
                                      <p:cBhvr>
                                        <p:cTn id="830" dur="500"/>
                                        <p:tgtEl>
                                          <p:spTgt spid="5384"/>
                                        </p:tgtEl>
                                      </p:cBhvr>
                                    </p:animEffect>
                                  </p:childTnLst>
                                </p:cTn>
                              </p:par>
                              <p:par>
                                <p:cTn id="831" presetID="10" presetClass="entr" presetSubtype="0" fill="hold" nodeType="withEffect">
                                  <p:stCondLst>
                                    <p:cond delay="500"/>
                                  </p:stCondLst>
                                  <p:childTnLst>
                                    <p:set>
                                      <p:cBhvr>
                                        <p:cTn id="832" dur="1" fill="hold">
                                          <p:stCondLst>
                                            <p:cond delay="0"/>
                                          </p:stCondLst>
                                        </p:cTn>
                                        <p:tgtEl>
                                          <p:spTgt spid="5394"/>
                                        </p:tgtEl>
                                        <p:attrNameLst>
                                          <p:attrName>style.visibility</p:attrName>
                                        </p:attrNameLst>
                                      </p:cBhvr>
                                      <p:to>
                                        <p:strVal val="visible"/>
                                      </p:to>
                                    </p:set>
                                    <p:animEffect transition="in" filter="fade">
                                      <p:cBhvr>
                                        <p:cTn id="833" dur="500"/>
                                        <p:tgtEl>
                                          <p:spTgt spid="5394"/>
                                        </p:tgtEl>
                                      </p:cBhvr>
                                    </p:animEffect>
                                  </p:childTnLst>
                                </p:cTn>
                              </p:par>
                              <p:par>
                                <p:cTn id="834" presetID="10" presetClass="entr" presetSubtype="0" fill="hold" nodeType="withEffect">
                                  <p:stCondLst>
                                    <p:cond delay="500"/>
                                  </p:stCondLst>
                                  <p:childTnLst>
                                    <p:set>
                                      <p:cBhvr>
                                        <p:cTn id="835" dur="1" fill="hold">
                                          <p:stCondLst>
                                            <p:cond delay="0"/>
                                          </p:stCondLst>
                                        </p:cTn>
                                        <p:tgtEl>
                                          <p:spTgt spid="5391"/>
                                        </p:tgtEl>
                                        <p:attrNameLst>
                                          <p:attrName>style.visibility</p:attrName>
                                        </p:attrNameLst>
                                      </p:cBhvr>
                                      <p:to>
                                        <p:strVal val="visible"/>
                                      </p:to>
                                    </p:set>
                                    <p:animEffect transition="in" filter="fade">
                                      <p:cBhvr>
                                        <p:cTn id="836" dur="500"/>
                                        <p:tgtEl>
                                          <p:spTgt spid="5391"/>
                                        </p:tgtEl>
                                      </p:cBhvr>
                                    </p:animEffect>
                                  </p:childTnLst>
                                </p:cTn>
                              </p:par>
                            </p:childTnLst>
                          </p:cTn>
                        </p:par>
                        <p:par>
                          <p:cTn id="837" fill="hold">
                            <p:stCondLst>
                              <p:cond delay="9500"/>
                            </p:stCondLst>
                            <p:childTnLst>
                              <p:par>
                                <p:cTn id="838" presetID="10" presetClass="entr" presetSubtype="0" fill="hold" nodeType="afterEffect">
                                  <p:stCondLst>
                                    <p:cond delay="0"/>
                                  </p:stCondLst>
                                  <p:childTnLst>
                                    <p:set>
                                      <p:cBhvr>
                                        <p:cTn id="839" dur="1" fill="hold">
                                          <p:stCondLst>
                                            <p:cond delay="0"/>
                                          </p:stCondLst>
                                        </p:cTn>
                                        <p:tgtEl>
                                          <p:spTgt spid="5389"/>
                                        </p:tgtEl>
                                        <p:attrNameLst>
                                          <p:attrName>style.visibility</p:attrName>
                                        </p:attrNameLst>
                                      </p:cBhvr>
                                      <p:to>
                                        <p:strVal val="visible"/>
                                      </p:to>
                                    </p:set>
                                    <p:animEffect transition="in" filter="fade">
                                      <p:cBhvr>
                                        <p:cTn id="840" dur="500"/>
                                        <p:tgtEl>
                                          <p:spTgt spid="5389"/>
                                        </p:tgtEl>
                                      </p:cBhvr>
                                    </p:animEffect>
                                  </p:childTnLst>
                                </p:cTn>
                              </p:par>
                              <p:par>
                                <p:cTn id="841" presetID="10" presetClass="entr" presetSubtype="0" fill="hold" nodeType="withEffect">
                                  <p:stCondLst>
                                    <p:cond delay="0"/>
                                  </p:stCondLst>
                                  <p:childTnLst>
                                    <p:set>
                                      <p:cBhvr>
                                        <p:cTn id="842" dur="1" fill="hold">
                                          <p:stCondLst>
                                            <p:cond delay="0"/>
                                          </p:stCondLst>
                                        </p:cTn>
                                        <p:tgtEl>
                                          <p:spTgt spid="5385"/>
                                        </p:tgtEl>
                                        <p:attrNameLst>
                                          <p:attrName>style.visibility</p:attrName>
                                        </p:attrNameLst>
                                      </p:cBhvr>
                                      <p:to>
                                        <p:strVal val="visible"/>
                                      </p:to>
                                    </p:set>
                                    <p:animEffect transition="in" filter="fade">
                                      <p:cBhvr>
                                        <p:cTn id="843" dur="500"/>
                                        <p:tgtEl>
                                          <p:spTgt spid="5385"/>
                                        </p:tgtEl>
                                      </p:cBhvr>
                                    </p:animEffect>
                                  </p:childTnLst>
                                </p:cTn>
                              </p:par>
                              <p:par>
                                <p:cTn id="844" presetID="10" presetClass="entr" presetSubtype="0" fill="hold" nodeType="withEffect">
                                  <p:stCondLst>
                                    <p:cond delay="0"/>
                                  </p:stCondLst>
                                  <p:childTnLst>
                                    <p:set>
                                      <p:cBhvr>
                                        <p:cTn id="845" dur="1" fill="hold">
                                          <p:stCondLst>
                                            <p:cond delay="0"/>
                                          </p:stCondLst>
                                        </p:cTn>
                                        <p:tgtEl>
                                          <p:spTgt spid="5386"/>
                                        </p:tgtEl>
                                        <p:attrNameLst>
                                          <p:attrName>style.visibility</p:attrName>
                                        </p:attrNameLst>
                                      </p:cBhvr>
                                      <p:to>
                                        <p:strVal val="visible"/>
                                      </p:to>
                                    </p:set>
                                    <p:animEffect transition="in" filter="fade">
                                      <p:cBhvr>
                                        <p:cTn id="846" dur="500"/>
                                        <p:tgtEl>
                                          <p:spTgt spid="5386"/>
                                        </p:tgtEl>
                                      </p:cBhvr>
                                    </p:animEffect>
                                  </p:childTnLst>
                                </p:cTn>
                              </p:par>
                              <p:par>
                                <p:cTn id="847" presetID="10" presetClass="entr" presetSubtype="0" fill="hold" nodeType="withEffect">
                                  <p:stCondLst>
                                    <p:cond delay="0"/>
                                  </p:stCondLst>
                                  <p:childTnLst>
                                    <p:set>
                                      <p:cBhvr>
                                        <p:cTn id="848" dur="1" fill="hold">
                                          <p:stCondLst>
                                            <p:cond delay="0"/>
                                          </p:stCondLst>
                                        </p:cTn>
                                        <p:tgtEl>
                                          <p:spTgt spid="5395"/>
                                        </p:tgtEl>
                                        <p:attrNameLst>
                                          <p:attrName>style.visibility</p:attrName>
                                        </p:attrNameLst>
                                      </p:cBhvr>
                                      <p:to>
                                        <p:strVal val="visible"/>
                                      </p:to>
                                    </p:set>
                                    <p:animEffect transition="in" filter="fade">
                                      <p:cBhvr>
                                        <p:cTn id="849" dur="500"/>
                                        <p:tgtEl>
                                          <p:spTgt spid="5395"/>
                                        </p:tgtEl>
                                      </p:cBhvr>
                                    </p:animEffect>
                                  </p:childTnLst>
                                </p:cTn>
                              </p:par>
                            </p:childTnLst>
                          </p:cTn>
                        </p:par>
                        <p:par>
                          <p:cTn id="850" fill="hold">
                            <p:stCondLst>
                              <p:cond delay="10000"/>
                            </p:stCondLst>
                            <p:childTnLst>
                              <p:par>
                                <p:cTn id="851" presetID="10" presetClass="entr" presetSubtype="0" fill="hold" nodeType="afterEffect">
                                  <p:stCondLst>
                                    <p:cond delay="250"/>
                                  </p:stCondLst>
                                  <p:childTnLst>
                                    <p:set>
                                      <p:cBhvr>
                                        <p:cTn id="852" dur="1" fill="hold">
                                          <p:stCondLst>
                                            <p:cond delay="0"/>
                                          </p:stCondLst>
                                        </p:cTn>
                                        <p:tgtEl>
                                          <p:spTgt spid="5396"/>
                                        </p:tgtEl>
                                        <p:attrNameLst>
                                          <p:attrName>style.visibility</p:attrName>
                                        </p:attrNameLst>
                                      </p:cBhvr>
                                      <p:to>
                                        <p:strVal val="visible"/>
                                      </p:to>
                                    </p:set>
                                    <p:animEffect transition="in" filter="fade">
                                      <p:cBhvr>
                                        <p:cTn id="853" dur="500"/>
                                        <p:tgtEl>
                                          <p:spTgt spid="5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01"/>
        <p:cNvGrpSpPr/>
        <p:nvPr/>
      </p:nvGrpSpPr>
      <p:grpSpPr>
        <a:xfrm>
          <a:off x="0" y="0"/>
          <a:ext cx="0" cy="0"/>
          <a:chOff x="0" y="0"/>
          <a:chExt cx="0" cy="0"/>
        </a:xfrm>
      </p:grpSpPr>
      <p:sp>
        <p:nvSpPr>
          <p:cNvPr id="5402" name="Google Shape;5402;p21"/>
          <p:cNvSpPr/>
          <p:nvPr/>
        </p:nvSpPr>
        <p:spPr>
          <a:xfrm>
            <a:off x="4446452" y="1850337"/>
            <a:ext cx="3130105" cy="1546302"/>
          </a:xfrm>
          <a:prstGeom prst="roundRect">
            <a:avLst>
              <a:gd name="adj" fmla="val 9802"/>
            </a:avLst>
          </a:prstGeom>
          <a:solidFill>
            <a:schemeClr val="lt2"/>
          </a:solidFill>
          <a:ln w="9525" cap="flat" cmpd="sng">
            <a:solidFill>
              <a:schemeClr val="accent4"/>
            </a:solidFill>
            <a:prstDash val="lg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403" name="Google Shape;5403;p21"/>
          <p:cNvSpPr/>
          <p:nvPr/>
        </p:nvSpPr>
        <p:spPr>
          <a:xfrm>
            <a:off x="4446452" y="4134907"/>
            <a:ext cx="3130105" cy="1708428"/>
          </a:xfrm>
          <a:prstGeom prst="roundRect">
            <a:avLst>
              <a:gd name="adj" fmla="val 9802"/>
            </a:avLst>
          </a:prstGeom>
          <a:solidFill>
            <a:schemeClr val="accent2">
              <a:alpha val="9803"/>
            </a:schemeClr>
          </a:solidFill>
          <a:ln w="9525" cap="flat" cmpd="sng">
            <a:solidFill>
              <a:schemeClr val="accent2"/>
            </a:solidFill>
            <a:prstDash val="lg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404" name="Google Shape;5404;p21"/>
          <p:cNvSpPr/>
          <p:nvPr/>
        </p:nvSpPr>
        <p:spPr>
          <a:xfrm rot="10800000">
            <a:off x="704446" y="2317918"/>
            <a:ext cx="3615322" cy="616639"/>
          </a:xfrm>
          <a:prstGeom prst="homePlate">
            <a:avLst>
              <a:gd name="adj" fmla="val 0"/>
            </a:avLst>
          </a:prstGeom>
          <a:gradFill>
            <a:gsLst>
              <a:gs pos="0">
                <a:srgbClr val="7F7F7F">
                  <a:alpha val="1960"/>
                </a:srgbClr>
              </a:gs>
              <a:gs pos="100000">
                <a:srgbClr val="7F7F7F">
                  <a:alpha val="29803"/>
                </a:srgbClr>
              </a:gs>
            </a:gsLst>
            <a:lin ang="0" scaled="0"/>
          </a:gradFill>
          <a:ln>
            <a:noFill/>
          </a:ln>
        </p:spPr>
        <p:txBody>
          <a:bodyPr spcFirstLastPara="1" wrap="square" lIns="32925" tIns="16450" rIns="32925" bIns="16450" anchor="ctr" anchorCtr="0">
            <a:noAutofit/>
          </a:bodyPr>
          <a:lstStyle/>
          <a:p>
            <a:pPr marL="0" marR="0" lvl="0" indent="0" algn="ctr" rtl="0">
              <a:lnSpc>
                <a:spcPct val="100000"/>
              </a:lnSpc>
              <a:spcBef>
                <a:spcPts val="0"/>
              </a:spcBef>
              <a:spcAft>
                <a:spcPts val="0"/>
              </a:spcAft>
              <a:buClr>
                <a:schemeClr val="lt1"/>
              </a:buClr>
              <a:buSzPts val="1153"/>
              <a:buFont typeface="Arial"/>
              <a:buNone/>
            </a:pPr>
            <a:endParaRPr sz="1153" b="0" i="0" u="none" strike="noStrike" cap="none">
              <a:solidFill>
                <a:srgbClr val="002142"/>
              </a:solidFill>
              <a:latin typeface="Arial"/>
              <a:ea typeface="Arial"/>
              <a:cs typeface="Arial"/>
              <a:sym typeface="Arial"/>
            </a:endParaRPr>
          </a:p>
        </p:txBody>
      </p:sp>
      <p:sp>
        <p:nvSpPr>
          <p:cNvPr id="5405" name="Google Shape;5405;p2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Faster Performance and Reduced Network Traffic </a:t>
            </a:r>
            <a:endParaRPr/>
          </a:p>
        </p:txBody>
      </p:sp>
      <p:sp>
        <p:nvSpPr>
          <p:cNvPr id="5406" name="Google Shape;5406;p2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Network traffic separation for vSAN storage clusters in VCF 9.0</a:t>
            </a:r>
            <a:endParaRPr/>
          </a:p>
          <a:p>
            <a:pPr marL="0" lvl="0" indent="0" algn="l" rtl="0">
              <a:lnSpc>
                <a:spcPct val="100000"/>
              </a:lnSpc>
              <a:spcBef>
                <a:spcPts val="1200"/>
              </a:spcBef>
              <a:spcAft>
                <a:spcPts val="0"/>
              </a:spcAft>
              <a:buSzPts val="1800"/>
              <a:buNone/>
            </a:pPr>
            <a:endParaRPr/>
          </a:p>
        </p:txBody>
      </p:sp>
      <p:sp>
        <p:nvSpPr>
          <p:cNvPr id="5407" name="Google Shape;5407;p21"/>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err="1"/>
              <a:t>vSAN</a:t>
            </a:r>
            <a:r>
              <a:rPr lang="en-US" dirty="0"/>
              <a:t> </a:t>
            </a:r>
            <a:r>
              <a:rPr lang="en-US" b="1" dirty="0"/>
              <a:t>cluster traffic isolated </a:t>
            </a:r>
            <a:r>
              <a:rPr lang="en-US" dirty="0"/>
              <a:t>from </a:t>
            </a:r>
            <a:r>
              <a:rPr lang="en-US" b="1" dirty="0"/>
              <a:t>vSphere clusters </a:t>
            </a:r>
            <a:r>
              <a:rPr lang="en-US" dirty="0"/>
              <a:t>accessing datastore of </a:t>
            </a:r>
            <a:r>
              <a:rPr lang="en-US" dirty="0" err="1"/>
              <a:t>vSAN</a:t>
            </a:r>
            <a:r>
              <a:rPr lang="en-US" dirty="0"/>
              <a:t> storage cluster</a:t>
            </a:r>
            <a:endParaRPr dirty="0"/>
          </a:p>
          <a:p>
            <a:pPr marL="0" lvl="0" indent="0" algn="l" rtl="0">
              <a:lnSpc>
                <a:spcPct val="100000"/>
              </a:lnSpc>
              <a:spcBef>
                <a:spcPts val="1200"/>
              </a:spcBef>
              <a:spcAft>
                <a:spcPts val="0"/>
              </a:spcAft>
              <a:buSzPts val="1440"/>
              <a:buNone/>
            </a:pPr>
            <a:r>
              <a:rPr lang="en-US" dirty="0"/>
              <a:t>Dedicated </a:t>
            </a:r>
            <a:r>
              <a:rPr lang="en-US" dirty="0" err="1"/>
              <a:t>VMkernel</a:t>
            </a:r>
            <a:r>
              <a:rPr lang="en-US" dirty="0"/>
              <a:t> interfaces for:</a:t>
            </a:r>
            <a:endParaRPr dirty="0"/>
          </a:p>
          <a:p>
            <a:pPr marL="457200" lvl="1" indent="-184150" algn="l" rtl="0">
              <a:lnSpc>
                <a:spcPct val="100000"/>
              </a:lnSpc>
              <a:spcBef>
                <a:spcPts val="1200"/>
              </a:spcBef>
              <a:spcAft>
                <a:spcPts val="0"/>
              </a:spcAft>
              <a:buSzPts val="1260"/>
              <a:buChar char="•"/>
            </a:pPr>
            <a:r>
              <a:rPr lang="en-US" dirty="0" err="1"/>
              <a:t>vSAN</a:t>
            </a:r>
            <a:r>
              <a:rPr lang="en-US" dirty="0"/>
              <a:t> cluster traffic</a:t>
            </a:r>
            <a:endParaRPr dirty="0"/>
          </a:p>
          <a:p>
            <a:pPr marL="457200" lvl="1" indent="-184150" algn="l" rtl="0">
              <a:lnSpc>
                <a:spcPct val="100000"/>
              </a:lnSpc>
              <a:spcBef>
                <a:spcPts val="1200"/>
              </a:spcBef>
              <a:spcAft>
                <a:spcPts val="0"/>
              </a:spcAft>
              <a:buSzPts val="1260"/>
              <a:buChar char="•"/>
            </a:pPr>
            <a:r>
              <a:rPr lang="en-US" dirty="0"/>
              <a:t>vSphere client clusters mounting </a:t>
            </a:r>
            <a:r>
              <a:rPr lang="en-US" dirty="0" err="1"/>
              <a:t>vSAN</a:t>
            </a:r>
            <a:r>
              <a:rPr lang="en-US" dirty="0"/>
              <a:t> storage cluster datastore</a:t>
            </a:r>
            <a:endParaRPr dirty="0"/>
          </a:p>
          <a:p>
            <a:pPr marL="0" lvl="0" indent="0" algn="l" rtl="0">
              <a:lnSpc>
                <a:spcPct val="100000"/>
              </a:lnSpc>
              <a:spcBef>
                <a:spcPts val="1200"/>
              </a:spcBef>
              <a:spcAft>
                <a:spcPts val="0"/>
              </a:spcAft>
              <a:buSzPts val="1440"/>
              <a:buNone/>
            </a:pPr>
            <a:r>
              <a:rPr lang="en-US" b="1" dirty="0"/>
              <a:t>Improves performance </a:t>
            </a:r>
            <a:r>
              <a:rPr lang="en-US" dirty="0"/>
              <a:t>and </a:t>
            </a:r>
            <a:r>
              <a:rPr lang="en-US" b="1" dirty="0"/>
              <a:t>simplifies management</a:t>
            </a:r>
            <a:endParaRPr dirty="0"/>
          </a:p>
          <a:p>
            <a:pPr marL="0" lvl="0" indent="0" algn="l" rtl="0">
              <a:lnSpc>
                <a:spcPct val="100000"/>
              </a:lnSpc>
              <a:spcBef>
                <a:spcPts val="1200"/>
              </a:spcBef>
              <a:spcAft>
                <a:spcPts val="0"/>
              </a:spcAft>
              <a:buSzPts val="1440"/>
              <a:buNone/>
            </a:pPr>
            <a:r>
              <a:rPr lang="en-US" b="1" dirty="0"/>
              <a:t>Minimizes network traffic </a:t>
            </a:r>
            <a:r>
              <a:rPr lang="en-US" dirty="0"/>
              <a:t>to/from client clusters</a:t>
            </a:r>
            <a:endParaRPr dirty="0"/>
          </a:p>
          <a:p>
            <a:pPr marL="457200" lvl="1" indent="-184150" algn="l" rtl="0">
              <a:lnSpc>
                <a:spcPct val="100000"/>
              </a:lnSpc>
              <a:spcBef>
                <a:spcPts val="1200"/>
              </a:spcBef>
              <a:spcAft>
                <a:spcPts val="0"/>
              </a:spcAft>
              <a:buSzPts val="1260"/>
              <a:buChar char="•"/>
            </a:pPr>
            <a:r>
              <a:rPr lang="en-US" dirty="0"/>
              <a:t>Compressed</a:t>
            </a:r>
            <a:endParaRPr dirty="0"/>
          </a:p>
          <a:p>
            <a:pPr marL="457200" lvl="1" indent="-184150" algn="l" rtl="0">
              <a:lnSpc>
                <a:spcPct val="100000"/>
              </a:lnSpc>
              <a:spcBef>
                <a:spcPts val="1200"/>
              </a:spcBef>
              <a:spcAft>
                <a:spcPts val="0"/>
              </a:spcAft>
              <a:buSzPts val="1260"/>
              <a:buChar char="•"/>
            </a:pPr>
            <a:r>
              <a:rPr lang="en-US" dirty="0"/>
              <a:t>Isolated </a:t>
            </a:r>
            <a:endParaRPr dirty="0"/>
          </a:p>
          <a:p>
            <a:pPr marL="0" lvl="0" indent="0" algn="l" rtl="0">
              <a:lnSpc>
                <a:spcPct val="100000"/>
              </a:lnSpc>
              <a:spcBef>
                <a:spcPts val="1200"/>
              </a:spcBef>
              <a:spcAft>
                <a:spcPts val="0"/>
              </a:spcAft>
              <a:buSzPts val="1440"/>
              <a:buNone/>
            </a:pPr>
            <a:endParaRPr dirty="0"/>
          </a:p>
        </p:txBody>
      </p:sp>
      <p:sp>
        <p:nvSpPr>
          <p:cNvPr id="5408" name="Google Shape;5408;p21"/>
          <p:cNvSpPr/>
          <p:nvPr/>
        </p:nvSpPr>
        <p:spPr>
          <a:xfrm rot="10800000">
            <a:off x="691842" y="4692059"/>
            <a:ext cx="3615322" cy="616639"/>
          </a:xfrm>
          <a:prstGeom prst="homePlate">
            <a:avLst>
              <a:gd name="adj" fmla="val 0"/>
            </a:avLst>
          </a:prstGeom>
          <a:gradFill>
            <a:gsLst>
              <a:gs pos="0">
                <a:srgbClr val="7F7F7F">
                  <a:alpha val="1960"/>
                </a:srgbClr>
              </a:gs>
              <a:gs pos="100000">
                <a:srgbClr val="7F7F7F">
                  <a:alpha val="29803"/>
                </a:srgbClr>
              </a:gs>
            </a:gsLst>
            <a:lin ang="0" scaled="0"/>
          </a:gradFill>
          <a:ln>
            <a:noFill/>
          </a:ln>
        </p:spPr>
        <p:txBody>
          <a:bodyPr spcFirstLastPara="1" wrap="square" lIns="32925" tIns="16450" rIns="32925" bIns="16450" anchor="ctr" anchorCtr="0">
            <a:noAutofit/>
          </a:bodyPr>
          <a:lstStyle/>
          <a:p>
            <a:pPr marL="0" marR="0" lvl="0" indent="0" algn="ctr" rtl="0">
              <a:lnSpc>
                <a:spcPct val="100000"/>
              </a:lnSpc>
              <a:spcBef>
                <a:spcPts val="0"/>
              </a:spcBef>
              <a:spcAft>
                <a:spcPts val="0"/>
              </a:spcAft>
              <a:buClr>
                <a:schemeClr val="lt1"/>
              </a:buClr>
              <a:buSzPts val="1153"/>
              <a:buFont typeface="Arial"/>
              <a:buNone/>
            </a:pPr>
            <a:endParaRPr sz="1153" b="0" i="0" u="none" strike="noStrike" cap="none">
              <a:solidFill>
                <a:srgbClr val="002142"/>
              </a:solidFill>
              <a:latin typeface="Arial"/>
              <a:ea typeface="Arial"/>
              <a:cs typeface="Arial"/>
              <a:sym typeface="Arial"/>
            </a:endParaRPr>
          </a:p>
        </p:txBody>
      </p:sp>
      <p:sp>
        <p:nvSpPr>
          <p:cNvPr id="5409" name="Google Shape;5409;p21"/>
          <p:cNvSpPr txBox="1"/>
          <p:nvPr/>
        </p:nvSpPr>
        <p:spPr>
          <a:xfrm>
            <a:off x="3165205" y="5141065"/>
            <a:ext cx="504474"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7F7F7F"/>
                </a:solidFill>
                <a:latin typeface="Arial"/>
                <a:ea typeface="Arial"/>
                <a:cs typeface="Arial"/>
                <a:sym typeface="Arial"/>
              </a:rPr>
              <a:t>vmnic1</a:t>
            </a:r>
            <a:endParaRPr/>
          </a:p>
        </p:txBody>
      </p:sp>
      <p:grpSp>
        <p:nvGrpSpPr>
          <p:cNvPr id="5410" name="Google Shape;5410;p21"/>
          <p:cNvGrpSpPr/>
          <p:nvPr/>
        </p:nvGrpSpPr>
        <p:grpSpPr>
          <a:xfrm>
            <a:off x="3288336" y="4889670"/>
            <a:ext cx="265450" cy="226310"/>
            <a:chOff x="1087792" y="3338371"/>
            <a:chExt cx="265450" cy="226310"/>
          </a:xfrm>
        </p:grpSpPr>
        <p:cxnSp>
          <p:nvCxnSpPr>
            <p:cNvPr id="5411" name="Google Shape;5411;p21"/>
            <p:cNvCxnSpPr/>
            <p:nvPr/>
          </p:nvCxnSpPr>
          <p:spPr>
            <a:xfrm>
              <a:off x="1087792" y="3386029"/>
              <a:ext cx="0" cy="178652"/>
            </a:xfrm>
            <a:prstGeom prst="straightConnector1">
              <a:avLst/>
            </a:prstGeom>
            <a:noFill/>
            <a:ln w="15875" cap="rnd" cmpd="sng">
              <a:solidFill>
                <a:srgbClr val="7F7F7F"/>
              </a:solidFill>
              <a:prstDash val="solid"/>
              <a:miter lim="800000"/>
              <a:headEnd type="none" w="sm" len="sm"/>
              <a:tailEnd type="none" w="sm" len="sm"/>
            </a:ln>
          </p:spPr>
        </p:cxnSp>
        <p:cxnSp>
          <p:nvCxnSpPr>
            <p:cNvPr id="5412" name="Google Shape;5412;p21"/>
            <p:cNvCxnSpPr/>
            <p:nvPr/>
          </p:nvCxnSpPr>
          <p:spPr>
            <a:xfrm>
              <a:off x="1353242" y="3386029"/>
              <a:ext cx="0" cy="178652"/>
            </a:xfrm>
            <a:prstGeom prst="straightConnector1">
              <a:avLst/>
            </a:prstGeom>
            <a:noFill/>
            <a:ln w="15875" cap="rnd" cmpd="sng">
              <a:solidFill>
                <a:srgbClr val="7F7F7F"/>
              </a:solidFill>
              <a:prstDash val="solid"/>
              <a:miter lim="800000"/>
              <a:headEnd type="none" w="sm" len="sm"/>
              <a:tailEnd type="none" w="sm" len="sm"/>
            </a:ln>
          </p:spPr>
        </p:cxnSp>
        <p:cxnSp>
          <p:nvCxnSpPr>
            <p:cNvPr id="5413" name="Google Shape;5413;p21"/>
            <p:cNvCxnSpPr/>
            <p:nvPr/>
          </p:nvCxnSpPr>
          <p:spPr>
            <a:xfrm>
              <a:off x="1087792" y="3564681"/>
              <a:ext cx="265450" cy="0"/>
            </a:xfrm>
            <a:prstGeom prst="straightConnector1">
              <a:avLst/>
            </a:prstGeom>
            <a:noFill/>
            <a:ln w="15875" cap="rnd" cmpd="sng">
              <a:solidFill>
                <a:srgbClr val="7F7F7F"/>
              </a:solidFill>
              <a:prstDash val="solid"/>
              <a:miter lim="800000"/>
              <a:headEnd type="none" w="sm" len="sm"/>
              <a:tailEnd type="none" w="sm" len="sm"/>
            </a:ln>
          </p:spPr>
        </p:cxnSp>
        <p:grpSp>
          <p:nvGrpSpPr>
            <p:cNvPr id="5414" name="Google Shape;5414;p21"/>
            <p:cNvGrpSpPr/>
            <p:nvPr/>
          </p:nvGrpSpPr>
          <p:grpSpPr>
            <a:xfrm>
              <a:off x="1151426" y="3495589"/>
              <a:ext cx="138180" cy="69092"/>
              <a:chOff x="2184796" y="2342548"/>
              <a:chExt cx="90488" cy="61632"/>
            </a:xfrm>
          </p:grpSpPr>
          <p:cxnSp>
            <p:nvCxnSpPr>
              <p:cNvPr id="5415" name="Google Shape;5415;p21"/>
              <p:cNvCxnSpPr/>
              <p:nvPr/>
            </p:nvCxnSpPr>
            <p:spPr>
              <a:xfrm>
                <a:off x="2230040" y="2343043"/>
                <a:ext cx="0" cy="61137"/>
              </a:xfrm>
              <a:prstGeom prst="straightConnector1">
                <a:avLst/>
              </a:prstGeom>
              <a:noFill/>
              <a:ln w="15875" cap="flat" cmpd="sng">
                <a:solidFill>
                  <a:srgbClr val="7F7F7F"/>
                </a:solidFill>
                <a:prstDash val="solid"/>
                <a:miter lim="800000"/>
                <a:headEnd type="none" w="sm" len="sm"/>
                <a:tailEnd type="none" w="sm" len="sm"/>
              </a:ln>
            </p:spPr>
          </p:cxnSp>
          <p:cxnSp>
            <p:nvCxnSpPr>
              <p:cNvPr id="5416" name="Google Shape;5416;p21"/>
              <p:cNvCxnSpPr/>
              <p:nvPr/>
            </p:nvCxnSpPr>
            <p:spPr>
              <a:xfrm>
                <a:off x="2275284" y="2342548"/>
                <a:ext cx="0" cy="61137"/>
              </a:xfrm>
              <a:prstGeom prst="straightConnector1">
                <a:avLst/>
              </a:prstGeom>
              <a:noFill/>
              <a:ln w="15875" cap="flat" cmpd="sng">
                <a:solidFill>
                  <a:srgbClr val="7F7F7F"/>
                </a:solidFill>
                <a:prstDash val="solid"/>
                <a:miter lim="800000"/>
                <a:headEnd type="none" w="sm" len="sm"/>
                <a:tailEnd type="none" w="sm" len="sm"/>
              </a:ln>
            </p:spPr>
          </p:cxnSp>
          <p:cxnSp>
            <p:nvCxnSpPr>
              <p:cNvPr id="5417" name="Google Shape;5417;p21"/>
              <p:cNvCxnSpPr/>
              <p:nvPr/>
            </p:nvCxnSpPr>
            <p:spPr>
              <a:xfrm>
                <a:off x="2184796" y="2342548"/>
                <a:ext cx="0" cy="61137"/>
              </a:xfrm>
              <a:prstGeom prst="straightConnector1">
                <a:avLst/>
              </a:prstGeom>
              <a:noFill/>
              <a:ln w="15875" cap="flat" cmpd="sng">
                <a:solidFill>
                  <a:srgbClr val="7F7F7F"/>
                </a:solidFill>
                <a:prstDash val="solid"/>
                <a:miter lim="800000"/>
                <a:headEnd type="none" w="sm" len="sm"/>
                <a:tailEnd type="none" w="sm" len="sm"/>
              </a:ln>
            </p:spPr>
          </p:cxnSp>
        </p:grpSp>
        <p:cxnSp>
          <p:nvCxnSpPr>
            <p:cNvPr id="5418" name="Google Shape;5418;p21"/>
            <p:cNvCxnSpPr/>
            <p:nvPr/>
          </p:nvCxnSpPr>
          <p:spPr>
            <a:xfrm>
              <a:off x="1087792" y="3386029"/>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419" name="Google Shape;5419;p21"/>
            <p:cNvCxnSpPr/>
            <p:nvPr/>
          </p:nvCxnSpPr>
          <p:spPr>
            <a:xfrm>
              <a:off x="1269607" y="3386029"/>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420" name="Google Shape;5420;p21"/>
            <p:cNvCxnSpPr/>
            <p:nvPr/>
          </p:nvCxnSpPr>
          <p:spPr>
            <a:xfrm>
              <a:off x="1178698" y="3338371"/>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421" name="Google Shape;5421;p21"/>
            <p:cNvCxnSpPr/>
            <p:nvPr/>
          </p:nvCxnSpPr>
          <p:spPr>
            <a:xfrm rot="10800000">
              <a:off x="1262333" y="3338371"/>
              <a:ext cx="0" cy="47660"/>
            </a:xfrm>
            <a:prstGeom prst="straightConnector1">
              <a:avLst/>
            </a:prstGeom>
            <a:noFill/>
            <a:ln w="15875" cap="rnd" cmpd="sng">
              <a:solidFill>
                <a:srgbClr val="7F7F7F"/>
              </a:solidFill>
              <a:prstDash val="solid"/>
              <a:miter lim="800000"/>
              <a:headEnd type="none" w="sm" len="sm"/>
              <a:tailEnd type="none" w="sm" len="sm"/>
            </a:ln>
          </p:spPr>
        </p:cxnSp>
        <p:cxnSp>
          <p:nvCxnSpPr>
            <p:cNvPr id="5422" name="Google Shape;5422;p21"/>
            <p:cNvCxnSpPr/>
            <p:nvPr/>
          </p:nvCxnSpPr>
          <p:spPr>
            <a:xfrm rot="10800000">
              <a:off x="1178698" y="3338371"/>
              <a:ext cx="0" cy="47660"/>
            </a:xfrm>
            <a:prstGeom prst="straightConnector1">
              <a:avLst/>
            </a:prstGeom>
            <a:noFill/>
            <a:ln w="15875" cap="rnd" cmpd="sng">
              <a:solidFill>
                <a:srgbClr val="7F7F7F"/>
              </a:solidFill>
              <a:prstDash val="solid"/>
              <a:miter lim="800000"/>
              <a:headEnd type="none" w="sm" len="sm"/>
              <a:tailEnd type="none" w="sm" len="sm"/>
            </a:ln>
          </p:spPr>
        </p:cxnSp>
      </p:grpSp>
      <p:sp>
        <p:nvSpPr>
          <p:cNvPr id="5423" name="Google Shape;5423;p21"/>
          <p:cNvSpPr txBox="1"/>
          <p:nvPr/>
        </p:nvSpPr>
        <p:spPr>
          <a:xfrm>
            <a:off x="3710021" y="5141065"/>
            <a:ext cx="504474"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7F7F7F"/>
                </a:solidFill>
                <a:latin typeface="Arial"/>
                <a:ea typeface="Arial"/>
                <a:cs typeface="Arial"/>
                <a:sym typeface="Arial"/>
              </a:rPr>
              <a:t>vmnic3</a:t>
            </a:r>
            <a:endParaRPr/>
          </a:p>
        </p:txBody>
      </p:sp>
      <p:grpSp>
        <p:nvGrpSpPr>
          <p:cNvPr id="5424" name="Google Shape;5424;p21"/>
          <p:cNvGrpSpPr/>
          <p:nvPr/>
        </p:nvGrpSpPr>
        <p:grpSpPr>
          <a:xfrm>
            <a:off x="3833152" y="4889670"/>
            <a:ext cx="265450" cy="226310"/>
            <a:chOff x="1087792" y="3338371"/>
            <a:chExt cx="265450" cy="226310"/>
          </a:xfrm>
        </p:grpSpPr>
        <p:cxnSp>
          <p:nvCxnSpPr>
            <p:cNvPr id="5425" name="Google Shape;5425;p21"/>
            <p:cNvCxnSpPr/>
            <p:nvPr/>
          </p:nvCxnSpPr>
          <p:spPr>
            <a:xfrm>
              <a:off x="1087792" y="3386029"/>
              <a:ext cx="0" cy="178652"/>
            </a:xfrm>
            <a:prstGeom prst="straightConnector1">
              <a:avLst/>
            </a:prstGeom>
            <a:noFill/>
            <a:ln w="15875" cap="rnd" cmpd="sng">
              <a:solidFill>
                <a:srgbClr val="7F7F7F"/>
              </a:solidFill>
              <a:prstDash val="solid"/>
              <a:miter lim="800000"/>
              <a:headEnd type="none" w="sm" len="sm"/>
              <a:tailEnd type="none" w="sm" len="sm"/>
            </a:ln>
          </p:spPr>
        </p:cxnSp>
        <p:cxnSp>
          <p:nvCxnSpPr>
            <p:cNvPr id="5426" name="Google Shape;5426;p21"/>
            <p:cNvCxnSpPr/>
            <p:nvPr/>
          </p:nvCxnSpPr>
          <p:spPr>
            <a:xfrm>
              <a:off x="1353242" y="3386029"/>
              <a:ext cx="0" cy="178652"/>
            </a:xfrm>
            <a:prstGeom prst="straightConnector1">
              <a:avLst/>
            </a:prstGeom>
            <a:noFill/>
            <a:ln w="15875" cap="rnd" cmpd="sng">
              <a:solidFill>
                <a:srgbClr val="7F7F7F"/>
              </a:solidFill>
              <a:prstDash val="solid"/>
              <a:miter lim="800000"/>
              <a:headEnd type="none" w="sm" len="sm"/>
              <a:tailEnd type="none" w="sm" len="sm"/>
            </a:ln>
          </p:spPr>
        </p:cxnSp>
        <p:cxnSp>
          <p:nvCxnSpPr>
            <p:cNvPr id="5427" name="Google Shape;5427;p21"/>
            <p:cNvCxnSpPr/>
            <p:nvPr/>
          </p:nvCxnSpPr>
          <p:spPr>
            <a:xfrm>
              <a:off x="1087792" y="3564681"/>
              <a:ext cx="265450" cy="0"/>
            </a:xfrm>
            <a:prstGeom prst="straightConnector1">
              <a:avLst/>
            </a:prstGeom>
            <a:noFill/>
            <a:ln w="15875" cap="rnd" cmpd="sng">
              <a:solidFill>
                <a:srgbClr val="7F7F7F"/>
              </a:solidFill>
              <a:prstDash val="solid"/>
              <a:miter lim="800000"/>
              <a:headEnd type="none" w="sm" len="sm"/>
              <a:tailEnd type="none" w="sm" len="sm"/>
            </a:ln>
          </p:spPr>
        </p:cxnSp>
        <p:grpSp>
          <p:nvGrpSpPr>
            <p:cNvPr id="5428" name="Google Shape;5428;p21"/>
            <p:cNvGrpSpPr/>
            <p:nvPr/>
          </p:nvGrpSpPr>
          <p:grpSpPr>
            <a:xfrm>
              <a:off x="1151426" y="3495589"/>
              <a:ext cx="138180" cy="69092"/>
              <a:chOff x="2184796" y="2342548"/>
              <a:chExt cx="90488" cy="61632"/>
            </a:xfrm>
          </p:grpSpPr>
          <p:cxnSp>
            <p:nvCxnSpPr>
              <p:cNvPr id="5429" name="Google Shape;5429;p21"/>
              <p:cNvCxnSpPr/>
              <p:nvPr/>
            </p:nvCxnSpPr>
            <p:spPr>
              <a:xfrm>
                <a:off x="2230040" y="2343043"/>
                <a:ext cx="0" cy="61137"/>
              </a:xfrm>
              <a:prstGeom prst="straightConnector1">
                <a:avLst/>
              </a:prstGeom>
              <a:noFill/>
              <a:ln w="15875" cap="flat" cmpd="sng">
                <a:solidFill>
                  <a:srgbClr val="7F7F7F"/>
                </a:solidFill>
                <a:prstDash val="solid"/>
                <a:miter lim="800000"/>
                <a:headEnd type="none" w="sm" len="sm"/>
                <a:tailEnd type="none" w="sm" len="sm"/>
              </a:ln>
            </p:spPr>
          </p:cxnSp>
          <p:cxnSp>
            <p:nvCxnSpPr>
              <p:cNvPr id="5430" name="Google Shape;5430;p21"/>
              <p:cNvCxnSpPr/>
              <p:nvPr/>
            </p:nvCxnSpPr>
            <p:spPr>
              <a:xfrm>
                <a:off x="2275284" y="2342548"/>
                <a:ext cx="0" cy="61137"/>
              </a:xfrm>
              <a:prstGeom prst="straightConnector1">
                <a:avLst/>
              </a:prstGeom>
              <a:noFill/>
              <a:ln w="15875" cap="flat" cmpd="sng">
                <a:solidFill>
                  <a:srgbClr val="7F7F7F"/>
                </a:solidFill>
                <a:prstDash val="solid"/>
                <a:miter lim="800000"/>
                <a:headEnd type="none" w="sm" len="sm"/>
                <a:tailEnd type="none" w="sm" len="sm"/>
              </a:ln>
            </p:spPr>
          </p:cxnSp>
          <p:cxnSp>
            <p:nvCxnSpPr>
              <p:cNvPr id="5431" name="Google Shape;5431;p21"/>
              <p:cNvCxnSpPr/>
              <p:nvPr/>
            </p:nvCxnSpPr>
            <p:spPr>
              <a:xfrm>
                <a:off x="2184796" y="2342548"/>
                <a:ext cx="0" cy="61137"/>
              </a:xfrm>
              <a:prstGeom prst="straightConnector1">
                <a:avLst/>
              </a:prstGeom>
              <a:noFill/>
              <a:ln w="15875" cap="flat" cmpd="sng">
                <a:solidFill>
                  <a:srgbClr val="7F7F7F"/>
                </a:solidFill>
                <a:prstDash val="solid"/>
                <a:miter lim="800000"/>
                <a:headEnd type="none" w="sm" len="sm"/>
                <a:tailEnd type="none" w="sm" len="sm"/>
              </a:ln>
            </p:spPr>
          </p:cxnSp>
        </p:grpSp>
        <p:cxnSp>
          <p:nvCxnSpPr>
            <p:cNvPr id="5432" name="Google Shape;5432;p21"/>
            <p:cNvCxnSpPr/>
            <p:nvPr/>
          </p:nvCxnSpPr>
          <p:spPr>
            <a:xfrm>
              <a:off x="1087792" y="3386029"/>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433" name="Google Shape;5433;p21"/>
            <p:cNvCxnSpPr/>
            <p:nvPr/>
          </p:nvCxnSpPr>
          <p:spPr>
            <a:xfrm>
              <a:off x="1269607" y="3386029"/>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434" name="Google Shape;5434;p21"/>
            <p:cNvCxnSpPr/>
            <p:nvPr/>
          </p:nvCxnSpPr>
          <p:spPr>
            <a:xfrm>
              <a:off x="1178698" y="3338371"/>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435" name="Google Shape;5435;p21"/>
            <p:cNvCxnSpPr/>
            <p:nvPr/>
          </p:nvCxnSpPr>
          <p:spPr>
            <a:xfrm rot="10800000">
              <a:off x="1262333" y="3338371"/>
              <a:ext cx="0" cy="47660"/>
            </a:xfrm>
            <a:prstGeom prst="straightConnector1">
              <a:avLst/>
            </a:prstGeom>
            <a:noFill/>
            <a:ln w="15875" cap="rnd" cmpd="sng">
              <a:solidFill>
                <a:srgbClr val="7F7F7F"/>
              </a:solidFill>
              <a:prstDash val="solid"/>
              <a:miter lim="800000"/>
              <a:headEnd type="none" w="sm" len="sm"/>
              <a:tailEnd type="none" w="sm" len="sm"/>
            </a:ln>
          </p:spPr>
        </p:cxnSp>
        <p:cxnSp>
          <p:nvCxnSpPr>
            <p:cNvPr id="5436" name="Google Shape;5436;p21"/>
            <p:cNvCxnSpPr/>
            <p:nvPr/>
          </p:nvCxnSpPr>
          <p:spPr>
            <a:xfrm rot="10800000">
              <a:off x="1178698" y="3338371"/>
              <a:ext cx="0" cy="47660"/>
            </a:xfrm>
            <a:prstGeom prst="straightConnector1">
              <a:avLst/>
            </a:prstGeom>
            <a:noFill/>
            <a:ln w="15875" cap="rnd" cmpd="sng">
              <a:solidFill>
                <a:srgbClr val="7F7F7F"/>
              </a:solidFill>
              <a:prstDash val="solid"/>
              <a:miter lim="800000"/>
              <a:headEnd type="none" w="sm" len="sm"/>
              <a:tailEnd type="none" w="sm" len="sm"/>
            </a:ln>
          </p:spPr>
        </p:cxnSp>
      </p:grpSp>
      <p:grpSp>
        <p:nvGrpSpPr>
          <p:cNvPr id="5437" name="Google Shape;5437;p21"/>
          <p:cNvGrpSpPr/>
          <p:nvPr/>
        </p:nvGrpSpPr>
        <p:grpSpPr>
          <a:xfrm>
            <a:off x="769408" y="4965393"/>
            <a:ext cx="909435" cy="211239"/>
            <a:chOff x="4463228" y="3576716"/>
            <a:chExt cx="909435" cy="211239"/>
          </a:xfrm>
        </p:grpSpPr>
        <p:sp>
          <p:nvSpPr>
            <p:cNvPr id="5438" name="Google Shape;5438;p21"/>
            <p:cNvSpPr/>
            <p:nvPr/>
          </p:nvSpPr>
          <p:spPr>
            <a:xfrm>
              <a:off x="4463228" y="3576716"/>
              <a:ext cx="909435" cy="21123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lt1"/>
                </a:solidFill>
                <a:latin typeface="Arial"/>
                <a:ea typeface="Arial"/>
                <a:cs typeface="Arial"/>
                <a:sym typeface="Arial"/>
              </a:endParaRPr>
            </a:p>
          </p:txBody>
        </p:sp>
        <p:sp>
          <p:nvSpPr>
            <p:cNvPr id="5439" name="Google Shape;5439;p21"/>
            <p:cNvSpPr txBox="1"/>
            <p:nvPr/>
          </p:nvSpPr>
          <p:spPr>
            <a:xfrm>
              <a:off x="4485400" y="3608881"/>
              <a:ext cx="857900"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chemeClr val="lt1"/>
                  </a:solidFill>
                  <a:latin typeface="Arial"/>
                  <a:ea typeface="Arial"/>
                  <a:cs typeface="Arial"/>
                  <a:sym typeface="Arial"/>
                </a:rPr>
                <a:t>vmk2 - vSAN</a:t>
              </a:r>
              <a:endParaRPr/>
            </a:p>
          </p:txBody>
        </p:sp>
      </p:grpSp>
      <p:sp>
        <p:nvSpPr>
          <p:cNvPr id="5440" name="Google Shape;5440;p21"/>
          <p:cNvSpPr/>
          <p:nvPr/>
        </p:nvSpPr>
        <p:spPr>
          <a:xfrm>
            <a:off x="1736765" y="4262162"/>
            <a:ext cx="876843"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vSAN host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configuration</a:t>
            </a:r>
            <a:endParaRPr/>
          </a:p>
        </p:txBody>
      </p:sp>
      <p:grpSp>
        <p:nvGrpSpPr>
          <p:cNvPr id="5441" name="Google Shape;5441;p21"/>
          <p:cNvGrpSpPr/>
          <p:nvPr/>
        </p:nvGrpSpPr>
        <p:grpSpPr>
          <a:xfrm>
            <a:off x="1743705" y="4965393"/>
            <a:ext cx="1429823" cy="211239"/>
            <a:chOff x="4463227" y="3576716"/>
            <a:chExt cx="1429823" cy="211239"/>
          </a:xfrm>
        </p:grpSpPr>
        <p:sp>
          <p:nvSpPr>
            <p:cNvPr id="5442" name="Google Shape;5442;p21"/>
            <p:cNvSpPr/>
            <p:nvPr/>
          </p:nvSpPr>
          <p:spPr>
            <a:xfrm>
              <a:off x="4463227" y="3576716"/>
              <a:ext cx="1429823" cy="21123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lt1"/>
                </a:solidFill>
                <a:latin typeface="Arial"/>
                <a:ea typeface="Arial"/>
                <a:cs typeface="Arial"/>
                <a:sym typeface="Arial"/>
              </a:endParaRPr>
            </a:p>
          </p:txBody>
        </p:sp>
        <p:sp>
          <p:nvSpPr>
            <p:cNvPr id="5443" name="Google Shape;5443;p21"/>
            <p:cNvSpPr txBox="1"/>
            <p:nvPr/>
          </p:nvSpPr>
          <p:spPr>
            <a:xfrm>
              <a:off x="4506368" y="3608881"/>
              <a:ext cx="1335218"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chemeClr val="lt1"/>
                  </a:solidFill>
                  <a:latin typeface="Arial"/>
                  <a:ea typeface="Arial"/>
                  <a:cs typeface="Arial"/>
                  <a:sym typeface="Arial"/>
                </a:rPr>
                <a:t>vmk3 -  vSAN client</a:t>
              </a:r>
              <a:endParaRPr/>
            </a:p>
          </p:txBody>
        </p:sp>
      </p:grpSp>
      <p:sp>
        <p:nvSpPr>
          <p:cNvPr id="5444" name="Google Shape;5444;p21"/>
          <p:cNvSpPr/>
          <p:nvPr/>
        </p:nvSpPr>
        <p:spPr>
          <a:xfrm>
            <a:off x="773460" y="4728834"/>
            <a:ext cx="103233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VMkernel ports</a:t>
            </a:r>
            <a:endParaRPr/>
          </a:p>
        </p:txBody>
      </p:sp>
      <p:pic>
        <p:nvPicPr>
          <p:cNvPr id="5445" name="Google Shape;5445;p21"/>
          <p:cNvPicPr preferRelativeResize="0"/>
          <p:nvPr/>
        </p:nvPicPr>
        <p:blipFill rotWithShape="1">
          <a:blip r:embed="rId3">
            <a:alphaModFix/>
          </a:blip>
          <a:srcRect/>
          <a:stretch/>
        </p:blipFill>
        <p:spPr>
          <a:xfrm>
            <a:off x="5906986" y="5279762"/>
            <a:ext cx="190410" cy="223781"/>
          </a:xfrm>
          <a:prstGeom prst="rect">
            <a:avLst/>
          </a:prstGeom>
          <a:noFill/>
          <a:ln>
            <a:noFill/>
          </a:ln>
        </p:spPr>
      </p:pic>
      <p:grpSp>
        <p:nvGrpSpPr>
          <p:cNvPr id="5446" name="Google Shape;5446;p21"/>
          <p:cNvGrpSpPr/>
          <p:nvPr/>
        </p:nvGrpSpPr>
        <p:grpSpPr>
          <a:xfrm>
            <a:off x="4907474" y="5087168"/>
            <a:ext cx="2189434" cy="184666"/>
            <a:chOff x="7950077" y="3379353"/>
            <a:chExt cx="2189434" cy="184666"/>
          </a:xfrm>
        </p:grpSpPr>
        <p:cxnSp>
          <p:nvCxnSpPr>
            <p:cNvPr id="5447" name="Google Shape;5447;p21"/>
            <p:cNvCxnSpPr/>
            <p:nvPr/>
          </p:nvCxnSpPr>
          <p:spPr>
            <a:xfrm>
              <a:off x="7954667" y="3387515"/>
              <a:ext cx="0" cy="8801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5448" name="Google Shape;5448;p21"/>
            <p:cNvCxnSpPr/>
            <p:nvPr/>
          </p:nvCxnSpPr>
          <p:spPr>
            <a:xfrm>
              <a:off x="9300829" y="3475525"/>
              <a:ext cx="838682"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5449" name="Google Shape;5449;p21"/>
            <p:cNvCxnSpPr/>
            <p:nvPr/>
          </p:nvCxnSpPr>
          <p:spPr>
            <a:xfrm>
              <a:off x="10139511" y="3387515"/>
              <a:ext cx="0" cy="8801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5450" name="Google Shape;5450;p21"/>
            <p:cNvCxnSpPr/>
            <p:nvPr/>
          </p:nvCxnSpPr>
          <p:spPr>
            <a:xfrm>
              <a:off x="7950077" y="3475525"/>
              <a:ext cx="822922"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sp>
          <p:nvSpPr>
            <p:cNvPr id="5451" name="Google Shape;5451;p21"/>
            <p:cNvSpPr txBox="1"/>
            <p:nvPr/>
          </p:nvSpPr>
          <p:spPr>
            <a:xfrm>
              <a:off x="8694041" y="3379353"/>
              <a:ext cx="701507"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2"/>
                  </a:solidFill>
                  <a:latin typeface="Arial"/>
                  <a:ea typeface="Arial"/>
                  <a:cs typeface="Arial"/>
                  <a:sym typeface="Arial"/>
                </a:rPr>
                <a:t>vSAN</a:t>
              </a:r>
              <a:endParaRPr/>
            </a:p>
          </p:txBody>
        </p:sp>
      </p:grpSp>
      <p:grpSp>
        <p:nvGrpSpPr>
          <p:cNvPr id="5452" name="Google Shape;5452;p21"/>
          <p:cNvGrpSpPr/>
          <p:nvPr/>
        </p:nvGrpSpPr>
        <p:grpSpPr>
          <a:xfrm>
            <a:off x="4907474" y="4942879"/>
            <a:ext cx="2189434" cy="113067"/>
            <a:chOff x="9883178" y="3095486"/>
            <a:chExt cx="2189434" cy="113067"/>
          </a:xfrm>
        </p:grpSpPr>
        <p:sp>
          <p:nvSpPr>
            <p:cNvPr id="5453" name="Google Shape;5453;p21"/>
            <p:cNvSpPr/>
            <p:nvPr/>
          </p:nvSpPr>
          <p:spPr>
            <a:xfrm>
              <a:off x="9883178"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454" name="Google Shape;5454;p21"/>
            <p:cNvSpPr/>
            <p:nvPr/>
          </p:nvSpPr>
          <p:spPr>
            <a:xfrm>
              <a:off x="10447015"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455" name="Google Shape;5455;p21"/>
            <p:cNvSpPr/>
            <p:nvPr/>
          </p:nvSpPr>
          <p:spPr>
            <a:xfrm>
              <a:off x="11010852"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456" name="Google Shape;5456;p21"/>
            <p:cNvSpPr/>
            <p:nvPr/>
          </p:nvSpPr>
          <p:spPr>
            <a:xfrm>
              <a:off x="11574689"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pic>
        <p:nvPicPr>
          <p:cNvPr id="5457" name="Google Shape;5457;p21"/>
          <p:cNvPicPr preferRelativeResize="0"/>
          <p:nvPr/>
        </p:nvPicPr>
        <p:blipFill rotWithShape="1">
          <a:blip r:embed="rId3">
            <a:alphaModFix/>
          </a:blip>
          <a:srcRect/>
          <a:stretch/>
        </p:blipFill>
        <p:spPr>
          <a:xfrm>
            <a:off x="5085555" y="2706206"/>
            <a:ext cx="190410" cy="223781"/>
          </a:xfrm>
          <a:prstGeom prst="rect">
            <a:avLst/>
          </a:prstGeom>
          <a:noFill/>
          <a:ln>
            <a:noFill/>
          </a:ln>
        </p:spPr>
      </p:pic>
      <p:sp>
        <p:nvSpPr>
          <p:cNvPr id="5458" name="Google Shape;5458;p21"/>
          <p:cNvSpPr/>
          <p:nvPr/>
        </p:nvSpPr>
        <p:spPr>
          <a:xfrm>
            <a:off x="4759047" y="5601736"/>
            <a:ext cx="2504915" cy="184666"/>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a:solidFill>
                  <a:schemeClr val="accent2"/>
                </a:solidFill>
                <a:latin typeface="Arial"/>
                <a:ea typeface="Arial"/>
                <a:cs typeface="Arial"/>
                <a:sym typeface="Arial"/>
              </a:rPr>
              <a:t>East/west vSAN cluster traffic</a:t>
            </a:r>
            <a:endParaRPr/>
          </a:p>
        </p:txBody>
      </p:sp>
      <p:grpSp>
        <p:nvGrpSpPr>
          <p:cNvPr id="5459" name="Google Shape;5459;p21"/>
          <p:cNvGrpSpPr/>
          <p:nvPr/>
        </p:nvGrpSpPr>
        <p:grpSpPr>
          <a:xfrm>
            <a:off x="4907474" y="4775427"/>
            <a:ext cx="2189434" cy="113067"/>
            <a:chOff x="9883178" y="3095486"/>
            <a:chExt cx="2189434" cy="113067"/>
          </a:xfrm>
        </p:grpSpPr>
        <p:sp>
          <p:nvSpPr>
            <p:cNvPr id="5460" name="Google Shape;5460;p21"/>
            <p:cNvSpPr/>
            <p:nvPr/>
          </p:nvSpPr>
          <p:spPr>
            <a:xfrm>
              <a:off x="9883178"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461" name="Google Shape;5461;p21"/>
            <p:cNvSpPr/>
            <p:nvPr/>
          </p:nvSpPr>
          <p:spPr>
            <a:xfrm>
              <a:off x="10447015"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462" name="Google Shape;5462;p21"/>
            <p:cNvSpPr/>
            <p:nvPr/>
          </p:nvSpPr>
          <p:spPr>
            <a:xfrm>
              <a:off x="11010852"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463" name="Google Shape;5463;p21"/>
            <p:cNvSpPr/>
            <p:nvPr/>
          </p:nvSpPr>
          <p:spPr>
            <a:xfrm>
              <a:off x="11574689"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5464" name="Google Shape;5464;p21"/>
          <p:cNvGrpSpPr/>
          <p:nvPr/>
        </p:nvGrpSpPr>
        <p:grpSpPr>
          <a:xfrm>
            <a:off x="5686869" y="4038226"/>
            <a:ext cx="643274" cy="171194"/>
            <a:chOff x="5686869" y="4038226"/>
            <a:chExt cx="643274" cy="171194"/>
          </a:xfrm>
        </p:grpSpPr>
        <p:sp>
          <p:nvSpPr>
            <p:cNvPr id="5465" name="Google Shape;5465;p21"/>
            <p:cNvSpPr/>
            <p:nvPr/>
          </p:nvSpPr>
          <p:spPr>
            <a:xfrm>
              <a:off x="5686870" y="4038226"/>
              <a:ext cx="643273" cy="1711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5466" name="Google Shape;5466;p21"/>
            <p:cNvPicPr preferRelativeResize="0"/>
            <p:nvPr/>
          </p:nvPicPr>
          <p:blipFill rotWithShape="1">
            <a:blip r:embed="rId4">
              <a:alphaModFix/>
            </a:blip>
            <a:srcRect/>
            <a:stretch/>
          </p:blipFill>
          <p:spPr>
            <a:xfrm rot="10800000" flipH="1">
              <a:off x="5686869" y="4038226"/>
              <a:ext cx="643274" cy="171194"/>
            </a:xfrm>
            <a:prstGeom prst="rect">
              <a:avLst/>
            </a:prstGeom>
            <a:noFill/>
            <a:ln>
              <a:noFill/>
            </a:ln>
          </p:spPr>
        </p:pic>
      </p:grpSp>
      <p:grpSp>
        <p:nvGrpSpPr>
          <p:cNvPr id="5467" name="Google Shape;5467;p21"/>
          <p:cNvGrpSpPr/>
          <p:nvPr/>
        </p:nvGrpSpPr>
        <p:grpSpPr>
          <a:xfrm>
            <a:off x="3421061" y="4446828"/>
            <a:ext cx="0" cy="321079"/>
            <a:chOff x="3421061" y="4446828"/>
            <a:chExt cx="0" cy="321079"/>
          </a:xfrm>
        </p:grpSpPr>
        <p:cxnSp>
          <p:nvCxnSpPr>
            <p:cNvPr id="5468" name="Google Shape;5468;p21"/>
            <p:cNvCxnSpPr/>
            <p:nvPr/>
          </p:nvCxnSpPr>
          <p:spPr>
            <a:xfrm>
              <a:off x="3421061" y="4446828"/>
              <a:ext cx="0" cy="321079"/>
            </a:xfrm>
            <a:prstGeom prst="straightConnector1">
              <a:avLst/>
            </a:prstGeom>
            <a:noFill/>
            <a:ln w="25400" cap="flat" cmpd="sng">
              <a:solidFill>
                <a:schemeClr val="accent2"/>
              </a:solidFill>
              <a:prstDash val="solid"/>
              <a:miter lim="800000"/>
              <a:headEnd type="none" w="sm" len="sm"/>
              <a:tailEnd type="none" w="sm" len="sm"/>
            </a:ln>
          </p:spPr>
        </p:cxnSp>
        <p:cxnSp>
          <p:nvCxnSpPr>
            <p:cNvPr id="5469" name="Google Shape;5469;p21"/>
            <p:cNvCxnSpPr/>
            <p:nvPr/>
          </p:nvCxnSpPr>
          <p:spPr>
            <a:xfrm rot="10800000">
              <a:off x="3421061" y="4446828"/>
              <a:ext cx="0" cy="321079"/>
            </a:xfrm>
            <a:prstGeom prst="straightConnector1">
              <a:avLst/>
            </a:prstGeom>
            <a:noFill/>
            <a:ln w="9525" cap="flat" cmpd="sng">
              <a:solidFill>
                <a:schemeClr val="accent2"/>
              </a:solidFill>
              <a:prstDash val="solid"/>
              <a:miter lim="800000"/>
              <a:headEnd type="none" w="sm" len="sm"/>
              <a:tailEnd type="none" w="sm" len="sm"/>
            </a:ln>
          </p:spPr>
        </p:cxnSp>
      </p:grpSp>
      <p:grpSp>
        <p:nvGrpSpPr>
          <p:cNvPr id="5470" name="Google Shape;5470;p21"/>
          <p:cNvGrpSpPr/>
          <p:nvPr/>
        </p:nvGrpSpPr>
        <p:grpSpPr>
          <a:xfrm>
            <a:off x="3965877" y="4446828"/>
            <a:ext cx="0" cy="321079"/>
            <a:chOff x="3965877" y="4446828"/>
            <a:chExt cx="0" cy="321079"/>
          </a:xfrm>
        </p:grpSpPr>
        <p:cxnSp>
          <p:nvCxnSpPr>
            <p:cNvPr id="5471" name="Google Shape;5471;p21"/>
            <p:cNvCxnSpPr/>
            <p:nvPr/>
          </p:nvCxnSpPr>
          <p:spPr>
            <a:xfrm>
              <a:off x="3965877" y="4446828"/>
              <a:ext cx="0" cy="321079"/>
            </a:xfrm>
            <a:prstGeom prst="straightConnector1">
              <a:avLst/>
            </a:prstGeom>
            <a:noFill/>
            <a:ln w="25400" cap="flat" cmpd="sng">
              <a:solidFill>
                <a:schemeClr val="accent4"/>
              </a:solidFill>
              <a:prstDash val="solid"/>
              <a:miter lim="800000"/>
              <a:headEnd type="none" w="sm" len="sm"/>
              <a:tailEnd type="none" w="sm" len="sm"/>
            </a:ln>
          </p:spPr>
        </p:cxnSp>
        <p:cxnSp>
          <p:nvCxnSpPr>
            <p:cNvPr id="5472" name="Google Shape;5472;p21"/>
            <p:cNvCxnSpPr/>
            <p:nvPr/>
          </p:nvCxnSpPr>
          <p:spPr>
            <a:xfrm rot="10800000">
              <a:off x="3965877" y="4446828"/>
              <a:ext cx="0" cy="321079"/>
            </a:xfrm>
            <a:prstGeom prst="straightConnector1">
              <a:avLst/>
            </a:prstGeom>
            <a:noFill/>
            <a:ln w="9525" cap="flat" cmpd="sng">
              <a:solidFill>
                <a:schemeClr val="accent2"/>
              </a:solidFill>
              <a:prstDash val="solid"/>
              <a:miter lim="800000"/>
              <a:headEnd type="none" w="sm" len="sm"/>
              <a:tailEnd type="none" w="sm" len="sm"/>
            </a:ln>
          </p:spPr>
        </p:cxnSp>
      </p:grpSp>
      <p:grpSp>
        <p:nvGrpSpPr>
          <p:cNvPr id="5473" name="Google Shape;5473;p21"/>
          <p:cNvGrpSpPr/>
          <p:nvPr/>
        </p:nvGrpSpPr>
        <p:grpSpPr>
          <a:xfrm>
            <a:off x="5274610" y="4262162"/>
            <a:ext cx="1459117" cy="442666"/>
            <a:chOff x="5274610" y="4262162"/>
            <a:chExt cx="1459117" cy="442666"/>
          </a:xfrm>
        </p:grpSpPr>
        <p:cxnSp>
          <p:nvCxnSpPr>
            <p:cNvPr id="5474" name="Google Shape;5474;p21"/>
            <p:cNvCxnSpPr/>
            <p:nvPr/>
          </p:nvCxnSpPr>
          <p:spPr>
            <a:xfrm rot="10800000">
              <a:off x="6096786" y="4262162"/>
              <a:ext cx="636941" cy="436250"/>
            </a:xfrm>
            <a:prstGeom prst="straightConnector1">
              <a:avLst/>
            </a:prstGeom>
            <a:noFill/>
            <a:ln w="9525" cap="flat" cmpd="sng">
              <a:solidFill>
                <a:srgbClr val="7F7F7F"/>
              </a:solidFill>
              <a:prstDash val="solid"/>
              <a:miter lim="800000"/>
              <a:headEnd type="none" w="sm" len="sm"/>
              <a:tailEnd type="none" w="sm" len="sm"/>
            </a:ln>
          </p:spPr>
        </p:cxnSp>
        <p:cxnSp>
          <p:nvCxnSpPr>
            <p:cNvPr id="5475" name="Google Shape;5475;p21"/>
            <p:cNvCxnSpPr/>
            <p:nvPr/>
          </p:nvCxnSpPr>
          <p:spPr>
            <a:xfrm rot="10800000">
              <a:off x="6035148" y="4270090"/>
              <a:ext cx="214585" cy="434738"/>
            </a:xfrm>
            <a:prstGeom prst="straightConnector1">
              <a:avLst/>
            </a:prstGeom>
            <a:noFill/>
            <a:ln w="9525" cap="flat" cmpd="sng">
              <a:solidFill>
                <a:srgbClr val="7F7F7F"/>
              </a:solidFill>
              <a:prstDash val="solid"/>
              <a:miter lim="800000"/>
              <a:headEnd type="none" w="sm" len="sm"/>
              <a:tailEnd type="none" w="sm" len="sm"/>
            </a:ln>
          </p:spPr>
        </p:cxnSp>
        <p:cxnSp>
          <p:nvCxnSpPr>
            <p:cNvPr id="5476" name="Google Shape;5476;p21"/>
            <p:cNvCxnSpPr/>
            <p:nvPr/>
          </p:nvCxnSpPr>
          <p:spPr>
            <a:xfrm rot="10800000" flipH="1">
              <a:off x="5759492" y="4262447"/>
              <a:ext cx="221209" cy="435965"/>
            </a:xfrm>
            <a:prstGeom prst="straightConnector1">
              <a:avLst/>
            </a:prstGeom>
            <a:noFill/>
            <a:ln w="9525" cap="flat" cmpd="sng">
              <a:solidFill>
                <a:srgbClr val="7F7F7F"/>
              </a:solidFill>
              <a:prstDash val="solid"/>
              <a:miter lim="800000"/>
              <a:headEnd type="none" w="sm" len="sm"/>
              <a:tailEnd type="none" w="sm" len="sm"/>
            </a:ln>
          </p:spPr>
        </p:cxnSp>
        <p:cxnSp>
          <p:nvCxnSpPr>
            <p:cNvPr id="5477" name="Google Shape;5477;p21"/>
            <p:cNvCxnSpPr/>
            <p:nvPr/>
          </p:nvCxnSpPr>
          <p:spPr>
            <a:xfrm rot="10800000" flipH="1">
              <a:off x="5274610" y="4270375"/>
              <a:ext cx="629498" cy="426552"/>
            </a:xfrm>
            <a:prstGeom prst="straightConnector1">
              <a:avLst/>
            </a:prstGeom>
            <a:noFill/>
            <a:ln w="9525" cap="flat" cmpd="sng">
              <a:solidFill>
                <a:srgbClr val="7F7F7F"/>
              </a:solidFill>
              <a:prstDash val="solid"/>
              <a:miter lim="800000"/>
              <a:headEnd type="none" w="sm" len="sm"/>
              <a:tailEnd type="none" w="sm" len="sm"/>
            </a:ln>
          </p:spPr>
        </p:cxnSp>
      </p:grpSp>
      <p:sp>
        <p:nvSpPr>
          <p:cNvPr id="5478" name="Google Shape;5478;p21"/>
          <p:cNvSpPr txBox="1"/>
          <p:nvPr/>
        </p:nvSpPr>
        <p:spPr>
          <a:xfrm>
            <a:off x="3177809" y="2766924"/>
            <a:ext cx="504474"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7F7F7F"/>
                </a:solidFill>
                <a:latin typeface="Arial"/>
                <a:ea typeface="Arial"/>
                <a:cs typeface="Arial"/>
                <a:sym typeface="Arial"/>
              </a:rPr>
              <a:t>vmnic1</a:t>
            </a:r>
            <a:endParaRPr/>
          </a:p>
        </p:txBody>
      </p:sp>
      <p:grpSp>
        <p:nvGrpSpPr>
          <p:cNvPr id="5479" name="Google Shape;5479;p21"/>
          <p:cNvGrpSpPr/>
          <p:nvPr/>
        </p:nvGrpSpPr>
        <p:grpSpPr>
          <a:xfrm>
            <a:off x="3300940" y="2515529"/>
            <a:ext cx="265450" cy="226310"/>
            <a:chOff x="1087792" y="3338371"/>
            <a:chExt cx="265450" cy="226310"/>
          </a:xfrm>
        </p:grpSpPr>
        <p:cxnSp>
          <p:nvCxnSpPr>
            <p:cNvPr id="5480" name="Google Shape;5480;p21"/>
            <p:cNvCxnSpPr/>
            <p:nvPr/>
          </p:nvCxnSpPr>
          <p:spPr>
            <a:xfrm>
              <a:off x="1087792" y="3386029"/>
              <a:ext cx="0" cy="178652"/>
            </a:xfrm>
            <a:prstGeom prst="straightConnector1">
              <a:avLst/>
            </a:prstGeom>
            <a:noFill/>
            <a:ln w="15875" cap="rnd" cmpd="sng">
              <a:solidFill>
                <a:srgbClr val="7F7F7F"/>
              </a:solidFill>
              <a:prstDash val="solid"/>
              <a:miter lim="800000"/>
              <a:headEnd type="none" w="sm" len="sm"/>
              <a:tailEnd type="none" w="sm" len="sm"/>
            </a:ln>
          </p:spPr>
        </p:cxnSp>
        <p:cxnSp>
          <p:nvCxnSpPr>
            <p:cNvPr id="5481" name="Google Shape;5481;p21"/>
            <p:cNvCxnSpPr/>
            <p:nvPr/>
          </p:nvCxnSpPr>
          <p:spPr>
            <a:xfrm>
              <a:off x="1353242" y="3386029"/>
              <a:ext cx="0" cy="178652"/>
            </a:xfrm>
            <a:prstGeom prst="straightConnector1">
              <a:avLst/>
            </a:prstGeom>
            <a:noFill/>
            <a:ln w="15875" cap="rnd" cmpd="sng">
              <a:solidFill>
                <a:srgbClr val="7F7F7F"/>
              </a:solidFill>
              <a:prstDash val="solid"/>
              <a:miter lim="800000"/>
              <a:headEnd type="none" w="sm" len="sm"/>
              <a:tailEnd type="none" w="sm" len="sm"/>
            </a:ln>
          </p:spPr>
        </p:cxnSp>
        <p:cxnSp>
          <p:nvCxnSpPr>
            <p:cNvPr id="5482" name="Google Shape;5482;p21"/>
            <p:cNvCxnSpPr/>
            <p:nvPr/>
          </p:nvCxnSpPr>
          <p:spPr>
            <a:xfrm>
              <a:off x="1087792" y="3564681"/>
              <a:ext cx="265450" cy="0"/>
            </a:xfrm>
            <a:prstGeom prst="straightConnector1">
              <a:avLst/>
            </a:prstGeom>
            <a:noFill/>
            <a:ln w="15875" cap="rnd" cmpd="sng">
              <a:solidFill>
                <a:srgbClr val="7F7F7F"/>
              </a:solidFill>
              <a:prstDash val="solid"/>
              <a:miter lim="800000"/>
              <a:headEnd type="none" w="sm" len="sm"/>
              <a:tailEnd type="none" w="sm" len="sm"/>
            </a:ln>
          </p:spPr>
        </p:cxnSp>
        <p:grpSp>
          <p:nvGrpSpPr>
            <p:cNvPr id="5483" name="Google Shape;5483;p21"/>
            <p:cNvGrpSpPr/>
            <p:nvPr/>
          </p:nvGrpSpPr>
          <p:grpSpPr>
            <a:xfrm>
              <a:off x="1151426" y="3495589"/>
              <a:ext cx="138180" cy="69092"/>
              <a:chOff x="2184796" y="2342548"/>
              <a:chExt cx="90488" cy="61632"/>
            </a:xfrm>
          </p:grpSpPr>
          <p:cxnSp>
            <p:nvCxnSpPr>
              <p:cNvPr id="5484" name="Google Shape;5484;p21"/>
              <p:cNvCxnSpPr/>
              <p:nvPr/>
            </p:nvCxnSpPr>
            <p:spPr>
              <a:xfrm>
                <a:off x="2230040" y="2343043"/>
                <a:ext cx="0" cy="61137"/>
              </a:xfrm>
              <a:prstGeom prst="straightConnector1">
                <a:avLst/>
              </a:prstGeom>
              <a:noFill/>
              <a:ln w="15875" cap="flat" cmpd="sng">
                <a:solidFill>
                  <a:srgbClr val="7F7F7F"/>
                </a:solidFill>
                <a:prstDash val="solid"/>
                <a:miter lim="800000"/>
                <a:headEnd type="none" w="sm" len="sm"/>
                <a:tailEnd type="none" w="sm" len="sm"/>
              </a:ln>
            </p:spPr>
          </p:cxnSp>
          <p:cxnSp>
            <p:nvCxnSpPr>
              <p:cNvPr id="5485" name="Google Shape;5485;p21"/>
              <p:cNvCxnSpPr/>
              <p:nvPr/>
            </p:nvCxnSpPr>
            <p:spPr>
              <a:xfrm>
                <a:off x="2275284" y="2342548"/>
                <a:ext cx="0" cy="61137"/>
              </a:xfrm>
              <a:prstGeom prst="straightConnector1">
                <a:avLst/>
              </a:prstGeom>
              <a:noFill/>
              <a:ln w="15875" cap="flat" cmpd="sng">
                <a:solidFill>
                  <a:srgbClr val="7F7F7F"/>
                </a:solidFill>
                <a:prstDash val="solid"/>
                <a:miter lim="800000"/>
                <a:headEnd type="none" w="sm" len="sm"/>
                <a:tailEnd type="none" w="sm" len="sm"/>
              </a:ln>
            </p:spPr>
          </p:cxnSp>
          <p:cxnSp>
            <p:nvCxnSpPr>
              <p:cNvPr id="5486" name="Google Shape;5486;p21"/>
              <p:cNvCxnSpPr/>
              <p:nvPr/>
            </p:nvCxnSpPr>
            <p:spPr>
              <a:xfrm>
                <a:off x="2184796" y="2342548"/>
                <a:ext cx="0" cy="61137"/>
              </a:xfrm>
              <a:prstGeom prst="straightConnector1">
                <a:avLst/>
              </a:prstGeom>
              <a:noFill/>
              <a:ln w="15875" cap="flat" cmpd="sng">
                <a:solidFill>
                  <a:srgbClr val="7F7F7F"/>
                </a:solidFill>
                <a:prstDash val="solid"/>
                <a:miter lim="800000"/>
                <a:headEnd type="none" w="sm" len="sm"/>
                <a:tailEnd type="none" w="sm" len="sm"/>
              </a:ln>
            </p:spPr>
          </p:cxnSp>
        </p:grpSp>
        <p:cxnSp>
          <p:nvCxnSpPr>
            <p:cNvPr id="5487" name="Google Shape;5487;p21"/>
            <p:cNvCxnSpPr/>
            <p:nvPr/>
          </p:nvCxnSpPr>
          <p:spPr>
            <a:xfrm>
              <a:off x="1087792" y="3386029"/>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488" name="Google Shape;5488;p21"/>
            <p:cNvCxnSpPr/>
            <p:nvPr/>
          </p:nvCxnSpPr>
          <p:spPr>
            <a:xfrm>
              <a:off x="1269607" y="3386029"/>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489" name="Google Shape;5489;p21"/>
            <p:cNvCxnSpPr/>
            <p:nvPr/>
          </p:nvCxnSpPr>
          <p:spPr>
            <a:xfrm>
              <a:off x="1178698" y="3338371"/>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490" name="Google Shape;5490;p21"/>
            <p:cNvCxnSpPr/>
            <p:nvPr/>
          </p:nvCxnSpPr>
          <p:spPr>
            <a:xfrm rot="10800000">
              <a:off x="1262333" y="3338371"/>
              <a:ext cx="0" cy="47660"/>
            </a:xfrm>
            <a:prstGeom prst="straightConnector1">
              <a:avLst/>
            </a:prstGeom>
            <a:noFill/>
            <a:ln w="15875" cap="rnd" cmpd="sng">
              <a:solidFill>
                <a:srgbClr val="7F7F7F"/>
              </a:solidFill>
              <a:prstDash val="solid"/>
              <a:miter lim="800000"/>
              <a:headEnd type="none" w="sm" len="sm"/>
              <a:tailEnd type="none" w="sm" len="sm"/>
            </a:ln>
          </p:spPr>
        </p:cxnSp>
        <p:cxnSp>
          <p:nvCxnSpPr>
            <p:cNvPr id="5491" name="Google Shape;5491;p21"/>
            <p:cNvCxnSpPr/>
            <p:nvPr/>
          </p:nvCxnSpPr>
          <p:spPr>
            <a:xfrm rot="10800000">
              <a:off x="1178698" y="3338371"/>
              <a:ext cx="0" cy="47660"/>
            </a:xfrm>
            <a:prstGeom prst="straightConnector1">
              <a:avLst/>
            </a:prstGeom>
            <a:noFill/>
            <a:ln w="15875" cap="rnd" cmpd="sng">
              <a:solidFill>
                <a:srgbClr val="7F7F7F"/>
              </a:solidFill>
              <a:prstDash val="solid"/>
              <a:miter lim="800000"/>
              <a:headEnd type="none" w="sm" len="sm"/>
              <a:tailEnd type="none" w="sm" len="sm"/>
            </a:ln>
          </p:spPr>
        </p:cxnSp>
      </p:grpSp>
      <p:sp>
        <p:nvSpPr>
          <p:cNvPr id="5492" name="Google Shape;5492;p21"/>
          <p:cNvSpPr txBox="1"/>
          <p:nvPr/>
        </p:nvSpPr>
        <p:spPr>
          <a:xfrm>
            <a:off x="3722625" y="2766924"/>
            <a:ext cx="504474"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7F7F7F"/>
                </a:solidFill>
                <a:latin typeface="Arial"/>
                <a:ea typeface="Arial"/>
                <a:cs typeface="Arial"/>
                <a:sym typeface="Arial"/>
              </a:rPr>
              <a:t>vmnic3</a:t>
            </a:r>
            <a:endParaRPr/>
          </a:p>
        </p:txBody>
      </p:sp>
      <p:grpSp>
        <p:nvGrpSpPr>
          <p:cNvPr id="5493" name="Google Shape;5493;p21"/>
          <p:cNvGrpSpPr/>
          <p:nvPr/>
        </p:nvGrpSpPr>
        <p:grpSpPr>
          <a:xfrm>
            <a:off x="3845756" y="2515529"/>
            <a:ext cx="265450" cy="226310"/>
            <a:chOff x="1087792" y="3338371"/>
            <a:chExt cx="265450" cy="226310"/>
          </a:xfrm>
        </p:grpSpPr>
        <p:cxnSp>
          <p:nvCxnSpPr>
            <p:cNvPr id="5494" name="Google Shape;5494;p21"/>
            <p:cNvCxnSpPr/>
            <p:nvPr/>
          </p:nvCxnSpPr>
          <p:spPr>
            <a:xfrm>
              <a:off x="1087792" y="3386029"/>
              <a:ext cx="0" cy="178652"/>
            </a:xfrm>
            <a:prstGeom prst="straightConnector1">
              <a:avLst/>
            </a:prstGeom>
            <a:noFill/>
            <a:ln w="15875" cap="rnd" cmpd="sng">
              <a:solidFill>
                <a:srgbClr val="7F7F7F"/>
              </a:solidFill>
              <a:prstDash val="solid"/>
              <a:miter lim="800000"/>
              <a:headEnd type="none" w="sm" len="sm"/>
              <a:tailEnd type="none" w="sm" len="sm"/>
            </a:ln>
          </p:spPr>
        </p:cxnSp>
        <p:cxnSp>
          <p:nvCxnSpPr>
            <p:cNvPr id="5495" name="Google Shape;5495;p21"/>
            <p:cNvCxnSpPr/>
            <p:nvPr/>
          </p:nvCxnSpPr>
          <p:spPr>
            <a:xfrm>
              <a:off x="1353242" y="3386029"/>
              <a:ext cx="0" cy="178652"/>
            </a:xfrm>
            <a:prstGeom prst="straightConnector1">
              <a:avLst/>
            </a:prstGeom>
            <a:noFill/>
            <a:ln w="15875" cap="rnd" cmpd="sng">
              <a:solidFill>
                <a:srgbClr val="7F7F7F"/>
              </a:solidFill>
              <a:prstDash val="solid"/>
              <a:miter lim="800000"/>
              <a:headEnd type="none" w="sm" len="sm"/>
              <a:tailEnd type="none" w="sm" len="sm"/>
            </a:ln>
          </p:spPr>
        </p:cxnSp>
        <p:cxnSp>
          <p:nvCxnSpPr>
            <p:cNvPr id="5496" name="Google Shape;5496;p21"/>
            <p:cNvCxnSpPr/>
            <p:nvPr/>
          </p:nvCxnSpPr>
          <p:spPr>
            <a:xfrm>
              <a:off x="1087792" y="3564681"/>
              <a:ext cx="265450" cy="0"/>
            </a:xfrm>
            <a:prstGeom prst="straightConnector1">
              <a:avLst/>
            </a:prstGeom>
            <a:noFill/>
            <a:ln w="15875" cap="rnd" cmpd="sng">
              <a:solidFill>
                <a:srgbClr val="7F7F7F"/>
              </a:solidFill>
              <a:prstDash val="solid"/>
              <a:miter lim="800000"/>
              <a:headEnd type="none" w="sm" len="sm"/>
              <a:tailEnd type="none" w="sm" len="sm"/>
            </a:ln>
          </p:spPr>
        </p:cxnSp>
        <p:grpSp>
          <p:nvGrpSpPr>
            <p:cNvPr id="5497" name="Google Shape;5497;p21"/>
            <p:cNvGrpSpPr/>
            <p:nvPr/>
          </p:nvGrpSpPr>
          <p:grpSpPr>
            <a:xfrm>
              <a:off x="1151426" y="3495589"/>
              <a:ext cx="138180" cy="69092"/>
              <a:chOff x="2184796" y="2342548"/>
              <a:chExt cx="90488" cy="61632"/>
            </a:xfrm>
          </p:grpSpPr>
          <p:cxnSp>
            <p:nvCxnSpPr>
              <p:cNvPr id="5498" name="Google Shape;5498;p21"/>
              <p:cNvCxnSpPr/>
              <p:nvPr/>
            </p:nvCxnSpPr>
            <p:spPr>
              <a:xfrm>
                <a:off x="2230040" y="2343043"/>
                <a:ext cx="0" cy="61137"/>
              </a:xfrm>
              <a:prstGeom prst="straightConnector1">
                <a:avLst/>
              </a:prstGeom>
              <a:noFill/>
              <a:ln w="15875" cap="flat" cmpd="sng">
                <a:solidFill>
                  <a:srgbClr val="7F7F7F"/>
                </a:solidFill>
                <a:prstDash val="solid"/>
                <a:miter lim="800000"/>
                <a:headEnd type="none" w="sm" len="sm"/>
                <a:tailEnd type="none" w="sm" len="sm"/>
              </a:ln>
            </p:spPr>
          </p:cxnSp>
          <p:cxnSp>
            <p:nvCxnSpPr>
              <p:cNvPr id="5499" name="Google Shape;5499;p21"/>
              <p:cNvCxnSpPr/>
              <p:nvPr/>
            </p:nvCxnSpPr>
            <p:spPr>
              <a:xfrm>
                <a:off x="2275284" y="2342548"/>
                <a:ext cx="0" cy="61137"/>
              </a:xfrm>
              <a:prstGeom prst="straightConnector1">
                <a:avLst/>
              </a:prstGeom>
              <a:noFill/>
              <a:ln w="15875" cap="flat" cmpd="sng">
                <a:solidFill>
                  <a:srgbClr val="7F7F7F"/>
                </a:solidFill>
                <a:prstDash val="solid"/>
                <a:miter lim="800000"/>
                <a:headEnd type="none" w="sm" len="sm"/>
                <a:tailEnd type="none" w="sm" len="sm"/>
              </a:ln>
            </p:spPr>
          </p:cxnSp>
          <p:cxnSp>
            <p:nvCxnSpPr>
              <p:cNvPr id="5500" name="Google Shape;5500;p21"/>
              <p:cNvCxnSpPr/>
              <p:nvPr/>
            </p:nvCxnSpPr>
            <p:spPr>
              <a:xfrm>
                <a:off x="2184796" y="2342548"/>
                <a:ext cx="0" cy="61137"/>
              </a:xfrm>
              <a:prstGeom prst="straightConnector1">
                <a:avLst/>
              </a:prstGeom>
              <a:noFill/>
              <a:ln w="15875" cap="flat" cmpd="sng">
                <a:solidFill>
                  <a:srgbClr val="7F7F7F"/>
                </a:solidFill>
                <a:prstDash val="solid"/>
                <a:miter lim="800000"/>
                <a:headEnd type="none" w="sm" len="sm"/>
                <a:tailEnd type="none" w="sm" len="sm"/>
              </a:ln>
            </p:spPr>
          </p:cxnSp>
        </p:grpSp>
        <p:cxnSp>
          <p:nvCxnSpPr>
            <p:cNvPr id="5501" name="Google Shape;5501;p21"/>
            <p:cNvCxnSpPr/>
            <p:nvPr/>
          </p:nvCxnSpPr>
          <p:spPr>
            <a:xfrm>
              <a:off x="1087792" y="3386029"/>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502" name="Google Shape;5502;p21"/>
            <p:cNvCxnSpPr/>
            <p:nvPr/>
          </p:nvCxnSpPr>
          <p:spPr>
            <a:xfrm>
              <a:off x="1269607" y="3386029"/>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503" name="Google Shape;5503;p21"/>
            <p:cNvCxnSpPr/>
            <p:nvPr/>
          </p:nvCxnSpPr>
          <p:spPr>
            <a:xfrm>
              <a:off x="1178698" y="3338371"/>
              <a:ext cx="83635" cy="0"/>
            </a:xfrm>
            <a:prstGeom prst="straightConnector1">
              <a:avLst/>
            </a:prstGeom>
            <a:noFill/>
            <a:ln w="15875" cap="rnd" cmpd="sng">
              <a:solidFill>
                <a:srgbClr val="7F7F7F"/>
              </a:solidFill>
              <a:prstDash val="solid"/>
              <a:miter lim="800000"/>
              <a:headEnd type="none" w="sm" len="sm"/>
              <a:tailEnd type="none" w="sm" len="sm"/>
            </a:ln>
          </p:spPr>
        </p:cxnSp>
        <p:cxnSp>
          <p:nvCxnSpPr>
            <p:cNvPr id="5504" name="Google Shape;5504;p21"/>
            <p:cNvCxnSpPr/>
            <p:nvPr/>
          </p:nvCxnSpPr>
          <p:spPr>
            <a:xfrm rot="10800000">
              <a:off x="1262333" y="3338371"/>
              <a:ext cx="0" cy="47660"/>
            </a:xfrm>
            <a:prstGeom prst="straightConnector1">
              <a:avLst/>
            </a:prstGeom>
            <a:noFill/>
            <a:ln w="15875" cap="rnd" cmpd="sng">
              <a:solidFill>
                <a:srgbClr val="7F7F7F"/>
              </a:solidFill>
              <a:prstDash val="solid"/>
              <a:miter lim="800000"/>
              <a:headEnd type="none" w="sm" len="sm"/>
              <a:tailEnd type="none" w="sm" len="sm"/>
            </a:ln>
          </p:spPr>
        </p:cxnSp>
        <p:cxnSp>
          <p:nvCxnSpPr>
            <p:cNvPr id="5505" name="Google Shape;5505;p21"/>
            <p:cNvCxnSpPr/>
            <p:nvPr/>
          </p:nvCxnSpPr>
          <p:spPr>
            <a:xfrm rot="10800000">
              <a:off x="1178698" y="3338371"/>
              <a:ext cx="0" cy="47660"/>
            </a:xfrm>
            <a:prstGeom prst="straightConnector1">
              <a:avLst/>
            </a:prstGeom>
            <a:noFill/>
            <a:ln w="15875" cap="rnd" cmpd="sng">
              <a:solidFill>
                <a:srgbClr val="7F7F7F"/>
              </a:solidFill>
              <a:prstDash val="solid"/>
              <a:miter lim="800000"/>
              <a:headEnd type="none" w="sm" len="sm"/>
              <a:tailEnd type="none" w="sm" len="sm"/>
            </a:ln>
          </p:spPr>
        </p:cxnSp>
      </p:grpSp>
      <p:sp>
        <p:nvSpPr>
          <p:cNvPr id="5506" name="Google Shape;5506;p21"/>
          <p:cNvSpPr/>
          <p:nvPr/>
        </p:nvSpPr>
        <p:spPr>
          <a:xfrm>
            <a:off x="1749369" y="1888021"/>
            <a:ext cx="90409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vSphere host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configuration</a:t>
            </a:r>
            <a:endParaRPr/>
          </a:p>
        </p:txBody>
      </p:sp>
      <p:grpSp>
        <p:nvGrpSpPr>
          <p:cNvPr id="5507" name="Google Shape;5507;p21"/>
          <p:cNvGrpSpPr/>
          <p:nvPr/>
        </p:nvGrpSpPr>
        <p:grpSpPr>
          <a:xfrm>
            <a:off x="769408" y="2591252"/>
            <a:ext cx="1429823" cy="211239"/>
            <a:chOff x="4463227" y="3576716"/>
            <a:chExt cx="1429823" cy="211239"/>
          </a:xfrm>
        </p:grpSpPr>
        <p:sp>
          <p:nvSpPr>
            <p:cNvPr id="5508" name="Google Shape;5508;p21"/>
            <p:cNvSpPr/>
            <p:nvPr/>
          </p:nvSpPr>
          <p:spPr>
            <a:xfrm>
              <a:off x="4463227" y="3576716"/>
              <a:ext cx="1429823" cy="21123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lt1"/>
                </a:solidFill>
                <a:latin typeface="Arial"/>
                <a:ea typeface="Arial"/>
                <a:cs typeface="Arial"/>
                <a:sym typeface="Arial"/>
              </a:endParaRPr>
            </a:p>
          </p:txBody>
        </p:sp>
        <p:sp>
          <p:nvSpPr>
            <p:cNvPr id="5509" name="Google Shape;5509;p21"/>
            <p:cNvSpPr txBox="1"/>
            <p:nvPr/>
          </p:nvSpPr>
          <p:spPr>
            <a:xfrm>
              <a:off x="4506368" y="3608881"/>
              <a:ext cx="1335218"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chemeClr val="lt1"/>
                  </a:solidFill>
                  <a:latin typeface="Arial"/>
                  <a:ea typeface="Arial"/>
                  <a:cs typeface="Arial"/>
                  <a:sym typeface="Arial"/>
                </a:rPr>
                <a:t>vmk1 -  vSAN client</a:t>
              </a:r>
              <a:endParaRPr/>
            </a:p>
          </p:txBody>
        </p:sp>
      </p:grpSp>
      <p:sp>
        <p:nvSpPr>
          <p:cNvPr id="5510" name="Google Shape;5510;p21"/>
          <p:cNvSpPr/>
          <p:nvPr/>
        </p:nvSpPr>
        <p:spPr>
          <a:xfrm>
            <a:off x="786064" y="2354693"/>
            <a:ext cx="103233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VMkernel ports</a:t>
            </a:r>
            <a:endParaRPr/>
          </a:p>
        </p:txBody>
      </p:sp>
      <p:grpSp>
        <p:nvGrpSpPr>
          <p:cNvPr id="5511" name="Google Shape;5511;p21"/>
          <p:cNvGrpSpPr/>
          <p:nvPr/>
        </p:nvGrpSpPr>
        <p:grpSpPr>
          <a:xfrm>
            <a:off x="5686869" y="3310290"/>
            <a:ext cx="643274" cy="171194"/>
            <a:chOff x="5686869" y="3310290"/>
            <a:chExt cx="643274" cy="171194"/>
          </a:xfrm>
        </p:grpSpPr>
        <p:sp>
          <p:nvSpPr>
            <p:cNvPr id="5512" name="Google Shape;5512;p21"/>
            <p:cNvSpPr/>
            <p:nvPr/>
          </p:nvSpPr>
          <p:spPr>
            <a:xfrm>
              <a:off x="5686870" y="3310290"/>
              <a:ext cx="643273" cy="1711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5513" name="Google Shape;5513;p21"/>
            <p:cNvPicPr preferRelativeResize="0"/>
            <p:nvPr/>
          </p:nvPicPr>
          <p:blipFill rotWithShape="1">
            <a:blip r:embed="rId4">
              <a:alphaModFix/>
            </a:blip>
            <a:srcRect/>
            <a:stretch/>
          </p:blipFill>
          <p:spPr>
            <a:xfrm rot="10800000" flipH="1">
              <a:off x="5686869" y="3310290"/>
              <a:ext cx="643274" cy="171194"/>
            </a:xfrm>
            <a:prstGeom prst="rect">
              <a:avLst/>
            </a:prstGeom>
            <a:noFill/>
            <a:ln>
              <a:noFill/>
            </a:ln>
          </p:spPr>
        </p:pic>
      </p:grpSp>
      <p:cxnSp>
        <p:nvCxnSpPr>
          <p:cNvPr id="5514" name="Google Shape;5514;p21"/>
          <p:cNvCxnSpPr/>
          <p:nvPr/>
        </p:nvCxnSpPr>
        <p:spPr>
          <a:xfrm>
            <a:off x="6008506" y="3530600"/>
            <a:ext cx="0" cy="438150"/>
          </a:xfrm>
          <a:prstGeom prst="straightConnector1">
            <a:avLst/>
          </a:prstGeom>
          <a:noFill/>
          <a:ln w="25400" cap="flat" cmpd="sng">
            <a:solidFill>
              <a:schemeClr val="dk1"/>
            </a:solidFill>
            <a:prstDash val="solid"/>
            <a:miter lim="800000"/>
            <a:headEnd type="none" w="sm" len="sm"/>
            <a:tailEnd type="none" w="sm" len="sm"/>
          </a:ln>
        </p:spPr>
      </p:cxnSp>
      <p:cxnSp>
        <p:nvCxnSpPr>
          <p:cNvPr id="5515" name="Google Shape;5515;p21"/>
          <p:cNvCxnSpPr/>
          <p:nvPr/>
        </p:nvCxnSpPr>
        <p:spPr>
          <a:xfrm rot="10800000">
            <a:off x="6008506" y="3530600"/>
            <a:ext cx="0" cy="438150"/>
          </a:xfrm>
          <a:prstGeom prst="straightConnector1">
            <a:avLst/>
          </a:prstGeom>
          <a:noFill/>
          <a:ln w="9525" cap="flat" cmpd="sng">
            <a:solidFill>
              <a:schemeClr val="accent2"/>
            </a:solidFill>
            <a:prstDash val="solid"/>
            <a:miter lim="800000"/>
            <a:headEnd type="none" w="sm" len="sm"/>
            <a:tailEnd type="none" w="sm" len="sm"/>
          </a:ln>
        </p:spPr>
      </p:cxnSp>
      <p:grpSp>
        <p:nvGrpSpPr>
          <p:cNvPr id="5516" name="Google Shape;5516;p21"/>
          <p:cNvGrpSpPr/>
          <p:nvPr/>
        </p:nvGrpSpPr>
        <p:grpSpPr>
          <a:xfrm>
            <a:off x="4649880" y="2033934"/>
            <a:ext cx="1061760" cy="230392"/>
            <a:chOff x="6535453" y="2852959"/>
            <a:chExt cx="966592" cy="209741"/>
          </a:xfrm>
        </p:grpSpPr>
        <p:pic>
          <p:nvPicPr>
            <p:cNvPr id="5517" name="Google Shape;5517;p21"/>
            <p:cNvPicPr preferRelativeResize="0"/>
            <p:nvPr/>
          </p:nvPicPr>
          <p:blipFill rotWithShape="1">
            <a:blip r:embed="rId5">
              <a:alphaModFix/>
            </a:blip>
            <a:srcRect/>
            <a:stretch/>
          </p:blipFill>
          <p:spPr>
            <a:xfrm>
              <a:off x="6787737" y="2852959"/>
              <a:ext cx="209741" cy="209741"/>
            </a:xfrm>
            <a:prstGeom prst="rect">
              <a:avLst/>
            </a:prstGeom>
            <a:noFill/>
            <a:ln>
              <a:noFill/>
            </a:ln>
          </p:spPr>
        </p:pic>
        <p:pic>
          <p:nvPicPr>
            <p:cNvPr id="5518" name="Google Shape;5518;p21"/>
            <p:cNvPicPr preferRelativeResize="0"/>
            <p:nvPr/>
          </p:nvPicPr>
          <p:blipFill rotWithShape="1">
            <a:blip r:embed="rId5">
              <a:alphaModFix/>
            </a:blip>
            <a:srcRect/>
            <a:stretch/>
          </p:blipFill>
          <p:spPr>
            <a:xfrm>
              <a:off x="6535453" y="2852959"/>
              <a:ext cx="209741" cy="209741"/>
            </a:xfrm>
            <a:prstGeom prst="rect">
              <a:avLst/>
            </a:prstGeom>
            <a:noFill/>
            <a:ln>
              <a:noFill/>
            </a:ln>
          </p:spPr>
        </p:pic>
        <p:pic>
          <p:nvPicPr>
            <p:cNvPr id="5519" name="Google Shape;5519;p21"/>
            <p:cNvPicPr preferRelativeResize="0"/>
            <p:nvPr/>
          </p:nvPicPr>
          <p:blipFill rotWithShape="1">
            <a:blip r:embed="rId5">
              <a:alphaModFix/>
            </a:blip>
            <a:srcRect/>
            <a:stretch/>
          </p:blipFill>
          <p:spPr>
            <a:xfrm>
              <a:off x="7292304" y="2852959"/>
              <a:ext cx="209741" cy="209741"/>
            </a:xfrm>
            <a:prstGeom prst="rect">
              <a:avLst/>
            </a:prstGeom>
            <a:noFill/>
            <a:ln>
              <a:noFill/>
            </a:ln>
          </p:spPr>
        </p:pic>
        <p:pic>
          <p:nvPicPr>
            <p:cNvPr id="5520" name="Google Shape;5520;p21"/>
            <p:cNvPicPr preferRelativeResize="0"/>
            <p:nvPr/>
          </p:nvPicPr>
          <p:blipFill rotWithShape="1">
            <a:blip r:embed="rId5">
              <a:alphaModFix/>
            </a:blip>
            <a:srcRect/>
            <a:stretch/>
          </p:blipFill>
          <p:spPr>
            <a:xfrm>
              <a:off x="7040021" y="2852959"/>
              <a:ext cx="209741" cy="209741"/>
            </a:xfrm>
            <a:prstGeom prst="rect">
              <a:avLst/>
            </a:prstGeom>
            <a:noFill/>
            <a:ln>
              <a:noFill/>
            </a:ln>
          </p:spPr>
        </p:pic>
      </p:grpSp>
      <p:grpSp>
        <p:nvGrpSpPr>
          <p:cNvPr id="5521" name="Google Shape;5521;p21"/>
          <p:cNvGrpSpPr/>
          <p:nvPr/>
        </p:nvGrpSpPr>
        <p:grpSpPr>
          <a:xfrm>
            <a:off x="4649880" y="2316623"/>
            <a:ext cx="1061760" cy="280519"/>
            <a:chOff x="4649880" y="2316623"/>
            <a:chExt cx="1061760" cy="280519"/>
          </a:xfrm>
        </p:grpSpPr>
        <p:sp>
          <p:nvSpPr>
            <p:cNvPr id="5522" name="Google Shape;5522;p21"/>
            <p:cNvSpPr/>
            <p:nvPr/>
          </p:nvSpPr>
          <p:spPr>
            <a:xfrm>
              <a:off x="4649880" y="2316623"/>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523" name="Google Shape;5523;p21"/>
            <p:cNvSpPr/>
            <p:nvPr/>
          </p:nvSpPr>
          <p:spPr>
            <a:xfrm>
              <a:off x="5213717" y="2316623"/>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524" name="Google Shape;5524;p21"/>
            <p:cNvSpPr/>
            <p:nvPr/>
          </p:nvSpPr>
          <p:spPr>
            <a:xfrm>
              <a:off x="4649880" y="2484075"/>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525" name="Google Shape;5525;p21"/>
            <p:cNvSpPr/>
            <p:nvPr/>
          </p:nvSpPr>
          <p:spPr>
            <a:xfrm>
              <a:off x="5213717" y="2484075"/>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5526" name="Google Shape;5526;p21"/>
          <p:cNvGrpSpPr/>
          <p:nvPr/>
        </p:nvGrpSpPr>
        <p:grpSpPr>
          <a:xfrm>
            <a:off x="6317067" y="2033934"/>
            <a:ext cx="1061760" cy="230392"/>
            <a:chOff x="6535453" y="2852959"/>
            <a:chExt cx="966592" cy="209741"/>
          </a:xfrm>
        </p:grpSpPr>
        <p:pic>
          <p:nvPicPr>
            <p:cNvPr id="5527" name="Google Shape;5527;p21"/>
            <p:cNvPicPr preferRelativeResize="0"/>
            <p:nvPr/>
          </p:nvPicPr>
          <p:blipFill rotWithShape="1">
            <a:blip r:embed="rId5">
              <a:alphaModFix/>
            </a:blip>
            <a:srcRect/>
            <a:stretch/>
          </p:blipFill>
          <p:spPr>
            <a:xfrm>
              <a:off x="6787737" y="2852959"/>
              <a:ext cx="209741" cy="209741"/>
            </a:xfrm>
            <a:prstGeom prst="rect">
              <a:avLst/>
            </a:prstGeom>
            <a:noFill/>
            <a:ln>
              <a:noFill/>
            </a:ln>
          </p:spPr>
        </p:pic>
        <p:pic>
          <p:nvPicPr>
            <p:cNvPr id="5528" name="Google Shape;5528;p21"/>
            <p:cNvPicPr preferRelativeResize="0"/>
            <p:nvPr/>
          </p:nvPicPr>
          <p:blipFill rotWithShape="1">
            <a:blip r:embed="rId5">
              <a:alphaModFix/>
            </a:blip>
            <a:srcRect/>
            <a:stretch/>
          </p:blipFill>
          <p:spPr>
            <a:xfrm>
              <a:off x="6535453" y="2852959"/>
              <a:ext cx="209741" cy="209741"/>
            </a:xfrm>
            <a:prstGeom prst="rect">
              <a:avLst/>
            </a:prstGeom>
            <a:noFill/>
            <a:ln>
              <a:noFill/>
            </a:ln>
          </p:spPr>
        </p:pic>
        <p:pic>
          <p:nvPicPr>
            <p:cNvPr id="5529" name="Google Shape;5529;p21"/>
            <p:cNvPicPr preferRelativeResize="0"/>
            <p:nvPr/>
          </p:nvPicPr>
          <p:blipFill rotWithShape="1">
            <a:blip r:embed="rId5">
              <a:alphaModFix/>
            </a:blip>
            <a:srcRect/>
            <a:stretch/>
          </p:blipFill>
          <p:spPr>
            <a:xfrm>
              <a:off x="7292304" y="2852959"/>
              <a:ext cx="209741" cy="209741"/>
            </a:xfrm>
            <a:prstGeom prst="rect">
              <a:avLst/>
            </a:prstGeom>
            <a:noFill/>
            <a:ln>
              <a:noFill/>
            </a:ln>
          </p:spPr>
        </p:pic>
        <p:pic>
          <p:nvPicPr>
            <p:cNvPr id="5530" name="Google Shape;5530;p21"/>
            <p:cNvPicPr preferRelativeResize="0"/>
            <p:nvPr/>
          </p:nvPicPr>
          <p:blipFill rotWithShape="1">
            <a:blip r:embed="rId5">
              <a:alphaModFix/>
            </a:blip>
            <a:srcRect/>
            <a:stretch/>
          </p:blipFill>
          <p:spPr>
            <a:xfrm>
              <a:off x="7040021" y="2852959"/>
              <a:ext cx="209741" cy="209741"/>
            </a:xfrm>
            <a:prstGeom prst="rect">
              <a:avLst/>
            </a:prstGeom>
            <a:noFill/>
            <a:ln>
              <a:noFill/>
            </a:ln>
          </p:spPr>
        </p:pic>
      </p:grpSp>
      <p:grpSp>
        <p:nvGrpSpPr>
          <p:cNvPr id="5531" name="Google Shape;5531;p21"/>
          <p:cNvGrpSpPr/>
          <p:nvPr/>
        </p:nvGrpSpPr>
        <p:grpSpPr>
          <a:xfrm>
            <a:off x="6317067" y="2316623"/>
            <a:ext cx="1061760" cy="280519"/>
            <a:chOff x="6317067" y="2316623"/>
            <a:chExt cx="1061760" cy="280519"/>
          </a:xfrm>
        </p:grpSpPr>
        <p:sp>
          <p:nvSpPr>
            <p:cNvPr id="5532" name="Google Shape;5532;p21"/>
            <p:cNvSpPr/>
            <p:nvPr/>
          </p:nvSpPr>
          <p:spPr>
            <a:xfrm>
              <a:off x="6317067" y="2316623"/>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533" name="Google Shape;5533;p21"/>
            <p:cNvSpPr/>
            <p:nvPr/>
          </p:nvSpPr>
          <p:spPr>
            <a:xfrm>
              <a:off x="6880904" y="2316623"/>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534" name="Google Shape;5534;p21"/>
            <p:cNvSpPr/>
            <p:nvPr/>
          </p:nvSpPr>
          <p:spPr>
            <a:xfrm>
              <a:off x="6317067" y="2484075"/>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535" name="Google Shape;5535;p21"/>
            <p:cNvSpPr/>
            <p:nvPr/>
          </p:nvSpPr>
          <p:spPr>
            <a:xfrm>
              <a:off x="6880904" y="2484075"/>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cxnSp>
        <p:nvCxnSpPr>
          <p:cNvPr id="5536" name="Google Shape;5536;p21"/>
          <p:cNvCxnSpPr/>
          <p:nvPr/>
        </p:nvCxnSpPr>
        <p:spPr>
          <a:xfrm rot="10800000">
            <a:off x="5278372" y="5351599"/>
            <a:ext cx="273234" cy="0"/>
          </a:xfrm>
          <a:prstGeom prst="straightConnector1">
            <a:avLst/>
          </a:prstGeom>
          <a:noFill/>
          <a:ln w="25400" cap="flat" cmpd="sng">
            <a:solidFill>
              <a:schemeClr val="accent2"/>
            </a:solidFill>
            <a:prstDash val="solid"/>
            <a:miter lim="800000"/>
            <a:headEnd type="none" w="sm" len="sm"/>
            <a:tailEnd type="triangle" w="med" len="med"/>
          </a:ln>
        </p:spPr>
      </p:cxnSp>
      <p:cxnSp>
        <p:nvCxnSpPr>
          <p:cNvPr id="5537" name="Google Shape;5537;p21"/>
          <p:cNvCxnSpPr/>
          <p:nvPr/>
        </p:nvCxnSpPr>
        <p:spPr>
          <a:xfrm>
            <a:off x="5278372" y="5492671"/>
            <a:ext cx="273234" cy="0"/>
          </a:xfrm>
          <a:prstGeom prst="straightConnector1">
            <a:avLst/>
          </a:prstGeom>
          <a:noFill/>
          <a:ln w="25400" cap="flat" cmpd="sng">
            <a:solidFill>
              <a:schemeClr val="accent2"/>
            </a:solidFill>
            <a:prstDash val="solid"/>
            <a:miter lim="800000"/>
            <a:headEnd type="none" w="sm" len="sm"/>
            <a:tailEnd type="triangle" w="med" len="med"/>
          </a:ln>
        </p:spPr>
      </p:cxnSp>
      <p:cxnSp>
        <p:nvCxnSpPr>
          <p:cNvPr id="5538" name="Google Shape;5538;p21"/>
          <p:cNvCxnSpPr/>
          <p:nvPr/>
        </p:nvCxnSpPr>
        <p:spPr>
          <a:xfrm rot="10800000">
            <a:off x="6406046" y="5351599"/>
            <a:ext cx="273234" cy="0"/>
          </a:xfrm>
          <a:prstGeom prst="straightConnector1">
            <a:avLst/>
          </a:prstGeom>
          <a:noFill/>
          <a:ln w="25400" cap="flat" cmpd="sng">
            <a:solidFill>
              <a:schemeClr val="accent2"/>
            </a:solidFill>
            <a:prstDash val="solid"/>
            <a:miter lim="800000"/>
            <a:headEnd type="none" w="sm" len="sm"/>
            <a:tailEnd type="triangle" w="med" len="med"/>
          </a:ln>
        </p:spPr>
      </p:cxnSp>
      <p:cxnSp>
        <p:nvCxnSpPr>
          <p:cNvPr id="5539" name="Google Shape;5539;p21"/>
          <p:cNvCxnSpPr/>
          <p:nvPr/>
        </p:nvCxnSpPr>
        <p:spPr>
          <a:xfrm>
            <a:off x="6406046" y="5492671"/>
            <a:ext cx="273234" cy="0"/>
          </a:xfrm>
          <a:prstGeom prst="straightConnector1">
            <a:avLst/>
          </a:prstGeom>
          <a:noFill/>
          <a:ln w="25400" cap="flat" cmpd="sng">
            <a:solidFill>
              <a:schemeClr val="accent2"/>
            </a:solidFill>
            <a:prstDash val="solid"/>
            <a:miter lim="800000"/>
            <a:headEnd type="none" w="sm" len="sm"/>
            <a:tailEnd type="triangle" w="med" len="med"/>
          </a:ln>
        </p:spPr>
      </p:cxnSp>
      <p:sp>
        <p:nvSpPr>
          <p:cNvPr id="5540" name="Google Shape;5540;p21"/>
          <p:cNvSpPr/>
          <p:nvPr/>
        </p:nvSpPr>
        <p:spPr>
          <a:xfrm>
            <a:off x="4535538" y="5870569"/>
            <a:ext cx="2951932" cy="24622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a:solidFill>
                  <a:schemeClr val="dk2"/>
                </a:solidFill>
                <a:latin typeface="Arial"/>
                <a:ea typeface="Arial"/>
                <a:cs typeface="Arial"/>
                <a:sym typeface="Arial"/>
              </a:rPr>
              <a:t>vSAN storage cluster</a:t>
            </a:r>
            <a:endParaRPr/>
          </a:p>
        </p:txBody>
      </p:sp>
      <p:sp>
        <p:nvSpPr>
          <p:cNvPr id="5541" name="Google Shape;5541;p21"/>
          <p:cNvSpPr/>
          <p:nvPr/>
        </p:nvSpPr>
        <p:spPr>
          <a:xfrm>
            <a:off x="4775828" y="1569423"/>
            <a:ext cx="2471353" cy="24622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a:solidFill>
                  <a:schemeClr val="dk2"/>
                </a:solidFill>
                <a:latin typeface="Arial"/>
                <a:ea typeface="Arial"/>
                <a:cs typeface="Arial"/>
                <a:sym typeface="Arial"/>
              </a:rPr>
              <a:t>vSphere client clusters</a:t>
            </a:r>
            <a:endParaRPr/>
          </a:p>
        </p:txBody>
      </p:sp>
      <p:pic>
        <p:nvPicPr>
          <p:cNvPr id="5542" name="Google Shape;5542;p21"/>
          <p:cNvPicPr preferRelativeResize="0"/>
          <p:nvPr/>
        </p:nvPicPr>
        <p:blipFill rotWithShape="1">
          <a:blip r:embed="rId3">
            <a:alphaModFix/>
          </a:blip>
          <a:srcRect/>
          <a:stretch/>
        </p:blipFill>
        <p:spPr>
          <a:xfrm>
            <a:off x="6752742" y="2706206"/>
            <a:ext cx="190410" cy="223781"/>
          </a:xfrm>
          <a:prstGeom prst="rect">
            <a:avLst/>
          </a:prstGeom>
          <a:noFill/>
          <a:ln>
            <a:noFill/>
          </a:ln>
        </p:spPr>
      </p:pic>
      <p:grpSp>
        <p:nvGrpSpPr>
          <p:cNvPr id="5543" name="Google Shape;5543;p21"/>
          <p:cNvGrpSpPr/>
          <p:nvPr/>
        </p:nvGrpSpPr>
        <p:grpSpPr>
          <a:xfrm>
            <a:off x="5434518" y="2707719"/>
            <a:ext cx="1174976" cy="531772"/>
            <a:chOff x="5434518" y="2707719"/>
            <a:chExt cx="1174976" cy="531772"/>
          </a:xfrm>
        </p:grpSpPr>
        <p:cxnSp>
          <p:nvCxnSpPr>
            <p:cNvPr id="5544" name="Google Shape;5544;p21"/>
            <p:cNvCxnSpPr/>
            <p:nvPr/>
          </p:nvCxnSpPr>
          <p:spPr>
            <a:xfrm>
              <a:off x="5434518" y="2926007"/>
              <a:ext cx="435578" cy="313484"/>
            </a:xfrm>
            <a:prstGeom prst="straightConnector1">
              <a:avLst/>
            </a:prstGeom>
            <a:noFill/>
            <a:ln w="9525" cap="flat" cmpd="sng">
              <a:solidFill>
                <a:srgbClr val="7F7F7F"/>
              </a:solidFill>
              <a:prstDash val="solid"/>
              <a:miter lim="800000"/>
              <a:headEnd type="none" w="sm" len="sm"/>
              <a:tailEnd type="none" w="sm" len="sm"/>
            </a:ln>
          </p:spPr>
        </p:cxnSp>
        <p:cxnSp>
          <p:nvCxnSpPr>
            <p:cNvPr id="5545" name="Google Shape;5545;p21"/>
            <p:cNvCxnSpPr/>
            <p:nvPr/>
          </p:nvCxnSpPr>
          <p:spPr>
            <a:xfrm>
              <a:off x="5613684" y="2720882"/>
              <a:ext cx="344809" cy="512393"/>
            </a:xfrm>
            <a:prstGeom prst="straightConnector1">
              <a:avLst/>
            </a:prstGeom>
            <a:noFill/>
            <a:ln w="9525" cap="flat" cmpd="sng">
              <a:solidFill>
                <a:srgbClr val="7F7F7F"/>
              </a:solidFill>
              <a:prstDash val="solid"/>
              <a:miter lim="800000"/>
              <a:headEnd type="none" w="sm" len="sm"/>
              <a:tailEnd type="none" w="sm" len="sm"/>
            </a:ln>
          </p:spPr>
        </p:cxnSp>
        <p:cxnSp>
          <p:nvCxnSpPr>
            <p:cNvPr id="5546" name="Google Shape;5546;p21"/>
            <p:cNvCxnSpPr/>
            <p:nvPr/>
          </p:nvCxnSpPr>
          <p:spPr>
            <a:xfrm flipH="1">
              <a:off x="6051298" y="2707719"/>
              <a:ext cx="450937" cy="518190"/>
            </a:xfrm>
            <a:prstGeom prst="straightConnector1">
              <a:avLst/>
            </a:prstGeom>
            <a:noFill/>
            <a:ln w="9525" cap="flat" cmpd="sng">
              <a:solidFill>
                <a:srgbClr val="7F7F7F"/>
              </a:solidFill>
              <a:prstDash val="solid"/>
              <a:miter lim="800000"/>
              <a:headEnd type="none" w="sm" len="sm"/>
              <a:tailEnd type="none" w="sm" len="sm"/>
            </a:ln>
          </p:spPr>
        </p:cxnSp>
        <p:cxnSp>
          <p:nvCxnSpPr>
            <p:cNvPr id="5547" name="Google Shape;5547;p21"/>
            <p:cNvCxnSpPr/>
            <p:nvPr/>
          </p:nvCxnSpPr>
          <p:spPr>
            <a:xfrm flipH="1">
              <a:off x="6129919" y="2929987"/>
              <a:ext cx="479575" cy="302442"/>
            </a:xfrm>
            <a:prstGeom prst="straightConnector1">
              <a:avLst/>
            </a:prstGeom>
            <a:noFill/>
            <a:ln w="9525" cap="flat" cmpd="sng">
              <a:solidFill>
                <a:srgbClr val="7F7F7F"/>
              </a:solidFill>
              <a:prstDash val="solid"/>
              <a:miter lim="800000"/>
              <a:headEnd type="none" w="sm" len="sm"/>
              <a:tailEnd type="none" w="sm" len="sm"/>
            </a:ln>
          </p:spPr>
        </p:cxnSp>
      </p:grpSp>
      <p:sp>
        <p:nvSpPr>
          <p:cNvPr id="5548" name="Google Shape;5548;p21"/>
          <p:cNvSpPr/>
          <p:nvPr/>
        </p:nvSpPr>
        <p:spPr>
          <a:xfrm>
            <a:off x="4448003" y="3919764"/>
            <a:ext cx="1188392" cy="184666"/>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25/100Gb ToR</a:t>
            </a:r>
            <a:endParaRPr/>
          </a:p>
        </p:txBody>
      </p:sp>
      <p:grpSp>
        <p:nvGrpSpPr>
          <p:cNvPr id="5549" name="Google Shape;5549;p21"/>
          <p:cNvGrpSpPr/>
          <p:nvPr/>
        </p:nvGrpSpPr>
        <p:grpSpPr>
          <a:xfrm>
            <a:off x="5434518" y="2704694"/>
            <a:ext cx="1178213" cy="534797"/>
            <a:chOff x="5434518" y="2704694"/>
            <a:chExt cx="1178213" cy="534797"/>
          </a:xfrm>
        </p:grpSpPr>
        <p:cxnSp>
          <p:nvCxnSpPr>
            <p:cNvPr id="5550" name="Google Shape;5550;p21"/>
            <p:cNvCxnSpPr/>
            <p:nvPr/>
          </p:nvCxnSpPr>
          <p:spPr>
            <a:xfrm rot="10800000">
              <a:off x="5434518" y="2929987"/>
              <a:ext cx="435578" cy="309504"/>
            </a:xfrm>
            <a:prstGeom prst="straightConnector1">
              <a:avLst/>
            </a:prstGeom>
            <a:noFill/>
            <a:ln w="9525" cap="flat" cmpd="sng">
              <a:solidFill>
                <a:schemeClr val="accent2"/>
              </a:solidFill>
              <a:prstDash val="solid"/>
              <a:miter lim="800000"/>
              <a:headEnd type="none" w="sm" len="sm"/>
              <a:tailEnd type="none" w="sm" len="sm"/>
            </a:ln>
          </p:spPr>
        </p:cxnSp>
        <p:cxnSp>
          <p:nvCxnSpPr>
            <p:cNvPr id="5551" name="Google Shape;5551;p21"/>
            <p:cNvCxnSpPr/>
            <p:nvPr/>
          </p:nvCxnSpPr>
          <p:spPr>
            <a:xfrm rot="10800000">
              <a:off x="5613684" y="2720647"/>
              <a:ext cx="344809" cy="511782"/>
            </a:xfrm>
            <a:prstGeom prst="straightConnector1">
              <a:avLst/>
            </a:prstGeom>
            <a:noFill/>
            <a:ln w="9525" cap="flat" cmpd="sng">
              <a:solidFill>
                <a:schemeClr val="accent2"/>
              </a:solidFill>
              <a:prstDash val="solid"/>
              <a:miter lim="800000"/>
              <a:headEnd type="none" w="sm" len="sm"/>
              <a:tailEnd type="none" w="sm" len="sm"/>
            </a:ln>
          </p:spPr>
        </p:cxnSp>
        <p:cxnSp>
          <p:nvCxnSpPr>
            <p:cNvPr id="5552" name="Google Shape;5552;p21"/>
            <p:cNvCxnSpPr/>
            <p:nvPr/>
          </p:nvCxnSpPr>
          <p:spPr>
            <a:xfrm rot="10800000" flipH="1">
              <a:off x="6051298" y="2704694"/>
              <a:ext cx="453711" cy="517103"/>
            </a:xfrm>
            <a:prstGeom prst="straightConnector1">
              <a:avLst/>
            </a:prstGeom>
            <a:noFill/>
            <a:ln w="9525" cap="flat" cmpd="sng">
              <a:solidFill>
                <a:schemeClr val="accent2"/>
              </a:solidFill>
              <a:prstDash val="solid"/>
              <a:miter lim="800000"/>
              <a:headEnd type="none" w="sm" len="sm"/>
              <a:tailEnd type="none" w="sm" len="sm"/>
            </a:ln>
          </p:spPr>
        </p:cxnSp>
        <p:cxnSp>
          <p:nvCxnSpPr>
            <p:cNvPr id="5553" name="Google Shape;5553;p21"/>
            <p:cNvCxnSpPr/>
            <p:nvPr/>
          </p:nvCxnSpPr>
          <p:spPr>
            <a:xfrm rot="10800000" flipH="1">
              <a:off x="6129919" y="2932114"/>
              <a:ext cx="482812" cy="297003"/>
            </a:xfrm>
            <a:prstGeom prst="straightConnector1">
              <a:avLst/>
            </a:prstGeom>
            <a:noFill/>
            <a:ln w="9525" cap="flat" cmpd="sng">
              <a:solidFill>
                <a:schemeClr val="accent2"/>
              </a:solidFill>
              <a:prstDash val="solid"/>
              <a:miter lim="800000"/>
              <a:headEnd type="none" w="sm" len="sm"/>
              <a:tailEnd type="none" w="sm" len="sm"/>
            </a:ln>
          </p:spPr>
        </p:cxnSp>
      </p:grpSp>
      <p:grpSp>
        <p:nvGrpSpPr>
          <p:cNvPr id="5554" name="Google Shape;5554;p21"/>
          <p:cNvGrpSpPr/>
          <p:nvPr/>
        </p:nvGrpSpPr>
        <p:grpSpPr>
          <a:xfrm>
            <a:off x="3965877" y="2989211"/>
            <a:ext cx="0" cy="321079"/>
            <a:chOff x="3965877" y="2989211"/>
            <a:chExt cx="0" cy="321079"/>
          </a:xfrm>
        </p:grpSpPr>
        <p:cxnSp>
          <p:nvCxnSpPr>
            <p:cNvPr id="5555" name="Google Shape;5555;p21"/>
            <p:cNvCxnSpPr/>
            <p:nvPr/>
          </p:nvCxnSpPr>
          <p:spPr>
            <a:xfrm>
              <a:off x="3965877" y="2989211"/>
              <a:ext cx="0" cy="321079"/>
            </a:xfrm>
            <a:prstGeom prst="straightConnector1">
              <a:avLst/>
            </a:prstGeom>
            <a:noFill/>
            <a:ln w="25400" cap="flat" cmpd="sng">
              <a:solidFill>
                <a:schemeClr val="accent4"/>
              </a:solidFill>
              <a:prstDash val="solid"/>
              <a:miter lim="800000"/>
              <a:headEnd type="none" w="sm" len="sm"/>
              <a:tailEnd type="none" w="sm" len="sm"/>
            </a:ln>
          </p:spPr>
        </p:cxnSp>
        <p:cxnSp>
          <p:nvCxnSpPr>
            <p:cNvPr id="5556" name="Google Shape;5556;p21"/>
            <p:cNvCxnSpPr/>
            <p:nvPr/>
          </p:nvCxnSpPr>
          <p:spPr>
            <a:xfrm rot="10800000">
              <a:off x="3965877" y="2989211"/>
              <a:ext cx="0" cy="321079"/>
            </a:xfrm>
            <a:prstGeom prst="straightConnector1">
              <a:avLst/>
            </a:prstGeom>
            <a:noFill/>
            <a:ln w="9525" cap="flat" cmpd="sng">
              <a:solidFill>
                <a:schemeClr val="accent2"/>
              </a:solidFill>
              <a:prstDash val="solid"/>
              <a:miter lim="800000"/>
              <a:headEnd type="none" w="sm" len="sm"/>
              <a:tailEnd type="none" w="sm" len="sm"/>
            </a:ln>
          </p:spPr>
        </p:cxnSp>
      </p:grpSp>
      <p:pic>
        <p:nvPicPr>
          <p:cNvPr id="5557" name="Google Shape;5557;p21"/>
          <p:cNvPicPr preferRelativeResize="0"/>
          <p:nvPr/>
        </p:nvPicPr>
        <p:blipFill rotWithShape="1">
          <a:blip r:embed="rId6">
            <a:alphaModFix/>
          </a:blip>
          <a:srcRect/>
          <a:stretch/>
        </p:blipFill>
        <p:spPr>
          <a:xfrm>
            <a:off x="711745" y="4386667"/>
            <a:ext cx="919964" cy="244827"/>
          </a:xfrm>
          <a:prstGeom prst="rect">
            <a:avLst/>
          </a:prstGeom>
          <a:noFill/>
          <a:ln>
            <a:noFill/>
          </a:ln>
        </p:spPr>
      </p:pic>
      <p:pic>
        <p:nvPicPr>
          <p:cNvPr id="5558" name="Google Shape;5558;p21"/>
          <p:cNvPicPr preferRelativeResize="0"/>
          <p:nvPr/>
        </p:nvPicPr>
        <p:blipFill rotWithShape="1">
          <a:blip r:embed="rId7">
            <a:alphaModFix/>
          </a:blip>
          <a:srcRect/>
          <a:stretch/>
        </p:blipFill>
        <p:spPr>
          <a:xfrm>
            <a:off x="711745" y="2012526"/>
            <a:ext cx="919964" cy="244827"/>
          </a:xfrm>
          <a:prstGeom prst="rect">
            <a:avLst/>
          </a:prstGeom>
          <a:noFill/>
          <a:ln>
            <a:noFill/>
          </a:ln>
        </p:spPr>
      </p:pic>
      <p:sp>
        <p:nvSpPr>
          <p:cNvPr id="5559" name="Google Shape;5559;p21"/>
          <p:cNvSpPr/>
          <p:nvPr/>
        </p:nvSpPr>
        <p:spPr>
          <a:xfrm>
            <a:off x="4499766" y="3458563"/>
            <a:ext cx="1084866" cy="184666"/>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10Gb ToR</a:t>
            </a:r>
            <a:endParaRPr/>
          </a:p>
        </p:txBody>
      </p:sp>
      <p:sp>
        <p:nvSpPr>
          <p:cNvPr id="5560" name="Google Shape;5560;p21"/>
          <p:cNvSpPr/>
          <p:nvPr/>
        </p:nvSpPr>
        <p:spPr>
          <a:xfrm>
            <a:off x="1405018" y="5494229"/>
            <a:ext cx="2028646" cy="5539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a:solidFill>
                  <a:schemeClr val="accent2"/>
                </a:solidFill>
                <a:latin typeface="Arial"/>
                <a:ea typeface="Arial"/>
                <a:cs typeface="Arial"/>
                <a:sym typeface="Arial"/>
              </a:rPr>
              <a:t>Data/replica data</a:t>
            </a:r>
            <a:endParaRPr/>
          </a:p>
          <a:p>
            <a:pPr marL="0" marR="0" lvl="0" indent="0" algn="l" rtl="0">
              <a:spcBef>
                <a:spcPts val="0"/>
              </a:spcBef>
              <a:spcAft>
                <a:spcPts val="0"/>
              </a:spcAft>
              <a:buNone/>
            </a:pPr>
            <a:r>
              <a:rPr lang="en-US" sz="1200">
                <a:solidFill>
                  <a:schemeClr val="accent2"/>
                </a:solidFill>
                <a:latin typeface="Arial"/>
                <a:ea typeface="Arial"/>
                <a:cs typeface="Arial"/>
                <a:sym typeface="Arial"/>
              </a:rPr>
              <a:t>Resynchronization traffic</a:t>
            </a:r>
            <a:endParaRPr/>
          </a:p>
          <a:p>
            <a:pPr marL="0" marR="0" lvl="0" indent="0" algn="l" rtl="0">
              <a:spcBef>
                <a:spcPts val="0"/>
              </a:spcBef>
              <a:spcAft>
                <a:spcPts val="0"/>
              </a:spcAft>
              <a:buNone/>
            </a:pPr>
            <a:r>
              <a:rPr lang="en-US" sz="1200">
                <a:solidFill>
                  <a:schemeClr val="accent2"/>
                </a:solidFill>
                <a:latin typeface="Arial"/>
                <a:ea typeface="Arial"/>
                <a:cs typeface="Arial"/>
                <a:sym typeface="Arial"/>
              </a:rPr>
              <a:t>Metadata updates</a:t>
            </a:r>
            <a:endParaRPr/>
          </a:p>
        </p:txBody>
      </p:sp>
      <p:cxnSp>
        <p:nvCxnSpPr>
          <p:cNvPr id="5561" name="Google Shape;5561;p21"/>
          <p:cNvCxnSpPr/>
          <p:nvPr/>
        </p:nvCxnSpPr>
        <p:spPr>
          <a:xfrm>
            <a:off x="1173301" y="5257309"/>
            <a:ext cx="0" cy="344427"/>
          </a:xfrm>
          <a:prstGeom prst="straightConnector1">
            <a:avLst/>
          </a:prstGeom>
          <a:noFill/>
          <a:ln w="25400" cap="flat" cmpd="sng">
            <a:solidFill>
              <a:schemeClr val="accent2"/>
            </a:solidFill>
            <a:prstDash val="solid"/>
            <a:miter lim="800000"/>
            <a:headEnd type="diamond" w="lg" len="lg"/>
            <a:tailEnd type="none" w="sm" len="sm"/>
          </a:ln>
        </p:spPr>
      </p:cxnSp>
      <p:cxnSp>
        <p:nvCxnSpPr>
          <p:cNvPr id="5562" name="Google Shape;5562;p21"/>
          <p:cNvCxnSpPr/>
          <p:nvPr/>
        </p:nvCxnSpPr>
        <p:spPr>
          <a:xfrm>
            <a:off x="1173301" y="5601736"/>
            <a:ext cx="164416" cy="0"/>
          </a:xfrm>
          <a:prstGeom prst="straightConnector1">
            <a:avLst/>
          </a:prstGeom>
          <a:noFill/>
          <a:ln w="25400" cap="flat" cmpd="sng">
            <a:solidFill>
              <a:schemeClr val="accent2"/>
            </a:solidFill>
            <a:prstDash val="solid"/>
            <a:miter lim="800000"/>
            <a:headEnd type="none" w="sm" len="sm"/>
            <a:tailEnd type="none" w="sm" len="sm"/>
          </a:ln>
        </p:spPr>
      </p:cxnSp>
      <p:sp>
        <p:nvSpPr>
          <p:cNvPr id="5563" name="Google Shape;5563;p21"/>
          <p:cNvSpPr/>
          <p:nvPr/>
        </p:nvSpPr>
        <p:spPr>
          <a:xfrm>
            <a:off x="1405019" y="3132169"/>
            <a:ext cx="1192132"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a:solidFill>
                  <a:schemeClr val="accent4"/>
                </a:solidFill>
                <a:latin typeface="Arial"/>
                <a:ea typeface="Arial"/>
                <a:cs typeface="Arial"/>
                <a:sym typeface="Arial"/>
              </a:rPr>
              <a:t>Guest VM I/O</a:t>
            </a:r>
            <a:endParaRPr/>
          </a:p>
        </p:txBody>
      </p:sp>
      <p:cxnSp>
        <p:nvCxnSpPr>
          <p:cNvPr id="5564" name="Google Shape;5564;p21"/>
          <p:cNvCxnSpPr/>
          <p:nvPr/>
        </p:nvCxnSpPr>
        <p:spPr>
          <a:xfrm>
            <a:off x="1173301" y="2876288"/>
            <a:ext cx="0" cy="344427"/>
          </a:xfrm>
          <a:prstGeom prst="straightConnector1">
            <a:avLst/>
          </a:prstGeom>
          <a:noFill/>
          <a:ln w="25400" cap="flat" cmpd="sng">
            <a:solidFill>
              <a:schemeClr val="accent4"/>
            </a:solidFill>
            <a:prstDash val="solid"/>
            <a:miter lim="800000"/>
            <a:headEnd type="diamond" w="lg" len="lg"/>
            <a:tailEnd type="none" w="sm" len="sm"/>
          </a:ln>
        </p:spPr>
      </p:cxnSp>
      <p:cxnSp>
        <p:nvCxnSpPr>
          <p:cNvPr id="5565" name="Google Shape;5565;p21"/>
          <p:cNvCxnSpPr/>
          <p:nvPr/>
        </p:nvCxnSpPr>
        <p:spPr>
          <a:xfrm>
            <a:off x="1173301" y="3220715"/>
            <a:ext cx="164416" cy="0"/>
          </a:xfrm>
          <a:prstGeom prst="straightConnector1">
            <a:avLst/>
          </a:prstGeom>
          <a:noFill/>
          <a:ln w="25400" cap="flat" cmpd="sng">
            <a:solidFill>
              <a:schemeClr val="accent4"/>
            </a:solidFill>
            <a:prstDash val="solid"/>
            <a:miter lim="800000"/>
            <a:headEnd type="none" w="sm" len="sm"/>
            <a:tailEnd type="none" w="sm" len="sm"/>
          </a:ln>
        </p:spPr>
      </p:cxnSp>
      <p:grpSp>
        <p:nvGrpSpPr>
          <p:cNvPr id="5566" name="Google Shape;5566;p21"/>
          <p:cNvGrpSpPr/>
          <p:nvPr/>
        </p:nvGrpSpPr>
        <p:grpSpPr>
          <a:xfrm>
            <a:off x="5248783" y="4270375"/>
            <a:ext cx="1488937" cy="435965"/>
            <a:chOff x="5248783" y="4270375"/>
            <a:chExt cx="1488937" cy="435965"/>
          </a:xfrm>
        </p:grpSpPr>
        <p:cxnSp>
          <p:nvCxnSpPr>
            <p:cNvPr id="5567" name="Google Shape;5567;p21"/>
            <p:cNvCxnSpPr/>
            <p:nvPr/>
          </p:nvCxnSpPr>
          <p:spPr>
            <a:xfrm rot="10800000" flipH="1">
              <a:off x="5248783" y="4270375"/>
              <a:ext cx="655325" cy="434453"/>
            </a:xfrm>
            <a:prstGeom prst="straightConnector1">
              <a:avLst/>
            </a:prstGeom>
            <a:noFill/>
            <a:ln w="9525" cap="flat" cmpd="sng">
              <a:solidFill>
                <a:schemeClr val="accent2"/>
              </a:solidFill>
              <a:prstDash val="solid"/>
              <a:miter lim="800000"/>
              <a:headEnd type="none" w="sm" len="sm"/>
              <a:tailEnd type="none" w="sm" len="sm"/>
            </a:ln>
          </p:spPr>
        </p:cxnSp>
        <p:cxnSp>
          <p:nvCxnSpPr>
            <p:cNvPr id="5568" name="Google Shape;5568;p21"/>
            <p:cNvCxnSpPr/>
            <p:nvPr/>
          </p:nvCxnSpPr>
          <p:spPr>
            <a:xfrm rot="10800000" flipH="1">
              <a:off x="5760970" y="4270375"/>
              <a:ext cx="219731" cy="426128"/>
            </a:xfrm>
            <a:prstGeom prst="straightConnector1">
              <a:avLst/>
            </a:prstGeom>
            <a:noFill/>
            <a:ln w="9525" cap="flat" cmpd="sng">
              <a:solidFill>
                <a:schemeClr val="accent2"/>
              </a:solidFill>
              <a:prstDash val="solid"/>
              <a:miter lim="800000"/>
              <a:headEnd type="none" w="sm" len="sm"/>
              <a:tailEnd type="none" w="sm" len="sm"/>
            </a:ln>
          </p:spPr>
        </p:cxnSp>
        <p:cxnSp>
          <p:nvCxnSpPr>
            <p:cNvPr id="5569" name="Google Shape;5569;p21"/>
            <p:cNvCxnSpPr/>
            <p:nvPr/>
          </p:nvCxnSpPr>
          <p:spPr>
            <a:xfrm rot="10800000">
              <a:off x="6041909" y="4278018"/>
              <a:ext cx="208561" cy="428322"/>
            </a:xfrm>
            <a:prstGeom prst="straightConnector1">
              <a:avLst/>
            </a:prstGeom>
            <a:noFill/>
            <a:ln w="9525" cap="flat" cmpd="sng">
              <a:solidFill>
                <a:schemeClr val="accent2"/>
              </a:solidFill>
              <a:prstDash val="solid"/>
              <a:miter lim="800000"/>
              <a:headEnd type="none" w="sm" len="sm"/>
              <a:tailEnd type="none" w="sm" len="sm"/>
            </a:ln>
          </p:spPr>
        </p:cxnSp>
        <p:cxnSp>
          <p:nvCxnSpPr>
            <p:cNvPr id="5570" name="Google Shape;5570;p21"/>
            <p:cNvCxnSpPr/>
            <p:nvPr/>
          </p:nvCxnSpPr>
          <p:spPr>
            <a:xfrm rot="10800000">
              <a:off x="6096786" y="4270375"/>
              <a:ext cx="640934" cy="430940"/>
            </a:xfrm>
            <a:prstGeom prst="straightConnector1">
              <a:avLst/>
            </a:prstGeom>
            <a:noFill/>
            <a:ln w="9525" cap="flat" cmpd="sng">
              <a:solidFill>
                <a:schemeClr val="accent2"/>
              </a:solidFill>
              <a:prstDash val="solid"/>
              <a:miter lim="800000"/>
              <a:headEnd type="none" w="sm" len="sm"/>
              <a:tailEnd type="none" w="sm" len="sm"/>
            </a:ln>
          </p:spPr>
        </p:cxnSp>
      </p:grpSp>
      <p:sp>
        <p:nvSpPr>
          <p:cNvPr id="5571" name="Google Shape;5571;p21"/>
          <p:cNvSpPr/>
          <p:nvPr/>
        </p:nvSpPr>
        <p:spPr>
          <a:xfrm>
            <a:off x="6216297" y="3668255"/>
            <a:ext cx="1192132"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a:solidFill>
                  <a:schemeClr val="accent4"/>
                </a:solidFill>
                <a:latin typeface="Arial"/>
                <a:ea typeface="Arial"/>
                <a:cs typeface="Arial"/>
                <a:sym typeface="Arial"/>
              </a:rPr>
              <a:t>Guest VM I/O</a:t>
            </a:r>
            <a:endParaRPr/>
          </a:p>
        </p:txBody>
      </p:sp>
      <p:sp>
        <p:nvSpPr>
          <p:cNvPr id="5572" name="Google Shape;5572;p21"/>
          <p:cNvSpPr/>
          <p:nvPr/>
        </p:nvSpPr>
        <p:spPr>
          <a:xfrm>
            <a:off x="6497971" y="3132169"/>
            <a:ext cx="1192132" cy="18466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a:solidFill>
                  <a:schemeClr val="accent4"/>
                </a:solidFill>
                <a:latin typeface="Arial"/>
                <a:ea typeface="Arial"/>
                <a:cs typeface="Arial"/>
                <a:sym typeface="Arial"/>
              </a:rPr>
              <a:t>Guest VM I/O</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52"/>
                                        </p:tgtEl>
                                        <p:attrNameLst>
                                          <p:attrName>style.visibility</p:attrName>
                                        </p:attrNameLst>
                                      </p:cBhvr>
                                      <p:to>
                                        <p:strVal val="visible"/>
                                      </p:to>
                                    </p:set>
                                    <p:animEffect transition="in" filter="fade">
                                      <p:cBhvr>
                                        <p:cTn id="7" dur="500"/>
                                        <p:tgtEl>
                                          <p:spTgt spid="5452"/>
                                        </p:tgtEl>
                                      </p:cBhvr>
                                    </p:animEffect>
                                  </p:childTnLst>
                                </p:cTn>
                              </p:par>
                              <p:par>
                                <p:cTn id="8" presetID="10" presetClass="entr" presetSubtype="0" fill="hold" nodeType="withEffect">
                                  <p:stCondLst>
                                    <p:cond delay="0"/>
                                  </p:stCondLst>
                                  <p:childTnLst>
                                    <p:set>
                                      <p:cBhvr>
                                        <p:cTn id="9" dur="1" fill="hold">
                                          <p:stCondLst>
                                            <p:cond delay="0"/>
                                          </p:stCondLst>
                                        </p:cTn>
                                        <p:tgtEl>
                                          <p:spTgt spid="5459"/>
                                        </p:tgtEl>
                                        <p:attrNameLst>
                                          <p:attrName>style.visibility</p:attrName>
                                        </p:attrNameLst>
                                      </p:cBhvr>
                                      <p:to>
                                        <p:strVal val="visible"/>
                                      </p:to>
                                    </p:set>
                                    <p:animEffect transition="in" filter="fade">
                                      <p:cBhvr>
                                        <p:cTn id="10" dur="500"/>
                                        <p:tgtEl>
                                          <p:spTgt spid="545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5446"/>
                                        </p:tgtEl>
                                        <p:attrNameLst>
                                          <p:attrName>style.visibility</p:attrName>
                                        </p:attrNameLst>
                                      </p:cBhvr>
                                      <p:to>
                                        <p:strVal val="visible"/>
                                      </p:to>
                                    </p:set>
                                    <p:animEffect transition="in" filter="fade">
                                      <p:cBhvr>
                                        <p:cTn id="14" dur="500"/>
                                        <p:tgtEl>
                                          <p:spTgt spid="5446"/>
                                        </p:tgtEl>
                                      </p:cBhvr>
                                    </p:animEffect>
                                  </p:childTnLst>
                                </p:cTn>
                              </p:par>
                              <p:par>
                                <p:cTn id="15" presetID="10" presetClass="entr" presetSubtype="0" fill="hold" nodeType="withEffect">
                                  <p:stCondLst>
                                    <p:cond delay="0"/>
                                  </p:stCondLst>
                                  <p:childTnLst>
                                    <p:set>
                                      <p:cBhvr>
                                        <p:cTn id="16" dur="1" fill="hold">
                                          <p:stCondLst>
                                            <p:cond delay="0"/>
                                          </p:stCondLst>
                                        </p:cTn>
                                        <p:tgtEl>
                                          <p:spTgt spid="5445"/>
                                        </p:tgtEl>
                                        <p:attrNameLst>
                                          <p:attrName>style.visibility</p:attrName>
                                        </p:attrNameLst>
                                      </p:cBhvr>
                                      <p:to>
                                        <p:strVal val="visible"/>
                                      </p:to>
                                    </p:set>
                                    <p:animEffect transition="in" filter="fade">
                                      <p:cBhvr>
                                        <p:cTn id="17" dur="500"/>
                                        <p:tgtEl>
                                          <p:spTgt spid="5445"/>
                                        </p:tgtEl>
                                      </p:cBhvr>
                                    </p:animEffect>
                                  </p:childTnLst>
                                </p:cTn>
                              </p:par>
                              <p:par>
                                <p:cTn id="18" presetID="10" presetClass="entr" presetSubtype="0" fill="hold" nodeType="withEffect">
                                  <p:stCondLst>
                                    <p:cond delay="0"/>
                                  </p:stCondLst>
                                  <p:childTnLst>
                                    <p:set>
                                      <p:cBhvr>
                                        <p:cTn id="19" dur="1" fill="hold">
                                          <p:stCondLst>
                                            <p:cond delay="0"/>
                                          </p:stCondLst>
                                        </p:cTn>
                                        <p:tgtEl>
                                          <p:spTgt spid="5540"/>
                                        </p:tgtEl>
                                        <p:attrNameLst>
                                          <p:attrName>style.visibility</p:attrName>
                                        </p:attrNameLst>
                                      </p:cBhvr>
                                      <p:to>
                                        <p:strVal val="visible"/>
                                      </p:to>
                                    </p:set>
                                    <p:animEffect transition="in" filter="fade">
                                      <p:cBhvr>
                                        <p:cTn id="20" dur="500"/>
                                        <p:tgtEl>
                                          <p:spTgt spid="5540"/>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5464"/>
                                        </p:tgtEl>
                                        <p:attrNameLst>
                                          <p:attrName>style.visibility</p:attrName>
                                        </p:attrNameLst>
                                      </p:cBhvr>
                                      <p:to>
                                        <p:strVal val="visible"/>
                                      </p:to>
                                    </p:set>
                                    <p:animEffect transition="in" filter="fade">
                                      <p:cBhvr>
                                        <p:cTn id="24" dur="500"/>
                                        <p:tgtEl>
                                          <p:spTgt spid="5464"/>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5473"/>
                                        </p:tgtEl>
                                        <p:attrNameLst>
                                          <p:attrName>style.visibility</p:attrName>
                                        </p:attrNameLst>
                                      </p:cBhvr>
                                      <p:to>
                                        <p:strVal val="visible"/>
                                      </p:to>
                                    </p:set>
                                    <p:animEffect transition="in" filter="fade">
                                      <p:cBhvr>
                                        <p:cTn id="28" dur="500"/>
                                        <p:tgtEl>
                                          <p:spTgt spid="5473"/>
                                        </p:tgtEl>
                                      </p:cBhvr>
                                    </p:animEffect>
                                  </p:childTnLst>
                                </p:cTn>
                              </p:par>
                            </p:childTnLst>
                          </p:cTn>
                        </p:par>
                        <p:par>
                          <p:cTn id="29" fill="hold">
                            <p:stCondLst>
                              <p:cond delay="2000"/>
                            </p:stCondLst>
                            <p:childTnLst>
                              <p:par>
                                <p:cTn id="30" presetID="10" presetClass="entr" presetSubtype="0" fill="hold" nodeType="afterEffect">
                                  <p:stCondLst>
                                    <p:cond delay="0"/>
                                  </p:stCondLst>
                                  <p:childTnLst>
                                    <p:set>
                                      <p:cBhvr>
                                        <p:cTn id="31" dur="1" fill="hold">
                                          <p:stCondLst>
                                            <p:cond delay="0"/>
                                          </p:stCondLst>
                                        </p:cTn>
                                        <p:tgtEl>
                                          <p:spTgt spid="5516"/>
                                        </p:tgtEl>
                                        <p:attrNameLst>
                                          <p:attrName>style.visibility</p:attrName>
                                        </p:attrNameLst>
                                      </p:cBhvr>
                                      <p:to>
                                        <p:strVal val="visible"/>
                                      </p:to>
                                    </p:set>
                                    <p:animEffect transition="in" filter="fade">
                                      <p:cBhvr>
                                        <p:cTn id="32" dur="500"/>
                                        <p:tgtEl>
                                          <p:spTgt spid="5516"/>
                                        </p:tgtEl>
                                      </p:cBhvr>
                                    </p:animEffect>
                                  </p:childTnLst>
                                </p:cTn>
                              </p:par>
                              <p:par>
                                <p:cTn id="33" presetID="10" presetClass="entr" presetSubtype="0" fill="hold" nodeType="withEffect">
                                  <p:stCondLst>
                                    <p:cond delay="0"/>
                                  </p:stCondLst>
                                  <p:childTnLst>
                                    <p:set>
                                      <p:cBhvr>
                                        <p:cTn id="34" dur="1" fill="hold">
                                          <p:stCondLst>
                                            <p:cond delay="0"/>
                                          </p:stCondLst>
                                        </p:cTn>
                                        <p:tgtEl>
                                          <p:spTgt spid="5521"/>
                                        </p:tgtEl>
                                        <p:attrNameLst>
                                          <p:attrName>style.visibility</p:attrName>
                                        </p:attrNameLst>
                                      </p:cBhvr>
                                      <p:to>
                                        <p:strVal val="visible"/>
                                      </p:to>
                                    </p:set>
                                    <p:animEffect transition="in" filter="fade">
                                      <p:cBhvr>
                                        <p:cTn id="35" dur="500"/>
                                        <p:tgtEl>
                                          <p:spTgt spid="5521"/>
                                        </p:tgtEl>
                                      </p:cBhvr>
                                    </p:animEffect>
                                  </p:childTnLst>
                                </p:cTn>
                              </p:par>
                              <p:par>
                                <p:cTn id="36" presetID="10" presetClass="entr" presetSubtype="0" fill="hold" nodeType="withEffect">
                                  <p:stCondLst>
                                    <p:cond delay="0"/>
                                  </p:stCondLst>
                                  <p:childTnLst>
                                    <p:set>
                                      <p:cBhvr>
                                        <p:cTn id="37" dur="1" fill="hold">
                                          <p:stCondLst>
                                            <p:cond delay="0"/>
                                          </p:stCondLst>
                                        </p:cTn>
                                        <p:tgtEl>
                                          <p:spTgt spid="5526"/>
                                        </p:tgtEl>
                                        <p:attrNameLst>
                                          <p:attrName>style.visibility</p:attrName>
                                        </p:attrNameLst>
                                      </p:cBhvr>
                                      <p:to>
                                        <p:strVal val="visible"/>
                                      </p:to>
                                    </p:set>
                                    <p:animEffect transition="in" filter="fade">
                                      <p:cBhvr>
                                        <p:cTn id="38" dur="500"/>
                                        <p:tgtEl>
                                          <p:spTgt spid="5526"/>
                                        </p:tgtEl>
                                      </p:cBhvr>
                                    </p:animEffect>
                                  </p:childTnLst>
                                </p:cTn>
                              </p:par>
                              <p:par>
                                <p:cTn id="39" presetID="10" presetClass="entr" presetSubtype="0" fill="hold" nodeType="withEffect">
                                  <p:stCondLst>
                                    <p:cond delay="0"/>
                                  </p:stCondLst>
                                  <p:childTnLst>
                                    <p:set>
                                      <p:cBhvr>
                                        <p:cTn id="40" dur="1" fill="hold">
                                          <p:stCondLst>
                                            <p:cond delay="0"/>
                                          </p:stCondLst>
                                        </p:cTn>
                                        <p:tgtEl>
                                          <p:spTgt spid="5531"/>
                                        </p:tgtEl>
                                        <p:attrNameLst>
                                          <p:attrName>style.visibility</p:attrName>
                                        </p:attrNameLst>
                                      </p:cBhvr>
                                      <p:to>
                                        <p:strVal val="visible"/>
                                      </p:to>
                                    </p:set>
                                    <p:animEffect transition="in" filter="fade">
                                      <p:cBhvr>
                                        <p:cTn id="41" dur="500"/>
                                        <p:tgtEl>
                                          <p:spTgt spid="5531"/>
                                        </p:tgtEl>
                                      </p:cBhvr>
                                    </p:animEffect>
                                  </p:childTnLst>
                                </p:cTn>
                              </p:par>
                            </p:childTnLst>
                          </p:cTn>
                        </p:par>
                        <p:par>
                          <p:cTn id="42" fill="hold">
                            <p:stCondLst>
                              <p:cond delay="2500"/>
                            </p:stCondLst>
                            <p:childTnLst>
                              <p:par>
                                <p:cTn id="43" presetID="10" presetClass="entr" presetSubtype="0" fill="hold" nodeType="afterEffect">
                                  <p:stCondLst>
                                    <p:cond delay="0"/>
                                  </p:stCondLst>
                                  <p:childTnLst>
                                    <p:set>
                                      <p:cBhvr>
                                        <p:cTn id="44" dur="1" fill="hold">
                                          <p:stCondLst>
                                            <p:cond delay="0"/>
                                          </p:stCondLst>
                                        </p:cTn>
                                        <p:tgtEl>
                                          <p:spTgt spid="5511"/>
                                        </p:tgtEl>
                                        <p:attrNameLst>
                                          <p:attrName>style.visibility</p:attrName>
                                        </p:attrNameLst>
                                      </p:cBhvr>
                                      <p:to>
                                        <p:strVal val="visible"/>
                                      </p:to>
                                    </p:set>
                                    <p:animEffect transition="in" filter="fade">
                                      <p:cBhvr>
                                        <p:cTn id="45" dur="500"/>
                                        <p:tgtEl>
                                          <p:spTgt spid="5511"/>
                                        </p:tgtEl>
                                      </p:cBhvr>
                                    </p:animEffect>
                                  </p:childTnLst>
                                </p:cTn>
                              </p:par>
                            </p:childTnLst>
                          </p:cTn>
                        </p:par>
                        <p:par>
                          <p:cTn id="46" fill="hold">
                            <p:stCondLst>
                              <p:cond delay="3000"/>
                            </p:stCondLst>
                            <p:childTnLst>
                              <p:par>
                                <p:cTn id="47" presetID="10" presetClass="entr" presetSubtype="0" fill="hold" nodeType="afterEffect">
                                  <p:stCondLst>
                                    <p:cond delay="0"/>
                                  </p:stCondLst>
                                  <p:childTnLst>
                                    <p:set>
                                      <p:cBhvr>
                                        <p:cTn id="48" dur="1" fill="hold">
                                          <p:stCondLst>
                                            <p:cond delay="0"/>
                                          </p:stCondLst>
                                        </p:cTn>
                                        <p:tgtEl>
                                          <p:spTgt spid="5541"/>
                                        </p:tgtEl>
                                        <p:attrNameLst>
                                          <p:attrName>style.visibility</p:attrName>
                                        </p:attrNameLst>
                                      </p:cBhvr>
                                      <p:to>
                                        <p:strVal val="visible"/>
                                      </p:to>
                                    </p:set>
                                    <p:animEffect transition="in" filter="fade">
                                      <p:cBhvr>
                                        <p:cTn id="49" dur="500"/>
                                        <p:tgtEl>
                                          <p:spTgt spid="5541"/>
                                        </p:tgtEl>
                                      </p:cBhvr>
                                    </p:animEffect>
                                  </p:childTnLst>
                                </p:cTn>
                              </p:par>
                              <p:par>
                                <p:cTn id="50" presetID="10" presetClass="entr" presetSubtype="0" fill="hold" nodeType="withEffect">
                                  <p:stCondLst>
                                    <p:cond delay="0"/>
                                  </p:stCondLst>
                                  <p:childTnLst>
                                    <p:set>
                                      <p:cBhvr>
                                        <p:cTn id="51" dur="1" fill="hold">
                                          <p:stCondLst>
                                            <p:cond delay="0"/>
                                          </p:stCondLst>
                                        </p:cTn>
                                        <p:tgtEl>
                                          <p:spTgt spid="5514"/>
                                        </p:tgtEl>
                                        <p:attrNameLst>
                                          <p:attrName>style.visibility</p:attrName>
                                        </p:attrNameLst>
                                      </p:cBhvr>
                                      <p:to>
                                        <p:strVal val="visible"/>
                                      </p:to>
                                    </p:set>
                                    <p:animEffect transition="in" filter="fade">
                                      <p:cBhvr>
                                        <p:cTn id="52" dur="500"/>
                                        <p:tgtEl>
                                          <p:spTgt spid="5514"/>
                                        </p:tgtEl>
                                      </p:cBhvr>
                                    </p:animEffect>
                                  </p:childTnLst>
                                </p:cTn>
                              </p:par>
                            </p:childTnLst>
                          </p:cTn>
                        </p:par>
                        <p:par>
                          <p:cTn id="53" fill="hold">
                            <p:stCondLst>
                              <p:cond delay="3500"/>
                            </p:stCondLst>
                            <p:childTnLst>
                              <p:par>
                                <p:cTn id="54" presetID="10" presetClass="entr" presetSubtype="0" fill="hold" nodeType="afterEffect">
                                  <p:stCondLst>
                                    <p:cond delay="0"/>
                                  </p:stCondLst>
                                  <p:childTnLst>
                                    <p:set>
                                      <p:cBhvr>
                                        <p:cTn id="55" dur="1" fill="hold">
                                          <p:stCondLst>
                                            <p:cond delay="0"/>
                                          </p:stCondLst>
                                        </p:cTn>
                                        <p:tgtEl>
                                          <p:spTgt spid="5543"/>
                                        </p:tgtEl>
                                        <p:attrNameLst>
                                          <p:attrName>style.visibility</p:attrName>
                                        </p:attrNameLst>
                                      </p:cBhvr>
                                      <p:to>
                                        <p:strVal val="visible"/>
                                      </p:to>
                                    </p:set>
                                    <p:animEffect transition="in" filter="fade">
                                      <p:cBhvr>
                                        <p:cTn id="56" dur="500"/>
                                        <p:tgtEl>
                                          <p:spTgt spid="5543"/>
                                        </p:tgtEl>
                                      </p:cBhvr>
                                    </p:animEffect>
                                  </p:childTnLst>
                                </p:cTn>
                              </p:par>
                            </p:childTnLst>
                          </p:cTn>
                        </p:par>
                        <p:par>
                          <p:cTn id="57" fill="hold">
                            <p:stCondLst>
                              <p:cond delay="4000"/>
                            </p:stCondLst>
                            <p:childTnLst>
                              <p:par>
                                <p:cTn id="58" presetID="10" presetClass="entr" presetSubtype="0" fill="hold" nodeType="afterEffect">
                                  <p:stCondLst>
                                    <p:cond delay="0"/>
                                  </p:stCondLst>
                                  <p:childTnLst>
                                    <p:set>
                                      <p:cBhvr>
                                        <p:cTn id="59" dur="1" fill="hold">
                                          <p:stCondLst>
                                            <p:cond delay="0"/>
                                          </p:stCondLst>
                                        </p:cTn>
                                        <p:tgtEl>
                                          <p:spTgt spid="5457"/>
                                        </p:tgtEl>
                                        <p:attrNameLst>
                                          <p:attrName>style.visibility</p:attrName>
                                        </p:attrNameLst>
                                      </p:cBhvr>
                                      <p:to>
                                        <p:strVal val="visible"/>
                                      </p:to>
                                    </p:set>
                                    <p:animEffect transition="in" filter="fade">
                                      <p:cBhvr>
                                        <p:cTn id="60" dur="500"/>
                                        <p:tgtEl>
                                          <p:spTgt spid="5457"/>
                                        </p:tgtEl>
                                      </p:cBhvr>
                                    </p:animEffect>
                                  </p:childTnLst>
                                </p:cTn>
                              </p:par>
                              <p:par>
                                <p:cTn id="61" presetID="10" presetClass="entr" presetSubtype="0" fill="hold" nodeType="withEffect">
                                  <p:stCondLst>
                                    <p:cond delay="0"/>
                                  </p:stCondLst>
                                  <p:childTnLst>
                                    <p:set>
                                      <p:cBhvr>
                                        <p:cTn id="62" dur="1" fill="hold">
                                          <p:stCondLst>
                                            <p:cond delay="0"/>
                                          </p:stCondLst>
                                        </p:cTn>
                                        <p:tgtEl>
                                          <p:spTgt spid="5542"/>
                                        </p:tgtEl>
                                        <p:attrNameLst>
                                          <p:attrName>style.visibility</p:attrName>
                                        </p:attrNameLst>
                                      </p:cBhvr>
                                      <p:to>
                                        <p:strVal val="visible"/>
                                      </p:to>
                                    </p:set>
                                    <p:animEffect transition="in" filter="fade">
                                      <p:cBhvr>
                                        <p:cTn id="63" dur="500"/>
                                        <p:tgtEl>
                                          <p:spTgt spid="5542"/>
                                        </p:tgtEl>
                                      </p:cBhvr>
                                    </p:animEffect>
                                  </p:childTnLst>
                                </p:cTn>
                              </p:par>
                            </p:childTnLst>
                          </p:cTn>
                        </p:par>
                        <p:par>
                          <p:cTn id="64" fill="hold">
                            <p:stCondLst>
                              <p:cond delay="4500"/>
                            </p:stCondLst>
                            <p:childTnLst>
                              <p:par>
                                <p:cTn id="65" presetID="10" presetClass="entr" presetSubtype="0" fill="hold" nodeType="afterEffect">
                                  <p:stCondLst>
                                    <p:cond delay="1500"/>
                                  </p:stCondLst>
                                  <p:childTnLst>
                                    <p:set>
                                      <p:cBhvr>
                                        <p:cTn id="66" dur="1" fill="hold">
                                          <p:stCondLst>
                                            <p:cond delay="0"/>
                                          </p:stCondLst>
                                        </p:cTn>
                                        <p:tgtEl>
                                          <p:spTgt spid="5557"/>
                                        </p:tgtEl>
                                        <p:attrNameLst>
                                          <p:attrName>style.visibility</p:attrName>
                                        </p:attrNameLst>
                                      </p:cBhvr>
                                      <p:to>
                                        <p:strVal val="visible"/>
                                      </p:to>
                                    </p:set>
                                    <p:animEffect transition="in" filter="fade">
                                      <p:cBhvr>
                                        <p:cTn id="67" dur="500"/>
                                        <p:tgtEl>
                                          <p:spTgt spid="5557"/>
                                        </p:tgtEl>
                                      </p:cBhvr>
                                    </p:animEffect>
                                  </p:childTnLst>
                                </p:cTn>
                              </p:par>
                              <p:par>
                                <p:cTn id="68" presetID="10" presetClass="entr" presetSubtype="0" fill="hold" nodeType="withEffect">
                                  <p:stCondLst>
                                    <p:cond delay="1500"/>
                                  </p:stCondLst>
                                  <p:childTnLst>
                                    <p:set>
                                      <p:cBhvr>
                                        <p:cTn id="69" dur="1" fill="hold">
                                          <p:stCondLst>
                                            <p:cond delay="0"/>
                                          </p:stCondLst>
                                        </p:cTn>
                                        <p:tgtEl>
                                          <p:spTgt spid="5440"/>
                                        </p:tgtEl>
                                        <p:attrNameLst>
                                          <p:attrName>style.visibility</p:attrName>
                                        </p:attrNameLst>
                                      </p:cBhvr>
                                      <p:to>
                                        <p:strVal val="visible"/>
                                      </p:to>
                                    </p:set>
                                    <p:animEffect transition="in" filter="fade">
                                      <p:cBhvr>
                                        <p:cTn id="70" dur="500"/>
                                        <p:tgtEl>
                                          <p:spTgt spid="5440"/>
                                        </p:tgtEl>
                                      </p:cBhvr>
                                    </p:animEffect>
                                  </p:childTnLst>
                                </p:cTn>
                              </p:par>
                            </p:childTnLst>
                          </p:cTn>
                        </p:par>
                        <p:par>
                          <p:cTn id="71" fill="hold">
                            <p:stCondLst>
                              <p:cond delay="5000"/>
                            </p:stCondLst>
                            <p:childTnLst>
                              <p:par>
                                <p:cTn id="72" presetID="10" presetClass="entr" presetSubtype="0" fill="hold" nodeType="afterEffect">
                                  <p:stCondLst>
                                    <p:cond delay="0"/>
                                  </p:stCondLst>
                                  <p:childTnLst>
                                    <p:set>
                                      <p:cBhvr>
                                        <p:cTn id="73" dur="1" fill="hold">
                                          <p:stCondLst>
                                            <p:cond delay="0"/>
                                          </p:stCondLst>
                                        </p:cTn>
                                        <p:tgtEl>
                                          <p:spTgt spid="5408"/>
                                        </p:tgtEl>
                                        <p:attrNameLst>
                                          <p:attrName>style.visibility</p:attrName>
                                        </p:attrNameLst>
                                      </p:cBhvr>
                                      <p:to>
                                        <p:strVal val="visible"/>
                                      </p:to>
                                    </p:set>
                                    <p:animEffect transition="in" filter="fade">
                                      <p:cBhvr>
                                        <p:cTn id="74" dur="500"/>
                                        <p:tgtEl>
                                          <p:spTgt spid="5408"/>
                                        </p:tgtEl>
                                      </p:cBhvr>
                                    </p:animEffect>
                                  </p:childTnLst>
                                </p:cTn>
                              </p:par>
                              <p:par>
                                <p:cTn id="75" presetID="10" presetClass="entr" presetSubtype="0" fill="hold" nodeType="withEffect">
                                  <p:stCondLst>
                                    <p:cond delay="0"/>
                                  </p:stCondLst>
                                  <p:childTnLst>
                                    <p:set>
                                      <p:cBhvr>
                                        <p:cTn id="76" dur="1" fill="hold">
                                          <p:stCondLst>
                                            <p:cond delay="0"/>
                                          </p:stCondLst>
                                        </p:cTn>
                                        <p:tgtEl>
                                          <p:spTgt spid="5444"/>
                                        </p:tgtEl>
                                        <p:attrNameLst>
                                          <p:attrName>style.visibility</p:attrName>
                                        </p:attrNameLst>
                                      </p:cBhvr>
                                      <p:to>
                                        <p:strVal val="visible"/>
                                      </p:to>
                                    </p:set>
                                    <p:animEffect transition="in" filter="fade">
                                      <p:cBhvr>
                                        <p:cTn id="77" dur="500"/>
                                        <p:tgtEl>
                                          <p:spTgt spid="5444"/>
                                        </p:tgtEl>
                                      </p:cBhvr>
                                    </p:animEffect>
                                  </p:childTnLst>
                                </p:cTn>
                              </p:par>
                            </p:childTnLst>
                          </p:cTn>
                        </p:par>
                        <p:par>
                          <p:cTn id="78" fill="hold">
                            <p:stCondLst>
                              <p:cond delay="5500"/>
                            </p:stCondLst>
                            <p:childTnLst>
                              <p:par>
                                <p:cTn id="79" presetID="10" presetClass="entr" presetSubtype="0" fill="hold" nodeType="afterEffect">
                                  <p:stCondLst>
                                    <p:cond delay="0"/>
                                  </p:stCondLst>
                                  <p:childTnLst>
                                    <p:set>
                                      <p:cBhvr>
                                        <p:cTn id="80" dur="1" fill="hold">
                                          <p:stCondLst>
                                            <p:cond delay="0"/>
                                          </p:stCondLst>
                                        </p:cTn>
                                        <p:tgtEl>
                                          <p:spTgt spid="5410"/>
                                        </p:tgtEl>
                                        <p:attrNameLst>
                                          <p:attrName>style.visibility</p:attrName>
                                        </p:attrNameLst>
                                      </p:cBhvr>
                                      <p:to>
                                        <p:strVal val="visible"/>
                                      </p:to>
                                    </p:set>
                                    <p:animEffect transition="in" filter="fade">
                                      <p:cBhvr>
                                        <p:cTn id="81" dur="500"/>
                                        <p:tgtEl>
                                          <p:spTgt spid="5410"/>
                                        </p:tgtEl>
                                      </p:cBhvr>
                                    </p:animEffect>
                                  </p:childTnLst>
                                </p:cTn>
                              </p:par>
                              <p:par>
                                <p:cTn id="82" presetID="10" presetClass="entr" presetSubtype="0" fill="hold" nodeType="withEffect">
                                  <p:stCondLst>
                                    <p:cond delay="0"/>
                                  </p:stCondLst>
                                  <p:childTnLst>
                                    <p:set>
                                      <p:cBhvr>
                                        <p:cTn id="83" dur="1" fill="hold">
                                          <p:stCondLst>
                                            <p:cond delay="0"/>
                                          </p:stCondLst>
                                        </p:cTn>
                                        <p:tgtEl>
                                          <p:spTgt spid="5424"/>
                                        </p:tgtEl>
                                        <p:attrNameLst>
                                          <p:attrName>style.visibility</p:attrName>
                                        </p:attrNameLst>
                                      </p:cBhvr>
                                      <p:to>
                                        <p:strVal val="visible"/>
                                      </p:to>
                                    </p:set>
                                    <p:animEffect transition="in" filter="fade">
                                      <p:cBhvr>
                                        <p:cTn id="84" dur="500"/>
                                        <p:tgtEl>
                                          <p:spTgt spid="5424"/>
                                        </p:tgtEl>
                                      </p:cBhvr>
                                    </p:animEffect>
                                  </p:childTnLst>
                                </p:cTn>
                              </p:par>
                            </p:childTnLst>
                          </p:cTn>
                        </p:par>
                        <p:par>
                          <p:cTn id="85" fill="hold">
                            <p:stCondLst>
                              <p:cond delay="6000"/>
                            </p:stCondLst>
                            <p:childTnLst>
                              <p:par>
                                <p:cTn id="86" presetID="10" presetClass="entr" presetSubtype="0" fill="hold" nodeType="afterEffect">
                                  <p:stCondLst>
                                    <p:cond delay="0"/>
                                  </p:stCondLst>
                                  <p:childTnLst>
                                    <p:set>
                                      <p:cBhvr>
                                        <p:cTn id="87" dur="1" fill="hold">
                                          <p:stCondLst>
                                            <p:cond delay="0"/>
                                          </p:stCondLst>
                                        </p:cTn>
                                        <p:tgtEl>
                                          <p:spTgt spid="5437"/>
                                        </p:tgtEl>
                                        <p:attrNameLst>
                                          <p:attrName>style.visibility</p:attrName>
                                        </p:attrNameLst>
                                      </p:cBhvr>
                                      <p:to>
                                        <p:strVal val="visible"/>
                                      </p:to>
                                    </p:set>
                                    <p:animEffect transition="in" filter="fade">
                                      <p:cBhvr>
                                        <p:cTn id="88" dur="500"/>
                                        <p:tgtEl>
                                          <p:spTgt spid="5437"/>
                                        </p:tgtEl>
                                      </p:cBhvr>
                                    </p:animEffect>
                                  </p:childTnLst>
                                </p:cTn>
                              </p:par>
                            </p:childTnLst>
                          </p:cTn>
                        </p:par>
                        <p:par>
                          <p:cTn id="89" fill="hold">
                            <p:stCondLst>
                              <p:cond delay="6500"/>
                            </p:stCondLst>
                            <p:childTnLst>
                              <p:par>
                                <p:cTn id="90" presetID="10" presetClass="entr" presetSubtype="0" fill="hold" nodeType="afterEffect">
                                  <p:stCondLst>
                                    <p:cond delay="0"/>
                                  </p:stCondLst>
                                  <p:childTnLst>
                                    <p:set>
                                      <p:cBhvr>
                                        <p:cTn id="91" dur="1" fill="hold">
                                          <p:stCondLst>
                                            <p:cond delay="0"/>
                                          </p:stCondLst>
                                        </p:cTn>
                                        <p:tgtEl>
                                          <p:spTgt spid="5560"/>
                                        </p:tgtEl>
                                        <p:attrNameLst>
                                          <p:attrName>style.visibility</p:attrName>
                                        </p:attrNameLst>
                                      </p:cBhvr>
                                      <p:to>
                                        <p:strVal val="visible"/>
                                      </p:to>
                                    </p:set>
                                    <p:animEffect transition="in" filter="fade">
                                      <p:cBhvr>
                                        <p:cTn id="92" dur="500"/>
                                        <p:tgtEl>
                                          <p:spTgt spid="5560"/>
                                        </p:tgtEl>
                                      </p:cBhvr>
                                    </p:animEffect>
                                  </p:childTnLst>
                                </p:cTn>
                              </p:par>
                            </p:childTnLst>
                          </p:cTn>
                        </p:par>
                        <p:par>
                          <p:cTn id="93" fill="hold">
                            <p:stCondLst>
                              <p:cond delay="7000"/>
                            </p:stCondLst>
                            <p:childTnLst>
                              <p:par>
                                <p:cTn id="94" presetID="10" presetClass="entr" presetSubtype="0" fill="hold" nodeType="afterEffect">
                                  <p:stCondLst>
                                    <p:cond delay="0"/>
                                  </p:stCondLst>
                                  <p:childTnLst>
                                    <p:set>
                                      <p:cBhvr>
                                        <p:cTn id="95" dur="1" fill="hold">
                                          <p:stCondLst>
                                            <p:cond delay="0"/>
                                          </p:stCondLst>
                                        </p:cTn>
                                        <p:tgtEl>
                                          <p:spTgt spid="5562"/>
                                        </p:tgtEl>
                                        <p:attrNameLst>
                                          <p:attrName>style.visibility</p:attrName>
                                        </p:attrNameLst>
                                      </p:cBhvr>
                                      <p:to>
                                        <p:strVal val="visible"/>
                                      </p:to>
                                    </p:set>
                                    <p:animEffect transition="in" filter="fade">
                                      <p:cBhvr>
                                        <p:cTn id="96" dur="250"/>
                                        <p:tgtEl>
                                          <p:spTgt spid="5562"/>
                                        </p:tgtEl>
                                      </p:cBhvr>
                                    </p:animEffect>
                                  </p:childTnLst>
                                </p:cTn>
                              </p:par>
                            </p:childTnLst>
                          </p:cTn>
                        </p:par>
                        <p:par>
                          <p:cTn id="97" fill="hold">
                            <p:stCondLst>
                              <p:cond delay="7250"/>
                            </p:stCondLst>
                            <p:childTnLst>
                              <p:par>
                                <p:cTn id="98" presetID="10" presetClass="entr" presetSubtype="0" fill="hold" nodeType="afterEffect">
                                  <p:stCondLst>
                                    <p:cond delay="0"/>
                                  </p:stCondLst>
                                  <p:childTnLst>
                                    <p:set>
                                      <p:cBhvr>
                                        <p:cTn id="99" dur="1" fill="hold">
                                          <p:stCondLst>
                                            <p:cond delay="0"/>
                                          </p:stCondLst>
                                        </p:cTn>
                                        <p:tgtEl>
                                          <p:spTgt spid="5561"/>
                                        </p:tgtEl>
                                        <p:attrNameLst>
                                          <p:attrName>style.visibility</p:attrName>
                                        </p:attrNameLst>
                                      </p:cBhvr>
                                      <p:to>
                                        <p:strVal val="visible"/>
                                      </p:to>
                                    </p:set>
                                    <p:animEffect transition="in" filter="fade">
                                      <p:cBhvr>
                                        <p:cTn id="100" dur="250"/>
                                        <p:tgtEl>
                                          <p:spTgt spid="5561"/>
                                        </p:tgtEl>
                                      </p:cBhvr>
                                    </p:animEffect>
                                  </p:childTnLst>
                                </p:cTn>
                              </p:par>
                            </p:childTnLst>
                          </p:cTn>
                        </p:par>
                        <p:par>
                          <p:cTn id="101" fill="hold">
                            <p:stCondLst>
                              <p:cond delay="7500"/>
                            </p:stCondLst>
                            <p:childTnLst>
                              <p:par>
                                <p:cTn id="102" presetID="10" presetClass="entr" presetSubtype="0" fill="hold" nodeType="afterEffect">
                                  <p:stCondLst>
                                    <p:cond delay="0"/>
                                  </p:stCondLst>
                                  <p:childTnLst>
                                    <p:set>
                                      <p:cBhvr>
                                        <p:cTn id="103" dur="1" fill="hold">
                                          <p:stCondLst>
                                            <p:cond delay="0"/>
                                          </p:stCondLst>
                                        </p:cTn>
                                        <p:tgtEl>
                                          <p:spTgt spid="5467"/>
                                        </p:tgtEl>
                                        <p:attrNameLst>
                                          <p:attrName>style.visibility</p:attrName>
                                        </p:attrNameLst>
                                      </p:cBhvr>
                                      <p:to>
                                        <p:strVal val="visible"/>
                                      </p:to>
                                    </p:set>
                                    <p:animEffect transition="in" filter="fade">
                                      <p:cBhvr>
                                        <p:cTn id="104" dur="500"/>
                                        <p:tgtEl>
                                          <p:spTgt spid="5467"/>
                                        </p:tgtEl>
                                      </p:cBhvr>
                                    </p:animEffect>
                                  </p:childTnLst>
                                </p:cTn>
                              </p:par>
                              <p:par>
                                <p:cTn id="105" presetID="10" presetClass="entr" presetSubtype="0" fill="hold" nodeType="withEffect">
                                  <p:stCondLst>
                                    <p:cond delay="0"/>
                                  </p:stCondLst>
                                  <p:childTnLst>
                                    <p:set>
                                      <p:cBhvr>
                                        <p:cTn id="106" dur="1" fill="hold">
                                          <p:stCondLst>
                                            <p:cond delay="0"/>
                                          </p:stCondLst>
                                        </p:cTn>
                                        <p:tgtEl>
                                          <p:spTgt spid="5409"/>
                                        </p:tgtEl>
                                        <p:attrNameLst>
                                          <p:attrName>style.visibility</p:attrName>
                                        </p:attrNameLst>
                                      </p:cBhvr>
                                      <p:to>
                                        <p:strVal val="visible"/>
                                      </p:to>
                                    </p:set>
                                    <p:animEffect transition="in" filter="fade">
                                      <p:cBhvr>
                                        <p:cTn id="107" dur="500"/>
                                        <p:tgtEl>
                                          <p:spTgt spid="5409"/>
                                        </p:tgtEl>
                                      </p:cBhvr>
                                    </p:animEffect>
                                  </p:childTnLst>
                                </p:cTn>
                              </p:par>
                            </p:childTnLst>
                          </p:cTn>
                        </p:par>
                        <p:par>
                          <p:cTn id="108" fill="hold">
                            <p:stCondLst>
                              <p:cond delay="8000"/>
                            </p:stCondLst>
                            <p:childTnLst>
                              <p:par>
                                <p:cTn id="109" presetID="10" presetClass="entr" presetSubtype="0" fill="hold" nodeType="afterEffect">
                                  <p:stCondLst>
                                    <p:cond delay="0"/>
                                  </p:stCondLst>
                                  <p:childTnLst>
                                    <p:set>
                                      <p:cBhvr>
                                        <p:cTn id="110" dur="1" fill="hold">
                                          <p:stCondLst>
                                            <p:cond delay="0"/>
                                          </p:stCondLst>
                                        </p:cTn>
                                        <p:tgtEl>
                                          <p:spTgt spid="5403"/>
                                        </p:tgtEl>
                                        <p:attrNameLst>
                                          <p:attrName>style.visibility</p:attrName>
                                        </p:attrNameLst>
                                      </p:cBhvr>
                                      <p:to>
                                        <p:strVal val="visible"/>
                                      </p:to>
                                    </p:set>
                                    <p:animEffect transition="in" filter="fade">
                                      <p:cBhvr>
                                        <p:cTn id="111" dur="500"/>
                                        <p:tgtEl>
                                          <p:spTgt spid="5403"/>
                                        </p:tgtEl>
                                      </p:cBhvr>
                                    </p:animEffect>
                                  </p:childTnLst>
                                </p:cTn>
                              </p:par>
                            </p:childTnLst>
                          </p:cTn>
                        </p:par>
                        <p:par>
                          <p:cTn id="112" fill="hold">
                            <p:stCondLst>
                              <p:cond delay="8500"/>
                            </p:stCondLst>
                            <p:childTnLst>
                              <p:par>
                                <p:cTn id="113" presetID="10" presetClass="entr" presetSubtype="0" fill="hold" nodeType="afterEffect">
                                  <p:stCondLst>
                                    <p:cond delay="0"/>
                                  </p:stCondLst>
                                  <p:childTnLst>
                                    <p:set>
                                      <p:cBhvr>
                                        <p:cTn id="114" dur="1" fill="hold">
                                          <p:stCondLst>
                                            <p:cond delay="0"/>
                                          </p:stCondLst>
                                        </p:cTn>
                                        <p:tgtEl>
                                          <p:spTgt spid="5537"/>
                                        </p:tgtEl>
                                        <p:attrNameLst>
                                          <p:attrName>style.visibility</p:attrName>
                                        </p:attrNameLst>
                                      </p:cBhvr>
                                      <p:to>
                                        <p:strVal val="visible"/>
                                      </p:to>
                                    </p:set>
                                    <p:animEffect transition="in" filter="fade">
                                      <p:cBhvr>
                                        <p:cTn id="115" dur="500"/>
                                        <p:tgtEl>
                                          <p:spTgt spid="5537"/>
                                        </p:tgtEl>
                                      </p:cBhvr>
                                    </p:animEffect>
                                  </p:childTnLst>
                                </p:cTn>
                              </p:par>
                              <p:par>
                                <p:cTn id="116" presetID="10" presetClass="entr" presetSubtype="0" fill="hold" nodeType="withEffect">
                                  <p:stCondLst>
                                    <p:cond delay="0"/>
                                  </p:stCondLst>
                                  <p:childTnLst>
                                    <p:set>
                                      <p:cBhvr>
                                        <p:cTn id="117" dur="1" fill="hold">
                                          <p:stCondLst>
                                            <p:cond delay="0"/>
                                          </p:stCondLst>
                                        </p:cTn>
                                        <p:tgtEl>
                                          <p:spTgt spid="5539"/>
                                        </p:tgtEl>
                                        <p:attrNameLst>
                                          <p:attrName>style.visibility</p:attrName>
                                        </p:attrNameLst>
                                      </p:cBhvr>
                                      <p:to>
                                        <p:strVal val="visible"/>
                                      </p:to>
                                    </p:set>
                                    <p:animEffect transition="in" filter="fade">
                                      <p:cBhvr>
                                        <p:cTn id="118" dur="500"/>
                                        <p:tgtEl>
                                          <p:spTgt spid="5539"/>
                                        </p:tgtEl>
                                      </p:cBhvr>
                                    </p:animEffect>
                                  </p:childTnLst>
                                </p:cTn>
                              </p:par>
                              <p:par>
                                <p:cTn id="119" presetID="10" presetClass="entr" presetSubtype="0" fill="hold" nodeType="withEffect">
                                  <p:stCondLst>
                                    <p:cond delay="0"/>
                                  </p:stCondLst>
                                  <p:childTnLst>
                                    <p:set>
                                      <p:cBhvr>
                                        <p:cTn id="120" dur="1" fill="hold">
                                          <p:stCondLst>
                                            <p:cond delay="0"/>
                                          </p:stCondLst>
                                        </p:cTn>
                                        <p:tgtEl>
                                          <p:spTgt spid="5536"/>
                                        </p:tgtEl>
                                        <p:attrNameLst>
                                          <p:attrName>style.visibility</p:attrName>
                                        </p:attrNameLst>
                                      </p:cBhvr>
                                      <p:to>
                                        <p:strVal val="visible"/>
                                      </p:to>
                                    </p:set>
                                    <p:animEffect transition="in" filter="fade">
                                      <p:cBhvr>
                                        <p:cTn id="121" dur="500"/>
                                        <p:tgtEl>
                                          <p:spTgt spid="5536"/>
                                        </p:tgtEl>
                                      </p:cBhvr>
                                    </p:animEffect>
                                  </p:childTnLst>
                                </p:cTn>
                              </p:par>
                              <p:par>
                                <p:cTn id="122" presetID="10" presetClass="entr" presetSubtype="0" fill="hold" nodeType="withEffect">
                                  <p:stCondLst>
                                    <p:cond delay="0"/>
                                  </p:stCondLst>
                                  <p:childTnLst>
                                    <p:set>
                                      <p:cBhvr>
                                        <p:cTn id="123" dur="1" fill="hold">
                                          <p:stCondLst>
                                            <p:cond delay="0"/>
                                          </p:stCondLst>
                                        </p:cTn>
                                        <p:tgtEl>
                                          <p:spTgt spid="5538"/>
                                        </p:tgtEl>
                                        <p:attrNameLst>
                                          <p:attrName>style.visibility</p:attrName>
                                        </p:attrNameLst>
                                      </p:cBhvr>
                                      <p:to>
                                        <p:strVal val="visible"/>
                                      </p:to>
                                    </p:set>
                                    <p:animEffect transition="in" filter="fade">
                                      <p:cBhvr>
                                        <p:cTn id="124" dur="500"/>
                                        <p:tgtEl>
                                          <p:spTgt spid="5538"/>
                                        </p:tgtEl>
                                      </p:cBhvr>
                                    </p:animEffect>
                                  </p:childTnLst>
                                </p:cTn>
                              </p:par>
                              <p:par>
                                <p:cTn id="125" presetID="10" presetClass="entr" presetSubtype="0" fill="hold" nodeType="withEffect">
                                  <p:stCondLst>
                                    <p:cond delay="0"/>
                                  </p:stCondLst>
                                  <p:childTnLst>
                                    <p:set>
                                      <p:cBhvr>
                                        <p:cTn id="126" dur="1" fill="hold">
                                          <p:stCondLst>
                                            <p:cond delay="0"/>
                                          </p:stCondLst>
                                        </p:cTn>
                                        <p:tgtEl>
                                          <p:spTgt spid="5458"/>
                                        </p:tgtEl>
                                        <p:attrNameLst>
                                          <p:attrName>style.visibility</p:attrName>
                                        </p:attrNameLst>
                                      </p:cBhvr>
                                      <p:to>
                                        <p:strVal val="visible"/>
                                      </p:to>
                                    </p:set>
                                    <p:animEffect transition="in" filter="fade">
                                      <p:cBhvr>
                                        <p:cTn id="127" dur="500"/>
                                        <p:tgtEl>
                                          <p:spTgt spid="5458"/>
                                        </p:tgtEl>
                                      </p:cBhvr>
                                    </p:animEffect>
                                  </p:childTnLst>
                                </p:cTn>
                              </p:par>
                            </p:childTnLst>
                          </p:cTn>
                        </p:par>
                        <p:par>
                          <p:cTn id="128" fill="hold">
                            <p:stCondLst>
                              <p:cond delay="9000"/>
                            </p:stCondLst>
                            <p:childTnLst>
                              <p:par>
                                <p:cTn id="129" presetID="10" presetClass="entr" presetSubtype="0" fill="hold" nodeType="afterEffect">
                                  <p:stCondLst>
                                    <p:cond delay="0"/>
                                  </p:stCondLst>
                                  <p:childTnLst>
                                    <p:set>
                                      <p:cBhvr>
                                        <p:cTn id="130" dur="1" fill="hold">
                                          <p:stCondLst>
                                            <p:cond delay="0"/>
                                          </p:stCondLst>
                                        </p:cTn>
                                        <p:tgtEl>
                                          <p:spTgt spid="5566"/>
                                        </p:tgtEl>
                                        <p:attrNameLst>
                                          <p:attrName>style.visibility</p:attrName>
                                        </p:attrNameLst>
                                      </p:cBhvr>
                                      <p:to>
                                        <p:strVal val="visible"/>
                                      </p:to>
                                    </p:set>
                                    <p:animEffect transition="in" filter="fade">
                                      <p:cBhvr>
                                        <p:cTn id="131" dur="500"/>
                                        <p:tgtEl>
                                          <p:spTgt spid="5566"/>
                                        </p:tgtEl>
                                      </p:cBhvr>
                                    </p:animEffect>
                                  </p:childTnLst>
                                </p:cTn>
                              </p:par>
                            </p:childTnLst>
                          </p:cTn>
                        </p:par>
                        <p:par>
                          <p:cTn id="132" fill="hold">
                            <p:stCondLst>
                              <p:cond delay="9500"/>
                            </p:stCondLst>
                            <p:childTnLst>
                              <p:par>
                                <p:cTn id="133" presetID="10" presetClass="entr" presetSubtype="0" fill="hold" nodeType="afterEffect">
                                  <p:stCondLst>
                                    <p:cond delay="1500"/>
                                  </p:stCondLst>
                                  <p:childTnLst>
                                    <p:set>
                                      <p:cBhvr>
                                        <p:cTn id="134" dur="1" fill="hold">
                                          <p:stCondLst>
                                            <p:cond delay="0"/>
                                          </p:stCondLst>
                                        </p:cTn>
                                        <p:tgtEl>
                                          <p:spTgt spid="5441"/>
                                        </p:tgtEl>
                                        <p:attrNameLst>
                                          <p:attrName>style.visibility</p:attrName>
                                        </p:attrNameLst>
                                      </p:cBhvr>
                                      <p:to>
                                        <p:strVal val="visible"/>
                                      </p:to>
                                    </p:set>
                                    <p:animEffect transition="in" filter="fade">
                                      <p:cBhvr>
                                        <p:cTn id="135" dur="500"/>
                                        <p:tgtEl>
                                          <p:spTgt spid="5441"/>
                                        </p:tgtEl>
                                      </p:cBhvr>
                                    </p:animEffect>
                                  </p:childTnLst>
                                </p:cTn>
                              </p:par>
                            </p:childTnLst>
                          </p:cTn>
                        </p:par>
                        <p:par>
                          <p:cTn id="136" fill="hold">
                            <p:stCondLst>
                              <p:cond delay="10000"/>
                            </p:stCondLst>
                            <p:childTnLst>
                              <p:par>
                                <p:cTn id="137" presetID="10" presetClass="entr" presetSubtype="0" fill="hold" nodeType="afterEffect">
                                  <p:stCondLst>
                                    <p:cond delay="0"/>
                                  </p:stCondLst>
                                  <p:childTnLst>
                                    <p:set>
                                      <p:cBhvr>
                                        <p:cTn id="138" dur="1" fill="hold">
                                          <p:stCondLst>
                                            <p:cond delay="0"/>
                                          </p:stCondLst>
                                        </p:cTn>
                                        <p:tgtEl>
                                          <p:spTgt spid="5558"/>
                                        </p:tgtEl>
                                        <p:attrNameLst>
                                          <p:attrName>style.visibility</p:attrName>
                                        </p:attrNameLst>
                                      </p:cBhvr>
                                      <p:to>
                                        <p:strVal val="visible"/>
                                      </p:to>
                                    </p:set>
                                    <p:animEffect transition="in" filter="fade">
                                      <p:cBhvr>
                                        <p:cTn id="139" dur="500"/>
                                        <p:tgtEl>
                                          <p:spTgt spid="5558"/>
                                        </p:tgtEl>
                                      </p:cBhvr>
                                    </p:animEffect>
                                  </p:childTnLst>
                                </p:cTn>
                              </p:par>
                              <p:par>
                                <p:cTn id="140" presetID="10" presetClass="entr" presetSubtype="0" fill="hold" nodeType="withEffect">
                                  <p:stCondLst>
                                    <p:cond delay="0"/>
                                  </p:stCondLst>
                                  <p:childTnLst>
                                    <p:set>
                                      <p:cBhvr>
                                        <p:cTn id="141" dur="1" fill="hold">
                                          <p:stCondLst>
                                            <p:cond delay="0"/>
                                          </p:stCondLst>
                                        </p:cTn>
                                        <p:tgtEl>
                                          <p:spTgt spid="5506"/>
                                        </p:tgtEl>
                                        <p:attrNameLst>
                                          <p:attrName>style.visibility</p:attrName>
                                        </p:attrNameLst>
                                      </p:cBhvr>
                                      <p:to>
                                        <p:strVal val="visible"/>
                                      </p:to>
                                    </p:set>
                                    <p:animEffect transition="in" filter="fade">
                                      <p:cBhvr>
                                        <p:cTn id="142" dur="500"/>
                                        <p:tgtEl>
                                          <p:spTgt spid="5506"/>
                                        </p:tgtEl>
                                      </p:cBhvr>
                                    </p:animEffect>
                                  </p:childTnLst>
                                </p:cTn>
                              </p:par>
                              <p:par>
                                <p:cTn id="143" presetID="10" presetClass="entr" presetSubtype="0" fill="hold" nodeType="withEffect">
                                  <p:stCondLst>
                                    <p:cond delay="0"/>
                                  </p:stCondLst>
                                  <p:childTnLst>
                                    <p:set>
                                      <p:cBhvr>
                                        <p:cTn id="144" dur="1" fill="hold">
                                          <p:stCondLst>
                                            <p:cond delay="0"/>
                                          </p:stCondLst>
                                        </p:cTn>
                                        <p:tgtEl>
                                          <p:spTgt spid="5470"/>
                                        </p:tgtEl>
                                        <p:attrNameLst>
                                          <p:attrName>style.visibility</p:attrName>
                                        </p:attrNameLst>
                                      </p:cBhvr>
                                      <p:to>
                                        <p:strVal val="visible"/>
                                      </p:to>
                                    </p:set>
                                    <p:animEffect transition="in" filter="fade">
                                      <p:cBhvr>
                                        <p:cTn id="145" dur="500"/>
                                        <p:tgtEl>
                                          <p:spTgt spid="5470"/>
                                        </p:tgtEl>
                                      </p:cBhvr>
                                    </p:animEffect>
                                  </p:childTnLst>
                                </p:cTn>
                              </p:par>
                              <p:par>
                                <p:cTn id="146" presetID="10" presetClass="entr" presetSubtype="0" fill="hold" nodeType="withEffect">
                                  <p:stCondLst>
                                    <p:cond delay="0"/>
                                  </p:stCondLst>
                                  <p:childTnLst>
                                    <p:set>
                                      <p:cBhvr>
                                        <p:cTn id="147" dur="1" fill="hold">
                                          <p:stCondLst>
                                            <p:cond delay="0"/>
                                          </p:stCondLst>
                                        </p:cTn>
                                        <p:tgtEl>
                                          <p:spTgt spid="5423"/>
                                        </p:tgtEl>
                                        <p:attrNameLst>
                                          <p:attrName>style.visibility</p:attrName>
                                        </p:attrNameLst>
                                      </p:cBhvr>
                                      <p:to>
                                        <p:strVal val="visible"/>
                                      </p:to>
                                    </p:set>
                                    <p:animEffect transition="in" filter="fade">
                                      <p:cBhvr>
                                        <p:cTn id="148" dur="500"/>
                                        <p:tgtEl>
                                          <p:spTgt spid="5423"/>
                                        </p:tgtEl>
                                      </p:cBhvr>
                                    </p:animEffect>
                                  </p:childTnLst>
                                </p:cTn>
                              </p:par>
                            </p:childTnLst>
                          </p:cTn>
                        </p:par>
                        <p:par>
                          <p:cTn id="149" fill="hold">
                            <p:stCondLst>
                              <p:cond delay="10500"/>
                            </p:stCondLst>
                            <p:childTnLst>
                              <p:par>
                                <p:cTn id="150" presetID="10" presetClass="entr" presetSubtype="0" fill="hold" nodeType="afterEffect">
                                  <p:stCondLst>
                                    <p:cond delay="0"/>
                                  </p:stCondLst>
                                  <p:childTnLst>
                                    <p:set>
                                      <p:cBhvr>
                                        <p:cTn id="151" dur="1" fill="hold">
                                          <p:stCondLst>
                                            <p:cond delay="0"/>
                                          </p:stCondLst>
                                        </p:cTn>
                                        <p:tgtEl>
                                          <p:spTgt spid="5404"/>
                                        </p:tgtEl>
                                        <p:attrNameLst>
                                          <p:attrName>style.visibility</p:attrName>
                                        </p:attrNameLst>
                                      </p:cBhvr>
                                      <p:to>
                                        <p:strVal val="visible"/>
                                      </p:to>
                                    </p:set>
                                    <p:animEffect transition="in" filter="fade">
                                      <p:cBhvr>
                                        <p:cTn id="152" dur="500"/>
                                        <p:tgtEl>
                                          <p:spTgt spid="5404"/>
                                        </p:tgtEl>
                                      </p:cBhvr>
                                    </p:animEffect>
                                  </p:childTnLst>
                                </p:cTn>
                              </p:par>
                              <p:par>
                                <p:cTn id="153" presetID="10" presetClass="entr" presetSubtype="0" fill="hold" nodeType="withEffect">
                                  <p:stCondLst>
                                    <p:cond delay="0"/>
                                  </p:stCondLst>
                                  <p:childTnLst>
                                    <p:set>
                                      <p:cBhvr>
                                        <p:cTn id="154" dur="1" fill="hold">
                                          <p:stCondLst>
                                            <p:cond delay="0"/>
                                          </p:stCondLst>
                                        </p:cTn>
                                        <p:tgtEl>
                                          <p:spTgt spid="5510"/>
                                        </p:tgtEl>
                                        <p:attrNameLst>
                                          <p:attrName>style.visibility</p:attrName>
                                        </p:attrNameLst>
                                      </p:cBhvr>
                                      <p:to>
                                        <p:strVal val="visible"/>
                                      </p:to>
                                    </p:set>
                                    <p:animEffect transition="in" filter="fade">
                                      <p:cBhvr>
                                        <p:cTn id="155" dur="500"/>
                                        <p:tgtEl>
                                          <p:spTgt spid="5510"/>
                                        </p:tgtEl>
                                      </p:cBhvr>
                                    </p:animEffect>
                                  </p:childTnLst>
                                </p:cTn>
                              </p:par>
                            </p:childTnLst>
                          </p:cTn>
                        </p:par>
                        <p:par>
                          <p:cTn id="156" fill="hold">
                            <p:stCondLst>
                              <p:cond delay="11000"/>
                            </p:stCondLst>
                            <p:childTnLst>
                              <p:par>
                                <p:cTn id="157" presetID="10" presetClass="entr" presetSubtype="0" fill="hold" nodeType="afterEffect">
                                  <p:stCondLst>
                                    <p:cond delay="0"/>
                                  </p:stCondLst>
                                  <p:childTnLst>
                                    <p:set>
                                      <p:cBhvr>
                                        <p:cTn id="158" dur="1" fill="hold">
                                          <p:stCondLst>
                                            <p:cond delay="0"/>
                                          </p:stCondLst>
                                        </p:cTn>
                                        <p:tgtEl>
                                          <p:spTgt spid="5479"/>
                                        </p:tgtEl>
                                        <p:attrNameLst>
                                          <p:attrName>style.visibility</p:attrName>
                                        </p:attrNameLst>
                                      </p:cBhvr>
                                      <p:to>
                                        <p:strVal val="visible"/>
                                      </p:to>
                                    </p:set>
                                    <p:animEffect transition="in" filter="fade">
                                      <p:cBhvr>
                                        <p:cTn id="159" dur="500"/>
                                        <p:tgtEl>
                                          <p:spTgt spid="5479"/>
                                        </p:tgtEl>
                                      </p:cBhvr>
                                    </p:animEffect>
                                  </p:childTnLst>
                                </p:cTn>
                              </p:par>
                              <p:par>
                                <p:cTn id="160" presetID="10" presetClass="entr" presetSubtype="0" fill="hold" nodeType="withEffect">
                                  <p:stCondLst>
                                    <p:cond delay="0"/>
                                  </p:stCondLst>
                                  <p:childTnLst>
                                    <p:set>
                                      <p:cBhvr>
                                        <p:cTn id="161" dur="1" fill="hold">
                                          <p:stCondLst>
                                            <p:cond delay="0"/>
                                          </p:stCondLst>
                                        </p:cTn>
                                        <p:tgtEl>
                                          <p:spTgt spid="5493"/>
                                        </p:tgtEl>
                                        <p:attrNameLst>
                                          <p:attrName>style.visibility</p:attrName>
                                        </p:attrNameLst>
                                      </p:cBhvr>
                                      <p:to>
                                        <p:strVal val="visible"/>
                                      </p:to>
                                    </p:set>
                                    <p:animEffect transition="in" filter="fade">
                                      <p:cBhvr>
                                        <p:cTn id="162" dur="500"/>
                                        <p:tgtEl>
                                          <p:spTgt spid="5493"/>
                                        </p:tgtEl>
                                      </p:cBhvr>
                                    </p:animEffect>
                                  </p:childTnLst>
                                </p:cTn>
                              </p:par>
                            </p:childTnLst>
                          </p:cTn>
                        </p:par>
                        <p:par>
                          <p:cTn id="163" fill="hold">
                            <p:stCondLst>
                              <p:cond delay="11500"/>
                            </p:stCondLst>
                            <p:childTnLst>
                              <p:par>
                                <p:cTn id="164" presetID="10" presetClass="entr" presetSubtype="0" fill="hold" nodeType="afterEffect">
                                  <p:stCondLst>
                                    <p:cond delay="0"/>
                                  </p:stCondLst>
                                  <p:childTnLst>
                                    <p:set>
                                      <p:cBhvr>
                                        <p:cTn id="165" dur="1" fill="hold">
                                          <p:stCondLst>
                                            <p:cond delay="0"/>
                                          </p:stCondLst>
                                        </p:cTn>
                                        <p:tgtEl>
                                          <p:spTgt spid="5507"/>
                                        </p:tgtEl>
                                        <p:attrNameLst>
                                          <p:attrName>style.visibility</p:attrName>
                                        </p:attrNameLst>
                                      </p:cBhvr>
                                      <p:to>
                                        <p:strVal val="visible"/>
                                      </p:to>
                                    </p:set>
                                    <p:animEffect transition="in" filter="fade">
                                      <p:cBhvr>
                                        <p:cTn id="166" dur="500"/>
                                        <p:tgtEl>
                                          <p:spTgt spid="5507"/>
                                        </p:tgtEl>
                                      </p:cBhvr>
                                    </p:animEffect>
                                  </p:childTnLst>
                                </p:cTn>
                              </p:par>
                            </p:childTnLst>
                          </p:cTn>
                        </p:par>
                        <p:par>
                          <p:cTn id="167" fill="hold">
                            <p:stCondLst>
                              <p:cond delay="12000"/>
                            </p:stCondLst>
                            <p:childTnLst>
                              <p:par>
                                <p:cTn id="168" presetID="10" presetClass="entr" presetSubtype="0" fill="hold" nodeType="afterEffect">
                                  <p:stCondLst>
                                    <p:cond delay="0"/>
                                  </p:stCondLst>
                                  <p:childTnLst>
                                    <p:set>
                                      <p:cBhvr>
                                        <p:cTn id="169" dur="1" fill="hold">
                                          <p:stCondLst>
                                            <p:cond delay="0"/>
                                          </p:stCondLst>
                                        </p:cTn>
                                        <p:tgtEl>
                                          <p:spTgt spid="5563"/>
                                        </p:tgtEl>
                                        <p:attrNameLst>
                                          <p:attrName>style.visibility</p:attrName>
                                        </p:attrNameLst>
                                      </p:cBhvr>
                                      <p:to>
                                        <p:strVal val="visible"/>
                                      </p:to>
                                    </p:set>
                                    <p:animEffect transition="in" filter="fade">
                                      <p:cBhvr>
                                        <p:cTn id="170" dur="500"/>
                                        <p:tgtEl>
                                          <p:spTgt spid="5563"/>
                                        </p:tgtEl>
                                      </p:cBhvr>
                                    </p:animEffect>
                                  </p:childTnLst>
                                </p:cTn>
                              </p:par>
                            </p:childTnLst>
                          </p:cTn>
                        </p:par>
                        <p:par>
                          <p:cTn id="171" fill="hold">
                            <p:stCondLst>
                              <p:cond delay="12500"/>
                            </p:stCondLst>
                            <p:childTnLst>
                              <p:par>
                                <p:cTn id="172" presetID="10" presetClass="entr" presetSubtype="0" fill="hold" nodeType="afterEffect">
                                  <p:stCondLst>
                                    <p:cond delay="0"/>
                                  </p:stCondLst>
                                  <p:childTnLst>
                                    <p:set>
                                      <p:cBhvr>
                                        <p:cTn id="173" dur="1" fill="hold">
                                          <p:stCondLst>
                                            <p:cond delay="0"/>
                                          </p:stCondLst>
                                        </p:cTn>
                                        <p:tgtEl>
                                          <p:spTgt spid="5565"/>
                                        </p:tgtEl>
                                        <p:attrNameLst>
                                          <p:attrName>style.visibility</p:attrName>
                                        </p:attrNameLst>
                                      </p:cBhvr>
                                      <p:to>
                                        <p:strVal val="visible"/>
                                      </p:to>
                                    </p:set>
                                    <p:animEffect transition="in" filter="fade">
                                      <p:cBhvr>
                                        <p:cTn id="174" dur="250"/>
                                        <p:tgtEl>
                                          <p:spTgt spid="5565"/>
                                        </p:tgtEl>
                                      </p:cBhvr>
                                    </p:animEffect>
                                  </p:childTnLst>
                                </p:cTn>
                              </p:par>
                            </p:childTnLst>
                          </p:cTn>
                        </p:par>
                        <p:par>
                          <p:cTn id="175" fill="hold">
                            <p:stCondLst>
                              <p:cond delay="12750"/>
                            </p:stCondLst>
                            <p:childTnLst>
                              <p:par>
                                <p:cTn id="176" presetID="10" presetClass="entr" presetSubtype="0" fill="hold" nodeType="afterEffect">
                                  <p:stCondLst>
                                    <p:cond delay="0"/>
                                  </p:stCondLst>
                                  <p:childTnLst>
                                    <p:set>
                                      <p:cBhvr>
                                        <p:cTn id="177" dur="1" fill="hold">
                                          <p:stCondLst>
                                            <p:cond delay="0"/>
                                          </p:stCondLst>
                                        </p:cTn>
                                        <p:tgtEl>
                                          <p:spTgt spid="5564"/>
                                        </p:tgtEl>
                                        <p:attrNameLst>
                                          <p:attrName>style.visibility</p:attrName>
                                        </p:attrNameLst>
                                      </p:cBhvr>
                                      <p:to>
                                        <p:strVal val="visible"/>
                                      </p:to>
                                    </p:set>
                                    <p:animEffect transition="in" filter="fade">
                                      <p:cBhvr>
                                        <p:cTn id="178" dur="250"/>
                                        <p:tgtEl>
                                          <p:spTgt spid="5564"/>
                                        </p:tgtEl>
                                      </p:cBhvr>
                                    </p:animEffect>
                                  </p:childTnLst>
                                </p:cTn>
                              </p:par>
                            </p:childTnLst>
                          </p:cTn>
                        </p:par>
                        <p:par>
                          <p:cTn id="179" fill="hold">
                            <p:stCondLst>
                              <p:cond delay="13000"/>
                            </p:stCondLst>
                            <p:childTnLst>
                              <p:par>
                                <p:cTn id="180" presetID="10" presetClass="entr" presetSubtype="0" fill="hold" nodeType="afterEffect">
                                  <p:stCondLst>
                                    <p:cond delay="0"/>
                                  </p:stCondLst>
                                  <p:childTnLst>
                                    <p:set>
                                      <p:cBhvr>
                                        <p:cTn id="181" dur="1" fill="hold">
                                          <p:stCondLst>
                                            <p:cond delay="0"/>
                                          </p:stCondLst>
                                        </p:cTn>
                                        <p:tgtEl>
                                          <p:spTgt spid="5554"/>
                                        </p:tgtEl>
                                        <p:attrNameLst>
                                          <p:attrName>style.visibility</p:attrName>
                                        </p:attrNameLst>
                                      </p:cBhvr>
                                      <p:to>
                                        <p:strVal val="visible"/>
                                      </p:to>
                                    </p:set>
                                    <p:animEffect transition="in" filter="fade">
                                      <p:cBhvr>
                                        <p:cTn id="182" dur="500"/>
                                        <p:tgtEl>
                                          <p:spTgt spid="5554"/>
                                        </p:tgtEl>
                                      </p:cBhvr>
                                    </p:animEffect>
                                  </p:childTnLst>
                                </p:cTn>
                              </p:par>
                              <p:par>
                                <p:cTn id="183" presetID="10" presetClass="entr" presetSubtype="0" fill="hold" nodeType="withEffect">
                                  <p:stCondLst>
                                    <p:cond delay="0"/>
                                  </p:stCondLst>
                                  <p:childTnLst>
                                    <p:set>
                                      <p:cBhvr>
                                        <p:cTn id="184" dur="1" fill="hold">
                                          <p:stCondLst>
                                            <p:cond delay="0"/>
                                          </p:stCondLst>
                                        </p:cTn>
                                        <p:tgtEl>
                                          <p:spTgt spid="5492"/>
                                        </p:tgtEl>
                                        <p:attrNameLst>
                                          <p:attrName>style.visibility</p:attrName>
                                        </p:attrNameLst>
                                      </p:cBhvr>
                                      <p:to>
                                        <p:strVal val="visible"/>
                                      </p:to>
                                    </p:set>
                                    <p:animEffect transition="in" filter="fade">
                                      <p:cBhvr>
                                        <p:cTn id="185" dur="500"/>
                                        <p:tgtEl>
                                          <p:spTgt spid="5492"/>
                                        </p:tgtEl>
                                      </p:cBhvr>
                                    </p:animEffect>
                                  </p:childTnLst>
                                </p:cTn>
                              </p:par>
                              <p:par>
                                <p:cTn id="186" presetID="10" presetClass="entr" presetSubtype="0" fill="hold" nodeType="withEffect">
                                  <p:stCondLst>
                                    <p:cond delay="0"/>
                                  </p:stCondLst>
                                  <p:childTnLst>
                                    <p:set>
                                      <p:cBhvr>
                                        <p:cTn id="187" dur="1" fill="hold">
                                          <p:stCondLst>
                                            <p:cond delay="0"/>
                                          </p:stCondLst>
                                        </p:cTn>
                                        <p:tgtEl>
                                          <p:spTgt spid="5478"/>
                                        </p:tgtEl>
                                        <p:attrNameLst>
                                          <p:attrName>style.visibility</p:attrName>
                                        </p:attrNameLst>
                                      </p:cBhvr>
                                      <p:to>
                                        <p:strVal val="visible"/>
                                      </p:to>
                                    </p:set>
                                    <p:animEffect transition="in" filter="fade">
                                      <p:cBhvr>
                                        <p:cTn id="188" dur="500"/>
                                        <p:tgtEl>
                                          <p:spTgt spid="5478"/>
                                        </p:tgtEl>
                                      </p:cBhvr>
                                    </p:animEffect>
                                  </p:childTnLst>
                                </p:cTn>
                              </p:par>
                            </p:childTnLst>
                          </p:cTn>
                        </p:par>
                        <p:par>
                          <p:cTn id="189" fill="hold">
                            <p:stCondLst>
                              <p:cond delay="13500"/>
                            </p:stCondLst>
                            <p:childTnLst>
                              <p:par>
                                <p:cTn id="190" presetID="10" presetClass="entr" presetSubtype="0" fill="hold" nodeType="afterEffect">
                                  <p:stCondLst>
                                    <p:cond delay="0"/>
                                  </p:stCondLst>
                                  <p:childTnLst>
                                    <p:set>
                                      <p:cBhvr>
                                        <p:cTn id="191" dur="1" fill="hold">
                                          <p:stCondLst>
                                            <p:cond delay="0"/>
                                          </p:stCondLst>
                                        </p:cTn>
                                        <p:tgtEl>
                                          <p:spTgt spid="5402"/>
                                        </p:tgtEl>
                                        <p:attrNameLst>
                                          <p:attrName>style.visibility</p:attrName>
                                        </p:attrNameLst>
                                      </p:cBhvr>
                                      <p:to>
                                        <p:strVal val="visible"/>
                                      </p:to>
                                    </p:set>
                                    <p:animEffect transition="in" filter="fade">
                                      <p:cBhvr>
                                        <p:cTn id="192" dur="500"/>
                                        <p:tgtEl>
                                          <p:spTgt spid="5402"/>
                                        </p:tgtEl>
                                      </p:cBhvr>
                                    </p:animEffect>
                                  </p:childTnLst>
                                </p:cTn>
                              </p:par>
                            </p:childTnLst>
                          </p:cTn>
                        </p:par>
                        <p:par>
                          <p:cTn id="193" fill="hold">
                            <p:stCondLst>
                              <p:cond delay="14000"/>
                            </p:stCondLst>
                            <p:childTnLst>
                              <p:par>
                                <p:cTn id="194" presetID="10" presetClass="entr" presetSubtype="0" fill="hold" nodeType="afterEffect">
                                  <p:stCondLst>
                                    <p:cond delay="0"/>
                                  </p:stCondLst>
                                  <p:childTnLst>
                                    <p:set>
                                      <p:cBhvr>
                                        <p:cTn id="195" dur="1" fill="hold">
                                          <p:stCondLst>
                                            <p:cond delay="0"/>
                                          </p:stCondLst>
                                        </p:cTn>
                                        <p:tgtEl>
                                          <p:spTgt spid="5549"/>
                                        </p:tgtEl>
                                        <p:attrNameLst>
                                          <p:attrName>style.visibility</p:attrName>
                                        </p:attrNameLst>
                                      </p:cBhvr>
                                      <p:to>
                                        <p:strVal val="visible"/>
                                      </p:to>
                                    </p:set>
                                    <p:animEffect transition="in" filter="fade">
                                      <p:cBhvr>
                                        <p:cTn id="196" dur="500"/>
                                        <p:tgtEl>
                                          <p:spTgt spid="5549"/>
                                        </p:tgtEl>
                                      </p:cBhvr>
                                    </p:animEffect>
                                  </p:childTnLst>
                                </p:cTn>
                              </p:par>
                              <p:par>
                                <p:cTn id="197" presetID="10" presetClass="entr" presetSubtype="0" fill="hold" nodeType="withEffect">
                                  <p:stCondLst>
                                    <p:cond delay="0"/>
                                  </p:stCondLst>
                                  <p:childTnLst>
                                    <p:set>
                                      <p:cBhvr>
                                        <p:cTn id="198" dur="1" fill="hold">
                                          <p:stCondLst>
                                            <p:cond delay="0"/>
                                          </p:stCondLst>
                                        </p:cTn>
                                        <p:tgtEl>
                                          <p:spTgt spid="5571"/>
                                        </p:tgtEl>
                                        <p:attrNameLst>
                                          <p:attrName>style.visibility</p:attrName>
                                        </p:attrNameLst>
                                      </p:cBhvr>
                                      <p:to>
                                        <p:strVal val="visible"/>
                                      </p:to>
                                    </p:set>
                                    <p:animEffect transition="in" filter="fade">
                                      <p:cBhvr>
                                        <p:cTn id="199" dur="500"/>
                                        <p:tgtEl>
                                          <p:spTgt spid="5571"/>
                                        </p:tgtEl>
                                      </p:cBhvr>
                                    </p:animEffect>
                                  </p:childTnLst>
                                </p:cTn>
                              </p:par>
                              <p:par>
                                <p:cTn id="200" presetID="10" presetClass="entr" presetSubtype="0" fill="hold" nodeType="withEffect">
                                  <p:stCondLst>
                                    <p:cond delay="0"/>
                                  </p:stCondLst>
                                  <p:childTnLst>
                                    <p:set>
                                      <p:cBhvr>
                                        <p:cTn id="201" dur="1" fill="hold">
                                          <p:stCondLst>
                                            <p:cond delay="0"/>
                                          </p:stCondLst>
                                        </p:cTn>
                                        <p:tgtEl>
                                          <p:spTgt spid="5572"/>
                                        </p:tgtEl>
                                        <p:attrNameLst>
                                          <p:attrName>style.visibility</p:attrName>
                                        </p:attrNameLst>
                                      </p:cBhvr>
                                      <p:to>
                                        <p:strVal val="visible"/>
                                      </p:to>
                                    </p:set>
                                    <p:animEffect transition="in" filter="fade">
                                      <p:cBhvr>
                                        <p:cTn id="202" dur="500"/>
                                        <p:tgtEl>
                                          <p:spTgt spid="5572"/>
                                        </p:tgtEl>
                                      </p:cBhvr>
                                    </p:animEffect>
                                  </p:childTnLst>
                                </p:cTn>
                              </p:par>
                            </p:childTnLst>
                          </p:cTn>
                        </p:par>
                        <p:par>
                          <p:cTn id="203" fill="hold">
                            <p:stCondLst>
                              <p:cond delay="14500"/>
                            </p:stCondLst>
                            <p:childTnLst>
                              <p:par>
                                <p:cTn id="204" presetID="10" presetClass="entr" presetSubtype="0" fill="hold" nodeType="afterEffect">
                                  <p:stCondLst>
                                    <p:cond delay="0"/>
                                  </p:stCondLst>
                                  <p:childTnLst>
                                    <p:set>
                                      <p:cBhvr>
                                        <p:cTn id="205" dur="1" fill="hold">
                                          <p:stCondLst>
                                            <p:cond delay="0"/>
                                          </p:stCondLst>
                                        </p:cTn>
                                        <p:tgtEl>
                                          <p:spTgt spid="5515"/>
                                        </p:tgtEl>
                                        <p:attrNameLst>
                                          <p:attrName>style.visibility</p:attrName>
                                        </p:attrNameLst>
                                      </p:cBhvr>
                                      <p:to>
                                        <p:strVal val="visible"/>
                                      </p:to>
                                    </p:set>
                                    <p:animEffect transition="in" filter="fade">
                                      <p:cBhvr>
                                        <p:cTn id="206" dur="500"/>
                                        <p:tgtEl>
                                          <p:spTgt spid="5515"/>
                                        </p:tgtEl>
                                      </p:cBhvr>
                                    </p:animEffect>
                                  </p:childTnLst>
                                </p:cTn>
                              </p:par>
                            </p:childTnLst>
                          </p:cTn>
                        </p:par>
                        <p:par>
                          <p:cTn id="207" fill="hold">
                            <p:stCondLst>
                              <p:cond delay="15000"/>
                            </p:stCondLst>
                            <p:childTnLst>
                              <p:par>
                                <p:cTn id="208" presetID="10" presetClass="entr" presetSubtype="0" fill="hold" nodeType="afterEffect">
                                  <p:stCondLst>
                                    <p:cond delay="0"/>
                                  </p:stCondLst>
                                  <p:childTnLst>
                                    <p:set>
                                      <p:cBhvr>
                                        <p:cTn id="209" dur="1" fill="hold">
                                          <p:stCondLst>
                                            <p:cond delay="0"/>
                                          </p:stCondLst>
                                        </p:cTn>
                                        <p:tgtEl>
                                          <p:spTgt spid="5548"/>
                                        </p:tgtEl>
                                        <p:attrNameLst>
                                          <p:attrName>style.visibility</p:attrName>
                                        </p:attrNameLst>
                                      </p:cBhvr>
                                      <p:to>
                                        <p:strVal val="visible"/>
                                      </p:to>
                                    </p:set>
                                    <p:animEffect transition="in" filter="fade">
                                      <p:cBhvr>
                                        <p:cTn id="210" dur="500"/>
                                        <p:tgtEl>
                                          <p:spTgt spid="5548"/>
                                        </p:tgtEl>
                                      </p:cBhvr>
                                    </p:animEffect>
                                  </p:childTnLst>
                                </p:cTn>
                              </p:par>
                              <p:par>
                                <p:cTn id="211" presetID="10" presetClass="entr" presetSubtype="0" fill="hold" nodeType="withEffect">
                                  <p:stCondLst>
                                    <p:cond delay="0"/>
                                  </p:stCondLst>
                                  <p:childTnLst>
                                    <p:set>
                                      <p:cBhvr>
                                        <p:cTn id="212" dur="1" fill="hold">
                                          <p:stCondLst>
                                            <p:cond delay="0"/>
                                          </p:stCondLst>
                                        </p:cTn>
                                        <p:tgtEl>
                                          <p:spTgt spid="5559"/>
                                        </p:tgtEl>
                                        <p:attrNameLst>
                                          <p:attrName>style.visibility</p:attrName>
                                        </p:attrNameLst>
                                      </p:cBhvr>
                                      <p:to>
                                        <p:strVal val="visible"/>
                                      </p:to>
                                    </p:set>
                                    <p:animEffect transition="in" filter="fade">
                                      <p:cBhvr>
                                        <p:cTn id="213" dur="500"/>
                                        <p:tgtEl>
                                          <p:spTgt spid="5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577"/>
        <p:cNvGrpSpPr/>
        <p:nvPr/>
      </p:nvGrpSpPr>
      <p:grpSpPr>
        <a:xfrm>
          <a:off x="0" y="0"/>
          <a:ext cx="0" cy="0"/>
          <a:chOff x="0" y="0"/>
          <a:chExt cx="0" cy="0"/>
        </a:xfrm>
      </p:grpSpPr>
      <p:sp>
        <p:nvSpPr>
          <p:cNvPr id="5578" name="Google Shape;5578;p2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Improved Scalability with vSAN File Services in vSAN ESA</a:t>
            </a:r>
            <a:endParaRPr/>
          </a:p>
        </p:txBody>
      </p:sp>
      <p:sp>
        <p:nvSpPr>
          <p:cNvPr id="5579" name="Google Shape;5579;p2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Support of up to 500 file shares per cluster in vSAN File Services</a:t>
            </a:r>
            <a:endParaRPr/>
          </a:p>
          <a:p>
            <a:pPr marL="0" lvl="0" indent="0" algn="l" rtl="0">
              <a:lnSpc>
                <a:spcPct val="100000"/>
              </a:lnSpc>
              <a:spcBef>
                <a:spcPts val="1200"/>
              </a:spcBef>
              <a:spcAft>
                <a:spcPts val="0"/>
              </a:spcAft>
              <a:buSzPts val="1800"/>
              <a:buNone/>
            </a:pPr>
            <a:endParaRPr/>
          </a:p>
        </p:txBody>
      </p:sp>
      <p:sp>
        <p:nvSpPr>
          <p:cNvPr id="5580" name="Google Shape;5580;p22"/>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b="1" dirty="0"/>
              <a:t>2x increase </a:t>
            </a:r>
            <a:r>
              <a:rPr lang="en-US" dirty="0"/>
              <a:t>in number of shares supported </a:t>
            </a:r>
            <a:r>
              <a:rPr lang="en-US" b="1" dirty="0"/>
              <a:t>per cluster </a:t>
            </a:r>
            <a:r>
              <a:rPr lang="en-US" dirty="0"/>
              <a:t>in </a:t>
            </a:r>
            <a:r>
              <a:rPr lang="en-US" dirty="0" err="1"/>
              <a:t>vSAN</a:t>
            </a:r>
            <a:r>
              <a:rPr lang="en-US" dirty="0"/>
              <a:t> File Services</a:t>
            </a:r>
            <a:endParaRPr dirty="0"/>
          </a:p>
          <a:p>
            <a:pPr marL="0" lvl="0" indent="0" algn="l" rtl="0">
              <a:lnSpc>
                <a:spcPct val="100000"/>
              </a:lnSpc>
              <a:spcBef>
                <a:spcPts val="1200"/>
              </a:spcBef>
              <a:spcAft>
                <a:spcPts val="0"/>
              </a:spcAft>
              <a:buSzPts val="1440"/>
              <a:buNone/>
            </a:pPr>
            <a:r>
              <a:rPr lang="en-US" b="1" dirty="0"/>
              <a:t>Beneficial </a:t>
            </a:r>
            <a:r>
              <a:rPr lang="en-US" dirty="0"/>
              <a:t>to all use cases</a:t>
            </a:r>
            <a:endParaRPr dirty="0"/>
          </a:p>
          <a:p>
            <a:pPr marL="457200" lvl="1" indent="-184150" algn="l" rtl="0">
              <a:lnSpc>
                <a:spcPct val="100000"/>
              </a:lnSpc>
              <a:spcBef>
                <a:spcPts val="1200"/>
              </a:spcBef>
              <a:spcAft>
                <a:spcPts val="0"/>
              </a:spcAft>
              <a:buSzPts val="1260"/>
              <a:buChar char="•"/>
            </a:pPr>
            <a:r>
              <a:rPr lang="en-US" dirty="0"/>
              <a:t>Cloud native workloads using RWX persistent volumes</a:t>
            </a:r>
            <a:endParaRPr dirty="0"/>
          </a:p>
          <a:p>
            <a:pPr marL="457200" lvl="1" indent="-184150" algn="l" rtl="0">
              <a:lnSpc>
                <a:spcPct val="100000"/>
              </a:lnSpc>
              <a:spcBef>
                <a:spcPts val="1200"/>
              </a:spcBef>
              <a:spcAft>
                <a:spcPts val="0"/>
              </a:spcAft>
              <a:buSzPts val="1260"/>
              <a:buChar char="•"/>
            </a:pPr>
            <a:r>
              <a:rPr lang="en-US" dirty="0"/>
              <a:t>NFS or SMB shares for guest VMs</a:t>
            </a:r>
            <a:endParaRPr dirty="0"/>
          </a:p>
          <a:p>
            <a:pPr marL="457200" lvl="1" indent="-184150" algn="l" rtl="0">
              <a:lnSpc>
                <a:spcPct val="100000"/>
              </a:lnSpc>
              <a:spcBef>
                <a:spcPts val="1200"/>
              </a:spcBef>
              <a:spcAft>
                <a:spcPts val="0"/>
              </a:spcAft>
              <a:buSzPts val="1260"/>
              <a:buChar char="•"/>
            </a:pPr>
            <a:r>
              <a:rPr lang="en-US" dirty="0"/>
              <a:t>NFS or SMB for legacy physical servers</a:t>
            </a:r>
            <a:endParaRPr dirty="0"/>
          </a:p>
          <a:p>
            <a:pPr marL="0" lvl="0" indent="0" algn="l" rtl="0">
              <a:lnSpc>
                <a:spcPct val="100000"/>
              </a:lnSpc>
              <a:spcBef>
                <a:spcPts val="1200"/>
              </a:spcBef>
              <a:spcAft>
                <a:spcPts val="0"/>
              </a:spcAft>
              <a:buSzPts val="1440"/>
              <a:buNone/>
            </a:pPr>
            <a:r>
              <a:rPr lang="en-US" dirty="0"/>
              <a:t>Cluster limit can be a combination of NFS and SMB shares</a:t>
            </a:r>
            <a:endParaRPr dirty="0"/>
          </a:p>
          <a:p>
            <a:pPr marL="457200" lvl="1" indent="-184150" algn="l" rtl="0">
              <a:lnSpc>
                <a:spcPct val="100000"/>
              </a:lnSpc>
              <a:spcBef>
                <a:spcPts val="1200"/>
              </a:spcBef>
              <a:spcAft>
                <a:spcPts val="0"/>
              </a:spcAft>
              <a:buSzPts val="1260"/>
              <a:buChar char="•"/>
            </a:pPr>
            <a:r>
              <a:rPr lang="en-US" dirty="0"/>
              <a:t>No greater than 100 SMB shares per cluster</a:t>
            </a:r>
            <a:endParaRPr dirty="0"/>
          </a:p>
          <a:p>
            <a:pPr marL="0" lvl="0" indent="0" algn="l" rtl="0">
              <a:lnSpc>
                <a:spcPct val="100000"/>
              </a:lnSpc>
              <a:spcBef>
                <a:spcPts val="1200"/>
              </a:spcBef>
              <a:spcAft>
                <a:spcPts val="0"/>
              </a:spcAft>
              <a:buSzPts val="1440"/>
              <a:buNone/>
            </a:pPr>
            <a:endParaRPr dirty="0"/>
          </a:p>
        </p:txBody>
      </p:sp>
      <p:sp>
        <p:nvSpPr>
          <p:cNvPr id="5581" name="Google Shape;5581;p22"/>
          <p:cNvSpPr/>
          <p:nvPr/>
        </p:nvSpPr>
        <p:spPr>
          <a:xfrm>
            <a:off x="5319445" y="1685744"/>
            <a:ext cx="1592175"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4"/>
                </a:solidFill>
                <a:latin typeface="Arial"/>
                <a:ea typeface="Arial"/>
                <a:cs typeface="Arial"/>
                <a:sym typeface="Arial"/>
              </a:rPr>
              <a:t>Persistent volumes  (RWX) for Containers</a:t>
            </a:r>
            <a:endParaRPr/>
          </a:p>
        </p:txBody>
      </p:sp>
      <p:pic>
        <p:nvPicPr>
          <p:cNvPr id="5582" name="Google Shape;5582;p22"/>
          <p:cNvPicPr preferRelativeResize="0"/>
          <p:nvPr/>
        </p:nvPicPr>
        <p:blipFill rotWithShape="1">
          <a:blip r:embed="rId3">
            <a:alphaModFix/>
          </a:blip>
          <a:srcRect/>
          <a:stretch/>
        </p:blipFill>
        <p:spPr>
          <a:xfrm>
            <a:off x="5894575" y="2125757"/>
            <a:ext cx="441915" cy="441915"/>
          </a:xfrm>
          <a:prstGeom prst="rect">
            <a:avLst/>
          </a:prstGeom>
          <a:noFill/>
          <a:ln>
            <a:noFill/>
          </a:ln>
        </p:spPr>
      </p:pic>
      <p:sp>
        <p:nvSpPr>
          <p:cNvPr id="5583" name="Google Shape;5583;p22"/>
          <p:cNvSpPr/>
          <p:nvPr/>
        </p:nvSpPr>
        <p:spPr>
          <a:xfrm>
            <a:off x="1929522" y="1685744"/>
            <a:ext cx="894751"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3"/>
                </a:solidFill>
                <a:latin typeface="Arial"/>
                <a:ea typeface="Arial"/>
                <a:cs typeface="Arial"/>
                <a:sym typeface="Arial"/>
              </a:rPr>
              <a:t>Windows clients</a:t>
            </a:r>
            <a:endParaRPr/>
          </a:p>
        </p:txBody>
      </p:sp>
      <p:sp>
        <p:nvSpPr>
          <p:cNvPr id="5584" name="Google Shape;5584;p22"/>
          <p:cNvSpPr/>
          <p:nvPr/>
        </p:nvSpPr>
        <p:spPr>
          <a:xfrm>
            <a:off x="3867697" y="1685744"/>
            <a:ext cx="894751"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4"/>
                </a:solidFill>
                <a:latin typeface="Arial"/>
                <a:ea typeface="Arial"/>
                <a:cs typeface="Arial"/>
                <a:sym typeface="Arial"/>
              </a:rPr>
              <a:t>Linux</a:t>
            </a:r>
            <a:br>
              <a:rPr lang="en-US" sz="1200">
                <a:solidFill>
                  <a:schemeClr val="accent4"/>
                </a:solidFill>
                <a:latin typeface="Arial"/>
                <a:ea typeface="Arial"/>
                <a:cs typeface="Arial"/>
                <a:sym typeface="Arial"/>
              </a:rPr>
            </a:br>
            <a:r>
              <a:rPr lang="en-US" sz="1200">
                <a:solidFill>
                  <a:schemeClr val="accent4"/>
                </a:solidFill>
                <a:latin typeface="Arial"/>
                <a:ea typeface="Arial"/>
                <a:cs typeface="Arial"/>
                <a:sym typeface="Arial"/>
              </a:rPr>
              <a:t>clients</a:t>
            </a:r>
            <a:endParaRPr/>
          </a:p>
        </p:txBody>
      </p:sp>
      <p:grpSp>
        <p:nvGrpSpPr>
          <p:cNvPr id="5585" name="Google Shape;5585;p22"/>
          <p:cNvGrpSpPr/>
          <p:nvPr/>
        </p:nvGrpSpPr>
        <p:grpSpPr>
          <a:xfrm>
            <a:off x="2155939" y="2125757"/>
            <a:ext cx="441916" cy="441915"/>
            <a:chOff x="1554908" y="2125757"/>
            <a:chExt cx="441916" cy="441915"/>
          </a:xfrm>
        </p:grpSpPr>
        <p:pic>
          <p:nvPicPr>
            <p:cNvPr id="5586" name="Google Shape;5586;p22"/>
            <p:cNvPicPr preferRelativeResize="0"/>
            <p:nvPr/>
          </p:nvPicPr>
          <p:blipFill rotWithShape="1">
            <a:blip r:embed="rId4">
              <a:alphaModFix/>
            </a:blip>
            <a:srcRect/>
            <a:stretch/>
          </p:blipFill>
          <p:spPr>
            <a:xfrm>
              <a:off x="1554908" y="2125757"/>
              <a:ext cx="441916" cy="441915"/>
            </a:xfrm>
            <a:prstGeom prst="rect">
              <a:avLst/>
            </a:prstGeom>
            <a:noFill/>
            <a:ln>
              <a:noFill/>
            </a:ln>
          </p:spPr>
        </p:pic>
        <p:pic>
          <p:nvPicPr>
            <p:cNvPr id="5587" name="Google Shape;5587;p22"/>
            <p:cNvPicPr preferRelativeResize="0"/>
            <p:nvPr/>
          </p:nvPicPr>
          <p:blipFill rotWithShape="1">
            <a:blip r:embed="rId5">
              <a:alphaModFix/>
            </a:blip>
            <a:srcRect/>
            <a:stretch/>
          </p:blipFill>
          <p:spPr>
            <a:xfrm>
              <a:off x="1656347" y="2223695"/>
              <a:ext cx="239039" cy="239999"/>
            </a:xfrm>
            <a:prstGeom prst="rect">
              <a:avLst/>
            </a:prstGeom>
            <a:noFill/>
            <a:ln>
              <a:noFill/>
            </a:ln>
          </p:spPr>
        </p:pic>
      </p:grpSp>
      <p:grpSp>
        <p:nvGrpSpPr>
          <p:cNvPr id="5588" name="Google Shape;5588;p22"/>
          <p:cNvGrpSpPr/>
          <p:nvPr/>
        </p:nvGrpSpPr>
        <p:grpSpPr>
          <a:xfrm>
            <a:off x="2741961" y="5153951"/>
            <a:ext cx="3127574" cy="584555"/>
            <a:chOff x="1239229" y="5153951"/>
            <a:chExt cx="3127574" cy="584555"/>
          </a:xfrm>
        </p:grpSpPr>
        <p:pic>
          <p:nvPicPr>
            <p:cNvPr id="5589" name="Google Shape;5589;p22"/>
            <p:cNvPicPr preferRelativeResize="0"/>
            <p:nvPr/>
          </p:nvPicPr>
          <p:blipFill rotWithShape="1">
            <a:blip r:embed="rId6">
              <a:alphaModFix/>
            </a:blip>
            <a:srcRect/>
            <a:stretch/>
          </p:blipFill>
          <p:spPr>
            <a:xfrm>
              <a:off x="1239229" y="5475876"/>
              <a:ext cx="986859" cy="262630"/>
            </a:xfrm>
            <a:prstGeom prst="rect">
              <a:avLst/>
            </a:prstGeom>
            <a:noFill/>
            <a:ln>
              <a:noFill/>
            </a:ln>
          </p:spPr>
        </p:pic>
        <p:pic>
          <p:nvPicPr>
            <p:cNvPr id="5590" name="Google Shape;5590;p22"/>
            <p:cNvPicPr preferRelativeResize="0"/>
            <p:nvPr/>
          </p:nvPicPr>
          <p:blipFill rotWithShape="1">
            <a:blip r:embed="rId6">
              <a:alphaModFix/>
            </a:blip>
            <a:srcRect/>
            <a:stretch/>
          </p:blipFill>
          <p:spPr>
            <a:xfrm>
              <a:off x="2309587" y="5475876"/>
              <a:ext cx="986859" cy="262630"/>
            </a:xfrm>
            <a:prstGeom prst="rect">
              <a:avLst/>
            </a:prstGeom>
            <a:noFill/>
            <a:ln>
              <a:noFill/>
            </a:ln>
          </p:spPr>
        </p:pic>
        <p:pic>
          <p:nvPicPr>
            <p:cNvPr id="5591" name="Google Shape;5591;p22"/>
            <p:cNvPicPr preferRelativeResize="0"/>
            <p:nvPr/>
          </p:nvPicPr>
          <p:blipFill rotWithShape="1">
            <a:blip r:embed="rId6">
              <a:alphaModFix/>
            </a:blip>
            <a:srcRect/>
            <a:stretch/>
          </p:blipFill>
          <p:spPr>
            <a:xfrm>
              <a:off x="3379944" y="5475876"/>
              <a:ext cx="986859" cy="262630"/>
            </a:xfrm>
            <a:prstGeom prst="rect">
              <a:avLst/>
            </a:prstGeom>
            <a:noFill/>
            <a:ln>
              <a:noFill/>
            </a:ln>
          </p:spPr>
        </p:pic>
        <p:pic>
          <p:nvPicPr>
            <p:cNvPr id="5592" name="Google Shape;5592;p22"/>
            <p:cNvPicPr preferRelativeResize="0"/>
            <p:nvPr/>
          </p:nvPicPr>
          <p:blipFill rotWithShape="1">
            <a:blip r:embed="rId6">
              <a:alphaModFix/>
            </a:blip>
            <a:srcRect/>
            <a:stretch/>
          </p:blipFill>
          <p:spPr>
            <a:xfrm>
              <a:off x="1239229" y="5153951"/>
              <a:ext cx="986859" cy="262630"/>
            </a:xfrm>
            <a:prstGeom prst="rect">
              <a:avLst/>
            </a:prstGeom>
            <a:noFill/>
            <a:ln>
              <a:noFill/>
            </a:ln>
          </p:spPr>
        </p:pic>
        <p:pic>
          <p:nvPicPr>
            <p:cNvPr id="5593" name="Google Shape;5593;p22"/>
            <p:cNvPicPr preferRelativeResize="0"/>
            <p:nvPr/>
          </p:nvPicPr>
          <p:blipFill rotWithShape="1">
            <a:blip r:embed="rId6">
              <a:alphaModFix/>
            </a:blip>
            <a:srcRect/>
            <a:stretch/>
          </p:blipFill>
          <p:spPr>
            <a:xfrm>
              <a:off x="2309587" y="5153951"/>
              <a:ext cx="986859" cy="262630"/>
            </a:xfrm>
            <a:prstGeom prst="rect">
              <a:avLst/>
            </a:prstGeom>
            <a:noFill/>
            <a:ln>
              <a:noFill/>
            </a:ln>
          </p:spPr>
        </p:pic>
        <p:pic>
          <p:nvPicPr>
            <p:cNvPr id="5594" name="Google Shape;5594;p22"/>
            <p:cNvPicPr preferRelativeResize="0"/>
            <p:nvPr/>
          </p:nvPicPr>
          <p:blipFill rotWithShape="1">
            <a:blip r:embed="rId6">
              <a:alphaModFix/>
            </a:blip>
            <a:srcRect/>
            <a:stretch/>
          </p:blipFill>
          <p:spPr>
            <a:xfrm>
              <a:off x="3379944" y="5153951"/>
              <a:ext cx="986859" cy="262630"/>
            </a:xfrm>
            <a:prstGeom prst="rect">
              <a:avLst/>
            </a:prstGeom>
            <a:noFill/>
            <a:ln>
              <a:noFill/>
            </a:ln>
          </p:spPr>
        </p:pic>
      </p:grpSp>
      <p:cxnSp>
        <p:nvCxnSpPr>
          <p:cNvPr id="5595" name="Google Shape;5595;p22"/>
          <p:cNvCxnSpPr/>
          <p:nvPr/>
        </p:nvCxnSpPr>
        <p:spPr>
          <a:xfrm>
            <a:off x="2750764" y="5809000"/>
            <a:ext cx="0" cy="168747"/>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5596" name="Google Shape;5596;p22"/>
          <p:cNvCxnSpPr/>
          <p:nvPr/>
        </p:nvCxnSpPr>
        <p:spPr>
          <a:xfrm>
            <a:off x="4944210" y="5977747"/>
            <a:ext cx="925325"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5597" name="Google Shape;5597;p22"/>
          <p:cNvCxnSpPr/>
          <p:nvPr/>
        </p:nvCxnSpPr>
        <p:spPr>
          <a:xfrm>
            <a:off x="5869535" y="5809000"/>
            <a:ext cx="0" cy="168747"/>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5598" name="Google Shape;5598;p22"/>
          <p:cNvCxnSpPr/>
          <p:nvPr/>
        </p:nvCxnSpPr>
        <p:spPr>
          <a:xfrm>
            <a:off x="2750764" y="5977747"/>
            <a:ext cx="923604"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sp>
        <p:nvSpPr>
          <p:cNvPr id="5599" name="Google Shape;5599;p22"/>
          <p:cNvSpPr txBox="1"/>
          <p:nvPr/>
        </p:nvSpPr>
        <p:spPr>
          <a:xfrm>
            <a:off x="3590669" y="5885413"/>
            <a:ext cx="1417841"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2"/>
                </a:solidFill>
                <a:latin typeface="Arial"/>
                <a:ea typeface="Arial"/>
                <a:cs typeface="Arial"/>
                <a:sym typeface="Arial"/>
              </a:rPr>
              <a:t>vSAN Cluster</a:t>
            </a:r>
            <a:endParaRPr/>
          </a:p>
        </p:txBody>
      </p:sp>
      <p:sp>
        <p:nvSpPr>
          <p:cNvPr id="5600" name="Google Shape;5600;p22"/>
          <p:cNvSpPr/>
          <p:nvPr/>
        </p:nvSpPr>
        <p:spPr>
          <a:xfrm>
            <a:off x="2458455" y="2724792"/>
            <a:ext cx="38770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3"/>
                </a:solidFill>
                <a:latin typeface="Arial"/>
                <a:ea typeface="Arial"/>
                <a:cs typeface="Arial"/>
                <a:sym typeface="Arial"/>
              </a:rPr>
              <a:t>SMB</a:t>
            </a:r>
            <a:endParaRPr/>
          </a:p>
        </p:txBody>
      </p:sp>
      <p:sp>
        <p:nvSpPr>
          <p:cNvPr id="5601" name="Google Shape;5601;p22"/>
          <p:cNvSpPr/>
          <p:nvPr/>
        </p:nvSpPr>
        <p:spPr>
          <a:xfrm>
            <a:off x="4393005" y="2724792"/>
            <a:ext cx="38770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4"/>
                </a:solidFill>
                <a:latin typeface="Arial"/>
                <a:ea typeface="Arial"/>
                <a:cs typeface="Arial"/>
                <a:sym typeface="Arial"/>
              </a:rPr>
              <a:t>NFS</a:t>
            </a:r>
            <a:endParaRPr/>
          </a:p>
        </p:txBody>
      </p:sp>
      <p:grpSp>
        <p:nvGrpSpPr>
          <p:cNvPr id="5602" name="Google Shape;5602;p22"/>
          <p:cNvGrpSpPr/>
          <p:nvPr/>
        </p:nvGrpSpPr>
        <p:grpSpPr>
          <a:xfrm>
            <a:off x="2741962" y="4839704"/>
            <a:ext cx="3115259" cy="254952"/>
            <a:chOff x="1410326" y="3573078"/>
            <a:chExt cx="3115259" cy="254952"/>
          </a:xfrm>
        </p:grpSpPr>
        <p:sp>
          <p:nvSpPr>
            <p:cNvPr id="5603" name="Google Shape;5603;p22"/>
            <p:cNvSpPr/>
            <p:nvPr/>
          </p:nvSpPr>
          <p:spPr>
            <a:xfrm>
              <a:off x="1410326" y="3573078"/>
              <a:ext cx="3115259" cy="254952"/>
            </a:xfrm>
            <a:prstGeom prst="rect">
              <a:avLst/>
            </a:prstGeom>
            <a:noFill/>
            <a:ln w="9525" cap="flat" cmpd="sng">
              <a:solidFill>
                <a:srgbClr val="316E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5604" name="Google Shape;5604;p22"/>
            <p:cNvSpPr/>
            <p:nvPr/>
          </p:nvSpPr>
          <p:spPr>
            <a:xfrm>
              <a:off x="1420623" y="3636670"/>
              <a:ext cx="543931"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vSphere</a:t>
              </a:r>
              <a:endParaRPr/>
            </a:p>
          </p:txBody>
        </p:sp>
        <p:sp>
          <p:nvSpPr>
            <p:cNvPr id="5605" name="Google Shape;5605;p22"/>
            <p:cNvSpPr/>
            <p:nvPr/>
          </p:nvSpPr>
          <p:spPr>
            <a:xfrm>
              <a:off x="3880927" y="3636670"/>
              <a:ext cx="608625"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vSAN ESA</a:t>
              </a:r>
              <a:endParaRPr/>
            </a:p>
          </p:txBody>
        </p:sp>
        <p:cxnSp>
          <p:nvCxnSpPr>
            <p:cNvPr id="5606" name="Google Shape;5606;p22"/>
            <p:cNvCxnSpPr/>
            <p:nvPr/>
          </p:nvCxnSpPr>
          <p:spPr>
            <a:xfrm rot="10800000">
              <a:off x="2003038" y="3698226"/>
              <a:ext cx="976773" cy="0"/>
            </a:xfrm>
            <a:prstGeom prst="straightConnector1">
              <a:avLst/>
            </a:prstGeom>
            <a:noFill/>
            <a:ln w="9525" cap="flat" cmpd="sng">
              <a:solidFill>
                <a:schemeClr val="accent2"/>
              </a:solidFill>
              <a:prstDash val="solid"/>
              <a:miter lim="800000"/>
              <a:headEnd type="none" w="sm" len="sm"/>
              <a:tailEnd type="triangle" w="med" len="med"/>
            </a:ln>
          </p:spPr>
        </p:cxnSp>
        <p:cxnSp>
          <p:nvCxnSpPr>
            <p:cNvPr id="5607" name="Google Shape;5607;p22"/>
            <p:cNvCxnSpPr/>
            <p:nvPr/>
          </p:nvCxnSpPr>
          <p:spPr>
            <a:xfrm>
              <a:off x="2979811" y="3698226"/>
              <a:ext cx="870122" cy="0"/>
            </a:xfrm>
            <a:prstGeom prst="straightConnector1">
              <a:avLst/>
            </a:prstGeom>
            <a:noFill/>
            <a:ln w="9525" cap="flat" cmpd="sng">
              <a:solidFill>
                <a:schemeClr val="accent2"/>
              </a:solidFill>
              <a:prstDash val="solid"/>
              <a:miter lim="800000"/>
              <a:headEnd type="none" w="sm" len="sm"/>
              <a:tailEnd type="triangle" w="med" len="med"/>
            </a:ln>
          </p:spPr>
        </p:cxnSp>
      </p:grpSp>
      <p:grpSp>
        <p:nvGrpSpPr>
          <p:cNvPr id="5608" name="Google Shape;5608;p22"/>
          <p:cNvGrpSpPr/>
          <p:nvPr/>
        </p:nvGrpSpPr>
        <p:grpSpPr>
          <a:xfrm>
            <a:off x="1665449" y="3977485"/>
            <a:ext cx="5268287" cy="99807"/>
            <a:chOff x="1064418" y="3977485"/>
            <a:chExt cx="5268287" cy="99807"/>
          </a:xfrm>
        </p:grpSpPr>
        <p:grpSp>
          <p:nvGrpSpPr>
            <p:cNvPr id="5609" name="Google Shape;5609;p22"/>
            <p:cNvGrpSpPr/>
            <p:nvPr/>
          </p:nvGrpSpPr>
          <p:grpSpPr>
            <a:xfrm>
              <a:off x="1064418" y="3977485"/>
              <a:ext cx="986858" cy="99807"/>
              <a:chOff x="1493868" y="4653124"/>
              <a:chExt cx="986858" cy="99807"/>
            </a:xfrm>
          </p:grpSpPr>
          <p:pic>
            <p:nvPicPr>
              <p:cNvPr id="5610" name="Google Shape;5610;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11" name="Google Shape;5611;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12" name="Google Shape;5612;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13" name="Google Shape;5613;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14" name="Google Shape;5614;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15" name="Google Shape;5615;p22"/>
            <p:cNvGrpSpPr/>
            <p:nvPr/>
          </p:nvGrpSpPr>
          <p:grpSpPr>
            <a:xfrm>
              <a:off x="2134775" y="3977485"/>
              <a:ext cx="986858" cy="99807"/>
              <a:chOff x="1493868" y="4653124"/>
              <a:chExt cx="986858" cy="99807"/>
            </a:xfrm>
          </p:grpSpPr>
          <p:pic>
            <p:nvPicPr>
              <p:cNvPr id="5616" name="Google Shape;5616;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17" name="Google Shape;5617;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18" name="Google Shape;5618;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19" name="Google Shape;5619;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20" name="Google Shape;5620;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21" name="Google Shape;5621;p22"/>
            <p:cNvGrpSpPr/>
            <p:nvPr/>
          </p:nvGrpSpPr>
          <p:grpSpPr>
            <a:xfrm>
              <a:off x="3205132" y="3977485"/>
              <a:ext cx="986858" cy="99807"/>
              <a:chOff x="1493868" y="4653124"/>
              <a:chExt cx="986858" cy="99807"/>
            </a:xfrm>
          </p:grpSpPr>
          <p:pic>
            <p:nvPicPr>
              <p:cNvPr id="5622" name="Google Shape;5622;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23" name="Google Shape;5623;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24" name="Google Shape;5624;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25" name="Google Shape;5625;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26" name="Google Shape;5626;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27" name="Google Shape;5627;p22"/>
            <p:cNvGrpSpPr/>
            <p:nvPr/>
          </p:nvGrpSpPr>
          <p:grpSpPr>
            <a:xfrm>
              <a:off x="4275489" y="3977485"/>
              <a:ext cx="986858" cy="99807"/>
              <a:chOff x="1493868" y="4653124"/>
              <a:chExt cx="986858" cy="99807"/>
            </a:xfrm>
          </p:grpSpPr>
          <p:pic>
            <p:nvPicPr>
              <p:cNvPr id="5628" name="Google Shape;5628;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29" name="Google Shape;5629;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30" name="Google Shape;5630;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31" name="Google Shape;5631;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32" name="Google Shape;5632;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33" name="Google Shape;5633;p22"/>
            <p:cNvGrpSpPr/>
            <p:nvPr/>
          </p:nvGrpSpPr>
          <p:grpSpPr>
            <a:xfrm>
              <a:off x="5345847" y="3977485"/>
              <a:ext cx="986858" cy="99807"/>
              <a:chOff x="1493868" y="4653124"/>
              <a:chExt cx="986858" cy="99807"/>
            </a:xfrm>
          </p:grpSpPr>
          <p:pic>
            <p:nvPicPr>
              <p:cNvPr id="5634" name="Google Shape;5634;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35" name="Google Shape;5635;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36" name="Google Shape;5636;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37" name="Google Shape;5637;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38" name="Google Shape;5638;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grpSp>
        <p:nvGrpSpPr>
          <p:cNvPr id="5639" name="Google Shape;5639;p22"/>
          <p:cNvGrpSpPr/>
          <p:nvPr/>
        </p:nvGrpSpPr>
        <p:grpSpPr>
          <a:xfrm>
            <a:off x="1665449" y="3470755"/>
            <a:ext cx="5268287" cy="99807"/>
            <a:chOff x="1064418" y="3470755"/>
            <a:chExt cx="5268287" cy="99807"/>
          </a:xfrm>
        </p:grpSpPr>
        <p:grpSp>
          <p:nvGrpSpPr>
            <p:cNvPr id="5640" name="Google Shape;5640;p22"/>
            <p:cNvGrpSpPr/>
            <p:nvPr/>
          </p:nvGrpSpPr>
          <p:grpSpPr>
            <a:xfrm>
              <a:off x="1064418" y="3470755"/>
              <a:ext cx="986858" cy="99807"/>
              <a:chOff x="1493868" y="4653124"/>
              <a:chExt cx="986858" cy="99807"/>
            </a:xfrm>
          </p:grpSpPr>
          <p:pic>
            <p:nvPicPr>
              <p:cNvPr id="5641" name="Google Shape;5641;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42" name="Google Shape;5642;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43" name="Google Shape;5643;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44" name="Google Shape;5644;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45" name="Google Shape;5645;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46" name="Google Shape;5646;p22"/>
            <p:cNvGrpSpPr/>
            <p:nvPr/>
          </p:nvGrpSpPr>
          <p:grpSpPr>
            <a:xfrm>
              <a:off x="2134775" y="3470755"/>
              <a:ext cx="986858" cy="99807"/>
              <a:chOff x="1493868" y="4653124"/>
              <a:chExt cx="986858" cy="99807"/>
            </a:xfrm>
          </p:grpSpPr>
          <p:pic>
            <p:nvPicPr>
              <p:cNvPr id="5647" name="Google Shape;5647;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48" name="Google Shape;5648;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49" name="Google Shape;5649;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50" name="Google Shape;5650;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51" name="Google Shape;5651;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52" name="Google Shape;5652;p22"/>
            <p:cNvGrpSpPr/>
            <p:nvPr/>
          </p:nvGrpSpPr>
          <p:grpSpPr>
            <a:xfrm>
              <a:off x="3205132" y="3470755"/>
              <a:ext cx="986858" cy="99807"/>
              <a:chOff x="1493868" y="4653124"/>
              <a:chExt cx="986858" cy="99807"/>
            </a:xfrm>
          </p:grpSpPr>
          <p:pic>
            <p:nvPicPr>
              <p:cNvPr id="5653" name="Google Shape;5653;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54" name="Google Shape;5654;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55" name="Google Shape;5655;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56" name="Google Shape;5656;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57" name="Google Shape;5657;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58" name="Google Shape;5658;p22"/>
            <p:cNvGrpSpPr/>
            <p:nvPr/>
          </p:nvGrpSpPr>
          <p:grpSpPr>
            <a:xfrm>
              <a:off x="4275489" y="3470755"/>
              <a:ext cx="986858" cy="99807"/>
              <a:chOff x="1493868" y="4653124"/>
              <a:chExt cx="986858" cy="99807"/>
            </a:xfrm>
          </p:grpSpPr>
          <p:pic>
            <p:nvPicPr>
              <p:cNvPr id="5659" name="Google Shape;5659;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60" name="Google Shape;5660;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61" name="Google Shape;5661;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62" name="Google Shape;5662;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63" name="Google Shape;5663;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64" name="Google Shape;5664;p22"/>
            <p:cNvGrpSpPr/>
            <p:nvPr/>
          </p:nvGrpSpPr>
          <p:grpSpPr>
            <a:xfrm>
              <a:off x="5345847" y="3470755"/>
              <a:ext cx="986858" cy="99807"/>
              <a:chOff x="1493868" y="4653124"/>
              <a:chExt cx="986858" cy="99807"/>
            </a:xfrm>
          </p:grpSpPr>
          <p:pic>
            <p:nvPicPr>
              <p:cNvPr id="5665" name="Google Shape;5665;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66" name="Google Shape;5666;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67" name="Google Shape;5667;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68" name="Google Shape;5668;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69" name="Google Shape;5669;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grpSp>
        <p:nvGrpSpPr>
          <p:cNvPr id="5670" name="Google Shape;5670;p22"/>
          <p:cNvGrpSpPr/>
          <p:nvPr/>
        </p:nvGrpSpPr>
        <p:grpSpPr>
          <a:xfrm>
            <a:off x="1665449" y="3639665"/>
            <a:ext cx="5268287" cy="99807"/>
            <a:chOff x="1064418" y="3639665"/>
            <a:chExt cx="5268287" cy="99807"/>
          </a:xfrm>
        </p:grpSpPr>
        <p:grpSp>
          <p:nvGrpSpPr>
            <p:cNvPr id="5671" name="Google Shape;5671;p22"/>
            <p:cNvGrpSpPr/>
            <p:nvPr/>
          </p:nvGrpSpPr>
          <p:grpSpPr>
            <a:xfrm>
              <a:off x="1064418" y="3639665"/>
              <a:ext cx="986858" cy="99807"/>
              <a:chOff x="1493868" y="4653124"/>
              <a:chExt cx="986858" cy="99807"/>
            </a:xfrm>
          </p:grpSpPr>
          <p:pic>
            <p:nvPicPr>
              <p:cNvPr id="5672" name="Google Shape;5672;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73" name="Google Shape;5673;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74" name="Google Shape;5674;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75" name="Google Shape;5675;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76" name="Google Shape;5676;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77" name="Google Shape;5677;p22"/>
            <p:cNvGrpSpPr/>
            <p:nvPr/>
          </p:nvGrpSpPr>
          <p:grpSpPr>
            <a:xfrm>
              <a:off x="2134775" y="3639665"/>
              <a:ext cx="986858" cy="99807"/>
              <a:chOff x="1493868" y="4653124"/>
              <a:chExt cx="986858" cy="99807"/>
            </a:xfrm>
          </p:grpSpPr>
          <p:pic>
            <p:nvPicPr>
              <p:cNvPr id="5678" name="Google Shape;5678;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79" name="Google Shape;5679;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80" name="Google Shape;5680;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81" name="Google Shape;5681;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82" name="Google Shape;5682;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83" name="Google Shape;5683;p22"/>
            <p:cNvGrpSpPr/>
            <p:nvPr/>
          </p:nvGrpSpPr>
          <p:grpSpPr>
            <a:xfrm>
              <a:off x="3205132" y="3639665"/>
              <a:ext cx="986858" cy="99807"/>
              <a:chOff x="1493868" y="4653124"/>
              <a:chExt cx="986858" cy="99807"/>
            </a:xfrm>
          </p:grpSpPr>
          <p:pic>
            <p:nvPicPr>
              <p:cNvPr id="5684" name="Google Shape;5684;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85" name="Google Shape;5685;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86" name="Google Shape;5686;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87" name="Google Shape;5687;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88" name="Google Shape;5688;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89" name="Google Shape;5689;p22"/>
            <p:cNvGrpSpPr/>
            <p:nvPr/>
          </p:nvGrpSpPr>
          <p:grpSpPr>
            <a:xfrm>
              <a:off x="4275489" y="3639665"/>
              <a:ext cx="986858" cy="99807"/>
              <a:chOff x="1493868" y="4653124"/>
              <a:chExt cx="986858" cy="99807"/>
            </a:xfrm>
          </p:grpSpPr>
          <p:pic>
            <p:nvPicPr>
              <p:cNvPr id="5690" name="Google Shape;5690;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91" name="Google Shape;5691;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92" name="Google Shape;5692;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93" name="Google Shape;5693;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694" name="Google Shape;5694;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695" name="Google Shape;5695;p22"/>
            <p:cNvGrpSpPr/>
            <p:nvPr/>
          </p:nvGrpSpPr>
          <p:grpSpPr>
            <a:xfrm>
              <a:off x="5345847" y="3639665"/>
              <a:ext cx="986858" cy="99807"/>
              <a:chOff x="1493868" y="4653124"/>
              <a:chExt cx="986858" cy="99807"/>
            </a:xfrm>
          </p:grpSpPr>
          <p:pic>
            <p:nvPicPr>
              <p:cNvPr id="5696" name="Google Shape;5696;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697" name="Google Shape;5697;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698" name="Google Shape;5698;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699" name="Google Shape;5699;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00" name="Google Shape;5700;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grpSp>
        <p:nvGrpSpPr>
          <p:cNvPr id="5701" name="Google Shape;5701;p22"/>
          <p:cNvGrpSpPr/>
          <p:nvPr/>
        </p:nvGrpSpPr>
        <p:grpSpPr>
          <a:xfrm>
            <a:off x="1665449" y="3808575"/>
            <a:ext cx="5268287" cy="99807"/>
            <a:chOff x="1064418" y="3808575"/>
            <a:chExt cx="5268287" cy="99807"/>
          </a:xfrm>
        </p:grpSpPr>
        <p:grpSp>
          <p:nvGrpSpPr>
            <p:cNvPr id="5702" name="Google Shape;5702;p22"/>
            <p:cNvGrpSpPr/>
            <p:nvPr/>
          </p:nvGrpSpPr>
          <p:grpSpPr>
            <a:xfrm>
              <a:off x="1064418" y="3808575"/>
              <a:ext cx="986858" cy="99807"/>
              <a:chOff x="1493868" y="4653124"/>
              <a:chExt cx="986858" cy="99807"/>
            </a:xfrm>
          </p:grpSpPr>
          <p:pic>
            <p:nvPicPr>
              <p:cNvPr id="5703" name="Google Shape;5703;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04" name="Google Shape;5704;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05" name="Google Shape;5705;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06" name="Google Shape;5706;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07" name="Google Shape;5707;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08" name="Google Shape;5708;p22"/>
            <p:cNvGrpSpPr/>
            <p:nvPr/>
          </p:nvGrpSpPr>
          <p:grpSpPr>
            <a:xfrm>
              <a:off x="2134775" y="3808575"/>
              <a:ext cx="986858" cy="99807"/>
              <a:chOff x="1493868" y="4653124"/>
              <a:chExt cx="986858" cy="99807"/>
            </a:xfrm>
          </p:grpSpPr>
          <p:pic>
            <p:nvPicPr>
              <p:cNvPr id="5709" name="Google Shape;5709;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10" name="Google Shape;5710;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11" name="Google Shape;5711;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12" name="Google Shape;5712;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13" name="Google Shape;5713;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14" name="Google Shape;5714;p22"/>
            <p:cNvGrpSpPr/>
            <p:nvPr/>
          </p:nvGrpSpPr>
          <p:grpSpPr>
            <a:xfrm>
              <a:off x="3205132" y="3808575"/>
              <a:ext cx="986858" cy="99807"/>
              <a:chOff x="1493868" y="4653124"/>
              <a:chExt cx="986858" cy="99807"/>
            </a:xfrm>
          </p:grpSpPr>
          <p:pic>
            <p:nvPicPr>
              <p:cNvPr id="5715" name="Google Shape;5715;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16" name="Google Shape;5716;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17" name="Google Shape;5717;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18" name="Google Shape;5718;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19" name="Google Shape;5719;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20" name="Google Shape;5720;p22"/>
            <p:cNvGrpSpPr/>
            <p:nvPr/>
          </p:nvGrpSpPr>
          <p:grpSpPr>
            <a:xfrm>
              <a:off x="4275489" y="3808575"/>
              <a:ext cx="986858" cy="99807"/>
              <a:chOff x="1493868" y="4653124"/>
              <a:chExt cx="986858" cy="99807"/>
            </a:xfrm>
          </p:grpSpPr>
          <p:pic>
            <p:nvPicPr>
              <p:cNvPr id="5721" name="Google Shape;5721;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22" name="Google Shape;5722;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23" name="Google Shape;5723;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24" name="Google Shape;5724;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25" name="Google Shape;5725;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26" name="Google Shape;5726;p22"/>
            <p:cNvGrpSpPr/>
            <p:nvPr/>
          </p:nvGrpSpPr>
          <p:grpSpPr>
            <a:xfrm>
              <a:off x="5345847" y="3808575"/>
              <a:ext cx="986858" cy="99807"/>
              <a:chOff x="1493868" y="4653124"/>
              <a:chExt cx="986858" cy="99807"/>
            </a:xfrm>
          </p:grpSpPr>
          <p:pic>
            <p:nvPicPr>
              <p:cNvPr id="5727" name="Google Shape;5727;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28" name="Google Shape;5728;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29" name="Google Shape;5729;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30" name="Google Shape;5730;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31" name="Google Shape;5731;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grpSp>
        <p:nvGrpSpPr>
          <p:cNvPr id="5732" name="Google Shape;5732;p22"/>
          <p:cNvGrpSpPr/>
          <p:nvPr/>
        </p:nvGrpSpPr>
        <p:grpSpPr>
          <a:xfrm>
            <a:off x="1665449" y="3301845"/>
            <a:ext cx="5268287" cy="99807"/>
            <a:chOff x="1064418" y="3301845"/>
            <a:chExt cx="5268287" cy="99807"/>
          </a:xfrm>
        </p:grpSpPr>
        <p:grpSp>
          <p:nvGrpSpPr>
            <p:cNvPr id="5733" name="Google Shape;5733;p22"/>
            <p:cNvGrpSpPr/>
            <p:nvPr/>
          </p:nvGrpSpPr>
          <p:grpSpPr>
            <a:xfrm>
              <a:off x="1064418" y="3301845"/>
              <a:ext cx="986858" cy="99807"/>
              <a:chOff x="1493868" y="4653124"/>
              <a:chExt cx="986858" cy="99807"/>
            </a:xfrm>
          </p:grpSpPr>
          <p:pic>
            <p:nvPicPr>
              <p:cNvPr id="5734" name="Google Shape;5734;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35" name="Google Shape;5735;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36" name="Google Shape;5736;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37" name="Google Shape;5737;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38" name="Google Shape;5738;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39" name="Google Shape;5739;p22"/>
            <p:cNvGrpSpPr/>
            <p:nvPr/>
          </p:nvGrpSpPr>
          <p:grpSpPr>
            <a:xfrm>
              <a:off x="2134775" y="3301845"/>
              <a:ext cx="986858" cy="99807"/>
              <a:chOff x="1493868" y="4653124"/>
              <a:chExt cx="986858" cy="99807"/>
            </a:xfrm>
          </p:grpSpPr>
          <p:pic>
            <p:nvPicPr>
              <p:cNvPr id="5740" name="Google Shape;5740;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41" name="Google Shape;5741;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42" name="Google Shape;5742;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43" name="Google Shape;5743;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44" name="Google Shape;5744;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45" name="Google Shape;5745;p22"/>
            <p:cNvGrpSpPr/>
            <p:nvPr/>
          </p:nvGrpSpPr>
          <p:grpSpPr>
            <a:xfrm>
              <a:off x="3205132" y="3301845"/>
              <a:ext cx="986858" cy="99807"/>
              <a:chOff x="1493868" y="4653124"/>
              <a:chExt cx="986858" cy="99807"/>
            </a:xfrm>
          </p:grpSpPr>
          <p:pic>
            <p:nvPicPr>
              <p:cNvPr id="5746" name="Google Shape;5746;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47" name="Google Shape;5747;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48" name="Google Shape;5748;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49" name="Google Shape;5749;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50" name="Google Shape;5750;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51" name="Google Shape;5751;p22"/>
            <p:cNvGrpSpPr/>
            <p:nvPr/>
          </p:nvGrpSpPr>
          <p:grpSpPr>
            <a:xfrm>
              <a:off x="4275489" y="3301845"/>
              <a:ext cx="986858" cy="99807"/>
              <a:chOff x="1493868" y="4653124"/>
              <a:chExt cx="986858" cy="99807"/>
            </a:xfrm>
          </p:grpSpPr>
          <p:pic>
            <p:nvPicPr>
              <p:cNvPr id="5752" name="Google Shape;5752;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53" name="Google Shape;5753;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54" name="Google Shape;5754;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55" name="Google Shape;5755;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56" name="Google Shape;5756;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57" name="Google Shape;5757;p22"/>
            <p:cNvGrpSpPr/>
            <p:nvPr/>
          </p:nvGrpSpPr>
          <p:grpSpPr>
            <a:xfrm>
              <a:off x="5345847" y="3301845"/>
              <a:ext cx="986858" cy="99807"/>
              <a:chOff x="1493868" y="4653124"/>
              <a:chExt cx="986858" cy="99807"/>
            </a:xfrm>
          </p:grpSpPr>
          <p:pic>
            <p:nvPicPr>
              <p:cNvPr id="5758" name="Google Shape;5758;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59" name="Google Shape;5759;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60" name="Google Shape;5760;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61" name="Google Shape;5761;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62" name="Google Shape;5762;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grpSp>
        <p:nvGrpSpPr>
          <p:cNvPr id="5763" name="Google Shape;5763;p22"/>
          <p:cNvGrpSpPr/>
          <p:nvPr/>
        </p:nvGrpSpPr>
        <p:grpSpPr>
          <a:xfrm>
            <a:off x="1665449" y="3132935"/>
            <a:ext cx="5268287" cy="99807"/>
            <a:chOff x="1064418" y="3132935"/>
            <a:chExt cx="5268287" cy="99807"/>
          </a:xfrm>
        </p:grpSpPr>
        <p:grpSp>
          <p:nvGrpSpPr>
            <p:cNvPr id="5764" name="Google Shape;5764;p22"/>
            <p:cNvGrpSpPr/>
            <p:nvPr/>
          </p:nvGrpSpPr>
          <p:grpSpPr>
            <a:xfrm>
              <a:off x="1064418" y="3132935"/>
              <a:ext cx="986858" cy="99807"/>
              <a:chOff x="1493868" y="4653124"/>
              <a:chExt cx="986858" cy="99807"/>
            </a:xfrm>
          </p:grpSpPr>
          <p:pic>
            <p:nvPicPr>
              <p:cNvPr id="5765" name="Google Shape;5765;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66" name="Google Shape;5766;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67" name="Google Shape;5767;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68" name="Google Shape;5768;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69" name="Google Shape;5769;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70" name="Google Shape;5770;p22"/>
            <p:cNvGrpSpPr/>
            <p:nvPr/>
          </p:nvGrpSpPr>
          <p:grpSpPr>
            <a:xfrm>
              <a:off x="2134775" y="3132935"/>
              <a:ext cx="986858" cy="99807"/>
              <a:chOff x="1493868" y="4653124"/>
              <a:chExt cx="986858" cy="99807"/>
            </a:xfrm>
          </p:grpSpPr>
          <p:pic>
            <p:nvPicPr>
              <p:cNvPr id="5771" name="Google Shape;5771;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72" name="Google Shape;5772;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73" name="Google Shape;5773;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74" name="Google Shape;5774;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75" name="Google Shape;5775;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76" name="Google Shape;5776;p22"/>
            <p:cNvGrpSpPr/>
            <p:nvPr/>
          </p:nvGrpSpPr>
          <p:grpSpPr>
            <a:xfrm>
              <a:off x="3205132" y="3132935"/>
              <a:ext cx="986858" cy="99807"/>
              <a:chOff x="1493868" y="4653124"/>
              <a:chExt cx="986858" cy="99807"/>
            </a:xfrm>
          </p:grpSpPr>
          <p:pic>
            <p:nvPicPr>
              <p:cNvPr id="5777" name="Google Shape;5777;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78" name="Google Shape;5778;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79" name="Google Shape;5779;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80" name="Google Shape;5780;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81" name="Google Shape;5781;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82" name="Google Shape;5782;p22"/>
            <p:cNvGrpSpPr/>
            <p:nvPr/>
          </p:nvGrpSpPr>
          <p:grpSpPr>
            <a:xfrm>
              <a:off x="4275489" y="3132935"/>
              <a:ext cx="986858" cy="99807"/>
              <a:chOff x="1493868" y="4653124"/>
              <a:chExt cx="986858" cy="99807"/>
            </a:xfrm>
          </p:grpSpPr>
          <p:pic>
            <p:nvPicPr>
              <p:cNvPr id="5783" name="Google Shape;5783;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84" name="Google Shape;5784;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85" name="Google Shape;5785;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86" name="Google Shape;5786;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87" name="Google Shape;5787;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nvGrpSpPr>
            <p:cNvPr id="5788" name="Google Shape;5788;p22"/>
            <p:cNvGrpSpPr/>
            <p:nvPr/>
          </p:nvGrpSpPr>
          <p:grpSpPr>
            <a:xfrm>
              <a:off x="5345847" y="3132935"/>
              <a:ext cx="986858" cy="99807"/>
              <a:chOff x="1493868" y="4653124"/>
              <a:chExt cx="986858" cy="99807"/>
            </a:xfrm>
          </p:grpSpPr>
          <p:pic>
            <p:nvPicPr>
              <p:cNvPr id="5789" name="Google Shape;5789;p22"/>
              <p:cNvPicPr preferRelativeResize="0"/>
              <p:nvPr/>
            </p:nvPicPr>
            <p:blipFill rotWithShape="1">
              <a:blip r:embed="rId7">
                <a:alphaModFix/>
              </a:blip>
              <a:srcRect/>
              <a:stretch/>
            </p:blipFill>
            <p:spPr>
              <a:xfrm>
                <a:off x="1493868" y="4653124"/>
                <a:ext cx="141106" cy="99807"/>
              </a:xfrm>
              <a:prstGeom prst="rect">
                <a:avLst/>
              </a:prstGeom>
              <a:noFill/>
              <a:ln>
                <a:noFill/>
              </a:ln>
            </p:spPr>
          </p:pic>
          <p:pic>
            <p:nvPicPr>
              <p:cNvPr id="5790" name="Google Shape;5790;p22"/>
              <p:cNvPicPr preferRelativeResize="0"/>
              <p:nvPr/>
            </p:nvPicPr>
            <p:blipFill rotWithShape="1">
              <a:blip r:embed="rId7">
                <a:alphaModFix/>
              </a:blip>
              <a:srcRect/>
              <a:stretch/>
            </p:blipFill>
            <p:spPr>
              <a:xfrm>
                <a:off x="1705306" y="4653124"/>
                <a:ext cx="141106" cy="99807"/>
              </a:xfrm>
              <a:prstGeom prst="rect">
                <a:avLst/>
              </a:prstGeom>
              <a:noFill/>
              <a:ln>
                <a:noFill/>
              </a:ln>
            </p:spPr>
          </p:pic>
          <p:pic>
            <p:nvPicPr>
              <p:cNvPr id="5791" name="Google Shape;5791;p22"/>
              <p:cNvPicPr preferRelativeResize="0"/>
              <p:nvPr/>
            </p:nvPicPr>
            <p:blipFill rotWithShape="1">
              <a:blip r:embed="rId7">
                <a:alphaModFix/>
              </a:blip>
              <a:srcRect/>
              <a:stretch/>
            </p:blipFill>
            <p:spPr>
              <a:xfrm>
                <a:off x="1916744" y="4653124"/>
                <a:ext cx="141106" cy="99807"/>
              </a:xfrm>
              <a:prstGeom prst="rect">
                <a:avLst/>
              </a:prstGeom>
              <a:noFill/>
              <a:ln>
                <a:noFill/>
              </a:ln>
            </p:spPr>
          </p:pic>
          <p:pic>
            <p:nvPicPr>
              <p:cNvPr id="5792" name="Google Shape;5792;p22"/>
              <p:cNvPicPr preferRelativeResize="0"/>
              <p:nvPr/>
            </p:nvPicPr>
            <p:blipFill rotWithShape="1">
              <a:blip r:embed="rId7">
                <a:alphaModFix/>
              </a:blip>
              <a:srcRect/>
              <a:stretch/>
            </p:blipFill>
            <p:spPr>
              <a:xfrm>
                <a:off x="2128182" y="4653124"/>
                <a:ext cx="141106" cy="99807"/>
              </a:xfrm>
              <a:prstGeom prst="rect">
                <a:avLst/>
              </a:prstGeom>
              <a:noFill/>
              <a:ln>
                <a:noFill/>
              </a:ln>
            </p:spPr>
          </p:pic>
          <p:pic>
            <p:nvPicPr>
              <p:cNvPr id="5793" name="Google Shape;5793;p22"/>
              <p:cNvPicPr preferRelativeResize="0"/>
              <p:nvPr/>
            </p:nvPicPr>
            <p:blipFill rotWithShape="1">
              <a:blip r:embed="rId7">
                <a:alphaModFix/>
              </a:blip>
              <a:srcRect/>
              <a:stretch/>
            </p:blipFill>
            <p:spPr>
              <a:xfrm>
                <a:off x="2339620" y="4653124"/>
                <a:ext cx="141106" cy="99807"/>
              </a:xfrm>
              <a:prstGeom prst="rect">
                <a:avLst/>
              </a:prstGeom>
              <a:noFill/>
              <a:ln>
                <a:noFill/>
              </a:ln>
            </p:spPr>
          </p:pic>
        </p:grpSp>
      </p:grpSp>
      <p:grpSp>
        <p:nvGrpSpPr>
          <p:cNvPr id="5794" name="Google Shape;5794;p22"/>
          <p:cNvGrpSpPr/>
          <p:nvPr/>
        </p:nvGrpSpPr>
        <p:grpSpPr>
          <a:xfrm>
            <a:off x="4094114" y="2125757"/>
            <a:ext cx="441916" cy="441915"/>
            <a:chOff x="3493083" y="2125757"/>
            <a:chExt cx="441916" cy="441915"/>
          </a:xfrm>
        </p:grpSpPr>
        <p:pic>
          <p:nvPicPr>
            <p:cNvPr id="5795" name="Google Shape;5795;p22"/>
            <p:cNvPicPr preferRelativeResize="0"/>
            <p:nvPr/>
          </p:nvPicPr>
          <p:blipFill rotWithShape="1">
            <a:blip r:embed="rId8">
              <a:alphaModFix/>
            </a:blip>
            <a:srcRect/>
            <a:stretch/>
          </p:blipFill>
          <p:spPr>
            <a:xfrm>
              <a:off x="3493083" y="2125757"/>
              <a:ext cx="441916" cy="441915"/>
            </a:xfrm>
            <a:prstGeom prst="rect">
              <a:avLst/>
            </a:prstGeom>
            <a:noFill/>
            <a:ln>
              <a:noFill/>
            </a:ln>
          </p:spPr>
        </p:pic>
        <p:grpSp>
          <p:nvGrpSpPr>
            <p:cNvPr id="5796" name="Google Shape;5796;p22"/>
            <p:cNvGrpSpPr/>
            <p:nvPr/>
          </p:nvGrpSpPr>
          <p:grpSpPr>
            <a:xfrm>
              <a:off x="3559558" y="2160725"/>
              <a:ext cx="301717" cy="365236"/>
              <a:chOff x="4476066" y="2297417"/>
              <a:chExt cx="301717" cy="365236"/>
            </a:xfrm>
          </p:grpSpPr>
          <p:sp>
            <p:nvSpPr>
              <p:cNvPr id="5797" name="Google Shape;5797;p22"/>
              <p:cNvSpPr/>
              <p:nvPr/>
            </p:nvSpPr>
            <p:spPr>
              <a:xfrm>
                <a:off x="4476066" y="2297417"/>
                <a:ext cx="301717" cy="365236"/>
              </a:xfrm>
              <a:custGeom>
                <a:avLst/>
                <a:gdLst/>
                <a:ahLst/>
                <a:cxnLst/>
                <a:rect l="l" t="t" r="r" b="b"/>
                <a:pathLst>
                  <a:path w="301717" h="365236" extrusionOk="0">
                    <a:moveTo>
                      <a:pt x="290715" y="288113"/>
                    </a:moveTo>
                    <a:lnTo>
                      <a:pt x="290715" y="288113"/>
                    </a:lnTo>
                    <a:cubicBezTo>
                      <a:pt x="288118" y="285175"/>
                      <a:pt x="286883" y="279768"/>
                      <a:pt x="285563" y="274020"/>
                    </a:cubicBezTo>
                    <a:cubicBezTo>
                      <a:pt x="284243" y="268272"/>
                      <a:pt x="282753" y="262056"/>
                      <a:pt x="278027" y="258054"/>
                    </a:cubicBezTo>
                    <a:cubicBezTo>
                      <a:pt x="278027" y="258054"/>
                      <a:pt x="277985" y="258054"/>
                      <a:pt x="277985" y="258012"/>
                    </a:cubicBezTo>
                    <a:cubicBezTo>
                      <a:pt x="277048" y="257203"/>
                      <a:pt x="276069" y="256521"/>
                      <a:pt x="275132" y="255925"/>
                    </a:cubicBezTo>
                    <a:cubicBezTo>
                      <a:pt x="274153" y="255372"/>
                      <a:pt x="273173" y="254861"/>
                      <a:pt x="272194" y="254520"/>
                    </a:cubicBezTo>
                    <a:cubicBezTo>
                      <a:pt x="278751" y="235020"/>
                      <a:pt x="276196" y="215648"/>
                      <a:pt x="269554" y="198107"/>
                    </a:cubicBezTo>
                    <a:cubicBezTo>
                      <a:pt x="261422" y="176606"/>
                      <a:pt x="247202" y="157830"/>
                      <a:pt x="236345" y="145014"/>
                    </a:cubicBezTo>
                    <a:cubicBezTo>
                      <a:pt x="224211" y="129687"/>
                      <a:pt x="212332" y="115169"/>
                      <a:pt x="212545" y="93668"/>
                    </a:cubicBezTo>
                    <a:cubicBezTo>
                      <a:pt x="212886" y="60884"/>
                      <a:pt x="216164" y="85"/>
                      <a:pt x="158431" y="0"/>
                    </a:cubicBezTo>
                    <a:cubicBezTo>
                      <a:pt x="156089" y="0"/>
                      <a:pt x="153620" y="85"/>
                      <a:pt x="151065" y="298"/>
                    </a:cubicBezTo>
                    <a:cubicBezTo>
                      <a:pt x="86690" y="5492"/>
                      <a:pt x="103763" y="73614"/>
                      <a:pt x="102826" y="96435"/>
                    </a:cubicBezTo>
                    <a:cubicBezTo>
                      <a:pt x="101634" y="113125"/>
                      <a:pt x="98271" y="126281"/>
                      <a:pt x="86775" y="142588"/>
                    </a:cubicBezTo>
                    <a:cubicBezTo>
                      <a:pt x="73321" y="158596"/>
                      <a:pt x="54332" y="184568"/>
                      <a:pt x="45349" y="211561"/>
                    </a:cubicBezTo>
                    <a:cubicBezTo>
                      <a:pt x="41091" y="224291"/>
                      <a:pt x="39090" y="237277"/>
                      <a:pt x="40963" y="249581"/>
                    </a:cubicBezTo>
                    <a:cubicBezTo>
                      <a:pt x="40367" y="250092"/>
                      <a:pt x="39814" y="250646"/>
                      <a:pt x="39303" y="251199"/>
                    </a:cubicBezTo>
                    <a:cubicBezTo>
                      <a:pt x="35343" y="255414"/>
                      <a:pt x="32405" y="260524"/>
                      <a:pt x="29170" y="263972"/>
                    </a:cubicBezTo>
                    <a:cubicBezTo>
                      <a:pt x="26104" y="266995"/>
                      <a:pt x="21804" y="268187"/>
                      <a:pt x="17035" y="269890"/>
                    </a:cubicBezTo>
                    <a:cubicBezTo>
                      <a:pt x="12267" y="271593"/>
                      <a:pt x="7030" y="274105"/>
                      <a:pt x="3837" y="280236"/>
                    </a:cubicBezTo>
                    <a:lnTo>
                      <a:pt x="3837" y="280236"/>
                    </a:lnTo>
                    <a:cubicBezTo>
                      <a:pt x="3837" y="280236"/>
                      <a:pt x="3837" y="280236"/>
                      <a:pt x="3837" y="280279"/>
                    </a:cubicBezTo>
                    <a:cubicBezTo>
                      <a:pt x="2347" y="283046"/>
                      <a:pt x="1836" y="286069"/>
                      <a:pt x="1836" y="289135"/>
                    </a:cubicBezTo>
                    <a:cubicBezTo>
                      <a:pt x="1836" y="291945"/>
                      <a:pt x="2262" y="294840"/>
                      <a:pt x="2687" y="297565"/>
                    </a:cubicBezTo>
                    <a:cubicBezTo>
                      <a:pt x="3581" y="303313"/>
                      <a:pt x="4476" y="308720"/>
                      <a:pt x="3283" y="312381"/>
                    </a:cubicBezTo>
                    <a:cubicBezTo>
                      <a:pt x="-506" y="322685"/>
                      <a:pt x="-974" y="329838"/>
                      <a:pt x="1666" y="334989"/>
                    </a:cubicBezTo>
                    <a:cubicBezTo>
                      <a:pt x="4348" y="340184"/>
                      <a:pt x="9798" y="342440"/>
                      <a:pt x="15971" y="343760"/>
                    </a:cubicBezTo>
                    <a:cubicBezTo>
                      <a:pt x="28361" y="346357"/>
                      <a:pt x="45093" y="345718"/>
                      <a:pt x="58292" y="352701"/>
                    </a:cubicBezTo>
                    <a:lnTo>
                      <a:pt x="59441" y="350572"/>
                    </a:lnTo>
                    <a:lnTo>
                      <a:pt x="58334" y="352701"/>
                    </a:lnTo>
                    <a:cubicBezTo>
                      <a:pt x="72470" y="360109"/>
                      <a:pt x="86818" y="362706"/>
                      <a:pt x="98228" y="360109"/>
                    </a:cubicBezTo>
                    <a:cubicBezTo>
                      <a:pt x="106531" y="358236"/>
                      <a:pt x="113258" y="353297"/>
                      <a:pt x="116706" y="345676"/>
                    </a:cubicBezTo>
                    <a:cubicBezTo>
                      <a:pt x="125647" y="345633"/>
                      <a:pt x="135440" y="341844"/>
                      <a:pt x="151193" y="340993"/>
                    </a:cubicBezTo>
                    <a:cubicBezTo>
                      <a:pt x="161837" y="340141"/>
                      <a:pt x="175163" y="344782"/>
                      <a:pt x="190491" y="343930"/>
                    </a:cubicBezTo>
                    <a:cubicBezTo>
                      <a:pt x="190874" y="345591"/>
                      <a:pt x="191470" y="347209"/>
                      <a:pt x="192279" y="348699"/>
                    </a:cubicBezTo>
                    <a:cubicBezTo>
                      <a:pt x="192279" y="348699"/>
                      <a:pt x="192279" y="348741"/>
                      <a:pt x="192321" y="348741"/>
                    </a:cubicBezTo>
                    <a:cubicBezTo>
                      <a:pt x="198239" y="360620"/>
                      <a:pt x="209309" y="366070"/>
                      <a:pt x="221060" y="365133"/>
                    </a:cubicBezTo>
                    <a:cubicBezTo>
                      <a:pt x="232854" y="364197"/>
                      <a:pt x="245371" y="357257"/>
                      <a:pt x="255462" y="345208"/>
                    </a:cubicBezTo>
                    <a:lnTo>
                      <a:pt x="253588" y="343632"/>
                    </a:lnTo>
                    <a:lnTo>
                      <a:pt x="255462" y="345165"/>
                    </a:lnTo>
                    <a:cubicBezTo>
                      <a:pt x="265127" y="333457"/>
                      <a:pt x="281135" y="328603"/>
                      <a:pt x="291737" y="322216"/>
                    </a:cubicBezTo>
                    <a:cubicBezTo>
                      <a:pt x="297059" y="319023"/>
                      <a:pt x="301359" y="315021"/>
                      <a:pt x="301699" y="309188"/>
                    </a:cubicBezTo>
                    <a:cubicBezTo>
                      <a:pt x="301998" y="303355"/>
                      <a:pt x="298591" y="296841"/>
                      <a:pt x="290715" y="28811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98" name="Google Shape;5798;p22"/>
              <p:cNvSpPr/>
              <p:nvPr/>
            </p:nvSpPr>
            <p:spPr>
              <a:xfrm>
                <a:off x="4670733" y="2546062"/>
                <a:ext cx="102148" cy="111774"/>
              </a:xfrm>
              <a:custGeom>
                <a:avLst/>
                <a:gdLst/>
                <a:ahLst/>
                <a:cxnLst/>
                <a:rect l="l" t="t" r="r" b="b"/>
                <a:pathLst>
                  <a:path w="102148" h="111774" extrusionOk="0">
                    <a:moveTo>
                      <a:pt x="102136" y="60288"/>
                    </a:moveTo>
                    <a:cubicBezTo>
                      <a:pt x="101923" y="63864"/>
                      <a:pt x="99326" y="66547"/>
                      <a:pt x="94515" y="69442"/>
                    </a:cubicBezTo>
                    <a:cubicBezTo>
                      <a:pt x="84892" y="75232"/>
                      <a:pt x="67862" y="80299"/>
                      <a:pt x="57005" y="93455"/>
                    </a:cubicBezTo>
                    <a:cubicBezTo>
                      <a:pt x="47553" y="104695"/>
                      <a:pt x="36058" y="110868"/>
                      <a:pt x="25924" y="111677"/>
                    </a:cubicBezTo>
                    <a:cubicBezTo>
                      <a:pt x="15791" y="112486"/>
                      <a:pt x="7021" y="108271"/>
                      <a:pt x="1869" y="97925"/>
                    </a:cubicBezTo>
                    <a:lnTo>
                      <a:pt x="1869" y="97925"/>
                    </a:lnTo>
                    <a:lnTo>
                      <a:pt x="1869" y="97883"/>
                    </a:lnTo>
                    <a:cubicBezTo>
                      <a:pt x="-1324" y="91794"/>
                      <a:pt x="-4" y="82215"/>
                      <a:pt x="2678" y="72081"/>
                    </a:cubicBezTo>
                    <a:cubicBezTo>
                      <a:pt x="5360" y="61948"/>
                      <a:pt x="9235" y="51560"/>
                      <a:pt x="9746" y="43087"/>
                    </a:cubicBezTo>
                    <a:lnTo>
                      <a:pt x="9746" y="43002"/>
                    </a:lnTo>
                    <a:cubicBezTo>
                      <a:pt x="10299" y="32188"/>
                      <a:pt x="10895" y="22693"/>
                      <a:pt x="12726" y="15413"/>
                    </a:cubicBezTo>
                    <a:cubicBezTo>
                      <a:pt x="14557" y="8089"/>
                      <a:pt x="17409" y="3151"/>
                      <a:pt x="22476" y="383"/>
                    </a:cubicBezTo>
                    <a:cubicBezTo>
                      <a:pt x="22731" y="255"/>
                      <a:pt x="22944" y="128"/>
                      <a:pt x="23200" y="0"/>
                    </a:cubicBezTo>
                    <a:cubicBezTo>
                      <a:pt x="23796" y="9367"/>
                      <a:pt x="28436" y="18946"/>
                      <a:pt x="36611" y="21033"/>
                    </a:cubicBezTo>
                    <a:cubicBezTo>
                      <a:pt x="45595" y="23417"/>
                      <a:pt x="58538" y="15711"/>
                      <a:pt x="64030" y="9409"/>
                    </a:cubicBezTo>
                    <a:cubicBezTo>
                      <a:pt x="65137" y="9367"/>
                      <a:pt x="66201" y="9324"/>
                      <a:pt x="67223" y="9282"/>
                    </a:cubicBezTo>
                    <a:cubicBezTo>
                      <a:pt x="72034" y="9154"/>
                      <a:pt x="76037" y="9452"/>
                      <a:pt x="80166" y="13028"/>
                    </a:cubicBezTo>
                    <a:lnTo>
                      <a:pt x="80166" y="13028"/>
                    </a:lnTo>
                    <a:lnTo>
                      <a:pt x="80166" y="13028"/>
                    </a:lnTo>
                    <a:cubicBezTo>
                      <a:pt x="83317" y="15711"/>
                      <a:pt x="84850" y="20777"/>
                      <a:pt x="86127" y="26440"/>
                    </a:cubicBezTo>
                    <a:cubicBezTo>
                      <a:pt x="87447" y="32102"/>
                      <a:pt x="88469" y="38276"/>
                      <a:pt x="92386" y="42661"/>
                    </a:cubicBezTo>
                    <a:lnTo>
                      <a:pt x="92386" y="42661"/>
                    </a:lnTo>
                    <a:lnTo>
                      <a:pt x="92386" y="42661"/>
                    </a:lnTo>
                    <a:cubicBezTo>
                      <a:pt x="99964" y="51049"/>
                      <a:pt x="102349" y="56669"/>
                      <a:pt x="102136" y="60288"/>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99" name="Google Shape;5799;p22"/>
              <p:cNvSpPr/>
              <p:nvPr/>
            </p:nvSpPr>
            <p:spPr>
              <a:xfrm>
                <a:off x="4480912" y="2546786"/>
                <a:ext cx="109493" cy="106857"/>
              </a:xfrm>
              <a:custGeom>
                <a:avLst/>
                <a:gdLst/>
                <a:ahLst/>
                <a:cxnLst/>
                <a:rect l="l" t="t" r="r" b="b"/>
                <a:pathLst>
                  <a:path w="109493" h="106857" extrusionOk="0">
                    <a:moveTo>
                      <a:pt x="109433" y="86132"/>
                    </a:moveTo>
                    <a:lnTo>
                      <a:pt x="109433" y="86132"/>
                    </a:lnTo>
                    <a:lnTo>
                      <a:pt x="109433" y="86132"/>
                    </a:lnTo>
                    <a:cubicBezTo>
                      <a:pt x="108582" y="97542"/>
                      <a:pt x="102153" y="103758"/>
                      <a:pt x="92275" y="106015"/>
                    </a:cubicBezTo>
                    <a:cubicBezTo>
                      <a:pt x="82440" y="108271"/>
                      <a:pt x="69071" y="106015"/>
                      <a:pt x="55702" y="99032"/>
                    </a:cubicBezTo>
                    <a:lnTo>
                      <a:pt x="55702" y="99032"/>
                    </a:lnTo>
                    <a:cubicBezTo>
                      <a:pt x="40928" y="91198"/>
                      <a:pt x="23387" y="92007"/>
                      <a:pt x="12104" y="89623"/>
                    </a:cubicBezTo>
                    <a:cubicBezTo>
                      <a:pt x="6484" y="88431"/>
                      <a:pt x="2780" y="86685"/>
                      <a:pt x="1119" y="83407"/>
                    </a:cubicBezTo>
                    <a:cubicBezTo>
                      <a:pt x="-584" y="80128"/>
                      <a:pt x="-626" y="74381"/>
                      <a:pt x="2993" y="64588"/>
                    </a:cubicBezTo>
                    <a:lnTo>
                      <a:pt x="2993" y="64545"/>
                    </a:lnTo>
                    <a:lnTo>
                      <a:pt x="2993" y="64503"/>
                    </a:lnTo>
                    <a:cubicBezTo>
                      <a:pt x="4781" y="59053"/>
                      <a:pt x="3461" y="53050"/>
                      <a:pt x="2610" y="47430"/>
                    </a:cubicBezTo>
                    <a:cubicBezTo>
                      <a:pt x="1758" y="41810"/>
                      <a:pt x="1332" y="36701"/>
                      <a:pt x="3248" y="33124"/>
                    </a:cubicBezTo>
                    <a:lnTo>
                      <a:pt x="3248" y="33082"/>
                    </a:lnTo>
                    <a:cubicBezTo>
                      <a:pt x="5718" y="28356"/>
                      <a:pt x="9294" y="26653"/>
                      <a:pt x="13765" y="25035"/>
                    </a:cubicBezTo>
                    <a:cubicBezTo>
                      <a:pt x="18235" y="23417"/>
                      <a:pt x="23557" y="22182"/>
                      <a:pt x="27730" y="17967"/>
                    </a:cubicBezTo>
                    <a:lnTo>
                      <a:pt x="27772" y="17967"/>
                    </a:lnTo>
                    <a:lnTo>
                      <a:pt x="27815" y="17967"/>
                    </a:lnTo>
                    <a:cubicBezTo>
                      <a:pt x="31689" y="13880"/>
                      <a:pt x="34584" y="8771"/>
                      <a:pt x="37990" y="5109"/>
                    </a:cubicBezTo>
                    <a:cubicBezTo>
                      <a:pt x="40843" y="2044"/>
                      <a:pt x="43738" y="0"/>
                      <a:pt x="48081" y="0"/>
                    </a:cubicBezTo>
                    <a:cubicBezTo>
                      <a:pt x="48124" y="0"/>
                      <a:pt x="48166" y="0"/>
                      <a:pt x="48209" y="0"/>
                    </a:cubicBezTo>
                    <a:cubicBezTo>
                      <a:pt x="48975" y="0"/>
                      <a:pt x="49784" y="85"/>
                      <a:pt x="50635" y="213"/>
                    </a:cubicBezTo>
                    <a:cubicBezTo>
                      <a:pt x="56383" y="1064"/>
                      <a:pt x="61407" y="5109"/>
                      <a:pt x="66218" y="11666"/>
                    </a:cubicBezTo>
                    <a:lnTo>
                      <a:pt x="80141" y="37084"/>
                    </a:lnTo>
                    <a:lnTo>
                      <a:pt x="80141" y="37084"/>
                    </a:lnTo>
                    <a:lnTo>
                      <a:pt x="80141" y="37084"/>
                    </a:lnTo>
                    <a:cubicBezTo>
                      <a:pt x="83845" y="44833"/>
                      <a:pt x="91679" y="53348"/>
                      <a:pt x="98321" y="62033"/>
                    </a:cubicBezTo>
                    <a:cubicBezTo>
                      <a:pt x="104963" y="70719"/>
                      <a:pt x="110114" y="79447"/>
                      <a:pt x="109433" y="86132"/>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00" name="Google Shape;5800;p22"/>
              <p:cNvSpPr/>
              <p:nvPr/>
            </p:nvSpPr>
            <p:spPr>
              <a:xfrm>
                <a:off x="4584633" y="2377204"/>
                <a:ext cx="76115" cy="49437"/>
              </a:xfrm>
              <a:custGeom>
                <a:avLst/>
                <a:gdLst/>
                <a:ahLst/>
                <a:cxnLst/>
                <a:rect l="l" t="t" r="r" b="b"/>
                <a:pathLst>
                  <a:path w="76115" h="49437" extrusionOk="0">
                    <a:moveTo>
                      <a:pt x="75239" y="18862"/>
                    </a:moveTo>
                    <a:cubicBezTo>
                      <a:pt x="74132" y="16691"/>
                      <a:pt x="71833" y="14562"/>
                      <a:pt x="67959" y="12987"/>
                    </a:cubicBezTo>
                    <a:lnTo>
                      <a:pt x="67959" y="12987"/>
                    </a:lnTo>
                    <a:lnTo>
                      <a:pt x="67959" y="12987"/>
                    </a:lnTo>
                    <a:cubicBezTo>
                      <a:pt x="59869" y="9538"/>
                      <a:pt x="56336" y="9282"/>
                      <a:pt x="51823" y="6345"/>
                    </a:cubicBezTo>
                    <a:cubicBezTo>
                      <a:pt x="44457" y="1619"/>
                      <a:pt x="38411" y="-42"/>
                      <a:pt x="33345" y="1"/>
                    </a:cubicBezTo>
                    <a:cubicBezTo>
                      <a:pt x="30705" y="1"/>
                      <a:pt x="28321" y="469"/>
                      <a:pt x="26234" y="1193"/>
                    </a:cubicBezTo>
                    <a:cubicBezTo>
                      <a:pt x="20061" y="3322"/>
                      <a:pt x="16016" y="7707"/>
                      <a:pt x="13462" y="10134"/>
                    </a:cubicBezTo>
                    <a:lnTo>
                      <a:pt x="13462" y="10134"/>
                    </a:lnTo>
                    <a:lnTo>
                      <a:pt x="13462" y="10134"/>
                    </a:lnTo>
                    <a:cubicBezTo>
                      <a:pt x="12951" y="10602"/>
                      <a:pt x="12312" y="11028"/>
                      <a:pt x="10737" y="12178"/>
                    </a:cubicBezTo>
                    <a:cubicBezTo>
                      <a:pt x="9161" y="13327"/>
                      <a:pt x="6777" y="15073"/>
                      <a:pt x="3371" y="17627"/>
                    </a:cubicBezTo>
                    <a:cubicBezTo>
                      <a:pt x="348" y="19884"/>
                      <a:pt x="-631" y="22864"/>
                      <a:pt x="391" y="26313"/>
                    </a:cubicBezTo>
                    <a:cubicBezTo>
                      <a:pt x="1455" y="29762"/>
                      <a:pt x="4776" y="33764"/>
                      <a:pt x="10864" y="37212"/>
                    </a:cubicBezTo>
                    <a:lnTo>
                      <a:pt x="10864" y="37212"/>
                    </a:lnTo>
                    <a:lnTo>
                      <a:pt x="10864" y="37212"/>
                    </a:lnTo>
                    <a:cubicBezTo>
                      <a:pt x="14654" y="39426"/>
                      <a:pt x="17251" y="42449"/>
                      <a:pt x="20231" y="44834"/>
                    </a:cubicBezTo>
                    <a:cubicBezTo>
                      <a:pt x="21721" y="46026"/>
                      <a:pt x="23297" y="47090"/>
                      <a:pt x="25170" y="47899"/>
                    </a:cubicBezTo>
                    <a:cubicBezTo>
                      <a:pt x="27043" y="48708"/>
                      <a:pt x="29257" y="49261"/>
                      <a:pt x="31982" y="49389"/>
                    </a:cubicBezTo>
                    <a:cubicBezTo>
                      <a:pt x="38454" y="49772"/>
                      <a:pt x="43180" y="47814"/>
                      <a:pt x="47395" y="45430"/>
                    </a:cubicBezTo>
                    <a:cubicBezTo>
                      <a:pt x="51610" y="43045"/>
                      <a:pt x="55144" y="40108"/>
                      <a:pt x="59231" y="38788"/>
                    </a:cubicBezTo>
                    <a:lnTo>
                      <a:pt x="59231" y="38788"/>
                    </a:lnTo>
                    <a:lnTo>
                      <a:pt x="59231" y="38788"/>
                    </a:lnTo>
                    <a:cubicBezTo>
                      <a:pt x="67618" y="36191"/>
                      <a:pt x="73579" y="30911"/>
                      <a:pt x="75452" y="25887"/>
                    </a:cubicBezTo>
                    <a:cubicBezTo>
                      <a:pt x="76389" y="23418"/>
                      <a:pt x="76346" y="21033"/>
                      <a:pt x="75239" y="18862"/>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01" name="Google Shape;5801;p22"/>
              <p:cNvSpPr/>
              <p:nvPr/>
            </p:nvSpPr>
            <p:spPr>
              <a:xfrm>
                <a:off x="4588743" y="2396221"/>
                <a:ext cx="63558" cy="19855"/>
              </a:xfrm>
              <a:custGeom>
                <a:avLst/>
                <a:gdLst/>
                <a:ahLst/>
                <a:cxnLst/>
                <a:rect l="l" t="t" r="r" b="b"/>
                <a:pathLst>
                  <a:path w="63558" h="19855" extrusionOk="0">
                    <a:moveTo>
                      <a:pt x="49884" y="12192"/>
                    </a:moveTo>
                    <a:cubicBezTo>
                      <a:pt x="43242" y="15683"/>
                      <a:pt x="35450" y="19856"/>
                      <a:pt x="27148" y="19856"/>
                    </a:cubicBezTo>
                    <a:cubicBezTo>
                      <a:pt x="18888" y="19856"/>
                      <a:pt x="12332" y="16024"/>
                      <a:pt x="7648" y="12320"/>
                    </a:cubicBezTo>
                    <a:cubicBezTo>
                      <a:pt x="5307" y="10446"/>
                      <a:pt x="3391" y="8615"/>
                      <a:pt x="1943" y="7253"/>
                    </a:cubicBezTo>
                    <a:cubicBezTo>
                      <a:pt x="-569" y="5294"/>
                      <a:pt x="-271" y="2527"/>
                      <a:pt x="751" y="2612"/>
                    </a:cubicBezTo>
                    <a:cubicBezTo>
                      <a:pt x="2454" y="2825"/>
                      <a:pt x="2709" y="5082"/>
                      <a:pt x="3816" y="6103"/>
                    </a:cubicBezTo>
                    <a:cubicBezTo>
                      <a:pt x="5264" y="7466"/>
                      <a:pt x="7137" y="9254"/>
                      <a:pt x="9351" y="11000"/>
                    </a:cubicBezTo>
                    <a:cubicBezTo>
                      <a:pt x="13779" y="14534"/>
                      <a:pt x="19740" y="17940"/>
                      <a:pt x="27148" y="17940"/>
                    </a:cubicBezTo>
                    <a:cubicBezTo>
                      <a:pt x="34556" y="17940"/>
                      <a:pt x="43199" y="13597"/>
                      <a:pt x="48479" y="10617"/>
                    </a:cubicBezTo>
                    <a:cubicBezTo>
                      <a:pt x="51459" y="8956"/>
                      <a:pt x="55291" y="5933"/>
                      <a:pt x="58399" y="3634"/>
                    </a:cubicBezTo>
                    <a:cubicBezTo>
                      <a:pt x="60783" y="1888"/>
                      <a:pt x="60698" y="-198"/>
                      <a:pt x="62657" y="15"/>
                    </a:cubicBezTo>
                    <a:cubicBezTo>
                      <a:pt x="64615" y="228"/>
                      <a:pt x="63167" y="2357"/>
                      <a:pt x="60400" y="4741"/>
                    </a:cubicBezTo>
                    <a:cubicBezTo>
                      <a:pt x="57633" y="7125"/>
                      <a:pt x="53375" y="10361"/>
                      <a:pt x="49884" y="12192"/>
                    </a:cubicBezTo>
                    <a:close/>
                  </a:path>
                </a:pathLst>
              </a:custGeom>
              <a:solidFill>
                <a:srgbClr val="0091A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02" name="Google Shape;5802;p22"/>
              <p:cNvSpPr/>
              <p:nvPr/>
            </p:nvSpPr>
            <p:spPr>
              <a:xfrm>
                <a:off x="4538833" y="2407902"/>
                <a:ext cx="202442" cy="217471"/>
              </a:xfrm>
              <a:custGeom>
                <a:avLst/>
                <a:gdLst/>
                <a:ahLst/>
                <a:cxnLst/>
                <a:rect l="l" t="t" r="r" b="b"/>
                <a:pathLst>
                  <a:path w="202442" h="217471" extrusionOk="0">
                    <a:moveTo>
                      <a:pt x="201763" y="142630"/>
                    </a:moveTo>
                    <a:cubicBezTo>
                      <a:pt x="200827" y="142588"/>
                      <a:pt x="199932" y="142588"/>
                      <a:pt x="199038" y="142630"/>
                    </a:cubicBezTo>
                    <a:cubicBezTo>
                      <a:pt x="198953" y="142630"/>
                      <a:pt x="198868" y="142630"/>
                      <a:pt x="198783" y="142630"/>
                    </a:cubicBezTo>
                    <a:cubicBezTo>
                      <a:pt x="201082" y="135392"/>
                      <a:pt x="196016" y="130070"/>
                      <a:pt x="182519" y="123982"/>
                    </a:cubicBezTo>
                    <a:cubicBezTo>
                      <a:pt x="168554" y="117851"/>
                      <a:pt x="157399" y="118447"/>
                      <a:pt x="155526" y="130922"/>
                    </a:cubicBezTo>
                    <a:cubicBezTo>
                      <a:pt x="155398" y="131560"/>
                      <a:pt x="155313" y="132242"/>
                      <a:pt x="155228" y="132923"/>
                    </a:cubicBezTo>
                    <a:cubicBezTo>
                      <a:pt x="154163" y="133306"/>
                      <a:pt x="153141" y="133732"/>
                      <a:pt x="152077" y="134328"/>
                    </a:cubicBezTo>
                    <a:cubicBezTo>
                      <a:pt x="145520" y="137904"/>
                      <a:pt x="141944" y="144418"/>
                      <a:pt x="139943" y="152423"/>
                    </a:cubicBezTo>
                    <a:cubicBezTo>
                      <a:pt x="137942" y="160427"/>
                      <a:pt x="137388" y="170049"/>
                      <a:pt x="136835" y="180906"/>
                    </a:cubicBezTo>
                    <a:lnTo>
                      <a:pt x="136835" y="180906"/>
                    </a:lnTo>
                    <a:cubicBezTo>
                      <a:pt x="136494" y="186356"/>
                      <a:pt x="134238" y="193764"/>
                      <a:pt x="131981" y="201556"/>
                    </a:cubicBezTo>
                    <a:cubicBezTo>
                      <a:pt x="109075" y="217905"/>
                      <a:pt x="77313" y="224972"/>
                      <a:pt x="50320" y="206537"/>
                    </a:cubicBezTo>
                    <a:cubicBezTo>
                      <a:pt x="48489" y="203642"/>
                      <a:pt x="46403" y="200789"/>
                      <a:pt x="44232" y="197937"/>
                    </a:cubicBezTo>
                    <a:cubicBezTo>
                      <a:pt x="42869" y="196148"/>
                      <a:pt x="41422" y="194318"/>
                      <a:pt x="40017" y="192572"/>
                    </a:cubicBezTo>
                    <a:cubicBezTo>
                      <a:pt x="42784" y="192572"/>
                      <a:pt x="45126" y="192104"/>
                      <a:pt x="47042" y="191252"/>
                    </a:cubicBezTo>
                    <a:cubicBezTo>
                      <a:pt x="49426" y="190188"/>
                      <a:pt x="51086" y="188442"/>
                      <a:pt x="51895" y="186228"/>
                    </a:cubicBezTo>
                    <a:cubicBezTo>
                      <a:pt x="53556" y="181800"/>
                      <a:pt x="51895" y="175584"/>
                      <a:pt x="46616" y="168431"/>
                    </a:cubicBezTo>
                    <a:cubicBezTo>
                      <a:pt x="41336" y="161321"/>
                      <a:pt x="32438" y="153274"/>
                      <a:pt x="19325" y="145227"/>
                    </a:cubicBezTo>
                    <a:lnTo>
                      <a:pt x="19325" y="145227"/>
                    </a:lnTo>
                    <a:cubicBezTo>
                      <a:pt x="9702" y="139224"/>
                      <a:pt x="4295" y="131901"/>
                      <a:pt x="1783" y="123939"/>
                    </a:cubicBezTo>
                    <a:cubicBezTo>
                      <a:pt x="-729" y="115977"/>
                      <a:pt x="-388" y="107334"/>
                      <a:pt x="1570" y="98819"/>
                    </a:cubicBezTo>
                    <a:cubicBezTo>
                      <a:pt x="5317" y="82470"/>
                      <a:pt x="14897" y="66589"/>
                      <a:pt x="20985" y="56626"/>
                    </a:cubicBezTo>
                    <a:cubicBezTo>
                      <a:pt x="22646" y="55434"/>
                      <a:pt x="21581" y="58883"/>
                      <a:pt x="14812" y="71443"/>
                    </a:cubicBezTo>
                    <a:cubicBezTo>
                      <a:pt x="8723" y="82938"/>
                      <a:pt x="-2602" y="109506"/>
                      <a:pt x="12938" y="130240"/>
                    </a:cubicBezTo>
                    <a:cubicBezTo>
                      <a:pt x="13364" y="115509"/>
                      <a:pt x="16898" y="100437"/>
                      <a:pt x="22773" y="86387"/>
                    </a:cubicBezTo>
                    <a:cubicBezTo>
                      <a:pt x="31374" y="66845"/>
                      <a:pt x="49383" y="32997"/>
                      <a:pt x="50831" y="6003"/>
                    </a:cubicBezTo>
                    <a:cubicBezTo>
                      <a:pt x="51555" y="6557"/>
                      <a:pt x="54109" y="8260"/>
                      <a:pt x="55216" y="8898"/>
                    </a:cubicBezTo>
                    <a:lnTo>
                      <a:pt x="55216" y="8898"/>
                    </a:lnTo>
                    <a:cubicBezTo>
                      <a:pt x="58537" y="10857"/>
                      <a:pt x="61007" y="13710"/>
                      <a:pt x="64200" y="16264"/>
                    </a:cubicBezTo>
                    <a:cubicBezTo>
                      <a:pt x="67436" y="18861"/>
                      <a:pt x="71438" y="21075"/>
                      <a:pt x="77526" y="21458"/>
                    </a:cubicBezTo>
                    <a:cubicBezTo>
                      <a:pt x="78122" y="21501"/>
                      <a:pt x="78676" y="21501"/>
                      <a:pt x="79229" y="21501"/>
                    </a:cubicBezTo>
                    <a:cubicBezTo>
                      <a:pt x="85488" y="21501"/>
                      <a:pt x="90384" y="19457"/>
                      <a:pt x="94471" y="17116"/>
                    </a:cubicBezTo>
                    <a:cubicBezTo>
                      <a:pt x="98899" y="14604"/>
                      <a:pt x="102433" y="11794"/>
                      <a:pt x="105797" y="10687"/>
                    </a:cubicBezTo>
                    <a:lnTo>
                      <a:pt x="105797" y="10687"/>
                    </a:lnTo>
                    <a:cubicBezTo>
                      <a:pt x="112864" y="8473"/>
                      <a:pt x="118484" y="4556"/>
                      <a:pt x="121720" y="0"/>
                    </a:cubicBezTo>
                    <a:cubicBezTo>
                      <a:pt x="127212" y="21671"/>
                      <a:pt x="140028" y="53007"/>
                      <a:pt x="148245" y="68292"/>
                    </a:cubicBezTo>
                    <a:cubicBezTo>
                      <a:pt x="152630" y="76382"/>
                      <a:pt x="161316" y="93625"/>
                      <a:pt x="165063" y="114402"/>
                    </a:cubicBezTo>
                    <a:cubicBezTo>
                      <a:pt x="167447" y="114317"/>
                      <a:pt x="170087" y="114658"/>
                      <a:pt x="172854" y="115381"/>
                    </a:cubicBezTo>
                    <a:cubicBezTo>
                      <a:pt x="182689" y="89921"/>
                      <a:pt x="164509" y="62502"/>
                      <a:pt x="156207" y="54838"/>
                    </a:cubicBezTo>
                    <a:cubicBezTo>
                      <a:pt x="152843" y="51602"/>
                      <a:pt x="152673" y="50112"/>
                      <a:pt x="154376" y="50197"/>
                    </a:cubicBezTo>
                    <a:cubicBezTo>
                      <a:pt x="163360" y="58159"/>
                      <a:pt x="175196" y="74168"/>
                      <a:pt x="179496" y="92263"/>
                    </a:cubicBezTo>
                    <a:cubicBezTo>
                      <a:pt x="181454" y="100522"/>
                      <a:pt x="181880" y="109165"/>
                      <a:pt x="179751" y="117723"/>
                    </a:cubicBezTo>
                    <a:cubicBezTo>
                      <a:pt x="180773" y="118149"/>
                      <a:pt x="181838" y="118617"/>
                      <a:pt x="182902" y="119128"/>
                    </a:cubicBezTo>
                    <a:cubicBezTo>
                      <a:pt x="198740" y="126834"/>
                      <a:pt x="204573" y="133519"/>
                      <a:pt x="201763" y="142630"/>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03" name="Google Shape;5803;p22"/>
              <p:cNvSpPr/>
              <p:nvPr/>
            </p:nvSpPr>
            <p:spPr>
              <a:xfrm>
                <a:off x="4624319" y="2347827"/>
                <a:ext cx="36278" cy="40362"/>
              </a:xfrm>
              <a:custGeom>
                <a:avLst/>
                <a:gdLst/>
                <a:ahLst/>
                <a:cxnLst/>
                <a:rect l="l" t="t" r="r" b="b"/>
                <a:pathLst>
                  <a:path w="36278" h="40362" extrusionOk="0">
                    <a:moveTo>
                      <a:pt x="36277" y="23247"/>
                    </a:moveTo>
                    <a:cubicBezTo>
                      <a:pt x="36319" y="27547"/>
                      <a:pt x="35553" y="31208"/>
                      <a:pt x="33935" y="34912"/>
                    </a:cubicBezTo>
                    <a:cubicBezTo>
                      <a:pt x="32998" y="37041"/>
                      <a:pt x="31934" y="38829"/>
                      <a:pt x="30657" y="40362"/>
                    </a:cubicBezTo>
                    <a:cubicBezTo>
                      <a:pt x="30231" y="40149"/>
                      <a:pt x="29763" y="39936"/>
                      <a:pt x="29294" y="39766"/>
                    </a:cubicBezTo>
                    <a:cubicBezTo>
                      <a:pt x="27676" y="39085"/>
                      <a:pt x="26229" y="38489"/>
                      <a:pt x="24951" y="38021"/>
                    </a:cubicBezTo>
                    <a:cubicBezTo>
                      <a:pt x="23674" y="37552"/>
                      <a:pt x="22652" y="37212"/>
                      <a:pt x="21631" y="36828"/>
                    </a:cubicBezTo>
                    <a:cubicBezTo>
                      <a:pt x="22397" y="35934"/>
                      <a:pt x="23845" y="34870"/>
                      <a:pt x="24398" y="33507"/>
                    </a:cubicBezTo>
                    <a:cubicBezTo>
                      <a:pt x="25250" y="31464"/>
                      <a:pt x="25633" y="29505"/>
                      <a:pt x="25718" y="27164"/>
                    </a:cubicBezTo>
                    <a:cubicBezTo>
                      <a:pt x="25718" y="27078"/>
                      <a:pt x="25760" y="26993"/>
                      <a:pt x="25760" y="26866"/>
                    </a:cubicBezTo>
                    <a:cubicBezTo>
                      <a:pt x="25803" y="24609"/>
                      <a:pt x="25505" y="22693"/>
                      <a:pt x="24866" y="20692"/>
                    </a:cubicBezTo>
                    <a:cubicBezTo>
                      <a:pt x="24185" y="18606"/>
                      <a:pt x="23291" y="17116"/>
                      <a:pt x="22014" y="15881"/>
                    </a:cubicBezTo>
                    <a:cubicBezTo>
                      <a:pt x="20736" y="14646"/>
                      <a:pt x="19459" y="14093"/>
                      <a:pt x="17969" y="14008"/>
                    </a:cubicBezTo>
                    <a:cubicBezTo>
                      <a:pt x="17884" y="14008"/>
                      <a:pt x="17841" y="14008"/>
                      <a:pt x="17756" y="14008"/>
                    </a:cubicBezTo>
                    <a:cubicBezTo>
                      <a:pt x="16309" y="14008"/>
                      <a:pt x="15074" y="14518"/>
                      <a:pt x="13797" y="15583"/>
                    </a:cubicBezTo>
                    <a:cubicBezTo>
                      <a:pt x="12434" y="16690"/>
                      <a:pt x="11455" y="18137"/>
                      <a:pt x="10603" y="20181"/>
                    </a:cubicBezTo>
                    <a:cubicBezTo>
                      <a:pt x="9752" y="22182"/>
                      <a:pt x="9369" y="24183"/>
                      <a:pt x="9283" y="26568"/>
                    </a:cubicBezTo>
                    <a:cubicBezTo>
                      <a:pt x="9283" y="26653"/>
                      <a:pt x="9283" y="26738"/>
                      <a:pt x="9283" y="26823"/>
                    </a:cubicBezTo>
                    <a:cubicBezTo>
                      <a:pt x="9241" y="28143"/>
                      <a:pt x="9326" y="29335"/>
                      <a:pt x="9539" y="30485"/>
                    </a:cubicBezTo>
                    <a:cubicBezTo>
                      <a:pt x="6601" y="29037"/>
                      <a:pt x="2854" y="27973"/>
                      <a:pt x="257" y="27334"/>
                    </a:cubicBezTo>
                    <a:cubicBezTo>
                      <a:pt x="87" y="26227"/>
                      <a:pt x="44" y="25077"/>
                      <a:pt x="2" y="23843"/>
                    </a:cubicBezTo>
                    <a:lnTo>
                      <a:pt x="2" y="23502"/>
                    </a:lnTo>
                    <a:cubicBezTo>
                      <a:pt x="-41" y="19202"/>
                      <a:pt x="641" y="15540"/>
                      <a:pt x="2301" y="11836"/>
                    </a:cubicBezTo>
                    <a:cubicBezTo>
                      <a:pt x="3961" y="8089"/>
                      <a:pt x="6005" y="5407"/>
                      <a:pt x="8858" y="3236"/>
                    </a:cubicBezTo>
                    <a:cubicBezTo>
                      <a:pt x="11753" y="1064"/>
                      <a:pt x="14563" y="43"/>
                      <a:pt x="17884" y="0"/>
                    </a:cubicBezTo>
                    <a:lnTo>
                      <a:pt x="18054" y="0"/>
                    </a:lnTo>
                    <a:cubicBezTo>
                      <a:pt x="21333" y="0"/>
                      <a:pt x="24143" y="979"/>
                      <a:pt x="26995" y="3065"/>
                    </a:cubicBezTo>
                    <a:cubicBezTo>
                      <a:pt x="29933" y="5194"/>
                      <a:pt x="32019" y="7834"/>
                      <a:pt x="33722" y="11538"/>
                    </a:cubicBezTo>
                    <a:cubicBezTo>
                      <a:pt x="35383" y="15157"/>
                      <a:pt x="36192" y="18691"/>
                      <a:pt x="36277" y="22863"/>
                    </a:cubicBezTo>
                    <a:cubicBezTo>
                      <a:pt x="36234" y="23076"/>
                      <a:pt x="36234" y="23161"/>
                      <a:pt x="36277" y="23247"/>
                    </a:cubicBezTo>
                    <a:lnTo>
                      <a:pt x="36277" y="23247"/>
                    </a:ln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04" name="Google Shape;5804;p22"/>
              <p:cNvSpPr/>
              <p:nvPr/>
            </p:nvSpPr>
            <p:spPr>
              <a:xfrm>
                <a:off x="4584924" y="2351489"/>
                <a:ext cx="26353" cy="37126"/>
              </a:xfrm>
              <a:custGeom>
                <a:avLst/>
                <a:gdLst/>
                <a:ahLst/>
                <a:cxnLst/>
                <a:rect l="l" t="t" r="r" b="b"/>
                <a:pathLst>
                  <a:path w="26353" h="37126" extrusionOk="0">
                    <a:moveTo>
                      <a:pt x="26241" y="23885"/>
                    </a:moveTo>
                    <a:cubicBezTo>
                      <a:pt x="25815" y="24013"/>
                      <a:pt x="25390" y="24141"/>
                      <a:pt x="24964" y="24268"/>
                    </a:cubicBezTo>
                    <a:cubicBezTo>
                      <a:pt x="22622" y="25077"/>
                      <a:pt x="20749" y="25971"/>
                      <a:pt x="18961" y="27164"/>
                    </a:cubicBezTo>
                    <a:cubicBezTo>
                      <a:pt x="19131" y="25929"/>
                      <a:pt x="19173" y="24652"/>
                      <a:pt x="19003" y="23247"/>
                    </a:cubicBezTo>
                    <a:cubicBezTo>
                      <a:pt x="19003" y="23161"/>
                      <a:pt x="19003" y="23119"/>
                      <a:pt x="19003" y="23034"/>
                    </a:cubicBezTo>
                    <a:cubicBezTo>
                      <a:pt x="18833" y="21160"/>
                      <a:pt x="18407" y="19585"/>
                      <a:pt x="17768" y="18010"/>
                    </a:cubicBezTo>
                    <a:cubicBezTo>
                      <a:pt x="17087" y="16349"/>
                      <a:pt x="16278" y="15200"/>
                      <a:pt x="15256" y="14306"/>
                    </a:cubicBezTo>
                    <a:cubicBezTo>
                      <a:pt x="14320" y="13497"/>
                      <a:pt x="13426" y="13113"/>
                      <a:pt x="12446" y="13113"/>
                    </a:cubicBezTo>
                    <a:cubicBezTo>
                      <a:pt x="12361" y="13113"/>
                      <a:pt x="12234" y="13113"/>
                      <a:pt x="12148" y="13113"/>
                    </a:cubicBezTo>
                    <a:cubicBezTo>
                      <a:pt x="11041" y="13199"/>
                      <a:pt x="10147" y="13752"/>
                      <a:pt x="9253" y="14774"/>
                    </a:cubicBezTo>
                    <a:cubicBezTo>
                      <a:pt x="8402" y="15838"/>
                      <a:pt x="7806" y="17116"/>
                      <a:pt x="7422" y="18861"/>
                    </a:cubicBezTo>
                    <a:cubicBezTo>
                      <a:pt x="6997" y="20607"/>
                      <a:pt x="6912" y="22267"/>
                      <a:pt x="7082" y="24226"/>
                    </a:cubicBezTo>
                    <a:cubicBezTo>
                      <a:pt x="7082" y="24311"/>
                      <a:pt x="7082" y="24354"/>
                      <a:pt x="7082" y="24439"/>
                    </a:cubicBezTo>
                    <a:cubicBezTo>
                      <a:pt x="7252" y="26312"/>
                      <a:pt x="7635" y="27887"/>
                      <a:pt x="8317" y="29463"/>
                    </a:cubicBezTo>
                    <a:cubicBezTo>
                      <a:pt x="8998" y="31081"/>
                      <a:pt x="9807" y="32273"/>
                      <a:pt x="10829" y="33167"/>
                    </a:cubicBezTo>
                    <a:cubicBezTo>
                      <a:pt x="10999" y="33337"/>
                      <a:pt x="11169" y="33465"/>
                      <a:pt x="11339" y="33550"/>
                    </a:cubicBezTo>
                    <a:cubicBezTo>
                      <a:pt x="10275" y="34359"/>
                      <a:pt x="9551" y="34955"/>
                      <a:pt x="8657" y="35636"/>
                    </a:cubicBezTo>
                    <a:cubicBezTo>
                      <a:pt x="8104" y="36062"/>
                      <a:pt x="7422" y="36530"/>
                      <a:pt x="6614" y="37126"/>
                    </a:cubicBezTo>
                    <a:cubicBezTo>
                      <a:pt x="4910" y="35509"/>
                      <a:pt x="3591" y="33507"/>
                      <a:pt x="2398" y="30868"/>
                    </a:cubicBezTo>
                    <a:cubicBezTo>
                      <a:pt x="1036" y="27717"/>
                      <a:pt x="270" y="24609"/>
                      <a:pt x="57" y="20905"/>
                    </a:cubicBezTo>
                    <a:lnTo>
                      <a:pt x="57" y="20862"/>
                    </a:lnTo>
                    <a:cubicBezTo>
                      <a:pt x="-156" y="17158"/>
                      <a:pt x="227" y="13965"/>
                      <a:pt x="1249" y="10687"/>
                    </a:cubicBezTo>
                    <a:cubicBezTo>
                      <a:pt x="2271" y="7408"/>
                      <a:pt x="3633" y="5024"/>
                      <a:pt x="5634" y="3065"/>
                    </a:cubicBezTo>
                    <a:cubicBezTo>
                      <a:pt x="7593" y="1107"/>
                      <a:pt x="9594" y="128"/>
                      <a:pt x="12021" y="0"/>
                    </a:cubicBezTo>
                    <a:cubicBezTo>
                      <a:pt x="12191" y="0"/>
                      <a:pt x="12404" y="0"/>
                      <a:pt x="12574" y="0"/>
                    </a:cubicBezTo>
                    <a:cubicBezTo>
                      <a:pt x="14746" y="0"/>
                      <a:pt x="16704" y="724"/>
                      <a:pt x="18705" y="2342"/>
                    </a:cubicBezTo>
                    <a:cubicBezTo>
                      <a:pt x="20877" y="4087"/>
                      <a:pt x="22537" y="6301"/>
                      <a:pt x="23899" y="9452"/>
                    </a:cubicBezTo>
                    <a:cubicBezTo>
                      <a:pt x="25304" y="12603"/>
                      <a:pt x="26028" y="15711"/>
                      <a:pt x="26241" y="19415"/>
                    </a:cubicBezTo>
                    <a:lnTo>
                      <a:pt x="26241" y="19457"/>
                    </a:lnTo>
                    <a:cubicBezTo>
                      <a:pt x="26411" y="20990"/>
                      <a:pt x="26369" y="22480"/>
                      <a:pt x="26241" y="23885"/>
                    </a:cubicBezTo>
                    <a:lnTo>
                      <a:pt x="26241" y="23885"/>
                    </a:ln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05" name="Google Shape;5805;p22"/>
              <p:cNvSpPr/>
              <p:nvPr/>
            </p:nvSpPr>
            <p:spPr>
              <a:xfrm>
                <a:off x="4622092" y="2383039"/>
                <a:ext cx="6749" cy="3536"/>
              </a:xfrm>
              <a:custGeom>
                <a:avLst/>
                <a:gdLst/>
                <a:ahLst/>
                <a:cxnLst/>
                <a:rect l="l" t="t" r="r" b="b"/>
                <a:pathLst>
                  <a:path w="6749" h="3536" extrusionOk="0">
                    <a:moveTo>
                      <a:pt x="15" y="1191"/>
                    </a:moveTo>
                    <a:cubicBezTo>
                      <a:pt x="270" y="2085"/>
                      <a:pt x="1718" y="1915"/>
                      <a:pt x="2527" y="2341"/>
                    </a:cubicBezTo>
                    <a:cubicBezTo>
                      <a:pt x="3251" y="2724"/>
                      <a:pt x="3847" y="3533"/>
                      <a:pt x="4656" y="3533"/>
                    </a:cubicBezTo>
                    <a:cubicBezTo>
                      <a:pt x="5422" y="3575"/>
                      <a:pt x="6657" y="3277"/>
                      <a:pt x="6742" y="2511"/>
                    </a:cubicBezTo>
                    <a:cubicBezTo>
                      <a:pt x="6870" y="1489"/>
                      <a:pt x="5379" y="850"/>
                      <a:pt x="4443" y="467"/>
                    </a:cubicBezTo>
                    <a:cubicBezTo>
                      <a:pt x="3208" y="-1"/>
                      <a:pt x="1633" y="-257"/>
                      <a:pt x="483" y="382"/>
                    </a:cubicBezTo>
                    <a:cubicBezTo>
                      <a:pt x="228" y="552"/>
                      <a:pt x="-70" y="893"/>
                      <a:pt x="15" y="1191"/>
                    </a:cubicBezTo>
                    <a:lnTo>
                      <a:pt x="15" y="1191"/>
                    </a:lnTo>
                    <a:close/>
                  </a:path>
                </a:pathLst>
              </a:custGeom>
              <a:solidFill>
                <a:srgbClr val="0091A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06" name="Google Shape;5806;p22"/>
              <p:cNvSpPr/>
              <p:nvPr/>
            </p:nvSpPr>
            <p:spPr>
              <a:xfrm>
                <a:off x="4606942" y="2383039"/>
                <a:ext cx="6751" cy="3536"/>
              </a:xfrm>
              <a:custGeom>
                <a:avLst/>
                <a:gdLst/>
                <a:ahLst/>
                <a:cxnLst/>
                <a:rect l="l" t="t" r="r" b="b"/>
                <a:pathLst>
                  <a:path w="6751" h="3536" extrusionOk="0">
                    <a:moveTo>
                      <a:pt x="6735" y="1191"/>
                    </a:moveTo>
                    <a:cubicBezTo>
                      <a:pt x="6479" y="2085"/>
                      <a:pt x="5032" y="1915"/>
                      <a:pt x="4223" y="2341"/>
                    </a:cubicBezTo>
                    <a:cubicBezTo>
                      <a:pt x="3499" y="2724"/>
                      <a:pt x="2903" y="3533"/>
                      <a:pt x="2094" y="3533"/>
                    </a:cubicBezTo>
                    <a:cubicBezTo>
                      <a:pt x="1328" y="3575"/>
                      <a:pt x="93" y="3277"/>
                      <a:pt x="8" y="2511"/>
                    </a:cubicBezTo>
                    <a:cubicBezTo>
                      <a:pt x="-120" y="1489"/>
                      <a:pt x="1370" y="850"/>
                      <a:pt x="2307" y="467"/>
                    </a:cubicBezTo>
                    <a:cubicBezTo>
                      <a:pt x="3542" y="-1"/>
                      <a:pt x="5117" y="-257"/>
                      <a:pt x="6266" y="382"/>
                    </a:cubicBezTo>
                    <a:cubicBezTo>
                      <a:pt x="6564" y="552"/>
                      <a:pt x="6820" y="893"/>
                      <a:pt x="6735" y="1191"/>
                    </a:cubicBezTo>
                    <a:lnTo>
                      <a:pt x="6735" y="1191"/>
                    </a:lnTo>
                    <a:close/>
                  </a:path>
                </a:pathLst>
              </a:custGeom>
              <a:solidFill>
                <a:srgbClr val="0091A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cxnSp>
        <p:nvCxnSpPr>
          <p:cNvPr id="5807" name="Google Shape;5807;p22"/>
          <p:cNvCxnSpPr/>
          <p:nvPr/>
        </p:nvCxnSpPr>
        <p:spPr>
          <a:xfrm rot="10800000">
            <a:off x="6115532" y="2620360"/>
            <a:ext cx="0" cy="362752"/>
          </a:xfrm>
          <a:prstGeom prst="straightConnector1">
            <a:avLst/>
          </a:prstGeom>
          <a:noFill/>
          <a:ln w="25400" cap="flat" cmpd="sng">
            <a:solidFill>
              <a:schemeClr val="accent4"/>
            </a:solidFill>
            <a:prstDash val="solid"/>
            <a:miter lim="800000"/>
            <a:headEnd type="diamond" w="lg" len="lg"/>
            <a:tailEnd type="none" w="sm" len="sm"/>
          </a:ln>
        </p:spPr>
      </p:cxnSp>
      <p:cxnSp>
        <p:nvCxnSpPr>
          <p:cNvPr id="5808" name="Google Shape;5808;p22"/>
          <p:cNvCxnSpPr/>
          <p:nvPr/>
        </p:nvCxnSpPr>
        <p:spPr>
          <a:xfrm rot="10800000">
            <a:off x="4311447" y="2620360"/>
            <a:ext cx="0" cy="362752"/>
          </a:xfrm>
          <a:prstGeom prst="straightConnector1">
            <a:avLst/>
          </a:prstGeom>
          <a:noFill/>
          <a:ln w="25400" cap="flat" cmpd="sng">
            <a:solidFill>
              <a:schemeClr val="accent4"/>
            </a:solidFill>
            <a:prstDash val="solid"/>
            <a:miter lim="800000"/>
            <a:headEnd type="diamond" w="lg" len="lg"/>
            <a:tailEnd type="none" w="sm" len="sm"/>
          </a:ln>
        </p:spPr>
      </p:cxnSp>
      <p:cxnSp>
        <p:nvCxnSpPr>
          <p:cNvPr id="5809" name="Google Shape;5809;p22"/>
          <p:cNvCxnSpPr/>
          <p:nvPr/>
        </p:nvCxnSpPr>
        <p:spPr>
          <a:xfrm rot="10800000">
            <a:off x="2376897" y="2620360"/>
            <a:ext cx="0" cy="362752"/>
          </a:xfrm>
          <a:prstGeom prst="straightConnector1">
            <a:avLst/>
          </a:prstGeom>
          <a:noFill/>
          <a:ln w="25400" cap="flat" cmpd="sng">
            <a:solidFill>
              <a:schemeClr val="accent3"/>
            </a:solidFill>
            <a:prstDash val="solid"/>
            <a:miter lim="800000"/>
            <a:headEnd type="diamond" w="lg" len="lg"/>
            <a:tailEnd type="none" w="sm" len="sm"/>
          </a:ln>
        </p:spPr>
      </p:cxnSp>
      <p:sp>
        <p:nvSpPr>
          <p:cNvPr id="5810" name="Google Shape;5810;p22"/>
          <p:cNvSpPr/>
          <p:nvPr/>
        </p:nvSpPr>
        <p:spPr>
          <a:xfrm>
            <a:off x="6197090" y="2724792"/>
            <a:ext cx="38770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4"/>
                </a:solidFill>
                <a:latin typeface="Arial"/>
                <a:ea typeface="Arial"/>
                <a:cs typeface="Arial"/>
                <a:sym typeface="Arial"/>
              </a:rPr>
              <a:t>NFS</a:t>
            </a:r>
            <a:endParaRPr/>
          </a:p>
        </p:txBody>
      </p:sp>
      <p:sp>
        <p:nvSpPr>
          <p:cNvPr id="5811" name="Google Shape;5811;p22"/>
          <p:cNvSpPr txBox="1"/>
          <p:nvPr/>
        </p:nvSpPr>
        <p:spPr>
          <a:xfrm>
            <a:off x="3748551" y="4852952"/>
            <a:ext cx="1102079" cy="217880"/>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200">
                <a:solidFill>
                  <a:schemeClr val="dk2"/>
                </a:solidFill>
                <a:latin typeface="Arial"/>
                <a:ea typeface="Arial"/>
                <a:cs typeface="Arial"/>
                <a:sym typeface="Arial"/>
              </a:rPr>
              <a:t>File Services</a:t>
            </a:r>
            <a:endParaRPr/>
          </a:p>
        </p:txBody>
      </p:sp>
      <p:sp>
        <p:nvSpPr>
          <p:cNvPr id="5812" name="Google Shape;5812;p22"/>
          <p:cNvSpPr/>
          <p:nvPr/>
        </p:nvSpPr>
        <p:spPr>
          <a:xfrm>
            <a:off x="1665447" y="2724792"/>
            <a:ext cx="696858"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chemeClr val="accent3"/>
                </a:solidFill>
                <a:latin typeface="Arial"/>
                <a:ea typeface="Arial"/>
                <a:cs typeface="Arial"/>
                <a:sym typeface="Arial"/>
              </a:rPr>
              <a:t>(100 max)</a:t>
            </a:r>
            <a:endParaRPr/>
          </a:p>
        </p:txBody>
      </p:sp>
      <p:cxnSp>
        <p:nvCxnSpPr>
          <p:cNvPr id="5813" name="Google Shape;5813;p22"/>
          <p:cNvCxnSpPr/>
          <p:nvPr/>
        </p:nvCxnSpPr>
        <p:spPr>
          <a:xfrm>
            <a:off x="1800886" y="4181937"/>
            <a:ext cx="807728" cy="564564"/>
          </a:xfrm>
          <a:prstGeom prst="straightConnector1">
            <a:avLst/>
          </a:prstGeom>
          <a:noFill/>
          <a:ln w="9525" cap="flat" cmpd="sng">
            <a:solidFill>
              <a:schemeClr val="dk1"/>
            </a:solidFill>
            <a:prstDash val="dash"/>
            <a:miter lim="800000"/>
            <a:headEnd type="none" w="sm" len="sm"/>
            <a:tailEnd type="none" w="sm" len="sm"/>
          </a:ln>
        </p:spPr>
      </p:cxnSp>
      <p:cxnSp>
        <p:nvCxnSpPr>
          <p:cNvPr id="5814" name="Google Shape;5814;p22"/>
          <p:cNvCxnSpPr/>
          <p:nvPr/>
        </p:nvCxnSpPr>
        <p:spPr>
          <a:xfrm rot="10800000" flipH="1">
            <a:off x="5987684" y="4168140"/>
            <a:ext cx="810613" cy="578464"/>
          </a:xfrm>
          <a:prstGeom prst="straightConnector1">
            <a:avLst/>
          </a:prstGeom>
          <a:noFill/>
          <a:ln w="9525" cap="flat" cmpd="sng">
            <a:solidFill>
              <a:schemeClr val="dk1"/>
            </a:solidFill>
            <a:prstDash val="dash"/>
            <a:miter lim="800000"/>
            <a:headEnd type="none" w="sm" len="sm"/>
            <a:tailEnd type="none" w="sm" len="sm"/>
          </a:ln>
        </p:spPr>
      </p:cxnSp>
      <p:sp>
        <p:nvSpPr>
          <p:cNvPr id="5815" name="Google Shape;5815;p22"/>
          <p:cNvSpPr/>
          <p:nvPr/>
        </p:nvSpPr>
        <p:spPr>
          <a:xfrm>
            <a:off x="3356132" y="3260699"/>
            <a:ext cx="1886921" cy="69552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5816" name="Google Shape;5816;p22"/>
          <p:cNvSpPr/>
          <p:nvPr/>
        </p:nvSpPr>
        <p:spPr>
          <a:xfrm>
            <a:off x="3589185" y="3362240"/>
            <a:ext cx="1420815"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500 shares per cluster</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88"/>
                                        </p:tgtEl>
                                        <p:attrNameLst>
                                          <p:attrName>style.visibility</p:attrName>
                                        </p:attrNameLst>
                                      </p:cBhvr>
                                      <p:to>
                                        <p:strVal val="visible"/>
                                      </p:to>
                                    </p:set>
                                    <p:animEffect transition="in" filter="fade">
                                      <p:cBhvr>
                                        <p:cTn id="7" dur="500"/>
                                        <p:tgtEl>
                                          <p:spTgt spid="558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602"/>
                                        </p:tgtEl>
                                        <p:attrNameLst>
                                          <p:attrName>style.visibility</p:attrName>
                                        </p:attrNameLst>
                                      </p:cBhvr>
                                      <p:to>
                                        <p:strVal val="visible"/>
                                      </p:to>
                                    </p:set>
                                    <p:animEffect transition="in" filter="fade">
                                      <p:cBhvr>
                                        <p:cTn id="11" dur="500"/>
                                        <p:tgtEl>
                                          <p:spTgt spid="5602"/>
                                        </p:tgtEl>
                                      </p:cBhvr>
                                    </p:animEffect>
                                  </p:childTnLst>
                                </p:cTn>
                              </p:par>
                              <p:par>
                                <p:cTn id="12" presetID="10" presetClass="entr" presetSubtype="0" fill="hold" nodeType="withEffect">
                                  <p:stCondLst>
                                    <p:cond delay="0"/>
                                  </p:stCondLst>
                                  <p:childTnLst>
                                    <p:set>
                                      <p:cBhvr>
                                        <p:cTn id="13" dur="1" fill="hold">
                                          <p:stCondLst>
                                            <p:cond delay="0"/>
                                          </p:stCondLst>
                                        </p:cTn>
                                        <p:tgtEl>
                                          <p:spTgt spid="5599"/>
                                        </p:tgtEl>
                                        <p:attrNameLst>
                                          <p:attrName>style.visibility</p:attrName>
                                        </p:attrNameLst>
                                      </p:cBhvr>
                                      <p:to>
                                        <p:strVal val="visible"/>
                                      </p:to>
                                    </p:set>
                                    <p:animEffect transition="in" filter="fade">
                                      <p:cBhvr>
                                        <p:cTn id="14" dur="500"/>
                                        <p:tgtEl>
                                          <p:spTgt spid="5599"/>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5598"/>
                                        </p:tgtEl>
                                        <p:attrNameLst>
                                          <p:attrName>style.visibility</p:attrName>
                                        </p:attrNameLst>
                                      </p:cBhvr>
                                      <p:to>
                                        <p:strVal val="visible"/>
                                      </p:to>
                                    </p:set>
                                    <p:animEffect transition="in" filter="fade">
                                      <p:cBhvr>
                                        <p:cTn id="18" dur="500"/>
                                        <p:tgtEl>
                                          <p:spTgt spid="5598"/>
                                        </p:tgtEl>
                                      </p:cBhvr>
                                    </p:animEffect>
                                  </p:childTnLst>
                                </p:cTn>
                              </p:par>
                              <p:par>
                                <p:cTn id="19" presetID="10" presetClass="entr" presetSubtype="0" fill="hold" nodeType="withEffect">
                                  <p:stCondLst>
                                    <p:cond delay="0"/>
                                  </p:stCondLst>
                                  <p:childTnLst>
                                    <p:set>
                                      <p:cBhvr>
                                        <p:cTn id="20" dur="1" fill="hold">
                                          <p:stCondLst>
                                            <p:cond delay="0"/>
                                          </p:stCondLst>
                                        </p:cTn>
                                        <p:tgtEl>
                                          <p:spTgt spid="5596"/>
                                        </p:tgtEl>
                                        <p:attrNameLst>
                                          <p:attrName>style.visibility</p:attrName>
                                        </p:attrNameLst>
                                      </p:cBhvr>
                                      <p:to>
                                        <p:strVal val="visible"/>
                                      </p:to>
                                    </p:set>
                                    <p:animEffect transition="in" filter="fade">
                                      <p:cBhvr>
                                        <p:cTn id="21" dur="500"/>
                                        <p:tgtEl>
                                          <p:spTgt spid="5596"/>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5595"/>
                                        </p:tgtEl>
                                        <p:attrNameLst>
                                          <p:attrName>style.visibility</p:attrName>
                                        </p:attrNameLst>
                                      </p:cBhvr>
                                      <p:to>
                                        <p:strVal val="visible"/>
                                      </p:to>
                                    </p:set>
                                    <p:animEffect transition="in" filter="fade">
                                      <p:cBhvr>
                                        <p:cTn id="25" dur="250"/>
                                        <p:tgtEl>
                                          <p:spTgt spid="5595"/>
                                        </p:tgtEl>
                                      </p:cBhvr>
                                    </p:animEffect>
                                  </p:childTnLst>
                                </p:cTn>
                              </p:par>
                              <p:par>
                                <p:cTn id="26" presetID="10" presetClass="entr" presetSubtype="0" fill="hold" nodeType="withEffect">
                                  <p:stCondLst>
                                    <p:cond delay="0"/>
                                  </p:stCondLst>
                                  <p:childTnLst>
                                    <p:set>
                                      <p:cBhvr>
                                        <p:cTn id="27" dur="1" fill="hold">
                                          <p:stCondLst>
                                            <p:cond delay="0"/>
                                          </p:stCondLst>
                                        </p:cTn>
                                        <p:tgtEl>
                                          <p:spTgt spid="5597"/>
                                        </p:tgtEl>
                                        <p:attrNameLst>
                                          <p:attrName>style.visibility</p:attrName>
                                        </p:attrNameLst>
                                      </p:cBhvr>
                                      <p:to>
                                        <p:strVal val="visible"/>
                                      </p:to>
                                    </p:set>
                                    <p:animEffect transition="in" filter="fade">
                                      <p:cBhvr>
                                        <p:cTn id="28" dur="250"/>
                                        <p:tgtEl>
                                          <p:spTgt spid="5597"/>
                                        </p:tgtEl>
                                      </p:cBhvr>
                                    </p:animEffect>
                                  </p:childTnLst>
                                </p:cTn>
                              </p:par>
                            </p:childTnLst>
                          </p:cTn>
                        </p:par>
                        <p:par>
                          <p:cTn id="29" fill="hold">
                            <p:stCondLst>
                              <p:cond delay="1750"/>
                            </p:stCondLst>
                            <p:childTnLst>
                              <p:par>
                                <p:cTn id="30" presetID="10" presetClass="entr" presetSubtype="0" fill="hold" nodeType="afterEffect">
                                  <p:stCondLst>
                                    <p:cond delay="500"/>
                                  </p:stCondLst>
                                  <p:childTnLst>
                                    <p:set>
                                      <p:cBhvr>
                                        <p:cTn id="31" dur="1" fill="hold">
                                          <p:stCondLst>
                                            <p:cond delay="0"/>
                                          </p:stCondLst>
                                        </p:cTn>
                                        <p:tgtEl>
                                          <p:spTgt spid="5811"/>
                                        </p:tgtEl>
                                        <p:attrNameLst>
                                          <p:attrName>style.visibility</p:attrName>
                                        </p:attrNameLst>
                                      </p:cBhvr>
                                      <p:to>
                                        <p:strVal val="visible"/>
                                      </p:to>
                                    </p:set>
                                    <p:animEffect transition="in" filter="fade">
                                      <p:cBhvr>
                                        <p:cTn id="32" dur="500"/>
                                        <p:tgtEl>
                                          <p:spTgt spid="5811"/>
                                        </p:tgtEl>
                                      </p:cBhvr>
                                    </p:animEffect>
                                  </p:childTnLst>
                                </p:cTn>
                              </p:par>
                            </p:childTnLst>
                          </p:cTn>
                        </p:par>
                        <p:par>
                          <p:cTn id="33" fill="hold">
                            <p:stCondLst>
                              <p:cond delay="2250"/>
                            </p:stCondLst>
                            <p:childTnLst>
                              <p:par>
                                <p:cTn id="34" presetID="10" presetClass="entr" presetSubtype="0" fill="hold" nodeType="afterEffect">
                                  <p:stCondLst>
                                    <p:cond delay="250"/>
                                  </p:stCondLst>
                                  <p:childTnLst>
                                    <p:set>
                                      <p:cBhvr>
                                        <p:cTn id="35" dur="1" fill="hold">
                                          <p:stCondLst>
                                            <p:cond delay="0"/>
                                          </p:stCondLst>
                                        </p:cTn>
                                        <p:tgtEl>
                                          <p:spTgt spid="5813"/>
                                        </p:tgtEl>
                                        <p:attrNameLst>
                                          <p:attrName>style.visibility</p:attrName>
                                        </p:attrNameLst>
                                      </p:cBhvr>
                                      <p:to>
                                        <p:strVal val="visible"/>
                                      </p:to>
                                    </p:set>
                                    <p:animEffect transition="in" filter="fade">
                                      <p:cBhvr>
                                        <p:cTn id="36" dur="500"/>
                                        <p:tgtEl>
                                          <p:spTgt spid="5813"/>
                                        </p:tgtEl>
                                      </p:cBhvr>
                                    </p:animEffect>
                                  </p:childTnLst>
                                </p:cTn>
                              </p:par>
                              <p:par>
                                <p:cTn id="37" presetID="10" presetClass="entr" presetSubtype="0" fill="hold" nodeType="withEffect">
                                  <p:stCondLst>
                                    <p:cond delay="250"/>
                                  </p:stCondLst>
                                  <p:childTnLst>
                                    <p:set>
                                      <p:cBhvr>
                                        <p:cTn id="38" dur="1" fill="hold">
                                          <p:stCondLst>
                                            <p:cond delay="0"/>
                                          </p:stCondLst>
                                        </p:cTn>
                                        <p:tgtEl>
                                          <p:spTgt spid="5814"/>
                                        </p:tgtEl>
                                        <p:attrNameLst>
                                          <p:attrName>style.visibility</p:attrName>
                                        </p:attrNameLst>
                                      </p:cBhvr>
                                      <p:to>
                                        <p:strVal val="visible"/>
                                      </p:to>
                                    </p:set>
                                    <p:animEffect transition="in" filter="fade">
                                      <p:cBhvr>
                                        <p:cTn id="39" dur="500"/>
                                        <p:tgtEl>
                                          <p:spTgt spid="5814"/>
                                        </p:tgtEl>
                                      </p:cBhvr>
                                    </p:animEffect>
                                  </p:childTnLst>
                                </p:cTn>
                              </p:par>
                            </p:childTnLst>
                          </p:cTn>
                        </p:par>
                        <p:par>
                          <p:cTn id="40" fill="hold">
                            <p:stCondLst>
                              <p:cond delay="2750"/>
                            </p:stCondLst>
                            <p:childTnLst>
                              <p:par>
                                <p:cTn id="41" presetID="10" presetClass="entr" presetSubtype="0" fill="hold" nodeType="afterEffect">
                                  <p:stCondLst>
                                    <p:cond delay="0"/>
                                  </p:stCondLst>
                                  <p:childTnLst>
                                    <p:set>
                                      <p:cBhvr>
                                        <p:cTn id="42" dur="1" fill="hold">
                                          <p:stCondLst>
                                            <p:cond delay="0"/>
                                          </p:stCondLst>
                                        </p:cTn>
                                        <p:tgtEl>
                                          <p:spTgt spid="5608"/>
                                        </p:tgtEl>
                                        <p:attrNameLst>
                                          <p:attrName>style.visibility</p:attrName>
                                        </p:attrNameLst>
                                      </p:cBhvr>
                                      <p:to>
                                        <p:strVal val="visible"/>
                                      </p:to>
                                    </p:set>
                                    <p:animEffect transition="in" filter="fade">
                                      <p:cBhvr>
                                        <p:cTn id="43" dur="250"/>
                                        <p:tgtEl>
                                          <p:spTgt spid="5608"/>
                                        </p:tgtEl>
                                      </p:cBhvr>
                                    </p:animEffect>
                                  </p:childTnLst>
                                </p:cTn>
                              </p:par>
                            </p:childTnLst>
                          </p:cTn>
                        </p:par>
                        <p:par>
                          <p:cTn id="44" fill="hold">
                            <p:stCondLst>
                              <p:cond delay="3000"/>
                            </p:stCondLst>
                            <p:childTnLst>
                              <p:par>
                                <p:cTn id="45" presetID="10" presetClass="entr" presetSubtype="0" fill="hold" nodeType="afterEffect">
                                  <p:stCondLst>
                                    <p:cond delay="0"/>
                                  </p:stCondLst>
                                  <p:childTnLst>
                                    <p:set>
                                      <p:cBhvr>
                                        <p:cTn id="46" dur="1" fill="hold">
                                          <p:stCondLst>
                                            <p:cond delay="0"/>
                                          </p:stCondLst>
                                        </p:cTn>
                                        <p:tgtEl>
                                          <p:spTgt spid="5701"/>
                                        </p:tgtEl>
                                        <p:attrNameLst>
                                          <p:attrName>style.visibility</p:attrName>
                                        </p:attrNameLst>
                                      </p:cBhvr>
                                      <p:to>
                                        <p:strVal val="visible"/>
                                      </p:to>
                                    </p:set>
                                    <p:animEffect transition="in" filter="fade">
                                      <p:cBhvr>
                                        <p:cTn id="47" dur="250"/>
                                        <p:tgtEl>
                                          <p:spTgt spid="5701"/>
                                        </p:tgtEl>
                                      </p:cBhvr>
                                    </p:animEffect>
                                  </p:childTnLst>
                                </p:cTn>
                              </p:par>
                            </p:childTnLst>
                          </p:cTn>
                        </p:par>
                        <p:par>
                          <p:cTn id="48" fill="hold">
                            <p:stCondLst>
                              <p:cond delay="3250"/>
                            </p:stCondLst>
                            <p:childTnLst>
                              <p:par>
                                <p:cTn id="49" presetID="10" presetClass="entr" presetSubtype="0" fill="hold" nodeType="afterEffect">
                                  <p:stCondLst>
                                    <p:cond delay="0"/>
                                  </p:stCondLst>
                                  <p:childTnLst>
                                    <p:set>
                                      <p:cBhvr>
                                        <p:cTn id="50" dur="1" fill="hold">
                                          <p:stCondLst>
                                            <p:cond delay="0"/>
                                          </p:stCondLst>
                                        </p:cTn>
                                        <p:tgtEl>
                                          <p:spTgt spid="5670"/>
                                        </p:tgtEl>
                                        <p:attrNameLst>
                                          <p:attrName>style.visibility</p:attrName>
                                        </p:attrNameLst>
                                      </p:cBhvr>
                                      <p:to>
                                        <p:strVal val="visible"/>
                                      </p:to>
                                    </p:set>
                                    <p:animEffect transition="in" filter="fade">
                                      <p:cBhvr>
                                        <p:cTn id="51" dur="250"/>
                                        <p:tgtEl>
                                          <p:spTgt spid="5670"/>
                                        </p:tgtEl>
                                      </p:cBhvr>
                                    </p:animEffect>
                                  </p:childTnLst>
                                </p:cTn>
                              </p:par>
                            </p:childTnLst>
                          </p:cTn>
                        </p:par>
                        <p:par>
                          <p:cTn id="52" fill="hold">
                            <p:stCondLst>
                              <p:cond delay="3500"/>
                            </p:stCondLst>
                            <p:childTnLst>
                              <p:par>
                                <p:cTn id="53" presetID="10" presetClass="entr" presetSubtype="0" fill="hold" nodeType="afterEffect">
                                  <p:stCondLst>
                                    <p:cond delay="0"/>
                                  </p:stCondLst>
                                  <p:childTnLst>
                                    <p:set>
                                      <p:cBhvr>
                                        <p:cTn id="54" dur="1" fill="hold">
                                          <p:stCondLst>
                                            <p:cond delay="0"/>
                                          </p:stCondLst>
                                        </p:cTn>
                                        <p:tgtEl>
                                          <p:spTgt spid="5639"/>
                                        </p:tgtEl>
                                        <p:attrNameLst>
                                          <p:attrName>style.visibility</p:attrName>
                                        </p:attrNameLst>
                                      </p:cBhvr>
                                      <p:to>
                                        <p:strVal val="visible"/>
                                      </p:to>
                                    </p:set>
                                    <p:animEffect transition="in" filter="fade">
                                      <p:cBhvr>
                                        <p:cTn id="55" dur="250"/>
                                        <p:tgtEl>
                                          <p:spTgt spid="5639"/>
                                        </p:tgtEl>
                                      </p:cBhvr>
                                    </p:animEffect>
                                  </p:childTnLst>
                                </p:cTn>
                              </p:par>
                            </p:childTnLst>
                          </p:cTn>
                        </p:par>
                        <p:par>
                          <p:cTn id="56" fill="hold">
                            <p:stCondLst>
                              <p:cond delay="3750"/>
                            </p:stCondLst>
                            <p:childTnLst>
                              <p:par>
                                <p:cTn id="57" presetID="10" presetClass="entr" presetSubtype="0" fill="hold" nodeType="afterEffect">
                                  <p:stCondLst>
                                    <p:cond delay="0"/>
                                  </p:stCondLst>
                                  <p:childTnLst>
                                    <p:set>
                                      <p:cBhvr>
                                        <p:cTn id="58" dur="1" fill="hold">
                                          <p:stCondLst>
                                            <p:cond delay="0"/>
                                          </p:stCondLst>
                                        </p:cTn>
                                        <p:tgtEl>
                                          <p:spTgt spid="5732"/>
                                        </p:tgtEl>
                                        <p:attrNameLst>
                                          <p:attrName>style.visibility</p:attrName>
                                        </p:attrNameLst>
                                      </p:cBhvr>
                                      <p:to>
                                        <p:strVal val="visible"/>
                                      </p:to>
                                    </p:set>
                                    <p:animEffect transition="in" filter="fade">
                                      <p:cBhvr>
                                        <p:cTn id="59" dur="250"/>
                                        <p:tgtEl>
                                          <p:spTgt spid="5732"/>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5763"/>
                                        </p:tgtEl>
                                        <p:attrNameLst>
                                          <p:attrName>style.visibility</p:attrName>
                                        </p:attrNameLst>
                                      </p:cBhvr>
                                      <p:to>
                                        <p:strVal val="visible"/>
                                      </p:to>
                                    </p:set>
                                    <p:animEffect transition="in" filter="fade">
                                      <p:cBhvr>
                                        <p:cTn id="63" dur="250"/>
                                        <p:tgtEl>
                                          <p:spTgt spid="5763"/>
                                        </p:tgtEl>
                                      </p:cBhvr>
                                    </p:animEffect>
                                  </p:childTnLst>
                                </p:cTn>
                              </p:par>
                            </p:childTnLst>
                          </p:cTn>
                        </p:par>
                        <p:par>
                          <p:cTn id="64" fill="hold">
                            <p:stCondLst>
                              <p:cond delay="4250"/>
                            </p:stCondLst>
                            <p:childTnLst>
                              <p:par>
                                <p:cTn id="65" presetID="10" presetClass="entr" presetSubtype="0" fill="hold" nodeType="afterEffect">
                                  <p:stCondLst>
                                    <p:cond delay="0"/>
                                  </p:stCondLst>
                                  <p:childTnLst>
                                    <p:set>
                                      <p:cBhvr>
                                        <p:cTn id="66" dur="1" fill="hold">
                                          <p:stCondLst>
                                            <p:cond delay="0"/>
                                          </p:stCondLst>
                                        </p:cTn>
                                        <p:tgtEl>
                                          <p:spTgt spid="5585"/>
                                        </p:tgtEl>
                                        <p:attrNameLst>
                                          <p:attrName>style.visibility</p:attrName>
                                        </p:attrNameLst>
                                      </p:cBhvr>
                                      <p:to>
                                        <p:strVal val="visible"/>
                                      </p:to>
                                    </p:set>
                                    <p:animEffect transition="in" filter="fade">
                                      <p:cBhvr>
                                        <p:cTn id="67" dur="500"/>
                                        <p:tgtEl>
                                          <p:spTgt spid="5585"/>
                                        </p:tgtEl>
                                      </p:cBhvr>
                                    </p:animEffect>
                                  </p:childTnLst>
                                </p:cTn>
                              </p:par>
                              <p:par>
                                <p:cTn id="68" presetID="10" presetClass="entr" presetSubtype="0" fill="hold" nodeType="withEffect">
                                  <p:stCondLst>
                                    <p:cond delay="0"/>
                                  </p:stCondLst>
                                  <p:childTnLst>
                                    <p:set>
                                      <p:cBhvr>
                                        <p:cTn id="69" dur="1" fill="hold">
                                          <p:stCondLst>
                                            <p:cond delay="0"/>
                                          </p:stCondLst>
                                        </p:cTn>
                                        <p:tgtEl>
                                          <p:spTgt spid="5794"/>
                                        </p:tgtEl>
                                        <p:attrNameLst>
                                          <p:attrName>style.visibility</p:attrName>
                                        </p:attrNameLst>
                                      </p:cBhvr>
                                      <p:to>
                                        <p:strVal val="visible"/>
                                      </p:to>
                                    </p:set>
                                    <p:animEffect transition="in" filter="fade">
                                      <p:cBhvr>
                                        <p:cTn id="70" dur="500"/>
                                        <p:tgtEl>
                                          <p:spTgt spid="5794"/>
                                        </p:tgtEl>
                                      </p:cBhvr>
                                    </p:animEffect>
                                  </p:childTnLst>
                                </p:cTn>
                              </p:par>
                              <p:par>
                                <p:cTn id="71" presetID="10" presetClass="entr" presetSubtype="0" fill="hold" nodeType="withEffect">
                                  <p:stCondLst>
                                    <p:cond delay="0"/>
                                  </p:stCondLst>
                                  <p:childTnLst>
                                    <p:set>
                                      <p:cBhvr>
                                        <p:cTn id="72" dur="1" fill="hold">
                                          <p:stCondLst>
                                            <p:cond delay="0"/>
                                          </p:stCondLst>
                                        </p:cTn>
                                        <p:tgtEl>
                                          <p:spTgt spid="5582"/>
                                        </p:tgtEl>
                                        <p:attrNameLst>
                                          <p:attrName>style.visibility</p:attrName>
                                        </p:attrNameLst>
                                      </p:cBhvr>
                                      <p:to>
                                        <p:strVal val="visible"/>
                                      </p:to>
                                    </p:set>
                                    <p:animEffect transition="in" filter="fade">
                                      <p:cBhvr>
                                        <p:cTn id="73" dur="500"/>
                                        <p:tgtEl>
                                          <p:spTgt spid="5582"/>
                                        </p:tgtEl>
                                      </p:cBhvr>
                                    </p:animEffect>
                                  </p:childTnLst>
                                </p:cTn>
                              </p:par>
                              <p:par>
                                <p:cTn id="74" presetID="10" presetClass="entr" presetSubtype="0" fill="hold" nodeType="withEffect">
                                  <p:stCondLst>
                                    <p:cond delay="0"/>
                                  </p:stCondLst>
                                  <p:childTnLst>
                                    <p:set>
                                      <p:cBhvr>
                                        <p:cTn id="75" dur="1" fill="hold">
                                          <p:stCondLst>
                                            <p:cond delay="0"/>
                                          </p:stCondLst>
                                        </p:cTn>
                                        <p:tgtEl>
                                          <p:spTgt spid="5583"/>
                                        </p:tgtEl>
                                        <p:attrNameLst>
                                          <p:attrName>style.visibility</p:attrName>
                                        </p:attrNameLst>
                                      </p:cBhvr>
                                      <p:to>
                                        <p:strVal val="visible"/>
                                      </p:to>
                                    </p:set>
                                    <p:animEffect transition="in" filter="fade">
                                      <p:cBhvr>
                                        <p:cTn id="76" dur="500"/>
                                        <p:tgtEl>
                                          <p:spTgt spid="5583"/>
                                        </p:tgtEl>
                                      </p:cBhvr>
                                    </p:animEffect>
                                  </p:childTnLst>
                                </p:cTn>
                              </p:par>
                              <p:par>
                                <p:cTn id="77" presetID="10" presetClass="entr" presetSubtype="0" fill="hold" nodeType="withEffect">
                                  <p:stCondLst>
                                    <p:cond delay="0"/>
                                  </p:stCondLst>
                                  <p:childTnLst>
                                    <p:set>
                                      <p:cBhvr>
                                        <p:cTn id="78" dur="1" fill="hold">
                                          <p:stCondLst>
                                            <p:cond delay="0"/>
                                          </p:stCondLst>
                                        </p:cTn>
                                        <p:tgtEl>
                                          <p:spTgt spid="5584"/>
                                        </p:tgtEl>
                                        <p:attrNameLst>
                                          <p:attrName>style.visibility</p:attrName>
                                        </p:attrNameLst>
                                      </p:cBhvr>
                                      <p:to>
                                        <p:strVal val="visible"/>
                                      </p:to>
                                    </p:set>
                                    <p:animEffect transition="in" filter="fade">
                                      <p:cBhvr>
                                        <p:cTn id="79" dur="500"/>
                                        <p:tgtEl>
                                          <p:spTgt spid="5584"/>
                                        </p:tgtEl>
                                      </p:cBhvr>
                                    </p:animEffect>
                                  </p:childTnLst>
                                </p:cTn>
                              </p:par>
                              <p:par>
                                <p:cTn id="80" presetID="10" presetClass="entr" presetSubtype="0" fill="hold" nodeType="withEffect">
                                  <p:stCondLst>
                                    <p:cond delay="0"/>
                                  </p:stCondLst>
                                  <p:childTnLst>
                                    <p:set>
                                      <p:cBhvr>
                                        <p:cTn id="81" dur="1" fill="hold">
                                          <p:stCondLst>
                                            <p:cond delay="0"/>
                                          </p:stCondLst>
                                        </p:cTn>
                                        <p:tgtEl>
                                          <p:spTgt spid="5581"/>
                                        </p:tgtEl>
                                        <p:attrNameLst>
                                          <p:attrName>style.visibility</p:attrName>
                                        </p:attrNameLst>
                                      </p:cBhvr>
                                      <p:to>
                                        <p:strVal val="visible"/>
                                      </p:to>
                                    </p:set>
                                    <p:animEffect transition="in" filter="fade">
                                      <p:cBhvr>
                                        <p:cTn id="82" dur="500"/>
                                        <p:tgtEl>
                                          <p:spTgt spid="5581"/>
                                        </p:tgtEl>
                                      </p:cBhvr>
                                    </p:animEffect>
                                  </p:childTnLst>
                                </p:cTn>
                              </p:par>
                            </p:childTnLst>
                          </p:cTn>
                        </p:par>
                        <p:par>
                          <p:cTn id="83" fill="hold">
                            <p:stCondLst>
                              <p:cond delay="4750"/>
                            </p:stCondLst>
                            <p:childTnLst>
                              <p:par>
                                <p:cTn id="84" presetID="10" presetClass="entr" presetSubtype="0" fill="hold" nodeType="afterEffect">
                                  <p:stCondLst>
                                    <p:cond delay="0"/>
                                  </p:stCondLst>
                                  <p:childTnLst>
                                    <p:set>
                                      <p:cBhvr>
                                        <p:cTn id="85" dur="1" fill="hold">
                                          <p:stCondLst>
                                            <p:cond delay="0"/>
                                          </p:stCondLst>
                                        </p:cTn>
                                        <p:tgtEl>
                                          <p:spTgt spid="5809"/>
                                        </p:tgtEl>
                                        <p:attrNameLst>
                                          <p:attrName>style.visibility</p:attrName>
                                        </p:attrNameLst>
                                      </p:cBhvr>
                                      <p:to>
                                        <p:strVal val="visible"/>
                                      </p:to>
                                    </p:set>
                                    <p:animEffect transition="in" filter="fade">
                                      <p:cBhvr>
                                        <p:cTn id="86" dur="500"/>
                                        <p:tgtEl>
                                          <p:spTgt spid="5809"/>
                                        </p:tgtEl>
                                      </p:cBhvr>
                                    </p:animEffect>
                                  </p:childTnLst>
                                </p:cTn>
                              </p:par>
                              <p:par>
                                <p:cTn id="87" presetID="10" presetClass="entr" presetSubtype="0" fill="hold" nodeType="withEffect">
                                  <p:stCondLst>
                                    <p:cond delay="0"/>
                                  </p:stCondLst>
                                  <p:childTnLst>
                                    <p:set>
                                      <p:cBhvr>
                                        <p:cTn id="88" dur="1" fill="hold">
                                          <p:stCondLst>
                                            <p:cond delay="0"/>
                                          </p:stCondLst>
                                        </p:cTn>
                                        <p:tgtEl>
                                          <p:spTgt spid="5808"/>
                                        </p:tgtEl>
                                        <p:attrNameLst>
                                          <p:attrName>style.visibility</p:attrName>
                                        </p:attrNameLst>
                                      </p:cBhvr>
                                      <p:to>
                                        <p:strVal val="visible"/>
                                      </p:to>
                                    </p:set>
                                    <p:animEffect transition="in" filter="fade">
                                      <p:cBhvr>
                                        <p:cTn id="89" dur="500"/>
                                        <p:tgtEl>
                                          <p:spTgt spid="5808"/>
                                        </p:tgtEl>
                                      </p:cBhvr>
                                    </p:animEffect>
                                  </p:childTnLst>
                                </p:cTn>
                              </p:par>
                              <p:par>
                                <p:cTn id="90" presetID="10" presetClass="entr" presetSubtype="0" fill="hold" nodeType="withEffect">
                                  <p:stCondLst>
                                    <p:cond delay="0"/>
                                  </p:stCondLst>
                                  <p:childTnLst>
                                    <p:set>
                                      <p:cBhvr>
                                        <p:cTn id="91" dur="1" fill="hold">
                                          <p:stCondLst>
                                            <p:cond delay="0"/>
                                          </p:stCondLst>
                                        </p:cTn>
                                        <p:tgtEl>
                                          <p:spTgt spid="5807"/>
                                        </p:tgtEl>
                                        <p:attrNameLst>
                                          <p:attrName>style.visibility</p:attrName>
                                        </p:attrNameLst>
                                      </p:cBhvr>
                                      <p:to>
                                        <p:strVal val="visible"/>
                                      </p:to>
                                    </p:set>
                                    <p:animEffect transition="in" filter="fade">
                                      <p:cBhvr>
                                        <p:cTn id="92" dur="500"/>
                                        <p:tgtEl>
                                          <p:spTgt spid="5807"/>
                                        </p:tgtEl>
                                      </p:cBhvr>
                                    </p:animEffect>
                                  </p:childTnLst>
                                </p:cTn>
                              </p:par>
                              <p:par>
                                <p:cTn id="93" presetID="10" presetClass="entr" presetSubtype="0" fill="hold" nodeType="withEffect">
                                  <p:stCondLst>
                                    <p:cond delay="0"/>
                                  </p:stCondLst>
                                  <p:childTnLst>
                                    <p:set>
                                      <p:cBhvr>
                                        <p:cTn id="94" dur="1" fill="hold">
                                          <p:stCondLst>
                                            <p:cond delay="0"/>
                                          </p:stCondLst>
                                        </p:cTn>
                                        <p:tgtEl>
                                          <p:spTgt spid="5600"/>
                                        </p:tgtEl>
                                        <p:attrNameLst>
                                          <p:attrName>style.visibility</p:attrName>
                                        </p:attrNameLst>
                                      </p:cBhvr>
                                      <p:to>
                                        <p:strVal val="visible"/>
                                      </p:to>
                                    </p:set>
                                    <p:animEffect transition="in" filter="fade">
                                      <p:cBhvr>
                                        <p:cTn id="95" dur="500"/>
                                        <p:tgtEl>
                                          <p:spTgt spid="5600"/>
                                        </p:tgtEl>
                                      </p:cBhvr>
                                    </p:animEffect>
                                  </p:childTnLst>
                                </p:cTn>
                              </p:par>
                              <p:par>
                                <p:cTn id="96" presetID="10" presetClass="entr" presetSubtype="0" fill="hold" nodeType="withEffect">
                                  <p:stCondLst>
                                    <p:cond delay="0"/>
                                  </p:stCondLst>
                                  <p:childTnLst>
                                    <p:set>
                                      <p:cBhvr>
                                        <p:cTn id="97" dur="1" fill="hold">
                                          <p:stCondLst>
                                            <p:cond delay="0"/>
                                          </p:stCondLst>
                                        </p:cTn>
                                        <p:tgtEl>
                                          <p:spTgt spid="5601"/>
                                        </p:tgtEl>
                                        <p:attrNameLst>
                                          <p:attrName>style.visibility</p:attrName>
                                        </p:attrNameLst>
                                      </p:cBhvr>
                                      <p:to>
                                        <p:strVal val="visible"/>
                                      </p:to>
                                    </p:set>
                                    <p:animEffect transition="in" filter="fade">
                                      <p:cBhvr>
                                        <p:cTn id="98" dur="500"/>
                                        <p:tgtEl>
                                          <p:spTgt spid="5601"/>
                                        </p:tgtEl>
                                      </p:cBhvr>
                                    </p:animEffect>
                                  </p:childTnLst>
                                </p:cTn>
                              </p:par>
                              <p:par>
                                <p:cTn id="99" presetID="10" presetClass="entr" presetSubtype="0" fill="hold" nodeType="withEffect">
                                  <p:stCondLst>
                                    <p:cond delay="0"/>
                                  </p:stCondLst>
                                  <p:childTnLst>
                                    <p:set>
                                      <p:cBhvr>
                                        <p:cTn id="100" dur="1" fill="hold">
                                          <p:stCondLst>
                                            <p:cond delay="0"/>
                                          </p:stCondLst>
                                        </p:cTn>
                                        <p:tgtEl>
                                          <p:spTgt spid="5810"/>
                                        </p:tgtEl>
                                        <p:attrNameLst>
                                          <p:attrName>style.visibility</p:attrName>
                                        </p:attrNameLst>
                                      </p:cBhvr>
                                      <p:to>
                                        <p:strVal val="visible"/>
                                      </p:to>
                                    </p:set>
                                    <p:animEffect transition="in" filter="fade">
                                      <p:cBhvr>
                                        <p:cTn id="101" dur="500"/>
                                        <p:tgtEl>
                                          <p:spTgt spid="5810"/>
                                        </p:tgtEl>
                                      </p:cBhvr>
                                    </p:animEffect>
                                  </p:childTnLst>
                                </p:cTn>
                              </p:par>
                            </p:childTnLst>
                          </p:cTn>
                        </p:par>
                        <p:par>
                          <p:cTn id="102" fill="hold">
                            <p:stCondLst>
                              <p:cond delay="5250"/>
                            </p:stCondLst>
                            <p:childTnLst>
                              <p:par>
                                <p:cTn id="103" presetID="10" presetClass="entr" presetSubtype="0" fill="hold" nodeType="afterEffect">
                                  <p:stCondLst>
                                    <p:cond delay="0"/>
                                  </p:stCondLst>
                                  <p:childTnLst>
                                    <p:set>
                                      <p:cBhvr>
                                        <p:cTn id="104" dur="1" fill="hold">
                                          <p:stCondLst>
                                            <p:cond delay="0"/>
                                          </p:stCondLst>
                                        </p:cTn>
                                        <p:tgtEl>
                                          <p:spTgt spid="5812"/>
                                        </p:tgtEl>
                                        <p:attrNameLst>
                                          <p:attrName>style.visibility</p:attrName>
                                        </p:attrNameLst>
                                      </p:cBhvr>
                                      <p:to>
                                        <p:strVal val="visible"/>
                                      </p:to>
                                    </p:set>
                                    <p:animEffect transition="in" filter="fade">
                                      <p:cBhvr>
                                        <p:cTn id="105" dur="500"/>
                                        <p:tgtEl>
                                          <p:spTgt spid="5812"/>
                                        </p:tgtEl>
                                      </p:cBhvr>
                                    </p:animEffect>
                                  </p:childTnLst>
                                </p:cTn>
                              </p:par>
                            </p:childTnLst>
                          </p:cTn>
                        </p:par>
                        <p:par>
                          <p:cTn id="106" fill="hold">
                            <p:stCondLst>
                              <p:cond delay="5750"/>
                            </p:stCondLst>
                            <p:childTnLst>
                              <p:par>
                                <p:cTn id="107" presetID="10" presetClass="entr" presetSubtype="0" fill="hold" nodeType="afterEffect">
                                  <p:stCondLst>
                                    <p:cond delay="0"/>
                                  </p:stCondLst>
                                  <p:childTnLst>
                                    <p:set>
                                      <p:cBhvr>
                                        <p:cTn id="108" dur="1" fill="hold">
                                          <p:stCondLst>
                                            <p:cond delay="0"/>
                                          </p:stCondLst>
                                        </p:cTn>
                                        <p:tgtEl>
                                          <p:spTgt spid="5816"/>
                                        </p:tgtEl>
                                        <p:attrNameLst>
                                          <p:attrName>style.visibility</p:attrName>
                                        </p:attrNameLst>
                                      </p:cBhvr>
                                      <p:to>
                                        <p:strVal val="visible"/>
                                      </p:to>
                                    </p:set>
                                    <p:animEffect transition="in" filter="fade">
                                      <p:cBhvr>
                                        <p:cTn id="109" dur="500"/>
                                        <p:tgtEl>
                                          <p:spTgt spid="5816"/>
                                        </p:tgtEl>
                                      </p:cBhvr>
                                    </p:animEffect>
                                  </p:childTnLst>
                                </p:cTn>
                              </p:par>
                              <p:par>
                                <p:cTn id="110" presetID="10" presetClass="entr" presetSubtype="0" fill="hold" nodeType="withEffect">
                                  <p:stCondLst>
                                    <p:cond delay="0"/>
                                  </p:stCondLst>
                                  <p:childTnLst>
                                    <p:set>
                                      <p:cBhvr>
                                        <p:cTn id="111" dur="1" fill="hold">
                                          <p:stCondLst>
                                            <p:cond delay="0"/>
                                          </p:stCondLst>
                                        </p:cTn>
                                        <p:tgtEl>
                                          <p:spTgt spid="5815"/>
                                        </p:tgtEl>
                                        <p:attrNameLst>
                                          <p:attrName>style.visibility</p:attrName>
                                        </p:attrNameLst>
                                      </p:cBhvr>
                                      <p:to>
                                        <p:strVal val="visible"/>
                                      </p:to>
                                    </p:set>
                                    <p:animEffect transition="in" filter="fade">
                                      <p:cBhvr>
                                        <p:cTn id="112" dur="500"/>
                                        <p:tgtEl>
                                          <p:spTgt spid="5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21"/>
        <p:cNvGrpSpPr/>
        <p:nvPr/>
      </p:nvGrpSpPr>
      <p:grpSpPr>
        <a:xfrm>
          <a:off x="0" y="0"/>
          <a:ext cx="0" cy="0"/>
          <a:chOff x="0" y="0"/>
          <a:chExt cx="0" cy="0"/>
        </a:xfrm>
      </p:grpSpPr>
      <p:sp>
        <p:nvSpPr>
          <p:cNvPr id="5822" name="Google Shape;5822;p23"/>
          <p:cNvSpPr/>
          <p:nvPr/>
        </p:nvSpPr>
        <p:spPr>
          <a:xfrm>
            <a:off x="616505" y="1600200"/>
            <a:ext cx="3557526" cy="4637314"/>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23" name="Google Shape;5823;p23"/>
          <p:cNvSpPr/>
          <p:nvPr/>
        </p:nvSpPr>
        <p:spPr>
          <a:xfrm>
            <a:off x="4331715" y="1600200"/>
            <a:ext cx="3557526" cy="4637314"/>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24" name="Google Shape;5824;p23"/>
          <p:cNvSpPr/>
          <p:nvPr/>
        </p:nvSpPr>
        <p:spPr>
          <a:xfrm>
            <a:off x="8046926" y="1600201"/>
            <a:ext cx="3557526" cy="4637314"/>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25" name="Google Shape;5825;p2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Improved Flexibility, Operations and Uptime for Stretched Clusters</a:t>
            </a:r>
            <a:endParaRPr/>
          </a:p>
        </p:txBody>
      </p:sp>
      <p:sp>
        <p:nvSpPr>
          <p:cNvPr id="5826" name="Google Shape;5826;p23"/>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Support for vSAN storage clusters and new site maintenance and site takeover capabilities</a:t>
            </a:r>
            <a:endParaRPr/>
          </a:p>
        </p:txBody>
      </p:sp>
      <p:sp>
        <p:nvSpPr>
          <p:cNvPr id="5827" name="Google Shape;5827;p23"/>
          <p:cNvSpPr txBox="1"/>
          <p:nvPr/>
        </p:nvSpPr>
        <p:spPr>
          <a:xfrm>
            <a:off x="4509484" y="5399793"/>
            <a:ext cx="3201988" cy="692852"/>
          </a:xfrm>
          <a:prstGeom prst="rect">
            <a:avLst/>
          </a:prstGeom>
          <a:noFill/>
          <a:ln>
            <a:noFill/>
          </a:ln>
        </p:spPr>
        <p:txBody>
          <a:bodyPr spcFirstLastPara="1" wrap="square" lIns="91425" tIns="45700" rIns="91425" bIns="45700" anchor="t" anchorCtr="0">
            <a:noAutofit/>
          </a:bodyPr>
          <a:lstStyle/>
          <a:p>
            <a:pPr marL="0" marR="0" lvl="0" indent="-80010" algn="ctr" rtl="0">
              <a:lnSpc>
                <a:spcPct val="100000"/>
              </a:lnSpc>
              <a:spcBef>
                <a:spcPts val="0"/>
              </a:spcBef>
              <a:spcAft>
                <a:spcPts val="0"/>
              </a:spcAft>
              <a:buClr>
                <a:srgbClr val="666666"/>
              </a:buClr>
              <a:buSzPts val="1260"/>
              <a:buFont typeface="Arial"/>
              <a:buChar char="​"/>
            </a:pPr>
            <a:r>
              <a:rPr lang="en-US" sz="1400">
                <a:solidFill>
                  <a:schemeClr val="accent2"/>
                </a:solidFill>
                <a:latin typeface="Arial"/>
                <a:ea typeface="Arial"/>
                <a:cs typeface="Arial"/>
                <a:sym typeface="Arial"/>
              </a:rPr>
              <a:t>Easily place an entire site into maintenance mode</a:t>
            </a:r>
            <a:endParaRPr/>
          </a:p>
        </p:txBody>
      </p:sp>
      <p:sp>
        <p:nvSpPr>
          <p:cNvPr id="5828" name="Google Shape;5828;p23"/>
          <p:cNvSpPr txBox="1"/>
          <p:nvPr/>
        </p:nvSpPr>
        <p:spPr>
          <a:xfrm>
            <a:off x="8224695" y="5399793"/>
            <a:ext cx="3201988" cy="692852"/>
          </a:xfrm>
          <a:prstGeom prst="rect">
            <a:avLst/>
          </a:prstGeom>
          <a:noFill/>
          <a:ln>
            <a:noFill/>
          </a:ln>
        </p:spPr>
        <p:txBody>
          <a:bodyPr spcFirstLastPara="1" wrap="square" lIns="91425" tIns="45700" rIns="91425" bIns="45700" anchor="t" anchorCtr="0">
            <a:noAutofit/>
          </a:bodyPr>
          <a:lstStyle/>
          <a:p>
            <a:pPr marL="0" marR="0" lvl="0" indent="-80010" algn="ctr" rtl="0">
              <a:lnSpc>
                <a:spcPct val="100000"/>
              </a:lnSpc>
              <a:spcBef>
                <a:spcPts val="0"/>
              </a:spcBef>
              <a:spcAft>
                <a:spcPts val="0"/>
              </a:spcAft>
              <a:buClr>
                <a:srgbClr val="666666"/>
              </a:buClr>
              <a:buSzPts val="1260"/>
              <a:buFont typeface="Arial"/>
              <a:buChar char="​"/>
            </a:pPr>
            <a:r>
              <a:rPr lang="en-US" sz="1400">
                <a:solidFill>
                  <a:schemeClr val="accent2"/>
                </a:solidFill>
                <a:latin typeface="Arial"/>
                <a:ea typeface="Arial"/>
                <a:cs typeface="Arial"/>
                <a:sym typeface="Arial"/>
              </a:rPr>
              <a:t>Self-service way to regain site availability after a severe outage</a:t>
            </a:r>
            <a:endParaRPr/>
          </a:p>
          <a:p>
            <a:pPr marL="0" marR="0" lvl="0" indent="0" algn="ctr" rtl="0">
              <a:lnSpc>
                <a:spcPct val="100000"/>
              </a:lnSpc>
              <a:spcBef>
                <a:spcPts val="600"/>
              </a:spcBef>
              <a:spcAft>
                <a:spcPts val="0"/>
              </a:spcAft>
              <a:buClr>
                <a:srgbClr val="666666"/>
              </a:buClr>
              <a:buSzPts val="1260"/>
              <a:buFont typeface="Arial"/>
              <a:buNone/>
            </a:pPr>
            <a:endParaRPr sz="1400">
              <a:solidFill>
                <a:schemeClr val="accent2"/>
              </a:solidFill>
              <a:latin typeface="Arial"/>
              <a:ea typeface="Arial"/>
              <a:cs typeface="Arial"/>
              <a:sym typeface="Arial"/>
            </a:endParaRPr>
          </a:p>
        </p:txBody>
      </p:sp>
      <p:sp>
        <p:nvSpPr>
          <p:cNvPr id="5829" name="Google Shape;5829;p23"/>
          <p:cNvSpPr/>
          <p:nvPr/>
        </p:nvSpPr>
        <p:spPr>
          <a:xfrm>
            <a:off x="715758" y="1800884"/>
            <a:ext cx="3359020"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a:solidFill>
                  <a:schemeClr val="dk2"/>
                </a:solidFill>
                <a:latin typeface="Arial"/>
                <a:ea typeface="Arial"/>
                <a:cs typeface="Arial"/>
                <a:sym typeface="Arial"/>
              </a:rPr>
              <a:t>Stretched vSphere and vSAN storage clusters</a:t>
            </a:r>
            <a:endParaRPr/>
          </a:p>
        </p:txBody>
      </p:sp>
      <p:sp>
        <p:nvSpPr>
          <p:cNvPr id="5830" name="Google Shape;5830;p23"/>
          <p:cNvSpPr/>
          <p:nvPr/>
        </p:nvSpPr>
        <p:spPr>
          <a:xfrm>
            <a:off x="4430968" y="1800884"/>
            <a:ext cx="3359020"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a:solidFill>
                  <a:schemeClr val="dk2"/>
                </a:solidFill>
                <a:latin typeface="Arial"/>
                <a:ea typeface="Arial"/>
                <a:cs typeface="Arial"/>
                <a:sym typeface="Arial"/>
              </a:rPr>
              <a:t>Stretched cluster</a:t>
            </a:r>
            <a:br>
              <a:rPr lang="en-US" sz="1800">
                <a:solidFill>
                  <a:schemeClr val="dk2"/>
                </a:solidFill>
                <a:latin typeface="Arial"/>
                <a:ea typeface="Arial"/>
                <a:cs typeface="Arial"/>
                <a:sym typeface="Arial"/>
              </a:rPr>
            </a:br>
            <a:r>
              <a:rPr lang="en-US" sz="1800">
                <a:solidFill>
                  <a:schemeClr val="dk2"/>
                </a:solidFill>
                <a:latin typeface="Arial"/>
                <a:ea typeface="Arial"/>
                <a:cs typeface="Arial"/>
                <a:sym typeface="Arial"/>
              </a:rPr>
              <a:t>site-wide maintenance mode</a:t>
            </a:r>
            <a:endParaRPr/>
          </a:p>
        </p:txBody>
      </p:sp>
      <p:sp>
        <p:nvSpPr>
          <p:cNvPr id="5831" name="Google Shape;5831;p23"/>
          <p:cNvSpPr/>
          <p:nvPr/>
        </p:nvSpPr>
        <p:spPr>
          <a:xfrm>
            <a:off x="8146179" y="1800884"/>
            <a:ext cx="3359020"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a:solidFill>
                  <a:schemeClr val="dk2"/>
                </a:solidFill>
                <a:latin typeface="Arial"/>
                <a:ea typeface="Arial"/>
                <a:cs typeface="Arial"/>
                <a:sym typeface="Arial"/>
              </a:rPr>
              <a:t>Stretched cluster</a:t>
            </a:r>
            <a:br>
              <a:rPr lang="en-US" sz="1800">
                <a:solidFill>
                  <a:schemeClr val="dk2"/>
                </a:solidFill>
                <a:latin typeface="Arial"/>
                <a:ea typeface="Arial"/>
                <a:cs typeface="Arial"/>
                <a:sym typeface="Arial"/>
              </a:rPr>
            </a:br>
            <a:r>
              <a:rPr lang="en-US" sz="1800">
                <a:solidFill>
                  <a:schemeClr val="dk2"/>
                </a:solidFill>
                <a:latin typeface="Arial"/>
                <a:ea typeface="Arial"/>
                <a:cs typeface="Arial"/>
                <a:sym typeface="Arial"/>
              </a:rPr>
              <a:t>manual site takeover</a:t>
            </a:r>
            <a:endParaRPr/>
          </a:p>
        </p:txBody>
      </p:sp>
      <p:grpSp>
        <p:nvGrpSpPr>
          <p:cNvPr id="5832" name="Google Shape;5832;p23"/>
          <p:cNvGrpSpPr/>
          <p:nvPr/>
        </p:nvGrpSpPr>
        <p:grpSpPr>
          <a:xfrm>
            <a:off x="939799" y="2740231"/>
            <a:ext cx="2850459" cy="2312663"/>
            <a:chOff x="939799" y="2740231"/>
            <a:chExt cx="2850459" cy="2312663"/>
          </a:xfrm>
        </p:grpSpPr>
        <p:sp>
          <p:nvSpPr>
            <p:cNvPr id="5833" name="Google Shape;5833;p23"/>
            <p:cNvSpPr/>
            <p:nvPr/>
          </p:nvSpPr>
          <p:spPr>
            <a:xfrm>
              <a:off x="2621357" y="2976446"/>
              <a:ext cx="1168901" cy="207644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5834" name="Google Shape;5834;p23"/>
            <p:cNvSpPr/>
            <p:nvPr/>
          </p:nvSpPr>
          <p:spPr>
            <a:xfrm>
              <a:off x="939799" y="2976446"/>
              <a:ext cx="1168901" cy="207644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5835" name="Google Shape;5835;p23"/>
            <p:cNvSpPr/>
            <p:nvPr/>
          </p:nvSpPr>
          <p:spPr>
            <a:xfrm>
              <a:off x="991485" y="3060074"/>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36" name="Google Shape;5836;p23"/>
            <p:cNvSpPr/>
            <p:nvPr/>
          </p:nvSpPr>
          <p:spPr>
            <a:xfrm>
              <a:off x="1555322" y="3060074"/>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37" name="Google Shape;5837;p23"/>
            <p:cNvSpPr/>
            <p:nvPr/>
          </p:nvSpPr>
          <p:spPr>
            <a:xfrm>
              <a:off x="2672222" y="3060074"/>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38" name="Google Shape;5838;p23"/>
            <p:cNvSpPr/>
            <p:nvPr/>
          </p:nvSpPr>
          <p:spPr>
            <a:xfrm>
              <a:off x="3236059" y="3060074"/>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cxnSp>
          <p:nvCxnSpPr>
            <p:cNvPr id="5839" name="Google Shape;5839;p23"/>
            <p:cNvCxnSpPr/>
            <p:nvPr/>
          </p:nvCxnSpPr>
          <p:spPr>
            <a:xfrm rot="10800000">
              <a:off x="2361589" y="3496776"/>
              <a:ext cx="0" cy="240122"/>
            </a:xfrm>
            <a:prstGeom prst="straightConnector1">
              <a:avLst/>
            </a:prstGeom>
            <a:noFill/>
            <a:ln w="25400" cap="flat" cmpd="sng">
              <a:solidFill>
                <a:schemeClr val="accent2"/>
              </a:solidFill>
              <a:prstDash val="dot"/>
              <a:miter lim="800000"/>
              <a:headEnd type="diamond" w="lg" len="lg"/>
              <a:tailEnd type="none" w="sm" len="sm"/>
            </a:ln>
          </p:spPr>
        </p:cxnSp>
        <p:pic>
          <p:nvPicPr>
            <p:cNvPr id="5840" name="Google Shape;5840;p23"/>
            <p:cNvPicPr preferRelativeResize="0"/>
            <p:nvPr/>
          </p:nvPicPr>
          <p:blipFill rotWithShape="1">
            <a:blip r:embed="rId3">
              <a:alphaModFix/>
            </a:blip>
            <a:srcRect/>
            <a:stretch/>
          </p:blipFill>
          <p:spPr>
            <a:xfrm>
              <a:off x="2266384" y="3232867"/>
              <a:ext cx="190410" cy="223781"/>
            </a:xfrm>
            <a:prstGeom prst="rect">
              <a:avLst/>
            </a:prstGeom>
            <a:noFill/>
            <a:ln>
              <a:noFill/>
            </a:ln>
          </p:spPr>
        </p:pic>
        <p:grpSp>
          <p:nvGrpSpPr>
            <p:cNvPr id="5841" name="Google Shape;5841;p23"/>
            <p:cNvGrpSpPr/>
            <p:nvPr/>
          </p:nvGrpSpPr>
          <p:grpSpPr>
            <a:xfrm>
              <a:off x="991485" y="4329748"/>
              <a:ext cx="2742497" cy="184666"/>
              <a:chOff x="7950077" y="3379353"/>
              <a:chExt cx="2742497" cy="184666"/>
            </a:xfrm>
          </p:grpSpPr>
          <p:cxnSp>
            <p:nvCxnSpPr>
              <p:cNvPr id="5842" name="Google Shape;5842;p23"/>
              <p:cNvCxnSpPr/>
              <p:nvPr/>
            </p:nvCxnSpPr>
            <p:spPr>
              <a:xfrm>
                <a:off x="7954667" y="3387515"/>
                <a:ext cx="0" cy="8801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5843" name="Google Shape;5843;p23"/>
              <p:cNvCxnSpPr/>
              <p:nvPr/>
            </p:nvCxnSpPr>
            <p:spPr>
              <a:xfrm>
                <a:off x="10194651" y="3475525"/>
                <a:ext cx="497923"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5844" name="Google Shape;5844;p23"/>
              <p:cNvCxnSpPr/>
              <p:nvPr/>
            </p:nvCxnSpPr>
            <p:spPr>
              <a:xfrm>
                <a:off x="10692574" y="3387515"/>
                <a:ext cx="0" cy="8801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5845" name="Google Shape;5845;p23"/>
              <p:cNvCxnSpPr/>
              <p:nvPr/>
            </p:nvCxnSpPr>
            <p:spPr>
              <a:xfrm>
                <a:off x="7950077" y="3475525"/>
                <a:ext cx="497923"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sp>
            <p:nvSpPr>
              <p:cNvPr id="5846" name="Google Shape;5846;p23"/>
              <p:cNvSpPr txBox="1"/>
              <p:nvPr/>
            </p:nvSpPr>
            <p:spPr>
              <a:xfrm>
                <a:off x="8468752" y="3379353"/>
                <a:ext cx="1709737"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2"/>
                    </a:solidFill>
                    <a:latin typeface="Arial"/>
                    <a:ea typeface="Arial"/>
                    <a:cs typeface="Arial"/>
                    <a:sym typeface="Arial"/>
                  </a:rPr>
                  <a:t>vSAN storage cluster</a:t>
                </a:r>
                <a:endParaRPr/>
              </a:p>
            </p:txBody>
          </p:sp>
        </p:grpSp>
        <p:sp>
          <p:nvSpPr>
            <p:cNvPr id="5847" name="Google Shape;5847;p23"/>
            <p:cNvSpPr/>
            <p:nvPr/>
          </p:nvSpPr>
          <p:spPr>
            <a:xfrm>
              <a:off x="991485" y="4185459"/>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48" name="Google Shape;5848;p23"/>
            <p:cNvSpPr/>
            <p:nvPr/>
          </p:nvSpPr>
          <p:spPr>
            <a:xfrm>
              <a:off x="1555322" y="4185459"/>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49" name="Google Shape;5849;p23"/>
            <p:cNvSpPr/>
            <p:nvPr/>
          </p:nvSpPr>
          <p:spPr>
            <a:xfrm>
              <a:off x="2672222" y="4185459"/>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50" name="Google Shape;5850;p23"/>
            <p:cNvSpPr/>
            <p:nvPr/>
          </p:nvSpPr>
          <p:spPr>
            <a:xfrm>
              <a:off x="3236059" y="4185459"/>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51" name="Google Shape;5851;p23"/>
            <p:cNvSpPr/>
            <p:nvPr/>
          </p:nvSpPr>
          <p:spPr>
            <a:xfrm>
              <a:off x="991485" y="402430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52" name="Google Shape;5852;p23"/>
            <p:cNvSpPr/>
            <p:nvPr/>
          </p:nvSpPr>
          <p:spPr>
            <a:xfrm>
              <a:off x="1555322" y="402430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53" name="Google Shape;5853;p23"/>
            <p:cNvSpPr/>
            <p:nvPr/>
          </p:nvSpPr>
          <p:spPr>
            <a:xfrm>
              <a:off x="2672222" y="402430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54" name="Google Shape;5854;p23"/>
            <p:cNvSpPr/>
            <p:nvPr/>
          </p:nvSpPr>
          <p:spPr>
            <a:xfrm>
              <a:off x="3236059" y="402430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cxnSp>
          <p:nvCxnSpPr>
            <p:cNvPr id="5855" name="Google Shape;5855;p23"/>
            <p:cNvCxnSpPr/>
            <p:nvPr/>
          </p:nvCxnSpPr>
          <p:spPr>
            <a:xfrm>
              <a:off x="2174615" y="3923061"/>
              <a:ext cx="376237" cy="0"/>
            </a:xfrm>
            <a:prstGeom prst="straightConnector1">
              <a:avLst/>
            </a:prstGeom>
            <a:noFill/>
            <a:ln w="25400" cap="flat" cmpd="sng">
              <a:solidFill>
                <a:schemeClr val="dk1"/>
              </a:solidFill>
              <a:prstDash val="dot"/>
              <a:miter lim="800000"/>
              <a:headEnd type="none" w="sm" len="sm"/>
              <a:tailEnd type="none" w="sm" len="sm"/>
            </a:ln>
          </p:spPr>
        </p:cxnSp>
        <p:sp>
          <p:nvSpPr>
            <p:cNvPr id="5856" name="Google Shape;5856;p23"/>
            <p:cNvSpPr txBox="1"/>
            <p:nvPr/>
          </p:nvSpPr>
          <p:spPr>
            <a:xfrm>
              <a:off x="1489408" y="2740231"/>
              <a:ext cx="1709737"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4"/>
                  </a:solidFill>
                  <a:latin typeface="Arial"/>
                  <a:ea typeface="Arial"/>
                  <a:cs typeface="Arial"/>
                  <a:sym typeface="Arial"/>
                </a:rPr>
                <a:t>vSphere cluster</a:t>
              </a:r>
              <a:endParaRPr/>
            </a:p>
          </p:txBody>
        </p:sp>
        <p:sp>
          <p:nvSpPr>
            <p:cNvPr id="5857" name="Google Shape;5857;p23"/>
            <p:cNvSpPr txBox="1"/>
            <p:nvPr/>
          </p:nvSpPr>
          <p:spPr>
            <a:xfrm>
              <a:off x="1141212" y="4791506"/>
              <a:ext cx="737896"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Site</a:t>
              </a:r>
              <a:endParaRPr/>
            </a:p>
          </p:txBody>
        </p:sp>
        <p:sp>
          <p:nvSpPr>
            <p:cNvPr id="5858" name="Google Shape;5858;p23"/>
            <p:cNvSpPr txBox="1"/>
            <p:nvPr/>
          </p:nvSpPr>
          <p:spPr>
            <a:xfrm>
              <a:off x="2830197" y="4791506"/>
              <a:ext cx="737896"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Site</a:t>
              </a:r>
              <a:endParaRPr/>
            </a:p>
          </p:txBody>
        </p:sp>
      </p:grpSp>
      <p:grpSp>
        <p:nvGrpSpPr>
          <p:cNvPr id="5859" name="Google Shape;5859;p23"/>
          <p:cNvGrpSpPr/>
          <p:nvPr/>
        </p:nvGrpSpPr>
        <p:grpSpPr>
          <a:xfrm>
            <a:off x="4685249" y="2976446"/>
            <a:ext cx="2850459" cy="2076448"/>
            <a:chOff x="4685249" y="2976446"/>
            <a:chExt cx="2850459" cy="2076448"/>
          </a:xfrm>
        </p:grpSpPr>
        <p:sp>
          <p:nvSpPr>
            <p:cNvPr id="5860" name="Google Shape;5860;p23"/>
            <p:cNvSpPr/>
            <p:nvPr/>
          </p:nvSpPr>
          <p:spPr>
            <a:xfrm>
              <a:off x="6366807" y="2976446"/>
              <a:ext cx="1168901" cy="207644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5861" name="Google Shape;5861;p23"/>
            <p:cNvSpPr/>
            <p:nvPr/>
          </p:nvSpPr>
          <p:spPr>
            <a:xfrm>
              <a:off x="4685249" y="2976446"/>
              <a:ext cx="1168901" cy="207644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grpSp>
          <p:nvGrpSpPr>
            <p:cNvPr id="5862" name="Google Shape;5862;p23"/>
            <p:cNvGrpSpPr/>
            <p:nvPr/>
          </p:nvGrpSpPr>
          <p:grpSpPr>
            <a:xfrm>
              <a:off x="4736935" y="4329748"/>
              <a:ext cx="2742497" cy="184666"/>
              <a:chOff x="7950077" y="3379353"/>
              <a:chExt cx="2742497" cy="184666"/>
            </a:xfrm>
          </p:grpSpPr>
          <p:cxnSp>
            <p:nvCxnSpPr>
              <p:cNvPr id="5863" name="Google Shape;5863;p23"/>
              <p:cNvCxnSpPr/>
              <p:nvPr/>
            </p:nvCxnSpPr>
            <p:spPr>
              <a:xfrm>
                <a:off x="7954667" y="3387515"/>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5864" name="Google Shape;5864;p23"/>
              <p:cNvCxnSpPr/>
              <p:nvPr/>
            </p:nvCxnSpPr>
            <p:spPr>
              <a:xfrm>
                <a:off x="10065475" y="3475525"/>
                <a:ext cx="627099"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5865" name="Google Shape;5865;p23"/>
              <p:cNvCxnSpPr/>
              <p:nvPr/>
            </p:nvCxnSpPr>
            <p:spPr>
              <a:xfrm>
                <a:off x="10692574" y="3387515"/>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5866" name="Google Shape;5866;p23"/>
              <p:cNvCxnSpPr/>
              <p:nvPr/>
            </p:nvCxnSpPr>
            <p:spPr>
              <a:xfrm>
                <a:off x="7950077" y="3475525"/>
                <a:ext cx="631689"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sp>
            <p:nvSpPr>
              <p:cNvPr id="5867" name="Google Shape;5867;p23"/>
              <p:cNvSpPr txBox="1"/>
              <p:nvPr/>
            </p:nvSpPr>
            <p:spPr>
              <a:xfrm>
                <a:off x="8581766" y="3379353"/>
                <a:ext cx="1483709"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1"/>
                    </a:solidFill>
                    <a:latin typeface="Arial"/>
                    <a:ea typeface="Arial"/>
                    <a:cs typeface="Arial"/>
                    <a:sym typeface="Arial"/>
                  </a:rPr>
                  <a:t>vSAN HCI cluster</a:t>
                </a:r>
                <a:endParaRPr/>
              </a:p>
            </p:txBody>
          </p:sp>
        </p:grpSp>
        <p:sp>
          <p:nvSpPr>
            <p:cNvPr id="5868" name="Google Shape;5868;p23"/>
            <p:cNvSpPr/>
            <p:nvPr/>
          </p:nvSpPr>
          <p:spPr>
            <a:xfrm>
              <a:off x="4736935" y="4185459"/>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69" name="Google Shape;5869;p23"/>
            <p:cNvSpPr/>
            <p:nvPr/>
          </p:nvSpPr>
          <p:spPr>
            <a:xfrm>
              <a:off x="5300772" y="4185459"/>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70" name="Google Shape;5870;p23"/>
            <p:cNvSpPr/>
            <p:nvPr/>
          </p:nvSpPr>
          <p:spPr>
            <a:xfrm>
              <a:off x="6417672" y="4185459"/>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71" name="Google Shape;5871;p23"/>
            <p:cNvSpPr/>
            <p:nvPr/>
          </p:nvSpPr>
          <p:spPr>
            <a:xfrm>
              <a:off x="6981509" y="4185459"/>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72" name="Google Shape;5872;p23"/>
            <p:cNvSpPr/>
            <p:nvPr/>
          </p:nvSpPr>
          <p:spPr>
            <a:xfrm>
              <a:off x="4736935" y="402430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73" name="Google Shape;5873;p23"/>
            <p:cNvSpPr/>
            <p:nvPr/>
          </p:nvSpPr>
          <p:spPr>
            <a:xfrm>
              <a:off x="5300772" y="402430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74" name="Google Shape;5874;p23"/>
            <p:cNvSpPr/>
            <p:nvPr/>
          </p:nvSpPr>
          <p:spPr>
            <a:xfrm>
              <a:off x="6417672" y="402430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75" name="Google Shape;5875;p23"/>
            <p:cNvSpPr/>
            <p:nvPr/>
          </p:nvSpPr>
          <p:spPr>
            <a:xfrm>
              <a:off x="6981509" y="402430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cxnSp>
          <p:nvCxnSpPr>
            <p:cNvPr id="5876" name="Google Shape;5876;p23"/>
            <p:cNvCxnSpPr/>
            <p:nvPr/>
          </p:nvCxnSpPr>
          <p:spPr>
            <a:xfrm>
              <a:off x="5920065" y="4158011"/>
              <a:ext cx="376237" cy="0"/>
            </a:xfrm>
            <a:prstGeom prst="straightConnector1">
              <a:avLst/>
            </a:prstGeom>
            <a:noFill/>
            <a:ln w="25400" cap="flat" cmpd="sng">
              <a:solidFill>
                <a:schemeClr val="dk1"/>
              </a:solidFill>
              <a:prstDash val="dot"/>
              <a:miter lim="800000"/>
              <a:headEnd type="none" w="sm" len="sm"/>
              <a:tailEnd type="none" w="sm" len="sm"/>
            </a:ln>
          </p:spPr>
        </p:cxnSp>
        <p:sp>
          <p:nvSpPr>
            <p:cNvPr id="5877" name="Google Shape;5877;p23"/>
            <p:cNvSpPr txBox="1"/>
            <p:nvPr/>
          </p:nvSpPr>
          <p:spPr>
            <a:xfrm>
              <a:off x="4886662" y="4791506"/>
              <a:ext cx="737896"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Site</a:t>
              </a:r>
              <a:endParaRPr/>
            </a:p>
          </p:txBody>
        </p:sp>
        <p:sp>
          <p:nvSpPr>
            <p:cNvPr id="5878" name="Google Shape;5878;p23"/>
            <p:cNvSpPr txBox="1"/>
            <p:nvPr/>
          </p:nvSpPr>
          <p:spPr>
            <a:xfrm>
              <a:off x="6575647" y="4791506"/>
              <a:ext cx="737896"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Site</a:t>
              </a:r>
              <a:endParaRPr/>
            </a:p>
          </p:txBody>
        </p:sp>
        <p:grpSp>
          <p:nvGrpSpPr>
            <p:cNvPr id="5879" name="Google Shape;5879;p23"/>
            <p:cNvGrpSpPr/>
            <p:nvPr/>
          </p:nvGrpSpPr>
          <p:grpSpPr>
            <a:xfrm>
              <a:off x="6694501" y="3937475"/>
              <a:ext cx="448056" cy="444440"/>
              <a:chOff x="2894013" y="1371441"/>
              <a:chExt cx="1714181" cy="1828959"/>
            </a:xfrm>
          </p:grpSpPr>
          <p:sp>
            <p:nvSpPr>
              <p:cNvPr id="5880" name="Google Shape;5880;p23"/>
              <p:cNvSpPr/>
              <p:nvPr/>
            </p:nvSpPr>
            <p:spPr>
              <a:xfrm>
                <a:off x="2894013" y="1371441"/>
                <a:ext cx="1714181" cy="1828959"/>
              </a:xfrm>
              <a:prstGeom prst="ellipse">
                <a:avLst/>
              </a:prstGeom>
              <a:solidFill>
                <a:srgbClr val="E68C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881" name="Google Shape;5881;p23"/>
              <p:cNvSpPr/>
              <p:nvPr/>
            </p:nvSpPr>
            <p:spPr>
              <a:xfrm rot="2700000">
                <a:off x="3199317" y="1737842"/>
                <a:ext cx="1096166" cy="1096166"/>
              </a:xfrm>
              <a:custGeom>
                <a:avLst/>
                <a:gdLst/>
                <a:ahLst/>
                <a:cxnLst/>
                <a:rect l="l" t="t" r="r" b="b"/>
                <a:pathLst>
                  <a:path w="788" h="788" extrusionOk="0">
                    <a:moveTo>
                      <a:pt x="493" y="32"/>
                    </a:moveTo>
                    <a:lnTo>
                      <a:pt x="493" y="263"/>
                    </a:lnTo>
                    <a:lnTo>
                      <a:pt x="493" y="295"/>
                    </a:lnTo>
                    <a:lnTo>
                      <a:pt x="526" y="295"/>
                    </a:lnTo>
                    <a:lnTo>
                      <a:pt x="756" y="295"/>
                    </a:lnTo>
                    <a:lnTo>
                      <a:pt x="756" y="493"/>
                    </a:lnTo>
                    <a:lnTo>
                      <a:pt x="526" y="493"/>
                    </a:lnTo>
                    <a:lnTo>
                      <a:pt x="493" y="493"/>
                    </a:lnTo>
                    <a:lnTo>
                      <a:pt x="493" y="525"/>
                    </a:lnTo>
                    <a:lnTo>
                      <a:pt x="493" y="756"/>
                    </a:lnTo>
                    <a:lnTo>
                      <a:pt x="296" y="756"/>
                    </a:lnTo>
                    <a:lnTo>
                      <a:pt x="296" y="525"/>
                    </a:lnTo>
                    <a:lnTo>
                      <a:pt x="296" y="493"/>
                    </a:lnTo>
                    <a:lnTo>
                      <a:pt x="263" y="493"/>
                    </a:lnTo>
                    <a:lnTo>
                      <a:pt x="33" y="493"/>
                    </a:lnTo>
                    <a:lnTo>
                      <a:pt x="33" y="295"/>
                    </a:lnTo>
                    <a:lnTo>
                      <a:pt x="263" y="295"/>
                    </a:lnTo>
                    <a:lnTo>
                      <a:pt x="296" y="295"/>
                    </a:lnTo>
                    <a:lnTo>
                      <a:pt x="296" y="263"/>
                    </a:lnTo>
                    <a:lnTo>
                      <a:pt x="296" y="32"/>
                    </a:lnTo>
                    <a:lnTo>
                      <a:pt x="493" y="32"/>
                    </a:lnTo>
                    <a:close/>
                    <a:moveTo>
                      <a:pt x="526" y="0"/>
                    </a:moveTo>
                    <a:lnTo>
                      <a:pt x="263" y="0"/>
                    </a:lnTo>
                    <a:lnTo>
                      <a:pt x="263" y="263"/>
                    </a:lnTo>
                    <a:lnTo>
                      <a:pt x="0" y="263"/>
                    </a:lnTo>
                    <a:lnTo>
                      <a:pt x="0" y="525"/>
                    </a:lnTo>
                    <a:lnTo>
                      <a:pt x="263" y="525"/>
                    </a:lnTo>
                    <a:lnTo>
                      <a:pt x="263" y="788"/>
                    </a:lnTo>
                    <a:lnTo>
                      <a:pt x="526" y="788"/>
                    </a:lnTo>
                    <a:lnTo>
                      <a:pt x="526" y="525"/>
                    </a:lnTo>
                    <a:lnTo>
                      <a:pt x="788" y="525"/>
                    </a:lnTo>
                    <a:lnTo>
                      <a:pt x="788" y="263"/>
                    </a:lnTo>
                    <a:lnTo>
                      <a:pt x="526" y="263"/>
                    </a:lnTo>
                    <a:lnTo>
                      <a:pt x="526" y="0"/>
                    </a:lnTo>
                    <a:lnTo>
                      <a:pt x="526"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882" name="Google Shape;5882;p23"/>
            <p:cNvSpPr txBox="1"/>
            <p:nvPr/>
          </p:nvSpPr>
          <p:spPr>
            <a:xfrm>
              <a:off x="6392243" y="3712246"/>
              <a:ext cx="1118029"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E68C28"/>
                  </a:solidFill>
                  <a:latin typeface="Arial"/>
                  <a:ea typeface="Arial"/>
                  <a:cs typeface="Arial"/>
                  <a:sym typeface="Arial"/>
                </a:rPr>
                <a:t>Maintenance</a:t>
              </a:r>
              <a:endParaRPr/>
            </a:p>
          </p:txBody>
        </p:sp>
        <p:sp>
          <p:nvSpPr>
            <p:cNvPr id="5883" name="Google Shape;5883;p23"/>
            <p:cNvSpPr/>
            <p:nvPr/>
          </p:nvSpPr>
          <p:spPr>
            <a:xfrm>
              <a:off x="5959296" y="2976446"/>
              <a:ext cx="297775" cy="290571"/>
            </a:xfrm>
            <a:custGeom>
              <a:avLst/>
              <a:gdLst/>
              <a:ahLst/>
              <a:cxnLst/>
              <a:rect l="l" t="t" r="r" b="b"/>
              <a:pathLst>
                <a:path w="1134244" h="1106802" extrusionOk="0">
                  <a:moveTo>
                    <a:pt x="197669" y="351799"/>
                  </a:moveTo>
                  <a:lnTo>
                    <a:pt x="217610" y="351799"/>
                  </a:lnTo>
                  <a:lnTo>
                    <a:pt x="258498" y="453881"/>
                  </a:lnTo>
                  <a:lnTo>
                    <a:pt x="298745" y="351799"/>
                  </a:lnTo>
                  <a:lnTo>
                    <a:pt x="318686" y="351799"/>
                  </a:lnTo>
                  <a:lnTo>
                    <a:pt x="267188" y="474736"/>
                  </a:lnTo>
                  <a:lnTo>
                    <a:pt x="250083" y="474736"/>
                  </a:lnTo>
                  <a:lnTo>
                    <a:pt x="197669" y="351799"/>
                  </a:lnTo>
                  <a:close/>
                  <a:moveTo>
                    <a:pt x="345121" y="451411"/>
                  </a:moveTo>
                  <a:lnTo>
                    <a:pt x="356738" y="436867"/>
                  </a:lnTo>
                  <a:cubicBezTo>
                    <a:pt x="370550" y="450679"/>
                    <a:pt x="387381" y="460375"/>
                    <a:pt x="410249" y="460375"/>
                  </a:cubicBezTo>
                  <a:cubicBezTo>
                    <a:pt x="435495" y="460375"/>
                    <a:pt x="448301" y="446563"/>
                    <a:pt x="448301" y="431836"/>
                  </a:cubicBezTo>
                  <a:cubicBezTo>
                    <a:pt x="448301" y="414457"/>
                    <a:pt x="432842" y="407596"/>
                    <a:pt x="404303" y="400919"/>
                  </a:cubicBezTo>
                  <a:cubicBezTo>
                    <a:pt x="371465" y="393327"/>
                    <a:pt x="350792" y="383082"/>
                    <a:pt x="350792" y="354726"/>
                  </a:cubicBezTo>
                  <a:cubicBezTo>
                    <a:pt x="350792" y="328565"/>
                    <a:pt x="374118" y="308075"/>
                    <a:pt x="405492" y="308075"/>
                  </a:cubicBezTo>
                  <a:cubicBezTo>
                    <a:pt x="429732" y="308075"/>
                    <a:pt x="447843" y="317588"/>
                    <a:pt x="462845" y="331401"/>
                  </a:cubicBezTo>
                  <a:lnTo>
                    <a:pt x="451411" y="345945"/>
                  </a:lnTo>
                  <a:cubicBezTo>
                    <a:pt x="437873" y="332864"/>
                    <a:pt x="421683" y="324998"/>
                    <a:pt x="404578" y="324998"/>
                  </a:cubicBezTo>
                  <a:cubicBezTo>
                    <a:pt x="384362" y="324998"/>
                    <a:pt x="369635" y="338352"/>
                    <a:pt x="369635" y="353262"/>
                  </a:cubicBezTo>
                  <a:cubicBezTo>
                    <a:pt x="369635" y="370184"/>
                    <a:pt x="385826" y="376130"/>
                    <a:pt x="413633" y="382716"/>
                  </a:cubicBezTo>
                  <a:cubicBezTo>
                    <a:pt x="444825" y="390125"/>
                    <a:pt x="467144" y="401285"/>
                    <a:pt x="467144" y="430098"/>
                  </a:cubicBezTo>
                  <a:cubicBezTo>
                    <a:pt x="467144" y="455984"/>
                    <a:pt x="447660" y="477206"/>
                    <a:pt x="409608" y="477206"/>
                  </a:cubicBezTo>
                  <a:cubicBezTo>
                    <a:pt x="382716" y="477389"/>
                    <a:pt x="361586" y="467601"/>
                    <a:pt x="345121" y="451411"/>
                  </a:cubicBezTo>
                  <a:close/>
                  <a:moveTo>
                    <a:pt x="619535" y="437690"/>
                  </a:moveTo>
                  <a:lnTo>
                    <a:pt x="528430" y="437690"/>
                  </a:lnTo>
                  <a:lnTo>
                    <a:pt x="512056" y="474828"/>
                  </a:lnTo>
                  <a:lnTo>
                    <a:pt x="491841" y="474828"/>
                  </a:lnTo>
                  <a:lnTo>
                    <a:pt x="563921" y="311368"/>
                  </a:lnTo>
                  <a:lnTo>
                    <a:pt x="584136" y="311368"/>
                  </a:lnTo>
                  <a:lnTo>
                    <a:pt x="656215" y="474828"/>
                  </a:lnTo>
                  <a:lnTo>
                    <a:pt x="636000" y="474828"/>
                  </a:lnTo>
                  <a:lnTo>
                    <a:pt x="619535" y="437690"/>
                  </a:lnTo>
                  <a:close/>
                  <a:moveTo>
                    <a:pt x="611943" y="420036"/>
                  </a:moveTo>
                  <a:lnTo>
                    <a:pt x="574165" y="334145"/>
                  </a:lnTo>
                  <a:lnTo>
                    <a:pt x="536113" y="420036"/>
                  </a:lnTo>
                  <a:lnTo>
                    <a:pt x="611943" y="420036"/>
                  </a:lnTo>
                  <a:close/>
                  <a:moveTo>
                    <a:pt x="692346" y="311368"/>
                  </a:moveTo>
                  <a:lnTo>
                    <a:pt x="710915" y="311368"/>
                  </a:lnTo>
                  <a:lnTo>
                    <a:pt x="812265" y="444368"/>
                  </a:lnTo>
                  <a:lnTo>
                    <a:pt x="812265" y="311368"/>
                  </a:lnTo>
                  <a:lnTo>
                    <a:pt x="830834" y="311368"/>
                  </a:lnTo>
                  <a:lnTo>
                    <a:pt x="830834" y="474736"/>
                  </a:lnTo>
                  <a:lnTo>
                    <a:pt x="812265" y="474736"/>
                  </a:lnTo>
                  <a:lnTo>
                    <a:pt x="710823" y="341737"/>
                  </a:lnTo>
                  <a:lnTo>
                    <a:pt x="710823" y="474736"/>
                  </a:lnTo>
                  <a:lnTo>
                    <a:pt x="692255" y="474736"/>
                  </a:lnTo>
                  <a:lnTo>
                    <a:pt x="692255" y="311368"/>
                  </a:lnTo>
                  <a:close/>
                  <a:moveTo>
                    <a:pt x="192273" y="595661"/>
                  </a:moveTo>
                  <a:lnTo>
                    <a:pt x="206908" y="595661"/>
                  </a:lnTo>
                  <a:lnTo>
                    <a:pt x="238557" y="688230"/>
                  </a:lnTo>
                  <a:lnTo>
                    <a:pt x="268834" y="595661"/>
                  </a:lnTo>
                  <a:lnTo>
                    <a:pt x="283287" y="595661"/>
                  </a:lnTo>
                  <a:lnTo>
                    <a:pt x="313564" y="688230"/>
                  </a:lnTo>
                  <a:lnTo>
                    <a:pt x="345213" y="595661"/>
                  </a:lnTo>
                  <a:lnTo>
                    <a:pt x="359848" y="595661"/>
                  </a:lnTo>
                  <a:lnTo>
                    <a:pt x="320698" y="710092"/>
                  </a:lnTo>
                  <a:lnTo>
                    <a:pt x="307892" y="710092"/>
                  </a:lnTo>
                  <a:lnTo>
                    <a:pt x="276060" y="612675"/>
                  </a:lnTo>
                  <a:lnTo>
                    <a:pt x="244045" y="710092"/>
                  </a:lnTo>
                  <a:lnTo>
                    <a:pt x="231239" y="710092"/>
                  </a:lnTo>
                  <a:lnTo>
                    <a:pt x="192273" y="595661"/>
                  </a:lnTo>
                  <a:close/>
                  <a:moveTo>
                    <a:pt x="383173" y="599960"/>
                  </a:moveTo>
                  <a:cubicBezTo>
                    <a:pt x="383173" y="595661"/>
                    <a:pt x="386832" y="591819"/>
                    <a:pt x="391497" y="591819"/>
                  </a:cubicBezTo>
                  <a:cubicBezTo>
                    <a:pt x="395979" y="591819"/>
                    <a:pt x="399638" y="595661"/>
                    <a:pt x="399638" y="599960"/>
                  </a:cubicBezTo>
                  <a:cubicBezTo>
                    <a:pt x="399638" y="604442"/>
                    <a:pt x="395979" y="608284"/>
                    <a:pt x="391497" y="608284"/>
                  </a:cubicBezTo>
                  <a:cubicBezTo>
                    <a:pt x="386832" y="608284"/>
                    <a:pt x="383173" y="604534"/>
                    <a:pt x="383173" y="599960"/>
                  </a:cubicBezTo>
                  <a:close/>
                  <a:moveTo>
                    <a:pt x="385186" y="624017"/>
                  </a:moveTo>
                  <a:lnTo>
                    <a:pt x="397717" y="624017"/>
                  </a:lnTo>
                  <a:lnTo>
                    <a:pt x="397717" y="710092"/>
                  </a:lnTo>
                  <a:lnTo>
                    <a:pt x="385186" y="710092"/>
                  </a:lnTo>
                  <a:lnTo>
                    <a:pt x="385186" y="624017"/>
                  </a:lnTo>
                  <a:close/>
                  <a:moveTo>
                    <a:pt x="471809" y="706616"/>
                  </a:moveTo>
                  <a:cubicBezTo>
                    <a:pt x="467327" y="710092"/>
                    <a:pt x="461656" y="712104"/>
                    <a:pt x="455801" y="712104"/>
                  </a:cubicBezTo>
                  <a:cubicBezTo>
                    <a:pt x="443453" y="712104"/>
                    <a:pt x="434855" y="702957"/>
                    <a:pt x="434855" y="690151"/>
                  </a:cubicBezTo>
                  <a:lnTo>
                    <a:pt x="434855" y="635177"/>
                  </a:lnTo>
                  <a:lnTo>
                    <a:pt x="421317" y="635177"/>
                  </a:lnTo>
                  <a:lnTo>
                    <a:pt x="421317" y="624017"/>
                  </a:lnTo>
                  <a:lnTo>
                    <a:pt x="434855" y="624017"/>
                  </a:lnTo>
                  <a:lnTo>
                    <a:pt x="434855" y="600326"/>
                  </a:lnTo>
                  <a:lnTo>
                    <a:pt x="447295" y="600326"/>
                  </a:lnTo>
                  <a:lnTo>
                    <a:pt x="447295" y="624017"/>
                  </a:lnTo>
                  <a:lnTo>
                    <a:pt x="468424" y="624017"/>
                  </a:lnTo>
                  <a:lnTo>
                    <a:pt x="468424" y="635177"/>
                  </a:lnTo>
                  <a:lnTo>
                    <a:pt x="447295" y="635177"/>
                  </a:lnTo>
                  <a:lnTo>
                    <a:pt x="447295" y="690151"/>
                  </a:lnTo>
                  <a:cubicBezTo>
                    <a:pt x="447295" y="696463"/>
                    <a:pt x="451594" y="700945"/>
                    <a:pt x="456625" y="700945"/>
                  </a:cubicBezTo>
                  <a:cubicBezTo>
                    <a:pt x="460466" y="700945"/>
                    <a:pt x="463759" y="699481"/>
                    <a:pt x="465589" y="697469"/>
                  </a:cubicBezTo>
                  <a:lnTo>
                    <a:pt x="471809" y="706616"/>
                  </a:lnTo>
                  <a:close/>
                  <a:moveTo>
                    <a:pt x="568220" y="655301"/>
                  </a:moveTo>
                  <a:lnTo>
                    <a:pt x="568220" y="710092"/>
                  </a:lnTo>
                  <a:lnTo>
                    <a:pt x="555780" y="710092"/>
                  </a:lnTo>
                  <a:lnTo>
                    <a:pt x="555780" y="656947"/>
                  </a:lnTo>
                  <a:cubicBezTo>
                    <a:pt x="555780" y="642952"/>
                    <a:pt x="546907" y="633164"/>
                    <a:pt x="534284" y="633164"/>
                  </a:cubicBezTo>
                  <a:cubicBezTo>
                    <a:pt x="519831" y="633164"/>
                    <a:pt x="507666" y="643318"/>
                    <a:pt x="507666" y="655301"/>
                  </a:cubicBezTo>
                  <a:lnTo>
                    <a:pt x="507666" y="710092"/>
                  </a:lnTo>
                  <a:lnTo>
                    <a:pt x="495134" y="710092"/>
                  </a:lnTo>
                  <a:lnTo>
                    <a:pt x="495134" y="624017"/>
                  </a:lnTo>
                  <a:lnTo>
                    <a:pt x="507666" y="624017"/>
                  </a:lnTo>
                  <a:lnTo>
                    <a:pt x="507666" y="637830"/>
                  </a:lnTo>
                  <a:cubicBezTo>
                    <a:pt x="512697" y="628682"/>
                    <a:pt x="523856" y="622005"/>
                    <a:pt x="536022" y="622005"/>
                  </a:cubicBezTo>
                  <a:cubicBezTo>
                    <a:pt x="554865" y="622005"/>
                    <a:pt x="568220" y="635817"/>
                    <a:pt x="568220" y="655301"/>
                  </a:cubicBezTo>
                  <a:close/>
                  <a:moveTo>
                    <a:pt x="666185" y="690608"/>
                  </a:moveTo>
                  <a:lnTo>
                    <a:pt x="673869" y="698749"/>
                  </a:lnTo>
                  <a:cubicBezTo>
                    <a:pt x="666368" y="706890"/>
                    <a:pt x="651184" y="712104"/>
                    <a:pt x="639201" y="712104"/>
                  </a:cubicBezTo>
                  <a:cubicBezTo>
                    <a:pt x="616242" y="712104"/>
                    <a:pt x="595570" y="693261"/>
                    <a:pt x="595570" y="666826"/>
                  </a:cubicBezTo>
                  <a:cubicBezTo>
                    <a:pt x="595570" y="641214"/>
                    <a:pt x="614870" y="622005"/>
                    <a:pt x="638012" y="622005"/>
                  </a:cubicBezTo>
                  <a:cubicBezTo>
                    <a:pt x="663990" y="622005"/>
                    <a:pt x="678808" y="641671"/>
                    <a:pt x="678808" y="671857"/>
                  </a:cubicBezTo>
                  <a:lnTo>
                    <a:pt x="608376" y="671857"/>
                  </a:lnTo>
                  <a:cubicBezTo>
                    <a:pt x="610205" y="688688"/>
                    <a:pt x="622005" y="701036"/>
                    <a:pt x="639018" y="701036"/>
                  </a:cubicBezTo>
                  <a:cubicBezTo>
                    <a:pt x="649172" y="700945"/>
                    <a:pt x="660880" y="696463"/>
                    <a:pt x="666185" y="690608"/>
                  </a:cubicBezTo>
                  <a:close/>
                  <a:moveTo>
                    <a:pt x="608559" y="660606"/>
                  </a:moveTo>
                  <a:lnTo>
                    <a:pt x="666551" y="660606"/>
                  </a:lnTo>
                  <a:cubicBezTo>
                    <a:pt x="664905" y="645147"/>
                    <a:pt x="655758" y="633164"/>
                    <a:pt x="638561" y="633164"/>
                  </a:cubicBezTo>
                  <a:cubicBezTo>
                    <a:pt x="623194" y="633164"/>
                    <a:pt x="610845" y="643958"/>
                    <a:pt x="608559" y="660606"/>
                  </a:cubicBezTo>
                  <a:close/>
                  <a:moveTo>
                    <a:pt x="699481" y="699298"/>
                  </a:moveTo>
                  <a:lnTo>
                    <a:pt x="705975" y="690151"/>
                  </a:lnTo>
                  <a:cubicBezTo>
                    <a:pt x="715763" y="697286"/>
                    <a:pt x="725642" y="700945"/>
                    <a:pt x="735155" y="700945"/>
                  </a:cubicBezTo>
                  <a:cubicBezTo>
                    <a:pt x="746497" y="700945"/>
                    <a:pt x="754181" y="695639"/>
                    <a:pt x="754181" y="687498"/>
                  </a:cubicBezTo>
                  <a:cubicBezTo>
                    <a:pt x="754181" y="678168"/>
                    <a:pt x="744210" y="675150"/>
                    <a:pt x="732502" y="671857"/>
                  </a:cubicBezTo>
                  <a:cubicBezTo>
                    <a:pt x="711647" y="665820"/>
                    <a:pt x="703689" y="659691"/>
                    <a:pt x="703689" y="647342"/>
                  </a:cubicBezTo>
                  <a:cubicBezTo>
                    <a:pt x="703689" y="631701"/>
                    <a:pt x="716678" y="622005"/>
                    <a:pt x="733874" y="622005"/>
                  </a:cubicBezTo>
                  <a:cubicBezTo>
                    <a:pt x="744576" y="622005"/>
                    <a:pt x="755553" y="625664"/>
                    <a:pt x="764700" y="631701"/>
                  </a:cubicBezTo>
                  <a:lnTo>
                    <a:pt x="758663" y="641397"/>
                  </a:lnTo>
                  <a:cubicBezTo>
                    <a:pt x="749973" y="635909"/>
                    <a:pt x="741466" y="633256"/>
                    <a:pt x="733874" y="633256"/>
                  </a:cubicBezTo>
                  <a:cubicBezTo>
                    <a:pt x="724178" y="633256"/>
                    <a:pt x="716220" y="637555"/>
                    <a:pt x="716220" y="645879"/>
                  </a:cubicBezTo>
                  <a:cubicBezTo>
                    <a:pt x="716220" y="653380"/>
                    <a:pt x="722532" y="655666"/>
                    <a:pt x="738539" y="660880"/>
                  </a:cubicBezTo>
                  <a:cubicBezTo>
                    <a:pt x="752351" y="665179"/>
                    <a:pt x="766712" y="669844"/>
                    <a:pt x="766712" y="686218"/>
                  </a:cubicBezTo>
                  <a:cubicBezTo>
                    <a:pt x="766712" y="702042"/>
                    <a:pt x="753083" y="712196"/>
                    <a:pt x="735246" y="712196"/>
                  </a:cubicBezTo>
                  <a:cubicBezTo>
                    <a:pt x="723172" y="712104"/>
                    <a:pt x="709817" y="707622"/>
                    <a:pt x="699481" y="699298"/>
                  </a:cubicBezTo>
                  <a:close/>
                  <a:moveTo>
                    <a:pt x="787659" y="699298"/>
                  </a:moveTo>
                  <a:lnTo>
                    <a:pt x="794154" y="690151"/>
                  </a:lnTo>
                  <a:cubicBezTo>
                    <a:pt x="803941" y="697286"/>
                    <a:pt x="813820" y="700945"/>
                    <a:pt x="823333" y="700945"/>
                  </a:cubicBezTo>
                  <a:cubicBezTo>
                    <a:pt x="834676" y="700945"/>
                    <a:pt x="842359" y="695639"/>
                    <a:pt x="842359" y="687498"/>
                  </a:cubicBezTo>
                  <a:cubicBezTo>
                    <a:pt x="842359" y="678168"/>
                    <a:pt x="832389" y="675150"/>
                    <a:pt x="820680" y="671857"/>
                  </a:cubicBezTo>
                  <a:cubicBezTo>
                    <a:pt x="799825" y="665820"/>
                    <a:pt x="791867" y="659691"/>
                    <a:pt x="791867" y="647342"/>
                  </a:cubicBezTo>
                  <a:cubicBezTo>
                    <a:pt x="791867" y="631701"/>
                    <a:pt x="804856" y="622005"/>
                    <a:pt x="822053" y="622005"/>
                  </a:cubicBezTo>
                  <a:cubicBezTo>
                    <a:pt x="832755" y="622005"/>
                    <a:pt x="843731" y="625664"/>
                    <a:pt x="852878" y="631701"/>
                  </a:cubicBezTo>
                  <a:lnTo>
                    <a:pt x="846841" y="641397"/>
                  </a:lnTo>
                  <a:cubicBezTo>
                    <a:pt x="838151" y="635909"/>
                    <a:pt x="829645" y="633256"/>
                    <a:pt x="822053" y="633256"/>
                  </a:cubicBezTo>
                  <a:cubicBezTo>
                    <a:pt x="812357" y="633256"/>
                    <a:pt x="804399" y="637555"/>
                    <a:pt x="804399" y="645879"/>
                  </a:cubicBezTo>
                  <a:cubicBezTo>
                    <a:pt x="804399" y="653380"/>
                    <a:pt x="810710" y="655666"/>
                    <a:pt x="826718" y="660880"/>
                  </a:cubicBezTo>
                  <a:cubicBezTo>
                    <a:pt x="840530" y="665179"/>
                    <a:pt x="854891" y="669844"/>
                    <a:pt x="854891" y="686218"/>
                  </a:cubicBezTo>
                  <a:cubicBezTo>
                    <a:pt x="854891" y="702042"/>
                    <a:pt x="841261" y="712196"/>
                    <a:pt x="823425" y="712196"/>
                  </a:cubicBezTo>
                  <a:cubicBezTo>
                    <a:pt x="811259" y="712104"/>
                    <a:pt x="797996" y="707622"/>
                    <a:pt x="787659" y="699298"/>
                  </a:cubicBezTo>
                  <a:close/>
                  <a:moveTo>
                    <a:pt x="766895" y="1027589"/>
                  </a:moveTo>
                  <a:lnTo>
                    <a:pt x="775036" y="1010758"/>
                  </a:lnTo>
                  <a:lnTo>
                    <a:pt x="29728" y="1010758"/>
                  </a:lnTo>
                  <a:lnTo>
                    <a:pt x="29728" y="29728"/>
                  </a:lnTo>
                  <a:lnTo>
                    <a:pt x="1010758" y="29728"/>
                  </a:lnTo>
                  <a:lnTo>
                    <a:pt x="1010758" y="738173"/>
                  </a:lnTo>
                  <a:lnTo>
                    <a:pt x="1040486" y="743753"/>
                  </a:lnTo>
                  <a:lnTo>
                    <a:pt x="1040486" y="0"/>
                  </a:lnTo>
                  <a:lnTo>
                    <a:pt x="0" y="0"/>
                  </a:lnTo>
                  <a:lnTo>
                    <a:pt x="0" y="1040486"/>
                  </a:lnTo>
                  <a:lnTo>
                    <a:pt x="775585" y="1040486"/>
                  </a:lnTo>
                  <a:lnTo>
                    <a:pt x="766895" y="1027589"/>
                  </a:lnTo>
                  <a:close/>
                  <a:moveTo>
                    <a:pt x="1136531" y="979566"/>
                  </a:moveTo>
                  <a:cubicBezTo>
                    <a:pt x="1134061" y="980115"/>
                    <a:pt x="1129030" y="981579"/>
                    <a:pt x="1121530" y="983774"/>
                  </a:cubicBezTo>
                  <a:cubicBezTo>
                    <a:pt x="1115492" y="985512"/>
                    <a:pt x="1110370" y="986701"/>
                    <a:pt x="1106071" y="987341"/>
                  </a:cubicBezTo>
                  <a:cubicBezTo>
                    <a:pt x="1104424" y="989994"/>
                    <a:pt x="1102046" y="995391"/>
                    <a:pt x="1099028" y="1003715"/>
                  </a:cubicBezTo>
                  <a:cubicBezTo>
                    <a:pt x="1096375" y="1011124"/>
                    <a:pt x="1093631" y="1016246"/>
                    <a:pt x="1090887" y="1019173"/>
                  </a:cubicBezTo>
                  <a:cubicBezTo>
                    <a:pt x="1091893" y="1020820"/>
                    <a:pt x="1094637" y="1025485"/>
                    <a:pt x="1099028" y="1033260"/>
                  </a:cubicBezTo>
                  <a:cubicBezTo>
                    <a:pt x="1102229" y="1039023"/>
                    <a:pt x="1105156" y="1043505"/>
                    <a:pt x="1107626" y="1046706"/>
                  </a:cubicBezTo>
                  <a:cubicBezTo>
                    <a:pt x="1104699" y="1051005"/>
                    <a:pt x="1093082" y="1063080"/>
                    <a:pt x="1072775" y="1083112"/>
                  </a:cubicBezTo>
                  <a:cubicBezTo>
                    <a:pt x="1062896" y="1078447"/>
                    <a:pt x="1053292" y="1072776"/>
                    <a:pt x="1043870" y="1066373"/>
                  </a:cubicBezTo>
                  <a:cubicBezTo>
                    <a:pt x="1033168" y="1072684"/>
                    <a:pt x="1022923" y="1076709"/>
                    <a:pt x="1013410" y="1078538"/>
                  </a:cubicBezTo>
                  <a:cubicBezTo>
                    <a:pt x="1011398" y="1081923"/>
                    <a:pt x="1009477" y="1087411"/>
                    <a:pt x="1007648" y="1095095"/>
                  </a:cubicBezTo>
                  <a:cubicBezTo>
                    <a:pt x="1005727" y="1103510"/>
                    <a:pt x="1004080" y="1109181"/>
                    <a:pt x="1002525" y="1112108"/>
                  </a:cubicBezTo>
                  <a:lnTo>
                    <a:pt x="953954" y="1112108"/>
                  </a:lnTo>
                  <a:cubicBezTo>
                    <a:pt x="952308" y="1108724"/>
                    <a:pt x="950753" y="1103418"/>
                    <a:pt x="949106" y="1096192"/>
                  </a:cubicBezTo>
                  <a:cubicBezTo>
                    <a:pt x="947368" y="1088509"/>
                    <a:pt x="945905" y="1083203"/>
                    <a:pt x="944716" y="1080093"/>
                  </a:cubicBezTo>
                  <a:cubicBezTo>
                    <a:pt x="925415" y="1071586"/>
                    <a:pt x="915353" y="1067013"/>
                    <a:pt x="914439" y="1066373"/>
                  </a:cubicBezTo>
                  <a:cubicBezTo>
                    <a:pt x="910139" y="1067745"/>
                    <a:pt x="905200" y="1070123"/>
                    <a:pt x="899437" y="1073690"/>
                  </a:cubicBezTo>
                  <a:cubicBezTo>
                    <a:pt x="892851" y="1077807"/>
                    <a:pt x="888186" y="1080459"/>
                    <a:pt x="885534" y="1081648"/>
                  </a:cubicBezTo>
                  <a:cubicBezTo>
                    <a:pt x="881234" y="1078813"/>
                    <a:pt x="869526" y="1067653"/>
                    <a:pt x="850409" y="1048078"/>
                  </a:cubicBezTo>
                  <a:cubicBezTo>
                    <a:pt x="851323" y="1044877"/>
                    <a:pt x="856354" y="1035181"/>
                    <a:pt x="865684" y="1019173"/>
                  </a:cubicBezTo>
                  <a:cubicBezTo>
                    <a:pt x="865136" y="1017435"/>
                    <a:pt x="862849" y="1012130"/>
                    <a:pt x="858824" y="1003257"/>
                  </a:cubicBezTo>
                  <a:cubicBezTo>
                    <a:pt x="855988" y="996763"/>
                    <a:pt x="854250" y="991000"/>
                    <a:pt x="853519" y="985786"/>
                  </a:cubicBezTo>
                  <a:cubicBezTo>
                    <a:pt x="849128" y="985238"/>
                    <a:pt x="843640" y="984048"/>
                    <a:pt x="837145" y="982219"/>
                  </a:cubicBezTo>
                  <a:cubicBezTo>
                    <a:pt x="829645" y="980024"/>
                    <a:pt x="824431" y="978652"/>
                    <a:pt x="821504" y="978011"/>
                  </a:cubicBezTo>
                  <a:lnTo>
                    <a:pt x="821504" y="927885"/>
                  </a:lnTo>
                  <a:cubicBezTo>
                    <a:pt x="823973" y="927336"/>
                    <a:pt x="829004" y="925873"/>
                    <a:pt x="836505" y="923677"/>
                  </a:cubicBezTo>
                  <a:cubicBezTo>
                    <a:pt x="842542" y="921939"/>
                    <a:pt x="847664" y="920750"/>
                    <a:pt x="851964" y="920110"/>
                  </a:cubicBezTo>
                  <a:cubicBezTo>
                    <a:pt x="853427" y="917457"/>
                    <a:pt x="855897" y="912060"/>
                    <a:pt x="859281" y="904011"/>
                  </a:cubicBezTo>
                  <a:cubicBezTo>
                    <a:pt x="862208" y="896968"/>
                    <a:pt x="864861" y="891754"/>
                    <a:pt x="867239" y="888369"/>
                  </a:cubicBezTo>
                  <a:cubicBezTo>
                    <a:pt x="859556" y="873917"/>
                    <a:pt x="853976" y="864770"/>
                    <a:pt x="850500" y="860745"/>
                  </a:cubicBezTo>
                  <a:cubicBezTo>
                    <a:pt x="853427" y="856446"/>
                    <a:pt x="865136" y="844372"/>
                    <a:pt x="885625" y="824340"/>
                  </a:cubicBezTo>
                  <a:cubicBezTo>
                    <a:pt x="898248" y="830560"/>
                    <a:pt x="907944" y="836139"/>
                    <a:pt x="914530" y="841079"/>
                  </a:cubicBezTo>
                  <a:cubicBezTo>
                    <a:pt x="932641" y="833121"/>
                    <a:pt x="943252" y="829096"/>
                    <a:pt x="946271" y="828913"/>
                  </a:cubicBezTo>
                  <a:cubicBezTo>
                    <a:pt x="946819" y="826992"/>
                    <a:pt x="948374" y="821321"/>
                    <a:pt x="950936" y="811899"/>
                  </a:cubicBezTo>
                  <a:cubicBezTo>
                    <a:pt x="952674" y="805130"/>
                    <a:pt x="954229" y="799642"/>
                    <a:pt x="955601" y="795343"/>
                  </a:cubicBezTo>
                  <a:lnTo>
                    <a:pt x="1004172" y="795343"/>
                  </a:lnTo>
                  <a:cubicBezTo>
                    <a:pt x="1005910" y="799734"/>
                    <a:pt x="1009020" y="810436"/>
                    <a:pt x="1013410" y="827358"/>
                  </a:cubicBezTo>
                  <a:cubicBezTo>
                    <a:pt x="1015331" y="828273"/>
                    <a:pt x="1020545" y="830285"/>
                    <a:pt x="1029052" y="833578"/>
                  </a:cubicBezTo>
                  <a:cubicBezTo>
                    <a:pt x="1035638" y="836048"/>
                    <a:pt x="1040577" y="838609"/>
                    <a:pt x="1043870" y="841079"/>
                  </a:cubicBezTo>
                  <a:cubicBezTo>
                    <a:pt x="1048170" y="839890"/>
                    <a:pt x="1053018" y="837511"/>
                    <a:pt x="1058689" y="833761"/>
                  </a:cubicBezTo>
                  <a:cubicBezTo>
                    <a:pt x="1065275" y="829645"/>
                    <a:pt x="1070031" y="826992"/>
                    <a:pt x="1072775" y="825803"/>
                  </a:cubicBezTo>
                  <a:cubicBezTo>
                    <a:pt x="1078081" y="829005"/>
                    <a:pt x="1084209" y="834493"/>
                    <a:pt x="1091344" y="842176"/>
                  </a:cubicBezTo>
                  <a:cubicBezTo>
                    <a:pt x="1099576" y="850683"/>
                    <a:pt x="1105522" y="856446"/>
                    <a:pt x="1109181" y="859373"/>
                  </a:cubicBezTo>
                  <a:cubicBezTo>
                    <a:pt x="1101955" y="872728"/>
                    <a:pt x="1096375" y="882424"/>
                    <a:pt x="1092442" y="888278"/>
                  </a:cubicBezTo>
                  <a:cubicBezTo>
                    <a:pt x="1100857" y="912609"/>
                    <a:pt x="1104882" y="923677"/>
                    <a:pt x="1104607" y="921573"/>
                  </a:cubicBezTo>
                  <a:cubicBezTo>
                    <a:pt x="1109181" y="922031"/>
                    <a:pt x="1114578" y="923220"/>
                    <a:pt x="1120981" y="925141"/>
                  </a:cubicBezTo>
                  <a:cubicBezTo>
                    <a:pt x="1128481" y="927336"/>
                    <a:pt x="1133695" y="928708"/>
                    <a:pt x="1136622" y="929349"/>
                  </a:cubicBezTo>
                  <a:lnTo>
                    <a:pt x="1136622" y="979566"/>
                  </a:lnTo>
                  <a:close/>
                  <a:moveTo>
                    <a:pt x="1066464" y="1001062"/>
                  </a:moveTo>
                  <a:cubicBezTo>
                    <a:pt x="1076160" y="982493"/>
                    <a:pt x="1080184" y="963833"/>
                    <a:pt x="1078630" y="944990"/>
                  </a:cubicBezTo>
                  <a:cubicBezTo>
                    <a:pt x="1076983" y="927794"/>
                    <a:pt x="1070946" y="912060"/>
                    <a:pt x="1060518" y="897699"/>
                  </a:cubicBezTo>
                  <a:cubicBezTo>
                    <a:pt x="1050365" y="883887"/>
                    <a:pt x="1037376" y="873277"/>
                    <a:pt x="1021643" y="865867"/>
                  </a:cubicBezTo>
                  <a:cubicBezTo>
                    <a:pt x="1005635" y="858184"/>
                    <a:pt x="989079" y="855074"/>
                    <a:pt x="972157" y="856354"/>
                  </a:cubicBezTo>
                  <a:cubicBezTo>
                    <a:pt x="947460" y="858275"/>
                    <a:pt x="927062" y="867057"/>
                    <a:pt x="910963" y="882607"/>
                  </a:cubicBezTo>
                  <a:cubicBezTo>
                    <a:pt x="896419" y="896693"/>
                    <a:pt x="887272" y="914347"/>
                    <a:pt x="883613" y="935569"/>
                  </a:cubicBezTo>
                  <a:cubicBezTo>
                    <a:pt x="880045" y="956333"/>
                    <a:pt x="882332" y="976182"/>
                    <a:pt x="890199" y="995208"/>
                  </a:cubicBezTo>
                  <a:cubicBezTo>
                    <a:pt x="898705" y="1015240"/>
                    <a:pt x="912243" y="1030333"/>
                    <a:pt x="930812" y="1040486"/>
                  </a:cubicBezTo>
                  <a:cubicBezTo>
                    <a:pt x="955235" y="1053750"/>
                    <a:pt x="981304" y="1055945"/>
                    <a:pt x="1008928" y="1047072"/>
                  </a:cubicBezTo>
                  <a:cubicBezTo>
                    <a:pt x="1035547" y="1038748"/>
                    <a:pt x="1054755" y="1023381"/>
                    <a:pt x="1066464" y="1001062"/>
                  </a:cubicBezTo>
                  <a:close/>
                </a:path>
              </a:pathLst>
            </a:custGeom>
            <a:solidFill>
              <a:srgbClr val="7F7F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884" name="Google Shape;5884;p23"/>
          <p:cNvSpPr txBox="1"/>
          <p:nvPr/>
        </p:nvSpPr>
        <p:spPr>
          <a:xfrm>
            <a:off x="794274" y="5399793"/>
            <a:ext cx="3201988" cy="692852"/>
          </a:xfrm>
          <a:prstGeom prst="rect">
            <a:avLst/>
          </a:prstGeom>
          <a:noFill/>
          <a:ln>
            <a:noFill/>
          </a:ln>
        </p:spPr>
        <p:txBody>
          <a:bodyPr spcFirstLastPara="1" wrap="square" lIns="91425" tIns="45700" rIns="91425" bIns="45700" anchor="t" anchorCtr="0">
            <a:noAutofit/>
          </a:bodyPr>
          <a:lstStyle/>
          <a:p>
            <a:pPr marL="0" marR="0" lvl="0" indent="-80010" algn="ctr" rtl="0">
              <a:lnSpc>
                <a:spcPct val="100000"/>
              </a:lnSpc>
              <a:spcBef>
                <a:spcPts val="0"/>
              </a:spcBef>
              <a:spcAft>
                <a:spcPts val="0"/>
              </a:spcAft>
              <a:buClr>
                <a:srgbClr val="666666"/>
              </a:buClr>
              <a:buSzPts val="1260"/>
              <a:buFont typeface="Arial"/>
              <a:buChar char="​"/>
            </a:pPr>
            <a:r>
              <a:rPr lang="en-US" sz="1400">
                <a:solidFill>
                  <a:schemeClr val="accent2"/>
                </a:solidFill>
                <a:latin typeface="Arial"/>
                <a:ea typeface="Arial"/>
                <a:cs typeface="Arial"/>
                <a:sym typeface="Arial"/>
              </a:rPr>
              <a:t>Site resilience of compute and disaggregated storage</a:t>
            </a:r>
            <a:endParaRPr/>
          </a:p>
        </p:txBody>
      </p:sp>
      <p:grpSp>
        <p:nvGrpSpPr>
          <p:cNvPr id="5885" name="Google Shape;5885;p23"/>
          <p:cNvGrpSpPr/>
          <p:nvPr/>
        </p:nvGrpSpPr>
        <p:grpSpPr>
          <a:xfrm>
            <a:off x="8401898" y="2555565"/>
            <a:ext cx="2850459" cy="2497329"/>
            <a:chOff x="8401898" y="2555565"/>
            <a:chExt cx="2850459" cy="2497329"/>
          </a:xfrm>
        </p:grpSpPr>
        <p:sp>
          <p:nvSpPr>
            <p:cNvPr id="5886" name="Google Shape;5886;p23"/>
            <p:cNvSpPr/>
            <p:nvPr/>
          </p:nvSpPr>
          <p:spPr>
            <a:xfrm>
              <a:off x="10083456" y="2976446"/>
              <a:ext cx="1168901" cy="207644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5887" name="Google Shape;5887;p23"/>
            <p:cNvSpPr/>
            <p:nvPr/>
          </p:nvSpPr>
          <p:spPr>
            <a:xfrm>
              <a:off x="8401898" y="2976446"/>
              <a:ext cx="1168901" cy="207644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grpSp>
          <p:nvGrpSpPr>
            <p:cNvPr id="5888" name="Google Shape;5888;p23"/>
            <p:cNvGrpSpPr/>
            <p:nvPr/>
          </p:nvGrpSpPr>
          <p:grpSpPr>
            <a:xfrm>
              <a:off x="8453584" y="4329748"/>
              <a:ext cx="2742497" cy="184666"/>
              <a:chOff x="7950077" y="3379353"/>
              <a:chExt cx="2742497" cy="184666"/>
            </a:xfrm>
          </p:grpSpPr>
          <p:cxnSp>
            <p:nvCxnSpPr>
              <p:cNvPr id="5889" name="Google Shape;5889;p23"/>
              <p:cNvCxnSpPr/>
              <p:nvPr/>
            </p:nvCxnSpPr>
            <p:spPr>
              <a:xfrm>
                <a:off x="7954667" y="3387515"/>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5890" name="Google Shape;5890;p23"/>
              <p:cNvCxnSpPr/>
              <p:nvPr/>
            </p:nvCxnSpPr>
            <p:spPr>
              <a:xfrm>
                <a:off x="10065475" y="3475525"/>
                <a:ext cx="627099"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5891" name="Google Shape;5891;p23"/>
              <p:cNvCxnSpPr/>
              <p:nvPr/>
            </p:nvCxnSpPr>
            <p:spPr>
              <a:xfrm>
                <a:off x="10692574" y="3387515"/>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5892" name="Google Shape;5892;p23"/>
              <p:cNvCxnSpPr/>
              <p:nvPr/>
            </p:nvCxnSpPr>
            <p:spPr>
              <a:xfrm>
                <a:off x="7950077" y="3475525"/>
                <a:ext cx="631689"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sp>
            <p:nvSpPr>
              <p:cNvPr id="5893" name="Google Shape;5893;p23"/>
              <p:cNvSpPr txBox="1"/>
              <p:nvPr/>
            </p:nvSpPr>
            <p:spPr>
              <a:xfrm>
                <a:off x="8581766" y="3379353"/>
                <a:ext cx="1483709"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1"/>
                    </a:solidFill>
                    <a:latin typeface="Arial"/>
                    <a:ea typeface="Arial"/>
                    <a:cs typeface="Arial"/>
                    <a:sym typeface="Arial"/>
                  </a:rPr>
                  <a:t>vSAN HCI cluster</a:t>
                </a:r>
                <a:endParaRPr/>
              </a:p>
            </p:txBody>
          </p:sp>
        </p:grpSp>
        <p:sp>
          <p:nvSpPr>
            <p:cNvPr id="5894" name="Google Shape;5894;p23"/>
            <p:cNvSpPr/>
            <p:nvPr/>
          </p:nvSpPr>
          <p:spPr>
            <a:xfrm>
              <a:off x="8453584" y="4185459"/>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95" name="Google Shape;5895;p23"/>
            <p:cNvSpPr/>
            <p:nvPr/>
          </p:nvSpPr>
          <p:spPr>
            <a:xfrm>
              <a:off x="9017421" y="4185459"/>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96" name="Google Shape;5896;p23"/>
            <p:cNvSpPr/>
            <p:nvPr/>
          </p:nvSpPr>
          <p:spPr>
            <a:xfrm>
              <a:off x="10134321" y="4185459"/>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97" name="Google Shape;5897;p23"/>
            <p:cNvSpPr/>
            <p:nvPr/>
          </p:nvSpPr>
          <p:spPr>
            <a:xfrm>
              <a:off x="10698158" y="4185459"/>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98" name="Google Shape;5898;p23"/>
            <p:cNvSpPr/>
            <p:nvPr/>
          </p:nvSpPr>
          <p:spPr>
            <a:xfrm>
              <a:off x="8453584" y="402430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899" name="Google Shape;5899;p23"/>
            <p:cNvSpPr/>
            <p:nvPr/>
          </p:nvSpPr>
          <p:spPr>
            <a:xfrm>
              <a:off x="9017421" y="402430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900" name="Google Shape;5900;p23"/>
            <p:cNvSpPr/>
            <p:nvPr/>
          </p:nvSpPr>
          <p:spPr>
            <a:xfrm>
              <a:off x="10134321" y="402430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901" name="Google Shape;5901;p23"/>
            <p:cNvSpPr/>
            <p:nvPr/>
          </p:nvSpPr>
          <p:spPr>
            <a:xfrm>
              <a:off x="10698158" y="402430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cxnSp>
          <p:nvCxnSpPr>
            <p:cNvPr id="5902" name="Google Shape;5902;p23"/>
            <p:cNvCxnSpPr/>
            <p:nvPr/>
          </p:nvCxnSpPr>
          <p:spPr>
            <a:xfrm>
              <a:off x="9636714" y="4158011"/>
              <a:ext cx="376237" cy="0"/>
            </a:xfrm>
            <a:prstGeom prst="straightConnector1">
              <a:avLst/>
            </a:prstGeom>
            <a:noFill/>
            <a:ln w="25400" cap="flat" cmpd="sng">
              <a:solidFill>
                <a:schemeClr val="dk1"/>
              </a:solidFill>
              <a:prstDash val="dot"/>
              <a:miter lim="800000"/>
              <a:headEnd type="none" w="sm" len="sm"/>
              <a:tailEnd type="none" w="sm" len="sm"/>
            </a:ln>
          </p:spPr>
        </p:cxnSp>
        <p:sp>
          <p:nvSpPr>
            <p:cNvPr id="5903" name="Google Shape;5903;p23"/>
            <p:cNvSpPr txBox="1"/>
            <p:nvPr/>
          </p:nvSpPr>
          <p:spPr>
            <a:xfrm>
              <a:off x="8603311" y="4791506"/>
              <a:ext cx="737896"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Site</a:t>
              </a:r>
              <a:endParaRPr/>
            </a:p>
          </p:txBody>
        </p:sp>
        <p:sp>
          <p:nvSpPr>
            <p:cNvPr id="5904" name="Google Shape;5904;p23"/>
            <p:cNvSpPr txBox="1"/>
            <p:nvPr/>
          </p:nvSpPr>
          <p:spPr>
            <a:xfrm>
              <a:off x="10292296" y="4791506"/>
              <a:ext cx="737896"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dk2"/>
                  </a:solidFill>
                  <a:latin typeface="Arial"/>
                  <a:ea typeface="Arial"/>
                  <a:cs typeface="Arial"/>
                  <a:sym typeface="Arial"/>
                </a:rPr>
                <a:t>Site</a:t>
              </a:r>
              <a:endParaRPr/>
            </a:p>
          </p:txBody>
        </p:sp>
        <p:grpSp>
          <p:nvGrpSpPr>
            <p:cNvPr id="5905" name="Google Shape;5905;p23"/>
            <p:cNvGrpSpPr/>
            <p:nvPr/>
          </p:nvGrpSpPr>
          <p:grpSpPr>
            <a:xfrm>
              <a:off x="10411150" y="3937475"/>
              <a:ext cx="448056" cy="444440"/>
              <a:chOff x="2894013" y="1371441"/>
              <a:chExt cx="1714181" cy="1828959"/>
            </a:xfrm>
          </p:grpSpPr>
          <p:sp>
            <p:nvSpPr>
              <p:cNvPr id="5906" name="Google Shape;5906;p23"/>
              <p:cNvSpPr/>
              <p:nvPr/>
            </p:nvSpPr>
            <p:spPr>
              <a:xfrm>
                <a:off x="2894013" y="1371441"/>
                <a:ext cx="1714181" cy="1828959"/>
              </a:xfrm>
              <a:prstGeom prst="ellipse">
                <a:avLst/>
              </a:prstGeom>
              <a:solidFill>
                <a:srgbClr val="A6192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07" name="Google Shape;5907;p23"/>
              <p:cNvSpPr/>
              <p:nvPr/>
            </p:nvSpPr>
            <p:spPr>
              <a:xfrm rot="2700000">
                <a:off x="3191792" y="1737838"/>
                <a:ext cx="1096166" cy="1096166"/>
              </a:xfrm>
              <a:custGeom>
                <a:avLst/>
                <a:gdLst/>
                <a:ahLst/>
                <a:cxnLst/>
                <a:rect l="l" t="t" r="r" b="b"/>
                <a:pathLst>
                  <a:path w="788" h="788" extrusionOk="0">
                    <a:moveTo>
                      <a:pt x="493" y="32"/>
                    </a:moveTo>
                    <a:lnTo>
                      <a:pt x="493" y="263"/>
                    </a:lnTo>
                    <a:lnTo>
                      <a:pt x="493" y="295"/>
                    </a:lnTo>
                    <a:lnTo>
                      <a:pt x="526" y="295"/>
                    </a:lnTo>
                    <a:lnTo>
                      <a:pt x="756" y="295"/>
                    </a:lnTo>
                    <a:lnTo>
                      <a:pt x="756" y="493"/>
                    </a:lnTo>
                    <a:lnTo>
                      <a:pt x="526" y="493"/>
                    </a:lnTo>
                    <a:lnTo>
                      <a:pt x="493" y="493"/>
                    </a:lnTo>
                    <a:lnTo>
                      <a:pt x="493" y="525"/>
                    </a:lnTo>
                    <a:lnTo>
                      <a:pt x="493" y="756"/>
                    </a:lnTo>
                    <a:lnTo>
                      <a:pt x="296" y="756"/>
                    </a:lnTo>
                    <a:lnTo>
                      <a:pt x="296" y="525"/>
                    </a:lnTo>
                    <a:lnTo>
                      <a:pt x="296" y="493"/>
                    </a:lnTo>
                    <a:lnTo>
                      <a:pt x="263" y="493"/>
                    </a:lnTo>
                    <a:lnTo>
                      <a:pt x="33" y="493"/>
                    </a:lnTo>
                    <a:lnTo>
                      <a:pt x="33" y="295"/>
                    </a:lnTo>
                    <a:lnTo>
                      <a:pt x="263" y="295"/>
                    </a:lnTo>
                    <a:lnTo>
                      <a:pt x="296" y="295"/>
                    </a:lnTo>
                    <a:lnTo>
                      <a:pt x="296" y="263"/>
                    </a:lnTo>
                    <a:lnTo>
                      <a:pt x="296" y="32"/>
                    </a:lnTo>
                    <a:lnTo>
                      <a:pt x="493" y="32"/>
                    </a:lnTo>
                    <a:close/>
                    <a:moveTo>
                      <a:pt x="526" y="0"/>
                    </a:moveTo>
                    <a:lnTo>
                      <a:pt x="263" y="0"/>
                    </a:lnTo>
                    <a:lnTo>
                      <a:pt x="263" y="263"/>
                    </a:lnTo>
                    <a:lnTo>
                      <a:pt x="0" y="263"/>
                    </a:lnTo>
                    <a:lnTo>
                      <a:pt x="0" y="525"/>
                    </a:lnTo>
                    <a:lnTo>
                      <a:pt x="263" y="525"/>
                    </a:lnTo>
                    <a:lnTo>
                      <a:pt x="263" y="788"/>
                    </a:lnTo>
                    <a:lnTo>
                      <a:pt x="526" y="788"/>
                    </a:lnTo>
                    <a:lnTo>
                      <a:pt x="526" y="525"/>
                    </a:lnTo>
                    <a:lnTo>
                      <a:pt x="788" y="525"/>
                    </a:lnTo>
                    <a:lnTo>
                      <a:pt x="788" y="263"/>
                    </a:lnTo>
                    <a:lnTo>
                      <a:pt x="526" y="263"/>
                    </a:lnTo>
                    <a:lnTo>
                      <a:pt x="526" y="0"/>
                    </a:lnTo>
                    <a:lnTo>
                      <a:pt x="526"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908" name="Google Shape;5908;p23"/>
            <p:cNvSpPr txBox="1"/>
            <p:nvPr/>
          </p:nvSpPr>
          <p:spPr>
            <a:xfrm>
              <a:off x="10108892" y="3712246"/>
              <a:ext cx="1118029"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A6192E"/>
                  </a:solidFill>
                  <a:latin typeface="Arial"/>
                  <a:ea typeface="Arial"/>
                  <a:cs typeface="Arial"/>
                  <a:sym typeface="Arial"/>
                </a:rPr>
                <a:t>Failure</a:t>
              </a:r>
              <a:endParaRPr/>
            </a:p>
          </p:txBody>
        </p:sp>
        <p:sp>
          <p:nvSpPr>
            <p:cNvPr id="5909" name="Google Shape;5909;p23"/>
            <p:cNvSpPr/>
            <p:nvPr/>
          </p:nvSpPr>
          <p:spPr>
            <a:xfrm>
              <a:off x="9675945" y="2976446"/>
              <a:ext cx="297775" cy="290571"/>
            </a:xfrm>
            <a:custGeom>
              <a:avLst/>
              <a:gdLst/>
              <a:ahLst/>
              <a:cxnLst/>
              <a:rect l="l" t="t" r="r" b="b"/>
              <a:pathLst>
                <a:path w="1134244" h="1106802" extrusionOk="0">
                  <a:moveTo>
                    <a:pt x="197669" y="351799"/>
                  </a:moveTo>
                  <a:lnTo>
                    <a:pt x="217610" y="351799"/>
                  </a:lnTo>
                  <a:lnTo>
                    <a:pt x="258498" y="453881"/>
                  </a:lnTo>
                  <a:lnTo>
                    <a:pt x="298745" y="351799"/>
                  </a:lnTo>
                  <a:lnTo>
                    <a:pt x="318686" y="351799"/>
                  </a:lnTo>
                  <a:lnTo>
                    <a:pt x="267188" y="474736"/>
                  </a:lnTo>
                  <a:lnTo>
                    <a:pt x="250083" y="474736"/>
                  </a:lnTo>
                  <a:lnTo>
                    <a:pt x="197669" y="351799"/>
                  </a:lnTo>
                  <a:close/>
                  <a:moveTo>
                    <a:pt x="345121" y="451411"/>
                  </a:moveTo>
                  <a:lnTo>
                    <a:pt x="356738" y="436867"/>
                  </a:lnTo>
                  <a:cubicBezTo>
                    <a:pt x="370550" y="450679"/>
                    <a:pt x="387381" y="460375"/>
                    <a:pt x="410249" y="460375"/>
                  </a:cubicBezTo>
                  <a:cubicBezTo>
                    <a:pt x="435495" y="460375"/>
                    <a:pt x="448301" y="446563"/>
                    <a:pt x="448301" y="431836"/>
                  </a:cubicBezTo>
                  <a:cubicBezTo>
                    <a:pt x="448301" y="414457"/>
                    <a:pt x="432842" y="407596"/>
                    <a:pt x="404303" y="400919"/>
                  </a:cubicBezTo>
                  <a:cubicBezTo>
                    <a:pt x="371465" y="393327"/>
                    <a:pt x="350792" y="383082"/>
                    <a:pt x="350792" y="354726"/>
                  </a:cubicBezTo>
                  <a:cubicBezTo>
                    <a:pt x="350792" y="328565"/>
                    <a:pt x="374118" y="308075"/>
                    <a:pt x="405492" y="308075"/>
                  </a:cubicBezTo>
                  <a:cubicBezTo>
                    <a:pt x="429732" y="308075"/>
                    <a:pt x="447843" y="317588"/>
                    <a:pt x="462845" y="331401"/>
                  </a:cubicBezTo>
                  <a:lnTo>
                    <a:pt x="451411" y="345945"/>
                  </a:lnTo>
                  <a:cubicBezTo>
                    <a:pt x="437873" y="332864"/>
                    <a:pt x="421683" y="324998"/>
                    <a:pt x="404578" y="324998"/>
                  </a:cubicBezTo>
                  <a:cubicBezTo>
                    <a:pt x="384362" y="324998"/>
                    <a:pt x="369635" y="338352"/>
                    <a:pt x="369635" y="353262"/>
                  </a:cubicBezTo>
                  <a:cubicBezTo>
                    <a:pt x="369635" y="370184"/>
                    <a:pt x="385826" y="376130"/>
                    <a:pt x="413633" y="382716"/>
                  </a:cubicBezTo>
                  <a:cubicBezTo>
                    <a:pt x="444825" y="390125"/>
                    <a:pt x="467144" y="401285"/>
                    <a:pt x="467144" y="430098"/>
                  </a:cubicBezTo>
                  <a:cubicBezTo>
                    <a:pt x="467144" y="455984"/>
                    <a:pt x="447660" y="477206"/>
                    <a:pt x="409608" y="477206"/>
                  </a:cubicBezTo>
                  <a:cubicBezTo>
                    <a:pt x="382716" y="477389"/>
                    <a:pt x="361586" y="467601"/>
                    <a:pt x="345121" y="451411"/>
                  </a:cubicBezTo>
                  <a:close/>
                  <a:moveTo>
                    <a:pt x="619535" y="437690"/>
                  </a:moveTo>
                  <a:lnTo>
                    <a:pt x="528430" y="437690"/>
                  </a:lnTo>
                  <a:lnTo>
                    <a:pt x="512056" y="474828"/>
                  </a:lnTo>
                  <a:lnTo>
                    <a:pt x="491841" y="474828"/>
                  </a:lnTo>
                  <a:lnTo>
                    <a:pt x="563921" y="311368"/>
                  </a:lnTo>
                  <a:lnTo>
                    <a:pt x="584136" y="311368"/>
                  </a:lnTo>
                  <a:lnTo>
                    <a:pt x="656215" y="474828"/>
                  </a:lnTo>
                  <a:lnTo>
                    <a:pt x="636000" y="474828"/>
                  </a:lnTo>
                  <a:lnTo>
                    <a:pt x="619535" y="437690"/>
                  </a:lnTo>
                  <a:close/>
                  <a:moveTo>
                    <a:pt x="611943" y="420036"/>
                  </a:moveTo>
                  <a:lnTo>
                    <a:pt x="574165" y="334145"/>
                  </a:lnTo>
                  <a:lnTo>
                    <a:pt x="536113" y="420036"/>
                  </a:lnTo>
                  <a:lnTo>
                    <a:pt x="611943" y="420036"/>
                  </a:lnTo>
                  <a:close/>
                  <a:moveTo>
                    <a:pt x="692346" y="311368"/>
                  </a:moveTo>
                  <a:lnTo>
                    <a:pt x="710915" y="311368"/>
                  </a:lnTo>
                  <a:lnTo>
                    <a:pt x="812265" y="444368"/>
                  </a:lnTo>
                  <a:lnTo>
                    <a:pt x="812265" y="311368"/>
                  </a:lnTo>
                  <a:lnTo>
                    <a:pt x="830834" y="311368"/>
                  </a:lnTo>
                  <a:lnTo>
                    <a:pt x="830834" y="474736"/>
                  </a:lnTo>
                  <a:lnTo>
                    <a:pt x="812265" y="474736"/>
                  </a:lnTo>
                  <a:lnTo>
                    <a:pt x="710823" y="341737"/>
                  </a:lnTo>
                  <a:lnTo>
                    <a:pt x="710823" y="474736"/>
                  </a:lnTo>
                  <a:lnTo>
                    <a:pt x="692255" y="474736"/>
                  </a:lnTo>
                  <a:lnTo>
                    <a:pt x="692255" y="311368"/>
                  </a:lnTo>
                  <a:close/>
                  <a:moveTo>
                    <a:pt x="192273" y="595661"/>
                  </a:moveTo>
                  <a:lnTo>
                    <a:pt x="206908" y="595661"/>
                  </a:lnTo>
                  <a:lnTo>
                    <a:pt x="238557" y="688230"/>
                  </a:lnTo>
                  <a:lnTo>
                    <a:pt x="268834" y="595661"/>
                  </a:lnTo>
                  <a:lnTo>
                    <a:pt x="283287" y="595661"/>
                  </a:lnTo>
                  <a:lnTo>
                    <a:pt x="313564" y="688230"/>
                  </a:lnTo>
                  <a:lnTo>
                    <a:pt x="345213" y="595661"/>
                  </a:lnTo>
                  <a:lnTo>
                    <a:pt x="359848" y="595661"/>
                  </a:lnTo>
                  <a:lnTo>
                    <a:pt x="320698" y="710092"/>
                  </a:lnTo>
                  <a:lnTo>
                    <a:pt x="307892" y="710092"/>
                  </a:lnTo>
                  <a:lnTo>
                    <a:pt x="276060" y="612675"/>
                  </a:lnTo>
                  <a:lnTo>
                    <a:pt x="244045" y="710092"/>
                  </a:lnTo>
                  <a:lnTo>
                    <a:pt x="231239" y="710092"/>
                  </a:lnTo>
                  <a:lnTo>
                    <a:pt x="192273" y="595661"/>
                  </a:lnTo>
                  <a:close/>
                  <a:moveTo>
                    <a:pt x="383173" y="599960"/>
                  </a:moveTo>
                  <a:cubicBezTo>
                    <a:pt x="383173" y="595661"/>
                    <a:pt x="386832" y="591819"/>
                    <a:pt x="391497" y="591819"/>
                  </a:cubicBezTo>
                  <a:cubicBezTo>
                    <a:pt x="395979" y="591819"/>
                    <a:pt x="399638" y="595661"/>
                    <a:pt x="399638" y="599960"/>
                  </a:cubicBezTo>
                  <a:cubicBezTo>
                    <a:pt x="399638" y="604442"/>
                    <a:pt x="395979" y="608284"/>
                    <a:pt x="391497" y="608284"/>
                  </a:cubicBezTo>
                  <a:cubicBezTo>
                    <a:pt x="386832" y="608284"/>
                    <a:pt x="383173" y="604534"/>
                    <a:pt x="383173" y="599960"/>
                  </a:cubicBezTo>
                  <a:close/>
                  <a:moveTo>
                    <a:pt x="385186" y="624017"/>
                  </a:moveTo>
                  <a:lnTo>
                    <a:pt x="397717" y="624017"/>
                  </a:lnTo>
                  <a:lnTo>
                    <a:pt x="397717" y="710092"/>
                  </a:lnTo>
                  <a:lnTo>
                    <a:pt x="385186" y="710092"/>
                  </a:lnTo>
                  <a:lnTo>
                    <a:pt x="385186" y="624017"/>
                  </a:lnTo>
                  <a:close/>
                  <a:moveTo>
                    <a:pt x="471809" y="706616"/>
                  </a:moveTo>
                  <a:cubicBezTo>
                    <a:pt x="467327" y="710092"/>
                    <a:pt x="461656" y="712104"/>
                    <a:pt x="455801" y="712104"/>
                  </a:cubicBezTo>
                  <a:cubicBezTo>
                    <a:pt x="443453" y="712104"/>
                    <a:pt x="434855" y="702957"/>
                    <a:pt x="434855" y="690151"/>
                  </a:cubicBezTo>
                  <a:lnTo>
                    <a:pt x="434855" y="635177"/>
                  </a:lnTo>
                  <a:lnTo>
                    <a:pt x="421317" y="635177"/>
                  </a:lnTo>
                  <a:lnTo>
                    <a:pt x="421317" y="624017"/>
                  </a:lnTo>
                  <a:lnTo>
                    <a:pt x="434855" y="624017"/>
                  </a:lnTo>
                  <a:lnTo>
                    <a:pt x="434855" y="600326"/>
                  </a:lnTo>
                  <a:lnTo>
                    <a:pt x="447295" y="600326"/>
                  </a:lnTo>
                  <a:lnTo>
                    <a:pt x="447295" y="624017"/>
                  </a:lnTo>
                  <a:lnTo>
                    <a:pt x="468424" y="624017"/>
                  </a:lnTo>
                  <a:lnTo>
                    <a:pt x="468424" y="635177"/>
                  </a:lnTo>
                  <a:lnTo>
                    <a:pt x="447295" y="635177"/>
                  </a:lnTo>
                  <a:lnTo>
                    <a:pt x="447295" y="690151"/>
                  </a:lnTo>
                  <a:cubicBezTo>
                    <a:pt x="447295" y="696463"/>
                    <a:pt x="451594" y="700945"/>
                    <a:pt x="456625" y="700945"/>
                  </a:cubicBezTo>
                  <a:cubicBezTo>
                    <a:pt x="460466" y="700945"/>
                    <a:pt x="463759" y="699481"/>
                    <a:pt x="465589" y="697469"/>
                  </a:cubicBezTo>
                  <a:lnTo>
                    <a:pt x="471809" y="706616"/>
                  </a:lnTo>
                  <a:close/>
                  <a:moveTo>
                    <a:pt x="568220" y="655301"/>
                  </a:moveTo>
                  <a:lnTo>
                    <a:pt x="568220" y="710092"/>
                  </a:lnTo>
                  <a:lnTo>
                    <a:pt x="555780" y="710092"/>
                  </a:lnTo>
                  <a:lnTo>
                    <a:pt x="555780" y="656947"/>
                  </a:lnTo>
                  <a:cubicBezTo>
                    <a:pt x="555780" y="642952"/>
                    <a:pt x="546907" y="633164"/>
                    <a:pt x="534284" y="633164"/>
                  </a:cubicBezTo>
                  <a:cubicBezTo>
                    <a:pt x="519831" y="633164"/>
                    <a:pt x="507666" y="643318"/>
                    <a:pt x="507666" y="655301"/>
                  </a:cubicBezTo>
                  <a:lnTo>
                    <a:pt x="507666" y="710092"/>
                  </a:lnTo>
                  <a:lnTo>
                    <a:pt x="495134" y="710092"/>
                  </a:lnTo>
                  <a:lnTo>
                    <a:pt x="495134" y="624017"/>
                  </a:lnTo>
                  <a:lnTo>
                    <a:pt x="507666" y="624017"/>
                  </a:lnTo>
                  <a:lnTo>
                    <a:pt x="507666" y="637830"/>
                  </a:lnTo>
                  <a:cubicBezTo>
                    <a:pt x="512697" y="628682"/>
                    <a:pt x="523856" y="622005"/>
                    <a:pt x="536022" y="622005"/>
                  </a:cubicBezTo>
                  <a:cubicBezTo>
                    <a:pt x="554865" y="622005"/>
                    <a:pt x="568220" y="635817"/>
                    <a:pt x="568220" y="655301"/>
                  </a:cubicBezTo>
                  <a:close/>
                  <a:moveTo>
                    <a:pt x="666185" y="690608"/>
                  </a:moveTo>
                  <a:lnTo>
                    <a:pt x="673869" y="698749"/>
                  </a:lnTo>
                  <a:cubicBezTo>
                    <a:pt x="666368" y="706890"/>
                    <a:pt x="651184" y="712104"/>
                    <a:pt x="639201" y="712104"/>
                  </a:cubicBezTo>
                  <a:cubicBezTo>
                    <a:pt x="616242" y="712104"/>
                    <a:pt x="595570" y="693261"/>
                    <a:pt x="595570" y="666826"/>
                  </a:cubicBezTo>
                  <a:cubicBezTo>
                    <a:pt x="595570" y="641214"/>
                    <a:pt x="614870" y="622005"/>
                    <a:pt x="638012" y="622005"/>
                  </a:cubicBezTo>
                  <a:cubicBezTo>
                    <a:pt x="663990" y="622005"/>
                    <a:pt x="678808" y="641671"/>
                    <a:pt x="678808" y="671857"/>
                  </a:cubicBezTo>
                  <a:lnTo>
                    <a:pt x="608376" y="671857"/>
                  </a:lnTo>
                  <a:cubicBezTo>
                    <a:pt x="610205" y="688688"/>
                    <a:pt x="622005" y="701036"/>
                    <a:pt x="639018" y="701036"/>
                  </a:cubicBezTo>
                  <a:cubicBezTo>
                    <a:pt x="649172" y="700945"/>
                    <a:pt x="660880" y="696463"/>
                    <a:pt x="666185" y="690608"/>
                  </a:cubicBezTo>
                  <a:close/>
                  <a:moveTo>
                    <a:pt x="608559" y="660606"/>
                  </a:moveTo>
                  <a:lnTo>
                    <a:pt x="666551" y="660606"/>
                  </a:lnTo>
                  <a:cubicBezTo>
                    <a:pt x="664905" y="645147"/>
                    <a:pt x="655758" y="633164"/>
                    <a:pt x="638561" y="633164"/>
                  </a:cubicBezTo>
                  <a:cubicBezTo>
                    <a:pt x="623194" y="633164"/>
                    <a:pt x="610845" y="643958"/>
                    <a:pt x="608559" y="660606"/>
                  </a:cubicBezTo>
                  <a:close/>
                  <a:moveTo>
                    <a:pt x="699481" y="699298"/>
                  </a:moveTo>
                  <a:lnTo>
                    <a:pt x="705975" y="690151"/>
                  </a:lnTo>
                  <a:cubicBezTo>
                    <a:pt x="715763" y="697286"/>
                    <a:pt x="725642" y="700945"/>
                    <a:pt x="735155" y="700945"/>
                  </a:cubicBezTo>
                  <a:cubicBezTo>
                    <a:pt x="746497" y="700945"/>
                    <a:pt x="754181" y="695639"/>
                    <a:pt x="754181" y="687498"/>
                  </a:cubicBezTo>
                  <a:cubicBezTo>
                    <a:pt x="754181" y="678168"/>
                    <a:pt x="744210" y="675150"/>
                    <a:pt x="732502" y="671857"/>
                  </a:cubicBezTo>
                  <a:cubicBezTo>
                    <a:pt x="711647" y="665820"/>
                    <a:pt x="703689" y="659691"/>
                    <a:pt x="703689" y="647342"/>
                  </a:cubicBezTo>
                  <a:cubicBezTo>
                    <a:pt x="703689" y="631701"/>
                    <a:pt x="716678" y="622005"/>
                    <a:pt x="733874" y="622005"/>
                  </a:cubicBezTo>
                  <a:cubicBezTo>
                    <a:pt x="744576" y="622005"/>
                    <a:pt x="755553" y="625664"/>
                    <a:pt x="764700" y="631701"/>
                  </a:cubicBezTo>
                  <a:lnTo>
                    <a:pt x="758663" y="641397"/>
                  </a:lnTo>
                  <a:cubicBezTo>
                    <a:pt x="749973" y="635909"/>
                    <a:pt x="741466" y="633256"/>
                    <a:pt x="733874" y="633256"/>
                  </a:cubicBezTo>
                  <a:cubicBezTo>
                    <a:pt x="724178" y="633256"/>
                    <a:pt x="716220" y="637555"/>
                    <a:pt x="716220" y="645879"/>
                  </a:cubicBezTo>
                  <a:cubicBezTo>
                    <a:pt x="716220" y="653380"/>
                    <a:pt x="722532" y="655666"/>
                    <a:pt x="738539" y="660880"/>
                  </a:cubicBezTo>
                  <a:cubicBezTo>
                    <a:pt x="752351" y="665179"/>
                    <a:pt x="766712" y="669844"/>
                    <a:pt x="766712" y="686218"/>
                  </a:cubicBezTo>
                  <a:cubicBezTo>
                    <a:pt x="766712" y="702042"/>
                    <a:pt x="753083" y="712196"/>
                    <a:pt x="735246" y="712196"/>
                  </a:cubicBezTo>
                  <a:cubicBezTo>
                    <a:pt x="723172" y="712104"/>
                    <a:pt x="709817" y="707622"/>
                    <a:pt x="699481" y="699298"/>
                  </a:cubicBezTo>
                  <a:close/>
                  <a:moveTo>
                    <a:pt x="787659" y="699298"/>
                  </a:moveTo>
                  <a:lnTo>
                    <a:pt x="794154" y="690151"/>
                  </a:lnTo>
                  <a:cubicBezTo>
                    <a:pt x="803941" y="697286"/>
                    <a:pt x="813820" y="700945"/>
                    <a:pt x="823333" y="700945"/>
                  </a:cubicBezTo>
                  <a:cubicBezTo>
                    <a:pt x="834676" y="700945"/>
                    <a:pt x="842359" y="695639"/>
                    <a:pt x="842359" y="687498"/>
                  </a:cubicBezTo>
                  <a:cubicBezTo>
                    <a:pt x="842359" y="678168"/>
                    <a:pt x="832389" y="675150"/>
                    <a:pt x="820680" y="671857"/>
                  </a:cubicBezTo>
                  <a:cubicBezTo>
                    <a:pt x="799825" y="665820"/>
                    <a:pt x="791867" y="659691"/>
                    <a:pt x="791867" y="647342"/>
                  </a:cubicBezTo>
                  <a:cubicBezTo>
                    <a:pt x="791867" y="631701"/>
                    <a:pt x="804856" y="622005"/>
                    <a:pt x="822053" y="622005"/>
                  </a:cubicBezTo>
                  <a:cubicBezTo>
                    <a:pt x="832755" y="622005"/>
                    <a:pt x="843731" y="625664"/>
                    <a:pt x="852878" y="631701"/>
                  </a:cubicBezTo>
                  <a:lnTo>
                    <a:pt x="846841" y="641397"/>
                  </a:lnTo>
                  <a:cubicBezTo>
                    <a:pt x="838151" y="635909"/>
                    <a:pt x="829645" y="633256"/>
                    <a:pt x="822053" y="633256"/>
                  </a:cubicBezTo>
                  <a:cubicBezTo>
                    <a:pt x="812357" y="633256"/>
                    <a:pt x="804399" y="637555"/>
                    <a:pt x="804399" y="645879"/>
                  </a:cubicBezTo>
                  <a:cubicBezTo>
                    <a:pt x="804399" y="653380"/>
                    <a:pt x="810710" y="655666"/>
                    <a:pt x="826718" y="660880"/>
                  </a:cubicBezTo>
                  <a:cubicBezTo>
                    <a:pt x="840530" y="665179"/>
                    <a:pt x="854891" y="669844"/>
                    <a:pt x="854891" y="686218"/>
                  </a:cubicBezTo>
                  <a:cubicBezTo>
                    <a:pt x="854891" y="702042"/>
                    <a:pt x="841261" y="712196"/>
                    <a:pt x="823425" y="712196"/>
                  </a:cubicBezTo>
                  <a:cubicBezTo>
                    <a:pt x="811259" y="712104"/>
                    <a:pt x="797996" y="707622"/>
                    <a:pt x="787659" y="699298"/>
                  </a:cubicBezTo>
                  <a:close/>
                  <a:moveTo>
                    <a:pt x="766895" y="1027589"/>
                  </a:moveTo>
                  <a:lnTo>
                    <a:pt x="775036" y="1010758"/>
                  </a:lnTo>
                  <a:lnTo>
                    <a:pt x="29728" y="1010758"/>
                  </a:lnTo>
                  <a:lnTo>
                    <a:pt x="29728" y="29728"/>
                  </a:lnTo>
                  <a:lnTo>
                    <a:pt x="1010758" y="29728"/>
                  </a:lnTo>
                  <a:lnTo>
                    <a:pt x="1010758" y="738173"/>
                  </a:lnTo>
                  <a:lnTo>
                    <a:pt x="1040486" y="743753"/>
                  </a:lnTo>
                  <a:lnTo>
                    <a:pt x="1040486" y="0"/>
                  </a:lnTo>
                  <a:lnTo>
                    <a:pt x="0" y="0"/>
                  </a:lnTo>
                  <a:lnTo>
                    <a:pt x="0" y="1040486"/>
                  </a:lnTo>
                  <a:lnTo>
                    <a:pt x="775585" y="1040486"/>
                  </a:lnTo>
                  <a:lnTo>
                    <a:pt x="766895" y="1027589"/>
                  </a:lnTo>
                  <a:close/>
                  <a:moveTo>
                    <a:pt x="1136531" y="979566"/>
                  </a:moveTo>
                  <a:cubicBezTo>
                    <a:pt x="1134061" y="980115"/>
                    <a:pt x="1129030" y="981579"/>
                    <a:pt x="1121530" y="983774"/>
                  </a:cubicBezTo>
                  <a:cubicBezTo>
                    <a:pt x="1115492" y="985512"/>
                    <a:pt x="1110370" y="986701"/>
                    <a:pt x="1106071" y="987341"/>
                  </a:cubicBezTo>
                  <a:cubicBezTo>
                    <a:pt x="1104424" y="989994"/>
                    <a:pt x="1102046" y="995391"/>
                    <a:pt x="1099028" y="1003715"/>
                  </a:cubicBezTo>
                  <a:cubicBezTo>
                    <a:pt x="1096375" y="1011124"/>
                    <a:pt x="1093631" y="1016246"/>
                    <a:pt x="1090887" y="1019173"/>
                  </a:cubicBezTo>
                  <a:cubicBezTo>
                    <a:pt x="1091893" y="1020820"/>
                    <a:pt x="1094637" y="1025485"/>
                    <a:pt x="1099028" y="1033260"/>
                  </a:cubicBezTo>
                  <a:cubicBezTo>
                    <a:pt x="1102229" y="1039023"/>
                    <a:pt x="1105156" y="1043505"/>
                    <a:pt x="1107626" y="1046706"/>
                  </a:cubicBezTo>
                  <a:cubicBezTo>
                    <a:pt x="1104699" y="1051005"/>
                    <a:pt x="1093082" y="1063080"/>
                    <a:pt x="1072775" y="1083112"/>
                  </a:cubicBezTo>
                  <a:cubicBezTo>
                    <a:pt x="1062896" y="1078447"/>
                    <a:pt x="1053292" y="1072776"/>
                    <a:pt x="1043870" y="1066373"/>
                  </a:cubicBezTo>
                  <a:cubicBezTo>
                    <a:pt x="1033168" y="1072684"/>
                    <a:pt x="1022923" y="1076709"/>
                    <a:pt x="1013410" y="1078538"/>
                  </a:cubicBezTo>
                  <a:cubicBezTo>
                    <a:pt x="1011398" y="1081923"/>
                    <a:pt x="1009477" y="1087411"/>
                    <a:pt x="1007648" y="1095095"/>
                  </a:cubicBezTo>
                  <a:cubicBezTo>
                    <a:pt x="1005727" y="1103510"/>
                    <a:pt x="1004080" y="1109181"/>
                    <a:pt x="1002525" y="1112108"/>
                  </a:cubicBezTo>
                  <a:lnTo>
                    <a:pt x="953954" y="1112108"/>
                  </a:lnTo>
                  <a:cubicBezTo>
                    <a:pt x="952308" y="1108724"/>
                    <a:pt x="950753" y="1103418"/>
                    <a:pt x="949106" y="1096192"/>
                  </a:cubicBezTo>
                  <a:cubicBezTo>
                    <a:pt x="947368" y="1088509"/>
                    <a:pt x="945905" y="1083203"/>
                    <a:pt x="944716" y="1080093"/>
                  </a:cubicBezTo>
                  <a:cubicBezTo>
                    <a:pt x="925415" y="1071586"/>
                    <a:pt x="915353" y="1067013"/>
                    <a:pt x="914439" y="1066373"/>
                  </a:cubicBezTo>
                  <a:cubicBezTo>
                    <a:pt x="910139" y="1067745"/>
                    <a:pt x="905200" y="1070123"/>
                    <a:pt x="899437" y="1073690"/>
                  </a:cubicBezTo>
                  <a:cubicBezTo>
                    <a:pt x="892851" y="1077807"/>
                    <a:pt x="888186" y="1080459"/>
                    <a:pt x="885534" y="1081648"/>
                  </a:cubicBezTo>
                  <a:cubicBezTo>
                    <a:pt x="881234" y="1078813"/>
                    <a:pt x="869526" y="1067653"/>
                    <a:pt x="850409" y="1048078"/>
                  </a:cubicBezTo>
                  <a:cubicBezTo>
                    <a:pt x="851323" y="1044877"/>
                    <a:pt x="856354" y="1035181"/>
                    <a:pt x="865684" y="1019173"/>
                  </a:cubicBezTo>
                  <a:cubicBezTo>
                    <a:pt x="865136" y="1017435"/>
                    <a:pt x="862849" y="1012130"/>
                    <a:pt x="858824" y="1003257"/>
                  </a:cubicBezTo>
                  <a:cubicBezTo>
                    <a:pt x="855988" y="996763"/>
                    <a:pt x="854250" y="991000"/>
                    <a:pt x="853519" y="985786"/>
                  </a:cubicBezTo>
                  <a:cubicBezTo>
                    <a:pt x="849128" y="985238"/>
                    <a:pt x="843640" y="984048"/>
                    <a:pt x="837145" y="982219"/>
                  </a:cubicBezTo>
                  <a:cubicBezTo>
                    <a:pt x="829645" y="980024"/>
                    <a:pt x="824431" y="978652"/>
                    <a:pt x="821504" y="978011"/>
                  </a:cubicBezTo>
                  <a:lnTo>
                    <a:pt x="821504" y="927885"/>
                  </a:lnTo>
                  <a:cubicBezTo>
                    <a:pt x="823973" y="927336"/>
                    <a:pt x="829004" y="925873"/>
                    <a:pt x="836505" y="923677"/>
                  </a:cubicBezTo>
                  <a:cubicBezTo>
                    <a:pt x="842542" y="921939"/>
                    <a:pt x="847664" y="920750"/>
                    <a:pt x="851964" y="920110"/>
                  </a:cubicBezTo>
                  <a:cubicBezTo>
                    <a:pt x="853427" y="917457"/>
                    <a:pt x="855897" y="912060"/>
                    <a:pt x="859281" y="904011"/>
                  </a:cubicBezTo>
                  <a:cubicBezTo>
                    <a:pt x="862208" y="896968"/>
                    <a:pt x="864861" y="891754"/>
                    <a:pt x="867239" y="888369"/>
                  </a:cubicBezTo>
                  <a:cubicBezTo>
                    <a:pt x="859556" y="873917"/>
                    <a:pt x="853976" y="864770"/>
                    <a:pt x="850500" y="860745"/>
                  </a:cubicBezTo>
                  <a:cubicBezTo>
                    <a:pt x="853427" y="856446"/>
                    <a:pt x="865136" y="844372"/>
                    <a:pt x="885625" y="824340"/>
                  </a:cubicBezTo>
                  <a:cubicBezTo>
                    <a:pt x="898248" y="830560"/>
                    <a:pt x="907944" y="836139"/>
                    <a:pt x="914530" y="841079"/>
                  </a:cubicBezTo>
                  <a:cubicBezTo>
                    <a:pt x="932641" y="833121"/>
                    <a:pt x="943252" y="829096"/>
                    <a:pt x="946271" y="828913"/>
                  </a:cubicBezTo>
                  <a:cubicBezTo>
                    <a:pt x="946819" y="826992"/>
                    <a:pt x="948374" y="821321"/>
                    <a:pt x="950936" y="811899"/>
                  </a:cubicBezTo>
                  <a:cubicBezTo>
                    <a:pt x="952674" y="805130"/>
                    <a:pt x="954229" y="799642"/>
                    <a:pt x="955601" y="795343"/>
                  </a:cubicBezTo>
                  <a:lnTo>
                    <a:pt x="1004172" y="795343"/>
                  </a:lnTo>
                  <a:cubicBezTo>
                    <a:pt x="1005910" y="799734"/>
                    <a:pt x="1009020" y="810436"/>
                    <a:pt x="1013410" y="827358"/>
                  </a:cubicBezTo>
                  <a:cubicBezTo>
                    <a:pt x="1015331" y="828273"/>
                    <a:pt x="1020545" y="830285"/>
                    <a:pt x="1029052" y="833578"/>
                  </a:cubicBezTo>
                  <a:cubicBezTo>
                    <a:pt x="1035638" y="836048"/>
                    <a:pt x="1040577" y="838609"/>
                    <a:pt x="1043870" y="841079"/>
                  </a:cubicBezTo>
                  <a:cubicBezTo>
                    <a:pt x="1048170" y="839890"/>
                    <a:pt x="1053018" y="837511"/>
                    <a:pt x="1058689" y="833761"/>
                  </a:cubicBezTo>
                  <a:cubicBezTo>
                    <a:pt x="1065275" y="829645"/>
                    <a:pt x="1070031" y="826992"/>
                    <a:pt x="1072775" y="825803"/>
                  </a:cubicBezTo>
                  <a:cubicBezTo>
                    <a:pt x="1078081" y="829005"/>
                    <a:pt x="1084209" y="834493"/>
                    <a:pt x="1091344" y="842176"/>
                  </a:cubicBezTo>
                  <a:cubicBezTo>
                    <a:pt x="1099576" y="850683"/>
                    <a:pt x="1105522" y="856446"/>
                    <a:pt x="1109181" y="859373"/>
                  </a:cubicBezTo>
                  <a:cubicBezTo>
                    <a:pt x="1101955" y="872728"/>
                    <a:pt x="1096375" y="882424"/>
                    <a:pt x="1092442" y="888278"/>
                  </a:cubicBezTo>
                  <a:cubicBezTo>
                    <a:pt x="1100857" y="912609"/>
                    <a:pt x="1104882" y="923677"/>
                    <a:pt x="1104607" y="921573"/>
                  </a:cubicBezTo>
                  <a:cubicBezTo>
                    <a:pt x="1109181" y="922031"/>
                    <a:pt x="1114578" y="923220"/>
                    <a:pt x="1120981" y="925141"/>
                  </a:cubicBezTo>
                  <a:cubicBezTo>
                    <a:pt x="1128481" y="927336"/>
                    <a:pt x="1133695" y="928708"/>
                    <a:pt x="1136622" y="929349"/>
                  </a:cubicBezTo>
                  <a:lnTo>
                    <a:pt x="1136622" y="979566"/>
                  </a:lnTo>
                  <a:close/>
                  <a:moveTo>
                    <a:pt x="1066464" y="1001062"/>
                  </a:moveTo>
                  <a:cubicBezTo>
                    <a:pt x="1076160" y="982493"/>
                    <a:pt x="1080184" y="963833"/>
                    <a:pt x="1078630" y="944990"/>
                  </a:cubicBezTo>
                  <a:cubicBezTo>
                    <a:pt x="1076983" y="927794"/>
                    <a:pt x="1070946" y="912060"/>
                    <a:pt x="1060518" y="897699"/>
                  </a:cubicBezTo>
                  <a:cubicBezTo>
                    <a:pt x="1050365" y="883887"/>
                    <a:pt x="1037376" y="873277"/>
                    <a:pt x="1021643" y="865867"/>
                  </a:cubicBezTo>
                  <a:cubicBezTo>
                    <a:pt x="1005635" y="858184"/>
                    <a:pt x="989079" y="855074"/>
                    <a:pt x="972157" y="856354"/>
                  </a:cubicBezTo>
                  <a:cubicBezTo>
                    <a:pt x="947460" y="858275"/>
                    <a:pt x="927062" y="867057"/>
                    <a:pt x="910963" y="882607"/>
                  </a:cubicBezTo>
                  <a:cubicBezTo>
                    <a:pt x="896419" y="896693"/>
                    <a:pt x="887272" y="914347"/>
                    <a:pt x="883613" y="935569"/>
                  </a:cubicBezTo>
                  <a:cubicBezTo>
                    <a:pt x="880045" y="956333"/>
                    <a:pt x="882332" y="976182"/>
                    <a:pt x="890199" y="995208"/>
                  </a:cubicBezTo>
                  <a:cubicBezTo>
                    <a:pt x="898705" y="1015240"/>
                    <a:pt x="912243" y="1030333"/>
                    <a:pt x="930812" y="1040486"/>
                  </a:cubicBezTo>
                  <a:cubicBezTo>
                    <a:pt x="955235" y="1053750"/>
                    <a:pt x="981304" y="1055945"/>
                    <a:pt x="1008928" y="1047072"/>
                  </a:cubicBezTo>
                  <a:cubicBezTo>
                    <a:pt x="1035547" y="1038748"/>
                    <a:pt x="1054755" y="1023381"/>
                    <a:pt x="1066464" y="1001062"/>
                  </a:cubicBezTo>
                  <a:close/>
                </a:path>
              </a:pathLst>
            </a:custGeom>
            <a:solidFill>
              <a:srgbClr val="7F7F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10" name="Google Shape;5910;p23"/>
            <p:cNvSpPr txBox="1"/>
            <p:nvPr/>
          </p:nvSpPr>
          <p:spPr>
            <a:xfrm>
              <a:off x="8427334" y="3712246"/>
              <a:ext cx="1118029"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4"/>
                  </a:solidFill>
                  <a:latin typeface="Arial"/>
                  <a:ea typeface="Arial"/>
                  <a:cs typeface="Arial"/>
                  <a:sym typeface="Arial"/>
                </a:rPr>
                <a:t>Takeover</a:t>
              </a:r>
              <a:endParaRPr/>
            </a:p>
          </p:txBody>
        </p:sp>
        <p:grpSp>
          <p:nvGrpSpPr>
            <p:cNvPr id="5911" name="Google Shape;5911;p23"/>
            <p:cNvGrpSpPr/>
            <p:nvPr/>
          </p:nvGrpSpPr>
          <p:grpSpPr>
            <a:xfrm>
              <a:off x="9588099" y="2754226"/>
              <a:ext cx="478057" cy="444440"/>
              <a:chOff x="2894013" y="1371441"/>
              <a:chExt cx="1828959" cy="1828959"/>
            </a:xfrm>
          </p:grpSpPr>
          <p:sp>
            <p:nvSpPr>
              <p:cNvPr id="5912" name="Google Shape;5912;p23"/>
              <p:cNvSpPr/>
              <p:nvPr/>
            </p:nvSpPr>
            <p:spPr>
              <a:xfrm>
                <a:off x="2894013" y="1371441"/>
                <a:ext cx="1828959" cy="1828959"/>
              </a:xfrm>
              <a:prstGeom prst="ellipse">
                <a:avLst/>
              </a:prstGeom>
              <a:solidFill>
                <a:srgbClr val="A6192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13" name="Google Shape;5913;p23"/>
              <p:cNvSpPr/>
              <p:nvPr/>
            </p:nvSpPr>
            <p:spPr>
              <a:xfrm rot="2700000">
                <a:off x="3259713" y="1737836"/>
                <a:ext cx="1096166" cy="1096167"/>
              </a:xfrm>
              <a:custGeom>
                <a:avLst/>
                <a:gdLst/>
                <a:ahLst/>
                <a:cxnLst/>
                <a:rect l="l" t="t" r="r" b="b"/>
                <a:pathLst>
                  <a:path w="788" h="788" extrusionOk="0">
                    <a:moveTo>
                      <a:pt x="493" y="32"/>
                    </a:moveTo>
                    <a:lnTo>
                      <a:pt x="493" y="263"/>
                    </a:lnTo>
                    <a:lnTo>
                      <a:pt x="493" y="295"/>
                    </a:lnTo>
                    <a:lnTo>
                      <a:pt x="526" y="295"/>
                    </a:lnTo>
                    <a:lnTo>
                      <a:pt x="756" y="295"/>
                    </a:lnTo>
                    <a:lnTo>
                      <a:pt x="756" y="493"/>
                    </a:lnTo>
                    <a:lnTo>
                      <a:pt x="526" y="493"/>
                    </a:lnTo>
                    <a:lnTo>
                      <a:pt x="493" y="493"/>
                    </a:lnTo>
                    <a:lnTo>
                      <a:pt x="493" y="525"/>
                    </a:lnTo>
                    <a:lnTo>
                      <a:pt x="493" y="756"/>
                    </a:lnTo>
                    <a:lnTo>
                      <a:pt x="296" y="756"/>
                    </a:lnTo>
                    <a:lnTo>
                      <a:pt x="296" y="525"/>
                    </a:lnTo>
                    <a:lnTo>
                      <a:pt x="296" y="493"/>
                    </a:lnTo>
                    <a:lnTo>
                      <a:pt x="263" y="493"/>
                    </a:lnTo>
                    <a:lnTo>
                      <a:pt x="33" y="493"/>
                    </a:lnTo>
                    <a:lnTo>
                      <a:pt x="33" y="295"/>
                    </a:lnTo>
                    <a:lnTo>
                      <a:pt x="263" y="295"/>
                    </a:lnTo>
                    <a:lnTo>
                      <a:pt x="296" y="295"/>
                    </a:lnTo>
                    <a:lnTo>
                      <a:pt x="296" y="263"/>
                    </a:lnTo>
                    <a:lnTo>
                      <a:pt x="296" y="32"/>
                    </a:lnTo>
                    <a:lnTo>
                      <a:pt x="493" y="32"/>
                    </a:lnTo>
                    <a:close/>
                    <a:moveTo>
                      <a:pt x="526" y="0"/>
                    </a:moveTo>
                    <a:lnTo>
                      <a:pt x="263" y="0"/>
                    </a:lnTo>
                    <a:lnTo>
                      <a:pt x="263" y="263"/>
                    </a:lnTo>
                    <a:lnTo>
                      <a:pt x="0" y="263"/>
                    </a:lnTo>
                    <a:lnTo>
                      <a:pt x="0" y="525"/>
                    </a:lnTo>
                    <a:lnTo>
                      <a:pt x="263" y="525"/>
                    </a:lnTo>
                    <a:lnTo>
                      <a:pt x="263" y="788"/>
                    </a:lnTo>
                    <a:lnTo>
                      <a:pt x="526" y="788"/>
                    </a:lnTo>
                    <a:lnTo>
                      <a:pt x="526" y="525"/>
                    </a:lnTo>
                    <a:lnTo>
                      <a:pt x="788" y="525"/>
                    </a:lnTo>
                    <a:lnTo>
                      <a:pt x="788" y="263"/>
                    </a:lnTo>
                    <a:lnTo>
                      <a:pt x="526" y="263"/>
                    </a:lnTo>
                    <a:lnTo>
                      <a:pt x="526" y="0"/>
                    </a:lnTo>
                    <a:lnTo>
                      <a:pt x="526"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914" name="Google Shape;5914;p23"/>
            <p:cNvSpPr txBox="1"/>
            <p:nvPr/>
          </p:nvSpPr>
          <p:spPr>
            <a:xfrm>
              <a:off x="9408635" y="2555565"/>
              <a:ext cx="832393"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A6192E"/>
                  </a:solidFill>
                  <a:latin typeface="Arial"/>
                  <a:ea typeface="Arial"/>
                  <a:cs typeface="Arial"/>
                  <a:sym typeface="Arial"/>
                </a:rPr>
                <a:t>Failure</a:t>
              </a:r>
              <a:endParaRPr/>
            </a:p>
          </p:txBody>
        </p:sp>
        <p:grpSp>
          <p:nvGrpSpPr>
            <p:cNvPr id="5915" name="Google Shape;5915;p23"/>
            <p:cNvGrpSpPr/>
            <p:nvPr/>
          </p:nvGrpSpPr>
          <p:grpSpPr>
            <a:xfrm>
              <a:off x="8745568" y="3937475"/>
              <a:ext cx="448056" cy="444440"/>
              <a:chOff x="2894013" y="1371441"/>
              <a:chExt cx="1714181" cy="1828959"/>
            </a:xfrm>
          </p:grpSpPr>
          <p:sp>
            <p:nvSpPr>
              <p:cNvPr id="5916" name="Google Shape;5916;p23"/>
              <p:cNvSpPr/>
              <p:nvPr/>
            </p:nvSpPr>
            <p:spPr>
              <a:xfrm>
                <a:off x="2894013" y="1371441"/>
                <a:ext cx="1714181" cy="1828959"/>
              </a:xfrm>
              <a:prstGeom prst="ellipse">
                <a:avLst/>
              </a:prstGeom>
              <a:solidFill>
                <a:srgbClr val="E68C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17" name="Google Shape;5917;p23"/>
              <p:cNvSpPr/>
              <p:nvPr/>
            </p:nvSpPr>
            <p:spPr>
              <a:xfrm rot="2700000">
                <a:off x="3199317" y="1737842"/>
                <a:ext cx="1096166" cy="1096166"/>
              </a:xfrm>
              <a:custGeom>
                <a:avLst/>
                <a:gdLst/>
                <a:ahLst/>
                <a:cxnLst/>
                <a:rect l="l" t="t" r="r" b="b"/>
                <a:pathLst>
                  <a:path w="788" h="788" extrusionOk="0">
                    <a:moveTo>
                      <a:pt x="493" y="32"/>
                    </a:moveTo>
                    <a:lnTo>
                      <a:pt x="493" y="263"/>
                    </a:lnTo>
                    <a:lnTo>
                      <a:pt x="493" y="295"/>
                    </a:lnTo>
                    <a:lnTo>
                      <a:pt x="526" y="295"/>
                    </a:lnTo>
                    <a:lnTo>
                      <a:pt x="756" y="295"/>
                    </a:lnTo>
                    <a:lnTo>
                      <a:pt x="756" y="493"/>
                    </a:lnTo>
                    <a:lnTo>
                      <a:pt x="526" y="493"/>
                    </a:lnTo>
                    <a:lnTo>
                      <a:pt x="493" y="493"/>
                    </a:lnTo>
                    <a:lnTo>
                      <a:pt x="493" y="525"/>
                    </a:lnTo>
                    <a:lnTo>
                      <a:pt x="493" y="756"/>
                    </a:lnTo>
                    <a:lnTo>
                      <a:pt x="296" y="756"/>
                    </a:lnTo>
                    <a:lnTo>
                      <a:pt x="296" y="525"/>
                    </a:lnTo>
                    <a:lnTo>
                      <a:pt x="296" y="493"/>
                    </a:lnTo>
                    <a:lnTo>
                      <a:pt x="263" y="493"/>
                    </a:lnTo>
                    <a:lnTo>
                      <a:pt x="33" y="493"/>
                    </a:lnTo>
                    <a:lnTo>
                      <a:pt x="33" y="295"/>
                    </a:lnTo>
                    <a:lnTo>
                      <a:pt x="263" y="295"/>
                    </a:lnTo>
                    <a:lnTo>
                      <a:pt x="296" y="295"/>
                    </a:lnTo>
                    <a:lnTo>
                      <a:pt x="296" y="263"/>
                    </a:lnTo>
                    <a:lnTo>
                      <a:pt x="296" y="32"/>
                    </a:lnTo>
                    <a:lnTo>
                      <a:pt x="493" y="32"/>
                    </a:lnTo>
                    <a:close/>
                    <a:moveTo>
                      <a:pt x="526" y="0"/>
                    </a:moveTo>
                    <a:lnTo>
                      <a:pt x="263" y="0"/>
                    </a:lnTo>
                    <a:lnTo>
                      <a:pt x="263" y="263"/>
                    </a:lnTo>
                    <a:lnTo>
                      <a:pt x="0" y="263"/>
                    </a:lnTo>
                    <a:lnTo>
                      <a:pt x="0" y="525"/>
                    </a:lnTo>
                    <a:lnTo>
                      <a:pt x="263" y="525"/>
                    </a:lnTo>
                    <a:lnTo>
                      <a:pt x="263" y="788"/>
                    </a:lnTo>
                    <a:lnTo>
                      <a:pt x="526" y="788"/>
                    </a:lnTo>
                    <a:lnTo>
                      <a:pt x="526" y="525"/>
                    </a:lnTo>
                    <a:lnTo>
                      <a:pt x="788" y="525"/>
                    </a:lnTo>
                    <a:lnTo>
                      <a:pt x="788" y="263"/>
                    </a:lnTo>
                    <a:lnTo>
                      <a:pt x="526" y="263"/>
                    </a:lnTo>
                    <a:lnTo>
                      <a:pt x="526" y="0"/>
                    </a:lnTo>
                    <a:lnTo>
                      <a:pt x="526"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918" name="Google Shape;5918;p23"/>
            <p:cNvSpPr txBox="1"/>
            <p:nvPr/>
          </p:nvSpPr>
          <p:spPr>
            <a:xfrm>
              <a:off x="8427334" y="3360980"/>
              <a:ext cx="1118029"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E68C28"/>
                  </a:solidFill>
                  <a:latin typeface="Arial"/>
                  <a:ea typeface="Arial"/>
                  <a:cs typeface="Arial"/>
                  <a:sym typeface="Arial"/>
                </a:rPr>
                <a:t>Maintenance</a:t>
              </a:r>
              <a:endParaRPr/>
            </a:p>
          </p:txBody>
        </p:sp>
        <p:cxnSp>
          <p:nvCxnSpPr>
            <p:cNvPr id="5919" name="Google Shape;5919;p23"/>
            <p:cNvCxnSpPr/>
            <p:nvPr/>
          </p:nvCxnSpPr>
          <p:spPr>
            <a:xfrm>
              <a:off x="8986348" y="3545646"/>
              <a:ext cx="0" cy="185248"/>
            </a:xfrm>
            <a:prstGeom prst="straightConnector1">
              <a:avLst/>
            </a:prstGeom>
            <a:noFill/>
            <a:ln w="25400" cap="flat" cmpd="sng">
              <a:solidFill>
                <a:schemeClr val="accent4"/>
              </a:solidFill>
              <a:prstDash val="solid"/>
              <a:miter lim="800000"/>
              <a:headEnd type="none" w="sm" len="sm"/>
              <a:tailEnd type="triangl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5829"/>
                                        </p:tgtEl>
                                        <p:attrNameLst>
                                          <p:attrName>style.visibility</p:attrName>
                                        </p:attrNameLst>
                                      </p:cBhvr>
                                      <p:to>
                                        <p:strVal val="visible"/>
                                      </p:to>
                                    </p:set>
                                    <p:animEffect transition="in" filter="fade">
                                      <p:cBhvr>
                                        <p:cTn id="7" dur="500"/>
                                        <p:tgtEl>
                                          <p:spTgt spid="5829"/>
                                        </p:tgtEl>
                                      </p:cBhvr>
                                    </p:animEffect>
                                  </p:childTnLst>
                                </p:cTn>
                              </p:par>
                              <p:par>
                                <p:cTn id="8" presetID="10" presetClass="entr" presetSubtype="0" fill="hold" nodeType="withEffect">
                                  <p:stCondLst>
                                    <p:cond delay="250"/>
                                  </p:stCondLst>
                                  <p:childTnLst>
                                    <p:set>
                                      <p:cBhvr>
                                        <p:cTn id="9" dur="1" fill="hold">
                                          <p:stCondLst>
                                            <p:cond delay="0"/>
                                          </p:stCondLst>
                                        </p:cTn>
                                        <p:tgtEl>
                                          <p:spTgt spid="5832"/>
                                        </p:tgtEl>
                                        <p:attrNameLst>
                                          <p:attrName>style.visibility</p:attrName>
                                        </p:attrNameLst>
                                      </p:cBhvr>
                                      <p:to>
                                        <p:strVal val="visible"/>
                                      </p:to>
                                    </p:set>
                                    <p:animEffect transition="in" filter="fade">
                                      <p:cBhvr>
                                        <p:cTn id="10" dur="500"/>
                                        <p:tgtEl>
                                          <p:spTgt spid="5832"/>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5884"/>
                                        </p:tgtEl>
                                        <p:attrNameLst>
                                          <p:attrName>style.visibility</p:attrName>
                                        </p:attrNameLst>
                                      </p:cBhvr>
                                      <p:to>
                                        <p:strVal val="visible"/>
                                      </p:to>
                                    </p:set>
                                    <p:animEffect transition="in" filter="fade">
                                      <p:cBhvr>
                                        <p:cTn id="14" dur="500"/>
                                        <p:tgtEl>
                                          <p:spTgt spid="5884"/>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5830"/>
                                        </p:tgtEl>
                                        <p:attrNameLst>
                                          <p:attrName>style.visibility</p:attrName>
                                        </p:attrNameLst>
                                      </p:cBhvr>
                                      <p:to>
                                        <p:strVal val="visible"/>
                                      </p:to>
                                    </p:set>
                                    <p:animEffect transition="in" filter="fade">
                                      <p:cBhvr>
                                        <p:cTn id="18" dur="500"/>
                                        <p:tgtEl>
                                          <p:spTgt spid="5830"/>
                                        </p:tgtEl>
                                      </p:cBhvr>
                                    </p:animEffect>
                                  </p:childTnLst>
                                </p:cTn>
                              </p:par>
                              <p:par>
                                <p:cTn id="19" presetID="10" presetClass="entr" presetSubtype="0" fill="hold" nodeType="withEffect">
                                  <p:stCondLst>
                                    <p:cond delay="0"/>
                                  </p:stCondLst>
                                  <p:childTnLst>
                                    <p:set>
                                      <p:cBhvr>
                                        <p:cTn id="20" dur="1" fill="hold">
                                          <p:stCondLst>
                                            <p:cond delay="0"/>
                                          </p:stCondLst>
                                        </p:cTn>
                                        <p:tgtEl>
                                          <p:spTgt spid="5859"/>
                                        </p:tgtEl>
                                        <p:attrNameLst>
                                          <p:attrName>style.visibility</p:attrName>
                                        </p:attrNameLst>
                                      </p:cBhvr>
                                      <p:to>
                                        <p:strVal val="visible"/>
                                      </p:to>
                                    </p:set>
                                    <p:animEffect transition="in" filter="fade">
                                      <p:cBhvr>
                                        <p:cTn id="21" dur="500"/>
                                        <p:tgtEl>
                                          <p:spTgt spid="5859"/>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5827"/>
                                        </p:tgtEl>
                                        <p:attrNameLst>
                                          <p:attrName>style.visibility</p:attrName>
                                        </p:attrNameLst>
                                      </p:cBhvr>
                                      <p:to>
                                        <p:strVal val="visible"/>
                                      </p:to>
                                    </p:set>
                                    <p:animEffect transition="in" filter="fade">
                                      <p:cBhvr>
                                        <p:cTn id="25" dur="500"/>
                                        <p:tgtEl>
                                          <p:spTgt spid="5827"/>
                                        </p:tgtEl>
                                      </p:cBhvr>
                                    </p:animEffect>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5831"/>
                                        </p:tgtEl>
                                        <p:attrNameLst>
                                          <p:attrName>style.visibility</p:attrName>
                                        </p:attrNameLst>
                                      </p:cBhvr>
                                      <p:to>
                                        <p:strVal val="visible"/>
                                      </p:to>
                                    </p:set>
                                    <p:animEffect transition="in" filter="fade">
                                      <p:cBhvr>
                                        <p:cTn id="29" dur="500"/>
                                        <p:tgtEl>
                                          <p:spTgt spid="5831"/>
                                        </p:tgtEl>
                                      </p:cBhvr>
                                    </p:animEffect>
                                  </p:childTnLst>
                                </p:cTn>
                              </p:par>
                              <p:par>
                                <p:cTn id="30" presetID="10" presetClass="entr" presetSubtype="0" fill="hold" nodeType="withEffect">
                                  <p:stCondLst>
                                    <p:cond delay="0"/>
                                  </p:stCondLst>
                                  <p:childTnLst>
                                    <p:set>
                                      <p:cBhvr>
                                        <p:cTn id="31" dur="1" fill="hold">
                                          <p:stCondLst>
                                            <p:cond delay="0"/>
                                          </p:stCondLst>
                                        </p:cTn>
                                        <p:tgtEl>
                                          <p:spTgt spid="5885"/>
                                        </p:tgtEl>
                                        <p:attrNameLst>
                                          <p:attrName>style.visibility</p:attrName>
                                        </p:attrNameLst>
                                      </p:cBhvr>
                                      <p:to>
                                        <p:strVal val="visible"/>
                                      </p:to>
                                    </p:set>
                                    <p:animEffect transition="in" filter="fade">
                                      <p:cBhvr>
                                        <p:cTn id="32" dur="500"/>
                                        <p:tgtEl>
                                          <p:spTgt spid="5885"/>
                                        </p:tgtEl>
                                      </p:cBhvr>
                                    </p:animEffect>
                                  </p:childTnLst>
                                </p:cTn>
                              </p:par>
                            </p:childTnLst>
                          </p:cTn>
                        </p:par>
                        <p:par>
                          <p:cTn id="33" fill="hold">
                            <p:stCondLst>
                              <p:cond delay="2500"/>
                            </p:stCondLst>
                            <p:childTnLst>
                              <p:par>
                                <p:cTn id="34" presetID="10" presetClass="entr" presetSubtype="0" fill="hold" nodeType="afterEffect">
                                  <p:stCondLst>
                                    <p:cond delay="0"/>
                                  </p:stCondLst>
                                  <p:childTnLst>
                                    <p:set>
                                      <p:cBhvr>
                                        <p:cTn id="35" dur="1" fill="hold">
                                          <p:stCondLst>
                                            <p:cond delay="0"/>
                                          </p:stCondLst>
                                        </p:cTn>
                                        <p:tgtEl>
                                          <p:spTgt spid="5828"/>
                                        </p:tgtEl>
                                        <p:attrNameLst>
                                          <p:attrName>style.visibility</p:attrName>
                                        </p:attrNameLst>
                                      </p:cBhvr>
                                      <p:to>
                                        <p:strVal val="visible"/>
                                      </p:to>
                                    </p:set>
                                    <p:animEffect transition="in" filter="fade">
                                      <p:cBhvr>
                                        <p:cTn id="36" dur="500"/>
                                        <p:tgtEl>
                                          <p:spTgt spid="5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24"/>
        <p:cNvGrpSpPr/>
        <p:nvPr/>
      </p:nvGrpSpPr>
      <p:grpSpPr>
        <a:xfrm>
          <a:off x="0" y="0"/>
          <a:ext cx="0" cy="0"/>
          <a:chOff x="0" y="0"/>
          <a:chExt cx="0" cy="0"/>
        </a:xfrm>
      </p:grpSpPr>
      <p:sp>
        <p:nvSpPr>
          <p:cNvPr id="5925" name="Google Shape;5925;p24"/>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SDDC Infrastructure</a:t>
            </a:r>
            <a:br>
              <a:rPr lang="en-US"/>
            </a:br>
            <a:endParaRPr/>
          </a:p>
        </p:txBody>
      </p:sp>
      <p:sp>
        <p:nvSpPr>
          <p:cNvPr id="5926" name="Google Shape;5926;p24"/>
          <p:cNvSpPr txBox="1"/>
          <p:nvPr/>
        </p:nvSpPr>
        <p:spPr>
          <a:xfrm>
            <a:off x="589108" y="2249891"/>
            <a:ext cx="6047219" cy="3370153"/>
          </a:xfrm>
          <a:prstGeom prst="rect">
            <a:avLst/>
          </a:prstGeom>
          <a:noFill/>
          <a:ln>
            <a:noFill/>
          </a:ln>
        </p:spPr>
        <p:txBody>
          <a:bodyPr spcFirstLastPara="1" wrap="square" lIns="0" tIns="0" rIns="0" bIns="0" anchor="t" anchorCtr="0">
            <a:spAutoFit/>
          </a:bodyPr>
          <a:lstStyle/>
          <a:p>
            <a:pPr marL="342900" marR="0" lvl="0" indent="-342900" algn="l" rtl="0">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Simple Networking with Virtual Private Clouds</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Consume VPCs in vCenter and VCF Automation</a:t>
            </a:r>
            <a:endParaRPr sz="20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Easily Deploy</a:t>
            </a:r>
            <a:r>
              <a:rPr lang="en-US" sz="2000" b="0" i="0" u="none" strike="noStrike">
                <a:solidFill>
                  <a:schemeClr val="dk1"/>
                </a:solidFill>
                <a:latin typeface="Arial"/>
                <a:ea typeface="Arial"/>
                <a:cs typeface="Arial"/>
                <a:sym typeface="Arial"/>
              </a:rPr>
              <a:t> NSX Edges</a:t>
            </a:r>
            <a:r>
              <a:rPr lang="en-US" sz="20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Independent Connectivity Options for each Tier</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External Connectivity with Centralized Services</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External Connectivity with NSX Edges</a:t>
            </a:r>
            <a:endParaRPr sz="1800">
              <a:solidFill>
                <a:schemeClr val="dk1"/>
              </a:solidFill>
              <a:latin typeface="Arial"/>
              <a:ea typeface="Arial"/>
              <a:cs typeface="Arial"/>
              <a:sym typeface="Arial"/>
            </a:endParaRPr>
          </a:p>
          <a:p>
            <a:pPr marL="342900" marR="0" lvl="0" indent="-342900" algn="l" rtl="0">
              <a:lnSpc>
                <a:spcPct val="150000"/>
              </a:lnSpc>
              <a:spcBef>
                <a:spcPts val="0"/>
              </a:spcBef>
              <a:spcAft>
                <a:spcPts val="0"/>
              </a:spcAft>
              <a:buClr>
                <a:schemeClr val="dk1"/>
              </a:buClr>
              <a:buSzPts val="2000"/>
              <a:buFont typeface="Arial"/>
              <a:buChar char="•"/>
            </a:pPr>
            <a:r>
              <a:rPr lang="en-US" sz="2000" b="0" i="0" u="none" strike="noStrike">
                <a:solidFill>
                  <a:schemeClr val="dk1"/>
                </a:solidFill>
                <a:latin typeface="Arial"/>
                <a:ea typeface="Arial"/>
                <a:cs typeface="Arial"/>
                <a:sym typeface="Arial"/>
              </a:rPr>
              <a:t>High Performance </a:t>
            </a:r>
            <a:r>
              <a:rPr lang="en-US" sz="2000">
                <a:solidFill>
                  <a:schemeClr val="dk1"/>
                </a:solidFill>
                <a:latin typeface="Arial"/>
                <a:ea typeface="Arial"/>
                <a:cs typeface="Arial"/>
                <a:sym typeface="Arial"/>
              </a:rPr>
              <a:t>Switching</a:t>
            </a:r>
            <a:r>
              <a:rPr lang="en-US" sz="2000" b="0" i="0" u="none" strike="noStrike">
                <a:solidFill>
                  <a:schemeClr val="dk1"/>
                </a:solidFill>
                <a:latin typeface="Arial"/>
                <a:ea typeface="Arial"/>
                <a:cs typeface="Arial"/>
                <a:sym typeface="Arial"/>
              </a:rPr>
              <a:t> (EDP)</a:t>
            </a:r>
            <a:endParaRPr sz="1800">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900"/>
              <a:buFont typeface="Arial"/>
              <a:buNone/>
            </a:pPr>
            <a:endParaRPr sz="900">
              <a:solidFill>
                <a:schemeClr val="dk2"/>
              </a:solidFill>
              <a:latin typeface="Arial"/>
              <a:ea typeface="Arial"/>
              <a:cs typeface="Arial"/>
              <a:sym typeface="Arial"/>
            </a:endParaRPr>
          </a:p>
        </p:txBody>
      </p:sp>
      <p:sp>
        <p:nvSpPr>
          <p:cNvPr id="5927" name="Google Shape;5927;p24"/>
          <p:cNvSpPr txBox="1"/>
          <p:nvPr/>
        </p:nvSpPr>
        <p:spPr>
          <a:xfrm>
            <a:off x="588963" y="1823094"/>
            <a:ext cx="225222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chemeClr val="accent2"/>
                </a:solidFill>
                <a:latin typeface="Arial"/>
                <a:ea typeface="Arial"/>
                <a:cs typeface="Arial"/>
                <a:sym typeface="Arial"/>
              </a:rPr>
              <a:t>NETWORKING | NSX</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DDF92-03ED-1D54-E0FA-22E47A623463}"/>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66490CCB-1F28-C36F-2488-39EFD17050BD}"/>
              </a:ext>
            </a:extLst>
          </p:cNvPr>
          <p:cNvGrpSpPr/>
          <p:nvPr/>
        </p:nvGrpSpPr>
        <p:grpSpPr>
          <a:xfrm>
            <a:off x="615821" y="1801344"/>
            <a:ext cx="7311557" cy="4415468"/>
            <a:chOff x="615821" y="1807607"/>
            <a:chExt cx="7311557" cy="4415468"/>
          </a:xfrm>
        </p:grpSpPr>
        <p:grpSp>
          <p:nvGrpSpPr>
            <p:cNvPr id="8" name="Group 7">
              <a:extLst>
                <a:ext uri="{FF2B5EF4-FFF2-40B4-BE49-F238E27FC236}">
                  <a16:creationId xmlns:a16="http://schemas.microsoft.com/office/drawing/2014/main" id="{9CC5A840-DC56-5B5D-D67E-EBEE3DDD1467}"/>
                </a:ext>
              </a:extLst>
            </p:cNvPr>
            <p:cNvGrpSpPr/>
            <p:nvPr/>
          </p:nvGrpSpPr>
          <p:grpSpPr>
            <a:xfrm>
              <a:off x="6621092" y="2046514"/>
              <a:ext cx="1306286" cy="3937519"/>
              <a:chOff x="6948194" y="2046514"/>
              <a:chExt cx="1306286" cy="3937519"/>
            </a:xfrm>
          </p:grpSpPr>
          <p:sp>
            <p:nvSpPr>
              <p:cNvPr id="2" name="Rectangle 1">
                <a:extLst>
                  <a:ext uri="{FF2B5EF4-FFF2-40B4-BE49-F238E27FC236}">
                    <a16:creationId xmlns:a16="http://schemas.microsoft.com/office/drawing/2014/main" id="{C57ADC47-BB05-2B6A-15CB-49579D181E18}"/>
                  </a:ext>
                </a:extLst>
              </p:cNvPr>
              <p:cNvSpPr/>
              <p:nvPr/>
            </p:nvSpPr>
            <p:spPr bwMode="gray">
              <a:xfrm>
                <a:off x="6948194" y="2046514"/>
                <a:ext cx="1306286" cy="2096278"/>
              </a:xfrm>
              <a:prstGeom prst="rect">
                <a:avLst/>
              </a:prstGeom>
              <a:solidFill>
                <a:schemeClr val="accent2"/>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76BD4A13-1DF7-1040-46C6-89B2D65E9FD4}"/>
                  </a:ext>
                </a:extLst>
              </p:cNvPr>
              <p:cNvSpPr/>
              <p:nvPr/>
            </p:nvSpPr>
            <p:spPr bwMode="gray">
              <a:xfrm>
                <a:off x="6948194" y="4217436"/>
                <a:ext cx="1306286" cy="1766597"/>
              </a:xfrm>
              <a:prstGeom prst="rect">
                <a:avLst/>
              </a:prstGeom>
              <a:solidFill>
                <a:schemeClr val="accent5"/>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131" name="Freeform 130">
              <a:extLst>
                <a:ext uri="{FF2B5EF4-FFF2-40B4-BE49-F238E27FC236}">
                  <a16:creationId xmlns:a16="http://schemas.microsoft.com/office/drawing/2014/main" id="{0221E0D2-F6A7-2D75-11EF-39B29642D8DE}"/>
                </a:ext>
              </a:extLst>
            </p:cNvPr>
            <p:cNvSpPr/>
            <p:nvPr/>
          </p:nvSpPr>
          <p:spPr bwMode="gray">
            <a:xfrm>
              <a:off x="615821" y="2058955"/>
              <a:ext cx="7307392" cy="2090057"/>
            </a:xfrm>
            <a:custGeom>
              <a:avLst/>
              <a:gdLst>
                <a:gd name="connsiteX0" fmla="*/ 0 w 7632441"/>
                <a:gd name="connsiteY0" fmla="*/ 0 h 2096277"/>
                <a:gd name="connsiteX1" fmla="*/ 5101569 w 7632441"/>
                <a:gd name="connsiteY1" fmla="*/ 0 h 2096277"/>
                <a:gd name="connsiteX2" fmla="*/ 5101569 w 7632441"/>
                <a:gd name="connsiteY2" fmla="*/ 124802 h 2096277"/>
                <a:gd name="connsiteX3" fmla="*/ 4971471 w 7632441"/>
                <a:gd name="connsiteY3" fmla="*/ 124802 h 2096277"/>
                <a:gd name="connsiteX4" fmla="*/ 5231667 w 7632441"/>
                <a:gd name="connsiteY4" fmla="*/ 258616 h 2096277"/>
                <a:gd name="connsiteX5" fmla="*/ 5491862 w 7632441"/>
                <a:gd name="connsiteY5" fmla="*/ 124802 h 2096277"/>
                <a:gd name="connsiteX6" fmla="*/ 5361764 w 7632441"/>
                <a:gd name="connsiteY6" fmla="*/ 124802 h 2096277"/>
                <a:gd name="connsiteX7" fmla="*/ 5361764 w 7632441"/>
                <a:gd name="connsiteY7" fmla="*/ 0 h 2096277"/>
                <a:gd name="connsiteX8" fmla="*/ 7632441 w 7632441"/>
                <a:gd name="connsiteY8" fmla="*/ 0 h 2096277"/>
                <a:gd name="connsiteX9" fmla="*/ 7632441 w 7632441"/>
                <a:gd name="connsiteY9" fmla="*/ 2096277 h 2096277"/>
                <a:gd name="connsiteX10" fmla="*/ 0 w 7632441"/>
                <a:gd name="connsiteY10" fmla="*/ 2096277 h 2096277"/>
                <a:gd name="connsiteX11" fmla="*/ 0 w 7632441"/>
                <a:gd name="connsiteY11" fmla="*/ 0 h 209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32441" h="2096277">
                  <a:moveTo>
                    <a:pt x="0" y="0"/>
                  </a:moveTo>
                  <a:lnTo>
                    <a:pt x="5101569" y="0"/>
                  </a:lnTo>
                  <a:lnTo>
                    <a:pt x="5101569" y="124802"/>
                  </a:lnTo>
                  <a:lnTo>
                    <a:pt x="4971471" y="124802"/>
                  </a:lnTo>
                  <a:lnTo>
                    <a:pt x="5231667" y="258616"/>
                  </a:lnTo>
                  <a:lnTo>
                    <a:pt x="5491862" y="124802"/>
                  </a:lnTo>
                  <a:lnTo>
                    <a:pt x="5361764" y="124802"/>
                  </a:lnTo>
                  <a:lnTo>
                    <a:pt x="5361764" y="0"/>
                  </a:lnTo>
                  <a:lnTo>
                    <a:pt x="7632441" y="0"/>
                  </a:lnTo>
                  <a:lnTo>
                    <a:pt x="7632441" y="2096277"/>
                  </a:lnTo>
                  <a:lnTo>
                    <a:pt x="0" y="2096277"/>
                  </a:lnTo>
                  <a:lnTo>
                    <a:pt x="0" y="0"/>
                  </a:lnTo>
                  <a:close/>
                </a:path>
              </a:pathLst>
            </a:custGeom>
            <a:solidFill>
              <a:schemeClr val="accent2">
                <a:alpha val="10000"/>
              </a:schemeClr>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38" name="TextBox 37">
              <a:extLst>
                <a:ext uri="{FF2B5EF4-FFF2-40B4-BE49-F238E27FC236}">
                  <a16:creationId xmlns:a16="http://schemas.microsoft.com/office/drawing/2014/main" id="{ACE9C979-F107-8665-4A1E-4A17EE3D31E2}"/>
                </a:ext>
              </a:extLst>
            </p:cNvPr>
            <p:cNvSpPr txBox="1"/>
            <p:nvPr/>
          </p:nvSpPr>
          <p:spPr>
            <a:xfrm>
              <a:off x="4722813" y="6007631"/>
              <a:ext cx="289347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C4B94"/>
                  </a:solidFill>
                  <a:effectLst/>
                  <a:uLnTx/>
                  <a:uFillTx/>
                  <a:latin typeface="Arial" panose="020B0604020202020204"/>
                  <a:ea typeface="+mn-ea"/>
                  <a:cs typeface="+mn-cs"/>
                </a:rPr>
                <a:t>Self-service resources consumption</a:t>
              </a:r>
            </a:p>
          </p:txBody>
        </p:sp>
        <p:sp>
          <p:nvSpPr>
            <p:cNvPr id="36" name="TextBox 35">
              <a:extLst>
                <a:ext uri="{FF2B5EF4-FFF2-40B4-BE49-F238E27FC236}">
                  <a16:creationId xmlns:a16="http://schemas.microsoft.com/office/drawing/2014/main" id="{F06C754C-1EBB-6094-6692-C48185F66109}"/>
                </a:ext>
              </a:extLst>
            </p:cNvPr>
            <p:cNvSpPr txBox="1"/>
            <p:nvPr/>
          </p:nvSpPr>
          <p:spPr>
            <a:xfrm>
              <a:off x="4722813" y="1807607"/>
              <a:ext cx="2743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Resources pre-provisioning</a:t>
              </a:r>
            </a:p>
          </p:txBody>
        </p:sp>
        <p:sp>
          <p:nvSpPr>
            <p:cNvPr id="135" name="Freeform 134">
              <a:extLst>
                <a:ext uri="{FF2B5EF4-FFF2-40B4-BE49-F238E27FC236}">
                  <a16:creationId xmlns:a16="http://schemas.microsoft.com/office/drawing/2014/main" id="{2B7FBADE-4C0A-D94C-5BDE-02471A01F717}"/>
                </a:ext>
              </a:extLst>
            </p:cNvPr>
            <p:cNvSpPr/>
            <p:nvPr/>
          </p:nvSpPr>
          <p:spPr bwMode="gray">
            <a:xfrm flipH="1" flipV="1">
              <a:off x="2158481" y="4229877"/>
              <a:ext cx="5764732" cy="1754155"/>
            </a:xfrm>
            <a:custGeom>
              <a:avLst/>
              <a:gdLst>
                <a:gd name="connsiteX0" fmla="*/ 6102220 w 6102220"/>
                <a:gd name="connsiteY0" fmla="*/ 1754155 h 1754155"/>
                <a:gd name="connsiteX1" fmla="*/ 0 w 6102220"/>
                <a:gd name="connsiteY1" fmla="*/ 1754155 h 1754155"/>
                <a:gd name="connsiteX2" fmla="*/ 0 w 6102220"/>
                <a:gd name="connsiteY2" fmla="*/ 0 h 1754155"/>
                <a:gd name="connsiteX3" fmla="*/ 2270677 w 6102220"/>
                <a:gd name="connsiteY3" fmla="*/ 0 h 1754155"/>
                <a:gd name="connsiteX4" fmla="*/ 2270677 w 6102220"/>
                <a:gd name="connsiteY4" fmla="*/ 130238 h 1754155"/>
                <a:gd name="connsiteX5" fmla="*/ 2140579 w 6102220"/>
                <a:gd name="connsiteY5" fmla="*/ 130238 h 1754155"/>
                <a:gd name="connsiteX6" fmla="*/ 2400775 w 6102220"/>
                <a:gd name="connsiteY6" fmla="*/ 264052 h 1754155"/>
                <a:gd name="connsiteX7" fmla="*/ 2660970 w 6102220"/>
                <a:gd name="connsiteY7" fmla="*/ 130238 h 1754155"/>
                <a:gd name="connsiteX8" fmla="*/ 2530872 w 6102220"/>
                <a:gd name="connsiteY8" fmla="*/ 130238 h 1754155"/>
                <a:gd name="connsiteX9" fmla="*/ 2530872 w 6102220"/>
                <a:gd name="connsiteY9" fmla="*/ 0 h 1754155"/>
                <a:gd name="connsiteX10" fmla="*/ 6102220 w 6102220"/>
                <a:gd name="connsiteY10" fmla="*/ 0 h 1754155"/>
                <a:gd name="connsiteX11" fmla="*/ 6102220 w 6102220"/>
                <a:gd name="connsiteY11" fmla="*/ 1754155 h 175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2220" h="1754155">
                  <a:moveTo>
                    <a:pt x="6102220" y="1754155"/>
                  </a:moveTo>
                  <a:lnTo>
                    <a:pt x="0" y="1754155"/>
                  </a:lnTo>
                  <a:lnTo>
                    <a:pt x="0" y="0"/>
                  </a:lnTo>
                  <a:lnTo>
                    <a:pt x="2270677" y="0"/>
                  </a:lnTo>
                  <a:lnTo>
                    <a:pt x="2270677" y="130238"/>
                  </a:lnTo>
                  <a:lnTo>
                    <a:pt x="2140579" y="130238"/>
                  </a:lnTo>
                  <a:lnTo>
                    <a:pt x="2400775" y="264052"/>
                  </a:lnTo>
                  <a:lnTo>
                    <a:pt x="2660970" y="130238"/>
                  </a:lnTo>
                  <a:lnTo>
                    <a:pt x="2530872" y="130238"/>
                  </a:lnTo>
                  <a:lnTo>
                    <a:pt x="2530872" y="0"/>
                  </a:lnTo>
                  <a:lnTo>
                    <a:pt x="6102220" y="0"/>
                  </a:lnTo>
                  <a:lnTo>
                    <a:pt x="6102220" y="1754155"/>
                  </a:lnTo>
                  <a:close/>
                </a:path>
              </a:pathLst>
            </a:custGeom>
            <a:solidFill>
              <a:schemeClr val="accent5">
                <a:alpha val="10000"/>
              </a:schemeClr>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140" name="Group 139">
              <a:extLst>
                <a:ext uri="{FF2B5EF4-FFF2-40B4-BE49-F238E27FC236}">
                  <a16:creationId xmlns:a16="http://schemas.microsoft.com/office/drawing/2014/main" id="{157FD4F9-44E0-3BD0-6BFA-1228DE671432}"/>
                </a:ext>
              </a:extLst>
            </p:cNvPr>
            <p:cNvGrpSpPr/>
            <p:nvPr/>
          </p:nvGrpSpPr>
          <p:grpSpPr>
            <a:xfrm>
              <a:off x="6770687" y="4339343"/>
              <a:ext cx="972388" cy="1001142"/>
              <a:chOff x="7172130" y="4339343"/>
              <a:chExt cx="972388" cy="1001142"/>
            </a:xfrm>
          </p:grpSpPr>
          <p:grpSp>
            <p:nvGrpSpPr>
              <p:cNvPr id="30" name="Group 29">
                <a:extLst>
                  <a:ext uri="{FF2B5EF4-FFF2-40B4-BE49-F238E27FC236}">
                    <a16:creationId xmlns:a16="http://schemas.microsoft.com/office/drawing/2014/main" id="{255E6584-2042-6C84-3F63-863FBF107C30}"/>
                  </a:ext>
                </a:extLst>
              </p:cNvPr>
              <p:cNvGrpSpPr/>
              <p:nvPr/>
            </p:nvGrpSpPr>
            <p:grpSpPr>
              <a:xfrm>
                <a:off x="7243828" y="4929221"/>
                <a:ext cx="848284" cy="252000"/>
                <a:chOff x="7313613" y="4629473"/>
                <a:chExt cx="848284" cy="252000"/>
              </a:xfrm>
            </p:grpSpPr>
            <p:sp>
              <p:nvSpPr>
                <p:cNvPr id="21" name="Rectangle 20">
                  <a:extLst>
                    <a:ext uri="{FF2B5EF4-FFF2-40B4-BE49-F238E27FC236}">
                      <a16:creationId xmlns:a16="http://schemas.microsoft.com/office/drawing/2014/main" id="{55114C83-C9CD-A555-E1D2-FB46ADD342D7}"/>
                    </a:ext>
                  </a:extLst>
                </p:cNvPr>
                <p:cNvSpPr/>
                <p:nvPr/>
              </p:nvSpPr>
              <p:spPr bwMode="gray">
                <a:xfrm>
                  <a:off x="7313613" y="4629473"/>
                  <a:ext cx="848284" cy="252000"/>
                </a:xfrm>
                <a:prstGeom prst="rect">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9FCA8ABE-58FD-4FB6-E5E0-689FD5E83587}"/>
                    </a:ext>
                  </a:extLst>
                </p:cNvPr>
                <p:cNvSpPr/>
                <p:nvPr/>
              </p:nvSpPr>
              <p:spPr bwMode="gray">
                <a:xfrm>
                  <a:off x="7346949" y="4665473"/>
                  <a:ext cx="56137" cy="180000"/>
                </a:xfrm>
                <a:prstGeom prst="rect">
                  <a:avLst/>
                </a:prstGeom>
                <a:solidFill>
                  <a:schemeClr val="accent4"/>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127" name="TextBox 126">
                <a:extLst>
                  <a:ext uri="{FF2B5EF4-FFF2-40B4-BE49-F238E27FC236}">
                    <a16:creationId xmlns:a16="http://schemas.microsoft.com/office/drawing/2014/main" id="{8941DB26-D90D-5AFA-8AA9-6E1D4E619FA0}"/>
                  </a:ext>
                </a:extLst>
              </p:cNvPr>
              <p:cNvSpPr txBox="1"/>
              <p:nvPr/>
            </p:nvSpPr>
            <p:spPr>
              <a:xfrm>
                <a:off x="7247106" y="5187604"/>
                <a:ext cx="875490" cy="15288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minimal</a:t>
                </a:r>
              </a:p>
            </p:txBody>
          </p:sp>
          <p:sp>
            <p:nvSpPr>
              <p:cNvPr id="137" name="TextBox 136">
                <a:extLst>
                  <a:ext uri="{FF2B5EF4-FFF2-40B4-BE49-F238E27FC236}">
                    <a16:creationId xmlns:a16="http://schemas.microsoft.com/office/drawing/2014/main" id="{82B9BA87-C492-6A73-2072-D4DFDAFEFF00}"/>
                  </a:ext>
                </a:extLst>
              </p:cNvPr>
              <p:cNvSpPr txBox="1"/>
              <p:nvPr/>
            </p:nvSpPr>
            <p:spPr>
              <a:xfrm>
                <a:off x="7172130" y="4339343"/>
                <a:ext cx="972388" cy="4616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Required</a:t>
                </a:r>
                <a:b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Networking</a:t>
                </a:r>
                <a:b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Expertise</a:t>
                </a:r>
              </a:p>
            </p:txBody>
          </p:sp>
        </p:grpSp>
        <p:grpSp>
          <p:nvGrpSpPr>
            <p:cNvPr id="141" name="Group 140">
              <a:extLst>
                <a:ext uri="{FF2B5EF4-FFF2-40B4-BE49-F238E27FC236}">
                  <a16:creationId xmlns:a16="http://schemas.microsoft.com/office/drawing/2014/main" id="{223984E8-629A-6650-7D0E-0BFBF0549D69}"/>
                </a:ext>
              </a:extLst>
            </p:cNvPr>
            <p:cNvGrpSpPr/>
            <p:nvPr/>
          </p:nvGrpSpPr>
          <p:grpSpPr>
            <a:xfrm>
              <a:off x="6764467" y="2112438"/>
              <a:ext cx="972388" cy="1866175"/>
              <a:chOff x="7165910" y="2112438"/>
              <a:chExt cx="972388" cy="1866175"/>
            </a:xfrm>
          </p:grpSpPr>
          <p:grpSp>
            <p:nvGrpSpPr>
              <p:cNvPr id="28" name="Group 27">
                <a:extLst>
                  <a:ext uri="{FF2B5EF4-FFF2-40B4-BE49-F238E27FC236}">
                    <a16:creationId xmlns:a16="http://schemas.microsoft.com/office/drawing/2014/main" id="{A39A14C4-CC41-BD57-033F-FB446149E46E}"/>
                  </a:ext>
                </a:extLst>
              </p:cNvPr>
              <p:cNvGrpSpPr/>
              <p:nvPr/>
            </p:nvGrpSpPr>
            <p:grpSpPr>
              <a:xfrm>
                <a:off x="7243828" y="2680389"/>
                <a:ext cx="848284" cy="252000"/>
                <a:chOff x="7313613" y="2343473"/>
                <a:chExt cx="848284" cy="252000"/>
              </a:xfrm>
            </p:grpSpPr>
            <p:sp>
              <p:nvSpPr>
                <p:cNvPr id="106" name="Rectangle 105">
                  <a:extLst>
                    <a:ext uri="{FF2B5EF4-FFF2-40B4-BE49-F238E27FC236}">
                      <a16:creationId xmlns:a16="http://schemas.microsoft.com/office/drawing/2014/main" id="{69F4287F-B8CF-2DE0-D45E-C7FB2FBC4BA5}"/>
                    </a:ext>
                  </a:extLst>
                </p:cNvPr>
                <p:cNvSpPr/>
                <p:nvPr/>
              </p:nvSpPr>
              <p:spPr bwMode="gray">
                <a:xfrm>
                  <a:off x="7313613" y="2343473"/>
                  <a:ext cx="848284" cy="252000"/>
                </a:xfrm>
                <a:prstGeom prst="rect">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107" name="Rectangle 106">
                  <a:extLst>
                    <a:ext uri="{FF2B5EF4-FFF2-40B4-BE49-F238E27FC236}">
                      <a16:creationId xmlns:a16="http://schemas.microsoft.com/office/drawing/2014/main" id="{4A0DDEBF-77D4-F473-E5E3-478126BAF30E}"/>
                    </a:ext>
                  </a:extLst>
                </p:cNvPr>
                <p:cNvSpPr/>
                <p:nvPr/>
              </p:nvSpPr>
              <p:spPr bwMode="gray">
                <a:xfrm>
                  <a:off x="7346949" y="2379473"/>
                  <a:ext cx="756802" cy="180000"/>
                </a:xfrm>
                <a:prstGeom prst="rect">
                  <a:avLst/>
                </a:prstGeom>
                <a:solidFill>
                  <a:schemeClr val="accent3"/>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108" name="TextBox 107">
                <a:extLst>
                  <a:ext uri="{FF2B5EF4-FFF2-40B4-BE49-F238E27FC236}">
                    <a16:creationId xmlns:a16="http://schemas.microsoft.com/office/drawing/2014/main" id="{EA677CF3-0F43-235F-BEB8-14C9AB682F5F}"/>
                  </a:ext>
                </a:extLst>
              </p:cNvPr>
              <p:cNvSpPr txBox="1"/>
              <p:nvPr/>
            </p:nvSpPr>
            <p:spPr>
              <a:xfrm>
                <a:off x="7165910" y="2112438"/>
                <a:ext cx="972388" cy="4616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Required</a:t>
                </a:r>
                <a:b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Networking</a:t>
                </a:r>
                <a:b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b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Expertise</a:t>
                </a:r>
              </a:p>
            </p:txBody>
          </p:sp>
          <p:sp>
            <p:nvSpPr>
              <p:cNvPr id="125" name="TextBox 124">
                <a:extLst>
                  <a:ext uri="{FF2B5EF4-FFF2-40B4-BE49-F238E27FC236}">
                    <a16:creationId xmlns:a16="http://schemas.microsoft.com/office/drawing/2014/main" id="{F30BC8CB-7D48-1F4E-0526-3CE44B697700}"/>
                  </a:ext>
                </a:extLst>
              </p:cNvPr>
              <p:cNvSpPr txBox="1"/>
              <p:nvPr/>
            </p:nvSpPr>
            <p:spPr>
              <a:xfrm>
                <a:off x="7247106" y="2951696"/>
                <a:ext cx="875490" cy="15288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advanced</a:t>
                </a:r>
              </a:p>
            </p:txBody>
          </p:sp>
          <p:grpSp>
            <p:nvGrpSpPr>
              <p:cNvPr id="29" name="Group 28">
                <a:extLst>
                  <a:ext uri="{FF2B5EF4-FFF2-40B4-BE49-F238E27FC236}">
                    <a16:creationId xmlns:a16="http://schemas.microsoft.com/office/drawing/2014/main" id="{F33333FB-FAE6-758D-0FAD-9076EC38BDAD}"/>
                  </a:ext>
                </a:extLst>
              </p:cNvPr>
              <p:cNvGrpSpPr/>
              <p:nvPr/>
            </p:nvGrpSpPr>
            <p:grpSpPr>
              <a:xfrm>
                <a:off x="7243828" y="3553903"/>
                <a:ext cx="848284" cy="252000"/>
                <a:chOff x="7313613" y="3535026"/>
                <a:chExt cx="848284" cy="252000"/>
              </a:xfrm>
            </p:grpSpPr>
            <p:sp>
              <p:nvSpPr>
                <p:cNvPr id="6" name="Rectangle 5">
                  <a:extLst>
                    <a:ext uri="{FF2B5EF4-FFF2-40B4-BE49-F238E27FC236}">
                      <a16:creationId xmlns:a16="http://schemas.microsoft.com/office/drawing/2014/main" id="{A0B0778D-DBCC-23FA-DCEA-DE5E71747307}"/>
                    </a:ext>
                  </a:extLst>
                </p:cNvPr>
                <p:cNvSpPr/>
                <p:nvPr/>
              </p:nvSpPr>
              <p:spPr bwMode="gray">
                <a:xfrm>
                  <a:off x="7313613" y="3535026"/>
                  <a:ext cx="848284" cy="252000"/>
                </a:xfrm>
                <a:prstGeom prst="rect">
                  <a:avLst/>
                </a:prstGeom>
                <a:no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27CF1F40-BE66-104F-157B-A7F3C1E5F597}"/>
                    </a:ext>
                  </a:extLst>
                </p:cNvPr>
                <p:cNvSpPr/>
                <p:nvPr/>
              </p:nvSpPr>
              <p:spPr bwMode="gray">
                <a:xfrm>
                  <a:off x="7346949" y="3571026"/>
                  <a:ext cx="222191" cy="180000"/>
                </a:xfrm>
                <a:prstGeom prst="rect">
                  <a:avLst/>
                </a:prstGeom>
                <a:solidFill>
                  <a:schemeClr val="accent4"/>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126" name="TextBox 125">
                <a:extLst>
                  <a:ext uri="{FF2B5EF4-FFF2-40B4-BE49-F238E27FC236}">
                    <a16:creationId xmlns:a16="http://schemas.microsoft.com/office/drawing/2014/main" id="{9B27093B-9496-E178-873E-63CC47B8FDB2}"/>
                  </a:ext>
                </a:extLst>
              </p:cNvPr>
              <p:cNvSpPr txBox="1"/>
              <p:nvPr/>
            </p:nvSpPr>
            <p:spPr>
              <a:xfrm>
                <a:off x="7247106" y="3825732"/>
                <a:ext cx="875490" cy="15288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basic</a:t>
                </a:r>
              </a:p>
            </p:txBody>
          </p:sp>
        </p:grpSp>
      </p:grpSp>
      <p:sp>
        <p:nvSpPr>
          <p:cNvPr id="82" name="TextBox 81">
            <a:extLst>
              <a:ext uri="{FF2B5EF4-FFF2-40B4-BE49-F238E27FC236}">
                <a16:creationId xmlns:a16="http://schemas.microsoft.com/office/drawing/2014/main" id="{048B7E2E-3CEC-805F-E660-B8E3D8F958FD}"/>
              </a:ext>
            </a:extLst>
          </p:cNvPr>
          <p:cNvSpPr txBox="1"/>
          <p:nvPr/>
        </p:nvSpPr>
        <p:spPr>
          <a:xfrm>
            <a:off x="865556" y="2514600"/>
            <a:ext cx="3142514" cy="507831"/>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5C8A"/>
                </a:solidFill>
                <a:effectLst/>
                <a:uLnTx/>
                <a:uFillTx/>
                <a:latin typeface="Arial" panose="020B0604020202020204"/>
                <a:ea typeface="+mn-ea"/>
                <a:cs typeface="+mn-cs"/>
              </a:rPr>
              <a:t>Configures N/S connectivity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5C8A"/>
                </a:solidFill>
                <a:effectLst/>
                <a:uLnTx/>
                <a:uFillTx/>
                <a:latin typeface="Arial" panose="020B0604020202020204"/>
                <a:ea typeface="+mn-ea"/>
                <a:cs typeface="+mn-cs"/>
              </a:rPr>
              <a:t>Creates projects, external IP blocks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5C8A"/>
                </a:solidFill>
                <a:effectLst/>
                <a:uLnTx/>
                <a:uFillTx/>
                <a:latin typeface="Arial" panose="020B0604020202020204"/>
                <a:ea typeface="+mn-ea"/>
                <a:cs typeface="+mn-cs"/>
              </a:rPr>
              <a:t>Assigns IP blocks and quotas to projects</a:t>
            </a:r>
          </a:p>
        </p:txBody>
      </p:sp>
      <p:sp>
        <p:nvSpPr>
          <p:cNvPr id="4" name="Title 3">
            <a:extLst>
              <a:ext uri="{FF2B5EF4-FFF2-40B4-BE49-F238E27FC236}">
                <a16:creationId xmlns:a16="http://schemas.microsoft.com/office/drawing/2014/main" id="{EE5B51E6-729B-4B99-FE7A-F2C067616880}"/>
              </a:ext>
            </a:extLst>
          </p:cNvPr>
          <p:cNvSpPr>
            <a:spLocks noGrp="1"/>
          </p:cNvSpPr>
          <p:nvPr>
            <p:ph type="title"/>
          </p:nvPr>
        </p:nvSpPr>
        <p:spPr/>
        <p:txBody>
          <a:bodyPr/>
          <a:lstStyle/>
          <a:p>
            <a:r>
              <a:rPr lang="en-US" dirty="0"/>
              <a:t>Simple Networking with Virtual Private Clouds (VPCs)</a:t>
            </a:r>
            <a:endParaRPr lang="en-US" strike="sngStrike" dirty="0"/>
          </a:p>
        </p:txBody>
      </p:sp>
      <p:sp>
        <p:nvSpPr>
          <p:cNvPr id="5" name="Subtitle 4">
            <a:extLst>
              <a:ext uri="{FF2B5EF4-FFF2-40B4-BE49-F238E27FC236}">
                <a16:creationId xmlns:a16="http://schemas.microsoft.com/office/drawing/2014/main" id="{FAB30294-C75A-2664-BEA6-5B5B15C0C3D0}"/>
              </a:ext>
            </a:extLst>
          </p:cNvPr>
          <p:cNvSpPr>
            <a:spLocks noGrp="1"/>
          </p:cNvSpPr>
          <p:nvPr>
            <p:ph type="subTitle" idx="10"/>
          </p:nvPr>
        </p:nvSpPr>
        <p:spPr/>
        <p:txBody>
          <a:bodyPr/>
          <a:lstStyle/>
          <a:p>
            <a:r>
              <a:rPr lang="en-US"/>
              <a:t>Consistent implementation of Virtual Private Clouds (VPCs) across the platform</a:t>
            </a:r>
            <a:endParaRPr lang="en-US" dirty="0"/>
          </a:p>
        </p:txBody>
      </p:sp>
      <p:sp>
        <p:nvSpPr>
          <p:cNvPr id="23" name="Text Placeholder 22">
            <a:extLst>
              <a:ext uri="{FF2B5EF4-FFF2-40B4-BE49-F238E27FC236}">
                <a16:creationId xmlns:a16="http://schemas.microsoft.com/office/drawing/2014/main" id="{4E194B36-C81D-C44F-188A-5D1C1F9268B4}"/>
              </a:ext>
            </a:extLst>
          </p:cNvPr>
          <p:cNvSpPr>
            <a:spLocks noGrp="1"/>
          </p:cNvSpPr>
          <p:nvPr>
            <p:ph type="body" sz="quarter" idx="4294967295"/>
          </p:nvPr>
        </p:nvSpPr>
        <p:spPr>
          <a:xfrm>
            <a:off x="8380413" y="2046288"/>
            <a:ext cx="3808412" cy="4125912"/>
          </a:xfrm>
        </p:spPr>
        <p:txBody>
          <a:bodyPr rIns="576000"/>
          <a:lstStyle/>
          <a:p>
            <a:pPr marL="180000" indent="0">
              <a:spcAft>
                <a:spcPts val="600"/>
              </a:spcAft>
            </a:pPr>
            <a:r>
              <a:rPr lang="en-US" sz="1600" dirty="0">
                <a:solidFill>
                  <a:schemeClr val="accent2"/>
                </a:solidFill>
              </a:rPr>
              <a:t>Clear role definition allows </a:t>
            </a:r>
            <a:br>
              <a:rPr lang="en-US" sz="1600" dirty="0">
                <a:solidFill>
                  <a:schemeClr val="accent2"/>
                </a:solidFill>
              </a:rPr>
            </a:br>
            <a:r>
              <a:rPr lang="en-US" sz="1600" dirty="0">
                <a:solidFill>
                  <a:schemeClr val="accent2"/>
                </a:solidFill>
              </a:rPr>
              <a:t>self-service networking</a:t>
            </a:r>
          </a:p>
          <a:p>
            <a:pPr marL="180000" indent="0">
              <a:spcBef>
                <a:spcPts val="1200"/>
              </a:spcBef>
              <a:spcAft>
                <a:spcPts val="600"/>
              </a:spcAft>
            </a:pPr>
            <a:r>
              <a:rPr lang="en-US" sz="1600" b="1" dirty="0">
                <a:solidFill>
                  <a:schemeClr val="accent2"/>
                </a:solidFill>
              </a:rPr>
              <a:t>Enterprise Admin:</a:t>
            </a:r>
          </a:p>
          <a:p>
            <a:pPr marL="540000" lvl="1">
              <a:spcBef>
                <a:spcPts val="600"/>
              </a:spcBef>
              <a:spcAft>
                <a:spcPts val="600"/>
              </a:spcAft>
              <a:buClr>
                <a:schemeClr val="accent2"/>
              </a:buClr>
            </a:pPr>
            <a:r>
              <a:rPr lang="en-US" sz="1400" dirty="0">
                <a:solidFill>
                  <a:schemeClr val="accent2"/>
                </a:solidFill>
              </a:rPr>
              <a:t>Owns the physical infrastructure</a:t>
            </a:r>
          </a:p>
          <a:p>
            <a:pPr marL="180000" indent="0">
              <a:spcBef>
                <a:spcPts val="1200"/>
              </a:spcBef>
              <a:spcAft>
                <a:spcPts val="600"/>
              </a:spcAft>
            </a:pPr>
            <a:r>
              <a:rPr lang="en-US" sz="1600" b="1" dirty="0">
                <a:solidFill>
                  <a:schemeClr val="accent2"/>
                </a:solidFill>
              </a:rPr>
              <a:t>Project Admin:</a:t>
            </a:r>
          </a:p>
          <a:p>
            <a:pPr marL="540000" lvl="1">
              <a:spcBef>
                <a:spcPts val="600"/>
              </a:spcBef>
              <a:spcAft>
                <a:spcPts val="600"/>
              </a:spcAft>
              <a:buClr>
                <a:schemeClr val="accent2"/>
              </a:buClr>
            </a:pPr>
            <a:r>
              <a:rPr lang="en-US" sz="1400" dirty="0">
                <a:solidFill>
                  <a:schemeClr val="accent2"/>
                </a:solidFill>
              </a:rPr>
              <a:t>A tenant</a:t>
            </a:r>
          </a:p>
          <a:p>
            <a:pPr marL="540000" lvl="1">
              <a:spcBef>
                <a:spcPts val="600"/>
              </a:spcBef>
              <a:spcAft>
                <a:spcPts val="600"/>
              </a:spcAft>
              <a:buClr>
                <a:schemeClr val="accent2"/>
              </a:buClr>
            </a:pPr>
            <a:r>
              <a:rPr lang="en-US" sz="1400" dirty="0">
                <a:solidFill>
                  <a:schemeClr val="accent2"/>
                </a:solidFill>
              </a:rPr>
              <a:t>No direct access to physical network</a:t>
            </a:r>
          </a:p>
          <a:p>
            <a:pPr marL="180000" indent="0">
              <a:spcBef>
                <a:spcPts val="1200"/>
              </a:spcBef>
              <a:spcAft>
                <a:spcPts val="600"/>
              </a:spcAft>
            </a:pPr>
            <a:r>
              <a:rPr lang="en-US" sz="1600" b="1" dirty="0">
                <a:solidFill>
                  <a:schemeClr val="accent2"/>
                </a:solidFill>
              </a:rPr>
              <a:t>VPC Admin:</a:t>
            </a:r>
          </a:p>
          <a:p>
            <a:pPr marL="540000" lvl="1">
              <a:spcBef>
                <a:spcPts val="600"/>
              </a:spcBef>
              <a:spcAft>
                <a:spcPts val="600"/>
              </a:spcAft>
              <a:buClr>
                <a:schemeClr val="accent2"/>
              </a:buClr>
            </a:pPr>
            <a:r>
              <a:rPr lang="en-US" sz="1400" dirty="0">
                <a:solidFill>
                  <a:schemeClr val="accent2"/>
                </a:solidFill>
              </a:rPr>
              <a:t>End user</a:t>
            </a:r>
          </a:p>
          <a:p>
            <a:pPr marL="540000" lvl="1">
              <a:spcBef>
                <a:spcPts val="600"/>
              </a:spcBef>
              <a:spcAft>
                <a:spcPts val="600"/>
              </a:spcAft>
              <a:buClr>
                <a:schemeClr val="accent2"/>
              </a:buClr>
            </a:pPr>
            <a:r>
              <a:rPr lang="en-US" sz="1400" dirty="0">
                <a:solidFill>
                  <a:schemeClr val="accent2"/>
                </a:solidFill>
              </a:rPr>
              <a:t>Simple, self-service networking</a:t>
            </a:r>
          </a:p>
          <a:p>
            <a:pPr lvl="1"/>
            <a:endParaRPr lang="en-US" dirty="0"/>
          </a:p>
        </p:txBody>
      </p:sp>
      <p:sp>
        <p:nvSpPr>
          <p:cNvPr id="24" name="Rounded Rectangle 23">
            <a:extLst>
              <a:ext uri="{FF2B5EF4-FFF2-40B4-BE49-F238E27FC236}">
                <a16:creationId xmlns:a16="http://schemas.microsoft.com/office/drawing/2014/main" id="{FAEFCE59-A8F3-9822-5CDA-43F5ED9F601B}"/>
              </a:ext>
            </a:extLst>
          </p:cNvPr>
          <p:cNvSpPr/>
          <p:nvPr/>
        </p:nvSpPr>
        <p:spPr>
          <a:xfrm>
            <a:off x="614940" y="2057400"/>
            <a:ext cx="3657600" cy="4114800"/>
          </a:xfrm>
          <a:prstGeom prst="roundRect">
            <a:avLst>
              <a:gd name="adj" fmla="val 1799"/>
            </a:avLst>
          </a:prstGeom>
          <a:no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VCF with NSX</a:t>
            </a:r>
          </a:p>
        </p:txBody>
      </p:sp>
      <p:grpSp>
        <p:nvGrpSpPr>
          <p:cNvPr id="17" name="deployed by ent admin">
            <a:extLst>
              <a:ext uri="{FF2B5EF4-FFF2-40B4-BE49-F238E27FC236}">
                <a16:creationId xmlns:a16="http://schemas.microsoft.com/office/drawing/2014/main" id="{1E76E457-1156-9DEB-26D5-6863218B3D9F}"/>
              </a:ext>
            </a:extLst>
          </p:cNvPr>
          <p:cNvGrpSpPr/>
          <p:nvPr/>
        </p:nvGrpSpPr>
        <p:grpSpPr>
          <a:xfrm>
            <a:off x="843540" y="3240157"/>
            <a:ext cx="3200400" cy="2830930"/>
            <a:chOff x="843540" y="3240157"/>
            <a:chExt cx="3200400" cy="2830930"/>
          </a:xfrm>
        </p:grpSpPr>
        <p:sp>
          <p:nvSpPr>
            <p:cNvPr id="9" name="Rounded Rectangle 8">
              <a:extLst>
                <a:ext uri="{FF2B5EF4-FFF2-40B4-BE49-F238E27FC236}">
                  <a16:creationId xmlns:a16="http://schemas.microsoft.com/office/drawing/2014/main" id="{00DA71ED-973A-A877-94DF-0CE81BD44B48}"/>
                </a:ext>
              </a:extLst>
            </p:cNvPr>
            <p:cNvSpPr/>
            <p:nvPr/>
          </p:nvSpPr>
          <p:spPr>
            <a:xfrm>
              <a:off x="843540" y="3240157"/>
              <a:ext cx="3200400" cy="2830930"/>
            </a:xfrm>
            <a:prstGeom prst="roundRect">
              <a:avLst>
                <a:gd name="adj" fmla="val 1537"/>
              </a:avLst>
            </a:prstGeom>
            <a:no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61A60E"/>
                  </a:solidFill>
                  <a:effectLst/>
                  <a:uLnTx/>
                  <a:uFillTx/>
                  <a:latin typeface="Arial" panose="020B0604020202020204"/>
                  <a:ea typeface="+mn-ea"/>
                  <a:cs typeface="+mn-cs"/>
                </a:rPr>
                <a:t>Project</a:t>
              </a:r>
            </a:p>
          </p:txBody>
        </p:sp>
        <p:sp>
          <p:nvSpPr>
            <p:cNvPr id="10" name="Freeform 9">
              <a:extLst>
                <a:ext uri="{FF2B5EF4-FFF2-40B4-BE49-F238E27FC236}">
                  <a16:creationId xmlns:a16="http://schemas.microsoft.com/office/drawing/2014/main" id="{9999E88D-B1CF-EDE8-A7EA-E6AF1C8DEE94}"/>
                </a:ext>
              </a:extLst>
            </p:cNvPr>
            <p:cNvSpPr>
              <a:spLocks noChangeAspect="1"/>
            </p:cNvSpPr>
            <p:nvPr/>
          </p:nvSpPr>
          <p:spPr>
            <a:xfrm>
              <a:off x="1392941" y="3299854"/>
              <a:ext cx="180033" cy="180000"/>
            </a:xfrm>
            <a:custGeom>
              <a:avLst/>
              <a:gdLst>
                <a:gd name="connsiteX0" fmla="*/ 228433 w 266747"/>
                <a:gd name="connsiteY0" fmla="*/ 213550 h 266700"/>
                <a:gd name="connsiteX1" fmla="*/ 213289 w 266747"/>
                <a:gd name="connsiteY1" fmla="*/ 228695 h 266700"/>
                <a:gd name="connsiteX2" fmla="*/ 228433 w 266747"/>
                <a:gd name="connsiteY2" fmla="*/ 243840 h 266700"/>
                <a:gd name="connsiteX3" fmla="*/ 243578 w 266747"/>
                <a:gd name="connsiteY3" fmla="*/ 228695 h 266700"/>
                <a:gd name="connsiteX4" fmla="*/ 133374 w 266747"/>
                <a:gd name="connsiteY4" fmla="*/ 213550 h 266700"/>
                <a:gd name="connsiteX5" fmla="*/ 118229 w 266747"/>
                <a:gd name="connsiteY5" fmla="*/ 228695 h 266700"/>
                <a:gd name="connsiteX6" fmla="*/ 133374 w 266747"/>
                <a:gd name="connsiteY6" fmla="*/ 243840 h 266700"/>
                <a:gd name="connsiteX7" fmla="*/ 148519 w 266747"/>
                <a:gd name="connsiteY7" fmla="*/ 228695 h 266700"/>
                <a:gd name="connsiteX8" fmla="*/ 38124 w 266747"/>
                <a:gd name="connsiteY8" fmla="*/ 213550 h 266700"/>
                <a:gd name="connsiteX9" fmla="*/ 22979 w 266747"/>
                <a:gd name="connsiteY9" fmla="*/ 228695 h 266700"/>
                <a:gd name="connsiteX10" fmla="*/ 38124 w 266747"/>
                <a:gd name="connsiteY10" fmla="*/ 243840 h 266700"/>
                <a:gd name="connsiteX11" fmla="*/ 53269 w 266747"/>
                <a:gd name="connsiteY11" fmla="*/ 228695 h 266700"/>
                <a:gd name="connsiteX12" fmla="*/ 123754 w 266747"/>
                <a:gd name="connsiteY12" fmla="*/ 76200 h 266700"/>
                <a:gd name="connsiteX13" fmla="*/ 142708 w 266747"/>
                <a:gd name="connsiteY13" fmla="*/ 76200 h 266700"/>
                <a:gd name="connsiteX14" fmla="*/ 142708 w 266747"/>
                <a:gd name="connsiteY14" fmla="*/ 152400 h 266700"/>
                <a:gd name="connsiteX15" fmla="*/ 228433 w 266747"/>
                <a:gd name="connsiteY15" fmla="*/ 152400 h 266700"/>
                <a:gd name="connsiteX16" fmla="*/ 237958 w 266747"/>
                <a:gd name="connsiteY16" fmla="*/ 161925 h 266700"/>
                <a:gd name="connsiteX17" fmla="*/ 237958 w 266747"/>
                <a:gd name="connsiteY17" fmla="*/ 196120 h 266700"/>
                <a:gd name="connsiteX18" fmla="*/ 263771 w 266747"/>
                <a:gd name="connsiteY18" fmla="*/ 221933 h 266700"/>
                <a:gd name="connsiteX19" fmla="*/ 263962 w 266747"/>
                <a:gd name="connsiteY19" fmla="*/ 221933 h 266700"/>
                <a:gd name="connsiteX20" fmla="*/ 263962 w 266747"/>
                <a:gd name="connsiteY20" fmla="*/ 235363 h 266700"/>
                <a:gd name="connsiteX21" fmla="*/ 235387 w 266747"/>
                <a:gd name="connsiteY21" fmla="*/ 263938 h 266700"/>
                <a:gd name="connsiteX22" fmla="*/ 228624 w 266747"/>
                <a:gd name="connsiteY22" fmla="*/ 266700 h 266700"/>
                <a:gd name="connsiteX23" fmla="*/ 221861 w 266747"/>
                <a:gd name="connsiteY23" fmla="*/ 263938 h 266700"/>
                <a:gd name="connsiteX24" fmla="*/ 193286 w 266747"/>
                <a:gd name="connsiteY24" fmla="*/ 235363 h 266700"/>
                <a:gd name="connsiteX25" fmla="*/ 193286 w 266747"/>
                <a:gd name="connsiteY25" fmla="*/ 221933 h 266700"/>
                <a:gd name="connsiteX26" fmla="*/ 219099 w 266747"/>
                <a:gd name="connsiteY26" fmla="*/ 196120 h 266700"/>
                <a:gd name="connsiteX27" fmla="*/ 219099 w 266747"/>
                <a:gd name="connsiteY27" fmla="*/ 171450 h 266700"/>
                <a:gd name="connsiteX28" fmla="*/ 142899 w 266747"/>
                <a:gd name="connsiteY28" fmla="*/ 171450 h 266700"/>
                <a:gd name="connsiteX29" fmla="*/ 142899 w 266747"/>
                <a:gd name="connsiteY29" fmla="*/ 195929 h 266700"/>
                <a:gd name="connsiteX30" fmla="*/ 168807 w 266747"/>
                <a:gd name="connsiteY30" fmla="*/ 221837 h 266700"/>
                <a:gd name="connsiteX31" fmla="*/ 168807 w 266747"/>
                <a:gd name="connsiteY31" fmla="*/ 235268 h 266700"/>
                <a:gd name="connsiteX32" fmla="*/ 140232 w 266747"/>
                <a:gd name="connsiteY32" fmla="*/ 263843 h 266700"/>
                <a:gd name="connsiteX33" fmla="*/ 133469 w 266747"/>
                <a:gd name="connsiteY33" fmla="*/ 266605 h 266700"/>
                <a:gd name="connsiteX34" fmla="*/ 126706 w 266747"/>
                <a:gd name="connsiteY34" fmla="*/ 263843 h 266700"/>
                <a:gd name="connsiteX35" fmla="*/ 98131 w 266747"/>
                <a:gd name="connsiteY35" fmla="*/ 235268 h 266700"/>
                <a:gd name="connsiteX36" fmla="*/ 98131 w 266747"/>
                <a:gd name="connsiteY36" fmla="*/ 221837 h 266700"/>
                <a:gd name="connsiteX37" fmla="*/ 123754 w 266747"/>
                <a:gd name="connsiteY37" fmla="*/ 196215 h 266700"/>
                <a:gd name="connsiteX38" fmla="*/ 123754 w 266747"/>
                <a:gd name="connsiteY38" fmla="*/ 171450 h 266700"/>
                <a:gd name="connsiteX39" fmla="*/ 47554 w 266747"/>
                <a:gd name="connsiteY39" fmla="*/ 171450 h 266700"/>
                <a:gd name="connsiteX40" fmla="*/ 47554 w 266747"/>
                <a:gd name="connsiteY40" fmla="*/ 195929 h 266700"/>
                <a:gd name="connsiteX41" fmla="*/ 73462 w 266747"/>
                <a:gd name="connsiteY41" fmla="*/ 221837 h 266700"/>
                <a:gd name="connsiteX42" fmla="*/ 73462 w 266747"/>
                <a:gd name="connsiteY42" fmla="*/ 235268 h 266700"/>
                <a:gd name="connsiteX43" fmla="*/ 44887 w 266747"/>
                <a:gd name="connsiteY43" fmla="*/ 263843 h 266700"/>
                <a:gd name="connsiteX44" fmla="*/ 38124 w 266747"/>
                <a:gd name="connsiteY44" fmla="*/ 266605 h 266700"/>
                <a:gd name="connsiteX45" fmla="*/ 31361 w 266747"/>
                <a:gd name="connsiteY45" fmla="*/ 263843 h 266700"/>
                <a:gd name="connsiteX46" fmla="*/ 2786 w 266747"/>
                <a:gd name="connsiteY46" fmla="*/ 235268 h 266700"/>
                <a:gd name="connsiteX47" fmla="*/ 2786 w 266747"/>
                <a:gd name="connsiteY47" fmla="*/ 221837 h 266700"/>
                <a:gd name="connsiteX48" fmla="*/ 28408 w 266747"/>
                <a:gd name="connsiteY48" fmla="*/ 196215 h 266700"/>
                <a:gd name="connsiteX49" fmla="*/ 28408 w 266747"/>
                <a:gd name="connsiteY49" fmla="*/ 161925 h 266700"/>
                <a:gd name="connsiteX50" fmla="*/ 37933 w 266747"/>
                <a:gd name="connsiteY50" fmla="*/ 152400 h 266700"/>
                <a:gd name="connsiteX51" fmla="*/ 123754 w 266747"/>
                <a:gd name="connsiteY51" fmla="*/ 152400 h 266700"/>
                <a:gd name="connsiteX52" fmla="*/ 133183 w 266747"/>
                <a:gd name="connsiteY52" fmla="*/ 0 h 266700"/>
                <a:gd name="connsiteX53" fmla="*/ 197668 w 266747"/>
                <a:gd name="connsiteY53" fmla="*/ 50006 h 266700"/>
                <a:gd name="connsiteX54" fmla="*/ 206621 w 266747"/>
                <a:gd name="connsiteY54" fmla="*/ 48958 h 266700"/>
                <a:gd name="connsiteX55" fmla="*/ 248817 w 266747"/>
                <a:gd name="connsiteY55" fmla="*/ 91154 h 266700"/>
                <a:gd name="connsiteX56" fmla="*/ 206621 w 266747"/>
                <a:gd name="connsiteY56" fmla="*/ 133350 h 266700"/>
                <a:gd name="connsiteX57" fmla="*/ 161854 w 266747"/>
                <a:gd name="connsiteY57" fmla="*/ 133350 h 266700"/>
                <a:gd name="connsiteX58" fmla="*/ 161854 w 266747"/>
                <a:gd name="connsiteY58" fmla="*/ 114300 h 266700"/>
                <a:gd name="connsiteX59" fmla="*/ 206621 w 266747"/>
                <a:gd name="connsiteY59" fmla="*/ 114300 h 266700"/>
                <a:gd name="connsiteX60" fmla="*/ 229767 w 266747"/>
                <a:gd name="connsiteY60" fmla="*/ 91154 h 266700"/>
                <a:gd name="connsiteX61" fmla="*/ 206621 w 266747"/>
                <a:gd name="connsiteY61" fmla="*/ 68008 h 266700"/>
                <a:gd name="connsiteX62" fmla="*/ 195001 w 266747"/>
                <a:gd name="connsiteY62" fmla="*/ 71342 h 266700"/>
                <a:gd name="connsiteX63" fmla="*/ 185666 w 266747"/>
                <a:gd name="connsiteY63" fmla="*/ 71533 h 266700"/>
                <a:gd name="connsiteX64" fmla="*/ 180618 w 266747"/>
                <a:gd name="connsiteY64" fmla="*/ 63722 h 266700"/>
                <a:gd name="connsiteX65" fmla="*/ 133183 w 266747"/>
                <a:gd name="connsiteY65" fmla="*/ 19050 h 266700"/>
                <a:gd name="connsiteX66" fmla="*/ 89273 w 266747"/>
                <a:gd name="connsiteY66" fmla="*/ 48101 h 266700"/>
                <a:gd name="connsiteX67" fmla="*/ 77557 w 266747"/>
                <a:gd name="connsiteY67" fmla="*/ 53435 h 266700"/>
                <a:gd name="connsiteX68" fmla="*/ 67842 w 266747"/>
                <a:gd name="connsiteY68" fmla="*/ 51721 h 266700"/>
                <a:gd name="connsiteX69" fmla="*/ 36505 w 266747"/>
                <a:gd name="connsiteY69" fmla="*/ 83058 h 266700"/>
                <a:gd name="connsiteX70" fmla="*/ 67842 w 266747"/>
                <a:gd name="connsiteY70" fmla="*/ 114395 h 266700"/>
                <a:gd name="connsiteX71" fmla="*/ 104704 w 266747"/>
                <a:gd name="connsiteY71" fmla="*/ 114395 h 266700"/>
                <a:gd name="connsiteX72" fmla="*/ 104704 w 266747"/>
                <a:gd name="connsiteY72" fmla="*/ 133445 h 266700"/>
                <a:gd name="connsiteX73" fmla="*/ 67937 w 266747"/>
                <a:gd name="connsiteY73" fmla="*/ 133445 h 266700"/>
                <a:gd name="connsiteX74" fmla="*/ 17550 w 266747"/>
                <a:gd name="connsiteY74" fmla="*/ 83058 h 266700"/>
                <a:gd name="connsiteX75" fmla="*/ 67937 w 266747"/>
                <a:gd name="connsiteY75" fmla="*/ 32671 h 266700"/>
                <a:gd name="connsiteX76" fmla="*/ 75462 w 266747"/>
                <a:gd name="connsiteY76" fmla="*/ 33338 h 266700"/>
                <a:gd name="connsiteX77" fmla="*/ 133183 w 266747"/>
                <a:gd name="connsiteY77"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66747" h="266700">
                  <a:moveTo>
                    <a:pt x="228433" y="213550"/>
                  </a:moveTo>
                  <a:lnTo>
                    <a:pt x="213289" y="228695"/>
                  </a:lnTo>
                  <a:lnTo>
                    <a:pt x="228433" y="243840"/>
                  </a:lnTo>
                  <a:lnTo>
                    <a:pt x="243578" y="228695"/>
                  </a:lnTo>
                  <a:close/>
                  <a:moveTo>
                    <a:pt x="133374" y="213550"/>
                  </a:moveTo>
                  <a:lnTo>
                    <a:pt x="118229" y="228695"/>
                  </a:lnTo>
                  <a:lnTo>
                    <a:pt x="133374" y="243840"/>
                  </a:lnTo>
                  <a:lnTo>
                    <a:pt x="148519" y="228695"/>
                  </a:lnTo>
                  <a:close/>
                  <a:moveTo>
                    <a:pt x="38124" y="213550"/>
                  </a:moveTo>
                  <a:lnTo>
                    <a:pt x="22979" y="228695"/>
                  </a:lnTo>
                  <a:lnTo>
                    <a:pt x="38124" y="243840"/>
                  </a:lnTo>
                  <a:lnTo>
                    <a:pt x="53269" y="228695"/>
                  </a:lnTo>
                  <a:close/>
                  <a:moveTo>
                    <a:pt x="123754" y="76200"/>
                  </a:moveTo>
                  <a:lnTo>
                    <a:pt x="142708" y="76200"/>
                  </a:lnTo>
                  <a:lnTo>
                    <a:pt x="142708" y="152400"/>
                  </a:lnTo>
                  <a:lnTo>
                    <a:pt x="228433" y="152400"/>
                  </a:lnTo>
                  <a:cubicBezTo>
                    <a:pt x="233672" y="152400"/>
                    <a:pt x="237958" y="156686"/>
                    <a:pt x="237958" y="161925"/>
                  </a:cubicBezTo>
                  <a:lnTo>
                    <a:pt x="237958" y="196120"/>
                  </a:lnTo>
                  <a:lnTo>
                    <a:pt x="263771" y="221933"/>
                  </a:lnTo>
                  <a:lnTo>
                    <a:pt x="263962" y="221933"/>
                  </a:lnTo>
                  <a:cubicBezTo>
                    <a:pt x="267676" y="225647"/>
                    <a:pt x="267676" y="231648"/>
                    <a:pt x="263962" y="235363"/>
                  </a:cubicBezTo>
                  <a:lnTo>
                    <a:pt x="235387" y="263938"/>
                  </a:lnTo>
                  <a:cubicBezTo>
                    <a:pt x="233482" y="265748"/>
                    <a:pt x="231100" y="266700"/>
                    <a:pt x="228624" y="266700"/>
                  </a:cubicBezTo>
                  <a:cubicBezTo>
                    <a:pt x="226147" y="266700"/>
                    <a:pt x="223766" y="265843"/>
                    <a:pt x="221861" y="263938"/>
                  </a:cubicBezTo>
                  <a:lnTo>
                    <a:pt x="193286" y="235363"/>
                  </a:lnTo>
                  <a:cubicBezTo>
                    <a:pt x="189571" y="231648"/>
                    <a:pt x="189571" y="225647"/>
                    <a:pt x="193286" y="221933"/>
                  </a:cubicBezTo>
                  <a:lnTo>
                    <a:pt x="219099" y="196120"/>
                  </a:lnTo>
                  <a:lnTo>
                    <a:pt x="219099" y="171450"/>
                  </a:lnTo>
                  <a:lnTo>
                    <a:pt x="142899" y="171450"/>
                  </a:lnTo>
                  <a:lnTo>
                    <a:pt x="142899" y="195929"/>
                  </a:lnTo>
                  <a:lnTo>
                    <a:pt x="168807" y="221837"/>
                  </a:lnTo>
                  <a:cubicBezTo>
                    <a:pt x="172522" y="225552"/>
                    <a:pt x="172522" y="231553"/>
                    <a:pt x="168807" y="235268"/>
                  </a:cubicBezTo>
                  <a:lnTo>
                    <a:pt x="140232" y="263843"/>
                  </a:lnTo>
                  <a:cubicBezTo>
                    <a:pt x="138327" y="265652"/>
                    <a:pt x="135946" y="266605"/>
                    <a:pt x="133469" y="266605"/>
                  </a:cubicBezTo>
                  <a:cubicBezTo>
                    <a:pt x="130993" y="266605"/>
                    <a:pt x="128611" y="265748"/>
                    <a:pt x="126706" y="263843"/>
                  </a:cubicBezTo>
                  <a:lnTo>
                    <a:pt x="98131" y="235268"/>
                  </a:lnTo>
                  <a:cubicBezTo>
                    <a:pt x="94417" y="231553"/>
                    <a:pt x="94417" y="225552"/>
                    <a:pt x="98131" y="221837"/>
                  </a:cubicBezTo>
                  <a:lnTo>
                    <a:pt x="123754" y="196215"/>
                  </a:lnTo>
                  <a:lnTo>
                    <a:pt x="123754" y="171450"/>
                  </a:lnTo>
                  <a:lnTo>
                    <a:pt x="47554" y="171450"/>
                  </a:lnTo>
                  <a:lnTo>
                    <a:pt x="47554" y="195929"/>
                  </a:lnTo>
                  <a:lnTo>
                    <a:pt x="73462" y="221837"/>
                  </a:lnTo>
                  <a:cubicBezTo>
                    <a:pt x="77176" y="225552"/>
                    <a:pt x="77176" y="231553"/>
                    <a:pt x="73462" y="235268"/>
                  </a:cubicBezTo>
                  <a:lnTo>
                    <a:pt x="44887" y="263843"/>
                  </a:lnTo>
                  <a:cubicBezTo>
                    <a:pt x="42982" y="265652"/>
                    <a:pt x="40600" y="266605"/>
                    <a:pt x="38124" y="266605"/>
                  </a:cubicBezTo>
                  <a:cubicBezTo>
                    <a:pt x="35647" y="266605"/>
                    <a:pt x="33266" y="265748"/>
                    <a:pt x="31361" y="263843"/>
                  </a:cubicBezTo>
                  <a:lnTo>
                    <a:pt x="2786" y="235268"/>
                  </a:lnTo>
                  <a:cubicBezTo>
                    <a:pt x="-929" y="231553"/>
                    <a:pt x="-929" y="225552"/>
                    <a:pt x="2786" y="221837"/>
                  </a:cubicBezTo>
                  <a:lnTo>
                    <a:pt x="28408" y="196215"/>
                  </a:lnTo>
                  <a:lnTo>
                    <a:pt x="28408" y="161925"/>
                  </a:lnTo>
                  <a:cubicBezTo>
                    <a:pt x="28408" y="156686"/>
                    <a:pt x="32695" y="152400"/>
                    <a:pt x="37933" y="152400"/>
                  </a:cubicBezTo>
                  <a:lnTo>
                    <a:pt x="123754" y="152400"/>
                  </a:lnTo>
                  <a:close/>
                  <a:moveTo>
                    <a:pt x="133183" y="0"/>
                  </a:moveTo>
                  <a:cubicBezTo>
                    <a:pt x="163949" y="0"/>
                    <a:pt x="190238" y="21145"/>
                    <a:pt x="197668" y="50006"/>
                  </a:cubicBezTo>
                  <a:cubicBezTo>
                    <a:pt x="200621" y="49340"/>
                    <a:pt x="203573" y="48958"/>
                    <a:pt x="206621" y="48958"/>
                  </a:cubicBezTo>
                  <a:cubicBezTo>
                    <a:pt x="229862" y="48958"/>
                    <a:pt x="248817" y="67913"/>
                    <a:pt x="248817" y="91154"/>
                  </a:cubicBezTo>
                  <a:cubicBezTo>
                    <a:pt x="248817" y="114395"/>
                    <a:pt x="229862" y="133350"/>
                    <a:pt x="206621" y="133350"/>
                  </a:cubicBezTo>
                  <a:lnTo>
                    <a:pt x="161854" y="133350"/>
                  </a:lnTo>
                  <a:lnTo>
                    <a:pt x="161854" y="114300"/>
                  </a:lnTo>
                  <a:lnTo>
                    <a:pt x="206621" y="114300"/>
                  </a:lnTo>
                  <a:cubicBezTo>
                    <a:pt x="219385" y="114300"/>
                    <a:pt x="229767" y="103918"/>
                    <a:pt x="229767" y="91154"/>
                  </a:cubicBezTo>
                  <a:cubicBezTo>
                    <a:pt x="229767" y="78391"/>
                    <a:pt x="219385" y="68008"/>
                    <a:pt x="206621" y="68008"/>
                  </a:cubicBezTo>
                  <a:cubicBezTo>
                    <a:pt x="202621" y="68008"/>
                    <a:pt x="198716" y="69152"/>
                    <a:pt x="195001" y="71342"/>
                  </a:cubicBezTo>
                  <a:cubicBezTo>
                    <a:pt x="192143" y="72962"/>
                    <a:pt x="188619" y="73057"/>
                    <a:pt x="185666" y="71533"/>
                  </a:cubicBezTo>
                  <a:cubicBezTo>
                    <a:pt x="182714" y="70009"/>
                    <a:pt x="180809" y="67056"/>
                    <a:pt x="180618" y="63722"/>
                  </a:cubicBezTo>
                  <a:cubicBezTo>
                    <a:pt x="179094" y="38671"/>
                    <a:pt x="158234" y="19050"/>
                    <a:pt x="133183" y="19050"/>
                  </a:cubicBezTo>
                  <a:cubicBezTo>
                    <a:pt x="113943" y="19050"/>
                    <a:pt x="96798" y="30480"/>
                    <a:pt x="89273" y="48101"/>
                  </a:cubicBezTo>
                  <a:cubicBezTo>
                    <a:pt x="87368" y="52673"/>
                    <a:pt x="82225" y="54959"/>
                    <a:pt x="77557" y="53435"/>
                  </a:cubicBezTo>
                  <a:cubicBezTo>
                    <a:pt x="74033" y="52292"/>
                    <a:pt x="70795" y="51721"/>
                    <a:pt x="67842" y="51721"/>
                  </a:cubicBezTo>
                  <a:cubicBezTo>
                    <a:pt x="50506" y="51721"/>
                    <a:pt x="36505" y="65723"/>
                    <a:pt x="36505" y="83058"/>
                  </a:cubicBezTo>
                  <a:cubicBezTo>
                    <a:pt x="36505" y="100394"/>
                    <a:pt x="50602" y="114395"/>
                    <a:pt x="67842" y="114395"/>
                  </a:cubicBezTo>
                  <a:lnTo>
                    <a:pt x="104704" y="114395"/>
                  </a:lnTo>
                  <a:lnTo>
                    <a:pt x="104704" y="133445"/>
                  </a:lnTo>
                  <a:lnTo>
                    <a:pt x="67937" y="133445"/>
                  </a:lnTo>
                  <a:cubicBezTo>
                    <a:pt x="40124" y="133445"/>
                    <a:pt x="17550" y="110871"/>
                    <a:pt x="17550" y="83058"/>
                  </a:cubicBezTo>
                  <a:cubicBezTo>
                    <a:pt x="17550" y="55245"/>
                    <a:pt x="40219" y="32671"/>
                    <a:pt x="67937" y="32671"/>
                  </a:cubicBezTo>
                  <a:cubicBezTo>
                    <a:pt x="70414" y="32671"/>
                    <a:pt x="72890" y="32861"/>
                    <a:pt x="75462" y="33338"/>
                  </a:cubicBezTo>
                  <a:cubicBezTo>
                    <a:pt x="87273" y="12859"/>
                    <a:pt x="109085" y="0"/>
                    <a:pt x="133183"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pic>
        <p:nvPicPr>
          <p:cNvPr id="97" name="Google Shape;4667;p52">
            <a:extLst>
              <a:ext uri="{FF2B5EF4-FFF2-40B4-BE49-F238E27FC236}">
                <a16:creationId xmlns:a16="http://schemas.microsoft.com/office/drawing/2014/main" id="{19A5934E-7C94-F27C-6A99-695192E81464}"/>
              </a:ext>
            </a:extLst>
          </p:cNvPr>
          <p:cNvPicPr preferRelativeResize="0">
            <a:picLocks noChangeAspect="1"/>
          </p:cNvPicPr>
          <p:nvPr/>
        </p:nvPicPr>
        <p:blipFill rotWithShape="1">
          <a:blip r:embed="rId3">
            <a:alphaModFix/>
            <a:duotone>
              <a:schemeClr val="accent3">
                <a:shade val="45000"/>
                <a:satMod val="135000"/>
              </a:schemeClr>
              <a:prstClr val="white"/>
            </a:duotone>
          </a:blip>
          <a:srcRect/>
          <a:stretch/>
        </p:blipFill>
        <p:spPr>
          <a:xfrm>
            <a:off x="4271367" y="2420999"/>
            <a:ext cx="432000" cy="432000"/>
          </a:xfrm>
          <a:prstGeom prst="rect">
            <a:avLst/>
          </a:prstGeom>
          <a:noFill/>
          <a:ln>
            <a:noFill/>
          </a:ln>
        </p:spPr>
      </p:pic>
      <p:grpSp>
        <p:nvGrpSpPr>
          <p:cNvPr id="115" name="subnets">
            <a:extLst>
              <a:ext uri="{FF2B5EF4-FFF2-40B4-BE49-F238E27FC236}">
                <a16:creationId xmlns:a16="http://schemas.microsoft.com/office/drawing/2014/main" id="{6076D993-9945-D7BE-C445-31A160F4DC01}"/>
              </a:ext>
            </a:extLst>
          </p:cNvPr>
          <p:cNvGrpSpPr/>
          <p:nvPr/>
        </p:nvGrpSpPr>
        <p:grpSpPr>
          <a:xfrm>
            <a:off x="2249649" y="5400573"/>
            <a:ext cx="1510014" cy="463878"/>
            <a:chOff x="2249649" y="5400573"/>
            <a:chExt cx="1510014" cy="463878"/>
          </a:xfrm>
        </p:grpSpPr>
        <p:cxnSp>
          <p:nvCxnSpPr>
            <p:cNvPr id="93" name="Straight Connector 92">
              <a:extLst>
                <a:ext uri="{FF2B5EF4-FFF2-40B4-BE49-F238E27FC236}">
                  <a16:creationId xmlns:a16="http://schemas.microsoft.com/office/drawing/2014/main" id="{CA6BF856-604F-2DEC-4315-7890D879AFCC}"/>
                </a:ext>
              </a:extLst>
            </p:cNvPr>
            <p:cNvCxnSpPr>
              <a:cxnSpLocks/>
            </p:cNvCxnSpPr>
            <p:nvPr/>
          </p:nvCxnSpPr>
          <p:spPr bwMode="gray">
            <a:xfrm>
              <a:off x="2457061" y="5487426"/>
              <a:ext cx="552029"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4" name="Freeform 93">
              <a:extLst>
                <a:ext uri="{FF2B5EF4-FFF2-40B4-BE49-F238E27FC236}">
                  <a16:creationId xmlns:a16="http://schemas.microsoft.com/office/drawing/2014/main" id="{2B2EEA9A-0AEA-F558-42F2-F1A843461D84}"/>
                </a:ext>
              </a:extLst>
            </p:cNvPr>
            <p:cNvSpPr>
              <a:spLocks noChangeAspect="1"/>
            </p:cNvSpPr>
            <p:nvPr/>
          </p:nvSpPr>
          <p:spPr>
            <a:xfrm>
              <a:off x="2249649" y="5400573"/>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5" name="TextBox 94">
              <a:extLst>
                <a:ext uri="{FF2B5EF4-FFF2-40B4-BE49-F238E27FC236}">
                  <a16:creationId xmlns:a16="http://schemas.microsoft.com/office/drawing/2014/main" id="{CED6C8E9-FFF2-D1F9-8785-821BEB2EC11F}"/>
                </a:ext>
              </a:extLst>
            </p:cNvPr>
            <p:cNvSpPr txBox="1"/>
            <p:nvPr/>
          </p:nvSpPr>
          <p:spPr>
            <a:xfrm>
              <a:off x="2539484" y="5479001"/>
              <a:ext cx="546427" cy="179216"/>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subnet</a:t>
              </a:r>
            </a:p>
          </p:txBody>
        </p:sp>
        <p:cxnSp>
          <p:nvCxnSpPr>
            <p:cNvPr id="111" name="Straight Connector 110">
              <a:extLst>
                <a:ext uri="{FF2B5EF4-FFF2-40B4-BE49-F238E27FC236}">
                  <a16:creationId xmlns:a16="http://schemas.microsoft.com/office/drawing/2014/main" id="{268E2BF1-3980-227E-B98C-753123A5B157}"/>
                </a:ext>
              </a:extLst>
            </p:cNvPr>
            <p:cNvCxnSpPr>
              <a:cxnSpLocks/>
            </p:cNvCxnSpPr>
            <p:nvPr/>
          </p:nvCxnSpPr>
          <p:spPr bwMode="gray">
            <a:xfrm>
              <a:off x="2973493" y="5693659"/>
              <a:ext cx="588329" cy="0"/>
            </a:xfrm>
            <a:prstGeom prst="line">
              <a:avLst/>
            </a:prstGeom>
            <a:ln w="25400" cap="rnd">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2" name="Freeform 111">
              <a:extLst>
                <a:ext uri="{FF2B5EF4-FFF2-40B4-BE49-F238E27FC236}">
                  <a16:creationId xmlns:a16="http://schemas.microsoft.com/office/drawing/2014/main" id="{416AB125-A981-7B77-633C-8A68C81D8E9A}"/>
                </a:ext>
              </a:extLst>
            </p:cNvPr>
            <p:cNvSpPr>
              <a:spLocks noChangeAspect="1"/>
            </p:cNvSpPr>
            <p:nvPr/>
          </p:nvSpPr>
          <p:spPr>
            <a:xfrm>
              <a:off x="3581165" y="5610291"/>
              <a:ext cx="178498" cy="180000"/>
            </a:xfrm>
            <a:custGeom>
              <a:avLst/>
              <a:gdLst>
                <a:gd name="connsiteX0" fmla="*/ 226866 w 265133"/>
                <a:gd name="connsiteY0" fmla="*/ 204597 h 267367"/>
                <a:gd name="connsiteX1" fmla="*/ 235181 w 265133"/>
                <a:gd name="connsiteY1" fmla="*/ 212884 h 267367"/>
                <a:gd name="connsiteX2" fmla="*/ 226866 w 265133"/>
                <a:gd name="connsiteY2" fmla="*/ 221171 h 267367"/>
                <a:gd name="connsiteX3" fmla="*/ 218551 w 265133"/>
                <a:gd name="connsiteY3" fmla="*/ 212884 h 267367"/>
                <a:gd name="connsiteX4" fmla="*/ 226866 w 265133"/>
                <a:gd name="connsiteY4" fmla="*/ 204597 h 267367"/>
                <a:gd name="connsiteX5" fmla="*/ 193701 w 265133"/>
                <a:gd name="connsiteY5" fmla="*/ 204597 h 267367"/>
                <a:gd name="connsiteX6" fmla="*/ 202016 w 265133"/>
                <a:gd name="connsiteY6" fmla="*/ 204597 h 267367"/>
                <a:gd name="connsiteX7" fmla="*/ 210331 w 265133"/>
                <a:gd name="connsiteY7" fmla="*/ 212884 h 267367"/>
                <a:gd name="connsiteX8" fmla="*/ 202016 w 265133"/>
                <a:gd name="connsiteY8" fmla="*/ 221171 h 267367"/>
                <a:gd name="connsiteX9" fmla="*/ 193701 w 265133"/>
                <a:gd name="connsiteY9" fmla="*/ 221171 h 267367"/>
                <a:gd name="connsiteX10" fmla="*/ 185386 w 265133"/>
                <a:gd name="connsiteY10" fmla="*/ 212884 h 267367"/>
                <a:gd name="connsiteX11" fmla="*/ 193701 w 265133"/>
                <a:gd name="connsiteY11" fmla="*/ 204597 h 267367"/>
                <a:gd name="connsiteX12" fmla="*/ 129733 w 265133"/>
                <a:gd name="connsiteY12" fmla="*/ 182214 h 267367"/>
                <a:gd name="connsiteX13" fmla="*/ 141449 w 265133"/>
                <a:gd name="connsiteY13" fmla="*/ 182214 h 267367"/>
                <a:gd name="connsiteX14" fmla="*/ 141449 w 265133"/>
                <a:gd name="connsiteY14" fmla="*/ 193930 h 267367"/>
                <a:gd name="connsiteX15" fmla="*/ 130772 w 265133"/>
                <a:gd name="connsiteY15" fmla="*/ 204598 h 267367"/>
                <a:gd name="connsiteX16" fmla="*/ 168756 w 265133"/>
                <a:gd name="connsiteY16" fmla="*/ 204598 h 267367"/>
                <a:gd name="connsiteX17" fmla="*/ 177166 w 265133"/>
                <a:gd name="connsiteY17" fmla="*/ 212884 h 267367"/>
                <a:gd name="connsiteX18" fmla="*/ 177166 w 265133"/>
                <a:gd name="connsiteY18" fmla="*/ 213075 h 267367"/>
                <a:gd name="connsiteX19" fmla="*/ 168851 w 265133"/>
                <a:gd name="connsiteY19" fmla="*/ 221362 h 267367"/>
                <a:gd name="connsiteX20" fmla="*/ 130772 w 265133"/>
                <a:gd name="connsiteY20" fmla="*/ 221362 h 267367"/>
                <a:gd name="connsiteX21" fmla="*/ 141449 w 265133"/>
                <a:gd name="connsiteY21" fmla="*/ 232030 h 267367"/>
                <a:gd name="connsiteX22" fmla="*/ 141449 w 265133"/>
                <a:gd name="connsiteY22" fmla="*/ 243745 h 267367"/>
                <a:gd name="connsiteX23" fmla="*/ 135591 w 265133"/>
                <a:gd name="connsiteY23" fmla="*/ 246127 h 267367"/>
                <a:gd name="connsiteX24" fmla="*/ 129733 w 265133"/>
                <a:gd name="connsiteY24" fmla="*/ 243745 h 267367"/>
                <a:gd name="connsiteX25" fmla="*/ 104882 w 265133"/>
                <a:gd name="connsiteY25" fmla="*/ 218885 h 267367"/>
                <a:gd name="connsiteX26" fmla="*/ 99024 w 265133"/>
                <a:gd name="connsiteY26" fmla="*/ 212980 h 267367"/>
                <a:gd name="connsiteX27" fmla="*/ 104882 w 265133"/>
                <a:gd name="connsiteY27" fmla="*/ 207074 h 267367"/>
                <a:gd name="connsiteX28" fmla="*/ 135685 w 265133"/>
                <a:gd name="connsiteY28" fmla="*/ 146685 h 267367"/>
                <a:gd name="connsiteX29" fmla="*/ 144000 w 265133"/>
                <a:gd name="connsiteY29" fmla="*/ 146685 h 267367"/>
                <a:gd name="connsiteX30" fmla="*/ 152315 w 265133"/>
                <a:gd name="connsiteY30" fmla="*/ 154972 h 267367"/>
                <a:gd name="connsiteX31" fmla="*/ 144000 w 265133"/>
                <a:gd name="connsiteY31" fmla="*/ 163258 h 267367"/>
                <a:gd name="connsiteX32" fmla="*/ 135685 w 265133"/>
                <a:gd name="connsiteY32" fmla="*/ 163258 h 267367"/>
                <a:gd name="connsiteX33" fmla="*/ 127370 w 265133"/>
                <a:gd name="connsiteY33" fmla="*/ 154972 h 267367"/>
                <a:gd name="connsiteX34" fmla="*/ 135685 w 265133"/>
                <a:gd name="connsiteY34" fmla="*/ 146685 h 267367"/>
                <a:gd name="connsiteX35" fmla="*/ 110835 w 265133"/>
                <a:gd name="connsiteY35" fmla="*/ 146685 h 267367"/>
                <a:gd name="connsiteX36" fmla="*/ 119150 w 265133"/>
                <a:gd name="connsiteY36" fmla="*/ 154972 h 267367"/>
                <a:gd name="connsiteX37" fmla="*/ 110835 w 265133"/>
                <a:gd name="connsiteY37" fmla="*/ 163258 h 267367"/>
                <a:gd name="connsiteX38" fmla="*/ 102520 w 265133"/>
                <a:gd name="connsiteY38" fmla="*/ 154972 h 267367"/>
                <a:gd name="connsiteX39" fmla="*/ 110835 w 265133"/>
                <a:gd name="connsiteY39" fmla="*/ 146685 h 267367"/>
                <a:gd name="connsiteX40" fmla="*/ 196251 w 265133"/>
                <a:gd name="connsiteY40" fmla="*/ 124111 h 267367"/>
                <a:gd name="connsiteX41" fmla="*/ 207968 w 265133"/>
                <a:gd name="connsiteY41" fmla="*/ 124111 h 267367"/>
                <a:gd name="connsiteX42" fmla="*/ 232818 w 265133"/>
                <a:gd name="connsiteY42" fmla="*/ 148971 h 267367"/>
                <a:gd name="connsiteX43" fmla="*/ 238677 w 265133"/>
                <a:gd name="connsiteY43" fmla="*/ 154877 h 267367"/>
                <a:gd name="connsiteX44" fmla="*/ 232818 w 265133"/>
                <a:gd name="connsiteY44" fmla="*/ 160782 h 267367"/>
                <a:gd name="connsiteX45" fmla="*/ 207968 w 265133"/>
                <a:gd name="connsiteY45" fmla="*/ 185642 h 267367"/>
                <a:gd name="connsiteX46" fmla="*/ 202110 w 265133"/>
                <a:gd name="connsiteY46" fmla="*/ 188024 h 267367"/>
                <a:gd name="connsiteX47" fmla="*/ 196251 w 265133"/>
                <a:gd name="connsiteY47" fmla="*/ 185642 h 267367"/>
                <a:gd name="connsiteX48" fmla="*/ 196251 w 265133"/>
                <a:gd name="connsiteY48" fmla="*/ 173927 h 267367"/>
                <a:gd name="connsiteX49" fmla="*/ 206929 w 265133"/>
                <a:gd name="connsiteY49" fmla="*/ 163259 h 267367"/>
                <a:gd name="connsiteX50" fmla="*/ 168850 w 265133"/>
                <a:gd name="connsiteY50" fmla="*/ 163259 h 267367"/>
                <a:gd name="connsiteX51" fmla="*/ 160535 w 265133"/>
                <a:gd name="connsiteY51" fmla="*/ 154972 h 267367"/>
                <a:gd name="connsiteX52" fmla="*/ 168850 w 265133"/>
                <a:gd name="connsiteY52" fmla="*/ 146685 h 267367"/>
                <a:gd name="connsiteX53" fmla="*/ 206929 w 265133"/>
                <a:gd name="connsiteY53" fmla="*/ 146685 h 267367"/>
                <a:gd name="connsiteX54" fmla="*/ 206929 w 265133"/>
                <a:gd name="connsiteY54" fmla="*/ 146495 h 267367"/>
                <a:gd name="connsiteX55" fmla="*/ 196251 w 265133"/>
                <a:gd name="connsiteY55" fmla="*/ 135827 h 267367"/>
                <a:gd name="connsiteX56" fmla="*/ 196251 w 265133"/>
                <a:gd name="connsiteY56" fmla="*/ 124111 h 267367"/>
                <a:gd name="connsiteX57" fmla="*/ 90236 w 265133"/>
                <a:gd name="connsiteY57" fmla="*/ 117158 h 267367"/>
                <a:gd name="connsiteX58" fmla="*/ 90236 w 265133"/>
                <a:gd name="connsiteY58" fmla="*/ 250794 h 267367"/>
                <a:gd name="connsiteX59" fmla="*/ 248503 w 265133"/>
                <a:gd name="connsiteY59" fmla="*/ 250794 h 267367"/>
                <a:gd name="connsiteX60" fmla="*/ 248503 w 265133"/>
                <a:gd name="connsiteY60" fmla="*/ 117158 h 267367"/>
                <a:gd name="connsiteX61" fmla="*/ 90236 w 265133"/>
                <a:gd name="connsiteY61" fmla="*/ 100394 h 267367"/>
                <a:gd name="connsiteX62" fmla="*/ 248503 w 265133"/>
                <a:gd name="connsiteY62" fmla="*/ 100394 h 267367"/>
                <a:gd name="connsiteX63" fmla="*/ 265133 w 265133"/>
                <a:gd name="connsiteY63" fmla="*/ 117063 h 267367"/>
                <a:gd name="connsiteX64" fmla="*/ 265133 w 265133"/>
                <a:gd name="connsiteY64" fmla="*/ 250698 h 267367"/>
                <a:gd name="connsiteX65" fmla="*/ 248503 w 265133"/>
                <a:gd name="connsiteY65" fmla="*/ 267367 h 267367"/>
                <a:gd name="connsiteX66" fmla="*/ 90236 w 265133"/>
                <a:gd name="connsiteY66" fmla="*/ 267367 h 267367"/>
                <a:gd name="connsiteX67" fmla="*/ 73606 w 265133"/>
                <a:gd name="connsiteY67" fmla="*/ 250698 h 267367"/>
                <a:gd name="connsiteX68" fmla="*/ 73606 w 265133"/>
                <a:gd name="connsiteY68" fmla="*/ 117063 h 267367"/>
                <a:gd name="connsiteX69" fmla="*/ 90236 w 265133"/>
                <a:gd name="connsiteY69" fmla="*/ 100394 h 267367"/>
                <a:gd name="connsiteX70" fmla="*/ 117827 w 265133"/>
                <a:gd name="connsiteY70" fmla="*/ 0 h 267367"/>
                <a:gd name="connsiteX71" fmla="*/ 199748 w 265133"/>
                <a:gd name="connsiteY71" fmla="*/ 75533 h 267367"/>
                <a:gd name="connsiteX72" fmla="*/ 200126 w 265133"/>
                <a:gd name="connsiteY72" fmla="*/ 81248 h 267367"/>
                <a:gd name="connsiteX73" fmla="*/ 181134 w 265133"/>
                <a:gd name="connsiteY73" fmla="*/ 81248 h 267367"/>
                <a:gd name="connsiteX74" fmla="*/ 117827 w 265133"/>
                <a:gd name="connsiteY74" fmla="*/ 18955 h 267367"/>
                <a:gd name="connsiteX75" fmla="*/ 54425 w 265133"/>
                <a:gd name="connsiteY75" fmla="*/ 82772 h 267367"/>
                <a:gd name="connsiteX76" fmla="*/ 47433 w 265133"/>
                <a:gd name="connsiteY76" fmla="*/ 91916 h 267367"/>
                <a:gd name="connsiteX77" fmla="*/ 26859 w 265133"/>
                <a:gd name="connsiteY77" fmla="*/ 105954 h 267367"/>
                <a:gd name="connsiteX78" fmla="*/ 18915 w 265133"/>
                <a:gd name="connsiteY78" fmla="*/ 129584 h 267367"/>
                <a:gd name="connsiteX79" fmla="*/ 18898 w 265133"/>
                <a:gd name="connsiteY79" fmla="*/ 129540 h 267367"/>
                <a:gd name="connsiteX80" fmla="*/ 18898 w 265133"/>
                <a:gd name="connsiteY80" fmla="*/ 129635 h 267367"/>
                <a:gd name="connsiteX81" fmla="*/ 18915 w 265133"/>
                <a:gd name="connsiteY81" fmla="*/ 129584 h 267367"/>
                <a:gd name="connsiteX82" fmla="*/ 29327 w 265133"/>
                <a:gd name="connsiteY82" fmla="*/ 156079 h 267367"/>
                <a:gd name="connsiteX83" fmla="*/ 54709 w 265133"/>
                <a:gd name="connsiteY83" fmla="*/ 168402 h 267367"/>
                <a:gd name="connsiteX84" fmla="*/ 54709 w 265133"/>
                <a:gd name="connsiteY84" fmla="*/ 187643 h 267367"/>
                <a:gd name="connsiteX85" fmla="*/ 0 w 265133"/>
                <a:gd name="connsiteY85" fmla="*/ 129635 h 267367"/>
                <a:gd name="connsiteX86" fmla="*/ 35811 w 265133"/>
                <a:gd name="connsiteY86" fmla="*/ 75914 h 267367"/>
                <a:gd name="connsiteX87" fmla="*/ 117827 w 265133"/>
                <a:gd name="connsiteY87" fmla="*/ 0 h 26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65133" h="267367">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w="94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3" name="TextBox 112">
              <a:extLst>
                <a:ext uri="{FF2B5EF4-FFF2-40B4-BE49-F238E27FC236}">
                  <a16:creationId xmlns:a16="http://schemas.microsoft.com/office/drawing/2014/main" id="{5AE3ED72-8748-216E-A03F-1ECC8EE0319D}"/>
                </a:ext>
              </a:extLst>
            </p:cNvPr>
            <p:cNvSpPr txBox="1"/>
            <p:nvPr/>
          </p:nvSpPr>
          <p:spPr>
            <a:xfrm>
              <a:off x="3101221" y="5685235"/>
              <a:ext cx="546427" cy="179216"/>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subnet</a:t>
              </a:r>
            </a:p>
          </p:txBody>
        </p:sp>
      </p:grpSp>
      <p:sp>
        <p:nvSpPr>
          <p:cNvPr id="83" name="TextBox 82">
            <a:extLst>
              <a:ext uri="{FF2B5EF4-FFF2-40B4-BE49-F238E27FC236}">
                <a16:creationId xmlns:a16="http://schemas.microsoft.com/office/drawing/2014/main" id="{2A2D557D-3FA3-1CD2-C179-E649E450C6AB}"/>
              </a:ext>
            </a:extLst>
          </p:cNvPr>
          <p:cNvSpPr txBox="1"/>
          <p:nvPr/>
        </p:nvSpPr>
        <p:spPr>
          <a:xfrm>
            <a:off x="4722813" y="3568346"/>
            <a:ext cx="21712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1A60E"/>
                </a:solidFill>
                <a:effectLst/>
                <a:uLnTx/>
                <a:uFillTx/>
                <a:latin typeface="Arial" panose="020B0604020202020204"/>
                <a:ea typeface="+mn-ea"/>
                <a:cs typeface="+mn-cs"/>
              </a:rPr>
              <a:t>Project Admin</a:t>
            </a:r>
          </a:p>
        </p:txBody>
      </p:sp>
      <p:pic>
        <p:nvPicPr>
          <p:cNvPr id="98" name="Google Shape;4667;p52">
            <a:extLst>
              <a:ext uri="{FF2B5EF4-FFF2-40B4-BE49-F238E27FC236}">
                <a16:creationId xmlns:a16="http://schemas.microsoft.com/office/drawing/2014/main" id="{DD8EC640-1824-0907-BC4D-D264CAF2C210}"/>
              </a:ext>
            </a:extLst>
          </p:cNvPr>
          <p:cNvPicPr preferRelativeResize="0">
            <a:picLocks noChangeAspect="1"/>
          </p:cNvPicPr>
          <p:nvPr/>
        </p:nvPicPr>
        <p:blipFill rotWithShape="1">
          <a:blip r:embed="rId3">
            <a:alphaModFix/>
            <a:duotone>
              <a:schemeClr val="accent4">
                <a:shade val="45000"/>
                <a:satMod val="135000"/>
              </a:schemeClr>
              <a:prstClr val="white"/>
            </a:duotone>
          </a:blip>
          <a:srcRect/>
          <a:stretch/>
        </p:blipFill>
        <p:spPr>
          <a:xfrm>
            <a:off x="4271368" y="3475456"/>
            <a:ext cx="432000" cy="432000"/>
          </a:xfrm>
          <a:prstGeom prst="rect">
            <a:avLst/>
          </a:prstGeom>
          <a:noFill/>
          <a:ln>
            <a:noFill/>
          </a:ln>
        </p:spPr>
      </p:pic>
      <p:sp>
        <p:nvSpPr>
          <p:cNvPr id="84" name="TextBox 83">
            <a:extLst>
              <a:ext uri="{FF2B5EF4-FFF2-40B4-BE49-F238E27FC236}">
                <a16:creationId xmlns:a16="http://schemas.microsoft.com/office/drawing/2014/main" id="{D4110DF5-3B12-AAF0-D3BD-40BB41835A0F}"/>
              </a:ext>
            </a:extLst>
          </p:cNvPr>
          <p:cNvSpPr txBox="1"/>
          <p:nvPr/>
        </p:nvSpPr>
        <p:spPr>
          <a:xfrm>
            <a:off x="2194971" y="4494646"/>
            <a:ext cx="2163800" cy="507831"/>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C4B94"/>
                </a:solidFill>
                <a:effectLst/>
                <a:uLnTx/>
                <a:uFillTx/>
                <a:latin typeface="Arial" panose="020B0604020202020204"/>
                <a:ea typeface="+mn-ea"/>
                <a:cs typeface="+mn-cs"/>
              </a:rPr>
              <a:t>Creates subnets from </a:t>
            </a:r>
            <a:br>
              <a:rPr kumimoji="0" lang="en-US" sz="1100" b="0" i="0" u="none" strike="noStrike" kern="1200" cap="none" spc="0" normalizeH="0" baseline="0" noProof="0" dirty="0">
                <a:ln>
                  <a:noFill/>
                </a:ln>
                <a:solidFill>
                  <a:srgbClr val="6C4B94"/>
                </a:solidFill>
                <a:effectLst/>
                <a:uLnTx/>
                <a:uFillTx/>
                <a:latin typeface="Arial" panose="020B0604020202020204"/>
                <a:ea typeface="+mn-ea"/>
                <a:cs typeface="+mn-cs"/>
              </a:rPr>
            </a:br>
            <a:r>
              <a:rPr kumimoji="0" lang="en-US" sz="1100" b="0" i="0" u="none" strike="noStrike" kern="1200" cap="none" spc="0" normalizeH="0" baseline="0" noProof="0" dirty="0">
                <a:ln>
                  <a:noFill/>
                </a:ln>
                <a:solidFill>
                  <a:srgbClr val="6C4B94"/>
                </a:solidFill>
                <a:effectLst/>
                <a:uLnTx/>
                <a:uFillTx/>
                <a:latin typeface="Arial" panose="020B0604020202020204"/>
                <a:ea typeface="+mn-ea"/>
                <a:cs typeface="+mn-cs"/>
              </a:rPr>
              <a:t>pre-allocated IP blocks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C4B94"/>
                </a:solidFill>
                <a:effectLst/>
                <a:uLnTx/>
                <a:uFillTx/>
                <a:latin typeface="Arial" panose="020B0604020202020204"/>
                <a:ea typeface="+mn-ea"/>
                <a:cs typeface="+mn-cs"/>
              </a:rPr>
              <a:t>Attach VMs</a:t>
            </a:r>
          </a:p>
        </p:txBody>
      </p:sp>
      <p:pic>
        <p:nvPicPr>
          <p:cNvPr id="99" name="Google Shape;4667;p52">
            <a:extLst>
              <a:ext uri="{FF2B5EF4-FFF2-40B4-BE49-F238E27FC236}">
                <a16:creationId xmlns:a16="http://schemas.microsoft.com/office/drawing/2014/main" id="{6CC00A02-0D21-3467-A135-0012464C0CB8}"/>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4271367" y="4801650"/>
            <a:ext cx="432000" cy="432000"/>
          </a:xfrm>
          <a:prstGeom prst="rect">
            <a:avLst/>
          </a:prstGeom>
          <a:noFill/>
          <a:ln>
            <a:noFill/>
          </a:ln>
        </p:spPr>
      </p:pic>
      <p:grpSp>
        <p:nvGrpSpPr>
          <p:cNvPr id="116" name="VMs">
            <a:extLst>
              <a:ext uri="{FF2B5EF4-FFF2-40B4-BE49-F238E27FC236}">
                <a16:creationId xmlns:a16="http://schemas.microsoft.com/office/drawing/2014/main" id="{8E09B643-7F37-19A7-FB45-9086A34CE404}"/>
              </a:ext>
            </a:extLst>
          </p:cNvPr>
          <p:cNvGrpSpPr/>
          <p:nvPr/>
        </p:nvGrpSpPr>
        <p:grpSpPr>
          <a:xfrm>
            <a:off x="2600085" y="5078167"/>
            <a:ext cx="884393" cy="609197"/>
            <a:chOff x="2600085" y="5078167"/>
            <a:chExt cx="884393" cy="609197"/>
          </a:xfrm>
        </p:grpSpPr>
        <p:grpSp>
          <p:nvGrpSpPr>
            <p:cNvPr id="100" name="Google Shape;3733;p22">
              <a:extLst>
                <a:ext uri="{FF2B5EF4-FFF2-40B4-BE49-F238E27FC236}">
                  <a16:creationId xmlns:a16="http://schemas.microsoft.com/office/drawing/2014/main" id="{EA1D5683-B452-FEF3-6B47-6CE6C14CAA3F}"/>
                </a:ext>
              </a:extLst>
            </p:cNvPr>
            <p:cNvGrpSpPr/>
            <p:nvPr/>
          </p:nvGrpSpPr>
          <p:grpSpPr>
            <a:xfrm>
              <a:off x="2600085" y="5078167"/>
              <a:ext cx="269469" cy="269658"/>
              <a:chOff x="658852" y="4954224"/>
              <a:chExt cx="583799" cy="584209"/>
            </a:xfrm>
          </p:grpSpPr>
          <p:sp>
            <p:nvSpPr>
              <p:cNvPr id="101" name="Google Shape;3734;p22">
                <a:extLst>
                  <a:ext uri="{FF2B5EF4-FFF2-40B4-BE49-F238E27FC236}">
                    <a16:creationId xmlns:a16="http://schemas.microsoft.com/office/drawing/2014/main" id="{D6F485A0-F5F5-44E3-FBC0-94DF5B96B79F}"/>
                  </a:ext>
                </a:extLst>
              </p:cNvPr>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02" name="Google Shape;3735;p22">
                <a:extLst>
                  <a:ext uri="{FF2B5EF4-FFF2-40B4-BE49-F238E27FC236}">
                    <a16:creationId xmlns:a16="http://schemas.microsoft.com/office/drawing/2014/main" id="{E25174A7-E35D-5558-59BD-5CC286BA7B69}"/>
                  </a:ext>
                </a:extLst>
              </p:cNvPr>
              <p:cNvGrpSpPr/>
              <p:nvPr/>
            </p:nvGrpSpPr>
            <p:grpSpPr>
              <a:xfrm>
                <a:off x="834156" y="5211637"/>
                <a:ext cx="216359" cy="78004"/>
                <a:chOff x="834156" y="5211637"/>
                <a:chExt cx="216359" cy="78004"/>
              </a:xfrm>
            </p:grpSpPr>
            <p:sp>
              <p:nvSpPr>
                <p:cNvPr id="103" name="Google Shape;3736;p22">
                  <a:extLst>
                    <a:ext uri="{FF2B5EF4-FFF2-40B4-BE49-F238E27FC236}">
                      <a16:creationId xmlns:a16="http://schemas.microsoft.com/office/drawing/2014/main" id="{72A33BF5-9BD7-98B9-AC42-1B343D86C040}"/>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104" name="Google Shape;3737;p22">
                  <a:extLst>
                    <a:ext uri="{FF2B5EF4-FFF2-40B4-BE49-F238E27FC236}">
                      <a16:creationId xmlns:a16="http://schemas.microsoft.com/office/drawing/2014/main" id="{F58CDBF2-350B-624F-EF7B-BE9CE0184FD8}"/>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105" name="Straight Connector 104">
              <a:extLst>
                <a:ext uri="{FF2B5EF4-FFF2-40B4-BE49-F238E27FC236}">
                  <a16:creationId xmlns:a16="http://schemas.microsoft.com/office/drawing/2014/main" id="{A5640CCE-A249-F7A2-B3CD-E302DBF9C1A8}"/>
                </a:ext>
              </a:extLst>
            </p:cNvPr>
            <p:cNvCxnSpPr>
              <a:cxnSpLocks/>
            </p:cNvCxnSpPr>
            <p:nvPr/>
          </p:nvCxnSpPr>
          <p:spPr bwMode="gray">
            <a:xfrm>
              <a:off x="2734820" y="5342205"/>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nvGrpSpPr>
            <p:cNvPr id="51" name="Google Shape;3733;p22">
              <a:extLst>
                <a:ext uri="{FF2B5EF4-FFF2-40B4-BE49-F238E27FC236}">
                  <a16:creationId xmlns:a16="http://schemas.microsoft.com/office/drawing/2014/main" id="{379140CB-76E3-4BDE-66CC-AAABC65099A0}"/>
                </a:ext>
              </a:extLst>
            </p:cNvPr>
            <p:cNvGrpSpPr/>
            <p:nvPr/>
          </p:nvGrpSpPr>
          <p:grpSpPr>
            <a:xfrm>
              <a:off x="3215009" y="5293790"/>
              <a:ext cx="269469" cy="269658"/>
              <a:chOff x="658852" y="4954224"/>
              <a:chExt cx="583799" cy="584209"/>
            </a:xfrm>
          </p:grpSpPr>
          <p:sp>
            <p:nvSpPr>
              <p:cNvPr id="52" name="Google Shape;3734;p22">
                <a:extLst>
                  <a:ext uri="{FF2B5EF4-FFF2-40B4-BE49-F238E27FC236}">
                    <a16:creationId xmlns:a16="http://schemas.microsoft.com/office/drawing/2014/main" id="{A354EDCA-62E6-025E-A3CE-B9E3E1C086F6}"/>
                  </a:ext>
                </a:extLst>
              </p:cNvPr>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3" name="Google Shape;3735;p22">
                <a:extLst>
                  <a:ext uri="{FF2B5EF4-FFF2-40B4-BE49-F238E27FC236}">
                    <a16:creationId xmlns:a16="http://schemas.microsoft.com/office/drawing/2014/main" id="{E3F8F48F-F5A0-1D59-4578-11002D68122C}"/>
                  </a:ext>
                </a:extLst>
              </p:cNvPr>
              <p:cNvGrpSpPr/>
              <p:nvPr/>
            </p:nvGrpSpPr>
            <p:grpSpPr>
              <a:xfrm>
                <a:off x="834156" y="5211637"/>
                <a:ext cx="216359" cy="78004"/>
                <a:chOff x="834156" y="5211637"/>
                <a:chExt cx="216359" cy="78004"/>
              </a:xfrm>
            </p:grpSpPr>
            <p:sp>
              <p:nvSpPr>
                <p:cNvPr id="54" name="Google Shape;3736;p22">
                  <a:extLst>
                    <a:ext uri="{FF2B5EF4-FFF2-40B4-BE49-F238E27FC236}">
                      <a16:creationId xmlns:a16="http://schemas.microsoft.com/office/drawing/2014/main" id="{5857EC2E-A2D1-4F07-922A-3A97A8CE13E9}"/>
                    </a:ext>
                  </a:extLst>
                </p:cNvPr>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7030A0"/>
                    </a:solidFill>
                    <a:effectLst/>
                    <a:uLnTx/>
                    <a:uFillTx/>
                    <a:latin typeface="Arial"/>
                    <a:ea typeface="Arial"/>
                    <a:cs typeface="Arial"/>
                    <a:sym typeface="Arial"/>
                  </a:endParaRPr>
                </a:p>
              </p:txBody>
            </p:sp>
            <p:sp>
              <p:nvSpPr>
                <p:cNvPr id="56" name="Google Shape;3737;p22">
                  <a:extLst>
                    <a:ext uri="{FF2B5EF4-FFF2-40B4-BE49-F238E27FC236}">
                      <a16:creationId xmlns:a16="http://schemas.microsoft.com/office/drawing/2014/main" id="{C010097C-4C91-CA61-0CAA-050117138F07}"/>
                    </a:ext>
                  </a:extLst>
                </p:cNvPr>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cxnSp>
          <p:nvCxnSpPr>
            <p:cNvPr id="57" name="Straight Connector 56">
              <a:extLst>
                <a:ext uri="{FF2B5EF4-FFF2-40B4-BE49-F238E27FC236}">
                  <a16:creationId xmlns:a16="http://schemas.microsoft.com/office/drawing/2014/main" id="{99A77E14-2BBD-EB15-A286-32719084BA8B}"/>
                </a:ext>
              </a:extLst>
            </p:cNvPr>
            <p:cNvCxnSpPr>
              <a:cxnSpLocks/>
            </p:cNvCxnSpPr>
            <p:nvPr/>
          </p:nvCxnSpPr>
          <p:spPr bwMode="gray">
            <a:xfrm>
              <a:off x="3349744" y="5557828"/>
              <a:ext cx="0" cy="129536"/>
            </a:xfrm>
            <a:prstGeom prst="line">
              <a:avLst/>
            </a:prstGeom>
            <a:ln w="25400" cap="rnd">
              <a:solidFill>
                <a:schemeClr val="accent5"/>
              </a:solidFill>
              <a:round/>
              <a:tailEnd type="none"/>
            </a:ln>
          </p:spPr>
          <p:style>
            <a:lnRef idx="1">
              <a:schemeClr val="accent1"/>
            </a:lnRef>
            <a:fillRef idx="0">
              <a:schemeClr val="accent1"/>
            </a:fillRef>
            <a:effectRef idx="0">
              <a:schemeClr val="accent1"/>
            </a:effectRef>
            <a:fontRef idx="minor">
              <a:schemeClr val="tx1"/>
            </a:fontRef>
          </p:style>
        </p:cxnSp>
      </p:grpSp>
      <p:grpSp>
        <p:nvGrpSpPr>
          <p:cNvPr id="81" name="VPCs">
            <a:extLst>
              <a:ext uri="{FF2B5EF4-FFF2-40B4-BE49-F238E27FC236}">
                <a16:creationId xmlns:a16="http://schemas.microsoft.com/office/drawing/2014/main" id="{E23BB752-C605-9AD1-2F7D-7B73BDB32CE6}"/>
              </a:ext>
            </a:extLst>
          </p:cNvPr>
          <p:cNvGrpSpPr/>
          <p:nvPr/>
        </p:nvGrpSpPr>
        <p:grpSpPr>
          <a:xfrm>
            <a:off x="1076527" y="4231532"/>
            <a:ext cx="2769141" cy="1744986"/>
            <a:chOff x="1076527" y="4231532"/>
            <a:chExt cx="2769141" cy="1744986"/>
          </a:xfrm>
        </p:grpSpPr>
        <p:pic>
          <p:nvPicPr>
            <p:cNvPr id="92" name="Graphic 91">
              <a:extLst>
                <a:ext uri="{FF2B5EF4-FFF2-40B4-BE49-F238E27FC236}">
                  <a16:creationId xmlns:a16="http://schemas.microsoft.com/office/drawing/2014/main" id="{2471FD32-E6BF-D411-58BE-1A5170B9DC2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359" y="4275030"/>
              <a:ext cx="180000" cy="180000"/>
            </a:xfrm>
            <a:prstGeom prst="rect">
              <a:avLst/>
            </a:prstGeom>
          </p:spPr>
        </p:pic>
        <p:sp>
          <p:nvSpPr>
            <p:cNvPr id="11" name="Rounded Rectangle 10">
              <a:extLst>
                <a:ext uri="{FF2B5EF4-FFF2-40B4-BE49-F238E27FC236}">
                  <a16:creationId xmlns:a16="http://schemas.microsoft.com/office/drawing/2014/main" id="{8136E0BE-42D6-8575-C31E-E683DE8F3906}"/>
                </a:ext>
              </a:extLst>
            </p:cNvPr>
            <p:cNvSpPr/>
            <p:nvPr/>
          </p:nvSpPr>
          <p:spPr>
            <a:xfrm>
              <a:off x="1076527" y="4231532"/>
              <a:ext cx="875489" cy="1744986"/>
            </a:xfrm>
            <a:prstGeom prst="roundRect">
              <a:avLst>
                <a:gd name="adj" fmla="val 4574"/>
              </a:avLst>
            </a:prstGeom>
            <a:no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VPC</a:t>
              </a:r>
            </a:p>
          </p:txBody>
        </p:sp>
        <p:pic>
          <p:nvPicPr>
            <p:cNvPr id="12" name="Graphic 11">
              <a:extLst>
                <a:ext uri="{FF2B5EF4-FFF2-40B4-BE49-F238E27FC236}">
                  <a16:creationId xmlns:a16="http://schemas.microsoft.com/office/drawing/2014/main" id="{51166295-9A50-37BD-EECE-40EA007474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50539" y="4274235"/>
              <a:ext cx="180000" cy="180000"/>
            </a:xfrm>
            <a:prstGeom prst="rect">
              <a:avLst/>
            </a:prstGeom>
          </p:spPr>
        </p:pic>
        <p:sp>
          <p:nvSpPr>
            <p:cNvPr id="91" name="Rounded Rectangle 90">
              <a:extLst>
                <a:ext uri="{FF2B5EF4-FFF2-40B4-BE49-F238E27FC236}">
                  <a16:creationId xmlns:a16="http://schemas.microsoft.com/office/drawing/2014/main" id="{D1310249-495F-7A3B-6B26-9A767FB2D283}"/>
                </a:ext>
              </a:extLst>
            </p:cNvPr>
            <p:cNvSpPr/>
            <p:nvPr/>
          </p:nvSpPr>
          <p:spPr>
            <a:xfrm>
              <a:off x="2166026" y="4231532"/>
              <a:ext cx="1679642" cy="1744986"/>
            </a:xfrm>
            <a:prstGeom prst="roundRect">
              <a:avLst>
                <a:gd name="adj" fmla="val 3200"/>
              </a:avLst>
            </a:prstGeom>
            <a:no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7030A0"/>
                  </a:solidFill>
                  <a:effectLst/>
                  <a:uLnTx/>
                  <a:uFillTx/>
                  <a:latin typeface="Arial" panose="020B0604020202020204"/>
                  <a:ea typeface="+mn-ea"/>
                  <a:cs typeface="+mn-cs"/>
                </a:rPr>
                <a:t>VPC</a:t>
              </a:r>
            </a:p>
          </p:txBody>
        </p:sp>
      </p:grpSp>
      <p:grpSp>
        <p:nvGrpSpPr>
          <p:cNvPr id="16" name="Group 15">
            <a:extLst>
              <a:ext uri="{FF2B5EF4-FFF2-40B4-BE49-F238E27FC236}">
                <a16:creationId xmlns:a16="http://schemas.microsoft.com/office/drawing/2014/main" id="{D0E70CC8-D660-53AA-AD88-7CC9305E0B6B}"/>
              </a:ext>
            </a:extLst>
          </p:cNvPr>
          <p:cNvGrpSpPr/>
          <p:nvPr/>
        </p:nvGrpSpPr>
        <p:grpSpPr>
          <a:xfrm>
            <a:off x="2949675" y="2081718"/>
            <a:ext cx="1330835" cy="398060"/>
            <a:chOff x="2949675" y="2081718"/>
            <a:chExt cx="1330835" cy="398060"/>
          </a:xfrm>
        </p:grpSpPr>
        <p:sp>
          <p:nvSpPr>
            <p:cNvPr id="37" name="Rectangle 36">
              <a:extLst>
                <a:ext uri="{FF2B5EF4-FFF2-40B4-BE49-F238E27FC236}">
                  <a16:creationId xmlns:a16="http://schemas.microsoft.com/office/drawing/2014/main" id="{EDCE6593-2FE9-C0D1-4D70-1C0AEBFF7690}"/>
                </a:ext>
              </a:extLst>
            </p:cNvPr>
            <p:cNvSpPr/>
            <p:nvPr/>
          </p:nvSpPr>
          <p:spPr bwMode="gray">
            <a:xfrm>
              <a:off x="2949675" y="2081718"/>
              <a:ext cx="1296000" cy="252000"/>
            </a:xfrm>
            <a:prstGeom prst="rect">
              <a:avLst/>
            </a:prstGeom>
            <a:solidFill>
              <a:schemeClr val="accent2"/>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70" name="TextBox 69">
              <a:extLst>
                <a:ext uri="{FF2B5EF4-FFF2-40B4-BE49-F238E27FC236}">
                  <a16:creationId xmlns:a16="http://schemas.microsoft.com/office/drawing/2014/main" id="{151B6048-3B30-937C-75AD-D1B1D0DAC347}"/>
                </a:ext>
              </a:extLst>
            </p:cNvPr>
            <p:cNvSpPr txBox="1"/>
            <p:nvPr/>
          </p:nvSpPr>
          <p:spPr>
            <a:xfrm>
              <a:off x="3298157" y="2300562"/>
              <a:ext cx="982353" cy="179216"/>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5C8A"/>
                  </a:solidFill>
                  <a:effectLst/>
                  <a:uLnTx/>
                  <a:uFillTx/>
                  <a:latin typeface="Arial" panose="020B0604020202020204"/>
                  <a:ea typeface="+mn-ea"/>
                  <a:cs typeface="+mn-cs"/>
                </a:rPr>
                <a:t>IP blocks/quotas</a:t>
              </a:r>
            </a:p>
          </p:txBody>
        </p:sp>
      </p:grpSp>
      <p:sp>
        <p:nvSpPr>
          <p:cNvPr id="78" name="allocated green">
            <a:extLst>
              <a:ext uri="{FF2B5EF4-FFF2-40B4-BE49-F238E27FC236}">
                <a16:creationId xmlns:a16="http://schemas.microsoft.com/office/drawing/2014/main" id="{ECA57565-BA46-DB14-8B81-63BCA3847970}"/>
              </a:ext>
            </a:extLst>
          </p:cNvPr>
          <p:cNvSpPr/>
          <p:nvPr/>
        </p:nvSpPr>
        <p:spPr bwMode="gray">
          <a:xfrm>
            <a:off x="2992509" y="2100382"/>
            <a:ext cx="499353" cy="216000"/>
          </a:xfrm>
          <a:prstGeom prst="rect">
            <a:avLst/>
          </a:prstGeom>
          <a:pattFill prst="wdUpDiag">
            <a:fgClr>
              <a:schemeClr val="accent1"/>
            </a:fgClr>
            <a:bgClr>
              <a:schemeClr val="accent4"/>
            </a:bgClr>
          </a:patt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67" name="allocated green moving">
            <a:extLst>
              <a:ext uri="{FF2B5EF4-FFF2-40B4-BE49-F238E27FC236}">
                <a16:creationId xmlns:a16="http://schemas.microsoft.com/office/drawing/2014/main" id="{201B8B25-8922-F5AE-CB41-21D912F39D4A}"/>
              </a:ext>
            </a:extLst>
          </p:cNvPr>
          <p:cNvSpPr/>
          <p:nvPr/>
        </p:nvSpPr>
        <p:spPr bwMode="gray">
          <a:xfrm>
            <a:off x="2991843" y="2099718"/>
            <a:ext cx="499353" cy="216000"/>
          </a:xfrm>
          <a:prstGeom prst="rect">
            <a:avLst/>
          </a:prstGeom>
          <a:solidFill>
            <a:schemeClr val="accent4"/>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nvGrpSpPr>
          <p:cNvPr id="87" name="allocated vpc blocks">
            <a:extLst>
              <a:ext uri="{FF2B5EF4-FFF2-40B4-BE49-F238E27FC236}">
                <a16:creationId xmlns:a16="http://schemas.microsoft.com/office/drawing/2014/main" id="{87F084B6-CD6A-23CE-A98E-5F4F1FA4CF9E}"/>
              </a:ext>
            </a:extLst>
          </p:cNvPr>
          <p:cNvGrpSpPr/>
          <p:nvPr/>
        </p:nvGrpSpPr>
        <p:grpSpPr>
          <a:xfrm>
            <a:off x="3566808" y="3286494"/>
            <a:ext cx="408702" cy="180000"/>
            <a:chOff x="2999542" y="3328827"/>
            <a:chExt cx="408702" cy="180000"/>
          </a:xfrm>
        </p:grpSpPr>
        <p:sp>
          <p:nvSpPr>
            <p:cNvPr id="85" name="Rectangle 84">
              <a:extLst>
                <a:ext uri="{FF2B5EF4-FFF2-40B4-BE49-F238E27FC236}">
                  <a16:creationId xmlns:a16="http://schemas.microsoft.com/office/drawing/2014/main" id="{F7F076AF-549D-0813-D6BA-4D60BBF809A1}"/>
                </a:ext>
              </a:extLst>
            </p:cNvPr>
            <p:cNvSpPr/>
            <p:nvPr/>
          </p:nvSpPr>
          <p:spPr bwMode="gray">
            <a:xfrm>
              <a:off x="3220177" y="3328827"/>
              <a:ext cx="188067" cy="180000"/>
            </a:xfrm>
            <a:prstGeom prst="rect">
              <a:avLst/>
            </a:prstGeom>
            <a:pattFill prst="wdUpDiag">
              <a:fgClr>
                <a:schemeClr val="accent4"/>
              </a:fgClr>
              <a:bgClr>
                <a:schemeClr val="accent5"/>
              </a:bgClr>
            </a:patt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86" name="Rectangle 85">
              <a:extLst>
                <a:ext uri="{FF2B5EF4-FFF2-40B4-BE49-F238E27FC236}">
                  <a16:creationId xmlns:a16="http://schemas.microsoft.com/office/drawing/2014/main" id="{1B76CA48-13AC-92DC-F841-573962F5D497}"/>
                </a:ext>
              </a:extLst>
            </p:cNvPr>
            <p:cNvSpPr/>
            <p:nvPr/>
          </p:nvSpPr>
          <p:spPr bwMode="gray">
            <a:xfrm>
              <a:off x="2999542" y="3328827"/>
              <a:ext cx="90790" cy="180000"/>
            </a:xfrm>
            <a:prstGeom prst="rect">
              <a:avLst/>
            </a:prstGeom>
            <a:pattFill prst="wdUpDiag">
              <a:fgClr>
                <a:schemeClr val="accent4"/>
              </a:fgClr>
              <a:bgClr>
                <a:schemeClr val="accent5"/>
              </a:bgClr>
            </a:patt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grpSp>
      <p:sp>
        <p:nvSpPr>
          <p:cNvPr id="68" name="Rectangle 67">
            <a:extLst>
              <a:ext uri="{FF2B5EF4-FFF2-40B4-BE49-F238E27FC236}">
                <a16:creationId xmlns:a16="http://schemas.microsoft.com/office/drawing/2014/main" id="{B6AA4CDD-0876-19BC-6C51-5112365AB700}"/>
              </a:ext>
            </a:extLst>
          </p:cNvPr>
          <p:cNvSpPr/>
          <p:nvPr/>
        </p:nvSpPr>
        <p:spPr bwMode="gray">
          <a:xfrm>
            <a:off x="3787444" y="3286493"/>
            <a:ext cx="188067" cy="180000"/>
          </a:xfrm>
          <a:prstGeom prst="rect">
            <a:avLst/>
          </a:prstGeom>
          <a:solidFill>
            <a:schemeClr val="accent5"/>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69" name="Rectangle 68">
            <a:extLst>
              <a:ext uri="{FF2B5EF4-FFF2-40B4-BE49-F238E27FC236}">
                <a16:creationId xmlns:a16="http://schemas.microsoft.com/office/drawing/2014/main" id="{5AB75B83-E698-415C-0DF6-CCD4942CE09A}"/>
              </a:ext>
            </a:extLst>
          </p:cNvPr>
          <p:cNvSpPr/>
          <p:nvPr/>
        </p:nvSpPr>
        <p:spPr bwMode="gray">
          <a:xfrm>
            <a:off x="3566809" y="3286493"/>
            <a:ext cx="90790" cy="180000"/>
          </a:xfrm>
          <a:prstGeom prst="rect">
            <a:avLst/>
          </a:prstGeom>
          <a:solidFill>
            <a:schemeClr val="accent5"/>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553A897A-CEC1-B8AE-C5F7-07E6FC3607B6}"/>
              </a:ext>
            </a:extLst>
          </p:cNvPr>
          <p:cNvSpPr txBox="1"/>
          <p:nvPr/>
        </p:nvSpPr>
        <p:spPr>
          <a:xfrm>
            <a:off x="4722813" y="2513889"/>
            <a:ext cx="234332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Enterprise Admin</a:t>
            </a:r>
          </a:p>
        </p:txBody>
      </p:sp>
      <p:sp>
        <p:nvSpPr>
          <p:cNvPr id="14" name="TextBox 13">
            <a:extLst>
              <a:ext uri="{FF2B5EF4-FFF2-40B4-BE49-F238E27FC236}">
                <a16:creationId xmlns:a16="http://schemas.microsoft.com/office/drawing/2014/main" id="{829CEFEF-B41E-BAE4-3A9B-38CAFAEC64C1}"/>
              </a:ext>
            </a:extLst>
          </p:cNvPr>
          <p:cNvSpPr txBox="1"/>
          <p:nvPr/>
        </p:nvSpPr>
        <p:spPr>
          <a:xfrm>
            <a:off x="1065213" y="3603471"/>
            <a:ext cx="2743200" cy="338554"/>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1A60E"/>
                </a:solidFill>
                <a:effectLst/>
                <a:uLnTx/>
                <a:uFillTx/>
                <a:latin typeface="Arial" panose="020B0604020202020204"/>
                <a:ea typeface="+mn-ea"/>
                <a:cs typeface="+mn-cs"/>
              </a:rPr>
              <a:t>Creates VPCs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61A60E"/>
                </a:solidFill>
                <a:effectLst/>
                <a:uLnTx/>
                <a:uFillTx/>
                <a:latin typeface="Arial" panose="020B0604020202020204"/>
                <a:ea typeface="+mn-ea"/>
                <a:cs typeface="+mn-cs"/>
              </a:rPr>
              <a:t>Assigns IP blocks and quotas to VPCs</a:t>
            </a:r>
          </a:p>
        </p:txBody>
      </p:sp>
      <p:sp>
        <p:nvSpPr>
          <p:cNvPr id="15" name="TextBox 14">
            <a:extLst>
              <a:ext uri="{FF2B5EF4-FFF2-40B4-BE49-F238E27FC236}">
                <a16:creationId xmlns:a16="http://schemas.microsoft.com/office/drawing/2014/main" id="{AA3E4B9C-9F9F-5A36-B49D-E0B65AD4AC4B}"/>
              </a:ext>
            </a:extLst>
          </p:cNvPr>
          <p:cNvSpPr txBox="1"/>
          <p:nvPr/>
        </p:nvSpPr>
        <p:spPr>
          <a:xfrm>
            <a:off x="4722813" y="4894540"/>
            <a:ext cx="2163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6C4B94"/>
                </a:solidFill>
                <a:effectLst/>
                <a:uLnTx/>
                <a:uFillTx/>
                <a:latin typeface="Arial" panose="020B0604020202020204"/>
                <a:ea typeface="+mn-ea"/>
                <a:cs typeface="+mn-cs"/>
              </a:rPr>
              <a:t>VPC Admin</a:t>
            </a:r>
          </a:p>
        </p:txBody>
      </p:sp>
      <p:grpSp>
        <p:nvGrpSpPr>
          <p:cNvPr id="31" name="Group 30">
            <a:extLst>
              <a:ext uri="{FF2B5EF4-FFF2-40B4-BE49-F238E27FC236}">
                <a16:creationId xmlns:a16="http://schemas.microsoft.com/office/drawing/2014/main" id="{28DD5937-0B38-B771-16AD-C8FB7F0F34C2}"/>
              </a:ext>
            </a:extLst>
          </p:cNvPr>
          <p:cNvGrpSpPr/>
          <p:nvPr/>
        </p:nvGrpSpPr>
        <p:grpSpPr>
          <a:xfrm>
            <a:off x="2098344" y="1939636"/>
            <a:ext cx="686799" cy="117764"/>
            <a:chOff x="2098344" y="1939636"/>
            <a:chExt cx="686799" cy="117764"/>
          </a:xfrm>
        </p:grpSpPr>
        <p:cxnSp>
          <p:nvCxnSpPr>
            <p:cNvPr id="18" name="Straight Connector 17">
              <a:extLst>
                <a:ext uri="{FF2B5EF4-FFF2-40B4-BE49-F238E27FC236}">
                  <a16:creationId xmlns:a16="http://schemas.microsoft.com/office/drawing/2014/main" id="{4885337F-EA68-E9B6-8428-5B03366754A9}"/>
                </a:ext>
              </a:extLst>
            </p:cNvPr>
            <p:cNvCxnSpPr>
              <a:cxnSpLocks/>
            </p:cNvCxnSpPr>
            <p:nvPr/>
          </p:nvCxnSpPr>
          <p:spPr bwMode="gray">
            <a:xfrm flipV="1">
              <a:off x="2098344" y="1939636"/>
              <a:ext cx="0" cy="117764"/>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7B53AC1-F877-9117-4199-669A4E797481}"/>
                </a:ext>
              </a:extLst>
            </p:cNvPr>
            <p:cNvCxnSpPr>
              <a:cxnSpLocks/>
            </p:cNvCxnSpPr>
            <p:nvPr/>
          </p:nvCxnSpPr>
          <p:spPr bwMode="gray">
            <a:xfrm flipV="1">
              <a:off x="2785143" y="1939636"/>
              <a:ext cx="0" cy="117764"/>
            </a:xfrm>
            <a:prstGeom prst="line">
              <a:avLst/>
            </a:prstGeom>
            <a:ln w="25400" cap="rnd">
              <a:solidFill>
                <a:schemeClr val="tx1">
                  <a:lumMod val="50000"/>
                  <a:lumOff val="50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25" name="!!bob123">
            <a:extLst>
              <a:ext uri="{FF2B5EF4-FFF2-40B4-BE49-F238E27FC236}">
                <a16:creationId xmlns:a16="http://schemas.microsoft.com/office/drawing/2014/main" id="{61430D23-61D0-3847-8F11-8174AD272C8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V="1">
            <a:off x="8372825" y="1589923"/>
            <a:ext cx="3816000"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6" name="!!BOTTOM">
            <a:extLst>
              <a:ext uri="{FF2B5EF4-FFF2-40B4-BE49-F238E27FC236}">
                <a16:creationId xmlns:a16="http://schemas.microsoft.com/office/drawing/2014/main" id="{ED2EF797-960E-DFD7-7397-699E1A37CD5E}"/>
              </a:ext>
            </a:extLst>
          </p:cNvPr>
          <p:cNvSpPr/>
          <p:nvPr/>
        </p:nvSpPr>
        <p:spPr>
          <a:xfrm rot="10800000" flipV="1">
            <a:off x="608013" y="1600200"/>
            <a:ext cx="3657600" cy="359229"/>
          </a:xfrm>
          <a:prstGeom prst="round2SameRect">
            <a:avLst>
              <a:gd name="adj1" fmla="val 19290"/>
              <a:gd name="adj2" fmla="val 0"/>
            </a:avLst>
          </a:prstGeom>
          <a:solidFill>
            <a:srgbClr val="E8E8EA"/>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PHYSICAL NETWORK</a:t>
            </a:r>
          </a:p>
        </p:txBody>
      </p:sp>
    </p:spTree>
    <p:extLst>
      <p:ext uri="{BB962C8B-B14F-4D97-AF65-F5344CB8AC3E}">
        <p14:creationId xmlns:p14="http://schemas.microsoft.com/office/powerpoint/2010/main" val="3352771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500"/>
                                  </p:stCondLst>
                                  <p:childTnLst>
                                    <p:set>
                                      <p:cBhvr>
                                        <p:cTn id="11" dur="1" fill="hold">
                                          <p:stCondLst>
                                            <p:cond delay="0"/>
                                          </p:stCondLst>
                                        </p:cTn>
                                        <p:tgtEl>
                                          <p:spTgt spid="82">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500"/>
                                  </p:stCondLst>
                                  <p:childTnLst>
                                    <p:set>
                                      <p:cBhvr>
                                        <p:cTn id="18" dur="1" fill="hold">
                                          <p:stCondLst>
                                            <p:cond delay="0"/>
                                          </p:stCondLst>
                                        </p:cTn>
                                        <p:tgtEl>
                                          <p:spTgt spid="8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0" presetClass="path" presetSubtype="0" accel="50000" decel="50000" fill="hold" grpId="1" nodeType="withEffect">
                                  <p:stCondLst>
                                    <p:cond delay="0"/>
                                  </p:stCondLst>
                                  <p:childTnLst>
                                    <p:animMotion origin="layout" path="M -0.00026 0.00139 L 0.04272 0.17083 " pathEditMode="relative" rAng="0" ptsTypes="AA">
                                      <p:cBhvr>
                                        <p:cTn id="22" dur="500" fill="hold"/>
                                        <p:tgtEl>
                                          <p:spTgt spid="67"/>
                                        </p:tgtEl>
                                        <p:attrNameLst>
                                          <p:attrName>ppt_x</p:attrName>
                                          <p:attrName>ppt_y</p:attrName>
                                        </p:attrNameLst>
                                      </p:cBhvr>
                                      <p:rCtr x="2149" y="8472"/>
                                    </p:animMotion>
                                  </p:childTnLst>
                                </p:cTn>
                              </p:par>
                              <p:par>
                                <p:cTn id="23" presetID="1" presetClass="entr" presetSubtype="0" fill="hold" grpId="0"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3">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3">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xEl>
                                              <p:pRg st="0" end="0"/>
                                            </p:txEl>
                                          </p:spTgt>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1000"/>
                                  </p:stCondLst>
                                  <p:childTnLst>
                                    <p:set>
                                      <p:cBhvr>
                                        <p:cTn id="47" dur="1" fill="hold">
                                          <p:stCondLst>
                                            <p:cond delay="0"/>
                                          </p:stCondLst>
                                        </p:cTn>
                                        <p:tgtEl>
                                          <p:spTgt spid="81"/>
                                        </p:tgtEl>
                                        <p:attrNameLst>
                                          <p:attrName>style.visibility</p:attrName>
                                        </p:attrNameLst>
                                      </p:cBhvr>
                                      <p:to>
                                        <p:strVal val="visible"/>
                                      </p:to>
                                    </p:set>
                                  </p:childTnLst>
                                </p:cTn>
                              </p:par>
                            </p:childTnLst>
                          </p:cTn>
                        </p:par>
                        <p:par>
                          <p:cTn id="48" fill="hold">
                            <p:stCondLst>
                              <p:cond delay="1000"/>
                            </p:stCondLst>
                            <p:childTnLst>
                              <p:par>
                                <p:cTn id="49" presetID="1" presetClass="entr" presetSubtype="0" fill="hold" nodeType="afterEffect">
                                  <p:stCondLst>
                                    <p:cond delay="0"/>
                                  </p:stCondLst>
                                  <p:childTnLst>
                                    <p:set>
                                      <p:cBhvr>
                                        <p:cTn id="50" dur="1" fill="hold">
                                          <p:stCondLst>
                                            <p:cond delay="0"/>
                                          </p:stCondLst>
                                        </p:cTn>
                                        <p:tgtEl>
                                          <p:spTgt spid="14">
                                            <p:txEl>
                                              <p:pRg st="1" end="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7"/>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0" presetClass="path" presetSubtype="0" accel="50000" decel="50000" fill="hold" grpId="0" nodeType="withEffect">
                                  <p:stCondLst>
                                    <p:cond delay="0"/>
                                  </p:stCondLst>
                                  <p:childTnLst>
                                    <p:animMotion origin="layout" path="M -1.12008E-6 -1.11111E-6 L -0.14209 0.14213 " pathEditMode="relative" rAng="0" ptsTypes="AA">
                                      <p:cBhvr>
                                        <p:cTn id="58" dur="500" fill="hold"/>
                                        <p:tgtEl>
                                          <p:spTgt spid="69"/>
                                        </p:tgtEl>
                                        <p:attrNameLst>
                                          <p:attrName>ppt_x</p:attrName>
                                          <p:attrName>ppt_y</p:attrName>
                                        </p:attrNameLst>
                                      </p:cBhvr>
                                      <p:rCtr x="-7111" y="7106"/>
                                    </p:animMotion>
                                  </p:childTnLst>
                                </p:cTn>
                              </p:par>
                              <p:par>
                                <p:cTn id="59" presetID="42" presetClass="path" presetSubtype="0" accel="50000" decel="50000" fill="hold" grpId="0" nodeType="withEffect">
                                  <p:stCondLst>
                                    <p:cond delay="0"/>
                                  </p:stCondLst>
                                  <p:childTnLst>
                                    <p:animMotion origin="layout" path="M -2.30268E-6 -1.11111E-6 L -0.01315 0.14283 " pathEditMode="relative" rAng="0" ptsTypes="AA">
                                      <p:cBhvr>
                                        <p:cTn id="60" dur="500" fill="hold"/>
                                        <p:tgtEl>
                                          <p:spTgt spid="68"/>
                                        </p:tgtEl>
                                        <p:attrNameLst>
                                          <p:attrName>ppt_x</p:attrName>
                                          <p:attrName>ppt_y</p:attrName>
                                        </p:attrNameLst>
                                      </p:cBhvr>
                                      <p:rCtr x="-664" y="7130"/>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
                                            <p:txEl>
                                              <p:pRg st="0" end="0"/>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
                                            <p:txEl>
                                              <p:pRg st="6" end="6"/>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3">
                                            <p:txEl>
                                              <p:pRg st="7" end="7"/>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3">
                                            <p:txEl>
                                              <p:pRg st="8" end="8"/>
                                            </p:txEl>
                                          </p:spTgt>
                                        </p:tgtEl>
                                        <p:attrNameLst>
                                          <p:attrName>style.visibility</p:attrName>
                                        </p:attrNameLst>
                                      </p:cBhvr>
                                      <p:to>
                                        <p:strVal val="visible"/>
                                      </p:to>
                                    </p:set>
                                  </p:childTnLst>
                                </p:cTn>
                              </p:par>
                            </p:childTnLst>
                          </p:cTn>
                        </p:par>
                        <p:par>
                          <p:cTn id="75" fill="hold">
                            <p:stCondLst>
                              <p:cond delay="0"/>
                            </p:stCondLst>
                            <p:childTnLst>
                              <p:par>
                                <p:cTn id="76" presetID="1" presetClass="entr" presetSubtype="0" fill="hold" nodeType="afterEffect">
                                  <p:stCondLst>
                                    <p:cond delay="0"/>
                                  </p:stCondLst>
                                  <p:childTnLst>
                                    <p:set>
                                      <p:cBhvr>
                                        <p:cTn id="77" dur="1" fill="hold">
                                          <p:stCondLst>
                                            <p:cond delay="0"/>
                                          </p:stCondLst>
                                        </p:cTn>
                                        <p:tgtEl>
                                          <p:spTgt spid="84">
                                            <p:txEl>
                                              <p:pRg st="0" end="0"/>
                                            </p:txEl>
                                          </p:spTgt>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15"/>
                                        </p:tgtEl>
                                        <p:attrNameLst>
                                          <p:attrName>style.visibility</p:attrName>
                                        </p:attrNameLst>
                                      </p:cBhvr>
                                      <p:to>
                                        <p:strVal val="visible"/>
                                      </p:to>
                                    </p:set>
                                  </p:childTnLst>
                                </p:cTn>
                              </p:par>
                            </p:childTnLst>
                          </p:cTn>
                        </p:par>
                        <p:par>
                          <p:cTn id="80" fill="hold">
                            <p:stCondLst>
                              <p:cond delay="0"/>
                            </p:stCondLst>
                            <p:childTnLst>
                              <p:par>
                                <p:cTn id="81" presetID="1" presetClass="entr" presetSubtype="0" fill="hold" nodeType="afterEffect">
                                  <p:stCondLst>
                                    <p:cond delay="1000"/>
                                  </p:stCondLst>
                                  <p:childTnLst>
                                    <p:set>
                                      <p:cBhvr>
                                        <p:cTn id="82" dur="1" fill="hold">
                                          <p:stCondLst>
                                            <p:cond delay="0"/>
                                          </p:stCondLst>
                                        </p:cTn>
                                        <p:tgtEl>
                                          <p:spTgt spid="84">
                                            <p:txEl>
                                              <p:pRg st="1" end="1"/>
                                            </p:txEl>
                                          </p:spTgt>
                                        </p:tgtEl>
                                        <p:attrNameLst>
                                          <p:attrName>style.visibility</p:attrName>
                                        </p:attrNameLst>
                                      </p:cBhvr>
                                      <p:to>
                                        <p:strVal val="visible"/>
                                      </p:to>
                                    </p:set>
                                  </p:childTnLst>
                                </p:cTn>
                              </p:par>
                            </p:childTnLst>
                          </p:cTn>
                        </p:par>
                        <p:par>
                          <p:cTn id="83" fill="hold">
                            <p:stCondLst>
                              <p:cond delay="1000"/>
                            </p:stCondLst>
                            <p:childTnLst>
                              <p:par>
                                <p:cTn id="84" presetID="22" presetClass="entr" presetSubtype="4" fill="hold" nodeType="afterEffect">
                                  <p:stCondLst>
                                    <p:cond delay="0"/>
                                  </p:stCondLst>
                                  <p:childTnLst>
                                    <p:set>
                                      <p:cBhvr>
                                        <p:cTn id="85" dur="1" fill="hold">
                                          <p:stCondLst>
                                            <p:cond delay="0"/>
                                          </p:stCondLst>
                                        </p:cTn>
                                        <p:tgtEl>
                                          <p:spTgt spid="116"/>
                                        </p:tgtEl>
                                        <p:attrNameLst>
                                          <p:attrName>style.visibility</p:attrName>
                                        </p:attrNameLst>
                                      </p:cBhvr>
                                      <p:to>
                                        <p:strVal val="visible"/>
                                      </p:to>
                                    </p:set>
                                    <p:animEffect transition="in" filter="wipe(down)">
                                      <p:cBhvr>
                                        <p:cTn id="86" dur="500"/>
                                        <p:tgtEl>
                                          <p:spTgt spid="116"/>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wipe(left)">
                                      <p:cBhvr>
                                        <p:cTn id="9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67" grpId="0" animBg="1"/>
      <p:bldP spid="67" grpId="1" animBg="1"/>
      <p:bldP spid="68" grpId="0" animBg="1"/>
      <p:bldP spid="68" grpId="1" animBg="1"/>
      <p:bldP spid="69" grpId="0" animBg="1"/>
      <p:bldP spid="6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17"/>
        <p:cNvGrpSpPr/>
        <p:nvPr/>
      </p:nvGrpSpPr>
      <p:grpSpPr>
        <a:xfrm>
          <a:off x="0" y="0"/>
          <a:ext cx="0" cy="0"/>
          <a:chOff x="0" y="0"/>
          <a:chExt cx="0" cy="0"/>
        </a:xfrm>
      </p:grpSpPr>
      <p:sp>
        <p:nvSpPr>
          <p:cNvPr id="6018" name="Google Shape;6018;p2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Consume VPCs in vCenter and VCF Automation</a:t>
            </a:r>
            <a:endParaRPr/>
          </a:p>
        </p:txBody>
      </p:sp>
      <p:sp>
        <p:nvSpPr>
          <p:cNvPr id="6019" name="Google Shape;6019;p26"/>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Consistent implementation of Virtual Private Clouds (VPCs) across the platform</a:t>
            </a:r>
            <a:endParaRPr/>
          </a:p>
        </p:txBody>
      </p:sp>
      <p:sp>
        <p:nvSpPr>
          <p:cNvPr id="6020" name="Google Shape;6020;p26"/>
          <p:cNvSpPr txBox="1">
            <a:spLocks noGrp="1"/>
          </p:cNvSpPr>
          <p:nvPr>
            <p:ph type="body" idx="4294967295"/>
          </p:nvPr>
        </p:nvSpPr>
        <p:spPr>
          <a:xfrm>
            <a:off x="8380413" y="2057400"/>
            <a:ext cx="3200400" cy="4114800"/>
          </a:xfrm>
          <a:prstGeom prst="rect">
            <a:avLst/>
          </a:prstGeom>
          <a:noFill/>
          <a:ln>
            <a:noFill/>
          </a:ln>
        </p:spPr>
        <p:txBody>
          <a:bodyPr spcFirstLastPara="1" wrap="square" lIns="0" tIns="0" rIns="0" bIns="0" anchor="t" anchorCtr="0">
            <a:noAutofit/>
          </a:bodyPr>
          <a:lstStyle/>
          <a:p>
            <a:pPr marL="180000" lvl="0" indent="-91440" algn="l" rtl="0">
              <a:lnSpc>
                <a:spcPct val="100000"/>
              </a:lnSpc>
              <a:spcBef>
                <a:spcPts val="0"/>
              </a:spcBef>
              <a:spcAft>
                <a:spcPts val="0"/>
              </a:spcAft>
              <a:buSzPts val="1440"/>
              <a:buChar char="​"/>
            </a:pPr>
            <a:r>
              <a:rPr lang="en-US" sz="1600">
                <a:solidFill>
                  <a:schemeClr val="accent2"/>
                </a:solidFill>
              </a:rPr>
              <a:t>VPCs can be configured directly from vCenter and VCF Automation</a:t>
            </a:r>
            <a:endParaRPr/>
          </a:p>
          <a:p>
            <a:pPr marL="180000" lvl="0" indent="0" algn="l" rtl="0">
              <a:lnSpc>
                <a:spcPct val="100000"/>
              </a:lnSpc>
              <a:spcBef>
                <a:spcPts val="1200"/>
              </a:spcBef>
              <a:spcAft>
                <a:spcPts val="0"/>
              </a:spcAft>
              <a:buSzPts val="1440"/>
              <a:buNone/>
            </a:pPr>
            <a:endParaRPr sz="1600">
              <a:solidFill>
                <a:schemeClr val="accent2"/>
              </a:solidFill>
            </a:endParaRPr>
          </a:p>
          <a:p>
            <a:pPr marL="180000" lvl="0" indent="-91440" algn="l" rtl="0">
              <a:lnSpc>
                <a:spcPct val="100000"/>
              </a:lnSpc>
              <a:spcBef>
                <a:spcPts val="1200"/>
              </a:spcBef>
              <a:spcAft>
                <a:spcPts val="0"/>
              </a:spcAft>
              <a:buSzPts val="1440"/>
              <a:buChar char="​"/>
            </a:pPr>
            <a:r>
              <a:rPr lang="en-US" sz="1600">
                <a:solidFill>
                  <a:schemeClr val="accent2"/>
                </a:solidFill>
              </a:rPr>
              <a:t>VPCs and subnets are first-class objects</a:t>
            </a:r>
            <a:endParaRPr/>
          </a:p>
          <a:p>
            <a:pPr marL="180000" lvl="0" indent="0" algn="l" rtl="0">
              <a:lnSpc>
                <a:spcPct val="100000"/>
              </a:lnSpc>
              <a:spcBef>
                <a:spcPts val="1200"/>
              </a:spcBef>
              <a:spcAft>
                <a:spcPts val="0"/>
              </a:spcAft>
              <a:buSzPts val="1440"/>
              <a:buNone/>
            </a:pPr>
            <a:endParaRPr sz="1600">
              <a:solidFill>
                <a:schemeClr val="accent2"/>
              </a:solidFill>
            </a:endParaRPr>
          </a:p>
          <a:p>
            <a:pPr marL="180000" lvl="0" indent="-91440" algn="l" rtl="0">
              <a:lnSpc>
                <a:spcPct val="100000"/>
              </a:lnSpc>
              <a:spcBef>
                <a:spcPts val="1200"/>
              </a:spcBef>
              <a:spcAft>
                <a:spcPts val="0"/>
              </a:spcAft>
              <a:buSzPts val="1440"/>
              <a:buChar char="​"/>
            </a:pPr>
            <a:r>
              <a:rPr lang="en-US" sz="1600">
                <a:solidFill>
                  <a:schemeClr val="accent2"/>
                </a:solidFill>
              </a:rPr>
              <a:t>Attaching a VM to a subnet is straightforward</a:t>
            </a:r>
            <a:endParaRPr/>
          </a:p>
          <a:p>
            <a:pPr marL="457200" lvl="1" indent="-81279" algn="l" rtl="0">
              <a:lnSpc>
                <a:spcPct val="100000"/>
              </a:lnSpc>
              <a:spcBef>
                <a:spcPts val="1200"/>
              </a:spcBef>
              <a:spcAft>
                <a:spcPts val="0"/>
              </a:spcAft>
              <a:buSzPts val="1620"/>
              <a:buNone/>
            </a:pPr>
            <a:endParaRPr/>
          </a:p>
        </p:txBody>
      </p:sp>
      <p:grpSp>
        <p:nvGrpSpPr>
          <p:cNvPr id="6021" name="Google Shape;6021;p26"/>
          <p:cNvGrpSpPr/>
          <p:nvPr/>
        </p:nvGrpSpPr>
        <p:grpSpPr>
          <a:xfrm>
            <a:off x="645513" y="1682606"/>
            <a:ext cx="7346181" cy="4061460"/>
            <a:chOff x="591780" y="1600200"/>
            <a:chExt cx="7346181" cy="4061460"/>
          </a:xfrm>
        </p:grpSpPr>
        <p:pic>
          <p:nvPicPr>
            <p:cNvPr id="6022" name="Google Shape;6022;p26"/>
            <p:cNvPicPr preferRelativeResize="0"/>
            <p:nvPr/>
          </p:nvPicPr>
          <p:blipFill rotWithShape="1">
            <a:blip r:embed="rId3">
              <a:alphaModFix/>
            </a:blip>
            <a:srcRect r="30334" b="30507"/>
            <a:stretch/>
          </p:blipFill>
          <p:spPr>
            <a:xfrm>
              <a:off x="591780" y="1600200"/>
              <a:ext cx="7332193" cy="4061460"/>
            </a:xfrm>
            <a:prstGeom prst="rect">
              <a:avLst/>
            </a:prstGeom>
            <a:noFill/>
            <a:ln>
              <a:noFill/>
            </a:ln>
          </p:spPr>
        </p:pic>
        <p:grpSp>
          <p:nvGrpSpPr>
            <p:cNvPr id="6023" name="Google Shape;6023;p26"/>
            <p:cNvGrpSpPr/>
            <p:nvPr/>
          </p:nvGrpSpPr>
          <p:grpSpPr>
            <a:xfrm>
              <a:off x="976760" y="1628471"/>
              <a:ext cx="6961201" cy="4032233"/>
              <a:chOff x="947234" y="1868522"/>
              <a:chExt cx="6961201" cy="4032233"/>
            </a:xfrm>
          </p:grpSpPr>
          <p:grpSp>
            <p:nvGrpSpPr>
              <p:cNvPr id="6024" name="Google Shape;6024;p26"/>
              <p:cNvGrpSpPr/>
              <p:nvPr/>
            </p:nvGrpSpPr>
            <p:grpSpPr>
              <a:xfrm>
                <a:off x="947234" y="2304098"/>
                <a:ext cx="6961201" cy="3596657"/>
                <a:chOff x="947234" y="2304098"/>
                <a:chExt cx="6961201" cy="3596657"/>
              </a:xfrm>
            </p:grpSpPr>
            <p:sp>
              <p:nvSpPr>
                <p:cNvPr id="6025" name="Google Shape;6025;p26"/>
                <p:cNvSpPr/>
                <p:nvPr/>
              </p:nvSpPr>
              <p:spPr>
                <a:xfrm>
                  <a:off x="947234" y="4289574"/>
                  <a:ext cx="1713099" cy="1490217"/>
                </a:xfrm>
                <a:prstGeom prst="rect">
                  <a:avLst/>
                </a:prstGeom>
                <a:solidFill>
                  <a:srgbClr val="FCFE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6026" name="Google Shape;6026;p26"/>
                <p:cNvSpPr/>
                <p:nvPr/>
              </p:nvSpPr>
              <p:spPr>
                <a:xfrm>
                  <a:off x="4097615" y="2777019"/>
                  <a:ext cx="3810820" cy="3123736"/>
                </a:xfrm>
                <a:prstGeom prst="rect">
                  <a:avLst/>
                </a:prstGeom>
                <a:solidFill>
                  <a:srgbClr val="FCFE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pic>
              <p:nvPicPr>
                <p:cNvPr id="6027" name="Google Shape;6027;p26"/>
                <p:cNvPicPr preferRelativeResize="0"/>
                <p:nvPr/>
              </p:nvPicPr>
              <p:blipFill rotWithShape="1">
                <a:blip r:embed="rId4">
                  <a:alphaModFix/>
                </a:blip>
                <a:srcRect/>
                <a:stretch/>
              </p:blipFill>
              <p:spPr>
                <a:xfrm>
                  <a:off x="4892431" y="2304098"/>
                  <a:ext cx="2934263" cy="3575133"/>
                </a:xfrm>
                <a:prstGeom prst="rect">
                  <a:avLst/>
                </a:prstGeom>
                <a:noFill/>
                <a:ln>
                  <a:noFill/>
                </a:ln>
              </p:spPr>
            </p:pic>
          </p:grpSp>
          <p:pic>
            <p:nvPicPr>
              <p:cNvPr id="6028" name="Google Shape;6028;p26"/>
              <p:cNvPicPr preferRelativeResize="0"/>
              <p:nvPr/>
            </p:nvPicPr>
            <p:blipFill rotWithShape="1">
              <a:blip r:embed="rId3">
                <a:alphaModFix/>
              </a:blip>
              <a:srcRect l="60396" t="4" r="10784" b="93424"/>
              <a:stretch/>
            </p:blipFill>
            <p:spPr>
              <a:xfrm>
                <a:off x="5025667" y="1868522"/>
                <a:ext cx="2844000" cy="360000"/>
              </a:xfrm>
              <a:prstGeom prst="rect">
                <a:avLst/>
              </a:prstGeom>
              <a:solidFill>
                <a:schemeClr val="lt1"/>
              </a:solidFill>
              <a:ln w="25400" cap="flat" cmpd="sng">
                <a:solidFill>
                  <a:srgbClr val="2D4048"/>
                </a:solidFill>
                <a:prstDash val="solid"/>
                <a:round/>
                <a:headEnd type="none" w="sm" len="sm"/>
                <a:tailEnd type="none" w="sm" len="sm"/>
              </a:ln>
            </p:spPr>
          </p:pic>
        </p:grpSp>
      </p:grpSp>
      <p:sp>
        <p:nvSpPr>
          <p:cNvPr id="6029" name="Google Shape;6029;p26"/>
          <p:cNvSpPr/>
          <p:nvPr/>
        </p:nvSpPr>
        <p:spPr>
          <a:xfrm rot="10800000" flipH="1">
            <a:off x="8372825" y="1589923"/>
            <a:ext cx="3816000"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6030" name="Google Shape;6030;p26"/>
          <p:cNvSpPr/>
          <p:nvPr/>
        </p:nvSpPr>
        <p:spPr>
          <a:xfrm>
            <a:off x="594298" y="1610005"/>
            <a:ext cx="7438027" cy="4165151"/>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6031" name="Google Shape;6031;p26"/>
          <p:cNvGrpSpPr/>
          <p:nvPr/>
        </p:nvGrpSpPr>
        <p:grpSpPr>
          <a:xfrm>
            <a:off x="2135877" y="4130630"/>
            <a:ext cx="6171879" cy="2157072"/>
            <a:chOff x="1805827" y="4081931"/>
            <a:chExt cx="6171879" cy="2157072"/>
          </a:xfrm>
        </p:grpSpPr>
        <p:sp>
          <p:nvSpPr>
            <p:cNvPr id="6032" name="Google Shape;6032;p26"/>
            <p:cNvSpPr/>
            <p:nvPr/>
          </p:nvSpPr>
          <p:spPr>
            <a:xfrm>
              <a:off x="1805827" y="4081931"/>
              <a:ext cx="6171879" cy="2157072"/>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6033" name="Google Shape;6033;p26"/>
            <p:cNvPicPr preferRelativeResize="0"/>
            <p:nvPr/>
          </p:nvPicPr>
          <p:blipFill rotWithShape="1">
            <a:blip r:embed="rId5">
              <a:alphaModFix/>
            </a:blip>
            <a:srcRect/>
            <a:stretch/>
          </p:blipFill>
          <p:spPr>
            <a:xfrm>
              <a:off x="1827471" y="4117468"/>
              <a:ext cx="6117386" cy="2098020"/>
            </a:xfrm>
            <a:prstGeom prst="rect">
              <a:avLst/>
            </a:prstGeom>
            <a:solidFill>
              <a:schemeClr val="lt1"/>
            </a:solid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31"/>
                                        </p:tgtEl>
                                        <p:attrNameLst>
                                          <p:attrName>style.visibility</p:attrName>
                                        </p:attrNameLst>
                                      </p:cBhvr>
                                      <p:to>
                                        <p:strVal val="visible"/>
                                      </p:to>
                                    </p:set>
                                    <p:animEffect transition="in" filter="fade">
                                      <p:cBhvr>
                                        <p:cTn id="7" dur="500"/>
                                        <p:tgtEl>
                                          <p:spTgt spid="6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38"/>
        <p:cNvGrpSpPr/>
        <p:nvPr/>
      </p:nvGrpSpPr>
      <p:grpSpPr>
        <a:xfrm>
          <a:off x="0" y="0"/>
          <a:ext cx="0" cy="0"/>
          <a:chOff x="0" y="0"/>
          <a:chExt cx="0" cy="0"/>
        </a:xfrm>
      </p:grpSpPr>
      <p:sp>
        <p:nvSpPr>
          <p:cNvPr id="6039" name="Google Shape;6039;p2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Easily Deploy NSX Edges</a:t>
            </a:r>
            <a:endParaRPr/>
          </a:p>
        </p:txBody>
      </p:sp>
      <p:sp>
        <p:nvSpPr>
          <p:cNvPr id="6040" name="Google Shape;6040;p2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Guided edge deployment workflow available in vCenter</a:t>
            </a:r>
            <a:endParaRPr/>
          </a:p>
          <a:p>
            <a:pPr marL="0" lvl="0" indent="0" algn="l" rtl="0">
              <a:lnSpc>
                <a:spcPct val="100000"/>
              </a:lnSpc>
              <a:spcBef>
                <a:spcPts val="1200"/>
              </a:spcBef>
              <a:spcAft>
                <a:spcPts val="0"/>
              </a:spcAft>
              <a:buSzPts val="1800"/>
              <a:buNone/>
            </a:pPr>
            <a:endParaRPr/>
          </a:p>
        </p:txBody>
      </p:sp>
      <p:sp>
        <p:nvSpPr>
          <p:cNvPr id="6041" name="Google Shape;6041;p27"/>
          <p:cNvSpPr txBox="1">
            <a:spLocks noGrp="1"/>
          </p:cNvSpPr>
          <p:nvPr>
            <p:ph type="body" idx="2"/>
          </p:nvPr>
        </p:nvSpPr>
        <p:spPr>
          <a:xfrm>
            <a:off x="9294812" y="1609531"/>
            <a:ext cx="2894013" cy="4572000"/>
          </a:xfrm>
          <a:prstGeom prst="rect">
            <a:avLst/>
          </a:prstGeom>
          <a:solidFill>
            <a:srgbClr val="F4F8FA"/>
          </a:solidFill>
          <a:ln>
            <a:noFill/>
          </a:ln>
        </p:spPr>
        <p:txBody>
          <a:bodyPr spcFirstLastPara="1" wrap="square" lIns="274300" tIns="457200" rIns="457200" bIns="457200" anchor="t" anchorCtr="0">
            <a:noAutofit/>
          </a:bodyPr>
          <a:lstStyle/>
          <a:p>
            <a:pPr marL="180000" lvl="0" indent="-91440" algn="l" rtl="0">
              <a:lnSpc>
                <a:spcPct val="100000"/>
              </a:lnSpc>
              <a:spcBef>
                <a:spcPts val="0"/>
              </a:spcBef>
              <a:spcAft>
                <a:spcPts val="0"/>
              </a:spcAft>
              <a:buSzPts val="1440"/>
              <a:buChar char="​"/>
            </a:pPr>
            <a:r>
              <a:rPr lang="en-US" sz="1600"/>
              <a:t>D</a:t>
            </a:r>
            <a:r>
              <a:rPr lang="en-US" sz="1600">
                <a:solidFill>
                  <a:schemeClr val="accent2"/>
                </a:solidFill>
              </a:rPr>
              <a:t>eploy Edges with a simple vCenter UI workflow in VCF 9.0:</a:t>
            </a:r>
            <a:endParaRPr/>
          </a:p>
          <a:p>
            <a:pPr marL="540000" lvl="1" indent="-184149" algn="l" rtl="0">
              <a:lnSpc>
                <a:spcPct val="100000"/>
              </a:lnSpc>
              <a:spcBef>
                <a:spcPts val="1200"/>
              </a:spcBef>
              <a:spcAft>
                <a:spcPts val="0"/>
              </a:spcAft>
              <a:buClr>
                <a:schemeClr val="accent2"/>
              </a:buClr>
              <a:buSzPts val="1260"/>
              <a:buChar char="•"/>
            </a:pPr>
            <a:r>
              <a:rPr lang="en-US" sz="1400">
                <a:solidFill>
                  <a:schemeClr val="accent2"/>
                </a:solidFill>
              </a:rPr>
              <a:t>The user is guided through entering the required parameters</a:t>
            </a:r>
            <a:endParaRPr/>
          </a:p>
          <a:p>
            <a:pPr marL="540000" lvl="1" indent="-184149" algn="l" rtl="0">
              <a:lnSpc>
                <a:spcPct val="100000"/>
              </a:lnSpc>
              <a:spcBef>
                <a:spcPts val="1200"/>
              </a:spcBef>
              <a:spcAft>
                <a:spcPts val="0"/>
              </a:spcAft>
              <a:buClr>
                <a:schemeClr val="accent2"/>
              </a:buClr>
              <a:buSzPts val="1260"/>
              <a:buChar char="•"/>
            </a:pPr>
            <a:r>
              <a:rPr lang="en-US" sz="1400">
                <a:solidFill>
                  <a:schemeClr val="accent2"/>
                </a:solidFill>
              </a:rPr>
              <a:t>A graphical representation is generated in real time</a:t>
            </a:r>
            <a:endParaRPr/>
          </a:p>
          <a:p>
            <a:pPr marL="0" lvl="0" indent="0" algn="l" rtl="0">
              <a:lnSpc>
                <a:spcPct val="100000"/>
              </a:lnSpc>
              <a:spcBef>
                <a:spcPts val="1200"/>
              </a:spcBef>
              <a:spcAft>
                <a:spcPts val="0"/>
              </a:spcAft>
              <a:buSzPts val="1620"/>
              <a:buNone/>
            </a:pPr>
            <a:endParaRPr/>
          </a:p>
        </p:txBody>
      </p:sp>
      <p:grpSp>
        <p:nvGrpSpPr>
          <p:cNvPr id="6042" name="Google Shape;6042;p27"/>
          <p:cNvGrpSpPr/>
          <p:nvPr/>
        </p:nvGrpSpPr>
        <p:grpSpPr>
          <a:xfrm>
            <a:off x="645890" y="1648899"/>
            <a:ext cx="3888000" cy="4114800"/>
            <a:chOff x="608013" y="1600200"/>
            <a:chExt cx="4320000" cy="4572000"/>
          </a:xfrm>
        </p:grpSpPr>
        <p:grpSp>
          <p:nvGrpSpPr>
            <p:cNvPr id="6043" name="Google Shape;6043;p27"/>
            <p:cNvGrpSpPr/>
            <p:nvPr/>
          </p:nvGrpSpPr>
          <p:grpSpPr>
            <a:xfrm>
              <a:off x="608013" y="1600200"/>
              <a:ext cx="4320000" cy="4572000"/>
              <a:chOff x="608013" y="1600200"/>
              <a:chExt cx="4320000" cy="4572000"/>
            </a:xfrm>
          </p:grpSpPr>
          <p:grpSp>
            <p:nvGrpSpPr>
              <p:cNvPr id="6044" name="Google Shape;6044;p27"/>
              <p:cNvGrpSpPr/>
              <p:nvPr/>
            </p:nvGrpSpPr>
            <p:grpSpPr>
              <a:xfrm>
                <a:off x="608013" y="1839000"/>
                <a:ext cx="4320000" cy="4333200"/>
                <a:chOff x="608013" y="1839000"/>
                <a:chExt cx="4320000" cy="4333200"/>
              </a:xfrm>
            </p:grpSpPr>
            <p:pic>
              <p:nvPicPr>
                <p:cNvPr id="6045" name="Google Shape;6045;p27"/>
                <p:cNvPicPr preferRelativeResize="0"/>
                <p:nvPr/>
              </p:nvPicPr>
              <p:blipFill rotWithShape="1">
                <a:blip r:embed="rId3">
                  <a:alphaModFix/>
                </a:blip>
                <a:srcRect/>
                <a:stretch/>
              </p:blipFill>
              <p:spPr>
                <a:xfrm>
                  <a:off x="608013" y="1839000"/>
                  <a:ext cx="4320000" cy="2265600"/>
                </a:xfrm>
                <a:prstGeom prst="rect">
                  <a:avLst/>
                </a:prstGeom>
                <a:noFill/>
                <a:ln>
                  <a:noFill/>
                </a:ln>
              </p:spPr>
            </p:pic>
            <p:pic>
              <p:nvPicPr>
                <p:cNvPr id="6046" name="Google Shape;6046;p27"/>
                <p:cNvPicPr preferRelativeResize="0"/>
                <p:nvPr/>
              </p:nvPicPr>
              <p:blipFill rotWithShape="1">
                <a:blip r:embed="rId4">
                  <a:alphaModFix/>
                </a:blip>
                <a:srcRect/>
                <a:stretch/>
              </p:blipFill>
              <p:spPr>
                <a:xfrm>
                  <a:off x="608013" y="4079400"/>
                  <a:ext cx="4320000" cy="2092800"/>
                </a:xfrm>
                <a:prstGeom prst="rect">
                  <a:avLst/>
                </a:prstGeom>
                <a:noFill/>
                <a:ln>
                  <a:noFill/>
                </a:ln>
              </p:spPr>
            </p:pic>
          </p:grpSp>
          <p:pic>
            <p:nvPicPr>
              <p:cNvPr id="6047" name="Google Shape;6047;p27"/>
              <p:cNvPicPr preferRelativeResize="0"/>
              <p:nvPr/>
            </p:nvPicPr>
            <p:blipFill rotWithShape="1">
              <a:blip r:embed="rId5">
                <a:alphaModFix/>
              </a:blip>
              <a:srcRect l="2" r="44419"/>
              <a:stretch/>
            </p:blipFill>
            <p:spPr>
              <a:xfrm>
                <a:off x="608013" y="1600200"/>
                <a:ext cx="4320000" cy="247550"/>
              </a:xfrm>
              <a:prstGeom prst="rect">
                <a:avLst/>
              </a:prstGeom>
              <a:noFill/>
              <a:ln>
                <a:noFill/>
              </a:ln>
            </p:spPr>
          </p:pic>
        </p:grpSp>
        <p:sp>
          <p:nvSpPr>
            <p:cNvPr id="6048" name="Google Shape;6048;p27"/>
            <p:cNvSpPr/>
            <p:nvPr/>
          </p:nvSpPr>
          <p:spPr>
            <a:xfrm>
              <a:off x="608013" y="1600200"/>
              <a:ext cx="4320000" cy="4572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grpSp>
      <p:sp>
        <p:nvSpPr>
          <p:cNvPr id="6049" name="Google Shape;6049;p27"/>
          <p:cNvSpPr/>
          <p:nvPr/>
        </p:nvSpPr>
        <p:spPr>
          <a:xfrm>
            <a:off x="594298" y="1610005"/>
            <a:ext cx="3988523" cy="4165151"/>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6050" name="Google Shape;6050;p27"/>
          <p:cNvGrpSpPr/>
          <p:nvPr/>
        </p:nvGrpSpPr>
        <p:grpSpPr>
          <a:xfrm>
            <a:off x="4258756" y="1871695"/>
            <a:ext cx="3716543" cy="3782436"/>
            <a:chOff x="4258756" y="1871695"/>
            <a:chExt cx="3716543" cy="3782436"/>
          </a:xfrm>
        </p:grpSpPr>
        <p:sp>
          <p:nvSpPr>
            <p:cNvPr id="6051" name="Google Shape;6051;p27"/>
            <p:cNvSpPr/>
            <p:nvPr/>
          </p:nvSpPr>
          <p:spPr>
            <a:xfrm>
              <a:off x="4258756" y="1871695"/>
              <a:ext cx="3716543" cy="3782436"/>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6052" name="Google Shape;6052;p27"/>
            <p:cNvPicPr preferRelativeResize="0"/>
            <p:nvPr/>
          </p:nvPicPr>
          <p:blipFill rotWithShape="1">
            <a:blip r:embed="rId6">
              <a:alphaModFix/>
            </a:blip>
            <a:srcRect/>
            <a:stretch/>
          </p:blipFill>
          <p:spPr>
            <a:xfrm>
              <a:off x="4295457" y="1905697"/>
              <a:ext cx="3633167" cy="3713508"/>
            </a:xfrm>
            <a:prstGeom prst="rect">
              <a:avLst/>
            </a:prstGeom>
            <a:solidFill>
              <a:schemeClr val="lt1"/>
            </a:solid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57"/>
        <p:cNvGrpSpPr/>
        <p:nvPr/>
      </p:nvGrpSpPr>
      <p:grpSpPr>
        <a:xfrm>
          <a:off x="0" y="0"/>
          <a:ext cx="0" cy="0"/>
          <a:chOff x="0" y="0"/>
          <a:chExt cx="0" cy="0"/>
        </a:xfrm>
      </p:grpSpPr>
      <p:sp>
        <p:nvSpPr>
          <p:cNvPr id="6058" name="Google Shape;6058;p28"/>
          <p:cNvSpPr/>
          <p:nvPr/>
        </p:nvSpPr>
        <p:spPr>
          <a:xfrm rot="10800000" flipH="1">
            <a:off x="608013" y="2057400"/>
            <a:ext cx="3657600" cy="4114800"/>
          </a:xfrm>
          <a:prstGeom prst="round2SameRect">
            <a:avLst>
              <a:gd name="adj1" fmla="val 4733"/>
              <a:gd name="adj2" fmla="val 0"/>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1200" b="1" cap="none">
              <a:solidFill>
                <a:srgbClr val="000000"/>
              </a:solidFill>
              <a:latin typeface="Arial"/>
              <a:ea typeface="Arial"/>
              <a:cs typeface="Arial"/>
              <a:sym typeface="Arial"/>
            </a:endParaRPr>
          </a:p>
        </p:txBody>
      </p:sp>
      <p:sp>
        <p:nvSpPr>
          <p:cNvPr id="6059" name="Google Shape;6059;p2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Independent Connectivity Options for Each Tier</a:t>
            </a:r>
            <a:endParaRPr/>
          </a:p>
        </p:txBody>
      </p:sp>
      <p:sp>
        <p:nvSpPr>
          <p:cNvPr id="6060" name="Google Shape;6060;p28"/>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Introducing the Transit Gateway and VPC Gateway</a:t>
            </a:r>
            <a:endParaRPr/>
          </a:p>
        </p:txBody>
      </p:sp>
      <p:sp>
        <p:nvSpPr>
          <p:cNvPr id="6061" name="Google Shape;6061;p28"/>
          <p:cNvSpPr/>
          <p:nvPr/>
        </p:nvSpPr>
        <p:spPr>
          <a:xfrm>
            <a:off x="843540" y="3240157"/>
            <a:ext cx="3200400" cy="2830930"/>
          </a:xfrm>
          <a:prstGeom prst="rect">
            <a:avLst/>
          </a:prstGeom>
          <a:noFill/>
          <a:ln w="2540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chemeClr val="accent4"/>
                </a:solidFill>
                <a:latin typeface="Arial"/>
                <a:ea typeface="Arial"/>
                <a:cs typeface="Arial"/>
                <a:sym typeface="Arial"/>
              </a:rPr>
              <a:t>Project</a:t>
            </a:r>
            <a:endParaRPr/>
          </a:p>
        </p:txBody>
      </p:sp>
      <p:sp>
        <p:nvSpPr>
          <p:cNvPr id="6062" name="Google Shape;6062;p28"/>
          <p:cNvSpPr/>
          <p:nvPr/>
        </p:nvSpPr>
        <p:spPr>
          <a:xfrm>
            <a:off x="1392941" y="3299854"/>
            <a:ext cx="180033" cy="180000"/>
          </a:xfrm>
          <a:custGeom>
            <a:avLst/>
            <a:gdLst/>
            <a:ahLst/>
            <a:cxnLst/>
            <a:rect l="l" t="t" r="r" b="b"/>
            <a:pathLst>
              <a:path w="266747" h="266700" extrusionOk="0">
                <a:moveTo>
                  <a:pt x="228433" y="213550"/>
                </a:moveTo>
                <a:lnTo>
                  <a:pt x="213289" y="228695"/>
                </a:lnTo>
                <a:lnTo>
                  <a:pt x="228433" y="243840"/>
                </a:lnTo>
                <a:lnTo>
                  <a:pt x="243578" y="228695"/>
                </a:lnTo>
                <a:close/>
                <a:moveTo>
                  <a:pt x="133374" y="213550"/>
                </a:moveTo>
                <a:lnTo>
                  <a:pt x="118229" y="228695"/>
                </a:lnTo>
                <a:lnTo>
                  <a:pt x="133374" y="243840"/>
                </a:lnTo>
                <a:lnTo>
                  <a:pt x="148519" y="228695"/>
                </a:lnTo>
                <a:close/>
                <a:moveTo>
                  <a:pt x="38124" y="213550"/>
                </a:moveTo>
                <a:lnTo>
                  <a:pt x="22979" y="228695"/>
                </a:lnTo>
                <a:lnTo>
                  <a:pt x="38124" y="243840"/>
                </a:lnTo>
                <a:lnTo>
                  <a:pt x="53269" y="228695"/>
                </a:lnTo>
                <a:close/>
                <a:moveTo>
                  <a:pt x="123754" y="76200"/>
                </a:moveTo>
                <a:lnTo>
                  <a:pt x="142708" y="76200"/>
                </a:lnTo>
                <a:lnTo>
                  <a:pt x="142708" y="152400"/>
                </a:lnTo>
                <a:lnTo>
                  <a:pt x="228433" y="152400"/>
                </a:lnTo>
                <a:cubicBezTo>
                  <a:pt x="233672" y="152400"/>
                  <a:pt x="237958" y="156686"/>
                  <a:pt x="237958" y="161925"/>
                </a:cubicBezTo>
                <a:lnTo>
                  <a:pt x="237958" y="196120"/>
                </a:lnTo>
                <a:lnTo>
                  <a:pt x="263771" y="221933"/>
                </a:lnTo>
                <a:lnTo>
                  <a:pt x="263962" y="221933"/>
                </a:lnTo>
                <a:cubicBezTo>
                  <a:pt x="267676" y="225647"/>
                  <a:pt x="267676" y="231648"/>
                  <a:pt x="263962" y="235363"/>
                </a:cubicBezTo>
                <a:lnTo>
                  <a:pt x="235387" y="263938"/>
                </a:lnTo>
                <a:cubicBezTo>
                  <a:pt x="233482" y="265748"/>
                  <a:pt x="231100" y="266700"/>
                  <a:pt x="228624" y="266700"/>
                </a:cubicBezTo>
                <a:cubicBezTo>
                  <a:pt x="226147" y="266700"/>
                  <a:pt x="223766" y="265843"/>
                  <a:pt x="221861" y="263938"/>
                </a:cubicBezTo>
                <a:lnTo>
                  <a:pt x="193286" y="235363"/>
                </a:lnTo>
                <a:cubicBezTo>
                  <a:pt x="189571" y="231648"/>
                  <a:pt x="189571" y="225647"/>
                  <a:pt x="193286" y="221933"/>
                </a:cubicBezTo>
                <a:lnTo>
                  <a:pt x="219099" y="196120"/>
                </a:lnTo>
                <a:lnTo>
                  <a:pt x="219099" y="171450"/>
                </a:lnTo>
                <a:lnTo>
                  <a:pt x="142899" y="171450"/>
                </a:lnTo>
                <a:lnTo>
                  <a:pt x="142899" y="195929"/>
                </a:lnTo>
                <a:lnTo>
                  <a:pt x="168807" y="221837"/>
                </a:lnTo>
                <a:cubicBezTo>
                  <a:pt x="172522" y="225552"/>
                  <a:pt x="172522" y="231553"/>
                  <a:pt x="168807" y="235268"/>
                </a:cubicBezTo>
                <a:lnTo>
                  <a:pt x="140232" y="263843"/>
                </a:lnTo>
                <a:cubicBezTo>
                  <a:pt x="138327" y="265652"/>
                  <a:pt x="135946" y="266605"/>
                  <a:pt x="133469" y="266605"/>
                </a:cubicBezTo>
                <a:cubicBezTo>
                  <a:pt x="130993" y="266605"/>
                  <a:pt x="128611" y="265748"/>
                  <a:pt x="126706" y="263843"/>
                </a:cubicBezTo>
                <a:lnTo>
                  <a:pt x="98131" y="235268"/>
                </a:lnTo>
                <a:cubicBezTo>
                  <a:pt x="94417" y="231553"/>
                  <a:pt x="94417" y="225552"/>
                  <a:pt x="98131" y="221837"/>
                </a:cubicBezTo>
                <a:lnTo>
                  <a:pt x="123754" y="196215"/>
                </a:lnTo>
                <a:lnTo>
                  <a:pt x="123754" y="171450"/>
                </a:lnTo>
                <a:lnTo>
                  <a:pt x="47554" y="171450"/>
                </a:lnTo>
                <a:lnTo>
                  <a:pt x="47554" y="195929"/>
                </a:lnTo>
                <a:lnTo>
                  <a:pt x="73462" y="221837"/>
                </a:lnTo>
                <a:cubicBezTo>
                  <a:pt x="77176" y="225552"/>
                  <a:pt x="77176" y="231553"/>
                  <a:pt x="73462" y="235268"/>
                </a:cubicBezTo>
                <a:lnTo>
                  <a:pt x="44887" y="263843"/>
                </a:lnTo>
                <a:cubicBezTo>
                  <a:pt x="42982" y="265652"/>
                  <a:pt x="40600" y="266605"/>
                  <a:pt x="38124" y="266605"/>
                </a:cubicBezTo>
                <a:cubicBezTo>
                  <a:pt x="35647" y="266605"/>
                  <a:pt x="33266" y="265748"/>
                  <a:pt x="31361" y="263843"/>
                </a:cubicBezTo>
                <a:lnTo>
                  <a:pt x="2786" y="235268"/>
                </a:lnTo>
                <a:cubicBezTo>
                  <a:pt x="-929" y="231553"/>
                  <a:pt x="-929" y="225552"/>
                  <a:pt x="2786" y="221837"/>
                </a:cubicBezTo>
                <a:lnTo>
                  <a:pt x="28408" y="196215"/>
                </a:lnTo>
                <a:lnTo>
                  <a:pt x="28408" y="161925"/>
                </a:lnTo>
                <a:cubicBezTo>
                  <a:pt x="28408" y="156686"/>
                  <a:pt x="32695" y="152400"/>
                  <a:pt x="37933" y="152400"/>
                </a:cubicBezTo>
                <a:lnTo>
                  <a:pt x="123754" y="152400"/>
                </a:lnTo>
                <a:close/>
                <a:moveTo>
                  <a:pt x="133183" y="0"/>
                </a:moveTo>
                <a:cubicBezTo>
                  <a:pt x="163949" y="0"/>
                  <a:pt x="190238" y="21145"/>
                  <a:pt x="197668" y="50006"/>
                </a:cubicBezTo>
                <a:cubicBezTo>
                  <a:pt x="200621" y="49340"/>
                  <a:pt x="203573" y="48958"/>
                  <a:pt x="206621" y="48958"/>
                </a:cubicBezTo>
                <a:cubicBezTo>
                  <a:pt x="229862" y="48958"/>
                  <a:pt x="248817" y="67913"/>
                  <a:pt x="248817" y="91154"/>
                </a:cubicBezTo>
                <a:cubicBezTo>
                  <a:pt x="248817" y="114395"/>
                  <a:pt x="229862" y="133350"/>
                  <a:pt x="206621" y="133350"/>
                </a:cubicBezTo>
                <a:lnTo>
                  <a:pt x="161854" y="133350"/>
                </a:lnTo>
                <a:lnTo>
                  <a:pt x="161854" y="114300"/>
                </a:lnTo>
                <a:lnTo>
                  <a:pt x="206621" y="114300"/>
                </a:lnTo>
                <a:cubicBezTo>
                  <a:pt x="219385" y="114300"/>
                  <a:pt x="229767" y="103918"/>
                  <a:pt x="229767" y="91154"/>
                </a:cubicBezTo>
                <a:cubicBezTo>
                  <a:pt x="229767" y="78391"/>
                  <a:pt x="219385" y="68008"/>
                  <a:pt x="206621" y="68008"/>
                </a:cubicBezTo>
                <a:cubicBezTo>
                  <a:pt x="202621" y="68008"/>
                  <a:pt x="198716" y="69152"/>
                  <a:pt x="195001" y="71342"/>
                </a:cubicBezTo>
                <a:cubicBezTo>
                  <a:pt x="192143" y="72962"/>
                  <a:pt x="188619" y="73057"/>
                  <a:pt x="185666" y="71533"/>
                </a:cubicBezTo>
                <a:cubicBezTo>
                  <a:pt x="182714" y="70009"/>
                  <a:pt x="180809" y="67056"/>
                  <a:pt x="180618" y="63722"/>
                </a:cubicBezTo>
                <a:cubicBezTo>
                  <a:pt x="179094" y="38671"/>
                  <a:pt x="158234" y="19050"/>
                  <a:pt x="133183" y="19050"/>
                </a:cubicBezTo>
                <a:cubicBezTo>
                  <a:pt x="113943" y="19050"/>
                  <a:pt x="96798" y="30480"/>
                  <a:pt x="89273" y="48101"/>
                </a:cubicBezTo>
                <a:cubicBezTo>
                  <a:pt x="87368" y="52673"/>
                  <a:pt x="82225" y="54959"/>
                  <a:pt x="77557" y="53435"/>
                </a:cubicBezTo>
                <a:cubicBezTo>
                  <a:pt x="74033" y="52292"/>
                  <a:pt x="70795" y="51721"/>
                  <a:pt x="67842" y="51721"/>
                </a:cubicBezTo>
                <a:cubicBezTo>
                  <a:pt x="50506" y="51721"/>
                  <a:pt x="36505" y="65723"/>
                  <a:pt x="36505" y="83058"/>
                </a:cubicBezTo>
                <a:cubicBezTo>
                  <a:pt x="36505" y="100394"/>
                  <a:pt x="50602" y="114395"/>
                  <a:pt x="67842" y="114395"/>
                </a:cubicBezTo>
                <a:lnTo>
                  <a:pt x="104704" y="114395"/>
                </a:lnTo>
                <a:lnTo>
                  <a:pt x="104704" y="133445"/>
                </a:lnTo>
                <a:lnTo>
                  <a:pt x="67937" y="133445"/>
                </a:lnTo>
                <a:cubicBezTo>
                  <a:pt x="40124" y="133445"/>
                  <a:pt x="17550" y="110871"/>
                  <a:pt x="17550" y="83058"/>
                </a:cubicBezTo>
                <a:cubicBezTo>
                  <a:pt x="17550" y="55245"/>
                  <a:pt x="40219" y="32671"/>
                  <a:pt x="67937" y="32671"/>
                </a:cubicBezTo>
                <a:cubicBezTo>
                  <a:pt x="70414" y="32671"/>
                  <a:pt x="72890" y="32861"/>
                  <a:pt x="75462" y="33338"/>
                </a:cubicBezTo>
                <a:cubicBezTo>
                  <a:pt x="87273" y="12859"/>
                  <a:pt x="109085" y="0"/>
                  <a:pt x="13318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6063" name="Google Shape;6063;p28"/>
          <p:cNvSpPr/>
          <p:nvPr/>
        </p:nvSpPr>
        <p:spPr>
          <a:xfrm>
            <a:off x="2173121" y="3420518"/>
            <a:ext cx="541238" cy="540000"/>
          </a:xfrm>
          <a:custGeom>
            <a:avLst/>
            <a:gdLst/>
            <a:ahLst/>
            <a:cxnLst/>
            <a:rect l="l" t="t" r="r" b="b"/>
            <a:pathLst>
              <a:path w="1139359" h="1139359" extrusionOk="0">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sp>
        <p:nvSpPr>
          <p:cNvPr id="6064" name="Google Shape;6064;p28"/>
          <p:cNvSpPr txBox="1"/>
          <p:nvPr/>
        </p:nvSpPr>
        <p:spPr>
          <a:xfrm>
            <a:off x="1653343" y="3521742"/>
            <a:ext cx="97405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4"/>
                </a:solidFill>
                <a:latin typeface="Arial"/>
                <a:ea typeface="Arial"/>
                <a:cs typeface="Arial"/>
                <a:sym typeface="Arial"/>
              </a:rPr>
              <a:t>Transit</a:t>
            </a:r>
            <a:endParaRPr/>
          </a:p>
          <a:p>
            <a:pPr marL="0" marR="0" lvl="0" indent="0" algn="l" rtl="0">
              <a:spcBef>
                <a:spcPts val="0"/>
              </a:spcBef>
              <a:spcAft>
                <a:spcPts val="0"/>
              </a:spcAft>
              <a:buNone/>
            </a:pPr>
            <a:r>
              <a:rPr lang="en-US" sz="1000">
                <a:solidFill>
                  <a:schemeClr val="accent4"/>
                </a:solidFill>
                <a:latin typeface="Arial"/>
                <a:ea typeface="Arial"/>
                <a:cs typeface="Arial"/>
                <a:sym typeface="Arial"/>
              </a:rPr>
              <a:t>Gateway</a:t>
            </a:r>
            <a:endParaRPr/>
          </a:p>
        </p:txBody>
      </p:sp>
      <p:cxnSp>
        <p:nvCxnSpPr>
          <p:cNvPr id="6065" name="Google Shape;6065;p28"/>
          <p:cNvCxnSpPr/>
          <p:nvPr/>
        </p:nvCxnSpPr>
        <p:spPr>
          <a:xfrm>
            <a:off x="2457061" y="5487426"/>
            <a:ext cx="552029" cy="0"/>
          </a:xfrm>
          <a:prstGeom prst="straightConnector1">
            <a:avLst/>
          </a:prstGeom>
          <a:noFill/>
          <a:ln w="25400" cap="rnd" cmpd="sng">
            <a:solidFill>
              <a:schemeClr val="accent5"/>
            </a:solidFill>
            <a:prstDash val="solid"/>
            <a:miter lim="800000"/>
            <a:headEnd type="none" w="sm" len="sm"/>
            <a:tailEnd type="none" w="sm" len="sm"/>
          </a:ln>
        </p:spPr>
      </p:cxnSp>
      <p:sp>
        <p:nvSpPr>
          <p:cNvPr id="6066" name="Google Shape;6066;p28"/>
          <p:cNvSpPr/>
          <p:nvPr/>
        </p:nvSpPr>
        <p:spPr>
          <a:xfrm>
            <a:off x="2249649" y="5400573"/>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6067" name="Google Shape;6067;p28"/>
          <p:cNvSpPr txBox="1"/>
          <p:nvPr/>
        </p:nvSpPr>
        <p:spPr>
          <a:xfrm>
            <a:off x="2539484" y="5479001"/>
            <a:ext cx="546427" cy="17921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000">
                <a:solidFill>
                  <a:srgbClr val="7030A0"/>
                </a:solidFill>
                <a:latin typeface="Arial"/>
                <a:ea typeface="Arial"/>
                <a:cs typeface="Arial"/>
                <a:sym typeface="Arial"/>
              </a:rPr>
              <a:t>subnet</a:t>
            </a:r>
            <a:endParaRPr/>
          </a:p>
        </p:txBody>
      </p:sp>
      <p:cxnSp>
        <p:nvCxnSpPr>
          <p:cNvPr id="6068" name="Google Shape;6068;p28"/>
          <p:cNvCxnSpPr/>
          <p:nvPr/>
        </p:nvCxnSpPr>
        <p:spPr>
          <a:xfrm>
            <a:off x="2973493" y="5693659"/>
            <a:ext cx="588329" cy="0"/>
          </a:xfrm>
          <a:prstGeom prst="straightConnector1">
            <a:avLst/>
          </a:prstGeom>
          <a:noFill/>
          <a:ln w="25400" cap="rnd" cmpd="sng">
            <a:solidFill>
              <a:schemeClr val="accent5"/>
            </a:solidFill>
            <a:prstDash val="solid"/>
            <a:miter lim="800000"/>
            <a:headEnd type="none" w="sm" len="sm"/>
            <a:tailEnd type="none" w="sm" len="sm"/>
          </a:ln>
        </p:spPr>
      </p:cxnSp>
      <p:sp>
        <p:nvSpPr>
          <p:cNvPr id="6069" name="Google Shape;6069;p28"/>
          <p:cNvSpPr/>
          <p:nvPr/>
        </p:nvSpPr>
        <p:spPr>
          <a:xfrm>
            <a:off x="3581165" y="5610291"/>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sp>
        <p:nvSpPr>
          <p:cNvPr id="6070" name="Google Shape;6070;p28"/>
          <p:cNvSpPr txBox="1"/>
          <p:nvPr/>
        </p:nvSpPr>
        <p:spPr>
          <a:xfrm>
            <a:off x="3101221" y="5685235"/>
            <a:ext cx="546427" cy="17921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000">
                <a:solidFill>
                  <a:srgbClr val="7030A0"/>
                </a:solidFill>
                <a:latin typeface="Arial"/>
                <a:ea typeface="Arial"/>
                <a:cs typeface="Arial"/>
                <a:sym typeface="Arial"/>
              </a:rPr>
              <a:t>subnet</a:t>
            </a:r>
            <a:endParaRPr/>
          </a:p>
        </p:txBody>
      </p:sp>
      <p:grpSp>
        <p:nvGrpSpPr>
          <p:cNvPr id="6071" name="Google Shape;6071;p28"/>
          <p:cNvGrpSpPr/>
          <p:nvPr/>
        </p:nvGrpSpPr>
        <p:grpSpPr>
          <a:xfrm>
            <a:off x="2600085" y="5078167"/>
            <a:ext cx="884393" cy="609197"/>
            <a:chOff x="2600085" y="5078167"/>
            <a:chExt cx="884393" cy="609197"/>
          </a:xfrm>
        </p:grpSpPr>
        <p:grpSp>
          <p:nvGrpSpPr>
            <p:cNvPr id="6072" name="Google Shape;6072;p28"/>
            <p:cNvGrpSpPr/>
            <p:nvPr/>
          </p:nvGrpSpPr>
          <p:grpSpPr>
            <a:xfrm>
              <a:off x="2600085" y="5078167"/>
              <a:ext cx="269469" cy="269658"/>
              <a:chOff x="658852" y="4954224"/>
              <a:chExt cx="583799" cy="584209"/>
            </a:xfrm>
          </p:grpSpPr>
          <p:sp>
            <p:nvSpPr>
              <p:cNvPr id="6073" name="Google Shape;6073;p28"/>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074" name="Google Shape;6074;p28"/>
              <p:cNvGrpSpPr/>
              <p:nvPr/>
            </p:nvGrpSpPr>
            <p:grpSpPr>
              <a:xfrm>
                <a:off x="834156" y="5211637"/>
                <a:ext cx="216359" cy="78004"/>
                <a:chOff x="834156" y="5211637"/>
                <a:chExt cx="216359" cy="78004"/>
              </a:xfrm>
            </p:grpSpPr>
            <p:sp>
              <p:nvSpPr>
                <p:cNvPr id="6075" name="Google Shape;6075;p28"/>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076" name="Google Shape;6076;p28"/>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077" name="Google Shape;6077;p28"/>
            <p:cNvCxnSpPr/>
            <p:nvPr/>
          </p:nvCxnSpPr>
          <p:spPr>
            <a:xfrm>
              <a:off x="2734820" y="5342205"/>
              <a:ext cx="0" cy="129536"/>
            </a:xfrm>
            <a:prstGeom prst="straightConnector1">
              <a:avLst/>
            </a:prstGeom>
            <a:noFill/>
            <a:ln w="25400" cap="rnd" cmpd="sng">
              <a:solidFill>
                <a:schemeClr val="accent5"/>
              </a:solidFill>
              <a:prstDash val="solid"/>
              <a:round/>
              <a:headEnd type="none" w="sm" len="sm"/>
              <a:tailEnd type="none" w="sm" len="sm"/>
            </a:ln>
          </p:spPr>
        </p:cxnSp>
        <p:grpSp>
          <p:nvGrpSpPr>
            <p:cNvPr id="6078" name="Google Shape;6078;p28"/>
            <p:cNvGrpSpPr/>
            <p:nvPr/>
          </p:nvGrpSpPr>
          <p:grpSpPr>
            <a:xfrm>
              <a:off x="3215009" y="5293790"/>
              <a:ext cx="269469" cy="269658"/>
              <a:chOff x="658852" y="4954224"/>
              <a:chExt cx="583799" cy="584209"/>
            </a:xfrm>
          </p:grpSpPr>
          <p:sp>
            <p:nvSpPr>
              <p:cNvPr id="6079" name="Google Shape;6079;p28"/>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080" name="Google Shape;6080;p28"/>
              <p:cNvGrpSpPr/>
              <p:nvPr/>
            </p:nvGrpSpPr>
            <p:grpSpPr>
              <a:xfrm>
                <a:off x="834156" y="5211637"/>
                <a:ext cx="216359" cy="78004"/>
                <a:chOff x="834156" y="5211637"/>
                <a:chExt cx="216359" cy="78004"/>
              </a:xfrm>
            </p:grpSpPr>
            <p:sp>
              <p:nvSpPr>
                <p:cNvPr id="6081" name="Google Shape;6081;p28"/>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082" name="Google Shape;6082;p28"/>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083" name="Google Shape;6083;p28"/>
            <p:cNvCxnSpPr/>
            <p:nvPr/>
          </p:nvCxnSpPr>
          <p:spPr>
            <a:xfrm>
              <a:off x="3349744" y="5557828"/>
              <a:ext cx="0" cy="129536"/>
            </a:xfrm>
            <a:prstGeom prst="straightConnector1">
              <a:avLst/>
            </a:prstGeom>
            <a:noFill/>
            <a:ln w="25400" cap="rnd" cmpd="sng">
              <a:solidFill>
                <a:schemeClr val="accent5"/>
              </a:solidFill>
              <a:prstDash val="solid"/>
              <a:round/>
              <a:headEnd type="none" w="sm" len="sm"/>
              <a:tailEnd type="none" w="sm" len="sm"/>
            </a:ln>
          </p:spPr>
        </p:cxnSp>
      </p:grpSp>
      <p:pic>
        <p:nvPicPr>
          <p:cNvPr id="6084" name="Google Shape;6084;p28"/>
          <p:cNvPicPr preferRelativeResize="0"/>
          <p:nvPr/>
        </p:nvPicPr>
        <p:blipFill rotWithShape="1">
          <a:blip r:embed="rId3">
            <a:alphaModFix/>
          </a:blip>
          <a:srcRect/>
          <a:stretch/>
        </p:blipFill>
        <p:spPr>
          <a:xfrm>
            <a:off x="2529107" y="4260591"/>
            <a:ext cx="180000" cy="180000"/>
          </a:xfrm>
          <a:prstGeom prst="rect">
            <a:avLst/>
          </a:prstGeom>
          <a:noFill/>
          <a:ln>
            <a:noFill/>
          </a:ln>
        </p:spPr>
      </p:pic>
      <p:sp>
        <p:nvSpPr>
          <p:cNvPr id="6085" name="Google Shape;6085;p28"/>
          <p:cNvSpPr/>
          <p:nvPr/>
        </p:nvSpPr>
        <p:spPr>
          <a:xfrm>
            <a:off x="1076527" y="4231532"/>
            <a:ext cx="875489" cy="1744986"/>
          </a:xfrm>
          <a:prstGeom prst="rect">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rgbClr val="7030A0"/>
                </a:solidFill>
                <a:latin typeface="Arial"/>
                <a:ea typeface="Arial"/>
                <a:cs typeface="Arial"/>
                <a:sym typeface="Arial"/>
              </a:rPr>
              <a:t>VPC</a:t>
            </a:r>
            <a:endParaRPr/>
          </a:p>
        </p:txBody>
      </p:sp>
      <p:pic>
        <p:nvPicPr>
          <p:cNvPr id="6086" name="Google Shape;6086;p28"/>
          <p:cNvPicPr preferRelativeResize="0"/>
          <p:nvPr/>
        </p:nvPicPr>
        <p:blipFill rotWithShape="1">
          <a:blip r:embed="rId3">
            <a:alphaModFix/>
          </a:blip>
          <a:srcRect/>
          <a:stretch/>
        </p:blipFill>
        <p:spPr>
          <a:xfrm>
            <a:off x="1436100" y="4259796"/>
            <a:ext cx="180000" cy="180000"/>
          </a:xfrm>
          <a:prstGeom prst="rect">
            <a:avLst/>
          </a:prstGeom>
          <a:noFill/>
          <a:ln>
            <a:noFill/>
          </a:ln>
        </p:spPr>
      </p:pic>
      <p:sp>
        <p:nvSpPr>
          <p:cNvPr id="6087" name="Google Shape;6087;p28"/>
          <p:cNvSpPr/>
          <p:nvPr/>
        </p:nvSpPr>
        <p:spPr>
          <a:xfrm>
            <a:off x="2166026" y="4231532"/>
            <a:ext cx="1679642" cy="1744986"/>
          </a:xfrm>
          <a:prstGeom prst="rect">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a:solidFill>
                  <a:srgbClr val="7030A0"/>
                </a:solidFill>
                <a:latin typeface="Arial"/>
                <a:ea typeface="Arial"/>
                <a:cs typeface="Arial"/>
                <a:sym typeface="Arial"/>
              </a:rPr>
              <a:t>VPC</a:t>
            </a:r>
            <a:endParaRPr/>
          </a:p>
        </p:txBody>
      </p:sp>
      <p:grpSp>
        <p:nvGrpSpPr>
          <p:cNvPr id="6088" name="Google Shape;6088;p28"/>
          <p:cNvGrpSpPr/>
          <p:nvPr/>
        </p:nvGrpSpPr>
        <p:grpSpPr>
          <a:xfrm>
            <a:off x="1482480" y="3852153"/>
            <a:ext cx="1713126" cy="1843567"/>
            <a:chOff x="1482480" y="3852153"/>
            <a:chExt cx="1713126" cy="1843567"/>
          </a:xfrm>
        </p:grpSpPr>
        <p:cxnSp>
          <p:nvCxnSpPr>
            <p:cNvPr id="6089" name="Google Shape;6089;p28"/>
            <p:cNvCxnSpPr/>
            <p:nvPr/>
          </p:nvCxnSpPr>
          <p:spPr>
            <a:xfrm>
              <a:off x="2948933" y="4955329"/>
              <a:ext cx="0" cy="531071"/>
            </a:xfrm>
            <a:prstGeom prst="straightConnector1">
              <a:avLst/>
            </a:prstGeom>
            <a:noFill/>
            <a:ln w="25400" cap="rnd" cmpd="sng">
              <a:solidFill>
                <a:schemeClr val="accent5"/>
              </a:solidFill>
              <a:prstDash val="solid"/>
              <a:round/>
              <a:headEnd type="none" w="sm" len="sm"/>
              <a:tailEnd type="none" w="sm" len="sm"/>
            </a:ln>
          </p:spPr>
        </p:cxnSp>
        <p:cxnSp>
          <p:nvCxnSpPr>
            <p:cNvPr id="6090" name="Google Shape;6090;p28"/>
            <p:cNvCxnSpPr/>
            <p:nvPr/>
          </p:nvCxnSpPr>
          <p:spPr>
            <a:xfrm>
              <a:off x="3072149" y="4959662"/>
              <a:ext cx="0" cy="736058"/>
            </a:xfrm>
            <a:prstGeom prst="straightConnector1">
              <a:avLst/>
            </a:prstGeom>
            <a:noFill/>
            <a:ln w="25400" cap="rnd" cmpd="sng">
              <a:solidFill>
                <a:schemeClr val="accent5"/>
              </a:solidFill>
              <a:prstDash val="solid"/>
              <a:round/>
              <a:headEnd type="none" w="sm" len="sm"/>
              <a:tailEnd type="none" w="sm" len="sm"/>
            </a:ln>
          </p:spPr>
        </p:cxnSp>
        <p:cxnSp>
          <p:nvCxnSpPr>
            <p:cNvPr id="6091" name="Google Shape;6091;p28"/>
            <p:cNvCxnSpPr/>
            <p:nvPr/>
          </p:nvCxnSpPr>
          <p:spPr>
            <a:xfrm flipH="1">
              <a:off x="1665086" y="3852153"/>
              <a:ext cx="559305" cy="388427"/>
            </a:xfrm>
            <a:prstGeom prst="straightConnector1">
              <a:avLst/>
            </a:prstGeom>
            <a:noFill/>
            <a:ln w="25400" cap="rnd" cmpd="sng">
              <a:solidFill>
                <a:schemeClr val="accent4"/>
              </a:solidFill>
              <a:prstDash val="solid"/>
              <a:miter lim="800000"/>
              <a:headEnd type="none" w="sm" len="sm"/>
              <a:tailEnd type="none" w="sm" len="sm"/>
            </a:ln>
          </p:spPr>
        </p:cxnSp>
        <p:cxnSp>
          <p:nvCxnSpPr>
            <p:cNvPr id="6092" name="Google Shape;6092;p28"/>
            <p:cNvCxnSpPr>
              <a:endCxn id="6087" idx="0"/>
            </p:cNvCxnSpPr>
            <p:nvPr/>
          </p:nvCxnSpPr>
          <p:spPr>
            <a:xfrm>
              <a:off x="2647347" y="3873332"/>
              <a:ext cx="358500" cy="358200"/>
            </a:xfrm>
            <a:prstGeom prst="straightConnector1">
              <a:avLst/>
            </a:prstGeom>
            <a:noFill/>
            <a:ln w="25400" cap="rnd" cmpd="sng">
              <a:solidFill>
                <a:schemeClr val="accent4"/>
              </a:solidFill>
              <a:prstDash val="solid"/>
              <a:miter lim="800000"/>
              <a:headEnd type="none" w="sm" len="sm"/>
              <a:tailEnd type="none" w="sm" len="sm"/>
            </a:ln>
          </p:spPr>
        </p:cxnSp>
        <p:sp>
          <p:nvSpPr>
            <p:cNvPr id="6093" name="Google Shape;6093;p28"/>
            <p:cNvSpPr/>
            <p:nvPr/>
          </p:nvSpPr>
          <p:spPr>
            <a:xfrm>
              <a:off x="2836111" y="4611959"/>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094" name="Google Shape;6094;p28"/>
            <p:cNvCxnSpPr/>
            <p:nvPr/>
          </p:nvCxnSpPr>
          <p:spPr>
            <a:xfrm>
              <a:off x="1665528" y="4230031"/>
              <a:ext cx="0" cy="385892"/>
            </a:xfrm>
            <a:prstGeom prst="straightConnector1">
              <a:avLst/>
            </a:prstGeom>
            <a:noFill/>
            <a:ln w="25400" cap="rnd" cmpd="sng">
              <a:solidFill>
                <a:schemeClr val="accent5"/>
              </a:solidFill>
              <a:prstDash val="solid"/>
              <a:miter lim="800000"/>
              <a:headEnd type="none" w="sm" len="sm"/>
              <a:tailEnd type="none" w="sm" len="sm"/>
            </a:ln>
          </p:spPr>
        </p:cxnSp>
        <p:cxnSp>
          <p:nvCxnSpPr>
            <p:cNvPr id="6095" name="Google Shape;6095;p28"/>
            <p:cNvCxnSpPr/>
            <p:nvPr/>
          </p:nvCxnSpPr>
          <p:spPr>
            <a:xfrm>
              <a:off x="3021819" y="4227539"/>
              <a:ext cx="0" cy="384391"/>
            </a:xfrm>
            <a:prstGeom prst="straightConnector1">
              <a:avLst/>
            </a:prstGeom>
            <a:noFill/>
            <a:ln w="25400" cap="rnd" cmpd="sng">
              <a:solidFill>
                <a:schemeClr val="accent5"/>
              </a:solidFill>
              <a:prstDash val="solid"/>
              <a:miter lim="800000"/>
              <a:headEnd type="none" w="sm" len="sm"/>
              <a:tailEnd type="none" w="sm" len="sm"/>
            </a:ln>
          </p:spPr>
        </p:cxnSp>
        <p:sp>
          <p:nvSpPr>
            <p:cNvPr id="6096" name="Google Shape;6096;p28"/>
            <p:cNvSpPr txBox="1"/>
            <p:nvPr/>
          </p:nvSpPr>
          <p:spPr>
            <a:xfrm>
              <a:off x="2289459" y="4629758"/>
              <a:ext cx="50712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7030A0"/>
                  </a:solidFill>
                  <a:latin typeface="Arial"/>
                  <a:ea typeface="Arial"/>
                  <a:cs typeface="Arial"/>
                  <a:sym typeface="Arial"/>
                </a:rPr>
                <a:t>VPC</a:t>
              </a:r>
              <a:br>
                <a:rPr lang="en-US" sz="1000">
                  <a:solidFill>
                    <a:srgbClr val="7030A0"/>
                  </a:solidFill>
                  <a:latin typeface="Arial"/>
                  <a:ea typeface="Arial"/>
                  <a:cs typeface="Arial"/>
                  <a:sym typeface="Arial"/>
                </a:rPr>
              </a:br>
              <a:r>
                <a:rPr lang="en-US" sz="1000">
                  <a:solidFill>
                    <a:srgbClr val="7030A0"/>
                  </a:solidFill>
                  <a:latin typeface="Arial"/>
                  <a:ea typeface="Arial"/>
                  <a:cs typeface="Arial"/>
                  <a:sym typeface="Arial"/>
                </a:rPr>
                <a:t>Gateway</a:t>
              </a:r>
              <a:endParaRPr/>
            </a:p>
          </p:txBody>
        </p:sp>
        <p:sp>
          <p:nvSpPr>
            <p:cNvPr id="6097" name="Google Shape;6097;p28"/>
            <p:cNvSpPr/>
            <p:nvPr/>
          </p:nvSpPr>
          <p:spPr>
            <a:xfrm>
              <a:off x="1482480" y="4611959"/>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grpSp>
      <p:cxnSp>
        <p:nvCxnSpPr>
          <p:cNvPr id="6098" name="Google Shape;6098;p28"/>
          <p:cNvCxnSpPr>
            <a:stCxn id="6061" idx="0"/>
          </p:cNvCxnSpPr>
          <p:nvPr/>
        </p:nvCxnSpPr>
        <p:spPr>
          <a:xfrm rot="10800000">
            <a:off x="2443740" y="2971657"/>
            <a:ext cx="0" cy="268500"/>
          </a:xfrm>
          <a:prstGeom prst="straightConnector1">
            <a:avLst/>
          </a:prstGeom>
          <a:noFill/>
          <a:ln w="25400" cap="rnd" cmpd="sng">
            <a:solidFill>
              <a:schemeClr val="accent2"/>
            </a:solidFill>
            <a:prstDash val="solid"/>
            <a:miter lim="800000"/>
            <a:headEnd type="none" w="sm" len="sm"/>
            <a:tailEnd type="none" w="sm" len="sm"/>
          </a:ln>
        </p:spPr>
      </p:cxnSp>
      <p:sp>
        <p:nvSpPr>
          <p:cNvPr id="6099" name="Google Shape;6099;p28"/>
          <p:cNvSpPr txBox="1"/>
          <p:nvPr/>
        </p:nvSpPr>
        <p:spPr>
          <a:xfrm>
            <a:off x="1316729" y="2446175"/>
            <a:ext cx="902735"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2"/>
                </a:solidFill>
                <a:latin typeface="Arial"/>
                <a:ea typeface="Arial"/>
                <a:cs typeface="Arial"/>
                <a:sym typeface="Arial"/>
              </a:rPr>
              <a:t>Tier0</a:t>
            </a:r>
            <a:endParaRPr/>
          </a:p>
          <a:p>
            <a:pPr marL="0" marR="0" lvl="0" indent="0" algn="l" rtl="0">
              <a:spcBef>
                <a:spcPts val="0"/>
              </a:spcBef>
              <a:spcAft>
                <a:spcPts val="0"/>
              </a:spcAft>
              <a:buNone/>
            </a:pPr>
            <a:r>
              <a:rPr lang="en-US" sz="1000">
                <a:solidFill>
                  <a:schemeClr val="accent2"/>
                </a:solidFill>
                <a:latin typeface="Arial"/>
                <a:ea typeface="Arial"/>
                <a:cs typeface="Arial"/>
                <a:sym typeface="Arial"/>
              </a:rPr>
              <a:t>Gateway</a:t>
            </a:r>
            <a:endParaRPr/>
          </a:p>
        </p:txBody>
      </p:sp>
      <p:sp>
        <p:nvSpPr>
          <p:cNvPr id="6100" name="Google Shape;6100;p28"/>
          <p:cNvSpPr/>
          <p:nvPr/>
        </p:nvSpPr>
        <p:spPr>
          <a:xfrm>
            <a:off x="1828344" y="2323931"/>
            <a:ext cx="540000" cy="540000"/>
          </a:xfrm>
          <a:custGeom>
            <a:avLst/>
            <a:gdLst/>
            <a:ahLst/>
            <a:cxnLst/>
            <a:rect l="l" t="t" r="r" b="b"/>
            <a:pathLst>
              <a:path w="3411855" h="3411855" extrusionOk="0">
                <a:moveTo>
                  <a:pt x="1616141" y="2365151"/>
                </a:moveTo>
                <a:lnTo>
                  <a:pt x="1795712" y="2365151"/>
                </a:lnTo>
                <a:lnTo>
                  <a:pt x="1795712" y="2702754"/>
                </a:lnTo>
                <a:lnTo>
                  <a:pt x="1947657" y="2702754"/>
                </a:lnTo>
                <a:lnTo>
                  <a:pt x="1705927" y="3121293"/>
                </a:lnTo>
                <a:lnTo>
                  <a:pt x="1464196" y="2702754"/>
                </a:lnTo>
                <a:lnTo>
                  <a:pt x="1616141" y="2702754"/>
                </a:lnTo>
                <a:close/>
                <a:moveTo>
                  <a:pt x="1943213" y="1472645"/>
                </a:moveTo>
                <a:cubicBezTo>
                  <a:pt x="1909685" y="1472645"/>
                  <a:pt x="1879790" y="1482703"/>
                  <a:pt x="1853526" y="1502820"/>
                </a:cubicBezTo>
                <a:cubicBezTo>
                  <a:pt x="1827262" y="1522937"/>
                  <a:pt x="1806726" y="1551017"/>
                  <a:pt x="1791918" y="1587059"/>
                </a:cubicBezTo>
                <a:cubicBezTo>
                  <a:pt x="1777110" y="1623102"/>
                  <a:pt x="1769706" y="1664034"/>
                  <a:pt x="1769706" y="1709855"/>
                </a:cubicBezTo>
                <a:cubicBezTo>
                  <a:pt x="1769706" y="1755677"/>
                  <a:pt x="1777110" y="1796609"/>
                  <a:pt x="1791918" y="1832652"/>
                </a:cubicBezTo>
                <a:cubicBezTo>
                  <a:pt x="1806726" y="1868694"/>
                  <a:pt x="1827262" y="1896914"/>
                  <a:pt x="1853526" y="1917310"/>
                </a:cubicBezTo>
                <a:cubicBezTo>
                  <a:pt x="1879790" y="1937706"/>
                  <a:pt x="1909685" y="1947904"/>
                  <a:pt x="1943213" y="1947904"/>
                </a:cubicBezTo>
                <a:cubicBezTo>
                  <a:pt x="1976741" y="1947904"/>
                  <a:pt x="2006637" y="1937706"/>
                  <a:pt x="2032901" y="1917310"/>
                </a:cubicBezTo>
                <a:cubicBezTo>
                  <a:pt x="2059164" y="1896914"/>
                  <a:pt x="2079561" y="1868694"/>
                  <a:pt x="2094089" y="1832652"/>
                </a:cubicBezTo>
                <a:cubicBezTo>
                  <a:pt x="2108618" y="1796609"/>
                  <a:pt x="2115883" y="1755677"/>
                  <a:pt x="2115883" y="1709855"/>
                </a:cubicBezTo>
                <a:cubicBezTo>
                  <a:pt x="2115883" y="1664034"/>
                  <a:pt x="2108618" y="1623102"/>
                  <a:pt x="2094089" y="1587059"/>
                </a:cubicBezTo>
                <a:cubicBezTo>
                  <a:pt x="2079561" y="1551017"/>
                  <a:pt x="2059164" y="1522937"/>
                  <a:pt x="2032901" y="1502820"/>
                </a:cubicBezTo>
                <a:cubicBezTo>
                  <a:pt x="2006637" y="1482703"/>
                  <a:pt x="1976741" y="1472645"/>
                  <a:pt x="1943213" y="1472645"/>
                </a:cubicBezTo>
                <a:close/>
                <a:moveTo>
                  <a:pt x="2786046" y="1464196"/>
                </a:moveTo>
                <a:lnTo>
                  <a:pt x="2786046" y="1616141"/>
                </a:lnTo>
                <a:lnTo>
                  <a:pt x="3123649" y="1616141"/>
                </a:lnTo>
                <a:lnTo>
                  <a:pt x="3123649" y="1795712"/>
                </a:lnTo>
                <a:lnTo>
                  <a:pt x="2786046" y="1795712"/>
                </a:lnTo>
                <a:lnTo>
                  <a:pt x="2786046" y="1947657"/>
                </a:lnTo>
                <a:lnTo>
                  <a:pt x="2367507" y="1705927"/>
                </a:lnTo>
                <a:close/>
                <a:moveTo>
                  <a:pt x="609184" y="1464195"/>
                </a:moveTo>
                <a:lnTo>
                  <a:pt x="1027723" y="1705925"/>
                </a:lnTo>
                <a:lnTo>
                  <a:pt x="609184" y="1947656"/>
                </a:lnTo>
                <a:lnTo>
                  <a:pt x="609184" y="1795711"/>
                </a:lnTo>
                <a:lnTo>
                  <a:pt x="271581" y="1795711"/>
                </a:lnTo>
                <a:lnTo>
                  <a:pt x="271581" y="1616140"/>
                </a:lnTo>
                <a:lnTo>
                  <a:pt x="609184" y="1616140"/>
                </a:lnTo>
                <a:close/>
                <a:moveTo>
                  <a:pt x="1178851" y="1422353"/>
                </a:moveTo>
                <a:lnTo>
                  <a:pt x="1631479" y="1422353"/>
                </a:lnTo>
                <a:lnTo>
                  <a:pt x="1631479" y="1484380"/>
                </a:lnTo>
                <a:lnTo>
                  <a:pt x="1437855" y="1484380"/>
                </a:lnTo>
                <a:lnTo>
                  <a:pt x="1437855" y="1998196"/>
                </a:lnTo>
                <a:lnTo>
                  <a:pt x="1372475" y="1998196"/>
                </a:lnTo>
                <a:lnTo>
                  <a:pt x="1372475" y="1484380"/>
                </a:lnTo>
                <a:lnTo>
                  <a:pt x="1178851" y="1484380"/>
                </a:lnTo>
                <a:close/>
                <a:moveTo>
                  <a:pt x="1943213" y="1412294"/>
                </a:moveTo>
                <a:cubicBezTo>
                  <a:pt x="1989035" y="1412294"/>
                  <a:pt x="2030107" y="1425007"/>
                  <a:pt x="2066429" y="1450433"/>
                </a:cubicBezTo>
                <a:cubicBezTo>
                  <a:pt x="2102751" y="1475858"/>
                  <a:pt x="2131110" y="1511063"/>
                  <a:pt x="2151506" y="1556046"/>
                </a:cubicBezTo>
                <a:cubicBezTo>
                  <a:pt x="2171902" y="1601029"/>
                  <a:pt x="2182100" y="1652299"/>
                  <a:pt x="2182100" y="1709855"/>
                </a:cubicBezTo>
                <a:cubicBezTo>
                  <a:pt x="2182100" y="1767412"/>
                  <a:pt x="2171902" y="1818821"/>
                  <a:pt x="2151506" y="1864084"/>
                </a:cubicBezTo>
                <a:cubicBezTo>
                  <a:pt x="2131110" y="1909347"/>
                  <a:pt x="2102890" y="1944691"/>
                  <a:pt x="2066848" y="1970116"/>
                </a:cubicBezTo>
                <a:cubicBezTo>
                  <a:pt x="2030805" y="1995542"/>
                  <a:pt x="1989594" y="2008254"/>
                  <a:pt x="1943213" y="2008254"/>
                </a:cubicBezTo>
                <a:cubicBezTo>
                  <a:pt x="1896833" y="2008254"/>
                  <a:pt x="1855482" y="1995542"/>
                  <a:pt x="1819160" y="1970116"/>
                </a:cubicBezTo>
                <a:cubicBezTo>
                  <a:pt x="1782838" y="1944691"/>
                  <a:pt x="1754479" y="1909347"/>
                  <a:pt x="1734082" y="1864084"/>
                </a:cubicBezTo>
                <a:cubicBezTo>
                  <a:pt x="1713686" y="1818821"/>
                  <a:pt x="1703488" y="1767412"/>
                  <a:pt x="1703488" y="1709855"/>
                </a:cubicBezTo>
                <a:cubicBezTo>
                  <a:pt x="1703488" y="1652299"/>
                  <a:pt x="1713686" y="1601029"/>
                  <a:pt x="1734082" y="1556046"/>
                </a:cubicBezTo>
                <a:cubicBezTo>
                  <a:pt x="1754479" y="1511063"/>
                  <a:pt x="1782838" y="1475858"/>
                  <a:pt x="1819160" y="1450433"/>
                </a:cubicBezTo>
                <a:cubicBezTo>
                  <a:pt x="1855482" y="1425007"/>
                  <a:pt x="1896833" y="1412294"/>
                  <a:pt x="1943213" y="1412294"/>
                </a:cubicBezTo>
                <a:close/>
                <a:moveTo>
                  <a:pt x="1705927" y="290561"/>
                </a:moveTo>
                <a:lnTo>
                  <a:pt x="1947657" y="709100"/>
                </a:lnTo>
                <a:lnTo>
                  <a:pt x="1795712" y="709100"/>
                </a:lnTo>
                <a:lnTo>
                  <a:pt x="1795712" y="1046703"/>
                </a:lnTo>
                <a:lnTo>
                  <a:pt x="1616141" y="1046703"/>
                </a:lnTo>
                <a:lnTo>
                  <a:pt x="1616141" y="709100"/>
                </a:lnTo>
                <a:lnTo>
                  <a:pt x="1464196" y="709100"/>
                </a:lnTo>
                <a:close/>
                <a:moveTo>
                  <a:pt x="1705927" y="89786"/>
                </a:moveTo>
                <a:cubicBezTo>
                  <a:pt x="814701" y="89786"/>
                  <a:pt x="89786" y="814701"/>
                  <a:pt x="89786" y="1705928"/>
                </a:cubicBezTo>
                <a:cubicBezTo>
                  <a:pt x="89786" y="2597154"/>
                  <a:pt x="814701" y="3322069"/>
                  <a:pt x="1705927" y="3322069"/>
                </a:cubicBezTo>
                <a:cubicBezTo>
                  <a:pt x="2597154" y="3322069"/>
                  <a:pt x="3322069" y="2597154"/>
                  <a:pt x="3322069" y="1705928"/>
                </a:cubicBezTo>
                <a:cubicBezTo>
                  <a:pt x="3322069" y="814701"/>
                  <a:pt x="2597154" y="89786"/>
                  <a:pt x="1705927" y="89786"/>
                </a:cubicBezTo>
                <a:close/>
                <a:moveTo>
                  <a:pt x="1705927" y="0"/>
                </a:moveTo>
                <a:cubicBezTo>
                  <a:pt x="2647986" y="0"/>
                  <a:pt x="3411855" y="763869"/>
                  <a:pt x="3411855" y="1705928"/>
                </a:cubicBezTo>
                <a:cubicBezTo>
                  <a:pt x="3411855" y="2647986"/>
                  <a:pt x="2647986" y="3411855"/>
                  <a:pt x="1705927" y="3411855"/>
                </a:cubicBezTo>
                <a:cubicBezTo>
                  <a:pt x="763869" y="3411855"/>
                  <a:pt x="0" y="2647986"/>
                  <a:pt x="0" y="1705928"/>
                </a:cubicBezTo>
                <a:cubicBezTo>
                  <a:pt x="0" y="763869"/>
                  <a:pt x="763869" y="0"/>
                  <a:pt x="1705927"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6000">
              <a:solidFill>
                <a:schemeClr val="dk1"/>
              </a:solidFill>
              <a:latin typeface="Arial"/>
              <a:ea typeface="Arial"/>
              <a:cs typeface="Arial"/>
              <a:sym typeface="Arial"/>
            </a:endParaRPr>
          </a:p>
        </p:txBody>
      </p:sp>
      <p:cxnSp>
        <p:nvCxnSpPr>
          <p:cNvPr id="6101" name="Google Shape;6101;p28"/>
          <p:cNvCxnSpPr/>
          <p:nvPr/>
        </p:nvCxnSpPr>
        <p:spPr>
          <a:xfrm rot="10800000">
            <a:off x="2098344" y="1939636"/>
            <a:ext cx="0" cy="386121"/>
          </a:xfrm>
          <a:prstGeom prst="straightConnector1">
            <a:avLst/>
          </a:prstGeom>
          <a:noFill/>
          <a:ln w="25400" cap="rnd" cmpd="sng">
            <a:solidFill>
              <a:schemeClr val="accent2"/>
            </a:solidFill>
            <a:prstDash val="solid"/>
            <a:miter lim="800000"/>
            <a:headEnd type="none" w="sm" len="sm"/>
            <a:tailEnd type="none" w="sm" len="sm"/>
          </a:ln>
        </p:spPr>
      </p:cxnSp>
      <p:cxnSp>
        <p:nvCxnSpPr>
          <p:cNvPr id="6102" name="Google Shape;6102;p28"/>
          <p:cNvCxnSpPr/>
          <p:nvPr/>
        </p:nvCxnSpPr>
        <p:spPr>
          <a:xfrm rot="10800000">
            <a:off x="2785143" y="1939636"/>
            <a:ext cx="0" cy="1032164"/>
          </a:xfrm>
          <a:prstGeom prst="straightConnector1">
            <a:avLst/>
          </a:prstGeom>
          <a:noFill/>
          <a:ln w="25400" cap="rnd" cmpd="sng">
            <a:solidFill>
              <a:schemeClr val="accent2"/>
            </a:solidFill>
            <a:prstDash val="solid"/>
            <a:miter lim="800000"/>
            <a:headEnd type="none" w="sm" len="sm"/>
            <a:tailEnd type="none" w="sm" len="sm"/>
          </a:ln>
        </p:spPr>
      </p:cxnSp>
      <p:cxnSp>
        <p:nvCxnSpPr>
          <p:cNvPr id="6103" name="Google Shape;6103;p28"/>
          <p:cNvCxnSpPr/>
          <p:nvPr/>
        </p:nvCxnSpPr>
        <p:spPr>
          <a:xfrm rot="10800000">
            <a:off x="2098344" y="2864285"/>
            <a:ext cx="0" cy="107515"/>
          </a:xfrm>
          <a:prstGeom prst="straightConnector1">
            <a:avLst/>
          </a:prstGeom>
          <a:noFill/>
          <a:ln w="25400" cap="rnd" cmpd="sng">
            <a:solidFill>
              <a:schemeClr val="accent2"/>
            </a:solidFill>
            <a:prstDash val="solid"/>
            <a:miter lim="800000"/>
            <a:headEnd type="none" w="sm" len="sm"/>
            <a:tailEnd type="none" w="sm" len="sm"/>
          </a:ln>
        </p:spPr>
      </p:cxnSp>
      <p:sp>
        <p:nvSpPr>
          <p:cNvPr id="6104" name="Google Shape;6104;p28"/>
          <p:cNvSpPr txBox="1"/>
          <p:nvPr/>
        </p:nvSpPr>
        <p:spPr>
          <a:xfrm>
            <a:off x="2826477" y="2514600"/>
            <a:ext cx="417825"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2"/>
                </a:solidFill>
                <a:latin typeface="Arial"/>
                <a:ea typeface="Arial"/>
                <a:cs typeface="Arial"/>
                <a:sym typeface="Arial"/>
              </a:rPr>
              <a:t>VLAN</a:t>
            </a:r>
            <a:endParaRPr/>
          </a:p>
        </p:txBody>
      </p:sp>
      <p:sp>
        <p:nvSpPr>
          <p:cNvPr id="6105" name="Google Shape;6105;p28"/>
          <p:cNvSpPr/>
          <p:nvPr/>
        </p:nvSpPr>
        <p:spPr>
          <a:xfrm>
            <a:off x="1747933" y="2929812"/>
            <a:ext cx="1399592" cy="23015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lt1"/>
                </a:solidFill>
                <a:latin typeface="Arial"/>
                <a:ea typeface="Arial"/>
                <a:cs typeface="Arial"/>
                <a:sym typeface="Arial"/>
              </a:rPr>
              <a:t>External Connection</a:t>
            </a:r>
            <a:endParaRPr/>
          </a:p>
        </p:txBody>
      </p:sp>
      <p:sp>
        <p:nvSpPr>
          <p:cNvPr id="6106" name="Google Shape;6106;p28"/>
          <p:cNvSpPr txBox="1"/>
          <p:nvPr/>
        </p:nvSpPr>
        <p:spPr>
          <a:xfrm>
            <a:off x="5180013" y="2057400"/>
            <a:ext cx="7008812" cy="4114799"/>
          </a:xfrm>
          <a:prstGeom prst="rect">
            <a:avLst/>
          </a:prstGeom>
          <a:noFill/>
          <a:ln>
            <a:noFill/>
          </a:ln>
        </p:spPr>
        <p:txBody>
          <a:bodyPr spcFirstLastPara="1" wrap="square" lIns="91425" tIns="45700" rIns="91425" bIns="45700" anchor="t" anchorCtr="0">
            <a:noAutofit/>
          </a:bodyPr>
          <a:lstStyle/>
          <a:p>
            <a:pPr marL="0" marR="0" lvl="0" indent="-91440" algn="l" rtl="0">
              <a:lnSpc>
                <a:spcPct val="100000"/>
              </a:lnSpc>
              <a:spcBef>
                <a:spcPts val="0"/>
              </a:spcBef>
              <a:spcAft>
                <a:spcPts val="0"/>
              </a:spcAft>
              <a:buClr>
                <a:srgbClr val="666666"/>
              </a:buClr>
              <a:buSzPts val="1440"/>
              <a:buFont typeface="Arial"/>
              <a:buChar char="​"/>
            </a:pPr>
            <a:r>
              <a:rPr lang="en-US" sz="1600">
                <a:solidFill>
                  <a:schemeClr val="accent2"/>
                </a:solidFill>
                <a:latin typeface="Arial"/>
                <a:ea typeface="Arial"/>
                <a:cs typeface="Arial"/>
                <a:sym typeface="Arial"/>
              </a:rPr>
              <a:t>The enterprise admin creates external connections</a:t>
            </a:r>
            <a:endParaRPr/>
          </a:p>
          <a:p>
            <a:pPr marL="457200" marR="0" lvl="1" indent="-184150" algn="l" rtl="0">
              <a:lnSpc>
                <a:spcPct val="100000"/>
              </a:lnSpc>
              <a:spcBef>
                <a:spcPts val="600"/>
              </a:spcBef>
              <a:spcAft>
                <a:spcPts val="0"/>
              </a:spcAft>
              <a:buClr>
                <a:schemeClr val="accent2"/>
              </a:buClr>
              <a:buSzPts val="1260"/>
              <a:buFont typeface="Arial"/>
              <a:buChar char="•"/>
            </a:pPr>
            <a:r>
              <a:rPr lang="en-US" sz="1400" b="0" i="0" u="none" strike="noStrike" cap="none">
                <a:solidFill>
                  <a:schemeClr val="accent2"/>
                </a:solidFill>
                <a:latin typeface="Arial"/>
                <a:ea typeface="Arial"/>
                <a:cs typeface="Arial"/>
                <a:sym typeface="Arial"/>
              </a:rPr>
              <a:t>They represent connectivity to the physical network</a:t>
            </a:r>
            <a:endParaRPr/>
          </a:p>
          <a:p>
            <a:pPr marL="457200" marR="0" lvl="1" indent="-184150" algn="l" rtl="0">
              <a:lnSpc>
                <a:spcPct val="100000"/>
              </a:lnSpc>
              <a:spcBef>
                <a:spcPts val="1200"/>
              </a:spcBef>
              <a:spcAft>
                <a:spcPts val="0"/>
              </a:spcAft>
              <a:buClr>
                <a:schemeClr val="accent2"/>
              </a:buClr>
              <a:buSzPts val="1260"/>
              <a:buFont typeface="Arial"/>
              <a:buChar char="•"/>
            </a:pPr>
            <a:r>
              <a:rPr lang="en-US" sz="1400" b="0" i="0" u="none" strike="noStrike" cap="none">
                <a:solidFill>
                  <a:schemeClr val="accent2"/>
                </a:solidFill>
                <a:latin typeface="Arial"/>
                <a:ea typeface="Arial"/>
                <a:cs typeface="Arial"/>
                <a:sym typeface="Arial"/>
              </a:rPr>
              <a:t>Can be </a:t>
            </a:r>
            <a:r>
              <a:rPr lang="en-US" sz="1400" b="1" i="0" u="none" strike="noStrike" cap="none">
                <a:solidFill>
                  <a:schemeClr val="accent2"/>
                </a:solidFill>
                <a:latin typeface="Arial"/>
                <a:ea typeface="Arial"/>
                <a:cs typeface="Arial"/>
                <a:sym typeface="Arial"/>
              </a:rPr>
              <a:t>centralized</a:t>
            </a:r>
            <a:r>
              <a:rPr lang="en-US" sz="1400" b="0" i="0" u="none" strike="noStrike" cap="none">
                <a:solidFill>
                  <a:schemeClr val="accent2"/>
                </a:solidFill>
                <a:latin typeface="Arial"/>
                <a:ea typeface="Arial"/>
                <a:cs typeface="Arial"/>
                <a:sym typeface="Arial"/>
              </a:rPr>
              <a:t> or </a:t>
            </a:r>
            <a:r>
              <a:rPr lang="en-US" sz="1400" b="1" i="0" u="none" strike="noStrike" cap="none">
                <a:solidFill>
                  <a:schemeClr val="accent2"/>
                </a:solidFill>
                <a:latin typeface="Arial"/>
                <a:ea typeface="Arial"/>
                <a:cs typeface="Arial"/>
                <a:sym typeface="Arial"/>
              </a:rPr>
              <a:t>distributed</a:t>
            </a:r>
            <a:r>
              <a:rPr lang="en-US" sz="1400" b="0" i="0" u="none" strike="noStrike" cap="none">
                <a:solidFill>
                  <a:schemeClr val="accent2"/>
                </a:solidFill>
                <a:latin typeface="Arial"/>
                <a:ea typeface="Arial"/>
                <a:cs typeface="Arial"/>
                <a:sym typeface="Arial"/>
              </a:rPr>
              <a:t> (resp. Tier0 or VLAN)</a:t>
            </a:r>
            <a:endParaRPr/>
          </a:p>
          <a:p>
            <a:pPr marL="0" marR="0" lvl="0" indent="-91440" algn="l" rtl="0">
              <a:lnSpc>
                <a:spcPct val="100000"/>
              </a:lnSpc>
              <a:spcBef>
                <a:spcPts val="1200"/>
              </a:spcBef>
              <a:spcAft>
                <a:spcPts val="0"/>
              </a:spcAft>
              <a:buClr>
                <a:srgbClr val="666666"/>
              </a:buClr>
              <a:buSzPts val="1440"/>
              <a:buFont typeface="Arial"/>
              <a:buChar char="​"/>
            </a:pPr>
            <a:r>
              <a:rPr lang="en-US" sz="1600" b="1">
                <a:solidFill>
                  <a:schemeClr val="accent2"/>
                </a:solidFill>
                <a:latin typeface="Arial"/>
                <a:ea typeface="Arial"/>
                <a:cs typeface="Arial"/>
                <a:sym typeface="Arial"/>
              </a:rPr>
              <a:t>Transit Gateway (TGW)</a:t>
            </a:r>
            <a:endParaRPr/>
          </a:p>
          <a:p>
            <a:pPr marL="457200" marR="0" lvl="1" indent="-184150" algn="l" rtl="0">
              <a:lnSpc>
                <a:spcPct val="100000"/>
              </a:lnSpc>
              <a:spcBef>
                <a:spcPts val="600"/>
              </a:spcBef>
              <a:spcAft>
                <a:spcPts val="0"/>
              </a:spcAft>
              <a:buClr>
                <a:schemeClr val="accent2"/>
              </a:buClr>
              <a:buSzPts val="1260"/>
              <a:buFont typeface="Arial"/>
              <a:buChar char="•"/>
            </a:pPr>
            <a:r>
              <a:rPr lang="en-US" sz="1400" b="0" i="0" u="none" strike="noStrike" cap="none">
                <a:solidFill>
                  <a:schemeClr val="accent2"/>
                </a:solidFill>
                <a:latin typeface="Arial"/>
                <a:ea typeface="Arial"/>
                <a:cs typeface="Arial"/>
                <a:sym typeface="Arial"/>
              </a:rPr>
              <a:t>Owned by the project admin</a:t>
            </a:r>
            <a:endParaRPr/>
          </a:p>
          <a:p>
            <a:pPr marL="457200" marR="0" lvl="1" indent="-184150" algn="l" rtl="0">
              <a:lnSpc>
                <a:spcPct val="100000"/>
              </a:lnSpc>
              <a:spcBef>
                <a:spcPts val="1200"/>
              </a:spcBef>
              <a:spcAft>
                <a:spcPts val="0"/>
              </a:spcAft>
              <a:buClr>
                <a:schemeClr val="accent2"/>
              </a:buClr>
              <a:buSzPts val="1260"/>
              <a:buFont typeface="Arial"/>
              <a:buChar char="•"/>
            </a:pPr>
            <a:r>
              <a:rPr lang="en-US" sz="1400" b="0" i="0" u="none" strike="noStrike" cap="none">
                <a:solidFill>
                  <a:schemeClr val="accent2"/>
                </a:solidFill>
                <a:latin typeface="Arial"/>
                <a:ea typeface="Arial"/>
                <a:cs typeface="Arial"/>
                <a:sym typeface="Arial"/>
              </a:rPr>
              <a:t>One per project today</a:t>
            </a:r>
            <a:endParaRPr/>
          </a:p>
          <a:p>
            <a:pPr marL="457200" marR="0" lvl="1" indent="-184150" algn="l" rtl="0">
              <a:lnSpc>
                <a:spcPct val="100000"/>
              </a:lnSpc>
              <a:spcBef>
                <a:spcPts val="1200"/>
              </a:spcBef>
              <a:spcAft>
                <a:spcPts val="0"/>
              </a:spcAft>
              <a:buClr>
                <a:schemeClr val="accent2"/>
              </a:buClr>
              <a:buSzPts val="1260"/>
              <a:buFont typeface="Arial"/>
              <a:buChar char="•"/>
            </a:pPr>
            <a:r>
              <a:rPr lang="en-US" sz="1400" b="0" i="0" u="none" strike="noStrike" cap="none">
                <a:solidFill>
                  <a:schemeClr val="accent2"/>
                </a:solidFill>
                <a:latin typeface="Arial"/>
                <a:ea typeface="Arial"/>
                <a:cs typeface="Arial"/>
                <a:sym typeface="Arial"/>
              </a:rPr>
              <a:t>Can be </a:t>
            </a:r>
            <a:r>
              <a:rPr lang="en-US" sz="1400" b="1" i="0" u="none" strike="noStrike" cap="none">
                <a:solidFill>
                  <a:schemeClr val="accent2"/>
                </a:solidFill>
                <a:latin typeface="Arial"/>
                <a:ea typeface="Arial"/>
                <a:cs typeface="Arial"/>
                <a:sym typeface="Arial"/>
              </a:rPr>
              <a:t>centralized</a:t>
            </a:r>
            <a:r>
              <a:rPr lang="en-US" sz="1400" b="0" i="0" u="none" strike="noStrike" cap="none">
                <a:solidFill>
                  <a:schemeClr val="accent2"/>
                </a:solidFill>
                <a:latin typeface="Arial"/>
                <a:ea typeface="Arial"/>
                <a:cs typeface="Arial"/>
                <a:sym typeface="Arial"/>
              </a:rPr>
              <a:t> or </a:t>
            </a:r>
            <a:r>
              <a:rPr lang="en-US" sz="1400" b="1" i="0" u="none" strike="noStrike" cap="none">
                <a:solidFill>
                  <a:schemeClr val="accent2"/>
                </a:solidFill>
                <a:latin typeface="Arial"/>
                <a:ea typeface="Arial"/>
                <a:cs typeface="Arial"/>
                <a:sym typeface="Arial"/>
              </a:rPr>
              <a:t>distributed</a:t>
            </a:r>
            <a:r>
              <a:rPr lang="en-US" sz="1400" b="0" i="0" u="none" strike="noStrike" cap="none">
                <a:solidFill>
                  <a:schemeClr val="accent2"/>
                </a:solidFill>
                <a:latin typeface="Arial"/>
                <a:ea typeface="Arial"/>
                <a:cs typeface="Arial"/>
                <a:sym typeface="Arial"/>
              </a:rPr>
              <a:t>, based on the external connection selected by the project admin for N/S connectivity</a:t>
            </a:r>
            <a:endParaRPr/>
          </a:p>
          <a:p>
            <a:pPr marL="0" marR="0" lvl="0" indent="-91440" algn="l" rtl="0">
              <a:lnSpc>
                <a:spcPct val="100000"/>
              </a:lnSpc>
              <a:spcBef>
                <a:spcPts val="1200"/>
              </a:spcBef>
              <a:spcAft>
                <a:spcPts val="0"/>
              </a:spcAft>
              <a:buClr>
                <a:srgbClr val="666666"/>
              </a:buClr>
              <a:buSzPts val="1440"/>
              <a:buFont typeface="Arial"/>
              <a:buChar char="​"/>
            </a:pPr>
            <a:r>
              <a:rPr lang="en-US" sz="1600" b="1">
                <a:solidFill>
                  <a:schemeClr val="accent2"/>
                </a:solidFill>
                <a:latin typeface="Arial"/>
                <a:ea typeface="Arial"/>
                <a:cs typeface="Arial"/>
                <a:sym typeface="Arial"/>
              </a:rPr>
              <a:t>Virtual Private Cloud Gateway (VPC GW)</a:t>
            </a:r>
            <a:endParaRPr/>
          </a:p>
          <a:p>
            <a:pPr marL="457200" marR="0" lvl="1" indent="-184150" algn="l" rtl="0">
              <a:lnSpc>
                <a:spcPct val="100000"/>
              </a:lnSpc>
              <a:spcBef>
                <a:spcPts val="600"/>
              </a:spcBef>
              <a:spcAft>
                <a:spcPts val="0"/>
              </a:spcAft>
              <a:buClr>
                <a:schemeClr val="accent2"/>
              </a:buClr>
              <a:buSzPts val="1260"/>
              <a:buFont typeface="Arial"/>
              <a:buChar char="•"/>
            </a:pPr>
            <a:r>
              <a:rPr lang="en-US" sz="1400" b="0" i="0" u="none" strike="noStrike" cap="none">
                <a:solidFill>
                  <a:schemeClr val="accent2"/>
                </a:solidFill>
                <a:latin typeface="Arial"/>
                <a:ea typeface="Arial"/>
                <a:cs typeface="Arial"/>
                <a:sym typeface="Arial"/>
              </a:rPr>
              <a:t>Local to a VPC</a:t>
            </a:r>
            <a:endParaRPr/>
          </a:p>
          <a:p>
            <a:pPr marL="457200" marR="0" lvl="1" indent="-184150" algn="l" rtl="0">
              <a:lnSpc>
                <a:spcPct val="100000"/>
              </a:lnSpc>
              <a:spcBef>
                <a:spcPts val="1200"/>
              </a:spcBef>
              <a:spcAft>
                <a:spcPts val="0"/>
              </a:spcAft>
              <a:buClr>
                <a:schemeClr val="accent2"/>
              </a:buClr>
              <a:buSzPts val="1260"/>
              <a:buFont typeface="Arial"/>
              <a:buChar char="•"/>
            </a:pPr>
            <a:r>
              <a:rPr lang="en-US" sz="1400" b="0" i="0" u="none" strike="noStrike" cap="none">
                <a:solidFill>
                  <a:schemeClr val="accent2"/>
                </a:solidFill>
                <a:latin typeface="Arial"/>
                <a:ea typeface="Arial"/>
                <a:cs typeface="Arial"/>
                <a:sym typeface="Arial"/>
              </a:rPr>
              <a:t>The transit gateway interconnects the VPC gateways within a project</a:t>
            </a:r>
            <a:endParaRPr/>
          </a:p>
        </p:txBody>
      </p:sp>
      <p:cxnSp>
        <p:nvCxnSpPr>
          <p:cNvPr id="6107" name="Google Shape;6107;p28"/>
          <p:cNvCxnSpPr/>
          <p:nvPr/>
        </p:nvCxnSpPr>
        <p:spPr>
          <a:xfrm rot="10800000">
            <a:off x="2098344" y="1939636"/>
            <a:ext cx="0" cy="117764"/>
          </a:xfrm>
          <a:prstGeom prst="straightConnector1">
            <a:avLst/>
          </a:prstGeom>
          <a:noFill/>
          <a:ln w="25400" cap="rnd" cmpd="sng">
            <a:solidFill>
              <a:srgbClr val="7F7F7F"/>
            </a:solidFill>
            <a:prstDash val="solid"/>
            <a:miter lim="800000"/>
            <a:headEnd type="none" w="sm" len="sm"/>
            <a:tailEnd type="none" w="sm" len="sm"/>
          </a:ln>
        </p:spPr>
      </p:cxnSp>
      <p:cxnSp>
        <p:nvCxnSpPr>
          <p:cNvPr id="6108" name="Google Shape;6108;p28"/>
          <p:cNvCxnSpPr/>
          <p:nvPr/>
        </p:nvCxnSpPr>
        <p:spPr>
          <a:xfrm rot="10800000">
            <a:off x="2785143" y="1939636"/>
            <a:ext cx="0" cy="117764"/>
          </a:xfrm>
          <a:prstGeom prst="straightConnector1">
            <a:avLst/>
          </a:prstGeom>
          <a:noFill/>
          <a:ln w="25400" cap="rnd" cmpd="sng">
            <a:solidFill>
              <a:srgbClr val="7F7F7F"/>
            </a:solidFill>
            <a:prstDash val="solid"/>
            <a:miter lim="800000"/>
            <a:headEnd type="none" w="sm" len="sm"/>
            <a:tailEnd type="none" w="sm" len="sm"/>
          </a:ln>
        </p:spPr>
      </p:cxnSp>
      <p:sp>
        <p:nvSpPr>
          <p:cNvPr id="6109" name="Google Shape;6109;p28"/>
          <p:cNvSpPr/>
          <p:nvPr/>
        </p:nvSpPr>
        <p:spPr>
          <a:xfrm rot="10800000" flipH="1">
            <a:off x="5180013" y="1589923"/>
            <a:ext cx="7020000"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cxnSp>
        <p:nvCxnSpPr>
          <p:cNvPr id="6110" name="Google Shape;6110;p28"/>
          <p:cNvCxnSpPr/>
          <p:nvPr/>
        </p:nvCxnSpPr>
        <p:spPr>
          <a:xfrm>
            <a:off x="2440566" y="3240157"/>
            <a:ext cx="0" cy="188843"/>
          </a:xfrm>
          <a:prstGeom prst="straightConnector1">
            <a:avLst/>
          </a:prstGeom>
          <a:noFill/>
          <a:ln w="25400" cap="rnd" cmpd="sng">
            <a:solidFill>
              <a:schemeClr val="accent4"/>
            </a:solidFill>
            <a:prstDash val="solid"/>
            <a:miter lim="800000"/>
            <a:headEnd type="none" w="sm" len="sm"/>
            <a:tailEnd type="none" w="sm" len="sm"/>
          </a:ln>
        </p:spPr>
      </p:cxnSp>
      <p:sp>
        <p:nvSpPr>
          <p:cNvPr id="6111" name="Google Shape;6111;p28"/>
          <p:cNvSpPr/>
          <p:nvPr/>
        </p:nvSpPr>
        <p:spPr>
          <a:xfrm flipH="1">
            <a:off x="608013" y="1600200"/>
            <a:ext cx="3657600" cy="359229"/>
          </a:xfrm>
          <a:prstGeom prst="round2SameRect">
            <a:avLst>
              <a:gd name="adj1" fmla="val 20630"/>
              <a:gd name="adj2" fmla="val 0"/>
            </a:avLst>
          </a:prstGeom>
          <a:solidFill>
            <a:srgbClr val="E8E8EA"/>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US" sz="1200" b="1" cap="none">
                <a:solidFill>
                  <a:srgbClr val="000000"/>
                </a:solidFill>
                <a:latin typeface="Arial"/>
                <a:ea typeface="Arial"/>
                <a:cs typeface="Arial"/>
                <a:sym typeface="Arial"/>
              </a:rPr>
              <a:t>PHYSICAL NETWORK</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9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0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0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0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09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6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06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116"/>
        <p:cNvGrpSpPr/>
        <p:nvPr/>
      </p:nvGrpSpPr>
      <p:grpSpPr>
        <a:xfrm>
          <a:off x="0" y="0"/>
          <a:ext cx="0" cy="0"/>
          <a:chOff x="0" y="0"/>
          <a:chExt cx="0" cy="0"/>
        </a:xfrm>
      </p:grpSpPr>
      <p:cxnSp>
        <p:nvCxnSpPr>
          <p:cNvPr id="6117" name="Google Shape;6117;p29"/>
          <p:cNvCxnSpPr/>
          <p:nvPr/>
        </p:nvCxnSpPr>
        <p:spPr>
          <a:xfrm rot="10800000">
            <a:off x="5401635" y="1939636"/>
            <a:ext cx="0" cy="117764"/>
          </a:xfrm>
          <a:prstGeom prst="straightConnector1">
            <a:avLst/>
          </a:prstGeom>
          <a:noFill/>
          <a:ln w="25400" cap="rnd" cmpd="sng">
            <a:solidFill>
              <a:srgbClr val="7F7F7F"/>
            </a:solidFill>
            <a:prstDash val="solid"/>
            <a:miter lim="800000"/>
            <a:headEnd type="none" w="sm" len="sm"/>
            <a:tailEnd type="none" w="sm" len="sm"/>
          </a:ln>
        </p:spPr>
      </p:cxnSp>
      <p:sp>
        <p:nvSpPr>
          <p:cNvPr id="6118" name="Google Shape;6118;p29"/>
          <p:cNvSpPr/>
          <p:nvPr/>
        </p:nvSpPr>
        <p:spPr>
          <a:xfrm rot="10800000" flipH="1">
            <a:off x="608013" y="2057400"/>
            <a:ext cx="7315200" cy="4114800"/>
          </a:xfrm>
          <a:prstGeom prst="round2SameRect">
            <a:avLst>
              <a:gd name="adj1" fmla="val 4543"/>
              <a:gd name="adj2" fmla="val 0"/>
            </a:avLst>
          </a:prstGeom>
          <a:solidFill>
            <a:schemeClr val="accent2">
              <a:alpha val="9803"/>
            </a:schemeClr>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1200" b="1" cap="none">
              <a:solidFill>
                <a:srgbClr val="000000"/>
              </a:solidFill>
              <a:latin typeface="Arial"/>
              <a:ea typeface="Arial"/>
              <a:cs typeface="Arial"/>
              <a:sym typeface="Arial"/>
            </a:endParaRPr>
          </a:p>
        </p:txBody>
      </p:sp>
      <p:sp>
        <p:nvSpPr>
          <p:cNvPr id="6119" name="Google Shape;6119;p29"/>
          <p:cNvSpPr/>
          <p:nvPr/>
        </p:nvSpPr>
        <p:spPr>
          <a:xfrm>
            <a:off x="2365085" y="2263537"/>
            <a:ext cx="1655999" cy="1800000"/>
          </a:xfrm>
          <a:prstGeom prst="roundRect">
            <a:avLst>
              <a:gd name="adj" fmla="val 6464"/>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0" rIns="91425" bIns="0" anchor="t"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sp>
        <p:nvSpPr>
          <p:cNvPr id="6120" name="Google Shape;6120;p29"/>
          <p:cNvSpPr/>
          <p:nvPr/>
        </p:nvSpPr>
        <p:spPr>
          <a:xfrm>
            <a:off x="4478745" y="2263536"/>
            <a:ext cx="1655999" cy="1800000"/>
          </a:xfrm>
          <a:prstGeom prst="roundRect">
            <a:avLst>
              <a:gd name="adj" fmla="val 4968"/>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0" rIns="91425" bIns="0" anchor="t"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grpSp>
        <p:nvGrpSpPr>
          <p:cNvPr id="6121" name="Google Shape;6121;p29"/>
          <p:cNvGrpSpPr/>
          <p:nvPr/>
        </p:nvGrpSpPr>
        <p:grpSpPr>
          <a:xfrm>
            <a:off x="825778" y="4292425"/>
            <a:ext cx="6859587" cy="1427743"/>
            <a:chOff x="612646" y="2971800"/>
            <a:chExt cx="6859587" cy="2829199"/>
          </a:xfrm>
        </p:grpSpPr>
        <p:sp>
          <p:nvSpPr>
            <p:cNvPr id="6122" name="Google Shape;6122;p29"/>
            <p:cNvSpPr/>
            <p:nvPr/>
          </p:nvSpPr>
          <p:spPr>
            <a:xfrm>
              <a:off x="612646" y="2971800"/>
              <a:ext cx="1371600" cy="2829199"/>
            </a:xfrm>
            <a:prstGeom prst="roundRect">
              <a:avLst>
                <a:gd name="adj" fmla="val 4189"/>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sp>
          <p:nvSpPr>
            <p:cNvPr id="6123" name="Google Shape;6123;p29"/>
            <p:cNvSpPr/>
            <p:nvPr/>
          </p:nvSpPr>
          <p:spPr>
            <a:xfrm>
              <a:off x="2436813" y="2971800"/>
              <a:ext cx="1371600" cy="2829199"/>
            </a:xfrm>
            <a:prstGeom prst="roundRect">
              <a:avLst>
                <a:gd name="adj" fmla="val 4902"/>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sp>
          <p:nvSpPr>
            <p:cNvPr id="6124" name="Google Shape;6124;p29"/>
            <p:cNvSpPr/>
            <p:nvPr/>
          </p:nvSpPr>
          <p:spPr>
            <a:xfrm>
              <a:off x="4268184" y="2971800"/>
              <a:ext cx="1371600" cy="2829199"/>
            </a:xfrm>
            <a:prstGeom prst="roundRect">
              <a:avLst>
                <a:gd name="adj" fmla="val 5615"/>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sp>
          <p:nvSpPr>
            <p:cNvPr id="6125" name="Google Shape;6125;p29"/>
            <p:cNvSpPr/>
            <p:nvPr/>
          </p:nvSpPr>
          <p:spPr>
            <a:xfrm>
              <a:off x="6100633" y="2971800"/>
              <a:ext cx="1371600" cy="2829199"/>
            </a:xfrm>
            <a:prstGeom prst="roundRect">
              <a:avLst>
                <a:gd name="adj" fmla="val 5259"/>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grpSp>
      <p:sp>
        <p:nvSpPr>
          <p:cNvPr id="6126" name="Google Shape;6126;p29"/>
          <p:cNvSpPr/>
          <p:nvPr/>
        </p:nvSpPr>
        <p:spPr>
          <a:xfrm>
            <a:off x="1523724" y="3752892"/>
            <a:ext cx="5911008" cy="982583"/>
          </a:xfrm>
          <a:prstGeom prst="roundRect">
            <a:avLst>
              <a:gd name="adj" fmla="val 16667"/>
            </a:avLst>
          </a:prstGeom>
          <a:noFill/>
          <a:ln w="9525" cap="flat" cmpd="sng">
            <a:solidFill>
              <a:schemeClr val="accent5"/>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6127" name="Google Shape;6127;p29"/>
          <p:cNvSpPr/>
          <p:nvPr/>
        </p:nvSpPr>
        <p:spPr>
          <a:xfrm>
            <a:off x="3057131" y="4624093"/>
            <a:ext cx="237601" cy="252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6128" name="Google Shape;6128;p29"/>
          <p:cNvSpPr/>
          <p:nvPr/>
        </p:nvSpPr>
        <p:spPr>
          <a:xfrm>
            <a:off x="4892485" y="4624093"/>
            <a:ext cx="237601" cy="252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6129" name="Google Shape;6129;p29"/>
          <p:cNvSpPr/>
          <p:nvPr/>
        </p:nvSpPr>
        <p:spPr>
          <a:xfrm>
            <a:off x="6718008" y="4624093"/>
            <a:ext cx="237601" cy="252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6130" name="Google Shape;6130;p2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External Connectivity with Centralized Services</a:t>
            </a:r>
            <a:endParaRPr/>
          </a:p>
        </p:txBody>
      </p:sp>
      <p:sp>
        <p:nvSpPr>
          <p:cNvPr id="6131" name="Google Shape;6131;p2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Centralized Transit Gateway</a:t>
            </a:r>
            <a:endParaRPr/>
          </a:p>
        </p:txBody>
      </p:sp>
      <p:sp>
        <p:nvSpPr>
          <p:cNvPr id="6132" name="Google Shape;6132;p29"/>
          <p:cNvSpPr txBox="1">
            <a:spLocks noGrp="1"/>
          </p:cNvSpPr>
          <p:nvPr>
            <p:ph type="body" idx="4294967295"/>
          </p:nvPr>
        </p:nvSpPr>
        <p:spPr>
          <a:xfrm>
            <a:off x="8380413" y="2057400"/>
            <a:ext cx="3808412" cy="4114800"/>
          </a:xfrm>
          <a:prstGeom prst="rect">
            <a:avLst/>
          </a:prstGeom>
          <a:noFill/>
          <a:ln>
            <a:noFill/>
          </a:ln>
        </p:spPr>
        <p:txBody>
          <a:bodyPr spcFirstLastPara="1" wrap="square" lIns="0" tIns="0" rIns="540000" bIns="0" anchor="t" anchorCtr="0">
            <a:noAutofit/>
          </a:bodyPr>
          <a:lstStyle/>
          <a:p>
            <a:pPr marL="180000" lvl="0" indent="0" algn="l" rtl="0">
              <a:lnSpc>
                <a:spcPct val="100000"/>
              </a:lnSpc>
              <a:spcBef>
                <a:spcPts val="0"/>
              </a:spcBef>
              <a:spcAft>
                <a:spcPts val="0"/>
              </a:spcAft>
              <a:buSzPts val="1440"/>
              <a:buNone/>
            </a:pPr>
            <a:r>
              <a:rPr lang="en-US" sz="1600">
                <a:solidFill>
                  <a:schemeClr val="accent2"/>
                </a:solidFill>
              </a:rPr>
              <a:t>When attached to a </a:t>
            </a:r>
            <a:r>
              <a:rPr lang="en-US" sz="1600" b="1">
                <a:solidFill>
                  <a:schemeClr val="accent2"/>
                </a:solidFill>
              </a:rPr>
              <a:t>centralized</a:t>
            </a:r>
            <a:r>
              <a:rPr lang="en-US" sz="1600">
                <a:solidFill>
                  <a:schemeClr val="accent2"/>
                </a:solidFill>
              </a:rPr>
              <a:t> external connection, the transit gateway has a component running on an NSX edge.</a:t>
            </a:r>
            <a:endParaRPr/>
          </a:p>
          <a:p>
            <a:pPr marL="180000" lvl="0" indent="-91440" algn="l" rtl="0">
              <a:lnSpc>
                <a:spcPct val="100000"/>
              </a:lnSpc>
              <a:spcBef>
                <a:spcPts val="600"/>
              </a:spcBef>
              <a:spcAft>
                <a:spcPts val="0"/>
              </a:spcAft>
              <a:buSzPts val="1440"/>
              <a:buChar char="​"/>
            </a:pPr>
            <a:r>
              <a:rPr lang="en-US" sz="1600">
                <a:solidFill>
                  <a:schemeClr val="accent2"/>
                </a:solidFill>
              </a:rPr>
              <a:t>NSX edges required for:</a:t>
            </a:r>
            <a:endParaRPr/>
          </a:p>
          <a:p>
            <a:pPr marL="540000" lvl="1" indent="-184149" algn="l" rtl="0">
              <a:lnSpc>
                <a:spcPct val="100000"/>
              </a:lnSpc>
              <a:spcBef>
                <a:spcPts val="1200"/>
              </a:spcBef>
              <a:spcAft>
                <a:spcPts val="0"/>
              </a:spcAft>
              <a:buClr>
                <a:schemeClr val="accent2"/>
              </a:buClr>
              <a:buSzPts val="1260"/>
              <a:buChar char="•"/>
            </a:pPr>
            <a:r>
              <a:rPr lang="en-US" sz="1400">
                <a:solidFill>
                  <a:schemeClr val="accent2"/>
                </a:solidFill>
              </a:rPr>
              <a:t>NAT</a:t>
            </a:r>
            <a:endParaRPr/>
          </a:p>
          <a:p>
            <a:pPr marL="540000" lvl="1" indent="-184149" algn="l" rtl="0">
              <a:lnSpc>
                <a:spcPct val="100000"/>
              </a:lnSpc>
              <a:spcBef>
                <a:spcPts val="1800"/>
              </a:spcBef>
              <a:spcAft>
                <a:spcPts val="0"/>
              </a:spcAft>
              <a:buClr>
                <a:schemeClr val="accent2"/>
              </a:buClr>
              <a:buSzPts val="1260"/>
              <a:buChar char="•"/>
            </a:pPr>
            <a:r>
              <a:rPr lang="en-US" sz="1400">
                <a:solidFill>
                  <a:schemeClr val="accent2"/>
                </a:solidFill>
              </a:rPr>
              <a:t>DHCP</a:t>
            </a:r>
            <a:endParaRPr/>
          </a:p>
          <a:p>
            <a:pPr marL="540000" lvl="1" indent="-184149" algn="l" rtl="0">
              <a:lnSpc>
                <a:spcPct val="100000"/>
              </a:lnSpc>
              <a:spcBef>
                <a:spcPts val="1800"/>
              </a:spcBef>
              <a:spcAft>
                <a:spcPts val="0"/>
              </a:spcAft>
              <a:buClr>
                <a:schemeClr val="accent2"/>
              </a:buClr>
              <a:buSzPts val="1260"/>
              <a:buChar char="•"/>
            </a:pPr>
            <a:r>
              <a:rPr lang="en-US" sz="1400">
                <a:solidFill>
                  <a:schemeClr val="accent2"/>
                </a:solidFill>
              </a:rPr>
              <a:t>QoS profiles</a:t>
            </a:r>
            <a:endParaRPr/>
          </a:p>
          <a:p>
            <a:pPr marL="540000" lvl="1" indent="-184149" algn="l" rtl="0">
              <a:lnSpc>
                <a:spcPct val="100000"/>
              </a:lnSpc>
              <a:spcBef>
                <a:spcPts val="1800"/>
              </a:spcBef>
              <a:spcAft>
                <a:spcPts val="0"/>
              </a:spcAft>
              <a:buClr>
                <a:schemeClr val="accent2"/>
              </a:buClr>
              <a:buSzPts val="1260"/>
              <a:buChar char="•"/>
            </a:pPr>
            <a:r>
              <a:rPr lang="en-US" sz="1400">
                <a:solidFill>
                  <a:schemeClr val="accent2"/>
                </a:solidFill>
              </a:rPr>
              <a:t>Gateway firewall (with license)</a:t>
            </a:r>
            <a:endParaRPr/>
          </a:p>
          <a:p>
            <a:pPr marL="540000" lvl="1" indent="-184149" algn="l" rtl="0">
              <a:lnSpc>
                <a:spcPct val="100000"/>
              </a:lnSpc>
              <a:spcBef>
                <a:spcPts val="1800"/>
              </a:spcBef>
              <a:spcAft>
                <a:spcPts val="0"/>
              </a:spcAft>
              <a:buClr>
                <a:schemeClr val="accent2"/>
              </a:buClr>
              <a:buSzPts val="1260"/>
              <a:buChar char="•"/>
            </a:pPr>
            <a:r>
              <a:rPr lang="en-US" sz="1400">
                <a:solidFill>
                  <a:schemeClr val="accent2"/>
                </a:solidFill>
              </a:rPr>
              <a:t>Supervisor cluster and VCF automation modern experience</a:t>
            </a:r>
            <a:endParaRPr/>
          </a:p>
        </p:txBody>
      </p:sp>
      <p:sp>
        <p:nvSpPr>
          <p:cNvPr id="6133" name="Google Shape;6133;p29"/>
          <p:cNvSpPr txBox="1"/>
          <p:nvPr/>
        </p:nvSpPr>
        <p:spPr>
          <a:xfrm>
            <a:off x="2765169" y="2461982"/>
            <a:ext cx="902735"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2"/>
                </a:solidFill>
                <a:latin typeface="Arial"/>
                <a:ea typeface="Arial"/>
                <a:cs typeface="Arial"/>
                <a:sym typeface="Arial"/>
              </a:rPr>
              <a:t>Tier0</a:t>
            </a:r>
            <a:endParaRPr/>
          </a:p>
          <a:p>
            <a:pPr marL="0" marR="0" lvl="0" indent="0" algn="l" rtl="0">
              <a:spcBef>
                <a:spcPts val="0"/>
              </a:spcBef>
              <a:spcAft>
                <a:spcPts val="0"/>
              </a:spcAft>
              <a:buNone/>
            </a:pPr>
            <a:r>
              <a:rPr lang="en-US" sz="1000">
                <a:solidFill>
                  <a:schemeClr val="accent2"/>
                </a:solidFill>
                <a:latin typeface="Arial"/>
                <a:ea typeface="Arial"/>
                <a:cs typeface="Arial"/>
                <a:sym typeface="Arial"/>
              </a:rPr>
              <a:t>Gateway</a:t>
            </a:r>
            <a:endParaRPr/>
          </a:p>
        </p:txBody>
      </p:sp>
      <p:sp>
        <p:nvSpPr>
          <p:cNvPr id="6134" name="Google Shape;6134;p29"/>
          <p:cNvSpPr/>
          <p:nvPr/>
        </p:nvSpPr>
        <p:spPr>
          <a:xfrm>
            <a:off x="3304239" y="2339738"/>
            <a:ext cx="540000" cy="540000"/>
          </a:xfrm>
          <a:custGeom>
            <a:avLst/>
            <a:gdLst/>
            <a:ahLst/>
            <a:cxnLst/>
            <a:rect l="l" t="t" r="r" b="b"/>
            <a:pathLst>
              <a:path w="3411855" h="3411855" extrusionOk="0">
                <a:moveTo>
                  <a:pt x="1616141" y="2365151"/>
                </a:moveTo>
                <a:lnTo>
                  <a:pt x="1795712" y="2365151"/>
                </a:lnTo>
                <a:lnTo>
                  <a:pt x="1795712" y="2702754"/>
                </a:lnTo>
                <a:lnTo>
                  <a:pt x="1947657" y="2702754"/>
                </a:lnTo>
                <a:lnTo>
                  <a:pt x="1705927" y="3121293"/>
                </a:lnTo>
                <a:lnTo>
                  <a:pt x="1464196" y="2702754"/>
                </a:lnTo>
                <a:lnTo>
                  <a:pt x="1616141" y="2702754"/>
                </a:lnTo>
                <a:close/>
                <a:moveTo>
                  <a:pt x="1943213" y="1472645"/>
                </a:moveTo>
                <a:cubicBezTo>
                  <a:pt x="1909685" y="1472645"/>
                  <a:pt x="1879790" y="1482703"/>
                  <a:pt x="1853526" y="1502820"/>
                </a:cubicBezTo>
                <a:cubicBezTo>
                  <a:pt x="1827262" y="1522937"/>
                  <a:pt x="1806726" y="1551017"/>
                  <a:pt x="1791918" y="1587059"/>
                </a:cubicBezTo>
                <a:cubicBezTo>
                  <a:pt x="1777110" y="1623102"/>
                  <a:pt x="1769706" y="1664034"/>
                  <a:pt x="1769706" y="1709855"/>
                </a:cubicBezTo>
                <a:cubicBezTo>
                  <a:pt x="1769706" y="1755677"/>
                  <a:pt x="1777110" y="1796609"/>
                  <a:pt x="1791918" y="1832652"/>
                </a:cubicBezTo>
                <a:cubicBezTo>
                  <a:pt x="1806726" y="1868694"/>
                  <a:pt x="1827262" y="1896914"/>
                  <a:pt x="1853526" y="1917310"/>
                </a:cubicBezTo>
                <a:cubicBezTo>
                  <a:pt x="1879790" y="1937706"/>
                  <a:pt x="1909685" y="1947904"/>
                  <a:pt x="1943213" y="1947904"/>
                </a:cubicBezTo>
                <a:cubicBezTo>
                  <a:pt x="1976741" y="1947904"/>
                  <a:pt x="2006637" y="1937706"/>
                  <a:pt x="2032901" y="1917310"/>
                </a:cubicBezTo>
                <a:cubicBezTo>
                  <a:pt x="2059164" y="1896914"/>
                  <a:pt x="2079561" y="1868694"/>
                  <a:pt x="2094089" y="1832652"/>
                </a:cubicBezTo>
                <a:cubicBezTo>
                  <a:pt x="2108618" y="1796609"/>
                  <a:pt x="2115883" y="1755677"/>
                  <a:pt x="2115883" y="1709855"/>
                </a:cubicBezTo>
                <a:cubicBezTo>
                  <a:pt x="2115883" y="1664034"/>
                  <a:pt x="2108618" y="1623102"/>
                  <a:pt x="2094089" y="1587059"/>
                </a:cubicBezTo>
                <a:cubicBezTo>
                  <a:pt x="2079561" y="1551017"/>
                  <a:pt x="2059164" y="1522937"/>
                  <a:pt x="2032901" y="1502820"/>
                </a:cubicBezTo>
                <a:cubicBezTo>
                  <a:pt x="2006637" y="1482703"/>
                  <a:pt x="1976741" y="1472645"/>
                  <a:pt x="1943213" y="1472645"/>
                </a:cubicBezTo>
                <a:close/>
                <a:moveTo>
                  <a:pt x="2786046" y="1464196"/>
                </a:moveTo>
                <a:lnTo>
                  <a:pt x="2786046" y="1616141"/>
                </a:lnTo>
                <a:lnTo>
                  <a:pt x="3123649" y="1616141"/>
                </a:lnTo>
                <a:lnTo>
                  <a:pt x="3123649" y="1795712"/>
                </a:lnTo>
                <a:lnTo>
                  <a:pt x="2786046" y="1795712"/>
                </a:lnTo>
                <a:lnTo>
                  <a:pt x="2786046" y="1947657"/>
                </a:lnTo>
                <a:lnTo>
                  <a:pt x="2367507" y="1705927"/>
                </a:lnTo>
                <a:close/>
                <a:moveTo>
                  <a:pt x="609184" y="1464195"/>
                </a:moveTo>
                <a:lnTo>
                  <a:pt x="1027723" y="1705925"/>
                </a:lnTo>
                <a:lnTo>
                  <a:pt x="609184" y="1947656"/>
                </a:lnTo>
                <a:lnTo>
                  <a:pt x="609184" y="1795711"/>
                </a:lnTo>
                <a:lnTo>
                  <a:pt x="271581" y="1795711"/>
                </a:lnTo>
                <a:lnTo>
                  <a:pt x="271581" y="1616140"/>
                </a:lnTo>
                <a:lnTo>
                  <a:pt x="609184" y="1616140"/>
                </a:lnTo>
                <a:close/>
                <a:moveTo>
                  <a:pt x="1178851" y="1422353"/>
                </a:moveTo>
                <a:lnTo>
                  <a:pt x="1631479" y="1422353"/>
                </a:lnTo>
                <a:lnTo>
                  <a:pt x="1631479" y="1484380"/>
                </a:lnTo>
                <a:lnTo>
                  <a:pt x="1437855" y="1484380"/>
                </a:lnTo>
                <a:lnTo>
                  <a:pt x="1437855" y="1998196"/>
                </a:lnTo>
                <a:lnTo>
                  <a:pt x="1372475" y="1998196"/>
                </a:lnTo>
                <a:lnTo>
                  <a:pt x="1372475" y="1484380"/>
                </a:lnTo>
                <a:lnTo>
                  <a:pt x="1178851" y="1484380"/>
                </a:lnTo>
                <a:close/>
                <a:moveTo>
                  <a:pt x="1943213" y="1412294"/>
                </a:moveTo>
                <a:cubicBezTo>
                  <a:pt x="1989035" y="1412294"/>
                  <a:pt x="2030107" y="1425007"/>
                  <a:pt x="2066429" y="1450433"/>
                </a:cubicBezTo>
                <a:cubicBezTo>
                  <a:pt x="2102751" y="1475858"/>
                  <a:pt x="2131110" y="1511063"/>
                  <a:pt x="2151506" y="1556046"/>
                </a:cubicBezTo>
                <a:cubicBezTo>
                  <a:pt x="2171902" y="1601029"/>
                  <a:pt x="2182100" y="1652299"/>
                  <a:pt x="2182100" y="1709855"/>
                </a:cubicBezTo>
                <a:cubicBezTo>
                  <a:pt x="2182100" y="1767412"/>
                  <a:pt x="2171902" y="1818821"/>
                  <a:pt x="2151506" y="1864084"/>
                </a:cubicBezTo>
                <a:cubicBezTo>
                  <a:pt x="2131110" y="1909347"/>
                  <a:pt x="2102890" y="1944691"/>
                  <a:pt x="2066848" y="1970116"/>
                </a:cubicBezTo>
                <a:cubicBezTo>
                  <a:pt x="2030805" y="1995542"/>
                  <a:pt x="1989594" y="2008254"/>
                  <a:pt x="1943213" y="2008254"/>
                </a:cubicBezTo>
                <a:cubicBezTo>
                  <a:pt x="1896833" y="2008254"/>
                  <a:pt x="1855482" y="1995542"/>
                  <a:pt x="1819160" y="1970116"/>
                </a:cubicBezTo>
                <a:cubicBezTo>
                  <a:pt x="1782838" y="1944691"/>
                  <a:pt x="1754479" y="1909347"/>
                  <a:pt x="1734082" y="1864084"/>
                </a:cubicBezTo>
                <a:cubicBezTo>
                  <a:pt x="1713686" y="1818821"/>
                  <a:pt x="1703488" y="1767412"/>
                  <a:pt x="1703488" y="1709855"/>
                </a:cubicBezTo>
                <a:cubicBezTo>
                  <a:pt x="1703488" y="1652299"/>
                  <a:pt x="1713686" y="1601029"/>
                  <a:pt x="1734082" y="1556046"/>
                </a:cubicBezTo>
                <a:cubicBezTo>
                  <a:pt x="1754479" y="1511063"/>
                  <a:pt x="1782838" y="1475858"/>
                  <a:pt x="1819160" y="1450433"/>
                </a:cubicBezTo>
                <a:cubicBezTo>
                  <a:pt x="1855482" y="1425007"/>
                  <a:pt x="1896833" y="1412294"/>
                  <a:pt x="1943213" y="1412294"/>
                </a:cubicBezTo>
                <a:close/>
                <a:moveTo>
                  <a:pt x="1705927" y="290561"/>
                </a:moveTo>
                <a:lnTo>
                  <a:pt x="1947657" y="709100"/>
                </a:lnTo>
                <a:lnTo>
                  <a:pt x="1795712" y="709100"/>
                </a:lnTo>
                <a:lnTo>
                  <a:pt x="1795712" y="1046703"/>
                </a:lnTo>
                <a:lnTo>
                  <a:pt x="1616141" y="1046703"/>
                </a:lnTo>
                <a:lnTo>
                  <a:pt x="1616141" y="709100"/>
                </a:lnTo>
                <a:lnTo>
                  <a:pt x="1464196" y="709100"/>
                </a:lnTo>
                <a:close/>
                <a:moveTo>
                  <a:pt x="1705927" y="89786"/>
                </a:moveTo>
                <a:cubicBezTo>
                  <a:pt x="814701" y="89786"/>
                  <a:pt x="89786" y="814701"/>
                  <a:pt x="89786" y="1705928"/>
                </a:cubicBezTo>
                <a:cubicBezTo>
                  <a:pt x="89786" y="2597154"/>
                  <a:pt x="814701" y="3322069"/>
                  <a:pt x="1705927" y="3322069"/>
                </a:cubicBezTo>
                <a:cubicBezTo>
                  <a:pt x="2597154" y="3322069"/>
                  <a:pt x="3322069" y="2597154"/>
                  <a:pt x="3322069" y="1705928"/>
                </a:cubicBezTo>
                <a:cubicBezTo>
                  <a:pt x="3322069" y="814701"/>
                  <a:pt x="2597154" y="89786"/>
                  <a:pt x="1705927" y="89786"/>
                </a:cubicBezTo>
                <a:close/>
                <a:moveTo>
                  <a:pt x="1705927" y="0"/>
                </a:moveTo>
                <a:cubicBezTo>
                  <a:pt x="2647986" y="0"/>
                  <a:pt x="3411855" y="763869"/>
                  <a:pt x="3411855" y="1705928"/>
                </a:cubicBezTo>
                <a:cubicBezTo>
                  <a:pt x="3411855" y="2647986"/>
                  <a:pt x="2647986" y="3411855"/>
                  <a:pt x="1705927" y="3411855"/>
                </a:cubicBezTo>
                <a:cubicBezTo>
                  <a:pt x="763869" y="3411855"/>
                  <a:pt x="0" y="2647986"/>
                  <a:pt x="0" y="1705928"/>
                </a:cubicBezTo>
                <a:cubicBezTo>
                  <a:pt x="0" y="763869"/>
                  <a:pt x="763869" y="0"/>
                  <a:pt x="1705927"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6000">
              <a:solidFill>
                <a:schemeClr val="dk1"/>
              </a:solidFill>
              <a:latin typeface="Arial"/>
              <a:ea typeface="Arial"/>
              <a:cs typeface="Arial"/>
              <a:sym typeface="Arial"/>
            </a:endParaRPr>
          </a:p>
        </p:txBody>
      </p:sp>
      <p:cxnSp>
        <p:nvCxnSpPr>
          <p:cNvPr id="6135" name="Google Shape;6135;p29"/>
          <p:cNvCxnSpPr/>
          <p:nvPr/>
        </p:nvCxnSpPr>
        <p:spPr>
          <a:xfrm rot="10800000">
            <a:off x="3570290" y="2057400"/>
            <a:ext cx="0" cy="276726"/>
          </a:xfrm>
          <a:prstGeom prst="straightConnector1">
            <a:avLst/>
          </a:prstGeom>
          <a:noFill/>
          <a:ln w="25400" cap="rnd" cmpd="sng">
            <a:solidFill>
              <a:schemeClr val="accent2"/>
            </a:solidFill>
            <a:prstDash val="solid"/>
            <a:miter lim="800000"/>
            <a:headEnd type="none" w="sm" len="sm"/>
            <a:tailEnd type="none" w="sm" len="sm"/>
          </a:ln>
        </p:spPr>
      </p:cxnSp>
      <p:cxnSp>
        <p:nvCxnSpPr>
          <p:cNvPr id="6136" name="Google Shape;6136;p29"/>
          <p:cNvCxnSpPr/>
          <p:nvPr/>
        </p:nvCxnSpPr>
        <p:spPr>
          <a:xfrm rot="10800000">
            <a:off x="3570290" y="1939636"/>
            <a:ext cx="0" cy="117764"/>
          </a:xfrm>
          <a:prstGeom prst="straightConnector1">
            <a:avLst/>
          </a:prstGeom>
          <a:noFill/>
          <a:ln w="25400" cap="rnd" cmpd="sng">
            <a:solidFill>
              <a:srgbClr val="7F7F7F"/>
            </a:solidFill>
            <a:prstDash val="solid"/>
            <a:miter lim="800000"/>
            <a:headEnd type="none" w="sm" len="sm"/>
            <a:tailEnd type="none" w="sm" len="sm"/>
          </a:ln>
        </p:spPr>
      </p:cxnSp>
      <p:sp>
        <p:nvSpPr>
          <p:cNvPr id="6137" name="Google Shape;6137;p29"/>
          <p:cNvSpPr/>
          <p:nvPr/>
        </p:nvSpPr>
        <p:spPr>
          <a:xfrm>
            <a:off x="5134085" y="3151000"/>
            <a:ext cx="541238" cy="540000"/>
          </a:xfrm>
          <a:custGeom>
            <a:avLst/>
            <a:gdLst/>
            <a:ahLst/>
            <a:cxnLst/>
            <a:rect l="l" t="t" r="r" b="b"/>
            <a:pathLst>
              <a:path w="1139359" h="1139359" extrusionOk="0">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138" name="Google Shape;6138;p29"/>
          <p:cNvCxnSpPr/>
          <p:nvPr/>
        </p:nvCxnSpPr>
        <p:spPr>
          <a:xfrm rot="10800000">
            <a:off x="5401635" y="2057400"/>
            <a:ext cx="0" cy="276726"/>
          </a:xfrm>
          <a:prstGeom prst="straightConnector1">
            <a:avLst/>
          </a:prstGeom>
          <a:noFill/>
          <a:ln w="25400" cap="rnd" cmpd="sng">
            <a:solidFill>
              <a:schemeClr val="accent2"/>
            </a:solidFill>
            <a:prstDash val="solid"/>
            <a:miter lim="800000"/>
            <a:headEnd type="none" w="sm" len="sm"/>
            <a:tailEnd type="none" w="sm" len="sm"/>
          </a:ln>
        </p:spPr>
      </p:cxnSp>
      <p:sp>
        <p:nvSpPr>
          <p:cNvPr id="6139" name="Google Shape;6139;p29"/>
          <p:cNvSpPr/>
          <p:nvPr/>
        </p:nvSpPr>
        <p:spPr>
          <a:xfrm>
            <a:off x="5131072" y="2339738"/>
            <a:ext cx="540000" cy="540000"/>
          </a:xfrm>
          <a:custGeom>
            <a:avLst/>
            <a:gdLst/>
            <a:ahLst/>
            <a:cxnLst/>
            <a:rect l="l" t="t" r="r" b="b"/>
            <a:pathLst>
              <a:path w="3411855" h="3411855" extrusionOk="0">
                <a:moveTo>
                  <a:pt x="1616141" y="2365151"/>
                </a:moveTo>
                <a:lnTo>
                  <a:pt x="1795712" y="2365151"/>
                </a:lnTo>
                <a:lnTo>
                  <a:pt x="1795712" y="2702754"/>
                </a:lnTo>
                <a:lnTo>
                  <a:pt x="1947657" y="2702754"/>
                </a:lnTo>
                <a:lnTo>
                  <a:pt x="1705927" y="3121293"/>
                </a:lnTo>
                <a:lnTo>
                  <a:pt x="1464196" y="2702754"/>
                </a:lnTo>
                <a:lnTo>
                  <a:pt x="1616141" y="2702754"/>
                </a:lnTo>
                <a:close/>
                <a:moveTo>
                  <a:pt x="1943213" y="1472645"/>
                </a:moveTo>
                <a:cubicBezTo>
                  <a:pt x="1909685" y="1472645"/>
                  <a:pt x="1879790" y="1482703"/>
                  <a:pt x="1853526" y="1502820"/>
                </a:cubicBezTo>
                <a:cubicBezTo>
                  <a:pt x="1827262" y="1522937"/>
                  <a:pt x="1806726" y="1551017"/>
                  <a:pt x="1791918" y="1587059"/>
                </a:cubicBezTo>
                <a:cubicBezTo>
                  <a:pt x="1777110" y="1623102"/>
                  <a:pt x="1769706" y="1664034"/>
                  <a:pt x="1769706" y="1709855"/>
                </a:cubicBezTo>
                <a:cubicBezTo>
                  <a:pt x="1769706" y="1755677"/>
                  <a:pt x="1777110" y="1796609"/>
                  <a:pt x="1791918" y="1832652"/>
                </a:cubicBezTo>
                <a:cubicBezTo>
                  <a:pt x="1806726" y="1868694"/>
                  <a:pt x="1827262" y="1896914"/>
                  <a:pt x="1853526" y="1917310"/>
                </a:cubicBezTo>
                <a:cubicBezTo>
                  <a:pt x="1879790" y="1937706"/>
                  <a:pt x="1909685" y="1947904"/>
                  <a:pt x="1943213" y="1947904"/>
                </a:cubicBezTo>
                <a:cubicBezTo>
                  <a:pt x="1976741" y="1947904"/>
                  <a:pt x="2006637" y="1937706"/>
                  <a:pt x="2032901" y="1917310"/>
                </a:cubicBezTo>
                <a:cubicBezTo>
                  <a:pt x="2059164" y="1896914"/>
                  <a:pt x="2079561" y="1868694"/>
                  <a:pt x="2094089" y="1832652"/>
                </a:cubicBezTo>
                <a:cubicBezTo>
                  <a:pt x="2108618" y="1796609"/>
                  <a:pt x="2115883" y="1755677"/>
                  <a:pt x="2115883" y="1709855"/>
                </a:cubicBezTo>
                <a:cubicBezTo>
                  <a:pt x="2115883" y="1664034"/>
                  <a:pt x="2108618" y="1623102"/>
                  <a:pt x="2094089" y="1587059"/>
                </a:cubicBezTo>
                <a:cubicBezTo>
                  <a:pt x="2079561" y="1551017"/>
                  <a:pt x="2059164" y="1522937"/>
                  <a:pt x="2032901" y="1502820"/>
                </a:cubicBezTo>
                <a:cubicBezTo>
                  <a:pt x="2006637" y="1482703"/>
                  <a:pt x="1976741" y="1472645"/>
                  <a:pt x="1943213" y="1472645"/>
                </a:cubicBezTo>
                <a:close/>
                <a:moveTo>
                  <a:pt x="2786046" y="1464196"/>
                </a:moveTo>
                <a:lnTo>
                  <a:pt x="2786046" y="1616141"/>
                </a:lnTo>
                <a:lnTo>
                  <a:pt x="3123649" y="1616141"/>
                </a:lnTo>
                <a:lnTo>
                  <a:pt x="3123649" y="1795712"/>
                </a:lnTo>
                <a:lnTo>
                  <a:pt x="2786046" y="1795712"/>
                </a:lnTo>
                <a:lnTo>
                  <a:pt x="2786046" y="1947657"/>
                </a:lnTo>
                <a:lnTo>
                  <a:pt x="2367507" y="1705927"/>
                </a:lnTo>
                <a:close/>
                <a:moveTo>
                  <a:pt x="609184" y="1464195"/>
                </a:moveTo>
                <a:lnTo>
                  <a:pt x="1027723" y="1705925"/>
                </a:lnTo>
                <a:lnTo>
                  <a:pt x="609184" y="1947656"/>
                </a:lnTo>
                <a:lnTo>
                  <a:pt x="609184" y="1795711"/>
                </a:lnTo>
                <a:lnTo>
                  <a:pt x="271581" y="1795711"/>
                </a:lnTo>
                <a:lnTo>
                  <a:pt x="271581" y="1616140"/>
                </a:lnTo>
                <a:lnTo>
                  <a:pt x="609184" y="1616140"/>
                </a:lnTo>
                <a:close/>
                <a:moveTo>
                  <a:pt x="1178851" y="1422353"/>
                </a:moveTo>
                <a:lnTo>
                  <a:pt x="1631479" y="1422353"/>
                </a:lnTo>
                <a:lnTo>
                  <a:pt x="1631479" y="1484380"/>
                </a:lnTo>
                <a:lnTo>
                  <a:pt x="1437855" y="1484380"/>
                </a:lnTo>
                <a:lnTo>
                  <a:pt x="1437855" y="1998196"/>
                </a:lnTo>
                <a:lnTo>
                  <a:pt x="1372475" y="1998196"/>
                </a:lnTo>
                <a:lnTo>
                  <a:pt x="1372475" y="1484380"/>
                </a:lnTo>
                <a:lnTo>
                  <a:pt x="1178851" y="1484380"/>
                </a:lnTo>
                <a:close/>
                <a:moveTo>
                  <a:pt x="1943213" y="1412294"/>
                </a:moveTo>
                <a:cubicBezTo>
                  <a:pt x="1989035" y="1412294"/>
                  <a:pt x="2030107" y="1425007"/>
                  <a:pt x="2066429" y="1450433"/>
                </a:cubicBezTo>
                <a:cubicBezTo>
                  <a:pt x="2102751" y="1475858"/>
                  <a:pt x="2131110" y="1511063"/>
                  <a:pt x="2151506" y="1556046"/>
                </a:cubicBezTo>
                <a:cubicBezTo>
                  <a:pt x="2171902" y="1601029"/>
                  <a:pt x="2182100" y="1652299"/>
                  <a:pt x="2182100" y="1709855"/>
                </a:cubicBezTo>
                <a:cubicBezTo>
                  <a:pt x="2182100" y="1767412"/>
                  <a:pt x="2171902" y="1818821"/>
                  <a:pt x="2151506" y="1864084"/>
                </a:cubicBezTo>
                <a:cubicBezTo>
                  <a:pt x="2131110" y="1909347"/>
                  <a:pt x="2102890" y="1944691"/>
                  <a:pt x="2066848" y="1970116"/>
                </a:cubicBezTo>
                <a:cubicBezTo>
                  <a:pt x="2030805" y="1995542"/>
                  <a:pt x="1989594" y="2008254"/>
                  <a:pt x="1943213" y="2008254"/>
                </a:cubicBezTo>
                <a:cubicBezTo>
                  <a:pt x="1896833" y="2008254"/>
                  <a:pt x="1855482" y="1995542"/>
                  <a:pt x="1819160" y="1970116"/>
                </a:cubicBezTo>
                <a:cubicBezTo>
                  <a:pt x="1782838" y="1944691"/>
                  <a:pt x="1754479" y="1909347"/>
                  <a:pt x="1734082" y="1864084"/>
                </a:cubicBezTo>
                <a:cubicBezTo>
                  <a:pt x="1713686" y="1818821"/>
                  <a:pt x="1703488" y="1767412"/>
                  <a:pt x="1703488" y="1709855"/>
                </a:cubicBezTo>
                <a:cubicBezTo>
                  <a:pt x="1703488" y="1652299"/>
                  <a:pt x="1713686" y="1601029"/>
                  <a:pt x="1734082" y="1556046"/>
                </a:cubicBezTo>
                <a:cubicBezTo>
                  <a:pt x="1754479" y="1511063"/>
                  <a:pt x="1782838" y="1475858"/>
                  <a:pt x="1819160" y="1450433"/>
                </a:cubicBezTo>
                <a:cubicBezTo>
                  <a:pt x="1855482" y="1425007"/>
                  <a:pt x="1896833" y="1412294"/>
                  <a:pt x="1943213" y="1412294"/>
                </a:cubicBezTo>
                <a:close/>
                <a:moveTo>
                  <a:pt x="1705927" y="290561"/>
                </a:moveTo>
                <a:lnTo>
                  <a:pt x="1947657" y="709100"/>
                </a:lnTo>
                <a:lnTo>
                  <a:pt x="1795712" y="709100"/>
                </a:lnTo>
                <a:lnTo>
                  <a:pt x="1795712" y="1046703"/>
                </a:lnTo>
                <a:lnTo>
                  <a:pt x="1616141" y="1046703"/>
                </a:lnTo>
                <a:lnTo>
                  <a:pt x="1616141" y="709100"/>
                </a:lnTo>
                <a:lnTo>
                  <a:pt x="1464196" y="709100"/>
                </a:lnTo>
                <a:close/>
                <a:moveTo>
                  <a:pt x="1705927" y="89786"/>
                </a:moveTo>
                <a:cubicBezTo>
                  <a:pt x="814701" y="89786"/>
                  <a:pt x="89786" y="814701"/>
                  <a:pt x="89786" y="1705928"/>
                </a:cubicBezTo>
                <a:cubicBezTo>
                  <a:pt x="89786" y="2597154"/>
                  <a:pt x="814701" y="3322069"/>
                  <a:pt x="1705927" y="3322069"/>
                </a:cubicBezTo>
                <a:cubicBezTo>
                  <a:pt x="2597154" y="3322069"/>
                  <a:pt x="3322069" y="2597154"/>
                  <a:pt x="3322069" y="1705928"/>
                </a:cubicBezTo>
                <a:cubicBezTo>
                  <a:pt x="3322069" y="814701"/>
                  <a:pt x="2597154" y="89786"/>
                  <a:pt x="1705927" y="89786"/>
                </a:cubicBezTo>
                <a:close/>
                <a:moveTo>
                  <a:pt x="1705927" y="0"/>
                </a:moveTo>
                <a:cubicBezTo>
                  <a:pt x="2647986" y="0"/>
                  <a:pt x="3411855" y="763869"/>
                  <a:pt x="3411855" y="1705928"/>
                </a:cubicBezTo>
                <a:cubicBezTo>
                  <a:pt x="3411855" y="2647986"/>
                  <a:pt x="2647986" y="3411855"/>
                  <a:pt x="1705927" y="3411855"/>
                </a:cubicBezTo>
                <a:cubicBezTo>
                  <a:pt x="763869" y="3411855"/>
                  <a:pt x="0" y="2647986"/>
                  <a:pt x="0" y="1705928"/>
                </a:cubicBezTo>
                <a:cubicBezTo>
                  <a:pt x="0" y="763869"/>
                  <a:pt x="763869" y="0"/>
                  <a:pt x="1705927"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6000">
              <a:solidFill>
                <a:schemeClr val="dk1"/>
              </a:solidFill>
              <a:latin typeface="Arial"/>
              <a:ea typeface="Arial"/>
              <a:cs typeface="Arial"/>
              <a:sym typeface="Arial"/>
            </a:endParaRPr>
          </a:p>
        </p:txBody>
      </p:sp>
      <p:cxnSp>
        <p:nvCxnSpPr>
          <p:cNvPr id="6140" name="Google Shape;6140;p29"/>
          <p:cNvCxnSpPr/>
          <p:nvPr/>
        </p:nvCxnSpPr>
        <p:spPr>
          <a:xfrm>
            <a:off x="3570743" y="3691473"/>
            <a:ext cx="0" cy="668759"/>
          </a:xfrm>
          <a:prstGeom prst="straightConnector1">
            <a:avLst/>
          </a:prstGeom>
          <a:noFill/>
          <a:ln w="25400" cap="rnd" cmpd="sng">
            <a:solidFill>
              <a:schemeClr val="accent4"/>
            </a:solidFill>
            <a:prstDash val="solid"/>
            <a:miter lim="800000"/>
            <a:headEnd type="none" w="sm" len="sm"/>
            <a:tailEnd type="none" w="sm" len="sm"/>
          </a:ln>
        </p:spPr>
      </p:cxnSp>
      <p:cxnSp>
        <p:nvCxnSpPr>
          <p:cNvPr id="6141" name="Google Shape;6141;p29"/>
          <p:cNvCxnSpPr/>
          <p:nvPr/>
        </p:nvCxnSpPr>
        <p:spPr>
          <a:xfrm rot="10800000">
            <a:off x="1278345" y="4183476"/>
            <a:ext cx="6400800" cy="0"/>
          </a:xfrm>
          <a:prstGeom prst="straightConnector1">
            <a:avLst/>
          </a:prstGeom>
          <a:noFill/>
          <a:ln w="25400" cap="rnd" cmpd="sng">
            <a:solidFill>
              <a:schemeClr val="accent4"/>
            </a:solidFill>
            <a:prstDash val="solid"/>
            <a:miter lim="800000"/>
            <a:headEnd type="none" w="sm" len="sm"/>
            <a:tailEnd type="none" w="sm" len="sm"/>
          </a:ln>
        </p:spPr>
      </p:cxnSp>
      <p:cxnSp>
        <p:nvCxnSpPr>
          <p:cNvPr id="6142" name="Google Shape;6142;p29"/>
          <p:cNvCxnSpPr/>
          <p:nvPr/>
        </p:nvCxnSpPr>
        <p:spPr>
          <a:xfrm>
            <a:off x="5397780" y="3691473"/>
            <a:ext cx="0" cy="654321"/>
          </a:xfrm>
          <a:prstGeom prst="straightConnector1">
            <a:avLst/>
          </a:prstGeom>
          <a:noFill/>
          <a:ln w="25400" cap="rnd" cmpd="sng">
            <a:solidFill>
              <a:schemeClr val="accent4"/>
            </a:solidFill>
            <a:prstDash val="solid"/>
            <a:miter lim="800000"/>
            <a:headEnd type="none" w="sm" len="sm"/>
            <a:tailEnd type="none" w="sm" len="sm"/>
          </a:ln>
        </p:spPr>
      </p:cxnSp>
      <p:cxnSp>
        <p:nvCxnSpPr>
          <p:cNvPr id="6143" name="Google Shape;6143;p29"/>
          <p:cNvCxnSpPr/>
          <p:nvPr/>
        </p:nvCxnSpPr>
        <p:spPr>
          <a:xfrm>
            <a:off x="7226580" y="4206228"/>
            <a:ext cx="0" cy="154004"/>
          </a:xfrm>
          <a:prstGeom prst="straightConnector1">
            <a:avLst/>
          </a:prstGeom>
          <a:noFill/>
          <a:ln w="25400" cap="rnd" cmpd="sng">
            <a:solidFill>
              <a:schemeClr val="accent4"/>
            </a:solidFill>
            <a:prstDash val="solid"/>
            <a:miter lim="800000"/>
            <a:headEnd type="none" w="sm" len="sm"/>
            <a:tailEnd type="none" w="sm" len="sm"/>
          </a:ln>
        </p:spPr>
      </p:cxnSp>
      <p:grpSp>
        <p:nvGrpSpPr>
          <p:cNvPr id="6144" name="Google Shape;6144;p29"/>
          <p:cNvGrpSpPr/>
          <p:nvPr/>
        </p:nvGrpSpPr>
        <p:grpSpPr>
          <a:xfrm>
            <a:off x="1023729" y="4355893"/>
            <a:ext cx="6382598" cy="1274400"/>
            <a:chOff x="810597" y="4620600"/>
            <a:chExt cx="6382598" cy="1274400"/>
          </a:xfrm>
        </p:grpSpPr>
        <p:sp>
          <p:nvSpPr>
            <p:cNvPr id="6145" name="Google Shape;6145;p29"/>
            <p:cNvSpPr/>
            <p:nvPr/>
          </p:nvSpPr>
          <p:spPr>
            <a:xfrm>
              <a:off x="3171465" y="4620600"/>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146" name="Google Shape;6146;p29"/>
            <p:cNvCxnSpPr/>
            <p:nvPr/>
          </p:nvCxnSpPr>
          <p:spPr>
            <a:xfrm>
              <a:off x="2842177" y="5282152"/>
              <a:ext cx="509036" cy="0"/>
            </a:xfrm>
            <a:prstGeom prst="straightConnector1">
              <a:avLst/>
            </a:prstGeom>
            <a:noFill/>
            <a:ln w="25400" cap="rnd" cmpd="sng">
              <a:solidFill>
                <a:schemeClr val="accent5"/>
              </a:solidFill>
              <a:prstDash val="solid"/>
              <a:miter lim="800000"/>
              <a:headEnd type="none" w="sm" len="sm"/>
              <a:tailEnd type="none" w="sm" len="sm"/>
            </a:ln>
          </p:spPr>
        </p:cxnSp>
        <p:sp>
          <p:nvSpPr>
            <p:cNvPr id="6147" name="Google Shape;6147;p29"/>
            <p:cNvSpPr/>
            <p:nvPr/>
          </p:nvSpPr>
          <p:spPr>
            <a:xfrm>
              <a:off x="2634762" y="5195299"/>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148" name="Google Shape;6148;p29"/>
            <p:cNvCxnSpPr/>
            <p:nvPr/>
          </p:nvCxnSpPr>
          <p:spPr>
            <a:xfrm>
              <a:off x="3284285" y="4967769"/>
              <a:ext cx="0" cy="290031"/>
            </a:xfrm>
            <a:prstGeom prst="straightConnector1">
              <a:avLst/>
            </a:prstGeom>
            <a:noFill/>
            <a:ln w="25400" cap="rnd" cmpd="sng">
              <a:solidFill>
                <a:schemeClr val="accent5"/>
              </a:solidFill>
              <a:prstDash val="solid"/>
              <a:round/>
              <a:headEnd type="none" w="sm" len="sm"/>
              <a:tailEnd type="none" w="sm" len="sm"/>
            </a:ln>
          </p:spPr>
        </p:cxnSp>
        <p:cxnSp>
          <p:nvCxnSpPr>
            <p:cNvPr id="6149" name="Google Shape;6149;p29"/>
            <p:cNvCxnSpPr/>
            <p:nvPr/>
          </p:nvCxnSpPr>
          <p:spPr>
            <a:xfrm>
              <a:off x="3048000" y="5793185"/>
              <a:ext cx="402192" cy="0"/>
            </a:xfrm>
            <a:prstGeom prst="straightConnector1">
              <a:avLst/>
            </a:prstGeom>
            <a:noFill/>
            <a:ln w="25400" cap="rnd" cmpd="sng">
              <a:solidFill>
                <a:schemeClr val="accent5"/>
              </a:solidFill>
              <a:prstDash val="solid"/>
              <a:miter lim="800000"/>
              <a:headEnd type="none" w="sm" len="sm"/>
              <a:tailEnd type="none" w="sm" len="sm"/>
            </a:ln>
          </p:spPr>
        </p:cxnSp>
        <p:sp>
          <p:nvSpPr>
            <p:cNvPr id="6150" name="Google Shape;6150;p29"/>
            <p:cNvSpPr/>
            <p:nvPr/>
          </p:nvSpPr>
          <p:spPr>
            <a:xfrm>
              <a:off x="2823424" y="5715000"/>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151" name="Google Shape;6151;p29"/>
            <p:cNvCxnSpPr/>
            <p:nvPr/>
          </p:nvCxnSpPr>
          <p:spPr>
            <a:xfrm>
              <a:off x="3407501" y="4972102"/>
              <a:ext cx="0" cy="812878"/>
            </a:xfrm>
            <a:prstGeom prst="straightConnector1">
              <a:avLst/>
            </a:prstGeom>
            <a:noFill/>
            <a:ln w="25400" cap="rnd" cmpd="sng">
              <a:solidFill>
                <a:schemeClr val="accent5"/>
              </a:solidFill>
              <a:prstDash val="solid"/>
              <a:round/>
              <a:headEnd type="none" w="sm" len="sm"/>
              <a:tailEnd type="none" w="sm" len="sm"/>
            </a:ln>
          </p:spPr>
        </p:cxnSp>
        <p:grpSp>
          <p:nvGrpSpPr>
            <p:cNvPr id="6152" name="Google Shape;6152;p29"/>
            <p:cNvGrpSpPr/>
            <p:nvPr/>
          </p:nvGrpSpPr>
          <p:grpSpPr>
            <a:xfrm>
              <a:off x="2829689" y="4888089"/>
              <a:ext cx="269469" cy="269658"/>
              <a:chOff x="658852" y="4954224"/>
              <a:chExt cx="583799" cy="584209"/>
            </a:xfrm>
          </p:grpSpPr>
          <p:sp>
            <p:nvSpPr>
              <p:cNvPr id="6153" name="Google Shape;6153;p29"/>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154" name="Google Shape;6154;p29"/>
              <p:cNvGrpSpPr/>
              <p:nvPr/>
            </p:nvGrpSpPr>
            <p:grpSpPr>
              <a:xfrm>
                <a:off x="834156" y="5211637"/>
                <a:ext cx="216359" cy="78004"/>
                <a:chOff x="834156" y="5211637"/>
                <a:chExt cx="216359" cy="78004"/>
              </a:xfrm>
            </p:grpSpPr>
            <p:sp>
              <p:nvSpPr>
                <p:cNvPr id="6155" name="Google Shape;6155;p29"/>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156" name="Google Shape;6156;p29"/>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157" name="Google Shape;6157;p29"/>
            <p:cNvCxnSpPr/>
            <p:nvPr/>
          </p:nvCxnSpPr>
          <p:spPr>
            <a:xfrm>
              <a:off x="2964424" y="5152127"/>
              <a:ext cx="0" cy="129536"/>
            </a:xfrm>
            <a:prstGeom prst="straightConnector1">
              <a:avLst/>
            </a:prstGeom>
            <a:noFill/>
            <a:ln w="25400" cap="rnd" cmpd="sng">
              <a:solidFill>
                <a:schemeClr val="accent5"/>
              </a:solidFill>
              <a:prstDash val="solid"/>
              <a:round/>
              <a:headEnd type="none" w="sm" len="sm"/>
              <a:tailEnd type="none" w="sm" len="sm"/>
            </a:ln>
          </p:spPr>
        </p:cxnSp>
        <p:grpSp>
          <p:nvGrpSpPr>
            <p:cNvPr id="6158" name="Google Shape;6158;p29"/>
            <p:cNvGrpSpPr/>
            <p:nvPr/>
          </p:nvGrpSpPr>
          <p:grpSpPr>
            <a:xfrm>
              <a:off x="3021626" y="5400026"/>
              <a:ext cx="269469" cy="393574"/>
              <a:chOff x="3513038" y="5321426"/>
              <a:chExt cx="269469" cy="393574"/>
            </a:xfrm>
          </p:grpSpPr>
          <p:grpSp>
            <p:nvGrpSpPr>
              <p:cNvPr id="6159" name="Google Shape;6159;p29"/>
              <p:cNvGrpSpPr/>
              <p:nvPr/>
            </p:nvGrpSpPr>
            <p:grpSpPr>
              <a:xfrm>
                <a:off x="3513038" y="5321426"/>
                <a:ext cx="269469" cy="269658"/>
                <a:chOff x="658852" y="4954224"/>
                <a:chExt cx="583799" cy="584209"/>
              </a:xfrm>
            </p:grpSpPr>
            <p:sp>
              <p:nvSpPr>
                <p:cNvPr id="6160" name="Google Shape;6160;p29"/>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161" name="Google Shape;6161;p29"/>
                <p:cNvGrpSpPr/>
                <p:nvPr/>
              </p:nvGrpSpPr>
              <p:grpSpPr>
                <a:xfrm>
                  <a:off x="834156" y="5211637"/>
                  <a:ext cx="216359" cy="78004"/>
                  <a:chOff x="834156" y="5211637"/>
                  <a:chExt cx="216359" cy="78004"/>
                </a:xfrm>
              </p:grpSpPr>
              <p:sp>
                <p:nvSpPr>
                  <p:cNvPr id="6162" name="Google Shape;6162;p29"/>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163" name="Google Shape;6163;p29"/>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164" name="Google Shape;6164;p29"/>
              <p:cNvCxnSpPr/>
              <p:nvPr/>
            </p:nvCxnSpPr>
            <p:spPr>
              <a:xfrm>
                <a:off x="3647773" y="5585464"/>
                <a:ext cx="0" cy="129536"/>
              </a:xfrm>
              <a:prstGeom prst="straightConnector1">
                <a:avLst/>
              </a:prstGeom>
              <a:noFill/>
              <a:ln w="25400" cap="rnd" cmpd="sng">
                <a:solidFill>
                  <a:schemeClr val="accent5"/>
                </a:solidFill>
                <a:prstDash val="solid"/>
                <a:round/>
                <a:headEnd type="none" w="sm" len="sm"/>
                <a:tailEnd type="none" w="sm" len="sm"/>
              </a:ln>
            </p:spPr>
          </p:cxnSp>
        </p:grpSp>
        <p:sp>
          <p:nvSpPr>
            <p:cNvPr id="6165" name="Google Shape;6165;p29"/>
            <p:cNvSpPr/>
            <p:nvPr/>
          </p:nvSpPr>
          <p:spPr>
            <a:xfrm>
              <a:off x="5004900" y="4620600"/>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166" name="Google Shape;6166;p29"/>
            <p:cNvCxnSpPr/>
            <p:nvPr/>
          </p:nvCxnSpPr>
          <p:spPr>
            <a:xfrm>
              <a:off x="4675612" y="5282152"/>
              <a:ext cx="509036" cy="0"/>
            </a:xfrm>
            <a:prstGeom prst="straightConnector1">
              <a:avLst/>
            </a:prstGeom>
            <a:noFill/>
            <a:ln w="25400" cap="rnd" cmpd="sng">
              <a:solidFill>
                <a:schemeClr val="accent5"/>
              </a:solidFill>
              <a:prstDash val="solid"/>
              <a:miter lim="800000"/>
              <a:headEnd type="none" w="sm" len="sm"/>
              <a:tailEnd type="none" w="sm" len="sm"/>
            </a:ln>
          </p:spPr>
        </p:cxnSp>
        <p:sp>
          <p:nvSpPr>
            <p:cNvPr id="6167" name="Google Shape;6167;p29"/>
            <p:cNvSpPr/>
            <p:nvPr/>
          </p:nvSpPr>
          <p:spPr>
            <a:xfrm>
              <a:off x="4468197" y="5195299"/>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168" name="Google Shape;6168;p29"/>
            <p:cNvCxnSpPr/>
            <p:nvPr/>
          </p:nvCxnSpPr>
          <p:spPr>
            <a:xfrm>
              <a:off x="5117720" y="4967769"/>
              <a:ext cx="0" cy="290031"/>
            </a:xfrm>
            <a:prstGeom prst="straightConnector1">
              <a:avLst/>
            </a:prstGeom>
            <a:noFill/>
            <a:ln w="25400" cap="rnd" cmpd="sng">
              <a:solidFill>
                <a:schemeClr val="accent5"/>
              </a:solidFill>
              <a:prstDash val="solid"/>
              <a:round/>
              <a:headEnd type="none" w="sm" len="sm"/>
              <a:tailEnd type="none" w="sm" len="sm"/>
            </a:ln>
          </p:spPr>
        </p:cxnSp>
        <p:cxnSp>
          <p:nvCxnSpPr>
            <p:cNvPr id="6169" name="Google Shape;6169;p29"/>
            <p:cNvCxnSpPr/>
            <p:nvPr/>
          </p:nvCxnSpPr>
          <p:spPr>
            <a:xfrm>
              <a:off x="4881435" y="5793185"/>
              <a:ext cx="402192" cy="0"/>
            </a:xfrm>
            <a:prstGeom prst="straightConnector1">
              <a:avLst/>
            </a:prstGeom>
            <a:noFill/>
            <a:ln w="25400" cap="rnd" cmpd="sng">
              <a:solidFill>
                <a:schemeClr val="accent5"/>
              </a:solidFill>
              <a:prstDash val="solid"/>
              <a:miter lim="800000"/>
              <a:headEnd type="none" w="sm" len="sm"/>
              <a:tailEnd type="none" w="sm" len="sm"/>
            </a:ln>
          </p:spPr>
        </p:cxnSp>
        <p:sp>
          <p:nvSpPr>
            <p:cNvPr id="6170" name="Google Shape;6170;p29"/>
            <p:cNvSpPr/>
            <p:nvPr/>
          </p:nvSpPr>
          <p:spPr>
            <a:xfrm>
              <a:off x="4656859" y="5715000"/>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171" name="Google Shape;6171;p29"/>
            <p:cNvCxnSpPr/>
            <p:nvPr/>
          </p:nvCxnSpPr>
          <p:spPr>
            <a:xfrm>
              <a:off x="5240936" y="4972102"/>
              <a:ext cx="0" cy="812878"/>
            </a:xfrm>
            <a:prstGeom prst="straightConnector1">
              <a:avLst/>
            </a:prstGeom>
            <a:noFill/>
            <a:ln w="25400" cap="rnd" cmpd="sng">
              <a:solidFill>
                <a:schemeClr val="accent5"/>
              </a:solidFill>
              <a:prstDash val="solid"/>
              <a:round/>
              <a:headEnd type="none" w="sm" len="sm"/>
              <a:tailEnd type="none" w="sm" len="sm"/>
            </a:ln>
          </p:spPr>
        </p:cxnSp>
        <p:grpSp>
          <p:nvGrpSpPr>
            <p:cNvPr id="6172" name="Google Shape;6172;p29"/>
            <p:cNvGrpSpPr/>
            <p:nvPr/>
          </p:nvGrpSpPr>
          <p:grpSpPr>
            <a:xfrm>
              <a:off x="4663124" y="4888089"/>
              <a:ext cx="269469" cy="269658"/>
              <a:chOff x="658852" y="4954224"/>
              <a:chExt cx="583799" cy="584209"/>
            </a:xfrm>
          </p:grpSpPr>
          <p:sp>
            <p:nvSpPr>
              <p:cNvPr id="6173" name="Google Shape;6173;p29"/>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174" name="Google Shape;6174;p29"/>
              <p:cNvGrpSpPr/>
              <p:nvPr/>
            </p:nvGrpSpPr>
            <p:grpSpPr>
              <a:xfrm>
                <a:off x="834156" y="5211637"/>
                <a:ext cx="216359" cy="78004"/>
                <a:chOff x="834156" y="5211637"/>
                <a:chExt cx="216359" cy="78004"/>
              </a:xfrm>
            </p:grpSpPr>
            <p:sp>
              <p:nvSpPr>
                <p:cNvPr id="6175" name="Google Shape;6175;p29"/>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176" name="Google Shape;6176;p29"/>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177" name="Google Shape;6177;p29"/>
            <p:cNvCxnSpPr/>
            <p:nvPr/>
          </p:nvCxnSpPr>
          <p:spPr>
            <a:xfrm>
              <a:off x="4797859" y="5152127"/>
              <a:ext cx="0" cy="129536"/>
            </a:xfrm>
            <a:prstGeom prst="straightConnector1">
              <a:avLst/>
            </a:prstGeom>
            <a:noFill/>
            <a:ln w="25400" cap="rnd" cmpd="sng">
              <a:solidFill>
                <a:schemeClr val="accent5"/>
              </a:solidFill>
              <a:prstDash val="solid"/>
              <a:round/>
              <a:headEnd type="none" w="sm" len="sm"/>
              <a:tailEnd type="none" w="sm" len="sm"/>
            </a:ln>
          </p:spPr>
        </p:cxnSp>
        <p:grpSp>
          <p:nvGrpSpPr>
            <p:cNvPr id="6178" name="Google Shape;6178;p29"/>
            <p:cNvGrpSpPr/>
            <p:nvPr/>
          </p:nvGrpSpPr>
          <p:grpSpPr>
            <a:xfrm>
              <a:off x="4855061" y="5400026"/>
              <a:ext cx="269469" cy="393574"/>
              <a:chOff x="3513038" y="5321426"/>
              <a:chExt cx="269469" cy="393574"/>
            </a:xfrm>
          </p:grpSpPr>
          <p:grpSp>
            <p:nvGrpSpPr>
              <p:cNvPr id="6179" name="Google Shape;6179;p29"/>
              <p:cNvGrpSpPr/>
              <p:nvPr/>
            </p:nvGrpSpPr>
            <p:grpSpPr>
              <a:xfrm>
                <a:off x="3513038" y="5321426"/>
                <a:ext cx="269469" cy="269658"/>
                <a:chOff x="658852" y="4954224"/>
                <a:chExt cx="583799" cy="584209"/>
              </a:xfrm>
            </p:grpSpPr>
            <p:sp>
              <p:nvSpPr>
                <p:cNvPr id="6180" name="Google Shape;6180;p29"/>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181" name="Google Shape;6181;p29"/>
                <p:cNvGrpSpPr/>
                <p:nvPr/>
              </p:nvGrpSpPr>
              <p:grpSpPr>
                <a:xfrm>
                  <a:off x="834156" y="5211637"/>
                  <a:ext cx="216359" cy="78004"/>
                  <a:chOff x="834156" y="5211637"/>
                  <a:chExt cx="216359" cy="78004"/>
                </a:xfrm>
              </p:grpSpPr>
              <p:sp>
                <p:nvSpPr>
                  <p:cNvPr id="6182" name="Google Shape;6182;p29"/>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183" name="Google Shape;6183;p29"/>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184" name="Google Shape;6184;p29"/>
              <p:cNvCxnSpPr/>
              <p:nvPr/>
            </p:nvCxnSpPr>
            <p:spPr>
              <a:xfrm>
                <a:off x="3647773" y="5585464"/>
                <a:ext cx="0" cy="129536"/>
              </a:xfrm>
              <a:prstGeom prst="straightConnector1">
                <a:avLst/>
              </a:prstGeom>
              <a:noFill/>
              <a:ln w="25400" cap="rnd" cmpd="sng">
                <a:solidFill>
                  <a:schemeClr val="accent5"/>
                </a:solidFill>
                <a:prstDash val="solid"/>
                <a:round/>
                <a:headEnd type="none" w="sm" len="sm"/>
                <a:tailEnd type="none" w="sm" len="sm"/>
              </a:ln>
            </p:spPr>
          </p:cxnSp>
        </p:grpSp>
        <p:sp>
          <p:nvSpPr>
            <p:cNvPr id="6185" name="Google Shape;6185;p29"/>
            <p:cNvSpPr/>
            <p:nvPr/>
          </p:nvSpPr>
          <p:spPr>
            <a:xfrm>
              <a:off x="6833700" y="4620600"/>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186" name="Google Shape;6186;p29"/>
            <p:cNvCxnSpPr/>
            <p:nvPr/>
          </p:nvCxnSpPr>
          <p:spPr>
            <a:xfrm>
              <a:off x="6504412" y="5282152"/>
              <a:ext cx="509036" cy="0"/>
            </a:xfrm>
            <a:prstGeom prst="straightConnector1">
              <a:avLst/>
            </a:prstGeom>
            <a:noFill/>
            <a:ln w="25400" cap="rnd" cmpd="sng">
              <a:solidFill>
                <a:schemeClr val="accent5"/>
              </a:solidFill>
              <a:prstDash val="solid"/>
              <a:miter lim="800000"/>
              <a:headEnd type="none" w="sm" len="sm"/>
              <a:tailEnd type="none" w="sm" len="sm"/>
            </a:ln>
          </p:spPr>
        </p:cxnSp>
        <p:sp>
          <p:nvSpPr>
            <p:cNvPr id="6187" name="Google Shape;6187;p29"/>
            <p:cNvSpPr/>
            <p:nvPr/>
          </p:nvSpPr>
          <p:spPr>
            <a:xfrm>
              <a:off x="6296997" y="5195299"/>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188" name="Google Shape;6188;p29"/>
            <p:cNvCxnSpPr/>
            <p:nvPr/>
          </p:nvCxnSpPr>
          <p:spPr>
            <a:xfrm>
              <a:off x="6946520" y="4967769"/>
              <a:ext cx="0" cy="290031"/>
            </a:xfrm>
            <a:prstGeom prst="straightConnector1">
              <a:avLst/>
            </a:prstGeom>
            <a:noFill/>
            <a:ln w="25400" cap="rnd" cmpd="sng">
              <a:solidFill>
                <a:schemeClr val="accent5"/>
              </a:solidFill>
              <a:prstDash val="solid"/>
              <a:round/>
              <a:headEnd type="none" w="sm" len="sm"/>
              <a:tailEnd type="none" w="sm" len="sm"/>
            </a:ln>
          </p:spPr>
        </p:cxnSp>
        <p:cxnSp>
          <p:nvCxnSpPr>
            <p:cNvPr id="6189" name="Google Shape;6189;p29"/>
            <p:cNvCxnSpPr/>
            <p:nvPr/>
          </p:nvCxnSpPr>
          <p:spPr>
            <a:xfrm>
              <a:off x="6710235" y="5793185"/>
              <a:ext cx="402192" cy="0"/>
            </a:xfrm>
            <a:prstGeom prst="straightConnector1">
              <a:avLst/>
            </a:prstGeom>
            <a:noFill/>
            <a:ln w="25400" cap="rnd" cmpd="sng">
              <a:solidFill>
                <a:schemeClr val="accent5"/>
              </a:solidFill>
              <a:prstDash val="solid"/>
              <a:miter lim="800000"/>
              <a:headEnd type="none" w="sm" len="sm"/>
              <a:tailEnd type="none" w="sm" len="sm"/>
            </a:ln>
          </p:spPr>
        </p:cxnSp>
        <p:sp>
          <p:nvSpPr>
            <p:cNvPr id="6190" name="Google Shape;6190;p29"/>
            <p:cNvSpPr/>
            <p:nvPr/>
          </p:nvSpPr>
          <p:spPr>
            <a:xfrm>
              <a:off x="6485659" y="5715000"/>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191" name="Google Shape;6191;p29"/>
            <p:cNvCxnSpPr/>
            <p:nvPr/>
          </p:nvCxnSpPr>
          <p:spPr>
            <a:xfrm>
              <a:off x="7069736" y="4972102"/>
              <a:ext cx="0" cy="812878"/>
            </a:xfrm>
            <a:prstGeom prst="straightConnector1">
              <a:avLst/>
            </a:prstGeom>
            <a:noFill/>
            <a:ln w="25400" cap="rnd" cmpd="sng">
              <a:solidFill>
                <a:schemeClr val="accent5"/>
              </a:solidFill>
              <a:prstDash val="solid"/>
              <a:round/>
              <a:headEnd type="none" w="sm" len="sm"/>
              <a:tailEnd type="none" w="sm" len="sm"/>
            </a:ln>
          </p:spPr>
        </p:cxnSp>
        <p:grpSp>
          <p:nvGrpSpPr>
            <p:cNvPr id="6192" name="Google Shape;6192;p29"/>
            <p:cNvGrpSpPr/>
            <p:nvPr/>
          </p:nvGrpSpPr>
          <p:grpSpPr>
            <a:xfrm>
              <a:off x="6491924" y="4888089"/>
              <a:ext cx="269469" cy="269658"/>
              <a:chOff x="658852" y="4954224"/>
              <a:chExt cx="583799" cy="584209"/>
            </a:xfrm>
          </p:grpSpPr>
          <p:sp>
            <p:nvSpPr>
              <p:cNvPr id="6193" name="Google Shape;6193;p29"/>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194" name="Google Shape;6194;p29"/>
              <p:cNvGrpSpPr/>
              <p:nvPr/>
            </p:nvGrpSpPr>
            <p:grpSpPr>
              <a:xfrm>
                <a:off x="834156" y="5211637"/>
                <a:ext cx="216359" cy="78004"/>
                <a:chOff x="834156" y="5211637"/>
                <a:chExt cx="216359" cy="78004"/>
              </a:xfrm>
            </p:grpSpPr>
            <p:sp>
              <p:nvSpPr>
                <p:cNvPr id="6195" name="Google Shape;6195;p29"/>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196" name="Google Shape;6196;p29"/>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197" name="Google Shape;6197;p29"/>
            <p:cNvCxnSpPr/>
            <p:nvPr/>
          </p:nvCxnSpPr>
          <p:spPr>
            <a:xfrm>
              <a:off x="6626659" y="5152127"/>
              <a:ext cx="0" cy="129536"/>
            </a:xfrm>
            <a:prstGeom prst="straightConnector1">
              <a:avLst/>
            </a:prstGeom>
            <a:noFill/>
            <a:ln w="25400" cap="rnd" cmpd="sng">
              <a:solidFill>
                <a:schemeClr val="accent5"/>
              </a:solidFill>
              <a:prstDash val="solid"/>
              <a:round/>
              <a:headEnd type="none" w="sm" len="sm"/>
              <a:tailEnd type="none" w="sm" len="sm"/>
            </a:ln>
          </p:spPr>
        </p:cxnSp>
        <p:grpSp>
          <p:nvGrpSpPr>
            <p:cNvPr id="6198" name="Google Shape;6198;p29"/>
            <p:cNvGrpSpPr/>
            <p:nvPr/>
          </p:nvGrpSpPr>
          <p:grpSpPr>
            <a:xfrm>
              <a:off x="6683861" y="5400026"/>
              <a:ext cx="269469" cy="393574"/>
              <a:chOff x="3513038" y="5321426"/>
              <a:chExt cx="269469" cy="393574"/>
            </a:xfrm>
          </p:grpSpPr>
          <p:grpSp>
            <p:nvGrpSpPr>
              <p:cNvPr id="6199" name="Google Shape;6199;p29"/>
              <p:cNvGrpSpPr/>
              <p:nvPr/>
            </p:nvGrpSpPr>
            <p:grpSpPr>
              <a:xfrm>
                <a:off x="3513038" y="5321426"/>
                <a:ext cx="269469" cy="269658"/>
                <a:chOff x="658852" y="4954224"/>
                <a:chExt cx="583799" cy="584209"/>
              </a:xfrm>
            </p:grpSpPr>
            <p:sp>
              <p:nvSpPr>
                <p:cNvPr id="6200" name="Google Shape;6200;p29"/>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201" name="Google Shape;6201;p29"/>
                <p:cNvGrpSpPr/>
                <p:nvPr/>
              </p:nvGrpSpPr>
              <p:grpSpPr>
                <a:xfrm>
                  <a:off x="834156" y="5211637"/>
                  <a:ext cx="216359" cy="78004"/>
                  <a:chOff x="834156" y="5211637"/>
                  <a:chExt cx="216359" cy="78004"/>
                </a:xfrm>
              </p:grpSpPr>
              <p:sp>
                <p:nvSpPr>
                  <p:cNvPr id="6202" name="Google Shape;6202;p29"/>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203" name="Google Shape;6203;p29"/>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204" name="Google Shape;6204;p29"/>
              <p:cNvCxnSpPr/>
              <p:nvPr/>
            </p:nvCxnSpPr>
            <p:spPr>
              <a:xfrm>
                <a:off x="3647773" y="5585464"/>
                <a:ext cx="0" cy="129536"/>
              </a:xfrm>
              <a:prstGeom prst="straightConnector1">
                <a:avLst/>
              </a:prstGeom>
              <a:noFill/>
              <a:ln w="25400" cap="rnd" cmpd="sng">
                <a:solidFill>
                  <a:schemeClr val="accent5"/>
                </a:solidFill>
                <a:prstDash val="solid"/>
                <a:round/>
                <a:headEnd type="none" w="sm" len="sm"/>
                <a:tailEnd type="none" w="sm" len="sm"/>
              </a:ln>
            </p:spPr>
          </p:cxnSp>
        </p:grpSp>
        <p:sp>
          <p:nvSpPr>
            <p:cNvPr id="6205" name="Google Shape;6205;p29"/>
            <p:cNvSpPr/>
            <p:nvPr/>
          </p:nvSpPr>
          <p:spPr>
            <a:xfrm>
              <a:off x="1347300" y="4620600"/>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206" name="Google Shape;6206;p29"/>
            <p:cNvCxnSpPr/>
            <p:nvPr/>
          </p:nvCxnSpPr>
          <p:spPr>
            <a:xfrm>
              <a:off x="1018012" y="5282152"/>
              <a:ext cx="509036" cy="0"/>
            </a:xfrm>
            <a:prstGeom prst="straightConnector1">
              <a:avLst/>
            </a:prstGeom>
            <a:noFill/>
            <a:ln w="25400" cap="rnd" cmpd="sng">
              <a:solidFill>
                <a:schemeClr val="accent5"/>
              </a:solidFill>
              <a:prstDash val="solid"/>
              <a:miter lim="800000"/>
              <a:headEnd type="none" w="sm" len="sm"/>
              <a:tailEnd type="none" w="sm" len="sm"/>
            </a:ln>
          </p:spPr>
        </p:cxnSp>
        <p:sp>
          <p:nvSpPr>
            <p:cNvPr id="6207" name="Google Shape;6207;p29"/>
            <p:cNvSpPr/>
            <p:nvPr/>
          </p:nvSpPr>
          <p:spPr>
            <a:xfrm>
              <a:off x="810597" y="5195299"/>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208" name="Google Shape;6208;p29"/>
            <p:cNvCxnSpPr/>
            <p:nvPr/>
          </p:nvCxnSpPr>
          <p:spPr>
            <a:xfrm>
              <a:off x="1460120" y="4967769"/>
              <a:ext cx="0" cy="290031"/>
            </a:xfrm>
            <a:prstGeom prst="straightConnector1">
              <a:avLst/>
            </a:prstGeom>
            <a:noFill/>
            <a:ln w="25400" cap="rnd" cmpd="sng">
              <a:solidFill>
                <a:schemeClr val="accent5"/>
              </a:solidFill>
              <a:prstDash val="solid"/>
              <a:round/>
              <a:headEnd type="none" w="sm" len="sm"/>
              <a:tailEnd type="none" w="sm" len="sm"/>
            </a:ln>
          </p:spPr>
        </p:cxnSp>
        <p:cxnSp>
          <p:nvCxnSpPr>
            <p:cNvPr id="6209" name="Google Shape;6209;p29"/>
            <p:cNvCxnSpPr/>
            <p:nvPr/>
          </p:nvCxnSpPr>
          <p:spPr>
            <a:xfrm>
              <a:off x="1223835" y="5793185"/>
              <a:ext cx="402192" cy="0"/>
            </a:xfrm>
            <a:prstGeom prst="straightConnector1">
              <a:avLst/>
            </a:prstGeom>
            <a:noFill/>
            <a:ln w="25400" cap="rnd" cmpd="sng">
              <a:solidFill>
                <a:schemeClr val="accent5"/>
              </a:solidFill>
              <a:prstDash val="solid"/>
              <a:miter lim="800000"/>
              <a:headEnd type="none" w="sm" len="sm"/>
              <a:tailEnd type="none" w="sm" len="sm"/>
            </a:ln>
          </p:spPr>
        </p:cxnSp>
        <p:sp>
          <p:nvSpPr>
            <p:cNvPr id="6210" name="Google Shape;6210;p29"/>
            <p:cNvSpPr/>
            <p:nvPr/>
          </p:nvSpPr>
          <p:spPr>
            <a:xfrm>
              <a:off x="999259" y="5715000"/>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211" name="Google Shape;6211;p29"/>
            <p:cNvCxnSpPr/>
            <p:nvPr/>
          </p:nvCxnSpPr>
          <p:spPr>
            <a:xfrm>
              <a:off x="1583336" y="4972102"/>
              <a:ext cx="0" cy="812878"/>
            </a:xfrm>
            <a:prstGeom prst="straightConnector1">
              <a:avLst/>
            </a:prstGeom>
            <a:noFill/>
            <a:ln w="25400" cap="rnd" cmpd="sng">
              <a:solidFill>
                <a:schemeClr val="accent5"/>
              </a:solidFill>
              <a:prstDash val="solid"/>
              <a:round/>
              <a:headEnd type="none" w="sm" len="sm"/>
              <a:tailEnd type="none" w="sm" len="sm"/>
            </a:ln>
          </p:spPr>
        </p:cxnSp>
        <p:grpSp>
          <p:nvGrpSpPr>
            <p:cNvPr id="6212" name="Google Shape;6212;p29"/>
            <p:cNvGrpSpPr/>
            <p:nvPr/>
          </p:nvGrpSpPr>
          <p:grpSpPr>
            <a:xfrm>
              <a:off x="1005524" y="4888089"/>
              <a:ext cx="269469" cy="269658"/>
              <a:chOff x="658852" y="4954224"/>
              <a:chExt cx="583799" cy="584209"/>
            </a:xfrm>
          </p:grpSpPr>
          <p:sp>
            <p:nvSpPr>
              <p:cNvPr id="6213" name="Google Shape;6213;p29"/>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214" name="Google Shape;6214;p29"/>
              <p:cNvGrpSpPr/>
              <p:nvPr/>
            </p:nvGrpSpPr>
            <p:grpSpPr>
              <a:xfrm>
                <a:off x="834156" y="5211637"/>
                <a:ext cx="216359" cy="78004"/>
                <a:chOff x="834156" y="5211637"/>
                <a:chExt cx="216359" cy="78004"/>
              </a:xfrm>
            </p:grpSpPr>
            <p:sp>
              <p:nvSpPr>
                <p:cNvPr id="6215" name="Google Shape;6215;p29"/>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216" name="Google Shape;6216;p29"/>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217" name="Google Shape;6217;p29"/>
            <p:cNvCxnSpPr/>
            <p:nvPr/>
          </p:nvCxnSpPr>
          <p:spPr>
            <a:xfrm>
              <a:off x="1140259" y="5152127"/>
              <a:ext cx="0" cy="129536"/>
            </a:xfrm>
            <a:prstGeom prst="straightConnector1">
              <a:avLst/>
            </a:prstGeom>
            <a:noFill/>
            <a:ln w="25400" cap="rnd" cmpd="sng">
              <a:solidFill>
                <a:schemeClr val="accent5"/>
              </a:solidFill>
              <a:prstDash val="solid"/>
              <a:round/>
              <a:headEnd type="none" w="sm" len="sm"/>
              <a:tailEnd type="none" w="sm" len="sm"/>
            </a:ln>
          </p:spPr>
        </p:cxnSp>
        <p:grpSp>
          <p:nvGrpSpPr>
            <p:cNvPr id="6218" name="Google Shape;6218;p29"/>
            <p:cNvGrpSpPr/>
            <p:nvPr/>
          </p:nvGrpSpPr>
          <p:grpSpPr>
            <a:xfrm>
              <a:off x="1197461" y="5400026"/>
              <a:ext cx="269469" cy="393574"/>
              <a:chOff x="3513038" y="5321426"/>
              <a:chExt cx="269469" cy="393574"/>
            </a:xfrm>
          </p:grpSpPr>
          <p:grpSp>
            <p:nvGrpSpPr>
              <p:cNvPr id="6219" name="Google Shape;6219;p29"/>
              <p:cNvGrpSpPr/>
              <p:nvPr/>
            </p:nvGrpSpPr>
            <p:grpSpPr>
              <a:xfrm>
                <a:off x="3513038" y="5321426"/>
                <a:ext cx="269469" cy="269658"/>
                <a:chOff x="658852" y="4954224"/>
                <a:chExt cx="583799" cy="584209"/>
              </a:xfrm>
            </p:grpSpPr>
            <p:sp>
              <p:nvSpPr>
                <p:cNvPr id="6220" name="Google Shape;6220;p29"/>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221" name="Google Shape;6221;p29"/>
                <p:cNvGrpSpPr/>
                <p:nvPr/>
              </p:nvGrpSpPr>
              <p:grpSpPr>
                <a:xfrm>
                  <a:off x="834156" y="5211637"/>
                  <a:ext cx="216359" cy="78004"/>
                  <a:chOff x="834156" y="5211637"/>
                  <a:chExt cx="216359" cy="78004"/>
                </a:xfrm>
              </p:grpSpPr>
              <p:sp>
                <p:nvSpPr>
                  <p:cNvPr id="6222" name="Google Shape;6222;p29"/>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223" name="Google Shape;6223;p29"/>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224" name="Google Shape;6224;p29"/>
              <p:cNvCxnSpPr/>
              <p:nvPr/>
            </p:nvCxnSpPr>
            <p:spPr>
              <a:xfrm>
                <a:off x="3647773" y="5585464"/>
                <a:ext cx="0" cy="129536"/>
              </a:xfrm>
              <a:prstGeom prst="straightConnector1">
                <a:avLst/>
              </a:prstGeom>
              <a:noFill/>
              <a:ln w="25400" cap="rnd" cmpd="sng">
                <a:solidFill>
                  <a:schemeClr val="accent5"/>
                </a:solidFill>
                <a:prstDash val="solid"/>
                <a:round/>
                <a:headEnd type="none" w="sm" len="sm"/>
                <a:tailEnd type="none" w="sm" len="sm"/>
              </a:ln>
            </p:spPr>
          </p:cxnSp>
        </p:grpSp>
      </p:grpSp>
      <p:cxnSp>
        <p:nvCxnSpPr>
          <p:cNvPr id="6225" name="Google Shape;6225;p29"/>
          <p:cNvCxnSpPr/>
          <p:nvPr/>
        </p:nvCxnSpPr>
        <p:spPr>
          <a:xfrm>
            <a:off x="1740180" y="4191790"/>
            <a:ext cx="0" cy="168442"/>
          </a:xfrm>
          <a:prstGeom prst="straightConnector1">
            <a:avLst/>
          </a:prstGeom>
          <a:noFill/>
          <a:ln w="25400" cap="rnd" cmpd="sng">
            <a:solidFill>
              <a:schemeClr val="accent4"/>
            </a:solidFill>
            <a:prstDash val="solid"/>
            <a:miter lim="800000"/>
            <a:headEnd type="none" w="sm" len="sm"/>
            <a:tailEnd type="none" w="sm" len="sm"/>
          </a:ln>
        </p:spPr>
      </p:cxnSp>
      <p:sp>
        <p:nvSpPr>
          <p:cNvPr id="6226" name="Google Shape;6226;p29"/>
          <p:cNvSpPr/>
          <p:nvPr/>
        </p:nvSpPr>
        <p:spPr>
          <a:xfrm>
            <a:off x="1306513" y="2889250"/>
            <a:ext cx="2082312" cy="23015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lt1"/>
                </a:solidFill>
                <a:latin typeface="Arial"/>
                <a:ea typeface="Arial"/>
                <a:cs typeface="Arial"/>
                <a:sym typeface="Arial"/>
              </a:rPr>
              <a:t>Centralized External Connection</a:t>
            </a:r>
            <a:endParaRPr/>
          </a:p>
        </p:txBody>
      </p:sp>
      <p:cxnSp>
        <p:nvCxnSpPr>
          <p:cNvPr id="6227" name="Google Shape;6227;p29"/>
          <p:cNvCxnSpPr/>
          <p:nvPr/>
        </p:nvCxnSpPr>
        <p:spPr>
          <a:xfrm>
            <a:off x="3573335" y="2988640"/>
            <a:ext cx="0" cy="168442"/>
          </a:xfrm>
          <a:prstGeom prst="straightConnector1">
            <a:avLst/>
          </a:prstGeom>
          <a:noFill/>
          <a:ln w="25400" cap="rnd" cmpd="sng">
            <a:solidFill>
              <a:schemeClr val="accent4"/>
            </a:solidFill>
            <a:prstDash val="solid"/>
            <a:miter lim="800000"/>
            <a:headEnd type="none" w="sm" len="sm"/>
            <a:tailEnd type="none" w="sm" len="sm"/>
          </a:ln>
        </p:spPr>
      </p:cxnSp>
      <p:cxnSp>
        <p:nvCxnSpPr>
          <p:cNvPr id="6228" name="Google Shape;6228;p29"/>
          <p:cNvCxnSpPr/>
          <p:nvPr/>
        </p:nvCxnSpPr>
        <p:spPr>
          <a:xfrm>
            <a:off x="5397831" y="2918857"/>
            <a:ext cx="0" cy="238225"/>
          </a:xfrm>
          <a:prstGeom prst="straightConnector1">
            <a:avLst/>
          </a:prstGeom>
          <a:noFill/>
          <a:ln w="25400" cap="rnd" cmpd="sng">
            <a:solidFill>
              <a:schemeClr val="accent4"/>
            </a:solidFill>
            <a:prstDash val="solid"/>
            <a:miter lim="800000"/>
            <a:headEnd type="none" w="sm" len="sm"/>
            <a:tailEnd type="none" w="sm" len="sm"/>
          </a:ln>
        </p:spPr>
      </p:cxnSp>
      <p:cxnSp>
        <p:nvCxnSpPr>
          <p:cNvPr id="6229" name="Google Shape;6229;p29"/>
          <p:cNvCxnSpPr/>
          <p:nvPr/>
        </p:nvCxnSpPr>
        <p:spPr>
          <a:xfrm rot="10800000">
            <a:off x="5397787" y="2880092"/>
            <a:ext cx="0" cy="132611"/>
          </a:xfrm>
          <a:prstGeom prst="straightConnector1">
            <a:avLst/>
          </a:prstGeom>
          <a:noFill/>
          <a:ln w="25400" cap="rnd" cmpd="sng">
            <a:solidFill>
              <a:schemeClr val="accent2"/>
            </a:solidFill>
            <a:prstDash val="solid"/>
            <a:miter lim="800000"/>
            <a:headEnd type="none" w="sm" len="sm"/>
            <a:tailEnd type="none" w="sm" len="sm"/>
          </a:ln>
        </p:spPr>
      </p:cxnSp>
      <p:cxnSp>
        <p:nvCxnSpPr>
          <p:cNvPr id="6230" name="Google Shape;6230;p29"/>
          <p:cNvCxnSpPr/>
          <p:nvPr/>
        </p:nvCxnSpPr>
        <p:spPr>
          <a:xfrm rot="10800000">
            <a:off x="3573335" y="2880092"/>
            <a:ext cx="0" cy="118173"/>
          </a:xfrm>
          <a:prstGeom prst="straightConnector1">
            <a:avLst/>
          </a:prstGeom>
          <a:noFill/>
          <a:ln w="25400" cap="rnd" cmpd="sng">
            <a:solidFill>
              <a:schemeClr val="accent2"/>
            </a:solidFill>
            <a:prstDash val="solid"/>
            <a:miter lim="800000"/>
            <a:headEnd type="none" w="sm" len="sm"/>
            <a:tailEnd type="none" w="sm" len="sm"/>
          </a:ln>
        </p:spPr>
      </p:cxnSp>
      <p:sp>
        <p:nvSpPr>
          <p:cNvPr id="6231" name="Google Shape;6231;p29"/>
          <p:cNvSpPr txBox="1"/>
          <p:nvPr/>
        </p:nvSpPr>
        <p:spPr>
          <a:xfrm>
            <a:off x="821145" y="5573776"/>
            <a:ext cx="376866"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ESX</a:t>
            </a:r>
            <a:endParaRPr/>
          </a:p>
        </p:txBody>
      </p:sp>
      <p:sp>
        <p:nvSpPr>
          <p:cNvPr id="6232" name="Google Shape;6232;p29"/>
          <p:cNvSpPr txBox="1"/>
          <p:nvPr/>
        </p:nvSpPr>
        <p:spPr>
          <a:xfrm>
            <a:off x="2649945" y="5573776"/>
            <a:ext cx="376866"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ESX</a:t>
            </a:r>
            <a:endParaRPr/>
          </a:p>
        </p:txBody>
      </p:sp>
      <p:sp>
        <p:nvSpPr>
          <p:cNvPr id="6233" name="Google Shape;6233;p29"/>
          <p:cNvSpPr txBox="1"/>
          <p:nvPr/>
        </p:nvSpPr>
        <p:spPr>
          <a:xfrm>
            <a:off x="4478745" y="5573776"/>
            <a:ext cx="381756"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ESX</a:t>
            </a:r>
            <a:endParaRPr/>
          </a:p>
        </p:txBody>
      </p:sp>
      <p:sp>
        <p:nvSpPr>
          <p:cNvPr id="6234" name="Google Shape;6234;p29"/>
          <p:cNvSpPr txBox="1"/>
          <p:nvPr/>
        </p:nvSpPr>
        <p:spPr>
          <a:xfrm>
            <a:off x="6307545" y="5573776"/>
            <a:ext cx="371976"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ESX</a:t>
            </a:r>
            <a:endParaRPr/>
          </a:p>
        </p:txBody>
      </p:sp>
      <p:sp>
        <p:nvSpPr>
          <p:cNvPr id="6235" name="Google Shape;6235;p29"/>
          <p:cNvSpPr/>
          <p:nvPr/>
        </p:nvSpPr>
        <p:spPr>
          <a:xfrm>
            <a:off x="3287725" y="3141071"/>
            <a:ext cx="2393396" cy="559993"/>
          </a:xfrm>
          <a:prstGeom prst="roundRect">
            <a:avLst>
              <a:gd name="adj" fmla="val 16667"/>
            </a:avLst>
          </a:prstGeom>
          <a:noFill/>
          <a:ln w="9525" cap="flat" cmpd="sng">
            <a:solidFill>
              <a:srgbClr val="61A60E"/>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6236" name="Google Shape;6236;p29"/>
          <p:cNvSpPr/>
          <p:nvPr/>
        </p:nvSpPr>
        <p:spPr>
          <a:xfrm>
            <a:off x="3287725" y="2334026"/>
            <a:ext cx="2393396" cy="559993"/>
          </a:xfrm>
          <a:prstGeom prst="roundRect">
            <a:avLst>
              <a:gd name="adj" fmla="val 16667"/>
            </a:avLst>
          </a:prstGeom>
          <a:noFill/>
          <a:ln w="9525" cap="flat" cmpd="sng">
            <a:solidFill>
              <a:schemeClr val="accent2"/>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dk1"/>
              </a:solidFill>
              <a:latin typeface="Arial"/>
              <a:ea typeface="Arial"/>
              <a:cs typeface="Arial"/>
              <a:sym typeface="Arial"/>
            </a:endParaRPr>
          </a:p>
        </p:txBody>
      </p:sp>
      <p:sp>
        <p:nvSpPr>
          <p:cNvPr id="6237" name="Google Shape;6237;p29"/>
          <p:cNvSpPr/>
          <p:nvPr/>
        </p:nvSpPr>
        <p:spPr>
          <a:xfrm>
            <a:off x="3613966" y="3795541"/>
            <a:ext cx="240135" cy="240472"/>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sp>
        <p:nvSpPr>
          <p:cNvPr id="6238" name="Google Shape;6238;p29"/>
          <p:cNvSpPr/>
          <p:nvPr/>
        </p:nvSpPr>
        <p:spPr>
          <a:xfrm>
            <a:off x="5610210" y="3776293"/>
            <a:ext cx="240135" cy="240472"/>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sp>
        <p:nvSpPr>
          <p:cNvPr id="6239" name="Google Shape;6239;p29"/>
          <p:cNvSpPr/>
          <p:nvPr/>
        </p:nvSpPr>
        <p:spPr>
          <a:xfrm rot="10800000" flipH="1">
            <a:off x="8372825" y="1589923"/>
            <a:ext cx="3816000"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6240" name="Google Shape;6240;p29"/>
          <p:cNvSpPr/>
          <p:nvPr/>
        </p:nvSpPr>
        <p:spPr>
          <a:xfrm flipH="1">
            <a:off x="608013" y="1600200"/>
            <a:ext cx="7315200" cy="359229"/>
          </a:xfrm>
          <a:prstGeom prst="round2SameRect">
            <a:avLst>
              <a:gd name="adj1" fmla="val 20630"/>
              <a:gd name="adj2" fmla="val 0"/>
            </a:avLst>
          </a:prstGeom>
          <a:solidFill>
            <a:srgbClr val="E8E8EA"/>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US" sz="1200" b="1" cap="none">
                <a:solidFill>
                  <a:srgbClr val="000000"/>
                </a:solidFill>
                <a:latin typeface="Arial"/>
                <a:ea typeface="Arial"/>
                <a:cs typeface="Arial"/>
                <a:sym typeface="Arial"/>
              </a:rPr>
              <a:t>PHYSICAL NETWORK</a:t>
            </a:r>
            <a:endParaRPr/>
          </a:p>
        </p:txBody>
      </p:sp>
      <p:sp>
        <p:nvSpPr>
          <p:cNvPr id="6241" name="Google Shape;6241;p29"/>
          <p:cNvSpPr txBox="1"/>
          <p:nvPr/>
        </p:nvSpPr>
        <p:spPr>
          <a:xfrm>
            <a:off x="2513814" y="3876427"/>
            <a:ext cx="664755"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NSX Edge</a:t>
            </a:r>
            <a:endParaRPr/>
          </a:p>
        </p:txBody>
      </p:sp>
      <p:sp>
        <p:nvSpPr>
          <p:cNvPr id="6242" name="Google Shape;6242;p29"/>
          <p:cNvSpPr txBox="1"/>
          <p:nvPr/>
        </p:nvSpPr>
        <p:spPr>
          <a:xfrm>
            <a:off x="4515258" y="3876427"/>
            <a:ext cx="664755"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NSX Edge</a:t>
            </a:r>
            <a:endParaRPr/>
          </a:p>
        </p:txBody>
      </p:sp>
      <p:sp>
        <p:nvSpPr>
          <p:cNvPr id="6243" name="Google Shape;6243;p29"/>
          <p:cNvSpPr/>
          <p:nvPr/>
        </p:nvSpPr>
        <p:spPr>
          <a:xfrm>
            <a:off x="3300649" y="3165446"/>
            <a:ext cx="541238" cy="540000"/>
          </a:xfrm>
          <a:custGeom>
            <a:avLst/>
            <a:gdLst/>
            <a:ahLst/>
            <a:cxnLst/>
            <a:rect l="l" t="t" r="r" b="b"/>
            <a:pathLst>
              <a:path w="1139359" h="1139359" extrusionOk="0">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sp>
        <p:nvSpPr>
          <p:cNvPr id="6244" name="Google Shape;6244;p29"/>
          <p:cNvSpPr txBox="1"/>
          <p:nvPr/>
        </p:nvSpPr>
        <p:spPr>
          <a:xfrm>
            <a:off x="2780871" y="3266670"/>
            <a:ext cx="97405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4"/>
                </a:solidFill>
                <a:latin typeface="Arial"/>
                <a:ea typeface="Arial"/>
                <a:cs typeface="Arial"/>
                <a:sym typeface="Arial"/>
              </a:rPr>
              <a:t>Transit</a:t>
            </a:r>
            <a:endParaRPr/>
          </a:p>
          <a:p>
            <a:pPr marL="0" marR="0" lvl="0" indent="0" algn="l" rtl="0">
              <a:spcBef>
                <a:spcPts val="0"/>
              </a:spcBef>
              <a:spcAft>
                <a:spcPts val="0"/>
              </a:spcAft>
              <a:buNone/>
            </a:pPr>
            <a:r>
              <a:rPr lang="en-US" sz="1000">
                <a:solidFill>
                  <a:schemeClr val="accent4"/>
                </a:solidFill>
                <a:latin typeface="Arial"/>
                <a:ea typeface="Arial"/>
                <a:cs typeface="Arial"/>
                <a:sym typeface="Arial"/>
              </a:rPr>
              <a:t>Gateway</a:t>
            </a:r>
            <a:endParaRPr/>
          </a:p>
        </p:txBody>
      </p:sp>
      <p:grpSp>
        <p:nvGrpSpPr>
          <p:cNvPr id="6245" name="Google Shape;6245;p29"/>
          <p:cNvGrpSpPr/>
          <p:nvPr/>
        </p:nvGrpSpPr>
        <p:grpSpPr>
          <a:xfrm>
            <a:off x="2787207" y="5855142"/>
            <a:ext cx="3056154" cy="265509"/>
            <a:chOff x="2620950" y="5869812"/>
            <a:chExt cx="3056154" cy="265509"/>
          </a:xfrm>
        </p:grpSpPr>
        <p:sp>
          <p:nvSpPr>
            <p:cNvPr id="6246" name="Google Shape;6246;p29"/>
            <p:cNvSpPr/>
            <p:nvPr/>
          </p:nvSpPr>
          <p:spPr>
            <a:xfrm>
              <a:off x="2742826" y="5915992"/>
              <a:ext cx="2934278" cy="1661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200" b="1" cap="none">
                  <a:solidFill>
                    <a:srgbClr val="000000"/>
                  </a:solidFill>
                  <a:latin typeface="Arial"/>
                  <a:ea typeface="Arial"/>
                  <a:cs typeface="Arial"/>
                  <a:sym typeface="Arial"/>
                </a:rPr>
                <a:t>VMWARE CLOUD FOUNDATION</a:t>
              </a:r>
              <a:endParaRPr/>
            </a:p>
          </p:txBody>
        </p:sp>
        <p:pic>
          <p:nvPicPr>
            <p:cNvPr id="6247" name="Google Shape;6247;p29"/>
            <p:cNvPicPr preferRelativeResize="0"/>
            <p:nvPr/>
          </p:nvPicPr>
          <p:blipFill rotWithShape="1">
            <a:blip r:embed="rId3">
              <a:alphaModFix/>
            </a:blip>
            <a:srcRect/>
            <a:stretch/>
          </p:blipFill>
          <p:spPr>
            <a:xfrm>
              <a:off x="2620950" y="5869812"/>
              <a:ext cx="313492" cy="265509"/>
            </a:xfrm>
            <a:prstGeom prst="rect">
              <a:avLst/>
            </a:prstGeom>
            <a:noFill/>
            <a:ln>
              <a:noFill/>
            </a:ln>
          </p:spPr>
        </p:pic>
      </p:grpSp>
      <p:sp>
        <p:nvSpPr>
          <p:cNvPr id="6248" name="Google Shape;6248;p29"/>
          <p:cNvSpPr txBox="1"/>
          <p:nvPr/>
        </p:nvSpPr>
        <p:spPr>
          <a:xfrm>
            <a:off x="1691619" y="3602892"/>
            <a:ext cx="57598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7030A0"/>
                </a:solidFill>
                <a:latin typeface="Arial"/>
                <a:ea typeface="Arial"/>
                <a:cs typeface="Arial"/>
                <a:sym typeface="Arial"/>
              </a:rPr>
              <a:t>VPC Gateway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4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4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2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2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2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2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23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13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13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1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13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22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22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23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23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23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24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11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253"/>
        <p:cNvGrpSpPr/>
        <p:nvPr/>
      </p:nvGrpSpPr>
      <p:grpSpPr>
        <a:xfrm>
          <a:off x="0" y="0"/>
          <a:ext cx="0" cy="0"/>
          <a:chOff x="0" y="0"/>
          <a:chExt cx="0" cy="0"/>
        </a:xfrm>
      </p:grpSpPr>
      <p:sp>
        <p:nvSpPr>
          <p:cNvPr id="6254" name="Google Shape;6254;p30"/>
          <p:cNvSpPr/>
          <p:nvPr/>
        </p:nvSpPr>
        <p:spPr>
          <a:xfrm flipH="1">
            <a:off x="608013" y="1600200"/>
            <a:ext cx="7315200" cy="914400"/>
          </a:xfrm>
          <a:prstGeom prst="round2SameRect">
            <a:avLst>
              <a:gd name="adj1" fmla="val 7233"/>
              <a:gd name="adj2" fmla="val 0"/>
            </a:avLst>
          </a:prstGeom>
          <a:solidFill>
            <a:srgbClr val="E8E8EA"/>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US" sz="1200" b="1" cap="none">
                <a:solidFill>
                  <a:srgbClr val="000000"/>
                </a:solidFill>
                <a:latin typeface="Arial"/>
                <a:ea typeface="Arial"/>
                <a:cs typeface="Arial"/>
                <a:sym typeface="Arial"/>
              </a:rPr>
              <a:t>PHYSICAL NETWORK</a:t>
            </a:r>
            <a:endParaRPr/>
          </a:p>
        </p:txBody>
      </p:sp>
      <p:sp>
        <p:nvSpPr>
          <p:cNvPr id="6255" name="Google Shape;6255;p30"/>
          <p:cNvSpPr/>
          <p:nvPr/>
        </p:nvSpPr>
        <p:spPr>
          <a:xfrm rot="10800000" flipH="1">
            <a:off x="608013" y="2626326"/>
            <a:ext cx="7315200" cy="3545873"/>
          </a:xfrm>
          <a:prstGeom prst="round2SameRect">
            <a:avLst>
              <a:gd name="adj1" fmla="val 5333"/>
              <a:gd name="adj2" fmla="val 0"/>
            </a:avLst>
          </a:prstGeom>
          <a:solidFill>
            <a:schemeClr val="accent2">
              <a:alpha val="9803"/>
            </a:schemeClr>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1200" b="1" cap="none">
              <a:solidFill>
                <a:srgbClr val="000000"/>
              </a:solidFill>
              <a:latin typeface="Arial"/>
              <a:ea typeface="Arial"/>
              <a:cs typeface="Arial"/>
              <a:sym typeface="Arial"/>
            </a:endParaRPr>
          </a:p>
        </p:txBody>
      </p:sp>
      <p:grpSp>
        <p:nvGrpSpPr>
          <p:cNvPr id="6256" name="Google Shape;6256;p30"/>
          <p:cNvGrpSpPr/>
          <p:nvPr/>
        </p:nvGrpSpPr>
        <p:grpSpPr>
          <a:xfrm>
            <a:off x="821142" y="2842957"/>
            <a:ext cx="6859587" cy="2877066"/>
            <a:chOff x="612646" y="3107809"/>
            <a:chExt cx="6859587" cy="2877066"/>
          </a:xfrm>
        </p:grpSpPr>
        <p:sp>
          <p:nvSpPr>
            <p:cNvPr id="6257" name="Google Shape;6257;p30"/>
            <p:cNvSpPr/>
            <p:nvPr/>
          </p:nvSpPr>
          <p:spPr>
            <a:xfrm>
              <a:off x="2436813" y="3107810"/>
              <a:ext cx="1371600" cy="2877065"/>
            </a:xfrm>
            <a:prstGeom prst="roundRect">
              <a:avLst>
                <a:gd name="adj" fmla="val 4189"/>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sp>
          <p:nvSpPr>
            <p:cNvPr id="6258" name="Google Shape;6258;p30"/>
            <p:cNvSpPr/>
            <p:nvPr/>
          </p:nvSpPr>
          <p:spPr>
            <a:xfrm>
              <a:off x="612646" y="3107809"/>
              <a:ext cx="1371600" cy="2877065"/>
            </a:xfrm>
            <a:prstGeom prst="roundRect">
              <a:avLst>
                <a:gd name="adj" fmla="val 4189"/>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sp>
          <p:nvSpPr>
            <p:cNvPr id="6259" name="Google Shape;6259;p30"/>
            <p:cNvSpPr/>
            <p:nvPr/>
          </p:nvSpPr>
          <p:spPr>
            <a:xfrm>
              <a:off x="4268184" y="3107810"/>
              <a:ext cx="1371600" cy="2877065"/>
            </a:xfrm>
            <a:prstGeom prst="roundRect">
              <a:avLst>
                <a:gd name="adj" fmla="val 5259"/>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sp>
          <p:nvSpPr>
            <p:cNvPr id="6260" name="Google Shape;6260;p30"/>
            <p:cNvSpPr/>
            <p:nvPr/>
          </p:nvSpPr>
          <p:spPr>
            <a:xfrm>
              <a:off x="6100633" y="3107810"/>
              <a:ext cx="1371600" cy="2877065"/>
            </a:xfrm>
            <a:prstGeom prst="roundRect">
              <a:avLst>
                <a:gd name="adj" fmla="val 4189"/>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spcBef>
                  <a:spcPts val="0"/>
                </a:spcBef>
                <a:spcAft>
                  <a:spcPts val="0"/>
                </a:spcAft>
                <a:buNone/>
              </a:pPr>
              <a:endParaRPr sz="1000">
                <a:solidFill>
                  <a:srgbClr val="7F7F7F"/>
                </a:solidFill>
                <a:latin typeface="Arial"/>
                <a:ea typeface="Arial"/>
                <a:cs typeface="Arial"/>
                <a:sym typeface="Arial"/>
              </a:endParaRPr>
            </a:p>
          </p:txBody>
        </p:sp>
      </p:grpSp>
      <p:sp>
        <p:nvSpPr>
          <p:cNvPr id="6261" name="Google Shape;6261;p3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External Connectivity without NSX Edges</a:t>
            </a:r>
            <a:endParaRPr/>
          </a:p>
        </p:txBody>
      </p:sp>
      <p:sp>
        <p:nvSpPr>
          <p:cNvPr id="6262" name="Google Shape;6262;p3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Distributed Transit Gateway</a:t>
            </a:r>
            <a:endParaRPr/>
          </a:p>
        </p:txBody>
      </p:sp>
      <p:sp>
        <p:nvSpPr>
          <p:cNvPr id="6263" name="Google Shape;6263;p30"/>
          <p:cNvSpPr txBox="1">
            <a:spLocks noGrp="1"/>
          </p:cNvSpPr>
          <p:nvPr>
            <p:ph type="body" idx="4294967295"/>
          </p:nvPr>
        </p:nvSpPr>
        <p:spPr>
          <a:xfrm>
            <a:off x="8380413" y="2057400"/>
            <a:ext cx="3808412" cy="4114800"/>
          </a:xfrm>
          <a:prstGeom prst="rect">
            <a:avLst/>
          </a:prstGeom>
          <a:noFill/>
          <a:ln>
            <a:noFill/>
          </a:ln>
        </p:spPr>
        <p:txBody>
          <a:bodyPr spcFirstLastPara="1" wrap="square" lIns="0" tIns="0" rIns="503975" bIns="0" anchor="t" anchorCtr="0">
            <a:noAutofit/>
          </a:bodyPr>
          <a:lstStyle/>
          <a:p>
            <a:pPr marL="180000" lvl="0" indent="-91440" algn="l" rtl="0">
              <a:lnSpc>
                <a:spcPct val="100000"/>
              </a:lnSpc>
              <a:spcBef>
                <a:spcPts val="0"/>
              </a:spcBef>
              <a:spcAft>
                <a:spcPts val="0"/>
              </a:spcAft>
              <a:buSzPts val="1440"/>
              <a:buChar char="​"/>
            </a:pPr>
            <a:r>
              <a:rPr lang="en-US" sz="1600">
                <a:solidFill>
                  <a:schemeClr val="accent2"/>
                </a:solidFill>
              </a:rPr>
              <a:t>The transit gateway can attach to a </a:t>
            </a:r>
            <a:r>
              <a:rPr lang="en-US" sz="1600" b="1">
                <a:solidFill>
                  <a:schemeClr val="accent2"/>
                </a:solidFill>
              </a:rPr>
              <a:t>distributed</a:t>
            </a:r>
            <a:r>
              <a:rPr lang="en-US" sz="1600">
                <a:solidFill>
                  <a:schemeClr val="accent2"/>
                </a:solidFill>
              </a:rPr>
              <a:t> external connection.</a:t>
            </a:r>
            <a:endParaRPr/>
          </a:p>
          <a:p>
            <a:pPr marL="180000" lvl="0" indent="-91440" algn="l" rtl="0">
              <a:lnSpc>
                <a:spcPct val="100000"/>
              </a:lnSpc>
              <a:spcBef>
                <a:spcPts val="600"/>
              </a:spcBef>
              <a:spcAft>
                <a:spcPts val="0"/>
              </a:spcAft>
              <a:buSzPts val="1440"/>
              <a:buChar char="​"/>
            </a:pPr>
            <a:r>
              <a:rPr lang="en-US" sz="1600">
                <a:solidFill>
                  <a:schemeClr val="accent2"/>
                </a:solidFill>
              </a:rPr>
              <a:t>In that case, it has no centralized component: </a:t>
            </a:r>
            <a:endParaRPr/>
          </a:p>
          <a:p>
            <a:pPr marL="540000" lvl="1" indent="-184149" algn="l" rtl="0">
              <a:lnSpc>
                <a:spcPct val="100000"/>
              </a:lnSpc>
              <a:spcBef>
                <a:spcPts val="1200"/>
              </a:spcBef>
              <a:spcAft>
                <a:spcPts val="0"/>
              </a:spcAft>
              <a:buClr>
                <a:schemeClr val="accent2"/>
              </a:buClr>
              <a:buSzPts val="1260"/>
              <a:buChar char="•"/>
            </a:pPr>
            <a:r>
              <a:rPr lang="en-US" sz="1400">
                <a:solidFill>
                  <a:schemeClr val="accent2"/>
                </a:solidFill>
              </a:rPr>
              <a:t>NSX edges are not required </a:t>
            </a:r>
            <a:endParaRPr/>
          </a:p>
          <a:p>
            <a:pPr marL="540000" lvl="1" indent="-184149" algn="l" rtl="0">
              <a:lnSpc>
                <a:spcPct val="100000"/>
              </a:lnSpc>
              <a:spcBef>
                <a:spcPts val="1200"/>
              </a:spcBef>
              <a:spcAft>
                <a:spcPts val="0"/>
              </a:spcAft>
              <a:buClr>
                <a:schemeClr val="accent2"/>
              </a:buClr>
              <a:buSzPts val="1260"/>
              <a:buChar char="•"/>
            </a:pPr>
            <a:r>
              <a:rPr lang="en-US" sz="1400">
                <a:solidFill>
                  <a:schemeClr val="accent2"/>
                </a:solidFill>
              </a:rPr>
              <a:t>All ESX hosts must be connected to a VLAN providing an IP block for external addresses used by VMs</a:t>
            </a:r>
            <a:endParaRPr/>
          </a:p>
          <a:p>
            <a:pPr marL="180000" lvl="0" indent="-91440" algn="l" rtl="0">
              <a:lnSpc>
                <a:spcPct val="100000"/>
              </a:lnSpc>
              <a:spcBef>
                <a:spcPts val="1800"/>
              </a:spcBef>
              <a:spcAft>
                <a:spcPts val="0"/>
              </a:spcAft>
              <a:buSzPts val="1440"/>
              <a:buChar char="​"/>
            </a:pPr>
            <a:r>
              <a:rPr lang="en-US" sz="1600">
                <a:solidFill>
                  <a:schemeClr val="accent2"/>
                </a:solidFill>
              </a:rPr>
              <a:t>Distributed services: </a:t>
            </a:r>
            <a:endParaRPr/>
          </a:p>
          <a:p>
            <a:pPr marL="540000" lvl="1" indent="-184149" algn="l" rtl="0">
              <a:lnSpc>
                <a:spcPct val="100000"/>
              </a:lnSpc>
              <a:spcBef>
                <a:spcPts val="1200"/>
              </a:spcBef>
              <a:spcAft>
                <a:spcPts val="0"/>
              </a:spcAft>
              <a:buClr>
                <a:schemeClr val="accent2"/>
              </a:buClr>
              <a:buSzPts val="1260"/>
              <a:buChar char="•"/>
            </a:pPr>
            <a:r>
              <a:rPr lang="en-US" sz="1400">
                <a:solidFill>
                  <a:schemeClr val="accent2"/>
                </a:solidFill>
              </a:rPr>
              <a:t>1:1 NAT and </a:t>
            </a:r>
            <a:endParaRPr/>
          </a:p>
          <a:p>
            <a:pPr marL="540000" lvl="1" indent="-184149" algn="l" rtl="0">
              <a:lnSpc>
                <a:spcPct val="100000"/>
              </a:lnSpc>
              <a:spcBef>
                <a:spcPts val="1200"/>
              </a:spcBef>
              <a:spcAft>
                <a:spcPts val="0"/>
              </a:spcAft>
              <a:buClr>
                <a:schemeClr val="accent2"/>
              </a:buClr>
              <a:buSzPts val="1260"/>
              <a:buChar char="•"/>
            </a:pPr>
            <a:r>
              <a:rPr lang="en-US" sz="1400">
                <a:solidFill>
                  <a:schemeClr val="accent2"/>
                </a:solidFill>
              </a:rPr>
              <a:t>distributed DHCP</a:t>
            </a:r>
            <a:endParaRPr/>
          </a:p>
        </p:txBody>
      </p:sp>
      <p:cxnSp>
        <p:nvCxnSpPr>
          <p:cNvPr id="6264" name="Google Shape;6264;p30"/>
          <p:cNvCxnSpPr/>
          <p:nvPr/>
        </p:nvCxnSpPr>
        <p:spPr>
          <a:xfrm>
            <a:off x="3564342" y="3701108"/>
            <a:ext cx="0" cy="668759"/>
          </a:xfrm>
          <a:prstGeom prst="straightConnector1">
            <a:avLst/>
          </a:prstGeom>
          <a:noFill/>
          <a:ln w="25400" cap="rnd" cmpd="sng">
            <a:solidFill>
              <a:schemeClr val="accent4"/>
            </a:solidFill>
            <a:prstDash val="solid"/>
            <a:miter lim="800000"/>
            <a:headEnd type="none" w="sm" len="sm"/>
            <a:tailEnd type="none" w="sm" len="sm"/>
          </a:ln>
        </p:spPr>
      </p:cxnSp>
      <p:sp>
        <p:nvSpPr>
          <p:cNvPr id="6265" name="Google Shape;6265;p30"/>
          <p:cNvSpPr/>
          <p:nvPr/>
        </p:nvSpPr>
        <p:spPr>
          <a:xfrm>
            <a:off x="1476480" y="3165446"/>
            <a:ext cx="541238" cy="540000"/>
          </a:xfrm>
          <a:custGeom>
            <a:avLst/>
            <a:gdLst/>
            <a:ahLst/>
            <a:cxnLst/>
            <a:rect l="l" t="t" r="r" b="b"/>
            <a:pathLst>
              <a:path w="1139359" h="1139359" extrusionOk="0">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sp>
        <p:nvSpPr>
          <p:cNvPr id="6266" name="Google Shape;6266;p30"/>
          <p:cNvSpPr txBox="1"/>
          <p:nvPr/>
        </p:nvSpPr>
        <p:spPr>
          <a:xfrm>
            <a:off x="928649" y="3254229"/>
            <a:ext cx="498916"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4"/>
                </a:solidFill>
                <a:latin typeface="Arial"/>
                <a:ea typeface="Arial"/>
                <a:cs typeface="Arial"/>
                <a:sym typeface="Arial"/>
              </a:rPr>
              <a:t>Transit </a:t>
            </a:r>
            <a:endParaRPr/>
          </a:p>
          <a:p>
            <a:pPr marL="0" marR="0" lvl="0" indent="0" algn="l" rtl="0">
              <a:spcBef>
                <a:spcPts val="0"/>
              </a:spcBef>
              <a:spcAft>
                <a:spcPts val="0"/>
              </a:spcAft>
              <a:buNone/>
            </a:pPr>
            <a:r>
              <a:rPr lang="en-US" sz="1000">
                <a:solidFill>
                  <a:schemeClr val="accent4"/>
                </a:solidFill>
                <a:latin typeface="Arial"/>
                <a:ea typeface="Arial"/>
                <a:cs typeface="Arial"/>
                <a:sym typeface="Arial"/>
              </a:rPr>
              <a:t>Gateway</a:t>
            </a:r>
            <a:endParaRPr/>
          </a:p>
        </p:txBody>
      </p:sp>
      <p:cxnSp>
        <p:nvCxnSpPr>
          <p:cNvPr id="6267" name="Google Shape;6267;p30"/>
          <p:cNvCxnSpPr/>
          <p:nvPr/>
        </p:nvCxnSpPr>
        <p:spPr>
          <a:xfrm>
            <a:off x="1740175" y="3701108"/>
            <a:ext cx="0" cy="659134"/>
          </a:xfrm>
          <a:prstGeom prst="straightConnector1">
            <a:avLst/>
          </a:prstGeom>
          <a:noFill/>
          <a:ln w="25400" cap="rnd" cmpd="sng">
            <a:solidFill>
              <a:schemeClr val="accent4"/>
            </a:solidFill>
            <a:prstDash val="solid"/>
            <a:miter lim="800000"/>
            <a:headEnd type="none" w="sm" len="sm"/>
            <a:tailEnd type="none" w="sm" len="sm"/>
          </a:ln>
        </p:spPr>
      </p:cxnSp>
      <p:sp>
        <p:nvSpPr>
          <p:cNvPr id="6268" name="Google Shape;6268;p30"/>
          <p:cNvSpPr/>
          <p:nvPr/>
        </p:nvSpPr>
        <p:spPr>
          <a:xfrm>
            <a:off x="5132018" y="3165446"/>
            <a:ext cx="541238" cy="540000"/>
          </a:xfrm>
          <a:custGeom>
            <a:avLst/>
            <a:gdLst/>
            <a:ahLst/>
            <a:cxnLst/>
            <a:rect l="l" t="t" r="r" b="b"/>
            <a:pathLst>
              <a:path w="1139359" h="1139359" extrusionOk="0">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sp>
        <p:nvSpPr>
          <p:cNvPr id="6269" name="Google Shape;6269;p30"/>
          <p:cNvSpPr txBox="1"/>
          <p:nvPr/>
        </p:nvSpPr>
        <p:spPr>
          <a:xfrm>
            <a:off x="4584187" y="3254229"/>
            <a:ext cx="498916"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4"/>
                </a:solidFill>
                <a:latin typeface="Arial"/>
                <a:ea typeface="Arial"/>
                <a:cs typeface="Arial"/>
                <a:sym typeface="Arial"/>
              </a:rPr>
              <a:t>Transit </a:t>
            </a:r>
            <a:endParaRPr/>
          </a:p>
          <a:p>
            <a:pPr marL="0" marR="0" lvl="0" indent="0" algn="l" rtl="0">
              <a:spcBef>
                <a:spcPts val="0"/>
              </a:spcBef>
              <a:spcAft>
                <a:spcPts val="0"/>
              </a:spcAft>
              <a:buNone/>
            </a:pPr>
            <a:r>
              <a:rPr lang="en-US" sz="1000">
                <a:solidFill>
                  <a:schemeClr val="accent4"/>
                </a:solidFill>
                <a:latin typeface="Arial"/>
                <a:ea typeface="Arial"/>
                <a:cs typeface="Arial"/>
                <a:sym typeface="Arial"/>
              </a:rPr>
              <a:t>Gateway</a:t>
            </a:r>
            <a:endParaRPr/>
          </a:p>
        </p:txBody>
      </p:sp>
      <p:cxnSp>
        <p:nvCxnSpPr>
          <p:cNvPr id="6270" name="Google Shape;6270;p30"/>
          <p:cNvCxnSpPr/>
          <p:nvPr/>
        </p:nvCxnSpPr>
        <p:spPr>
          <a:xfrm>
            <a:off x="5395713" y="3701108"/>
            <a:ext cx="0" cy="659134"/>
          </a:xfrm>
          <a:prstGeom prst="straightConnector1">
            <a:avLst/>
          </a:prstGeom>
          <a:noFill/>
          <a:ln w="25400" cap="rnd" cmpd="sng">
            <a:solidFill>
              <a:schemeClr val="accent4"/>
            </a:solidFill>
            <a:prstDash val="solid"/>
            <a:miter lim="800000"/>
            <a:headEnd type="none" w="sm" len="sm"/>
            <a:tailEnd type="none" w="sm" len="sm"/>
          </a:ln>
        </p:spPr>
      </p:cxnSp>
      <p:sp>
        <p:nvSpPr>
          <p:cNvPr id="6271" name="Google Shape;6271;p30"/>
          <p:cNvSpPr/>
          <p:nvPr/>
        </p:nvSpPr>
        <p:spPr>
          <a:xfrm>
            <a:off x="6964467" y="3165446"/>
            <a:ext cx="541238" cy="540000"/>
          </a:xfrm>
          <a:custGeom>
            <a:avLst/>
            <a:gdLst/>
            <a:ahLst/>
            <a:cxnLst/>
            <a:rect l="l" t="t" r="r" b="b"/>
            <a:pathLst>
              <a:path w="1139359" h="1139359" extrusionOk="0">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sp>
        <p:nvSpPr>
          <p:cNvPr id="6272" name="Google Shape;6272;p30"/>
          <p:cNvSpPr txBox="1"/>
          <p:nvPr/>
        </p:nvSpPr>
        <p:spPr>
          <a:xfrm>
            <a:off x="6416636" y="3254229"/>
            <a:ext cx="498916"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4"/>
                </a:solidFill>
                <a:latin typeface="Arial"/>
                <a:ea typeface="Arial"/>
                <a:cs typeface="Arial"/>
                <a:sym typeface="Arial"/>
              </a:rPr>
              <a:t>Transit </a:t>
            </a:r>
            <a:endParaRPr/>
          </a:p>
          <a:p>
            <a:pPr marL="0" marR="0" lvl="0" indent="0" algn="l" rtl="0">
              <a:spcBef>
                <a:spcPts val="0"/>
              </a:spcBef>
              <a:spcAft>
                <a:spcPts val="0"/>
              </a:spcAft>
              <a:buNone/>
            </a:pPr>
            <a:r>
              <a:rPr lang="en-US" sz="1000">
                <a:solidFill>
                  <a:schemeClr val="accent4"/>
                </a:solidFill>
                <a:latin typeface="Arial"/>
                <a:ea typeface="Arial"/>
                <a:cs typeface="Arial"/>
                <a:sym typeface="Arial"/>
              </a:rPr>
              <a:t>Gateway</a:t>
            </a:r>
            <a:endParaRPr/>
          </a:p>
        </p:txBody>
      </p:sp>
      <p:cxnSp>
        <p:nvCxnSpPr>
          <p:cNvPr id="6273" name="Google Shape;6273;p30"/>
          <p:cNvCxnSpPr/>
          <p:nvPr/>
        </p:nvCxnSpPr>
        <p:spPr>
          <a:xfrm>
            <a:off x="7228162" y="3701108"/>
            <a:ext cx="0" cy="659134"/>
          </a:xfrm>
          <a:prstGeom prst="straightConnector1">
            <a:avLst/>
          </a:prstGeom>
          <a:noFill/>
          <a:ln w="25400" cap="rnd" cmpd="sng">
            <a:solidFill>
              <a:schemeClr val="accent4"/>
            </a:solidFill>
            <a:prstDash val="solid"/>
            <a:miter lim="800000"/>
            <a:headEnd type="none" w="sm" len="sm"/>
            <a:tailEnd type="none" w="sm" len="sm"/>
          </a:ln>
        </p:spPr>
      </p:cxnSp>
      <p:grpSp>
        <p:nvGrpSpPr>
          <p:cNvPr id="6274" name="Google Shape;6274;p30"/>
          <p:cNvGrpSpPr/>
          <p:nvPr/>
        </p:nvGrpSpPr>
        <p:grpSpPr>
          <a:xfrm>
            <a:off x="1023726" y="4365528"/>
            <a:ext cx="6382598" cy="1274400"/>
            <a:chOff x="810597" y="4620600"/>
            <a:chExt cx="6382598" cy="1274400"/>
          </a:xfrm>
        </p:grpSpPr>
        <p:sp>
          <p:nvSpPr>
            <p:cNvPr id="6275" name="Google Shape;6275;p30"/>
            <p:cNvSpPr/>
            <p:nvPr/>
          </p:nvSpPr>
          <p:spPr>
            <a:xfrm>
              <a:off x="3171465" y="4620600"/>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276" name="Google Shape;6276;p30"/>
            <p:cNvCxnSpPr/>
            <p:nvPr/>
          </p:nvCxnSpPr>
          <p:spPr>
            <a:xfrm>
              <a:off x="2842177" y="5282152"/>
              <a:ext cx="509036" cy="0"/>
            </a:xfrm>
            <a:prstGeom prst="straightConnector1">
              <a:avLst/>
            </a:prstGeom>
            <a:noFill/>
            <a:ln w="25400" cap="rnd" cmpd="sng">
              <a:solidFill>
                <a:schemeClr val="accent5"/>
              </a:solidFill>
              <a:prstDash val="solid"/>
              <a:miter lim="800000"/>
              <a:headEnd type="none" w="sm" len="sm"/>
              <a:tailEnd type="none" w="sm" len="sm"/>
            </a:ln>
          </p:spPr>
        </p:cxnSp>
        <p:sp>
          <p:nvSpPr>
            <p:cNvPr id="6277" name="Google Shape;6277;p30"/>
            <p:cNvSpPr/>
            <p:nvPr/>
          </p:nvSpPr>
          <p:spPr>
            <a:xfrm>
              <a:off x="2634762" y="5195299"/>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278" name="Google Shape;6278;p30"/>
            <p:cNvCxnSpPr/>
            <p:nvPr/>
          </p:nvCxnSpPr>
          <p:spPr>
            <a:xfrm>
              <a:off x="3284285" y="4967769"/>
              <a:ext cx="0" cy="290031"/>
            </a:xfrm>
            <a:prstGeom prst="straightConnector1">
              <a:avLst/>
            </a:prstGeom>
            <a:noFill/>
            <a:ln w="25400" cap="rnd" cmpd="sng">
              <a:solidFill>
                <a:schemeClr val="accent5"/>
              </a:solidFill>
              <a:prstDash val="solid"/>
              <a:round/>
              <a:headEnd type="none" w="sm" len="sm"/>
              <a:tailEnd type="none" w="sm" len="sm"/>
            </a:ln>
          </p:spPr>
        </p:cxnSp>
        <p:cxnSp>
          <p:nvCxnSpPr>
            <p:cNvPr id="6279" name="Google Shape;6279;p30"/>
            <p:cNvCxnSpPr/>
            <p:nvPr/>
          </p:nvCxnSpPr>
          <p:spPr>
            <a:xfrm>
              <a:off x="3048000" y="5793185"/>
              <a:ext cx="402192" cy="0"/>
            </a:xfrm>
            <a:prstGeom prst="straightConnector1">
              <a:avLst/>
            </a:prstGeom>
            <a:noFill/>
            <a:ln w="25400" cap="rnd" cmpd="sng">
              <a:solidFill>
                <a:schemeClr val="accent5"/>
              </a:solidFill>
              <a:prstDash val="solid"/>
              <a:miter lim="800000"/>
              <a:headEnd type="none" w="sm" len="sm"/>
              <a:tailEnd type="none" w="sm" len="sm"/>
            </a:ln>
          </p:spPr>
        </p:cxnSp>
        <p:sp>
          <p:nvSpPr>
            <p:cNvPr id="6280" name="Google Shape;6280;p30"/>
            <p:cNvSpPr/>
            <p:nvPr/>
          </p:nvSpPr>
          <p:spPr>
            <a:xfrm>
              <a:off x="2823424" y="5715000"/>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281" name="Google Shape;6281;p30"/>
            <p:cNvCxnSpPr/>
            <p:nvPr/>
          </p:nvCxnSpPr>
          <p:spPr>
            <a:xfrm>
              <a:off x="3407501" y="4972102"/>
              <a:ext cx="0" cy="812878"/>
            </a:xfrm>
            <a:prstGeom prst="straightConnector1">
              <a:avLst/>
            </a:prstGeom>
            <a:noFill/>
            <a:ln w="25400" cap="rnd" cmpd="sng">
              <a:solidFill>
                <a:schemeClr val="accent5"/>
              </a:solidFill>
              <a:prstDash val="solid"/>
              <a:round/>
              <a:headEnd type="none" w="sm" len="sm"/>
              <a:tailEnd type="none" w="sm" len="sm"/>
            </a:ln>
          </p:spPr>
        </p:cxnSp>
        <p:grpSp>
          <p:nvGrpSpPr>
            <p:cNvPr id="6282" name="Google Shape;6282;p30"/>
            <p:cNvGrpSpPr/>
            <p:nvPr/>
          </p:nvGrpSpPr>
          <p:grpSpPr>
            <a:xfrm>
              <a:off x="2829689" y="4888089"/>
              <a:ext cx="269469" cy="269658"/>
              <a:chOff x="658852" y="4954224"/>
              <a:chExt cx="583799" cy="584209"/>
            </a:xfrm>
          </p:grpSpPr>
          <p:sp>
            <p:nvSpPr>
              <p:cNvPr id="6283" name="Google Shape;6283;p30"/>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284" name="Google Shape;6284;p30"/>
              <p:cNvGrpSpPr/>
              <p:nvPr/>
            </p:nvGrpSpPr>
            <p:grpSpPr>
              <a:xfrm>
                <a:off x="834156" y="5211637"/>
                <a:ext cx="216359" cy="78004"/>
                <a:chOff x="834156" y="5211637"/>
                <a:chExt cx="216359" cy="78004"/>
              </a:xfrm>
            </p:grpSpPr>
            <p:sp>
              <p:nvSpPr>
                <p:cNvPr id="6285" name="Google Shape;6285;p30"/>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286" name="Google Shape;6286;p30"/>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287" name="Google Shape;6287;p30"/>
            <p:cNvCxnSpPr/>
            <p:nvPr/>
          </p:nvCxnSpPr>
          <p:spPr>
            <a:xfrm>
              <a:off x="2964424" y="5152127"/>
              <a:ext cx="0" cy="129536"/>
            </a:xfrm>
            <a:prstGeom prst="straightConnector1">
              <a:avLst/>
            </a:prstGeom>
            <a:noFill/>
            <a:ln w="25400" cap="rnd" cmpd="sng">
              <a:solidFill>
                <a:schemeClr val="accent5"/>
              </a:solidFill>
              <a:prstDash val="solid"/>
              <a:round/>
              <a:headEnd type="none" w="sm" len="sm"/>
              <a:tailEnd type="none" w="sm" len="sm"/>
            </a:ln>
          </p:spPr>
        </p:cxnSp>
        <p:grpSp>
          <p:nvGrpSpPr>
            <p:cNvPr id="6288" name="Google Shape;6288;p30"/>
            <p:cNvGrpSpPr/>
            <p:nvPr/>
          </p:nvGrpSpPr>
          <p:grpSpPr>
            <a:xfrm>
              <a:off x="3021626" y="5400026"/>
              <a:ext cx="269469" cy="393574"/>
              <a:chOff x="3513038" y="5321426"/>
              <a:chExt cx="269469" cy="393574"/>
            </a:xfrm>
          </p:grpSpPr>
          <p:grpSp>
            <p:nvGrpSpPr>
              <p:cNvPr id="6289" name="Google Shape;6289;p30"/>
              <p:cNvGrpSpPr/>
              <p:nvPr/>
            </p:nvGrpSpPr>
            <p:grpSpPr>
              <a:xfrm>
                <a:off x="3513038" y="5321426"/>
                <a:ext cx="269469" cy="269658"/>
                <a:chOff x="658852" y="4954224"/>
                <a:chExt cx="583799" cy="584209"/>
              </a:xfrm>
            </p:grpSpPr>
            <p:sp>
              <p:nvSpPr>
                <p:cNvPr id="6290" name="Google Shape;6290;p30"/>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291" name="Google Shape;6291;p30"/>
                <p:cNvGrpSpPr/>
                <p:nvPr/>
              </p:nvGrpSpPr>
              <p:grpSpPr>
                <a:xfrm>
                  <a:off x="834156" y="5211637"/>
                  <a:ext cx="216359" cy="78004"/>
                  <a:chOff x="834156" y="5211637"/>
                  <a:chExt cx="216359" cy="78004"/>
                </a:xfrm>
              </p:grpSpPr>
              <p:sp>
                <p:nvSpPr>
                  <p:cNvPr id="6292" name="Google Shape;6292;p30"/>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293" name="Google Shape;6293;p30"/>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294" name="Google Shape;6294;p30"/>
              <p:cNvCxnSpPr/>
              <p:nvPr/>
            </p:nvCxnSpPr>
            <p:spPr>
              <a:xfrm>
                <a:off x="3647773" y="5585464"/>
                <a:ext cx="0" cy="129536"/>
              </a:xfrm>
              <a:prstGeom prst="straightConnector1">
                <a:avLst/>
              </a:prstGeom>
              <a:noFill/>
              <a:ln w="25400" cap="rnd" cmpd="sng">
                <a:solidFill>
                  <a:schemeClr val="accent5"/>
                </a:solidFill>
                <a:prstDash val="solid"/>
                <a:round/>
                <a:headEnd type="none" w="sm" len="sm"/>
                <a:tailEnd type="none" w="sm" len="sm"/>
              </a:ln>
            </p:spPr>
          </p:cxnSp>
        </p:grpSp>
        <p:sp>
          <p:nvSpPr>
            <p:cNvPr id="6295" name="Google Shape;6295;p30"/>
            <p:cNvSpPr/>
            <p:nvPr/>
          </p:nvSpPr>
          <p:spPr>
            <a:xfrm>
              <a:off x="5004900" y="4620600"/>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296" name="Google Shape;6296;p30"/>
            <p:cNvCxnSpPr/>
            <p:nvPr/>
          </p:nvCxnSpPr>
          <p:spPr>
            <a:xfrm>
              <a:off x="4675612" y="5282152"/>
              <a:ext cx="509036" cy="0"/>
            </a:xfrm>
            <a:prstGeom prst="straightConnector1">
              <a:avLst/>
            </a:prstGeom>
            <a:noFill/>
            <a:ln w="25400" cap="rnd" cmpd="sng">
              <a:solidFill>
                <a:schemeClr val="accent5"/>
              </a:solidFill>
              <a:prstDash val="solid"/>
              <a:miter lim="800000"/>
              <a:headEnd type="none" w="sm" len="sm"/>
              <a:tailEnd type="none" w="sm" len="sm"/>
            </a:ln>
          </p:spPr>
        </p:cxnSp>
        <p:sp>
          <p:nvSpPr>
            <p:cNvPr id="6297" name="Google Shape;6297;p30"/>
            <p:cNvSpPr/>
            <p:nvPr/>
          </p:nvSpPr>
          <p:spPr>
            <a:xfrm>
              <a:off x="4468197" y="5195299"/>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298" name="Google Shape;6298;p30"/>
            <p:cNvCxnSpPr/>
            <p:nvPr/>
          </p:nvCxnSpPr>
          <p:spPr>
            <a:xfrm>
              <a:off x="5117720" y="4967769"/>
              <a:ext cx="0" cy="290031"/>
            </a:xfrm>
            <a:prstGeom prst="straightConnector1">
              <a:avLst/>
            </a:prstGeom>
            <a:noFill/>
            <a:ln w="25400" cap="rnd" cmpd="sng">
              <a:solidFill>
                <a:schemeClr val="accent5"/>
              </a:solidFill>
              <a:prstDash val="solid"/>
              <a:round/>
              <a:headEnd type="none" w="sm" len="sm"/>
              <a:tailEnd type="none" w="sm" len="sm"/>
            </a:ln>
          </p:spPr>
        </p:cxnSp>
        <p:cxnSp>
          <p:nvCxnSpPr>
            <p:cNvPr id="6299" name="Google Shape;6299;p30"/>
            <p:cNvCxnSpPr/>
            <p:nvPr/>
          </p:nvCxnSpPr>
          <p:spPr>
            <a:xfrm>
              <a:off x="4881435" y="5793185"/>
              <a:ext cx="402192" cy="0"/>
            </a:xfrm>
            <a:prstGeom prst="straightConnector1">
              <a:avLst/>
            </a:prstGeom>
            <a:noFill/>
            <a:ln w="25400" cap="rnd" cmpd="sng">
              <a:solidFill>
                <a:schemeClr val="accent5"/>
              </a:solidFill>
              <a:prstDash val="solid"/>
              <a:miter lim="800000"/>
              <a:headEnd type="none" w="sm" len="sm"/>
              <a:tailEnd type="none" w="sm" len="sm"/>
            </a:ln>
          </p:spPr>
        </p:cxnSp>
        <p:sp>
          <p:nvSpPr>
            <p:cNvPr id="6300" name="Google Shape;6300;p30"/>
            <p:cNvSpPr/>
            <p:nvPr/>
          </p:nvSpPr>
          <p:spPr>
            <a:xfrm>
              <a:off x="4656859" y="5715000"/>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301" name="Google Shape;6301;p30"/>
            <p:cNvCxnSpPr/>
            <p:nvPr/>
          </p:nvCxnSpPr>
          <p:spPr>
            <a:xfrm>
              <a:off x="5240936" y="4972102"/>
              <a:ext cx="0" cy="812878"/>
            </a:xfrm>
            <a:prstGeom prst="straightConnector1">
              <a:avLst/>
            </a:prstGeom>
            <a:noFill/>
            <a:ln w="25400" cap="rnd" cmpd="sng">
              <a:solidFill>
                <a:schemeClr val="accent5"/>
              </a:solidFill>
              <a:prstDash val="solid"/>
              <a:round/>
              <a:headEnd type="none" w="sm" len="sm"/>
              <a:tailEnd type="none" w="sm" len="sm"/>
            </a:ln>
          </p:spPr>
        </p:cxnSp>
        <p:grpSp>
          <p:nvGrpSpPr>
            <p:cNvPr id="6302" name="Google Shape;6302;p30"/>
            <p:cNvGrpSpPr/>
            <p:nvPr/>
          </p:nvGrpSpPr>
          <p:grpSpPr>
            <a:xfrm>
              <a:off x="4663124" y="4888089"/>
              <a:ext cx="269469" cy="269658"/>
              <a:chOff x="658852" y="4954224"/>
              <a:chExt cx="583799" cy="584209"/>
            </a:xfrm>
          </p:grpSpPr>
          <p:sp>
            <p:nvSpPr>
              <p:cNvPr id="6303" name="Google Shape;6303;p30"/>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304" name="Google Shape;6304;p30"/>
              <p:cNvGrpSpPr/>
              <p:nvPr/>
            </p:nvGrpSpPr>
            <p:grpSpPr>
              <a:xfrm>
                <a:off x="834156" y="5211637"/>
                <a:ext cx="216359" cy="78004"/>
                <a:chOff x="834156" y="5211637"/>
                <a:chExt cx="216359" cy="78004"/>
              </a:xfrm>
            </p:grpSpPr>
            <p:sp>
              <p:nvSpPr>
                <p:cNvPr id="6305" name="Google Shape;6305;p30"/>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306" name="Google Shape;6306;p30"/>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307" name="Google Shape;6307;p30"/>
            <p:cNvCxnSpPr/>
            <p:nvPr/>
          </p:nvCxnSpPr>
          <p:spPr>
            <a:xfrm>
              <a:off x="4797859" y="5152127"/>
              <a:ext cx="0" cy="129536"/>
            </a:xfrm>
            <a:prstGeom prst="straightConnector1">
              <a:avLst/>
            </a:prstGeom>
            <a:noFill/>
            <a:ln w="25400" cap="rnd" cmpd="sng">
              <a:solidFill>
                <a:schemeClr val="accent5"/>
              </a:solidFill>
              <a:prstDash val="solid"/>
              <a:round/>
              <a:headEnd type="none" w="sm" len="sm"/>
              <a:tailEnd type="none" w="sm" len="sm"/>
            </a:ln>
          </p:spPr>
        </p:cxnSp>
        <p:grpSp>
          <p:nvGrpSpPr>
            <p:cNvPr id="6308" name="Google Shape;6308;p30"/>
            <p:cNvGrpSpPr/>
            <p:nvPr/>
          </p:nvGrpSpPr>
          <p:grpSpPr>
            <a:xfrm>
              <a:off x="4855061" y="5400026"/>
              <a:ext cx="269469" cy="393574"/>
              <a:chOff x="3513038" y="5321426"/>
              <a:chExt cx="269469" cy="393574"/>
            </a:xfrm>
          </p:grpSpPr>
          <p:grpSp>
            <p:nvGrpSpPr>
              <p:cNvPr id="6309" name="Google Shape;6309;p30"/>
              <p:cNvGrpSpPr/>
              <p:nvPr/>
            </p:nvGrpSpPr>
            <p:grpSpPr>
              <a:xfrm>
                <a:off x="3513038" y="5321426"/>
                <a:ext cx="269469" cy="269658"/>
                <a:chOff x="658852" y="4954224"/>
                <a:chExt cx="583799" cy="584209"/>
              </a:xfrm>
            </p:grpSpPr>
            <p:sp>
              <p:nvSpPr>
                <p:cNvPr id="6310" name="Google Shape;6310;p30"/>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311" name="Google Shape;6311;p30"/>
                <p:cNvGrpSpPr/>
                <p:nvPr/>
              </p:nvGrpSpPr>
              <p:grpSpPr>
                <a:xfrm>
                  <a:off x="834156" y="5211637"/>
                  <a:ext cx="216359" cy="78004"/>
                  <a:chOff x="834156" y="5211637"/>
                  <a:chExt cx="216359" cy="78004"/>
                </a:xfrm>
              </p:grpSpPr>
              <p:sp>
                <p:nvSpPr>
                  <p:cNvPr id="6312" name="Google Shape;6312;p30"/>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313" name="Google Shape;6313;p30"/>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314" name="Google Shape;6314;p30"/>
              <p:cNvCxnSpPr/>
              <p:nvPr/>
            </p:nvCxnSpPr>
            <p:spPr>
              <a:xfrm>
                <a:off x="3647773" y="5585464"/>
                <a:ext cx="0" cy="129536"/>
              </a:xfrm>
              <a:prstGeom prst="straightConnector1">
                <a:avLst/>
              </a:prstGeom>
              <a:noFill/>
              <a:ln w="25400" cap="rnd" cmpd="sng">
                <a:solidFill>
                  <a:schemeClr val="accent5"/>
                </a:solidFill>
                <a:prstDash val="solid"/>
                <a:round/>
                <a:headEnd type="none" w="sm" len="sm"/>
                <a:tailEnd type="none" w="sm" len="sm"/>
              </a:ln>
            </p:spPr>
          </p:cxnSp>
        </p:grpSp>
        <p:sp>
          <p:nvSpPr>
            <p:cNvPr id="6315" name="Google Shape;6315;p30"/>
            <p:cNvSpPr/>
            <p:nvPr/>
          </p:nvSpPr>
          <p:spPr>
            <a:xfrm>
              <a:off x="6833700" y="4620600"/>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316" name="Google Shape;6316;p30"/>
            <p:cNvCxnSpPr/>
            <p:nvPr/>
          </p:nvCxnSpPr>
          <p:spPr>
            <a:xfrm>
              <a:off x="6504412" y="5282152"/>
              <a:ext cx="509036" cy="0"/>
            </a:xfrm>
            <a:prstGeom prst="straightConnector1">
              <a:avLst/>
            </a:prstGeom>
            <a:noFill/>
            <a:ln w="25400" cap="rnd" cmpd="sng">
              <a:solidFill>
                <a:schemeClr val="accent5"/>
              </a:solidFill>
              <a:prstDash val="solid"/>
              <a:miter lim="800000"/>
              <a:headEnd type="none" w="sm" len="sm"/>
              <a:tailEnd type="none" w="sm" len="sm"/>
            </a:ln>
          </p:spPr>
        </p:cxnSp>
        <p:sp>
          <p:nvSpPr>
            <p:cNvPr id="6317" name="Google Shape;6317;p30"/>
            <p:cNvSpPr/>
            <p:nvPr/>
          </p:nvSpPr>
          <p:spPr>
            <a:xfrm>
              <a:off x="6296997" y="5195299"/>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318" name="Google Shape;6318;p30"/>
            <p:cNvCxnSpPr/>
            <p:nvPr/>
          </p:nvCxnSpPr>
          <p:spPr>
            <a:xfrm>
              <a:off x="6946520" y="4967769"/>
              <a:ext cx="0" cy="290031"/>
            </a:xfrm>
            <a:prstGeom prst="straightConnector1">
              <a:avLst/>
            </a:prstGeom>
            <a:noFill/>
            <a:ln w="25400" cap="rnd" cmpd="sng">
              <a:solidFill>
                <a:schemeClr val="accent5"/>
              </a:solidFill>
              <a:prstDash val="solid"/>
              <a:round/>
              <a:headEnd type="none" w="sm" len="sm"/>
              <a:tailEnd type="none" w="sm" len="sm"/>
            </a:ln>
          </p:spPr>
        </p:cxnSp>
        <p:cxnSp>
          <p:nvCxnSpPr>
            <p:cNvPr id="6319" name="Google Shape;6319;p30"/>
            <p:cNvCxnSpPr/>
            <p:nvPr/>
          </p:nvCxnSpPr>
          <p:spPr>
            <a:xfrm>
              <a:off x="6710235" y="5793185"/>
              <a:ext cx="402192" cy="0"/>
            </a:xfrm>
            <a:prstGeom prst="straightConnector1">
              <a:avLst/>
            </a:prstGeom>
            <a:noFill/>
            <a:ln w="25400" cap="rnd" cmpd="sng">
              <a:solidFill>
                <a:schemeClr val="accent5"/>
              </a:solidFill>
              <a:prstDash val="solid"/>
              <a:miter lim="800000"/>
              <a:headEnd type="none" w="sm" len="sm"/>
              <a:tailEnd type="none" w="sm" len="sm"/>
            </a:ln>
          </p:spPr>
        </p:cxnSp>
        <p:sp>
          <p:nvSpPr>
            <p:cNvPr id="6320" name="Google Shape;6320;p30"/>
            <p:cNvSpPr/>
            <p:nvPr/>
          </p:nvSpPr>
          <p:spPr>
            <a:xfrm>
              <a:off x="6485659" y="5715000"/>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321" name="Google Shape;6321;p30"/>
            <p:cNvCxnSpPr/>
            <p:nvPr/>
          </p:nvCxnSpPr>
          <p:spPr>
            <a:xfrm>
              <a:off x="7069736" y="4972102"/>
              <a:ext cx="0" cy="812878"/>
            </a:xfrm>
            <a:prstGeom prst="straightConnector1">
              <a:avLst/>
            </a:prstGeom>
            <a:noFill/>
            <a:ln w="25400" cap="rnd" cmpd="sng">
              <a:solidFill>
                <a:schemeClr val="accent5"/>
              </a:solidFill>
              <a:prstDash val="solid"/>
              <a:round/>
              <a:headEnd type="none" w="sm" len="sm"/>
              <a:tailEnd type="none" w="sm" len="sm"/>
            </a:ln>
          </p:spPr>
        </p:cxnSp>
        <p:grpSp>
          <p:nvGrpSpPr>
            <p:cNvPr id="6322" name="Google Shape;6322;p30"/>
            <p:cNvGrpSpPr/>
            <p:nvPr/>
          </p:nvGrpSpPr>
          <p:grpSpPr>
            <a:xfrm>
              <a:off x="6491924" y="4888089"/>
              <a:ext cx="269469" cy="269658"/>
              <a:chOff x="658852" y="4954224"/>
              <a:chExt cx="583799" cy="584209"/>
            </a:xfrm>
          </p:grpSpPr>
          <p:sp>
            <p:nvSpPr>
              <p:cNvPr id="6323" name="Google Shape;6323;p30"/>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324" name="Google Shape;6324;p30"/>
              <p:cNvGrpSpPr/>
              <p:nvPr/>
            </p:nvGrpSpPr>
            <p:grpSpPr>
              <a:xfrm>
                <a:off x="834156" y="5211637"/>
                <a:ext cx="216359" cy="78004"/>
                <a:chOff x="834156" y="5211637"/>
                <a:chExt cx="216359" cy="78004"/>
              </a:xfrm>
            </p:grpSpPr>
            <p:sp>
              <p:nvSpPr>
                <p:cNvPr id="6325" name="Google Shape;6325;p30"/>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326" name="Google Shape;6326;p30"/>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327" name="Google Shape;6327;p30"/>
            <p:cNvCxnSpPr/>
            <p:nvPr/>
          </p:nvCxnSpPr>
          <p:spPr>
            <a:xfrm>
              <a:off x="6626659" y="5152127"/>
              <a:ext cx="0" cy="129536"/>
            </a:xfrm>
            <a:prstGeom prst="straightConnector1">
              <a:avLst/>
            </a:prstGeom>
            <a:noFill/>
            <a:ln w="25400" cap="rnd" cmpd="sng">
              <a:solidFill>
                <a:schemeClr val="accent5"/>
              </a:solidFill>
              <a:prstDash val="solid"/>
              <a:round/>
              <a:headEnd type="none" w="sm" len="sm"/>
              <a:tailEnd type="none" w="sm" len="sm"/>
            </a:ln>
          </p:spPr>
        </p:cxnSp>
        <p:grpSp>
          <p:nvGrpSpPr>
            <p:cNvPr id="6328" name="Google Shape;6328;p30"/>
            <p:cNvGrpSpPr/>
            <p:nvPr/>
          </p:nvGrpSpPr>
          <p:grpSpPr>
            <a:xfrm>
              <a:off x="6683861" y="5400026"/>
              <a:ext cx="269469" cy="393574"/>
              <a:chOff x="3513038" y="5321426"/>
              <a:chExt cx="269469" cy="393574"/>
            </a:xfrm>
          </p:grpSpPr>
          <p:grpSp>
            <p:nvGrpSpPr>
              <p:cNvPr id="6329" name="Google Shape;6329;p30"/>
              <p:cNvGrpSpPr/>
              <p:nvPr/>
            </p:nvGrpSpPr>
            <p:grpSpPr>
              <a:xfrm>
                <a:off x="3513038" y="5321426"/>
                <a:ext cx="269469" cy="269658"/>
                <a:chOff x="658852" y="4954224"/>
                <a:chExt cx="583799" cy="584209"/>
              </a:xfrm>
            </p:grpSpPr>
            <p:sp>
              <p:nvSpPr>
                <p:cNvPr id="6330" name="Google Shape;6330;p30"/>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331" name="Google Shape;6331;p30"/>
                <p:cNvGrpSpPr/>
                <p:nvPr/>
              </p:nvGrpSpPr>
              <p:grpSpPr>
                <a:xfrm>
                  <a:off x="834156" y="5211637"/>
                  <a:ext cx="216359" cy="78004"/>
                  <a:chOff x="834156" y="5211637"/>
                  <a:chExt cx="216359" cy="78004"/>
                </a:xfrm>
              </p:grpSpPr>
              <p:sp>
                <p:nvSpPr>
                  <p:cNvPr id="6332" name="Google Shape;6332;p30"/>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333" name="Google Shape;6333;p30"/>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334" name="Google Shape;6334;p30"/>
              <p:cNvCxnSpPr/>
              <p:nvPr/>
            </p:nvCxnSpPr>
            <p:spPr>
              <a:xfrm>
                <a:off x="3647773" y="5585464"/>
                <a:ext cx="0" cy="129536"/>
              </a:xfrm>
              <a:prstGeom prst="straightConnector1">
                <a:avLst/>
              </a:prstGeom>
              <a:noFill/>
              <a:ln w="25400" cap="rnd" cmpd="sng">
                <a:solidFill>
                  <a:schemeClr val="accent5"/>
                </a:solidFill>
                <a:prstDash val="solid"/>
                <a:round/>
                <a:headEnd type="none" w="sm" len="sm"/>
                <a:tailEnd type="none" w="sm" len="sm"/>
              </a:ln>
            </p:spPr>
          </p:cxnSp>
        </p:grpSp>
        <p:sp>
          <p:nvSpPr>
            <p:cNvPr id="6335" name="Google Shape;6335;p30"/>
            <p:cNvSpPr/>
            <p:nvPr/>
          </p:nvSpPr>
          <p:spPr>
            <a:xfrm>
              <a:off x="1347300" y="4620600"/>
              <a:ext cx="359495" cy="360000"/>
            </a:xfrm>
            <a:custGeom>
              <a:avLst/>
              <a:gdLst/>
              <a:ahLst/>
              <a:cxnLst/>
              <a:rect l="l" t="t" r="r" b="b"/>
              <a:pathLst>
                <a:path w="1139359" h="1139359" extrusionOk="0">
                  <a:moveTo>
                    <a:pt x="504594" y="524233"/>
                  </a:moveTo>
                  <a:lnTo>
                    <a:pt x="523151" y="524233"/>
                  </a:lnTo>
                  <a:lnTo>
                    <a:pt x="556818" y="618343"/>
                  </a:lnTo>
                  <a:cubicBezTo>
                    <a:pt x="559528" y="625884"/>
                    <a:pt x="561796" y="632953"/>
                    <a:pt x="563623" y="639551"/>
                  </a:cubicBezTo>
                  <a:cubicBezTo>
                    <a:pt x="565625" y="632482"/>
                    <a:pt x="567952" y="625412"/>
                    <a:pt x="570603" y="618343"/>
                  </a:cubicBezTo>
                  <a:lnTo>
                    <a:pt x="605597" y="524233"/>
                  </a:lnTo>
                  <a:lnTo>
                    <a:pt x="623093" y="524233"/>
                  </a:lnTo>
                  <a:lnTo>
                    <a:pt x="572371" y="653778"/>
                  </a:lnTo>
                  <a:lnTo>
                    <a:pt x="554786" y="653778"/>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cxnSp>
          <p:nvCxnSpPr>
            <p:cNvPr id="6336" name="Google Shape;6336;p30"/>
            <p:cNvCxnSpPr/>
            <p:nvPr/>
          </p:nvCxnSpPr>
          <p:spPr>
            <a:xfrm>
              <a:off x="1018012" y="5282152"/>
              <a:ext cx="509036" cy="0"/>
            </a:xfrm>
            <a:prstGeom prst="straightConnector1">
              <a:avLst/>
            </a:prstGeom>
            <a:noFill/>
            <a:ln w="25400" cap="rnd" cmpd="sng">
              <a:solidFill>
                <a:schemeClr val="accent5"/>
              </a:solidFill>
              <a:prstDash val="solid"/>
              <a:miter lim="800000"/>
              <a:headEnd type="none" w="sm" len="sm"/>
              <a:tailEnd type="none" w="sm" len="sm"/>
            </a:ln>
          </p:spPr>
        </p:cxnSp>
        <p:sp>
          <p:nvSpPr>
            <p:cNvPr id="6337" name="Google Shape;6337;p30"/>
            <p:cNvSpPr/>
            <p:nvPr/>
          </p:nvSpPr>
          <p:spPr>
            <a:xfrm>
              <a:off x="810597" y="5195299"/>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338" name="Google Shape;6338;p30"/>
            <p:cNvCxnSpPr/>
            <p:nvPr/>
          </p:nvCxnSpPr>
          <p:spPr>
            <a:xfrm>
              <a:off x="1460120" y="4967769"/>
              <a:ext cx="0" cy="290031"/>
            </a:xfrm>
            <a:prstGeom prst="straightConnector1">
              <a:avLst/>
            </a:prstGeom>
            <a:noFill/>
            <a:ln w="25400" cap="rnd" cmpd="sng">
              <a:solidFill>
                <a:schemeClr val="accent5"/>
              </a:solidFill>
              <a:prstDash val="solid"/>
              <a:round/>
              <a:headEnd type="none" w="sm" len="sm"/>
              <a:tailEnd type="none" w="sm" len="sm"/>
            </a:ln>
          </p:spPr>
        </p:cxnSp>
        <p:cxnSp>
          <p:nvCxnSpPr>
            <p:cNvPr id="6339" name="Google Shape;6339;p30"/>
            <p:cNvCxnSpPr/>
            <p:nvPr/>
          </p:nvCxnSpPr>
          <p:spPr>
            <a:xfrm>
              <a:off x="1223835" y="5793185"/>
              <a:ext cx="402192" cy="0"/>
            </a:xfrm>
            <a:prstGeom prst="straightConnector1">
              <a:avLst/>
            </a:prstGeom>
            <a:noFill/>
            <a:ln w="25400" cap="rnd" cmpd="sng">
              <a:solidFill>
                <a:schemeClr val="accent5"/>
              </a:solidFill>
              <a:prstDash val="solid"/>
              <a:miter lim="800000"/>
              <a:headEnd type="none" w="sm" len="sm"/>
              <a:tailEnd type="none" w="sm" len="sm"/>
            </a:ln>
          </p:spPr>
        </p:cxnSp>
        <p:sp>
          <p:nvSpPr>
            <p:cNvPr id="6340" name="Google Shape;6340;p30"/>
            <p:cNvSpPr/>
            <p:nvPr/>
          </p:nvSpPr>
          <p:spPr>
            <a:xfrm>
              <a:off x="999259" y="5715000"/>
              <a:ext cx="178498" cy="180000"/>
            </a:xfrm>
            <a:custGeom>
              <a:avLst/>
              <a:gdLst/>
              <a:ahLst/>
              <a:cxnLst/>
              <a:rect l="l" t="t" r="r" b="b"/>
              <a:pathLst>
                <a:path w="265133" h="267367" extrusionOk="0">
                  <a:moveTo>
                    <a:pt x="226866" y="204597"/>
                  </a:moveTo>
                  <a:cubicBezTo>
                    <a:pt x="231496" y="204597"/>
                    <a:pt x="235181" y="208312"/>
                    <a:pt x="235181" y="212884"/>
                  </a:cubicBezTo>
                  <a:cubicBezTo>
                    <a:pt x="235181" y="217456"/>
                    <a:pt x="231496" y="221171"/>
                    <a:pt x="226866" y="221171"/>
                  </a:cubicBezTo>
                  <a:cubicBezTo>
                    <a:pt x="222236" y="221171"/>
                    <a:pt x="218551" y="217456"/>
                    <a:pt x="218551" y="212884"/>
                  </a:cubicBezTo>
                  <a:cubicBezTo>
                    <a:pt x="218551" y="208312"/>
                    <a:pt x="222331" y="204597"/>
                    <a:pt x="226866" y="204597"/>
                  </a:cubicBezTo>
                  <a:close/>
                  <a:moveTo>
                    <a:pt x="193701" y="204597"/>
                  </a:moveTo>
                  <a:lnTo>
                    <a:pt x="202016" y="204597"/>
                  </a:lnTo>
                  <a:cubicBezTo>
                    <a:pt x="206646" y="204597"/>
                    <a:pt x="210331" y="208312"/>
                    <a:pt x="210331" y="212884"/>
                  </a:cubicBezTo>
                  <a:cubicBezTo>
                    <a:pt x="210331" y="217456"/>
                    <a:pt x="206551" y="221171"/>
                    <a:pt x="202016" y="221171"/>
                  </a:cubicBezTo>
                  <a:lnTo>
                    <a:pt x="193701" y="221171"/>
                  </a:lnTo>
                  <a:cubicBezTo>
                    <a:pt x="189071" y="221171"/>
                    <a:pt x="185386" y="217456"/>
                    <a:pt x="185386" y="212884"/>
                  </a:cubicBezTo>
                  <a:cubicBezTo>
                    <a:pt x="185386" y="208312"/>
                    <a:pt x="189166" y="204597"/>
                    <a:pt x="193701" y="204597"/>
                  </a:cubicBezTo>
                  <a:close/>
                  <a:moveTo>
                    <a:pt x="129733" y="182214"/>
                  </a:moveTo>
                  <a:cubicBezTo>
                    <a:pt x="133040" y="178975"/>
                    <a:pt x="138237" y="178975"/>
                    <a:pt x="141449" y="182214"/>
                  </a:cubicBezTo>
                  <a:cubicBezTo>
                    <a:pt x="144662" y="185452"/>
                    <a:pt x="144662" y="190691"/>
                    <a:pt x="141449" y="193930"/>
                  </a:cubicBezTo>
                  <a:lnTo>
                    <a:pt x="130772" y="204598"/>
                  </a:lnTo>
                  <a:lnTo>
                    <a:pt x="168756" y="204598"/>
                  </a:lnTo>
                  <a:cubicBezTo>
                    <a:pt x="173386" y="204598"/>
                    <a:pt x="177166" y="208312"/>
                    <a:pt x="177166" y="212884"/>
                  </a:cubicBezTo>
                  <a:lnTo>
                    <a:pt x="177166" y="213075"/>
                  </a:lnTo>
                  <a:cubicBezTo>
                    <a:pt x="177166" y="217647"/>
                    <a:pt x="173386" y="221362"/>
                    <a:pt x="168851" y="221362"/>
                  </a:cubicBezTo>
                  <a:lnTo>
                    <a:pt x="130772" y="221362"/>
                  </a:lnTo>
                  <a:lnTo>
                    <a:pt x="141449" y="232030"/>
                  </a:lnTo>
                  <a:cubicBezTo>
                    <a:pt x="144662" y="235268"/>
                    <a:pt x="144662" y="240507"/>
                    <a:pt x="141449" y="243745"/>
                  </a:cubicBezTo>
                  <a:cubicBezTo>
                    <a:pt x="139843" y="245269"/>
                    <a:pt x="137764" y="246127"/>
                    <a:pt x="135591" y="246127"/>
                  </a:cubicBezTo>
                  <a:cubicBezTo>
                    <a:pt x="133418" y="246127"/>
                    <a:pt x="131433" y="245365"/>
                    <a:pt x="129733" y="243745"/>
                  </a:cubicBezTo>
                  <a:lnTo>
                    <a:pt x="104882" y="218885"/>
                  </a:lnTo>
                  <a:lnTo>
                    <a:pt x="99024" y="212980"/>
                  </a:lnTo>
                  <a:lnTo>
                    <a:pt x="104882" y="207074"/>
                  </a:lnTo>
                  <a:close/>
                  <a:moveTo>
                    <a:pt x="135685" y="146685"/>
                  </a:moveTo>
                  <a:lnTo>
                    <a:pt x="144000" y="146685"/>
                  </a:lnTo>
                  <a:cubicBezTo>
                    <a:pt x="148630" y="146685"/>
                    <a:pt x="152315" y="150400"/>
                    <a:pt x="152315" y="154972"/>
                  </a:cubicBezTo>
                  <a:cubicBezTo>
                    <a:pt x="152315" y="159544"/>
                    <a:pt x="148535" y="163258"/>
                    <a:pt x="144000" y="163258"/>
                  </a:cubicBezTo>
                  <a:lnTo>
                    <a:pt x="135685" y="163258"/>
                  </a:lnTo>
                  <a:cubicBezTo>
                    <a:pt x="131055" y="163258"/>
                    <a:pt x="127370" y="159544"/>
                    <a:pt x="127370" y="154972"/>
                  </a:cubicBezTo>
                  <a:cubicBezTo>
                    <a:pt x="127370" y="150400"/>
                    <a:pt x="131149" y="146685"/>
                    <a:pt x="135685" y="146685"/>
                  </a:cubicBezTo>
                  <a:close/>
                  <a:moveTo>
                    <a:pt x="110835" y="146685"/>
                  </a:moveTo>
                  <a:cubicBezTo>
                    <a:pt x="115427" y="146685"/>
                    <a:pt x="119150" y="150395"/>
                    <a:pt x="119150" y="154972"/>
                  </a:cubicBezTo>
                  <a:cubicBezTo>
                    <a:pt x="119150" y="159548"/>
                    <a:pt x="115427" y="163258"/>
                    <a:pt x="110835" y="163258"/>
                  </a:cubicBezTo>
                  <a:cubicBezTo>
                    <a:pt x="106243" y="163258"/>
                    <a:pt x="102520" y="159548"/>
                    <a:pt x="102520" y="154972"/>
                  </a:cubicBezTo>
                  <a:cubicBezTo>
                    <a:pt x="102520" y="150395"/>
                    <a:pt x="106243" y="146685"/>
                    <a:pt x="110835" y="146685"/>
                  </a:cubicBezTo>
                  <a:close/>
                  <a:moveTo>
                    <a:pt x="196251" y="124111"/>
                  </a:moveTo>
                  <a:cubicBezTo>
                    <a:pt x="199559" y="120872"/>
                    <a:pt x="204755" y="120872"/>
                    <a:pt x="207968" y="124111"/>
                  </a:cubicBezTo>
                  <a:lnTo>
                    <a:pt x="232818" y="148971"/>
                  </a:lnTo>
                  <a:lnTo>
                    <a:pt x="238677" y="154877"/>
                  </a:lnTo>
                  <a:lnTo>
                    <a:pt x="232818" y="160782"/>
                  </a:lnTo>
                  <a:lnTo>
                    <a:pt x="207968" y="185642"/>
                  </a:lnTo>
                  <a:cubicBezTo>
                    <a:pt x="206362" y="187166"/>
                    <a:pt x="204283" y="188024"/>
                    <a:pt x="202110" y="188024"/>
                  </a:cubicBezTo>
                  <a:cubicBezTo>
                    <a:pt x="199937" y="188024"/>
                    <a:pt x="197952" y="187262"/>
                    <a:pt x="196251" y="185642"/>
                  </a:cubicBezTo>
                  <a:cubicBezTo>
                    <a:pt x="193039" y="182404"/>
                    <a:pt x="193039" y="177165"/>
                    <a:pt x="196251" y="173927"/>
                  </a:cubicBezTo>
                  <a:lnTo>
                    <a:pt x="206929" y="163259"/>
                  </a:lnTo>
                  <a:lnTo>
                    <a:pt x="168850" y="163259"/>
                  </a:lnTo>
                  <a:cubicBezTo>
                    <a:pt x="164220" y="163259"/>
                    <a:pt x="160535" y="159544"/>
                    <a:pt x="160535" y="154972"/>
                  </a:cubicBezTo>
                  <a:cubicBezTo>
                    <a:pt x="160535" y="150400"/>
                    <a:pt x="164315" y="146685"/>
                    <a:pt x="168850" y="146685"/>
                  </a:cubicBezTo>
                  <a:lnTo>
                    <a:pt x="206929" y="146685"/>
                  </a:lnTo>
                  <a:lnTo>
                    <a:pt x="206929" y="146495"/>
                  </a:lnTo>
                  <a:lnTo>
                    <a:pt x="196251" y="135827"/>
                  </a:lnTo>
                  <a:cubicBezTo>
                    <a:pt x="193039" y="132588"/>
                    <a:pt x="193039" y="127349"/>
                    <a:pt x="196251" y="124111"/>
                  </a:cubicBezTo>
                  <a:close/>
                  <a:moveTo>
                    <a:pt x="90236" y="117158"/>
                  </a:moveTo>
                  <a:lnTo>
                    <a:pt x="90236" y="250794"/>
                  </a:lnTo>
                  <a:lnTo>
                    <a:pt x="248503" y="250794"/>
                  </a:lnTo>
                  <a:lnTo>
                    <a:pt x="248503" y="117158"/>
                  </a:lnTo>
                  <a:close/>
                  <a:moveTo>
                    <a:pt x="90236" y="100394"/>
                  </a:moveTo>
                  <a:lnTo>
                    <a:pt x="248503" y="100394"/>
                  </a:lnTo>
                  <a:cubicBezTo>
                    <a:pt x="257669" y="100394"/>
                    <a:pt x="265133" y="107823"/>
                    <a:pt x="265133" y="117063"/>
                  </a:cubicBezTo>
                  <a:lnTo>
                    <a:pt x="265133" y="250698"/>
                  </a:lnTo>
                  <a:cubicBezTo>
                    <a:pt x="265133" y="259842"/>
                    <a:pt x="257669" y="267367"/>
                    <a:pt x="248503" y="267367"/>
                  </a:cubicBezTo>
                  <a:lnTo>
                    <a:pt x="90236" y="267367"/>
                  </a:lnTo>
                  <a:cubicBezTo>
                    <a:pt x="81071" y="267367"/>
                    <a:pt x="73606" y="259938"/>
                    <a:pt x="73606" y="250698"/>
                  </a:cubicBezTo>
                  <a:lnTo>
                    <a:pt x="73606" y="117063"/>
                  </a:lnTo>
                  <a:cubicBezTo>
                    <a:pt x="73606" y="107919"/>
                    <a:pt x="81071" y="100394"/>
                    <a:pt x="90236" y="100394"/>
                  </a:cubicBezTo>
                  <a:close/>
                  <a:moveTo>
                    <a:pt x="117827" y="0"/>
                  </a:moveTo>
                  <a:cubicBezTo>
                    <a:pt x="160630" y="0"/>
                    <a:pt x="195968" y="33242"/>
                    <a:pt x="199748" y="75533"/>
                  </a:cubicBezTo>
                  <a:lnTo>
                    <a:pt x="200126" y="81248"/>
                  </a:lnTo>
                  <a:lnTo>
                    <a:pt x="181134" y="81248"/>
                  </a:lnTo>
                  <a:cubicBezTo>
                    <a:pt x="180283" y="46768"/>
                    <a:pt x="152693" y="18955"/>
                    <a:pt x="117827" y="18955"/>
                  </a:cubicBezTo>
                  <a:cubicBezTo>
                    <a:pt x="82960" y="18955"/>
                    <a:pt x="54425" y="47625"/>
                    <a:pt x="54425" y="82772"/>
                  </a:cubicBezTo>
                  <a:cubicBezTo>
                    <a:pt x="54331" y="87058"/>
                    <a:pt x="51496" y="90773"/>
                    <a:pt x="47433" y="91916"/>
                  </a:cubicBezTo>
                  <a:cubicBezTo>
                    <a:pt x="39024" y="94250"/>
                    <a:pt x="31890" y="99298"/>
                    <a:pt x="26859" y="105954"/>
                  </a:cubicBezTo>
                  <a:lnTo>
                    <a:pt x="18915" y="129584"/>
                  </a:lnTo>
                  <a:lnTo>
                    <a:pt x="18898" y="129540"/>
                  </a:lnTo>
                  <a:lnTo>
                    <a:pt x="18898" y="129635"/>
                  </a:lnTo>
                  <a:lnTo>
                    <a:pt x="18915" y="129584"/>
                  </a:lnTo>
                  <a:lnTo>
                    <a:pt x="29327" y="156079"/>
                  </a:lnTo>
                  <a:cubicBezTo>
                    <a:pt x="35788" y="163021"/>
                    <a:pt x="44741" y="167593"/>
                    <a:pt x="54709" y="168402"/>
                  </a:cubicBezTo>
                  <a:lnTo>
                    <a:pt x="54709" y="187643"/>
                  </a:lnTo>
                  <a:cubicBezTo>
                    <a:pt x="24283" y="186023"/>
                    <a:pt x="0" y="160687"/>
                    <a:pt x="0" y="129635"/>
                  </a:cubicBezTo>
                  <a:cubicBezTo>
                    <a:pt x="0" y="106013"/>
                    <a:pt x="14457" y="84773"/>
                    <a:pt x="35811" y="75914"/>
                  </a:cubicBezTo>
                  <a:cubicBezTo>
                    <a:pt x="39307" y="33433"/>
                    <a:pt x="75023" y="0"/>
                    <a:pt x="11782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Arial"/>
                <a:ea typeface="Arial"/>
                <a:cs typeface="Arial"/>
                <a:sym typeface="Arial"/>
              </a:endParaRPr>
            </a:p>
          </p:txBody>
        </p:sp>
        <p:cxnSp>
          <p:nvCxnSpPr>
            <p:cNvPr id="6341" name="Google Shape;6341;p30"/>
            <p:cNvCxnSpPr/>
            <p:nvPr/>
          </p:nvCxnSpPr>
          <p:spPr>
            <a:xfrm>
              <a:off x="1583336" y="4972102"/>
              <a:ext cx="0" cy="812878"/>
            </a:xfrm>
            <a:prstGeom prst="straightConnector1">
              <a:avLst/>
            </a:prstGeom>
            <a:noFill/>
            <a:ln w="25400" cap="rnd" cmpd="sng">
              <a:solidFill>
                <a:schemeClr val="accent5"/>
              </a:solidFill>
              <a:prstDash val="solid"/>
              <a:round/>
              <a:headEnd type="none" w="sm" len="sm"/>
              <a:tailEnd type="none" w="sm" len="sm"/>
            </a:ln>
          </p:spPr>
        </p:cxnSp>
        <p:grpSp>
          <p:nvGrpSpPr>
            <p:cNvPr id="6342" name="Google Shape;6342;p30"/>
            <p:cNvGrpSpPr/>
            <p:nvPr/>
          </p:nvGrpSpPr>
          <p:grpSpPr>
            <a:xfrm>
              <a:off x="1005524" y="4888089"/>
              <a:ext cx="269469" cy="269658"/>
              <a:chOff x="658852" y="4954224"/>
              <a:chExt cx="583799" cy="584209"/>
            </a:xfrm>
          </p:grpSpPr>
          <p:sp>
            <p:nvSpPr>
              <p:cNvPr id="6343" name="Google Shape;6343;p30"/>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344" name="Google Shape;6344;p30"/>
              <p:cNvGrpSpPr/>
              <p:nvPr/>
            </p:nvGrpSpPr>
            <p:grpSpPr>
              <a:xfrm>
                <a:off x="834156" y="5211637"/>
                <a:ext cx="216359" cy="78004"/>
                <a:chOff x="834156" y="5211637"/>
                <a:chExt cx="216359" cy="78004"/>
              </a:xfrm>
            </p:grpSpPr>
            <p:sp>
              <p:nvSpPr>
                <p:cNvPr id="6345" name="Google Shape;6345;p30"/>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346" name="Google Shape;6346;p30"/>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347" name="Google Shape;6347;p30"/>
            <p:cNvCxnSpPr/>
            <p:nvPr/>
          </p:nvCxnSpPr>
          <p:spPr>
            <a:xfrm>
              <a:off x="1140259" y="5152127"/>
              <a:ext cx="0" cy="129536"/>
            </a:xfrm>
            <a:prstGeom prst="straightConnector1">
              <a:avLst/>
            </a:prstGeom>
            <a:noFill/>
            <a:ln w="25400" cap="rnd" cmpd="sng">
              <a:solidFill>
                <a:schemeClr val="accent5"/>
              </a:solidFill>
              <a:prstDash val="solid"/>
              <a:round/>
              <a:headEnd type="none" w="sm" len="sm"/>
              <a:tailEnd type="none" w="sm" len="sm"/>
            </a:ln>
          </p:spPr>
        </p:cxnSp>
        <p:grpSp>
          <p:nvGrpSpPr>
            <p:cNvPr id="6348" name="Google Shape;6348;p30"/>
            <p:cNvGrpSpPr/>
            <p:nvPr/>
          </p:nvGrpSpPr>
          <p:grpSpPr>
            <a:xfrm>
              <a:off x="1197461" y="5400026"/>
              <a:ext cx="269469" cy="393574"/>
              <a:chOff x="3513038" y="5321426"/>
              <a:chExt cx="269469" cy="393574"/>
            </a:xfrm>
          </p:grpSpPr>
          <p:grpSp>
            <p:nvGrpSpPr>
              <p:cNvPr id="6349" name="Google Shape;6349;p30"/>
              <p:cNvGrpSpPr/>
              <p:nvPr/>
            </p:nvGrpSpPr>
            <p:grpSpPr>
              <a:xfrm>
                <a:off x="3513038" y="5321426"/>
                <a:ext cx="269469" cy="269658"/>
                <a:chOff x="658852" y="4954224"/>
                <a:chExt cx="583799" cy="584209"/>
              </a:xfrm>
            </p:grpSpPr>
            <p:sp>
              <p:nvSpPr>
                <p:cNvPr id="6350" name="Google Shape;6350;p30"/>
                <p:cNvSpPr/>
                <p:nvPr/>
              </p:nvSpPr>
              <p:spPr>
                <a:xfrm>
                  <a:off x="658852" y="4954224"/>
                  <a:ext cx="583799" cy="584209"/>
                </a:xfrm>
                <a:custGeom>
                  <a:avLst/>
                  <a:gdLst/>
                  <a:ahLst/>
                  <a:cxnLst/>
                  <a:rect l="l" t="t" r="r" b="b"/>
                  <a:pathLst>
                    <a:path w="583799" h="584209" extrusionOk="0">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351" name="Google Shape;6351;p30"/>
                <p:cNvGrpSpPr/>
                <p:nvPr/>
              </p:nvGrpSpPr>
              <p:grpSpPr>
                <a:xfrm>
                  <a:off x="834156" y="5211637"/>
                  <a:ext cx="216359" cy="78004"/>
                  <a:chOff x="834156" y="5211637"/>
                  <a:chExt cx="216359" cy="78004"/>
                </a:xfrm>
              </p:grpSpPr>
              <p:sp>
                <p:nvSpPr>
                  <p:cNvPr id="6352" name="Google Shape;6352;p30"/>
                  <p:cNvSpPr/>
                  <p:nvPr/>
                </p:nvSpPr>
                <p:spPr>
                  <a:xfrm>
                    <a:off x="834156" y="5213690"/>
                    <a:ext cx="81699" cy="75951"/>
                  </a:xfrm>
                  <a:custGeom>
                    <a:avLst/>
                    <a:gdLst/>
                    <a:ahLst/>
                    <a:cxnLst/>
                    <a:rect l="l" t="t" r="r" b="b"/>
                    <a:pathLst>
                      <a:path w="81699" h="75951" extrusionOk="0">
                        <a:moveTo>
                          <a:pt x="0" y="0"/>
                        </a:moveTo>
                        <a:lnTo>
                          <a:pt x="18885" y="0"/>
                        </a:lnTo>
                        <a:lnTo>
                          <a:pt x="41055" y="55013"/>
                        </a:lnTo>
                        <a:lnTo>
                          <a:pt x="62814" y="0"/>
                        </a:lnTo>
                        <a:lnTo>
                          <a:pt x="81699" y="0"/>
                        </a:lnTo>
                        <a:lnTo>
                          <a:pt x="49676" y="75951"/>
                        </a:lnTo>
                        <a:lnTo>
                          <a:pt x="32844" y="75951"/>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p:txBody>
              </p:sp>
              <p:sp>
                <p:nvSpPr>
                  <p:cNvPr id="6353" name="Google Shape;6353;p30"/>
                  <p:cNvSpPr/>
                  <p:nvPr/>
                </p:nvSpPr>
                <p:spPr>
                  <a:xfrm>
                    <a:off x="935151" y="5211637"/>
                    <a:ext cx="115364" cy="77593"/>
                  </a:xfrm>
                  <a:custGeom>
                    <a:avLst/>
                    <a:gdLst/>
                    <a:ahLst/>
                    <a:cxnLst/>
                    <a:rect l="l" t="t" r="r" b="b"/>
                    <a:pathLst>
                      <a:path w="115364" h="77593" extrusionOk="0">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cxnSp>
            <p:nvCxnSpPr>
              <p:cNvPr id="6354" name="Google Shape;6354;p30"/>
              <p:cNvCxnSpPr/>
              <p:nvPr/>
            </p:nvCxnSpPr>
            <p:spPr>
              <a:xfrm>
                <a:off x="3647773" y="5585464"/>
                <a:ext cx="0" cy="129536"/>
              </a:xfrm>
              <a:prstGeom prst="straightConnector1">
                <a:avLst/>
              </a:prstGeom>
              <a:noFill/>
              <a:ln w="25400" cap="rnd" cmpd="sng">
                <a:solidFill>
                  <a:schemeClr val="accent5"/>
                </a:solidFill>
                <a:prstDash val="solid"/>
                <a:round/>
                <a:headEnd type="none" w="sm" len="sm"/>
                <a:tailEnd type="none" w="sm" len="sm"/>
              </a:ln>
            </p:spPr>
          </p:cxnSp>
        </p:grpSp>
      </p:grpSp>
      <p:sp>
        <p:nvSpPr>
          <p:cNvPr id="6355" name="Google Shape;6355;p30"/>
          <p:cNvSpPr/>
          <p:nvPr/>
        </p:nvSpPr>
        <p:spPr>
          <a:xfrm>
            <a:off x="3300649" y="3165446"/>
            <a:ext cx="541238" cy="540000"/>
          </a:xfrm>
          <a:custGeom>
            <a:avLst/>
            <a:gdLst/>
            <a:ahLst/>
            <a:cxnLst/>
            <a:rect l="l" t="t" r="r" b="b"/>
            <a:pathLst>
              <a:path w="1139359" h="1139359" extrusionOk="0">
                <a:moveTo>
                  <a:pt x="517596" y="524233"/>
                </a:moveTo>
                <a:lnTo>
                  <a:pt x="620278" y="524233"/>
                </a:lnTo>
                <a:lnTo>
                  <a:pt x="620278" y="539520"/>
                </a:lnTo>
                <a:lnTo>
                  <a:pt x="577421" y="539520"/>
                </a:lnTo>
                <a:lnTo>
                  <a:pt x="577421" y="653778"/>
                </a:lnTo>
                <a:lnTo>
                  <a:pt x="560277" y="653778"/>
                </a:lnTo>
                <a:lnTo>
                  <a:pt x="560277" y="539520"/>
                </a:lnTo>
                <a:lnTo>
                  <a:pt x="517596" y="539520"/>
                </a:lnTo>
                <a:close/>
                <a:moveTo>
                  <a:pt x="710021" y="84064"/>
                </a:moveTo>
                <a:lnTo>
                  <a:pt x="803938" y="246490"/>
                </a:lnTo>
                <a:lnTo>
                  <a:pt x="744864" y="246490"/>
                </a:lnTo>
                <a:lnTo>
                  <a:pt x="744864" y="668475"/>
                </a:lnTo>
                <a:lnTo>
                  <a:pt x="878771" y="667404"/>
                </a:lnTo>
                <a:lnTo>
                  <a:pt x="878235" y="608437"/>
                </a:lnTo>
                <a:lnTo>
                  <a:pt x="1041519" y="700854"/>
                </a:lnTo>
                <a:lnTo>
                  <a:pt x="879844" y="796058"/>
                </a:lnTo>
                <a:lnTo>
                  <a:pt x="879308" y="737091"/>
                </a:lnTo>
                <a:lnTo>
                  <a:pt x="518540" y="740093"/>
                </a:lnTo>
                <a:lnTo>
                  <a:pt x="518005" y="670405"/>
                </a:lnTo>
                <a:lnTo>
                  <a:pt x="675177" y="669012"/>
                </a:lnTo>
                <a:lnTo>
                  <a:pt x="675177" y="473350"/>
                </a:lnTo>
                <a:lnTo>
                  <a:pt x="464076" y="473350"/>
                </a:lnTo>
                <a:lnTo>
                  <a:pt x="464076" y="892870"/>
                </a:lnTo>
                <a:lnTo>
                  <a:pt x="523044" y="892870"/>
                </a:lnTo>
                <a:lnTo>
                  <a:pt x="429233" y="1055295"/>
                </a:lnTo>
                <a:lnTo>
                  <a:pt x="335422" y="892870"/>
                </a:lnTo>
                <a:lnTo>
                  <a:pt x="394389" y="892870"/>
                </a:lnTo>
                <a:lnTo>
                  <a:pt x="394389" y="473350"/>
                </a:lnTo>
                <a:lnTo>
                  <a:pt x="260267" y="473350"/>
                </a:lnTo>
                <a:lnTo>
                  <a:pt x="260267" y="532317"/>
                </a:lnTo>
                <a:lnTo>
                  <a:pt x="97841" y="438506"/>
                </a:lnTo>
                <a:lnTo>
                  <a:pt x="260267" y="344696"/>
                </a:lnTo>
                <a:lnTo>
                  <a:pt x="260267" y="403663"/>
                </a:lnTo>
                <a:lnTo>
                  <a:pt x="675177" y="403663"/>
                </a:lnTo>
                <a:lnTo>
                  <a:pt x="675177" y="246490"/>
                </a:lnTo>
                <a:lnTo>
                  <a:pt x="616210" y="246490"/>
                </a:lnTo>
                <a:close/>
                <a:moveTo>
                  <a:pt x="569680" y="29983"/>
                </a:moveTo>
                <a:cubicBezTo>
                  <a:pt x="272062" y="29983"/>
                  <a:pt x="29983" y="272062"/>
                  <a:pt x="29983" y="569680"/>
                </a:cubicBezTo>
                <a:cubicBezTo>
                  <a:pt x="29983" y="867297"/>
                  <a:pt x="272062" y="1109376"/>
                  <a:pt x="569680" y="1109376"/>
                </a:cubicBezTo>
                <a:cubicBezTo>
                  <a:pt x="867297" y="1109376"/>
                  <a:pt x="1109376" y="867297"/>
                  <a:pt x="1109376" y="569680"/>
                </a:cubicBezTo>
                <a:cubicBezTo>
                  <a:pt x="1109376" y="272062"/>
                  <a:pt x="867297" y="29983"/>
                  <a:pt x="569680" y="29983"/>
                </a:cubicBezTo>
                <a:close/>
                <a:moveTo>
                  <a:pt x="569680" y="0"/>
                </a:moveTo>
                <a:cubicBezTo>
                  <a:pt x="884272" y="0"/>
                  <a:pt x="1139359" y="255087"/>
                  <a:pt x="1139359" y="569680"/>
                </a:cubicBezTo>
                <a:cubicBezTo>
                  <a:pt x="1139359" y="884272"/>
                  <a:pt x="884272" y="1139359"/>
                  <a:pt x="569680" y="1139359"/>
                </a:cubicBezTo>
                <a:cubicBezTo>
                  <a:pt x="255087" y="1139359"/>
                  <a:pt x="0" y="884272"/>
                  <a:pt x="0" y="569680"/>
                </a:cubicBezTo>
                <a:cubicBezTo>
                  <a:pt x="0" y="255087"/>
                  <a:pt x="255087" y="0"/>
                  <a:pt x="569680"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None/>
            </a:pPr>
            <a:endParaRPr sz="1400">
              <a:solidFill>
                <a:srgbClr val="7F7F7F"/>
              </a:solidFill>
              <a:latin typeface="Arial"/>
              <a:ea typeface="Arial"/>
              <a:cs typeface="Arial"/>
              <a:sym typeface="Arial"/>
            </a:endParaRPr>
          </a:p>
        </p:txBody>
      </p:sp>
      <p:sp>
        <p:nvSpPr>
          <p:cNvPr id="6356" name="Google Shape;6356;p30"/>
          <p:cNvSpPr txBox="1"/>
          <p:nvPr/>
        </p:nvSpPr>
        <p:spPr>
          <a:xfrm>
            <a:off x="2780871" y="3266670"/>
            <a:ext cx="97405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chemeClr val="accent4"/>
                </a:solidFill>
                <a:latin typeface="Arial"/>
                <a:ea typeface="Arial"/>
                <a:cs typeface="Arial"/>
                <a:sym typeface="Arial"/>
              </a:rPr>
              <a:t>Transit</a:t>
            </a:r>
            <a:endParaRPr/>
          </a:p>
          <a:p>
            <a:pPr marL="0" marR="0" lvl="0" indent="0" algn="l" rtl="0">
              <a:spcBef>
                <a:spcPts val="0"/>
              </a:spcBef>
              <a:spcAft>
                <a:spcPts val="0"/>
              </a:spcAft>
              <a:buNone/>
            </a:pPr>
            <a:r>
              <a:rPr lang="en-US" sz="1000">
                <a:solidFill>
                  <a:schemeClr val="accent4"/>
                </a:solidFill>
                <a:latin typeface="Arial"/>
                <a:ea typeface="Arial"/>
                <a:cs typeface="Arial"/>
                <a:sym typeface="Arial"/>
              </a:rPr>
              <a:t>Gateway</a:t>
            </a:r>
            <a:endParaRPr/>
          </a:p>
        </p:txBody>
      </p:sp>
      <p:grpSp>
        <p:nvGrpSpPr>
          <p:cNvPr id="6357" name="Google Shape;6357;p30"/>
          <p:cNvGrpSpPr/>
          <p:nvPr/>
        </p:nvGrpSpPr>
        <p:grpSpPr>
          <a:xfrm>
            <a:off x="1278342" y="2057400"/>
            <a:ext cx="6227685" cy="914400"/>
            <a:chOff x="1065213" y="2057400"/>
            <a:chExt cx="6227685" cy="1371600"/>
          </a:xfrm>
        </p:grpSpPr>
        <p:cxnSp>
          <p:nvCxnSpPr>
            <p:cNvPr id="6358" name="Google Shape;6358;p30"/>
            <p:cNvCxnSpPr/>
            <p:nvPr/>
          </p:nvCxnSpPr>
          <p:spPr>
            <a:xfrm rot="10800000">
              <a:off x="3354146" y="2057400"/>
              <a:ext cx="0" cy="1371600"/>
            </a:xfrm>
            <a:prstGeom prst="straightConnector1">
              <a:avLst/>
            </a:prstGeom>
            <a:noFill/>
            <a:ln w="25400" cap="rnd" cmpd="sng">
              <a:solidFill>
                <a:srgbClr val="7F7F7F"/>
              </a:solidFill>
              <a:prstDash val="solid"/>
              <a:miter lim="800000"/>
              <a:headEnd type="none" w="sm" len="sm"/>
              <a:tailEnd type="none" w="sm" len="sm"/>
            </a:ln>
          </p:spPr>
        </p:cxnSp>
        <p:cxnSp>
          <p:nvCxnSpPr>
            <p:cNvPr id="6359" name="Google Shape;6359;p30"/>
            <p:cNvCxnSpPr/>
            <p:nvPr/>
          </p:nvCxnSpPr>
          <p:spPr>
            <a:xfrm rot="10800000">
              <a:off x="1529979" y="2057400"/>
              <a:ext cx="0" cy="1371600"/>
            </a:xfrm>
            <a:prstGeom prst="straightConnector1">
              <a:avLst/>
            </a:prstGeom>
            <a:noFill/>
            <a:ln w="25400" cap="rnd" cmpd="sng">
              <a:solidFill>
                <a:srgbClr val="7F7F7F"/>
              </a:solidFill>
              <a:prstDash val="solid"/>
              <a:miter lim="800000"/>
              <a:headEnd type="none" w="sm" len="sm"/>
              <a:tailEnd type="none" w="sm" len="sm"/>
            </a:ln>
          </p:spPr>
        </p:cxnSp>
        <p:cxnSp>
          <p:nvCxnSpPr>
            <p:cNvPr id="6360" name="Google Shape;6360;p30"/>
            <p:cNvCxnSpPr/>
            <p:nvPr/>
          </p:nvCxnSpPr>
          <p:spPr>
            <a:xfrm rot="10800000">
              <a:off x="5185517" y="2057400"/>
              <a:ext cx="0" cy="1371600"/>
            </a:xfrm>
            <a:prstGeom prst="straightConnector1">
              <a:avLst/>
            </a:prstGeom>
            <a:noFill/>
            <a:ln w="25400" cap="rnd" cmpd="sng">
              <a:solidFill>
                <a:srgbClr val="7F7F7F"/>
              </a:solidFill>
              <a:prstDash val="solid"/>
              <a:miter lim="800000"/>
              <a:headEnd type="none" w="sm" len="sm"/>
              <a:tailEnd type="none" w="sm" len="sm"/>
            </a:ln>
          </p:spPr>
        </p:cxnSp>
        <p:cxnSp>
          <p:nvCxnSpPr>
            <p:cNvPr id="6361" name="Google Shape;6361;p30"/>
            <p:cNvCxnSpPr/>
            <p:nvPr/>
          </p:nvCxnSpPr>
          <p:spPr>
            <a:xfrm>
              <a:off x="1065213" y="2057400"/>
              <a:ext cx="6227685" cy="0"/>
            </a:xfrm>
            <a:prstGeom prst="straightConnector1">
              <a:avLst/>
            </a:prstGeom>
            <a:noFill/>
            <a:ln w="25400" cap="flat" cmpd="sng">
              <a:solidFill>
                <a:srgbClr val="7F7F7F"/>
              </a:solidFill>
              <a:prstDash val="solid"/>
              <a:miter lim="800000"/>
              <a:headEnd type="none" w="sm" len="sm"/>
              <a:tailEnd type="none" w="sm" len="sm"/>
            </a:ln>
          </p:spPr>
        </p:cxnSp>
        <p:cxnSp>
          <p:nvCxnSpPr>
            <p:cNvPr id="6362" name="Google Shape;6362;p30"/>
            <p:cNvCxnSpPr/>
            <p:nvPr/>
          </p:nvCxnSpPr>
          <p:spPr>
            <a:xfrm rot="10800000">
              <a:off x="7008813" y="2057400"/>
              <a:ext cx="0" cy="1371600"/>
            </a:xfrm>
            <a:prstGeom prst="straightConnector1">
              <a:avLst/>
            </a:prstGeom>
            <a:noFill/>
            <a:ln w="25400" cap="flat" cmpd="sng">
              <a:solidFill>
                <a:srgbClr val="7F7F7F"/>
              </a:solidFill>
              <a:prstDash val="solid"/>
              <a:miter lim="800000"/>
              <a:headEnd type="none" w="sm" len="sm"/>
              <a:tailEnd type="none" w="sm" len="sm"/>
            </a:ln>
          </p:spPr>
        </p:cxnSp>
      </p:grpSp>
      <p:cxnSp>
        <p:nvCxnSpPr>
          <p:cNvPr id="6363" name="Google Shape;6363;p30"/>
          <p:cNvCxnSpPr/>
          <p:nvPr/>
        </p:nvCxnSpPr>
        <p:spPr>
          <a:xfrm>
            <a:off x="3566090" y="2716728"/>
            <a:ext cx="0" cy="457200"/>
          </a:xfrm>
          <a:prstGeom prst="straightConnector1">
            <a:avLst/>
          </a:prstGeom>
          <a:noFill/>
          <a:ln w="25400" cap="rnd" cmpd="sng">
            <a:solidFill>
              <a:schemeClr val="accent4"/>
            </a:solidFill>
            <a:prstDash val="solid"/>
            <a:miter lim="800000"/>
            <a:headEnd type="none" w="sm" len="sm"/>
            <a:tailEnd type="none" w="sm" len="sm"/>
          </a:ln>
        </p:spPr>
      </p:cxnSp>
      <p:cxnSp>
        <p:nvCxnSpPr>
          <p:cNvPr id="6364" name="Google Shape;6364;p30"/>
          <p:cNvCxnSpPr/>
          <p:nvPr/>
        </p:nvCxnSpPr>
        <p:spPr>
          <a:xfrm>
            <a:off x="5397828" y="2716728"/>
            <a:ext cx="0" cy="457200"/>
          </a:xfrm>
          <a:prstGeom prst="straightConnector1">
            <a:avLst/>
          </a:prstGeom>
          <a:noFill/>
          <a:ln w="25400" cap="rnd" cmpd="sng">
            <a:solidFill>
              <a:schemeClr val="accent4"/>
            </a:solidFill>
            <a:prstDash val="solid"/>
            <a:miter lim="800000"/>
            <a:headEnd type="none" w="sm" len="sm"/>
            <a:tailEnd type="none" w="sm" len="sm"/>
          </a:ln>
        </p:spPr>
      </p:cxnSp>
      <p:cxnSp>
        <p:nvCxnSpPr>
          <p:cNvPr id="6365" name="Google Shape;6365;p30"/>
          <p:cNvCxnSpPr/>
          <p:nvPr/>
        </p:nvCxnSpPr>
        <p:spPr>
          <a:xfrm>
            <a:off x="1743164" y="2716728"/>
            <a:ext cx="0" cy="457200"/>
          </a:xfrm>
          <a:prstGeom prst="straightConnector1">
            <a:avLst/>
          </a:prstGeom>
          <a:noFill/>
          <a:ln w="25400" cap="rnd" cmpd="sng">
            <a:solidFill>
              <a:schemeClr val="accent4"/>
            </a:solidFill>
            <a:prstDash val="solid"/>
            <a:miter lim="800000"/>
            <a:headEnd type="none" w="sm" len="sm"/>
            <a:tailEnd type="none" w="sm" len="sm"/>
          </a:ln>
        </p:spPr>
      </p:cxnSp>
      <p:cxnSp>
        <p:nvCxnSpPr>
          <p:cNvPr id="6366" name="Google Shape;6366;p30"/>
          <p:cNvCxnSpPr/>
          <p:nvPr/>
        </p:nvCxnSpPr>
        <p:spPr>
          <a:xfrm>
            <a:off x="7221942" y="2716728"/>
            <a:ext cx="0" cy="457200"/>
          </a:xfrm>
          <a:prstGeom prst="straightConnector1">
            <a:avLst/>
          </a:prstGeom>
          <a:noFill/>
          <a:ln w="25400" cap="rnd" cmpd="sng">
            <a:solidFill>
              <a:schemeClr val="accent4"/>
            </a:solidFill>
            <a:prstDash val="solid"/>
            <a:miter lim="800000"/>
            <a:headEnd type="none" w="sm" len="sm"/>
            <a:tailEnd type="none" w="sm" len="sm"/>
          </a:ln>
        </p:spPr>
      </p:cxnSp>
      <p:sp>
        <p:nvSpPr>
          <p:cNvPr id="6367" name="Google Shape;6367;p30"/>
          <p:cNvSpPr/>
          <p:nvPr/>
        </p:nvSpPr>
        <p:spPr>
          <a:xfrm>
            <a:off x="1306513" y="2889250"/>
            <a:ext cx="2082312" cy="23015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lt1"/>
                </a:solidFill>
                <a:latin typeface="Arial"/>
                <a:ea typeface="Arial"/>
                <a:cs typeface="Arial"/>
                <a:sym typeface="Arial"/>
              </a:rPr>
              <a:t>Distributed External Connection</a:t>
            </a:r>
            <a:endParaRPr/>
          </a:p>
        </p:txBody>
      </p:sp>
      <p:sp>
        <p:nvSpPr>
          <p:cNvPr id="6368" name="Google Shape;6368;p30"/>
          <p:cNvSpPr txBox="1"/>
          <p:nvPr/>
        </p:nvSpPr>
        <p:spPr>
          <a:xfrm>
            <a:off x="5907628" y="1864558"/>
            <a:ext cx="870983"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rgbClr val="7F7F7F"/>
                </a:solidFill>
                <a:latin typeface="Arial"/>
                <a:ea typeface="Arial"/>
                <a:cs typeface="Arial"/>
                <a:sym typeface="Arial"/>
              </a:rPr>
              <a:t>VLAN</a:t>
            </a:r>
            <a:endParaRPr/>
          </a:p>
        </p:txBody>
      </p:sp>
      <p:sp>
        <p:nvSpPr>
          <p:cNvPr id="6369" name="Google Shape;6369;p30"/>
          <p:cNvSpPr/>
          <p:nvPr/>
        </p:nvSpPr>
        <p:spPr>
          <a:xfrm rot="10800000" flipH="1">
            <a:off x="8372825" y="1589923"/>
            <a:ext cx="3816000"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a:p>
            <a:pPr marL="0" marR="0" lvl="0" indent="0" algn="ctr" rtl="0">
              <a:spcBef>
                <a:spcPts val="600"/>
              </a:spcBef>
              <a:spcAft>
                <a:spcPts val="0"/>
              </a:spcAft>
              <a:buNone/>
            </a:pPr>
            <a:endParaRPr sz="1200">
              <a:solidFill>
                <a:schemeClr val="lt1"/>
              </a:solidFill>
              <a:latin typeface="Arial"/>
              <a:ea typeface="Arial"/>
              <a:cs typeface="Arial"/>
              <a:sym typeface="Arial"/>
            </a:endParaRPr>
          </a:p>
        </p:txBody>
      </p:sp>
      <p:sp>
        <p:nvSpPr>
          <p:cNvPr id="6370" name="Google Shape;6370;p30"/>
          <p:cNvSpPr txBox="1"/>
          <p:nvPr/>
        </p:nvSpPr>
        <p:spPr>
          <a:xfrm>
            <a:off x="821145" y="5573776"/>
            <a:ext cx="376866"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ESX</a:t>
            </a:r>
            <a:endParaRPr/>
          </a:p>
        </p:txBody>
      </p:sp>
      <p:sp>
        <p:nvSpPr>
          <p:cNvPr id="6371" name="Google Shape;6371;p30"/>
          <p:cNvSpPr txBox="1"/>
          <p:nvPr/>
        </p:nvSpPr>
        <p:spPr>
          <a:xfrm>
            <a:off x="2649945" y="5573776"/>
            <a:ext cx="376866"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ESX</a:t>
            </a:r>
            <a:endParaRPr/>
          </a:p>
        </p:txBody>
      </p:sp>
      <p:sp>
        <p:nvSpPr>
          <p:cNvPr id="6372" name="Google Shape;6372;p30"/>
          <p:cNvSpPr txBox="1"/>
          <p:nvPr/>
        </p:nvSpPr>
        <p:spPr>
          <a:xfrm>
            <a:off x="4478745" y="5573776"/>
            <a:ext cx="381756"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ESX</a:t>
            </a:r>
            <a:endParaRPr/>
          </a:p>
        </p:txBody>
      </p:sp>
      <p:sp>
        <p:nvSpPr>
          <p:cNvPr id="6373" name="Google Shape;6373;p30"/>
          <p:cNvSpPr txBox="1"/>
          <p:nvPr/>
        </p:nvSpPr>
        <p:spPr>
          <a:xfrm>
            <a:off x="6307545" y="5573776"/>
            <a:ext cx="371976" cy="138499"/>
          </a:xfrm>
          <a:prstGeom prst="rect">
            <a:avLst/>
          </a:prstGeom>
          <a:noFill/>
          <a:ln>
            <a:noFill/>
          </a:ln>
        </p:spPr>
        <p:txBody>
          <a:bodyPr spcFirstLastPara="1" wrap="square" lIns="72000" tIns="0" rIns="0" bIns="0" anchor="t" anchorCtr="0">
            <a:spAutoFit/>
          </a:bodyPr>
          <a:lstStyle/>
          <a:p>
            <a:pPr marL="0" marR="0" lvl="0" indent="0" algn="l" rtl="0">
              <a:spcBef>
                <a:spcPts val="0"/>
              </a:spcBef>
              <a:spcAft>
                <a:spcPts val="0"/>
              </a:spcAft>
              <a:buNone/>
            </a:pPr>
            <a:r>
              <a:rPr lang="en-US" sz="900">
                <a:solidFill>
                  <a:schemeClr val="accent2"/>
                </a:solidFill>
                <a:latin typeface="Arial"/>
                <a:ea typeface="Arial"/>
                <a:cs typeface="Arial"/>
                <a:sym typeface="Arial"/>
              </a:rPr>
              <a:t>ESX</a:t>
            </a:r>
            <a:endParaRPr/>
          </a:p>
        </p:txBody>
      </p:sp>
      <p:grpSp>
        <p:nvGrpSpPr>
          <p:cNvPr id="6374" name="Google Shape;6374;p30"/>
          <p:cNvGrpSpPr/>
          <p:nvPr/>
        </p:nvGrpSpPr>
        <p:grpSpPr>
          <a:xfrm>
            <a:off x="2787207" y="5855142"/>
            <a:ext cx="3056154" cy="265509"/>
            <a:chOff x="2620950" y="5869812"/>
            <a:chExt cx="3056154" cy="265509"/>
          </a:xfrm>
        </p:grpSpPr>
        <p:sp>
          <p:nvSpPr>
            <p:cNvPr id="6375" name="Google Shape;6375;p30"/>
            <p:cNvSpPr/>
            <p:nvPr/>
          </p:nvSpPr>
          <p:spPr>
            <a:xfrm>
              <a:off x="2742826" y="5915992"/>
              <a:ext cx="2934278" cy="1661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200" b="1" cap="none">
                  <a:solidFill>
                    <a:srgbClr val="000000"/>
                  </a:solidFill>
                  <a:latin typeface="Arial"/>
                  <a:ea typeface="Arial"/>
                  <a:cs typeface="Arial"/>
                  <a:sym typeface="Arial"/>
                </a:rPr>
                <a:t>VMWARE CLOUD FOUNDATION</a:t>
              </a:r>
              <a:endParaRPr/>
            </a:p>
          </p:txBody>
        </p:sp>
        <p:pic>
          <p:nvPicPr>
            <p:cNvPr id="6376" name="Google Shape;6376;p30"/>
            <p:cNvPicPr preferRelativeResize="0"/>
            <p:nvPr/>
          </p:nvPicPr>
          <p:blipFill rotWithShape="1">
            <a:blip r:embed="rId3">
              <a:alphaModFix/>
            </a:blip>
            <a:srcRect/>
            <a:stretch/>
          </p:blipFill>
          <p:spPr>
            <a:xfrm>
              <a:off x="2620950" y="5869812"/>
              <a:ext cx="313492" cy="265509"/>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8AF67-267D-911D-EB27-5C696641DBFE}"/>
            </a:ext>
          </a:extLst>
        </p:cNvPr>
        <p:cNvGrpSpPr/>
        <p:nvPr/>
      </p:nvGrpSpPr>
      <p:grpSpPr>
        <a:xfrm>
          <a:off x="0" y="0"/>
          <a:ext cx="0" cy="0"/>
          <a:chOff x="0" y="0"/>
          <a:chExt cx="0" cy="0"/>
        </a:xfrm>
      </p:grpSpPr>
      <p:sp>
        <p:nvSpPr>
          <p:cNvPr id="11" name="!!TOP">
            <a:extLst>
              <a:ext uri="{FF2B5EF4-FFF2-40B4-BE49-F238E27FC236}">
                <a16:creationId xmlns:a16="http://schemas.microsoft.com/office/drawing/2014/main" id="{2F22774F-9FA0-A8AB-3B95-DEA5F12727F7}"/>
              </a:ext>
            </a:extLst>
          </p:cNvPr>
          <p:cNvSpPr/>
          <p:nvPr/>
        </p:nvSpPr>
        <p:spPr>
          <a:xfrm flipV="1">
            <a:off x="608013" y="1600200"/>
            <a:ext cx="5943600" cy="4571998"/>
          </a:xfrm>
          <a:prstGeom prst="round2SameRect">
            <a:avLst>
              <a:gd name="adj1" fmla="val 3666"/>
              <a:gd name="adj2" fmla="val 0"/>
            </a:avLst>
          </a:prstGeom>
          <a:solidFill>
            <a:schemeClr val="accent2">
              <a:alpha val="10000"/>
            </a:schemeClr>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endParaRPr>
          </a:p>
        </p:txBody>
      </p:sp>
      <p:sp>
        <p:nvSpPr>
          <p:cNvPr id="4" name="Title 3">
            <a:extLst>
              <a:ext uri="{FF2B5EF4-FFF2-40B4-BE49-F238E27FC236}">
                <a16:creationId xmlns:a16="http://schemas.microsoft.com/office/drawing/2014/main" id="{A79AD3F2-5FD5-91AF-7EF0-920E5065198C}"/>
              </a:ext>
            </a:extLst>
          </p:cNvPr>
          <p:cNvSpPr>
            <a:spLocks noGrp="1"/>
          </p:cNvSpPr>
          <p:nvPr>
            <p:ph type="title"/>
          </p:nvPr>
        </p:nvSpPr>
        <p:spPr/>
        <p:txBody>
          <a:bodyPr/>
          <a:lstStyle/>
          <a:p>
            <a:r>
              <a:rPr lang="en-US" dirty="0"/>
              <a:t>High Performance Switching out of the box</a:t>
            </a:r>
          </a:p>
        </p:txBody>
      </p:sp>
      <p:sp>
        <p:nvSpPr>
          <p:cNvPr id="15" name="Subtitle 14">
            <a:extLst>
              <a:ext uri="{FF2B5EF4-FFF2-40B4-BE49-F238E27FC236}">
                <a16:creationId xmlns:a16="http://schemas.microsoft.com/office/drawing/2014/main" id="{AD2713CF-3F60-0D5F-27C6-006AF3D260CD}"/>
              </a:ext>
            </a:extLst>
          </p:cNvPr>
          <p:cNvSpPr>
            <a:spLocks noGrp="1"/>
          </p:cNvSpPr>
          <p:nvPr>
            <p:ph type="subTitle" idx="10"/>
          </p:nvPr>
        </p:nvSpPr>
        <p:spPr/>
        <p:txBody>
          <a:bodyPr/>
          <a:lstStyle/>
          <a:p>
            <a:r>
              <a:rPr lang="en-US" dirty="0"/>
              <a:t>Enhanced Data Path (EDP) Standard as a default</a:t>
            </a:r>
          </a:p>
        </p:txBody>
      </p:sp>
      <p:sp>
        <p:nvSpPr>
          <p:cNvPr id="16" name="Text Placeholder 22">
            <a:extLst>
              <a:ext uri="{FF2B5EF4-FFF2-40B4-BE49-F238E27FC236}">
                <a16:creationId xmlns:a16="http://schemas.microsoft.com/office/drawing/2014/main" id="{DAFFCA82-785D-5E20-84FB-77A08EE379E4}"/>
              </a:ext>
            </a:extLst>
          </p:cNvPr>
          <p:cNvSpPr txBox="1">
            <a:spLocks/>
          </p:cNvSpPr>
          <p:nvPr/>
        </p:nvSpPr>
        <p:spPr>
          <a:xfrm>
            <a:off x="7466013" y="2057400"/>
            <a:ext cx="4722812" cy="4114799"/>
          </a:xfrm>
          <a:prstGeom prst="rect">
            <a:avLst/>
          </a:prstGeom>
        </p:spPr>
        <p:txBody>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Enhanced Data Path (EDP) standard is enabled by default for new VCF 9.0 deployments</a:t>
            </a:r>
          </a:p>
          <a:p>
            <a:pPr marL="285750" marR="0" lvl="0" indent="-28575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Does not require tuning</a:t>
            </a:r>
          </a:p>
          <a:p>
            <a:pPr marL="285750" marR="0" lvl="0" indent="-28575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50-70% increased performance </a:t>
            </a:r>
            <a:b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b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(for both bandwidth and packets per second)</a:t>
            </a:r>
          </a:p>
          <a:p>
            <a:pPr marL="285750" marR="0" lvl="0" indent="-28575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Char char="•"/>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EDP driver with improved </a:t>
            </a:r>
            <a:r>
              <a:rPr kumimoji="0" lang="en-US" sz="1600" b="0" i="0" u="none" strike="noStrike" kern="1200" cap="none" spc="0" normalizeH="0" baseline="0" noProof="0" dirty="0" err="1">
                <a:ln>
                  <a:noFill/>
                </a:ln>
                <a:solidFill>
                  <a:srgbClr val="005C8A"/>
                </a:solidFill>
                <a:effectLst/>
                <a:uLnTx/>
                <a:uFillTx/>
                <a:latin typeface="Arial" panose="020B0604020202020204"/>
                <a:ea typeface="+mn-ea"/>
                <a:cs typeface="+mn-cs"/>
              </a:rPr>
              <a:t>pNIC</a:t>
            </a: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 queue distribution (pooling and allocations)</a:t>
            </a:r>
          </a:p>
          <a:p>
            <a:pPr marL="0" marR="0" lvl="0" indent="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None/>
              <a:tabLst/>
              <a:defRPr/>
            </a:pPr>
            <a:endPar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None/>
              <a:tabLst/>
              <a:defRPr/>
            </a:pP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EDP dedicated mode can also be configured, </a:t>
            </a:r>
            <a:b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br>
            <a:r>
              <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rPr>
              <a:t>as well as the original “standard” VDS mode.</a:t>
            </a:r>
          </a:p>
          <a:p>
            <a:pPr marL="285750" marR="0" lvl="0" indent="-285750" algn="l" defTabSz="914400" rtl="0" eaLnBrk="1" fontAlgn="auto" latinLnBrk="0" hangingPunct="1">
              <a:lnSpc>
                <a:spcPct val="100000"/>
              </a:lnSpc>
              <a:spcBef>
                <a:spcPts val="0"/>
              </a:spcBef>
              <a:spcAft>
                <a:spcPts val="600"/>
              </a:spcAft>
              <a:buClr>
                <a:srgbClr val="005C8A"/>
              </a:buClr>
              <a:buSzPct val="90000"/>
              <a:buFont typeface="Arial" panose="020B0604020202020204" pitchFamily="34" charset="0"/>
              <a:buChar char="•"/>
              <a:tabLst/>
              <a:defRPr/>
            </a:pPr>
            <a:endParaRPr kumimoji="0" lang="en-US" sz="16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
                <a:srgbClr val="000000">
                  <a:lumMod val="60000"/>
                  <a:lumOff val="40000"/>
                </a:srgbClr>
              </a:buClr>
              <a:buSzPct val="90000"/>
              <a:buFont typeface="Arial" panose="020B0604020202020204" pitchFamily="34" charset="0"/>
              <a:buChar char="​"/>
              <a:tabLst/>
              <a:defRPr/>
            </a:pPr>
            <a:endPar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endParaRPr>
          </a:p>
        </p:txBody>
      </p:sp>
      <p:sp>
        <p:nvSpPr>
          <p:cNvPr id="47" name="!!bob123">
            <a:extLst>
              <a:ext uri="{FF2B5EF4-FFF2-40B4-BE49-F238E27FC236}">
                <a16:creationId xmlns:a16="http://schemas.microsoft.com/office/drawing/2014/main" id="{7AAAA7BC-2341-EBBF-9641-CF288C1967B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V="1">
            <a:off x="7466013" y="1589923"/>
            <a:ext cx="4716000"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 name="Google Shape;4270;p18">
            <a:extLst>
              <a:ext uri="{FF2B5EF4-FFF2-40B4-BE49-F238E27FC236}">
                <a16:creationId xmlns:a16="http://schemas.microsoft.com/office/drawing/2014/main" id="{F5C78737-953B-3FF4-3384-BCDB7BBAD7DA}"/>
              </a:ext>
            </a:extLst>
          </p:cNvPr>
          <p:cNvSpPr/>
          <p:nvPr/>
        </p:nvSpPr>
        <p:spPr>
          <a:xfrm>
            <a:off x="1078933" y="2057400"/>
            <a:ext cx="5015480" cy="3676650"/>
          </a:xfrm>
          <a:prstGeom prst="roundRect">
            <a:avLst>
              <a:gd name="adj" fmla="val 2439"/>
            </a:avLst>
          </a:prstGeom>
          <a:solidFill>
            <a:schemeClr val="bg1"/>
          </a:solidFill>
          <a:ln w="254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lang="en-US" sz="12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5" name="Google Shape;4294;p18">
            <a:extLst>
              <a:ext uri="{FF2B5EF4-FFF2-40B4-BE49-F238E27FC236}">
                <a16:creationId xmlns:a16="http://schemas.microsoft.com/office/drawing/2014/main" id="{BBEAA8F4-C402-C6D1-708C-BAEB2CC028F1}"/>
              </a:ext>
            </a:extLst>
          </p:cNvPr>
          <p:cNvSpPr>
            <a:spLocks noChangeAspect="1"/>
          </p:cNvSpPr>
          <p:nvPr/>
        </p:nvSpPr>
        <p:spPr>
          <a:xfrm>
            <a:off x="3301356" y="1731184"/>
            <a:ext cx="559444" cy="560806"/>
          </a:xfrm>
          <a:prstGeom prst="ellipse">
            <a:avLst/>
          </a:prstGeom>
          <a:solidFill>
            <a:schemeClr val="accent3"/>
          </a:solidFill>
          <a:ln>
            <a:noFill/>
          </a:ln>
          <a:effectLst>
            <a:outerShdw sx="120000" sy="120000" algn="ctr" rotWithShape="0">
              <a:srgbClr val="007B8C">
                <a:alpha val="20000"/>
              </a:srgbClr>
            </a:outerShdw>
          </a:effectLst>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6" name="Google Shape;4297;p18">
            <a:extLst>
              <a:ext uri="{FF2B5EF4-FFF2-40B4-BE49-F238E27FC236}">
                <a16:creationId xmlns:a16="http://schemas.microsoft.com/office/drawing/2014/main" id="{C2A48DE5-DBD1-015F-973F-C961BC167288}"/>
              </a:ext>
            </a:extLst>
          </p:cNvPr>
          <p:cNvPicPr preferRelativeResize="0">
            <a:picLocks noChangeAspect="1"/>
          </p:cNvPicPr>
          <p:nvPr/>
        </p:nvPicPr>
        <p:blipFill rotWithShape="1">
          <a:blip r:embed="rId3">
            <a:alphaModFix/>
          </a:blip>
          <a:srcRect/>
          <a:stretch/>
        </p:blipFill>
        <p:spPr>
          <a:xfrm>
            <a:off x="3307844" y="1738353"/>
            <a:ext cx="546467" cy="546467"/>
          </a:xfrm>
          <a:prstGeom prst="rect">
            <a:avLst/>
          </a:prstGeom>
          <a:noFill/>
          <a:ln>
            <a:noFill/>
          </a:ln>
        </p:spPr>
      </p:pic>
      <p:sp>
        <p:nvSpPr>
          <p:cNvPr id="8" name="TextBox 7">
            <a:extLst>
              <a:ext uri="{FF2B5EF4-FFF2-40B4-BE49-F238E27FC236}">
                <a16:creationId xmlns:a16="http://schemas.microsoft.com/office/drawing/2014/main" id="{3BD9A77A-4A68-311E-9286-F7ACD2C26E0D}"/>
              </a:ext>
            </a:extLst>
          </p:cNvPr>
          <p:cNvSpPr txBox="1"/>
          <p:nvPr/>
        </p:nvSpPr>
        <p:spPr>
          <a:xfrm>
            <a:off x="1115121" y="5376446"/>
            <a:ext cx="1984113"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5C8A"/>
                </a:solidFill>
                <a:effectLst/>
                <a:uLnTx/>
                <a:uFillTx/>
                <a:latin typeface="Arial"/>
                <a:ea typeface="+mn-ea"/>
                <a:cs typeface="Arial"/>
                <a:sym typeface="Arial"/>
              </a:rPr>
              <a:t>ESX Host with EDP</a:t>
            </a:r>
          </a:p>
        </p:txBody>
      </p:sp>
      <p:pic>
        <p:nvPicPr>
          <p:cNvPr id="13" name="Graphic 12">
            <a:extLst>
              <a:ext uri="{FF2B5EF4-FFF2-40B4-BE49-F238E27FC236}">
                <a16:creationId xmlns:a16="http://schemas.microsoft.com/office/drawing/2014/main" id="{4199A745-8393-44EE-32CB-14C6CFB068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67992" y="5164757"/>
            <a:ext cx="820530" cy="820530"/>
          </a:xfrm>
          <a:prstGeom prst="rect">
            <a:avLst/>
          </a:prstGeom>
        </p:spPr>
      </p:pic>
      <p:pic>
        <p:nvPicPr>
          <p:cNvPr id="17" name="Graphic 16">
            <a:extLst>
              <a:ext uri="{FF2B5EF4-FFF2-40B4-BE49-F238E27FC236}">
                <a16:creationId xmlns:a16="http://schemas.microsoft.com/office/drawing/2014/main" id="{7EF2D5ED-3DFC-CE9B-25C9-46D92AD81E9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23549" y="4655377"/>
            <a:ext cx="404369" cy="404369"/>
          </a:xfrm>
          <a:prstGeom prst="rect">
            <a:avLst/>
          </a:prstGeom>
        </p:spPr>
      </p:pic>
      <p:sp>
        <p:nvSpPr>
          <p:cNvPr id="18" name="Rectangle 17">
            <a:extLst>
              <a:ext uri="{FF2B5EF4-FFF2-40B4-BE49-F238E27FC236}">
                <a16:creationId xmlns:a16="http://schemas.microsoft.com/office/drawing/2014/main" id="{BB0346A1-7345-CB74-EB27-FC363C528140}"/>
              </a:ext>
            </a:extLst>
          </p:cNvPr>
          <p:cNvSpPr/>
          <p:nvPr/>
        </p:nvSpPr>
        <p:spPr>
          <a:xfrm>
            <a:off x="2594823" y="3252360"/>
            <a:ext cx="1224039" cy="21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mn-ea"/>
                <a:cs typeface="+mn-cs"/>
                <a:sym typeface="Arial"/>
              </a:rPr>
              <a:t>Fast Path</a:t>
            </a:r>
          </a:p>
        </p:txBody>
      </p:sp>
      <p:sp>
        <p:nvSpPr>
          <p:cNvPr id="21" name="Rectangle 20">
            <a:extLst>
              <a:ext uri="{FF2B5EF4-FFF2-40B4-BE49-F238E27FC236}">
                <a16:creationId xmlns:a16="http://schemas.microsoft.com/office/drawing/2014/main" id="{4CB80F59-2E88-319A-F9A6-C4D761F11522}"/>
              </a:ext>
            </a:extLst>
          </p:cNvPr>
          <p:cNvSpPr/>
          <p:nvPr/>
        </p:nvSpPr>
        <p:spPr>
          <a:xfrm>
            <a:off x="2423167" y="2383814"/>
            <a:ext cx="720000" cy="386966"/>
          </a:xfrm>
          <a:prstGeom prst="rect">
            <a:avLst/>
          </a:prstGeom>
          <a:solidFill>
            <a:schemeClr val="bg1"/>
          </a:solidFill>
          <a:ln w="12700">
            <a:solidFill>
              <a:schemeClr val="accent2"/>
            </a:solid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vmknic</a:t>
            </a:r>
          </a:p>
        </p:txBody>
      </p:sp>
      <p:sp>
        <p:nvSpPr>
          <p:cNvPr id="22" name="Rectangle 21">
            <a:extLst>
              <a:ext uri="{FF2B5EF4-FFF2-40B4-BE49-F238E27FC236}">
                <a16:creationId xmlns:a16="http://schemas.microsoft.com/office/drawing/2014/main" id="{0D3890B2-67F0-C8BE-7641-4D49AF95C0CC}"/>
              </a:ext>
            </a:extLst>
          </p:cNvPr>
          <p:cNvSpPr/>
          <p:nvPr/>
        </p:nvSpPr>
        <p:spPr>
          <a:xfrm>
            <a:off x="3251435" y="3689314"/>
            <a:ext cx="1620000" cy="21600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mn-ea"/>
                <a:cs typeface="+mn-cs"/>
                <a:sym typeface="Arial"/>
              </a:rPr>
              <a:t>Slow Path IOChain</a:t>
            </a:r>
          </a:p>
        </p:txBody>
      </p:sp>
      <p:sp>
        <p:nvSpPr>
          <p:cNvPr id="23" name="Rectangle 22">
            <a:extLst>
              <a:ext uri="{FF2B5EF4-FFF2-40B4-BE49-F238E27FC236}">
                <a16:creationId xmlns:a16="http://schemas.microsoft.com/office/drawing/2014/main" id="{E6AF6162-4EBF-9171-89C1-765855D02861}"/>
              </a:ext>
            </a:extLst>
          </p:cNvPr>
          <p:cNvSpPr/>
          <p:nvPr/>
        </p:nvSpPr>
        <p:spPr>
          <a:xfrm>
            <a:off x="4014782" y="2383814"/>
            <a:ext cx="720000" cy="386966"/>
          </a:xfrm>
          <a:prstGeom prst="rect">
            <a:avLst/>
          </a:prstGeom>
          <a:solidFill>
            <a:schemeClr val="bg1"/>
          </a:solidFill>
          <a:ln w="12700">
            <a:solidFill>
              <a:schemeClr val="accent2"/>
            </a:solid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VM</a:t>
            </a:r>
            <a:b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br>
            <a:r>
              <a:rPr kumimoji="0" lang="en-US" sz="8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e1000</a:t>
            </a:r>
          </a:p>
        </p:txBody>
      </p:sp>
      <p:sp>
        <p:nvSpPr>
          <p:cNvPr id="25" name="Rectangle 24">
            <a:extLst>
              <a:ext uri="{FF2B5EF4-FFF2-40B4-BE49-F238E27FC236}">
                <a16:creationId xmlns:a16="http://schemas.microsoft.com/office/drawing/2014/main" id="{67BF9FF8-AFBB-CB0B-3C73-9F5533273E6F}"/>
              </a:ext>
            </a:extLst>
          </p:cNvPr>
          <p:cNvSpPr/>
          <p:nvPr/>
        </p:nvSpPr>
        <p:spPr>
          <a:xfrm>
            <a:off x="3218975" y="2383814"/>
            <a:ext cx="720000" cy="386966"/>
          </a:xfrm>
          <a:prstGeom prst="rect">
            <a:avLst/>
          </a:prstGeom>
          <a:solidFill>
            <a:schemeClr val="bg1"/>
          </a:solidFill>
          <a:ln w="12700">
            <a:solidFill>
              <a:schemeClr val="accent2"/>
            </a:solid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VM</a:t>
            </a:r>
            <a:br>
              <a:rPr kumimoji="0" lang="en-US" sz="1200" b="0" i="0" u="none" strike="noStrike" kern="0" cap="none" spc="0" normalizeH="0" baseline="0" noProof="0" dirty="0">
                <a:ln>
                  <a:noFill/>
                </a:ln>
                <a:solidFill>
                  <a:srgbClr val="005C8A"/>
                </a:solidFill>
                <a:effectLst/>
                <a:uLnTx/>
                <a:uFillTx/>
                <a:latin typeface="Metropolis" pitchFamily="2" charset="77"/>
                <a:ea typeface="+mn-ea"/>
                <a:cs typeface="+mn-cs"/>
                <a:sym typeface="Arial"/>
              </a:rPr>
            </a:br>
            <a:r>
              <a:rPr kumimoji="0" lang="en-US" sz="800" b="0" i="0" u="none" strike="noStrike" kern="0" cap="none" spc="0" normalizeH="0" baseline="0" noProof="0" dirty="0">
                <a:ln>
                  <a:noFill/>
                </a:ln>
                <a:solidFill>
                  <a:srgbClr val="005C8A"/>
                </a:solidFill>
                <a:effectLst/>
                <a:uLnTx/>
                <a:uFillTx/>
                <a:latin typeface="Metropolis" pitchFamily="2" charset="77"/>
                <a:ea typeface="+mn-ea"/>
                <a:cs typeface="+mn-cs"/>
                <a:sym typeface="Arial"/>
              </a:rPr>
              <a:t>vmxnet3</a:t>
            </a:r>
          </a:p>
        </p:txBody>
      </p:sp>
      <p:cxnSp>
        <p:nvCxnSpPr>
          <p:cNvPr id="26" name="Elbow Connector 25">
            <a:extLst>
              <a:ext uri="{FF2B5EF4-FFF2-40B4-BE49-F238E27FC236}">
                <a16:creationId xmlns:a16="http://schemas.microsoft.com/office/drawing/2014/main" id="{61B196D8-0E65-6D13-E9BC-7DF00AD64095}"/>
              </a:ext>
            </a:extLst>
          </p:cNvPr>
          <p:cNvCxnSpPr>
            <a:cxnSpLocks/>
            <a:stCxn id="32" idx="2"/>
            <a:endCxn id="40" idx="0"/>
          </p:cNvCxnSpPr>
          <p:nvPr/>
        </p:nvCxnSpPr>
        <p:spPr>
          <a:xfrm rot="5400000">
            <a:off x="3329428" y="4838249"/>
            <a:ext cx="461407" cy="24414"/>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7C6C0BF-125B-43CD-2C37-834E18D30EE5}"/>
              </a:ext>
            </a:extLst>
          </p:cNvPr>
          <p:cNvCxnSpPr>
            <a:cxnSpLocks/>
          </p:cNvCxnSpPr>
          <p:nvPr/>
        </p:nvCxnSpPr>
        <p:spPr bwMode="gray">
          <a:xfrm>
            <a:off x="3576496" y="3458610"/>
            <a:ext cx="0" cy="222553"/>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E63C6CF-F52E-E6A4-6357-310B519157AB}"/>
              </a:ext>
            </a:extLst>
          </p:cNvPr>
          <p:cNvCxnSpPr>
            <a:cxnSpLocks/>
          </p:cNvCxnSpPr>
          <p:nvPr/>
        </p:nvCxnSpPr>
        <p:spPr bwMode="gray">
          <a:xfrm>
            <a:off x="3088148" y="3468287"/>
            <a:ext cx="0" cy="672495"/>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EB70FB0-5292-CE72-8171-D68B4405F3A8}"/>
              </a:ext>
            </a:extLst>
          </p:cNvPr>
          <p:cNvSpPr txBox="1"/>
          <p:nvPr/>
        </p:nvSpPr>
        <p:spPr>
          <a:xfrm>
            <a:off x="1501095" y="4302364"/>
            <a:ext cx="4136117" cy="325219"/>
          </a:xfrm>
          <a:prstGeom prst="roundRect">
            <a:avLst>
              <a:gd name="adj" fmla="val 26139"/>
            </a:avLst>
          </a:prstGeom>
          <a:solidFill>
            <a:schemeClr val="accent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FFFFF"/>
                </a:solidFill>
                <a:effectLst/>
                <a:uLnTx/>
                <a:uFillTx/>
                <a:latin typeface="Metropolis" pitchFamily="2" charset="77"/>
                <a:ea typeface="+mn-ea"/>
                <a:cs typeface="Arial"/>
                <a:sym typeface="Arial"/>
              </a:rPr>
              <a:t>EDP Standard vSwitch</a:t>
            </a:r>
          </a:p>
        </p:txBody>
      </p:sp>
      <p:sp>
        <p:nvSpPr>
          <p:cNvPr id="32" name="Google Shape;1732;p4">
            <a:extLst>
              <a:ext uri="{FF2B5EF4-FFF2-40B4-BE49-F238E27FC236}">
                <a16:creationId xmlns:a16="http://schemas.microsoft.com/office/drawing/2014/main" id="{1B6F8065-AD6C-48D0-55EF-9696D3DEAD17}"/>
              </a:ext>
            </a:extLst>
          </p:cNvPr>
          <p:cNvSpPr/>
          <p:nvPr/>
        </p:nvSpPr>
        <p:spPr>
          <a:xfrm>
            <a:off x="1507463" y="2926760"/>
            <a:ext cx="4129750" cy="1692993"/>
          </a:xfrm>
          <a:prstGeom prst="roundRect">
            <a:avLst>
              <a:gd name="adj" fmla="val 4572"/>
            </a:avLst>
          </a:prstGeom>
          <a:noFill/>
          <a:ln w="2857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FFFFFF"/>
              </a:solidFill>
              <a:effectLst/>
              <a:uLnTx/>
              <a:uFillTx/>
              <a:latin typeface="Arial"/>
              <a:ea typeface="Arial"/>
              <a:cs typeface="Arial"/>
              <a:sym typeface="Arial"/>
            </a:endParaRPr>
          </a:p>
        </p:txBody>
      </p:sp>
      <p:cxnSp>
        <p:nvCxnSpPr>
          <p:cNvPr id="34" name="Straight Arrow Connector 33">
            <a:extLst>
              <a:ext uri="{FF2B5EF4-FFF2-40B4-BE49-F238E27FC236}">
                <a16:creationId xmlns:a16="http://schemas.microsoft.com/office/drawing/2014/main" id="{861B788B-8751-DF9B-CB66-84669FD69711}"/>
              </a:ext>
            </a:extLst>
          </p:cNvPr>
          <p:cNvCxnSpPr/>
          <p:nvPr/>
        </p:nvCxnSpPr>
        <p:spPr bwMode="gray">
          <a:xfrm>
            <a:off x="2754481" y="2713544"/>
            <a:ext cx="0" cy="541866"/>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6475F45-7105-1FBC-8724-820F070F1115}"/>
              </a:ext>
            </a:extLst>
          </p:cNvPr>
          <p:cNvCxnSpPr>
            <a:cxnSpLocks/>
            <a:stCxn id="25" idx="2"/>
          </p:cNvCxnSpPr>
          <p:nvPr/>
        </p:nvCxnSpPr>
        <p:spPr bwMode="gray">
          <a:xfrm>
            <a:off x="3578975" y="2770780"/>
            <a:ext cx="0" cy="485376"/>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E0B1DFD-AD71-1C5D-A027-A4840AE3E902}"/>
              </a:ext>
            </a:extLst>
          </p:cNvPr>
          <p:cNvCxnSpPr>
            <a:cxnSpLocks/>
            <a:stCxn id="23" idx="2"/>
          </p:cNvCxnSpPr>
          <p:nvPr/>
        </p:nvCxnSpPr>
        <p:spPr bwMode="gray">
          <a:xfrm>
            <a:off x="4374782" y="2770780"/>
            <a:ext cx="0" cy="920274"/>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5740991C-FA63-3719-B38F-1714F157A441}"/>
              </a:ext>
            </a:extLst>
          </p:cNvPr>
          <p:cNvSpPr/>
          <p:nvPr/>
        </p:nvSpPr>
        <p:spPr bwMode="gray">
          <a:xfrm rot="5400000">
            <a:off x="1067215" y="3375153"/>
            <a:ext cx="1255487" cy="372533"/>
          </a:xfrm>
          <a:prstGeom prst="roundRect">
            <a:avLst/>
          </a:prstGeom>
          <a:solidFill>
            <a:schemeClr val="accent3"/>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a:ea typeface="+mn-ea"/>
                <a:cs typeface="+mn-cs"/>
              </a:rPr>
              <a:t>Optimized Packet Processing</a:t>
            </a:r>
          </a:p>
        </p:txBody>
      </p:sp>
      <p:sp>
        <p:nvSpPr>
          <p:cNvPr id="39" name="Rectangle 38">
            <a:extLst>
              <a:ext uri="{FF2B5EF4-FFF2-40B4-BE49-F238E27FC236}">
                <a16:creationId xmlns:a16="http://schemas.microsoft.com/office/drawing/2014/main" id="{788DCC59-E69F-2680-26EA-532E38A90295}"/>
              </a:ext>
            </a:extLst>
          </p:cNvPr>
          <p:cNvSpPr/>
          <p:nvPr/>
        </p:nvSpPr>
        <p:spPr>
          <a:xfrm>
            <a:off x="1501435" y="4126268"/>
            <a:ext cx="4135777" cy="227948"/>
          </a:xfrm>
          <a:prstGeom prst="rect">
            <a:avLst/>
          </a:prstGeom>
          <a:solidFill>
            <a:schemeClr val="accent4"/>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mn-ea"/>
                <a:cs typeface="+mn-cs"/>
                <a:sym typeface="Arial"/>
              </a:rPr>
              <a:t>Optimized Packet Data Structure</a:t>
            </a:r>
          </a:p>
        </p:txBody>
      </p:sp>
      <p:sp>
        <p:nvSpPr>
          <p:cNvPr id="40" name="Rectangle 39">
            <a:extLst>
              <a:ext uri="{FF2B5EF4-FFF2-40B4-BE49-F238E27FC236}">
                <a16:creationId xmlns:a16="http://schemas.microsoft.com/office/drawing/2014/main" id="{C09D9609-135D-3C8D-A074-013A0C29BA86}"/>
              </a:ext>
            </a:extLst>
          </p:cNvPr>
          <p:cNvSpPr/>
          <p:nvPr/>
        </p:nvSpPr>
        <p:spPr>
          <a:xfrm>
            <a:off x="3025409" y="5081160"/>
            <a:ext cx="1045029" cy="21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mn-ea"/>
                <a:cs typeface="+mn-cs"/>
                <a:sym typeface="Arial"/>
              </a:rPr>
              <a:t>EDP Driver</a:t>
            </a:r>
          </a:p>
        </p:txBody>
      </p:sp>
      <p:pic>
        <p:nvPicPr>
          <p:cNvPr id="41" name="Graphic 40">
            <a:extLst>
              <a:ext uri="{FF2B5EF4-FFF2-40B4-BE49-F238E27FC236}">
                <a16:creationId xmlns:a16="http://schemas.microsoft.com/office/drawing/2014/main" id="{75C5D3BD-4BD1-2C62-EA4A-D05003F8E8C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71854" y="4655377"/>
            <a:ext cx="404369" cy="404369"/>
          </a:xfrm>
          <a:prstGeom prst="rect">
            <a:avLst/>
          </a:prstGeom>
        </p:spPr>
      </p:pic>
      <p:cxnSp>
        <p:nvCxnSpPr>
          <p:cNvPr id="48" name="Straight Arrow Connector 47">
            <a:extLst>
              <a:ext uri="{FF2B5EF4-FFF2-40B4-BE49-F238E27FC236}">
                <a16:creationId xmlns:a16="http://schemas.microsoft.com/office/drawing/2014/main" id="{7EE2A68F-9E5F-DE63-CEE3-49F49C8F5BC7}"/>
              </a:ext>
            </a:extLst>
          </p:cNvPr>
          <p:cNvCxnSpPr>
            <a:cxnSpLocks/>
          </p:cNvCxnSpPr>
          <p:nvPr/>
        </p:nvCxnSpPr>
        <p:spPr bwMode="gray">
          <a:xfrm>
            <a:off x="3997410" y="3903714"/>
            <a:ext cx="0" cy="222553"/>
          </a:xfrm>
          <a:prstGeom prst="straightConnector1">
            <a:avLst/>
          </a:prstGeom>
          <a:ln w="12700">
            <a:solidFill>
              <a:schemeClr val="accent2"/>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C878B96C-0D37-6C08-872A-D6CC6B0775E2}"/>
              </a:ext>
            </a:extLst>
          </p:cNvPr>
          <p:cNvGrpSpPr/>
          <p:nvPr/>
        </p:nvGrpSpPr>
        <p:grpSpPr>
          <a:xfrm>
            <a:off x="2118919" y="5819261"/>
            <a:ext cx="3061094" cy="304248"/>
            <a:chOff x="2118919" y="5819261"/>
            <a:chExt cx="3061094" cy="304248"/>
          </a:xfrm>
        </p:grpSpPr>
        <p:sp>
          <p:nvSpPr>
            <p:cNvPr id="14" name="Rectangle 13">
              <a:extLst>
                <a:ext uri="{FF2B5EF4-FFF2-40B4-BE49-F238E27FC236}">
                  <a16:creationId xmlns:a16="http://schemas.microsoft.com/office/drawing/2014/main" id="{0D5E8355-50BC-0CE5-FEA5-8B9FC868999D}"/>
                </a:ext>
              </a:extLst>
            </p:cNvPr>
            <p:cNvSpPr/>
            <p:nvPr/>
          </p:nvSpPr>
          <p:spPr>
            <a:xfrm>
              <a:off x="2245735" y="5901322"/>
              <a:ext cx="2934278" cy="1661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1200" cap="all" spc="50" normalizeH="0" baseline="0" noProof="0" dirty="0" err="1">
                  <a:ln>
                    <a:noFill/>
                  </a:ln>
                  <a:solidFill>
                    <a:prstClr val="black"/>
                  </a:solidFill>
                  <a:effectLst/>
                  <a:uLnTx/>
                  <a:uFillTx/>
                  <a:latin typeface="Arial" panose="020B0604020202020204"/>
                  <a:ea typeface="+mn-ea"/>
                  <a:cs typeface="Arial"/>
                </a:rPr>
                <a:t>Vmware</a:t>
              </a:r>
              <a:r>
                <a:rPr kumimoji="0" lang="en-US" sz="1200" b="1" i="0" u="none" strike="noStrike" kern="1200" cap="all" spc="50" normalizeH="0" baseline="0" noProof="0" dirty="0">
                  <a:ln>
                    <a:noFill/>
                  </a:ln>
                  <a:solidFill>
                    <a:prstClr val="black"/>
                  </a:solidFill>
                  <a:effectLst/>
                  <a:uLnTx/>
                  <a:uFillTx/>
                  <a:latin typeface="Arial" panose="020B0604020202020204"/>
                  <a:ea typeface="+mn-ea"/>
                  <a:cs typeface="Arial"/>
                </a:rPr>
                <a:t> Cloud Foundation</a:t>
              </a:r>
            </a:p>
          </p:txBody>
        </p:sp>
        <p:pic>
          <p:nvPicPr>
            <p:cNvPr id="2" name="Google Shape;4853;p59">
              <a:extLst>
                <a:ext uri="{FF2B5EF4-FFF2-40B4-BE49-F238E27FC236}">
                  <a16:creationId xmlns:a16="http://schemas.microsoft.com/office/drawing/2014/main" id="{CB5910D2-AECD-C611-8D0A-04F91DCCA1E6}"/>
                </a:ext>
              </a:extLst>
            </p:cNvPr>
            <p:cNvPicPr preferRelativeResize="0"/>
            <p:nvPr/>
          </p:nvPicPr>
          <p:blipFill rotWithShape="1">
            <a:blip r:embed="rId8">
              <a:alphaModFix/>
            </a:blip>
            <a:srcRect/>
            <a:stretch/>
          </p:blipFill>
          <p:spPr>
            <a:xfrm>
              <a:off x="2118919" y="5819261"/>
              <a:ext cx="304248" cy="304248"/>
            </a:xfrm>
            <a:prstGeom prst="rect">
              <a:avLst/>
            </a:prstGeom>
            <a:noFill/>
            <a:ln>
              <a:noFill/>
            </a:ln>
          </p:spPr>
        </p:pic>
      </p:grpSp>
    </p:spTree>
    <p:extLst>
      <p:ext uri="{BB962C8B-B14F-4D97-AF65-F5344CB8AC3E}">
        <p14:creationId xmlns:p14="http://schemas.microsoft.com/office/powerpoint/2010/main" val="3641143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18"/>
        <p:cNvGrpSpPr/>
        <p:nvPr/>
      </p:nvGrpSpPr>
      <p:grpSpPr>
        <a:xfrm>
          <a:off x="0" y="0"/>
          <a:ext cx="0" cy="0"/>
          <a:chOff x="0" y="0"/>
          <a:chExt cx="0" cy="0"/>
        </a:xfrm>
      </p:grpSpPr>
      <p:sp>
        <p:nvSpPr>
          <p:cNvPr id="6419" name="Google Shape;6419;p32"/>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Fleet Management</a:t>
            </a:r>
            <a:br>
              <a:rPr lang="en-US"/>
            </a:br>
            <a:endParaRPr/>
          </a:p>
        </p:txBody>
      </p:sp>
      <p:sp>
        <p:nvSpPr>
          <p:cNvPr id="6420" name="Google Shape;6420;p32"/>
          <p:cNvSpPr txBox="1"/>
          <p:nvPr/>
        </p:nvSpPr>
        <p:spPr>
          <a:xfrm>
            <a:off x="490252" y="2308659"/>
            <a:ext cx="7315200" cy="432278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Unified Operations Experience</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Centralized Fleet Lifecycle Management</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Non-disruptive Upgrades </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Single Sign-on for Administrator Access</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Centralized </a:t>
            </a:r>
            <a:r>
              <a:rPr lang="en-US" sz="2000">
                <a:solidFill>
                  <a:srgbClr val="000000"/>
                </a:solidFill>
                <a:latin typeface="Arial"/>
                <a:ea typeface="Arial"/>
                <a:cs typeface="Arial"/>
                <a:sym typeface="Arial"/>
              </a:rPr>
              <a:t>Certificate</a:t>
            </a:r>
            <a:r>
              <a:rPr lang="en-US" sz="2000" b="0" i="0" u="none" strike="noStrike" cap="none">
                <a:solidFill>
                  <a:srgbClr val="000000"/>
                </a:solidFill>
                <a:latin typeface="Arial"/>
                <a:ea typeface="Arial"/>
                <a:cs typeface="Arial"/>
                <a:sym typeface="Arial"/>
              </a:rPr>
              <a:t> Management</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Centralized </a:t>
            </a:r>
            <a:r>
              <a:rPr lang="en-US" sz="2000">
                <a:solidFill>
                  <a:srgbClr val="000000"/>
                </a:solidFill>
                <a:latin typeface="Arial"/>
                <a:ea typeface="Arial"/>
                <a:cs typeface="Arial"/>
                <a:sym typeface="Arial"/>
              </a:rPr>
              <a:t>Password</a:t>
            </a:r>
            <a:r>
              <a:rPr lang="en-US" sz="2000" b="0" i="0" u="none" strike="noStrike" cap="none">
                <a:solidFill>
                  <a:srgbClr val="000000"/>
                </a:solidFill>
                <a:latin typeface="Arial"/>
                <a:ea typeface="Arial"/>
                <a:cs typeface="Arial"/>
                <a:sym typeface="Arial"/>
              </a:rPr>
              <a:t> Management</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Configuration Drift Management and Assessment</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Unified Tag Management</a:t>
            </a: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b="0" i="0" u="none" strike="noStrike" cap="none">
                <a:solidFill>
                  <a:srgbClr val="000000"/>
                </a:solidFill>
                <a:latin typeface="Arial"/>
                <a:ea typeface="Arial"/>
                <a:cs typeface="Arial"/>
                <a:sym typeface="Arial"/>
              </a:rPr>
              <a:t>VCF Download Tool for Disconnected Sites</a:t>
            </a:r>
            <a:endParaRPr/>
          </a:p>
        </p:txBody>
      </p:sp>
      <p:sp>
        <p:nvSpPr>
          <p:cNvPr id="6421" name="Google Shape;6421;p32"/>
          <p:cNvSpPr txBox="1"/>
          <p:nvPr/>
        </p:nvSpPr>
        <p:spPr>
          <a:xfrm>
            <a:off x="588963" y="1823094"/>
            <a:ext cx="202190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5C8A"/>
              </a:buClr>
              <a:buSzPts val="1800"/>
              <a:buFont typeface="Arial"/>
              <a:buNone/>
            </a:pPr>
            <a:r>
              <a:rPr lang="en-US" sz="1800" b="0" i="0" u="none" strike="noStrike" cap="none">
                <a:solidFill>
                  <a:srgbClr val="005C8A"/>
                </a:solidFill>
                <a:latin typeface="Arial"/>
                <a:ea typeface="Arial"/>
                <a:cs typeface="Arial"/>
                <a:sym typeface="Arial"/>
              </a:rPr>
              <a:t>VCF OPERATIONS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54"/>
        <p:cNvGrpSpPr/>
        <p:nvPr/>
      </p:nvGrpSpPr>
      <p:grpSpPr>
        <a:xfrm>
          <a:off x="0" y="0"/>
          <a:ext cx="0" cy="0"/>
          <a:chOff x="0" y="0"/>
          <a:chExt cx="0" cy="0"/>
        </a:xfrm>
      </p:grpSpPr>
      <p:sp>
        <p:nvSpPr>
          <p:cNvPr id="2857" name="Google Shape;2857;p26"/>
          <p:cNvSpPr/>
          <p:nvPr/>
        </p:nvSpPr>
        <p:spPr>
          <a:xfrm>
            <a:off x="726" y="1408070"/>
            <a:ext cx="12170677" cy="4701027"/>
          </a:xfrm>
          <a:custGeom>
            <a:avLst/>
            <a:gdLst/>
            <a:ahLst/>
            <a:cxnLst/>
            <a:rect l="l" t="t" r="r" b="b"/>
            <a:pathLst>
              <a:path w="3672840" h="3488576" extrusionOk="0">
                <a:moveTo>
                  <a:pt x="0" y="0"/>
                </a:moveTo>
                <a:lnTo>
                  <a:pt x="3672840" y="0"/>
                </a:lnTo>
                <a:lnTo>
                  <a:pt x="3672840" y="1284810"/>
                </a:lnTo>
                <a:lnTo>
                  <a:pt x="3672840" y="1371601"/>
                </a:lnTo>
                <a:lnTo>
                  <a:pt x="3672840" y="3488576"/>
                </a:lnTo>
                <a:lnTo>
                  <a:pt x="0" y="3488576"/>
                </a:lnTo>
                <a:lnTo>
                  <a:pt x="0" y="1371601"/>
                </a:lnTo>
                <a:lnTo>
                  <a:pt x="0" y="1284810"/>
                </a:lnTo>
                <a:close/>
              </a:path>
            </a:pathLst>
          </a:custGeom>
          <a:solidFill>
            <a:srgbClr val="F4F8FA"/>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58" name="Google Shape;2858;p26"/>
          <p:cNvSpPr/>
          <p:nvPr/>
        </p:nvSpPr>
        <p:spPr>
          <a:xfrm>
            <a:off x="581247" y="1527086"/>
            <a:ext cx="10871707" cy="4446994"/>
          </a:xfrm>
          <a:prstGeom prst="roundRect">
            <a:avLst>
              <a:gd name="adj" fmla="val 2525"/>
            </a:avLst>
          </a:prstGeom>
          <a:solidFill>
            <a:schemeClr val="lt1"/>
          </a:solidFill>
          <a:ln w="9525" cap="flat" cmpd="sng">
            <a:solidFill>
              <a:srgbClr val="797979"/>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4" name="Group 13">
            <a:extLst>
              <a:ext uri="{FF2B5EF4-FFF2-40B4-BE49-F238E27FC236}">
                <a16:creationId xmlns:a16="http://schemas.microsoft.com/office/drawing/2014/main" id="{1C88738D-9AAA-8BB9-EFC7-53E676AAAC5E}"/>
              </a:ext>
            </a:extLst>
          </p:cNvPr>
          <p:cNvGrpSpPr/>
          <p:nvPr/>
        </p:nvGrpSpPr>
        <p:grpSpPr>
          <a:xfrm>
            <a:off x="3998316" y="1628976"/>
            <a:ext cx="3454744" cy="4259217"/>
            <a:chOff x="6028817" y="1628976"/>
            <a:chExt cx="3454744" cy="4259217"/>
          </a:xfrm>
        </p:grpSpPr>
        <p:sp>
          <p:nvSpPr>
            <p:cNvPr id="10" name="TextBox 9">
              <a:extLst>
                <a:ext uri="{FF2B5EF4-FFF2-40B4-BE49-F238E27FC236}">
                  <a16:creationId xmlns:a16="http://schemas.microsoft.com/office/drawing/2014/main" id="{15CE8F09-AB55-85E4-6B8A-15B77AE20424}"/>
                </a:ext>
              </a:extLst>
            </p:cNvPr>
            <p:cNvSpPr txBox="1"/>
            <p:nvPr/>
          </p:nvSpPr>
          <p:spPr>
            <a:xfrm>
              <a:off x="7479263" y="1684476"/>
              <a:ext cx="552582" cy="14776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VCF Fleet</a:t>
              </a:r>
            </a:p>
          </p:txBody>
        </p:sp>
        <p:grpSp>
          <p:nvGrpSpPr>
            <p:cNvPr id="6" name="Group 5">
              <a:extLst>
                <a:ext uri="{FF2B5EF4-FFF2-40B4-BE49-F238E27FC236}">
                  <a16:creationId xmlns:a16="http://schemas.microsoft.com/office/drawing/2014/main" id="{49B396DA-1798-D0C3-0CDC-4C4DD180BA3B}"/>
                </a:ext>
              </a:extLst>
            </p:cNvPr>
            <p:cNvGrpSpPr/>
            <p:nvPr/>
          </p:nvGrpSpPr>
          <p:grpSpPr>
            <a:xfrm>
              <a:off x="6028817" y="1628976"/>
              <a:ext cx="3454744" cy="4259217"/>
              <a:chOff x="4006052" y="1628976"/>
              <a:chExt cx="3454744" cy="4259217"/>
            </a:xfrm>
          </p:grpSpPr>
          <p:sp>
            <p:nvSpPr>
              <p:cNvPr id="9" name="Google Shape;6678;g2d30ebb658d_0_19789">
                <a:extLst>
                  <a:ext uri="{FF2B5EF4-FFF2-40B4-BE49-F238E27FC236}">
                    <a16:creationId xmlns:a16="http://schemas.microsoft.com/office/drawing/2014/main" id="{A8B0DE91-00FE-7B69-610E-B8D675C3E52F}"/>
                  </a:ext>
                </a:extLst>
              </p:cNvPr>
              <p:cNvSpPr/>
              <p:nvPr/>
            </p:nvSpPr>
            <p:spPr>
              <a:xfrm>
                <a:off x="4006052" y="1628976"/>
                <a:ext cx="3454744" cy="4259217"/>
              </a:xfrm>
              <a:prstGeom prst="roundRect">
                <a:avLst>
                  <a:gd name="adj" fmla="val 2356"/>
                </a:avLst>
              </a:prstGeom>
              <a:solidFill>
                <a:schemeClr val="accent5">
                  <a:alpha val="9770"/>
                </a:schemeClr>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1" name="Group 10">
                <a:extLst>
                  <a:ext uri="{FF2B5EF4-FFF2-40B4-BE49-F238E27FC236}">
                    <a16:creationId xmlns:a16="http://schemas.microsoft.com/office/drawing/2014/main" id="{052A37C6-1873-153B-D4D1-ED123374A217}"/>
                  </a:ext>
                </a:extLst>
              </p:cNvPr>
              <p:cNvGrpSpPr/>
              <p:nvPr/>
            </p:nvGrpSpPr>
            <p:grpSpPr>
              <a:xfrm>
                <a:off x="4103641" y="5305809"/>
                <a:ext cx="3241873" cy="484549"/>
                <a:chOff x="4357596" y="5842511"/>
                <a:chExt cx="1909145" cy="308820"/>
              </a:xfrm>
            </p:grpSpPr>
            <p:sp>
              <p:nvSpPr>
                <p:cNvPr id="12" name="Google Shape;6678;g2d30ebb658d_0_19789">
                  <a:extLst>
                    <a:ext uri="{FF2B5EF4-FFF2-40B4-BE49-F238E27FC236}">
                      <a16:creationId xmlns:a16="http://schemas.microsoft.com/office/drawing/2014/main" id="{BEE14BAC-C4B6-9A47-D88A-1EBDF8BF89B1}"/>
                    </a:ext>
                  </a:extLst>
                </p:cNvPr>
                <p:cNvSpPr/>
                <p:nvPr/>
              </p:nvSpPr>
              <p:spPr>
                <a:xfrm>
                  <a:off x="4357596" y="5842511"/>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3" name="TextBox 12">
                  <a:extLst>
                    <a:ext uri="{FF2B5EF4-FFF2-40B4-BE49-F238E27FC236}">
                      <a16:creationId xmlns:a16="http://schemas.microsoft.com/office/drawing/2014/main" id="{D8BE0CA1-066D-53E7-DDCD-FD2D5AB2A4DB}"/>
                    </a:ext>
                  </a:extLst>
                </p:cNvPr>
                <p:cNvSpPr txBox="1"/>
                <p:nvPr/>
              </p:nvSpPr>
              <p:spPr>
                <a:xfrm>
                  <a:off x="4889462" y="5958091"/>
                  <a:ext cx="809461" cy="7729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Additional VCF Instances</a:t>
                  </a:r>
                </a:p>
              </p:txBody>
            </p:sp>
          </p:grpSp>
          <p:pic>
            <p:nvPicPr>
              <p:cNvPr id="15" name="Google Shape;2871;p26">
                <a:extLst>
                  <a:ext uri="{FF2B5EF4-FFF2-40B4-BE49-F238E27FC236}">
                    <a16:creationId xmlns:a16="http://schemas.microsoft.com/office/drawing/2014/main" id="{23C83F38-10C8-9C33-D242-FC254C4ABB56}"/>
                  </a:ext>
                </a:extLst>
              </p:cNvPr>
              <p:cNvPicPr preferRelativeResize="0"/>
              <p:nvPr/>
            </p:nvPicPr>
            <p:blipFill rotWithShape="1">
              <a:blip r:embed="rId3">
                <a:alphaModFix/>
              </a:blip>
              <a:srcRect/>
              <a:stretch/>
            </p:blipFill>
            <p:spPr>
              <a:xfrm>
                <a:off x="4511014" y="5385954"/>
                <a:ext cx="289251" cy="317890"/>
              </a:xfrm>
              <a:prstGeom prst="rect">
                <a:avLst/>
              </a:prstGeom>
              <a:noFill/>
              <a:ln>
                <a:noFill/>
              </a:ln>
            </p:spPr>
          </p:pic>
        </p:grpSp>
      </p:grpSp>
      <p:sp>
        <p:nvSpPr>
          <p:cNvPr id="16" name="Rectangle 15">
            <a:extLst>
              <a:ext uri="{FF2B5EF4-FFF2-40B4-BE49-F238E27FC236}">
                <a16:creationId xmlns:a16="http://schemas.microsoft.com/office/drawing/2014/main" id="{08D2D1F6-BF60-725E-AA43-B9425B25B135}"/>
              </a:ext>
            </a:extLst>
          </p:cNvPr>
          <p:cNvSpPr/>
          <p:nvPr/>
        </p:nvSpPr>
        <p:spPr bwMode="gray">
          <a:xfrm>
            <a:off x="3919367" y="5250171"/>
            <a:ext cx="3936680" cy="662948"/>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855" name="Google Shape;2855;p26"/>
          <p:cNvSpPr txBox="1">
            <a:spLocks noGrp="1"/>
          </p:cNvSpPr>
          <p:nvPr>
            <p:ph type="title"/>
          </p:nvPr>
        </p:nvSpPr>
        <p:spPr>
          <a:xfrm>
            <a:off x="581245" y="413536"/>
            <a:ext cx="10998139"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800"/>
              <a:buNone/>
            </a:pPr>
            <a:r>
              <a:rPr lang="en-US"/>
              <a:t>Unified Operations Experience</a:t>
            </a:r>
            <a:endParaRPr/>
          </a:p>
        </p:txBody>
      </p:sp>
      <p:sp>
        <p:nvSpPr>
          <p:cNvPr id="2856" name="Google Shape;2856;p26"/>
          <p:cNvSpPr txBox="1">
            <a:spLocks noGrp="1"/>
          </p:cNvSpPr>
          <p:nvPr>
            <p:ph type="subTitle" idx="1"/>
          </p:nvPr>
        </p:nvSpPr>
        <p:spPr>
          <a:xfrm>
            <a:off x="594300" y="812513"/>
            <a:ext cx="10959832"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VCF Operations and VCF Fleet Management</a:t>
            </a:r>
            <a:endParaRPr dirty="0"/>
          </a:p>
        </p:txBody>
      </p:sp>
      <p:sp>
        <p:nvSpPr>
          <p:cNvPr id="2876" name="Google Shape;2876;p26"/>
          <p:cNvSpPr/>
          <p:nvPr/>
        </p:nvSpPr>
        <p:spPr>
          <a:xfrm rot="5400000">
            <a:off x="1980766" y="3687645"/>
            <a:ext cx="3638148" cy="812800"/>
          </a:xfrm>
          <a:prstGeom prst="triangle">
            <a:avLst>
              <a:gd name="adj" fmla="val 7916"/>
            </a:avLst>
          </a:prstGeom>
          <a:gradFill>
            <a:gsLst>
              <a:gs pos="0">
                <a:srgbClr val="005C8A">
                  <a:alpha val="23529"/>
                </a:srgbClr>
              </a:gs>
              <a:gs pos="100000">
                <a:srgbClr val="FFFFFF">
                  <a:alpha val="0"/>
                </a:srgbClr>
              </a:gs>
            </a:gsLst>
            <a:lin ang="540000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78" name="Google Shape;2878;p26"/>
          <p:cNvGrpSpPr/>
          <p:nvPr/>
        </p:nvGrpSpPr>
        <p:grpSpPr>
          <a:xfrm>
            <a:off x="902756" y="1965017"/>
            <a:ext cx="3366124" cy="3347676"/>
            <a:chOff x="902756" y="2042507"/>
            <a:chExt cx="3366124" cy="3347676"/>
          </a:xfrm>
        </p:grpSpPr>
        <p:sp>
          <p:nvSpPr>
            <p:cNvPr id="2879" name="Google Shape;2879;p26"/>
            <p:cNvSpPr txBox="1"/>
            <p:nvPr/>
          </p:nvSpPr>
          <p:spPr>
            <a:xfrm>
              <a:off x="915197" y="2588956"/>
              <a:ext cx="2990953"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VCF Health &amp; Diagnostics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a:ln>
                    <a:noFill/>
                  </a:ln>
                  <a:solidFill>
                    <a:srgbClr val="777777"/>
                  </a:solidFill>
                  <a:effectLst/>
                  <a:uLnTx/>
                  <a:uFillTx/>
                  <a:latin typeface="Arial"/>
                  <a:ea typeface="Arial"/>
                  <a:cs typeface="Arial"/>
                  <a:sym typeface="Arial"/>
                </a:rPr>
                <a:t>(formerly Aria Skyline)</a:t>
              </a:r>
              <a:endParaRPr kumimoji="0" sz="1300" b="0" i="0" u="none" strike="noStrike" kern="1200" cap="none" spc="0" normalizeH="0" baseline="0" noProof="0">
                <a:ln>
                  <a:noFill/>
                </a:ln>
                <a:solidFill>
                  <a:srgbClr val="777777"/>
                </a:solidFill>
                <a:effectLst/>
                <a:uLnTx/>
                <a:uFillTx/>
                <a:latin typeface="Arial"/>
                <a:ea typeface="Arial"/>
                <a:cs typeface="Arial"/>
                <a:sym typeface="Arial"/>
              </a:endParaRPr>
            </a:p>
          </p:txBody>
        </p:sp>
        <p:sp>
          <p:nvSpPr>
            <p:cNvPr id="2880" name="Google Shape;2880;p26"/>
            <p:cNvSpPr txBox="1"/>
            <p:nvPr/>
          </p:nvSpPr>
          <p:spPr>
            <a:xfrm>
              <a:off x="910038" y="3609123"/>
              <a:ext cx="2916759"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Network Operations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endParaRPr kumimoji="0" sz="1300" b="0" i="0" u="none" strike="noStrike" kern="1200" cap="none" spc="0" normalizeH="0" baseline="0" noProof="0">
                <a:ln>
                  <a:noFill/>
                </a:ln>
                <a:solidFill>
                  <a:srgbClr val="777777"/>
                </a:solidFill>
                <a:effectLst/>
                <a:uLnTx/>
                <a:uFillTx/>
                <a:latin typeface="Arial"/>
                <a:ea typeface="Arial"/>
                <a:cs typeface="Arial"/>
                <a:sym typeface="Arial"/>
              </a:endParaRPr>
            </a:p>
          </p:txBody>
        </p:sp>
        <p:sp>
          <p:nvSpPr>
            <p:cNvPr id="2881" name="Google Shape;2881;p26"/>
            <p:cNvSpPr/>
            <p:nvPr/>
          </p:nvSpPr>
          <p:spPr>
            <a:xfrm>
              <a:off x="3286216" y="4014594"/>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2" name="Google Shape;2882;p26"/>
            <p:cNvSpPr txBox="1"/>
            <p:nvPr/>
          </p:nvSpPr>
          <p:spPr>
            <a:xfrm>
              <a:off x="909467" y="4650753"/>
              <a:ext cx="2257030"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Troubleshooting &amp; Observability</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3" name="Google Shape;2883;p26"/>
            <p:cNvSpPr txBox="1"/>
            <p:nvPr/>
          </p:nvSpPr>
          <p:spPr>
            <a:xfrm>
              <a:off x="914705" y="4130910"/>
              <a:ext cx="287963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Storage Operations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4" name="Google Shape;2884;p26"/>
            <p:cNvSpPr/>
            <p:nvPr/>
          </p:nvSpPr>
          <p:spPr>
            <a:xfrm>
              <a:off x="3286216" y="4524815"/>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5" name="Google Shape;2885;p26"/>
            <p:cNvSpPr/>
            <p:nvPr/>
          </p:nvSpPr>
          <p:spPr>
            <a:xfrm>
              <a:off x="3286216" y="5035037"/>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6" name="Google Shape;2886;p26"/>
            <p:cNvSpPr txBox="1"/>
            <p:nvPr/>
          </p:nvSpPr>
          <p:spPr>
            <a:xfrm>
              <a:off x="902756" y="3106661"/>
              <a:ext cx="260518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Log Operations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7" name="Google Shape;2887;p26"/>
            <p:cNvSpPr/>
            <p:nvPr/>
          </p:nvSpPr>
          <p:spPr>
            <a:xfrm>
              <a:off x="3286216" y="3023497"/>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8" name="Google Shape;2888;p26"/>
            <p:cNvSpPr txBox="1"/>
            <p:nvPr/>
          </p:nvSpPr>
          <p:spPr>
            <a:xfrm>
              <a:off x="916987" y="5165383"/>
              <a:ext cx="269536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Security Operations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9" name="Google Shape;2889;p26"/>
            <p:cNvSpPr/>
            <p:nvPr/>
          </p:nvSpPr>
          <p:spPr>
            <a:xfrm>
              <a:off x="3286216" y="3516422"/>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90" name="Google Shape;2890;p26"/>
            <p:cNvSpPr/>
            <p:nvPr/>
          </p:nvSpPr>
          <p:spPr>
            <a:xfrm>
              <a:off x="3275075" y="2508035"/>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2891" name="Google Shape;2891;p26"/>
            <p:cNvPicPr preferRelativeResize="0"/>
            <p:nvPr/>
          </p:nvPicPr>
          <p:blipFill rotWithShape="1">
            <a:blip r:embed="rId4">
              <a:alphaModFix/>
            </a:blip>
            <a:srcRect/>
            <a:stretch/>
          </p:blipFill>
          <p:spPr>
            <a:xfrm>
              <a:off x="3333695" y="5082992"/>
              <a:ext cx="259241" cy="259241"/>
            </a:xfrm>
            <a:prstGeom prst="rect">
              <a:avLst/>
            </a:prstGeom>
            <a:noFill/>
            <a:ln>
              <a:noFill/>
            </a:ln>
          </p:spPr>
        </p:pic>
        <p:pic>
          <p:nvPicPr>
            <p:cNvPr id="2892" name="Google Shape;2892;p26"/>
            <p:cNvPicPr preferRelativeResize="0"/>
            <p:nvPr/>
          </p:nvPicPr>
          <p:blipFill rotWithShape="1">
            <a:blip r:embed="rId5">
              <a:alphaModFix/>
            </a:blip>
            <a:srcRect/>
            <a:stretch/>
          </p:blipFill>
          <p:spPr>
            <a:xfrm>
              <a:off x="3344419" y="3587875"/>
              <a:ext cx="225036" cy="225036"/>
            </a:xfrm>
            <a:prstGeom prst="rect">
              <a:avLst/>
            </a:prstGeom>
            <a:noFill/>
            <a:ln>
              <a:noFill/>
            </a:ln>
          </p:spPr>
        </p:pic>
        <p:pic>
          <p:nvPicPr>
            <p:cNvPr id="2893" name="Google Shape;2893;p26"/>
            <p:cNvPicPr preferRelativeResize="0"/>
            <p:nvPr/>
          </p:nvPicPr>
          <p:blipFill rotWithShape="1">
            <a:blip r:embed="rId6">
              <a:alphaModFix/>
            </a:blip>
            <a:srcRect/>
            <a:stretch/>
          </p:blipFill>
          <p:spPr>
            <a:xfrm>
              <a:off x="3356814" y="4079651"/>
              <a:ext cx="225036" cy="225036"/>
            </a:xfrm>
            <a:prstGeom prst="rect">
              <a:avLst/>
            </a:prstGeom>
            <a:noFill/>
            <a:ln>
              <a:noFill/>
            </a:ln>
          </p:spPr>
        </p:pic>
        <p:pic>
          <p:nvPicPr>
            <p:cNvPr id="2894" name="Google Shape;2894;p26"/>
            <p:cNvPicPr preferRelativeResize="0"/>
            <p:nvPr/>
          </p:nvPicPr>
          <p:blipFill rotWithShape="1">
            <a:blip r:embed="rId7">
              <a:alphaModFix/>
            </a:blip>
            <a:srcRect/>
            <a:stretch/>
          </p:blipFill>
          <p:spPr>
            <a:xfrm>
              <a:off x="3345215" y="2571235"/>
              <a:ext cx="226727" cy="226727"/>
            </a:xfrm>
            <a:prstGeom prst="rect">
              <a:avLst/>
            </a:prstGeom>
            <a:noFill/>
            <a:ln>
              <a:noFill/>
            </a:ln>
          </p:spPr>
        </p:pic>
        <p:pic>
          <p:nvPicPr>
            <p:cNvPr id="2895" name="Google Shape;2895;p26"/>
            <p:cNvPicPr preferRelativeResize="0"/>
            <p:nvPr/>
          </p:nvPicPr>
          <p:blipFill rotWithShape="1">
            <a:blip r:embed="rId8">
              <a:alphaModFix/>
            </a:blip>
            <a:srcRect/>
            <a:stretch/>
          </p:blipFill>
          <p:spPr>
            <a:xfrm>
              <a:off x="3369606" y="4602662"/>
              <a:ext cx="225036" cy="225036"/>
            </a:xfrm>
            <a:prstGeom prst="rect">
              <a:avLst/>
            </a:prstGeom>
            <a:noFill/>
            <a:ln>
              <a:noFill/>
            </a:ln>
          </p:spPr>
        </p:pic>
        <p:pic>
          <p:nvPicPr>
            <p:cNvPr id="2896" name="Google Shape;2896;p26"/>
            <p:cNvPicPr preferRelativeResize="0"/>
            <p:nvPr/>
          </p:nvPicPr>
          <p:blipFill rotWithShape="1">
            <a:blip r:embed="rId9">
              <a:alphaModFix/>
            </a:blip>
            <a:srcRect/>
            <a:stretch/>
          </p:blipFill>
          <p:spPr>
            <a:xfrm>
              <a:off x="3341694" y="3094684"/>
              <a:ext cx="212787" cy="212788"/>
            </a:xfrm>
            <a:prstGeom prst="rect">
              <a:avLst/>
            </a:prstGeom>
            <a:noFill/>
            <a:ln>
              <a:noFill/>
            </a:ln>
          </p:spPr>
        </p:pic>
        <p:sp>
          <p:nvSpPr>
            <p:cNvPr id="2897" name="Google Shape;2897;p26"/>
            <p:cNvSpPr txBox="1"/>
            <p:nvPr/>
          </p:nvSpPr>
          <p:spPr>
            <a:xfrm>
              <a:off x="1277927" y="2042507"/>
              <a:ext cx="2990953" cy="2215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600" b="0" i="0" u="none" strike="noStrike" kern="1200" cap="none" spc="0" normalizeH="0" baseline="0" noProof="0">
                  <a:ln>
                    <a:noFill/>
                  </a:ln>
                  <a:solidFill>
                    <a:srgbClr val="007B8C"/>
                  </a:solidFill>
                  <a:effectLst/>
                  <a:uLnTx/>
                  <a:uFillTx/>
                  <a:latin typeface="Arial"/>
                  <a:ea typeface="Arial"/>
                  <a:cs typeface="Arial"/>
                  <a:sym typeface="Arial"/>
                </a:rPr>
                <a:t>VCF Operations</a:t>
              </a:r>
              <a:endParaRPr kumimoji="0" sz="1600" b="0" i="0" u="none" strike="noStrike" kern="1200" cap="none" spc="0" normalizeH="0" baseline="0" noProof="0">
                <a:ln>
                  <a:noFill/>
                </a:ln>
                <a:solidFill>
                  <a:srgbClr val="007B8C"/>
                </a:solidFill>
                <a:effectLst/>
                <a:uLnTx/>
                <a:uFillTx/>
                <a:latin typeface="Arial"/>
                <a:ea typeface="Arial"/>
                <a:cs typeface="Arial"/>
                <a:sym typeface="Arial"/>
              </a:endParaRPr>
            </a:p>
          </p:txBody>
        </p:sp>
      </p:grpSp>
      <p:sp>
        <p:nvSpPr>
          <p:cNvPr id="2898" name="Google Shape;2898;p26"/>
          <p:cNvSpPr/>
          <p:nvPr/>
        </p:nvSpPr>
        <p:spPr>
          <a:xfrm rot="-5400000">
            <a:off x="5903236" y="3634306"/>
            <a:ext cx="3600898" cy="956728"/>
          </a:xfrm>
          <a:prstGeom prst="triangle">
            <a:avLst>
              <a:gd name="adj" fmla="val 92533"/>
            </a:avLst>
          </a:prstGeom>
          <a:gradFill>
            <a:gsLst>
              <a:gs pos="0">
                <a:srgbClr val="005C8A">
                  <a:alpha val="23529"/>
                </a:srgbClr>
              </a:gs>
              <a:gs pos="100000">
                <a:srgbClr val="FFFFFF">
                  <a:alpha val="0"/>
                </a:srgbClr>
              </a:gs>
            </a:gsLst>
            <a:lin ang="540000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99" name="Google Shape;2899;p26"/>
          <p:cNvGrpSpPr/>
          <p:nvPr/>
        </p:nvGrpSpPr>
        <p:grpSpPr>
          <a:xfrm>
            <a:off x="7979394" y="1962653"/>
            <a:ext cx="3571788" cy="3497438"/>
            <a:chOff x="7979394" y="2040143"/>
            <a:chExt cx="3571788" cy="3497438"/>
          </a:xfrm>
        </p:grpSpPr>
        <p:sp>
          <p:nvSpPr>
            <p:cNvPr id="2900" name="Google Shape;2900;p26"/>
            <p:cNvSpPr txBox="1"/>
            <p:nvPr/>
          </p:nvSpPr>
          <p:spPr>
            <a:xfrm>
              <a:off x="8798834" y="5291464"/>
              <a:ext cx="2752348" cy="246117"/>
            </a:xfrm>
            <a:prstGeom prst="rect">
              <a:avLst/>
            </a:prstGeom>
            <a:noFill/>
            <a:ln>
              <a:noFill/>
            </a:ln>
          </p:spPr>
          <p:txBody>
            <a:bodyPr spcFirstLastPara="1" wrap="square" lIns="91400" tIns="45675" rIns="91400" bIns="45675"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US" sz="1000" b="0" i="1" u="none" strike="noStrike" kern="1200" cap="none" spc="0" normalizeH="0" baseline="0" noProof="0">
                  <a:ln>
                    <a:noFill/>
                  </a:ln>
                  <a:solidFill>
                    <a:srgbClr val="000000"/>
                  </a:solidFill>
                  <a:effectLst/>
                  <a:uLnTx/>
                  <a:uFillTx/>
                  <a:latin typeface="Arial"/>
                  <a:ea typeface="Arial"/>
                  <a:cs typeface="Arial"/>
                  <a:sym typeface="Arial"/>
                </a:rPr>
                <a:t>.</a:t>
              </a: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1" name="Google Shape;2901;p26"/>
            <p:cNvSpPr txBox="1"/>
            <p:nvPr/>
          </p:nvSpPr>
          <p:spPr>
            <a:xfrm>
              <a:off x="8618806" y="2620490"/>
              <a:ext cx="239735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Identity &amp; Access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2" name="Google Shape;2902;p26"/>
            <p:cNvSpPr/>
            <p:nvPr/>
          </p:nvSpPr>
          <p:spPr>
            <a:xfrm>
              <a:off x="7979394" y="2509291"/>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3" name="Google Shape;2903;p26"/>
            <p:cNvSpPr txBox="1"/>
            <p:nvPr/>
          </p:nvSpPr>
          <p:spPr>
            <a:xfrm>
              <a:off x="8618804" y="3648975"/>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Password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4" name="Google Shape;2904;p26"/>
            <p:cNvSpPr/>
            <p:nvPr/>
          </p:nvSpPr>
          <p:spPr>
            <a:xfrm>
              <a:off x="7979404" y="3540963"/>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5" name="Google Shape;2905;p26"/>
            <p:cNvSpPr txBox="1"/>
            <p:nvPr/>
          </p:nvSpPr>
          <p:spPr>
            <a:xfrm>
              <a:off x="8618804" y="4625774"/>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Configuration Drift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6" name="Google Shape;2906;p26"/>
            <p:cNvSpPr/>
            <p:nvPr/>
          </p:nvSpPr>
          <p:spPr>
            <a:xfrm>
              <a:off x="7982347" y="5028330"/>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7" name="Google Shape;2907;p26"/>
            <p:cNvSpPr txBox="1"/>
            <p:nvPr/>
          </p:nvSpPr>
          <p:spPr>
            <a:xfrm>
              <a:off x="8618804" y="4124453"/>
              <a:ext cx="2594796"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Tag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8" name="Google Shape;2908;p26"/>
            <p:cNvSpPr/>
            <p:nvPr/>
          </p:nvSpPr>
          <p:spPr>
            <a:xfrm>
              <a:off x="7982347" y="4516686"/>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9" name="Google Shape;2909;p26"/>
            <p:cNvSpPr txBox="1"/>
            <p:nvPr/>
          </p:nvSpPr>
          <p:spPr>
            <a:xfrm>
              <a:off x="8618806" y="3141194"/>
              <a:ext cx="239735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Certificate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10" name="Google Shape;2910;p26"/>
            <p:cNvSpPr/>
            <p:nvPr/>
          </p:nvSpPr>
          <p:spPr>
            <a:xfrm>
              <a:off x="7982347" y="3020935"/>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11" name="Google Shape;2911;p26"/>
            <p:cNvSpPr txBox="1"/>
            <p:nvPr/>
          </p:nvSpPr>
          <p:spPr>
            <a:xfrm>
              <a:off x="8618804" y="5127094"/>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Lifecycle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12" name="Google Shape;2912;p26"/>
            <p:cNvSpPr/>
            <p:nvPr/>
          </p:nvSpPr>
          <p:spPr>
            <a:xfrm>
              <a:off x="7985241" y="4024631"/>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pic>
          <p:nvPicPr>
            <p:cNvPr id="2913" name="Google Shape;2913;p26"/>
            <p:cNvPicPr preferRelativeResize="0"/>
            <p:nvPr/>
          </p:nvPicPr>
          <p:blipFill rotWithShape="1">
            <a:blip r:embed="rId10">
              <a:alphaModFix/>
            </a:blip>
            <a:srcRect/>
            <a:stretch/>
          </p:blipFill>
          <p:spPr>
            <a:xfrm>
              <a:off x="8034212" y="2601517"/>
              <a:ext cx="254402" cy="178085"/>
            </a:xfrm>
            <a:prstGeom prst="rect">
              <a:avLst/>
            </a:prstGeom>
            <a:noFill/>
            <a:ln>
              <a:noFill/>
            </a:ln>
          </p:spPr>
        </p:pic>
        <p:pic>
          <p:nvPicPr>
            <p:cNvPr id="2914" name="Google Shape;2914;p26"/>
            <p:cNvPicPr preferRelativeResize="0"/>
            <p:nvPr/>
          </p:nvPicPr>
          <p:blipFill rotWithShape="1">
            <a:blip r:embed="rId11">
              <a:alphaModFix/>
            </a:blip>
            <a:srcRect/>
            <a:stretch/>
          </p:blipFill>
          <p:spPr>
            <a:xfrm>
              <a:off x="8043287" y="3598495"/>
              <a:ext cx="252899" cy="206448"/>
            </a:xfrm>
            <a:prstGeom prst="rect">
              <a:avLst/>
            </a:prstGeom>
            <a:noFill/>
            <a:ln>
              <a:noFill/>
            </a:ln>
          </p:spPr>
        </p:pic>
        <p:pic>
          <p:nvPicPr>
            <p:cNvPr id="2915" name="Google Shape;2915;p26"/>
            <p:cNvPicPr preferRelativeResize="0"/>
            <p:nvPr/>
          </p:nvPicPr>
          <p:blipFill rotWithShape="1">
            <a:blip r:embed="rId12">
              <a:alphaModFix/>
            </a:blip>
            <a:srcRect/>
            <a:stretch/>
          </p:blipFill>
          <p:spPr>
            <a:xfrm>
              <a:off x="8087159" y="3081180"/>
              <a:ext cx="165158" cy="252899"/>
            </a:xfrm>
            <a:prstGeom prst="rect">
              <a:avLst/>
            </a:prstGeom>
            <a:noFill/>
            <a:ln>
              <a:noFill/>
            </a:ln>
          </p:spPr>
        </p:pic>
        <p:pic>
          <p:nvPicPr>
            <p:cNvPr id="2916" name="Google Shape;2916;p26"/>
            <p:cNvPicPr preferRelativeResize="0"/>
            <p:nvPr/>
          </p:nvPicPr>
          <p:blipFill rotWithShape="1">
            <a:blip r:embed="rId13">
              <a:alphaModFix/>
            </a:blip>
            <a:srcRect/>
            <a:stretch/>
          </p:blipFill>
          <p:spPr>
            <a:xfrm>
              <a:off x="8015742" y="4115370"/>
              <a:ext cx="290862" cy="178079"/>
            </a:xfrm>
            <a:prstGeom prst="rect">
              <a:avLst/>
            </a:prstGeom>
            <a:noFill/>
            <a:ln>
              <a:noFill/>
            </a:ln>
          </p:spPr>
        </p:pic>
        <p:sp>
          <p:nvSpPr>
            <p:cNvPr id="2917" name="Google Shape;2917;p26"/>
            <p:cNvSpPr txBox="1"/>
            <p:nvPr/>
          </p:nvSpPr>
          <p:spPr>
            <a:xfrm>
              <a:off x="8472687" y="2040143"/>
              <a:ext cx="2990953" cy="2215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600" b="0" i="0" u="none" strike="noStrike" kern="1200" cap="none" spc="0" normalizeH="0" baseline="0" noProof="0">
                  <a:ln>
                    <a:noFill/>
                  </a:ln>
                  <a:solidFill>
                    <a:srgbClr val="0098C7"/>
                  </a:solidFill>
                  <a:effectLst/>
                  <a:uLnTx/>
                  <a:uFillTx/>
                  <a:latin typeface="Arial"/>
                  <a:ea typeface="Arial"/>
                  <a:cs typeface="Arial"/>
                  <a:sym typeface="Arial"/>
                </a:rPr>
                <a:t>VCF Fleet Management</a:t>
              </a:r>
              <a:endParaRPr kumimoji="0" sz="1600" b="0" i="0" u="none" strike="noStrike" kern="1200" cap="none" spc="0" normalizeH="0" baseline="0" noProof="0">
                <a:ln>
                  <a:noFill/>
                </a:ln>
                <a:solidFill>
                  <a:srgbClr val="0098C7"/>
                </a:solidFill>
                <a:effectLst/>
                <a:uLnTx/>
                <a:uFillTx/>
                <a:latin typeface="Arial"/>
                <a:ea typeface="Arial"/>
                <a:cs typeface="Arial"/>
                <a:sym typeface="Arial"/>
              </a:endParaRPr>
            </a:p>
          </p:txBody>
        </p:sp>
        <p:pic>
          <p:nvPicPr>
            <p:cNvPr id="2918" name="Google Shape;2918;p26"/>
            <p:cNvPicPr preferRelativeResize="0"/>
            <p:nvPr/>
          </p:nvPicPr>
          <p:blipFill rotWithShape="1">
            <a:blip r:embed="rId14">
              <a:alphaModFix/>
            </a:blip>
            <a:srcRect/>
            <a:stretch/>
          </p:blipFill>
          <p:spPr>
            <a:xfrm>
              <a:off x="8046126" y="4597655"/>
              <a:ext cx="254402" cy="233634"/>
            </a:xfrm>
            <a:prstGeom prst="rect">
              <a:avLst/>
            </a:prstGeom>
            <a:noFill/>
            <a:ln>
              <a:noFill/>
            </a:ln>
          </p:spPr>
        </p:pic>
        <p:grpSp>
          <p:nvGrpSpPr>
            <p:cNvPr id="2919" name="Google Shape;2919;p26"/>
            <p:cNvGrpSpPr/>
            <p:nvPr/>
          </p:nvGrpSpPr>
          <p:grpSpPr>
            <a:xfrm>
              <a:off x="8037213" y="5077773"/>
              <a:ext cx="262797" cy="262796"/>
              <a:chOff x="3544748" y="4874841"/>
              <a:chExt cx="739588" cy="739586"/>
            </a:xfrm>
          </p:grpSpPr>
          <p:grpSp>
            <p:nvGrpSpPr>
              <p:cNvPr id="2920" name="Google Shape;2920;p26"/>
              <p:cNvGrpSpPr/>
              <p:nvPr/>
            </p:nvGrpSpPr>
            <p:grpSpPr>
              <a:xfrm>
                <a:off x="3672761" y="5003383"/>
                <a:ext cx="480897" cy="494931"/>
                <a:chOff x="3672761" y="5003383"/>
                <a:chExt cx="480897" cy="494931"/>
              </a:xfrm>
            </p:grpSpPr>
            <p:grpSp>
              <p:nvGrpSpPr>
                <p:cNvPr id="2921" name="Google Shape;2921;p26"/>
                <p:cNvGrpSpPr/>
                <p:nvPr/>
              </p:nvGrpSpPr>
              <p:grpSpPr>
                <a:xfrm>
                  <a:off x="3672761" y="5003383"/>
                  <a:ext cx="454934" cy="454954"/>
                  <a:chOff x="3672761" y="5003383"/>
                  <a:chExt cx="454934" cy="454954"/>
                </a:xfrm>
              </p:grpSpPr>
              <p:sp>
                <p:nvSpPr>
                  <p:cNvPr id="2922" name="Google Shape;2922;p26"/>
                  <p:cNvSpPr/>
                  <p:nvPr/>
                </p:nvSpPr>
                <p:spPr>
                  <a:xfrm>
                    <a:off x="3672761" y="5254171"/>
                    <a:ext cx="203636" cy="204166"/>
                  </a:xfrm>
                  <a:custGeom>
                    <a:avLst/>
                    <a:gdLst/>
                    <a:ahLst/>
                    <a:cxnLst/>
                    <a:rect l="l" t="t" r="r" b="b"/>
                    <a:pathLst>
                      <a:path w="203636" h="204166" extrusionOk="0">
                        <a:moveTo>
                          <a:pt x="203636" y="37615"/>
                        </a:moveTo>
                        <a:lnTo>
                          <a:pt x="169200" y="3179"/>
                        </a:lnTo>
                        <a:cubicBezTo>
                          <a:pt x="168140" y="2119"/>
                          <a:pt x="167611" y="1060"/>
                          <a:pt x="166551" y="0"/>
                        </a:cubicBezTo>
                        <a:lnTo>
                          <a:pt x="109863" y="57217"/>
                        </a:lnTo>
                        <a:lnTo>
                          <a:pt x="95559" y="71522"/>
                        </a:lnTo>
                        <a:cubicBezTo>
                          <a:pt x="70659" y="60926"/>
                          <a:pt x="40461" y="66224"/>
                          <a:pt x="20329" y="86356"/>
                        </a:cubicBezTo>
                        <a:cubicBezTo>
                          <a:pt x="197" y="106488"/>
                          <a:pt x="-5101" y="136156"/>
                          <a:pt x="4965" y="161056"/>
                        </a:cubicBezTo>
                        <a:lnTo>
                          <a:pt x="39401" y="126620"/>
                        </a:lnTo>
                        <a:lnTo>
                          <a:pt x="69599" y="134567"/>
                        </a:lnTo>
                        <a:lnTo>
                          <a:pt x="77546" y="164765"/>
                        </a:lnTo>
                        <a:lnTo>
                          <a:pt x="43110" y="199201"/>
                        </a:lnTo>
                        <a:cubicBezTo>
                          <a:pt x="68010" y="209267"/>
                          <a:pt x="97678" y="203969"/>
                          <a:pt x="117810" y="183837"/>
                        </a:cubicBezTo>
                        <a:cubicBezTo>
                          <a:pt x="138472" y="163175"/>
                          <a:pt x="143240" y="133507"/>
                          <a:pt x="132644" y="108607"/>
                        </a:cubicBezTo>
                        <a:lnTo>
                          <a:pt x="146949" y="94303"/>
                        </a:lnTo>
                        <a:lnTo>
                          <a:pt x="203636" y="37615"/>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23" name="Google Shape;2923;p26"/>
                  <p:cNvSpPr/>
                  <p:nvPr/>
                </p:nvSpPr>
                <p:spPr>
                  <a:xfrm>
                    <a:off x="3915072" y="5003383"/>
                    <a:ext cx="212623" cy="212112"/>
                  </a:xfrm>
                  <a:custGeom>
                    <a:avLst/>
                    <a:gdLst/>
                    <a:ahLst/>
                    <a:cxnLst/>
                    <a:rect l="l" t="t" r="r" b="b"/>
                    <a:pathLst>
                      <a:path w="212623" h="212112" extrusionOk="0">
                        <a:moveTo>
                          <a:pt x="207678" y="43110"/>
                        </a:moveTo>
                        <a:lnTo>
                          <a:pt x="173241" y="77546"/>
                        </a:lnTo>
                        <a:lnTo>
                          <a:pt x="143043" y="69599"/>
                        </a:lnTo>
                        <a:lnTo>
                          <a:pt x="135096" y="39401"/>
                        </a:lnTo>
                        <a:lnTo>
                          <a:pt x="169533" y="4965"/>
                        </a:lnTo>
                        <a:cubicBezTo>
                          <a:pt x="144633" y="-5101"/>
                          <a:pt x="114964" y="197"/>
                          <a:pt x="94832" y="20329"/>
                        </a:cubicBezTo>
                        <a:cubicBezTo>
                          <a:pt x="74171" y="40991"/>
                          <a:pt x="69403" y="70659"/>
                          <a:pt x="79998" y="95559"/>
                        </a:cubicBezTo>
                        <a:lnTo>
                          <a:pt x="65694" y="109863"/>
                        </a:lnTo>
                        <a:lnTo>
                          <a:pt x="0" y="175028"/>
                        </a:lnTo>
                        <a:cubicBezTo>
                          <a:pt x="1060" y="175557"/>
                          <a:pt x="2119" y="176617"/>
                          <a:pt x="3179" y="177677"/>
                        </a:cubicBezTo>
                        <a:lnTo>
                          <a:pt x="37615" y="212113"/>
                        </a:lnTo>
                        <a:lnTo>
                          <a:pt x="102249" y="147479"/>
                        </a:lnTo>
                        <a:lnTo>
                          <a:pt x="116554" y="133174"/>
                        </a:lnTo>
                        <a:cubicBezTo>
                          <a:pt x="141454" y="143770"/>
                          <a:pt x="171652" y="138472"/>
                          <a:pt x="191784" y="118340"/>
                        </a:cubicBezTo>
                        <a:cubicBezTo>
                          <a:pt x="212446" y="97678"/>
                          <a:pt x="217744" y="68010"/>
                          <a:pt x="207678" y="4311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924" name="Google Shape;2924;p26"/>
                <p:cNvGrpSpPr/>
                <p:nvPr/>
              </p:nvGrpSpPr>
              <p:grpSpPr>
                <a:xfrm>
                  <a:off x="3694149" y="5034308"/>
                  <a:ext cx="459509" cy="464006"/>
                  <a:chOff x="3694149" y="5034308"/>
                  <a:chExt cx="459509" cy="464006"/>
                </a:xfrm>
              </p:grpSpPr>
              <p:sp>
                <p:nvSpPr>
                  <p:cNvPr id="2925" name="Google Shape;2925;p26"/>
                  <p:cNvSpPr/>
                  <p:nvPr/>
                </p:nvSpPr>
                <p:spPr>
                  <a:xfrm>
                    <a:off x="3906595" y="5243475"/>
                    <a:ext cx="247063" cy="254839"/>
                  </a:xfrm>
                  <a:custGeom>
                    <a:avLst/>
                    <a:gdLst/>
                    <a:ahLst/>
                    <a:cxnLst/>
                    <a:rect l="l" t="t" r="r" b="b"/>
                    <a:pathLst>
                      <a:path w="247063" h="254839" extrusionOk="0">
                        <a:moveTo>
                          <a:pt x="106488" y="4339"/>
                        </a:moveTo>
                        <a:cubicBezTo>
                          <a:pt x="110196" y="1160"/>
                          <a:pt x="114964" y="-429"/>
                          <a:pt x="119733" y="100"/>
                        </a:cubicBezTo>
                        <a:cubicBezTo>
                          <a:pt x="124501" y="100"/>
                          <a:pt x="129269" y="2220"/>
                          <a:pt x="132447" y="5928"/>
                        </a:cubicBezTo>
                        <a:cubicBezTo>
                          <a:pt x="136156" y="9637"/>
                          <a:pt x="138275" y="14405"/>
                          <a:pt x="138275" y="19703"/>
                        </a:cubicBezTo>
                        <a:cubicBezTo>
                          <a:pt x="138275" y="25001"/>
                          <a:pt x="136156" y="29769"/>
                          <a:pt x="132447" y="33477"/>
                        </a:cubicBezTo>
                        <a:lnTo>
                          <a:pt x="122911" y="43013"/>
                        </a:lnTo>
                        <a:lnTo>
                          <a:pt x="228339" y="152680"/>
                        </a:lnTo>
                        <a:cubicBezTo>
                          <a:pt x="245293" y="170163"/>
                          <a:pt x="251120" y="195063"/>
                          <a:pt x="244233" y="218374"/>
                        </a:cubicBezTo>
                        <a:cubicBezTo>
                          <a:pt x="238935" y="237446"/>
                          <a:pt x="230988" y="246983"/>
                          <a:pt x="207678" y="252810"/>
                        </a:cubicBezTo>
                        <a:cubicBezTo>
                          <a:pt x="184367" y="258638"/>
                          <a:pt x="159467" y="251751"/>
                          <a:pt x="142514" y="234268"/>
                        </a:cubicBezTo>
                        <a:lnTo>
                          <a:pt x="40794" y="125131"/>
                        </a:lnTo>
                        <a:lnTo>
                          <a:pt x="33377" y="132548"/>
                        </a:lnTo>
                        <a:lnTo>
                          <a:pt x="33377" y="132548"/>
                        </a:lnTo>
                        <a:cubicBezTo>
                          <a:pt x="28609" y="137316"/>
                          <a:pt x="21721" y="139435"/>
                          <a:pt x="15364" y="137846"/>
                        </a:cubicBezTo>
                        <a:cubicBezTo>
                          <a:pt x="9006" y="136256"/>
                          <a:pt x="3179" y="131488"/>
                          <a:pt x="1060" y="125131"/>
                        </a:cubicBezTo>
                        <a:cubicBezTo>
                          <a:pt x="-1060" y="118773"/>
                          <a:pt x="0" y="111886"/>
                          <a:pt x="4238" y="106588"/>
                        </a:cubicBezTo>
                        <a:lnTo>
                          <a:pt x="106488" y="4339"/>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26" name="Google Shape;2926;p26"/>
                  <p:cNvSpPr/>
                  <p:nvPr/>
                </p:nvSpPr>
                <p:spPr>
                  <a:xfrm>
                    <a:off x="3694149" y="5034308"/>
                    <a:ext cx="267014" cy="265424"/>
                  </a:xfrm>
                  <a:custGeom>
                    <a:avLst/>
                    <a:gdLst/>
                    <a:ahLst/>
                    <a:cxnLst/>
                    <a:rect l="l" t="t" r="r" b="b"/>
                    <a:pathLst>
                      <a:path w="267014" h="265424" extrusionOk="0">
                        <a:moveTo>
                          <a:pt x="34966" y="0"/>
                        </a:moveTo>
                        <a:lnTo>
                          <a:pt x="106488" y="42913"/>
                        </a:lnTo>
                        <a:lnTo>
                          <a:pt x="145162" y="115494"/>
                        </a:lnTo>
                        <a:lnTo>
                          <a:pt x="267014" y="237346"/>
                        </a:lnTo>
                        <a:lnTo>
                          <a:pt x="238935" y="265425"/>
                        </a:lnTo>
                        <a:lnTo>
                          <a:pt x="117084" y="143573"/>
                        </a:lnTo>
                        <a:lnTo>
                          <a:pt x="43973" y="105428"/>
                        </a:lnTo>
                        <a:lnTo>
                          <a:pt x="0" y="34966"/>
                        </a:lnTo>
                        <a:lnTo>
                          <a:pt x="34966" y="0"/>
                        </a:lnTo>
                        <a:close/>
                        <a:moveTo>
                          <a:pt x="57747" y="90594"/>
                        </a:moveTo>
                        <a:lnTo>
                          <a:pt x="58807" y="91124"/>
                        </a:lnTo>
                        <a:lnTo>
                          <a:pt x="91654" y="58277"/>
                        </a:lnTo>
                        <a:lnTo>
                          <a:pt x="91124" y="57747"/>
                        </a:lnTo>
                        <a:lnTo>
                          <a:pt x="37615" y="25430"/>
                        </a:lnTo>
                        <a:lnTo>
                          <a:pt x="24900" y="38145"/>
                        </a:lnTo>
                        <a:lnTo>
                          <a:pt x="57747" y="90594"/>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sp>
            <p:nvSpPr>
              <p:cNvPr id="2927" name="Google Shape;2927;p26"/>
              <p:cNvSpPr/>
              <p:nvPr/>
            </p:nvSpPr>
            <p:spPr>
              <a:xfrm>
                <a:off x="3544748" y="4874841"/>
                <a:ext cx="739588" cy="739586"/>
              </a:xfrm>
              <a:custGeom>
                <a:avLst/>
                <a:gdLst/>
                <a:ahLst/>
                <a:cxnLst/>
                <a:rect l="l" t="t" r="r" b="b"/>
                <a:pathLst>
                  <a:path w="739588" h="739586" extrusionOk="0">
                    <a:moveTo>
                      <a:pt x="370323" y="0"/>
                    </a:moveTo>
                    <a:cubicBezTo>
                      <a:pt x="312576" y="0"/>
                      <a:pt x="258008" y="13245"/>
                      <a:pt x="209267" y="36556"/>
                    </a:cubicBezTo>
                    <a:lnTo>
                      <a:pt x="221452" y="60396"/>
                    </a:lnTo>
                    <a:cubicBezTo>
                      <a:pt x="266484" y="38675"/>
                      <a:pt x="317344" y="26490"/>
                      <a:pt x="370323" y="26490"/>
                    </a:cubicBezTo>
                    <a:cubicBezTo>
                      <a:pt x="559458" y="26490"/>
                      <a:pt x="713627" y="180658"/>
                      <a:pt x="713627" y="369793"/>
                    </a:cubicBezTo>
                    <a:cubicBezTo>
                      <a:pt x="713627" y="558928"/>
                      <a:pt x="559458" y="713097"/>
                      <a:pt x="370323" y="713097"/>
                    </a:cubicBezTo>
                    <a:cubicBezTo>
                      <a:pt x="181188" y="713097"/>
                      <a:pt x="27019" y="558928"/>
                      <a:pt x="27019" y="369793"/>
                    </a:cubicBezTo>
                    <a:cubicBezTo>
                      <a:pt x="27019" y="282908"/>
                      <a:pt x="59336" y="203439"/>
                      <a:pt x="112845" y="143043"/>
                    </a:cubicBezTo>
                    <a:lnTo>
                      <a:pt x="145692" y="179599"/>
                    </a:lnTo>
                    <a:lnTo>
                      <a:pt x="188605" y="50860"/>
                    </a:lnTo>
                    <a:lnTo>
                      <a:pt x="55628" y="78409"/>
                    </a:lnTo>
                    <a:lnTo>
                      <a:pt x="95362" y="122911"/>
                    </a:lnTo>
                    <a:cubicBezTo>
                      <a:pt x="36026" y="188605"/>
                      <a:pt x="0" y="274961"/>
                      <a:pt x="0" y="369793"/>
                    </a:cubicBezTo>
                    <a:cubicBezTo>
                      <a:pt x="0" y="574292"/>
                      <a:pt x="165824" y="739587"/>
                      <a:pt x="369793" y="739587"/>
                    </a:cubicBezTo>
                    <a:cubicBezTo>
                      <a:pt x="574292" y="739587"/>
                      <a:pt x="739587" y="573763"/>
                      <a:pt x="739587" y="369793"/>
                    </a:cubicBezTo>
                    <a:cubicBezTo>
                      <a:pt x="740117" y="165294"/>
                      <a:pt x="574292" y="0"/>
                      <a:pt x="370323" y="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sp>
        <p:nvSpPr>
          <p:cNvPr id="2928" name="Google Shape;2928;p26"/>
          <p:cNvSpPr/>
          <p:nvPr/>
        </p:nvSpPr>
        <p:spPr>
          <a:xfrm>
            <a:off x="776849" y="1728862"/>
            <a:ext cx="2890911" cy="3731229"/>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 name="Group 4">
            <a:extLst>
              <a:ext uri="{FF2B5EF4-FFF2-40B4-BE49-F238E27FC236}">
                <a16:creationId xmlns:a16="http://schemas.microsoft.com/office/drawing/2014/main" id="{B63C8D7A-5A98-085B-A4CC-E7A31046D98D}"/>
              </a:ext>
            </a:extLst>
          </p:cNvPr>
          <p:cNvGrpSpPr/>
          <p:nvPr/>
        </p:nvGrpSpPr>
        <p:grpSpPr>
          <a:xfrm>
            <a:off x="4097637" y="1900613"/>
            <a:ext cx="3247876" cy="3275608"/>
            <a:chOff x="4097637" y="1900613"/>
            <a:chExt cx="3247876" cy="3275608"/>
          </a:xfrm>
        </p:grpSpPr>
        <p:sp>
          <p:nvSpPr>
            <p:cNvPr id="2859" name="Google Shape;2859;p26"/>
            <p:cNvSpPr/>
            <p:nvPr/>
          </p:nvSpPr>
          <p:spPr>
            <a:xfrm>
              <a:off x="4097637" y="2893604"/>
              <a:ext cx="3247876" cy="2282617"/>
            </a:xfrm>
            <a:prstGeom prst="roundRect">
              <a:avLst>
                <a:gd name="adj" fmla="val 2356"/>
              </a:avLst>
            </a:prstGeom>
            <a:solidFill>
              <a:srgbClr val="E8E8EA"/>
            </a:solidFill>
            <a:ln>
              <a:solidFill>
                <a:schemeClr val="tx1"/>
              </a:solid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0" name="Google Shape;2860;p26"/>
            <p:cNvSpPr/>
            <p:nvPr/>
          </p:nvSpPr>
          <p:spPr>
            <a:xfrm>
              <a:off x="4190324" y="4122456"/>
              <a:ext cx="3048433" cy="901416"/>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61" name="Google Shape;2861;p26"/>
            <p:cNvGrpSpPr/>
            <p:nvPr/>
          </p:nvGrpSpPr>
          <p:grpSpPr>
            <a:xfrm>
              <a:off x="6482182" y="4400529"/>
              <a:ext cx="519660" cy="519660"/>
              <a:chOff x="10722212" y="2729558"/>
              <a:chExt cx="663407" cy="663407"/>
            </a:xfrm>
          </p:grpSpPr>
          <p:sp>
            <p:nvSpPr>
              <p:cNvPr id="2862" name="Google Shape;2862;p26"/>
              <p:cNvSpPr/>
              <p:nvPr/>
            </p:nvSpPr>
            <p:spPr>
              <a:xfrm>
                <a:off x="10722212" y="2729558"/>
                <a:ext cx="663407" cy="663407"/>
              </a:xfrm>
              <a:prstGeom prst="ellipse">
                <a:avLst/>
              </a:prstGeom>
              <a:solidFill>
                <a:schemeClr val="accent2"/>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3" name="Google Shape;2863;p26"/>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4" name="Google Shape;2864;p26"/>
            <p:cNvGrpSpPr/>
            <p:nvPr/>
          </p:nvGrpSpPr>
          <p:grpSpPr>
            <a:xfrm>
              <a:off x="4380967" y="4400310"/>
              <a:ext cx="519660" cy="519660"/>
              <a:chOff x="572541" y="5475121"/>
              <a:chExt cx="663407" cy="663407"/>
            </a:xfrm>
          </p:grpSpPr>
          <p:sp>
            <p:nvSpPr>
              <p:cNvPr id="2865" name="Google Shape;2865;p26"/>
              <p:cNvSpPr/>
              <p:nvPr/>
            </p:nvSpPr>
            <p:spPr>
              <a:xfrm>
                <a:off x="572541" y="5475121"/>
                <a:ext cx="663407" cy="663407"/>
              </a:xfrm>
              <a:prstGeom prst="ellipse">
                <a:avLst/>
              </a:prstGeom>
              <a:solidFill>
                <a:schemeClr val="accent5"/>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6" name="Google Shape;2866;p26"/>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7" name="Google Shape;2867;p26"/>
            <p:cNvGrpSpPr/>
            <p:nvPr/>
          </p:nvGrpSpPr>
          <p:grpSpPr>
            <a:xfrm>
              <a:off x="5424064" y="4400312"/>
              <a:ext cx="519660" cy="519660"/>
              <a:chOff x="9272259" y="5475121"/>
              <a:chExt cx="663407" cy="663407"/>
            </a:xfrm>
          </p:grpSpPr>
          <p:sp>
            <p:nvSpPr>
              <p:cNvPr id="2868" name="Google Shape;2868;p26"/>
              <p:cNvSpPr/>
              <p:nvPr/>
            </p:nvSpPr>
            <p:spPr>
              <a:xfrm>
                <a:off x="9272259" y="5475121"/>
                <a:ext cx="663407" cy="663407"/>
              </a:xfrm>
              <a:prstGeom prst="ellipse">
                <a:avLst/>
              </a:prstGeom>
              <a:gradFill>
                <a:gsLst>
                  <a:gs pos="0">
                    <a:schemeClr val="accent2"/>
                  </a:gs>
                  <a:gs pos="100000">
                    <a:schemeClr val="accent2"/>
                  </a:gs>
                </a:gsLst>
                <a:lin ang="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9" name="Google Shape;2869;p26"/>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870" name="Google Shape;2870;p26"/>
            <p:cNvSpPr/>
            <p:nvPr/>
          </p:nvSpPr>
          <p:spPr>
            <a:xfrm>
              <a:off x="4254762" y="3019567"/>
              <a:ext cx="2931032" cy="429809"/>
            </a:xfrm>
            <a:prstGeom prst="roundRect">
              <a:avLst>
                <a:gd name="adj" fmla="val 50000"/>
              </a:avLst>
            </a:prstGeom>
            <a:solidFill>
              <a:schemeClr val="lt1"/>
            </a:solidFill>
            <a:ln w="25400" cap="flat" cmpd="sng">
              <a:solidFill>
                <a:schemeClr val="accent5"/>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VMware Cloud Foundation Instance</a:t>
              </a:r>
              <a:endParaRPr kumimoji="0" sz="100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2871" name="Google Shape;2871;p26"/>
            <p:cNvPicPr preferRelativeResize="0"/>
            <p:nvPr/>
          </p:nvPicPr>
          <p:blipFill rotWithShape="1">
            <a:blip r:embed="rId3">
              <a:alphaModFix/>
            </a:blip>
            <a:srcRect/>
            <a:stretch/>
          </p:blipFill>
          <p:spPr>
            <a:xfrm>
              <a:off x="4511014" y="3063045"/>
              <a:ext cx="289251" cy="317890"/>
            </a:xfrm>
            <a:prstGeom prst="rect">
              <a:avLst/>
            </a:prstGeom>
            <a:noFill/>
            <a:ln>
              <a:noFill/>
            </a:ln>
          </p:spPr>
        </p:pic>
        <p:sp>
          <p:nvSpPr>
            <p:cNvPr id="2872" name="Google Shape;2872;p26"/>
            <p:cNvSpPr/>
            <p:nvPr/>
          </p:nvSpPr>
          <p:spPr>
            <a:xfrm>
              <a:off x="4198064" y="3539076"/>
              <a:ext cx="1452081" cy="456619"/>
            </a:xfrm>
            <a:prstGeom prst="roundRect">
              <a:avLst>
                <a:gd name="adj" fmla="val 6349"/>
              </a:avLst>
            </a:prstGeom>
            <a:solidFill>
              <a:schemeClr val="accent5"/>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a:ln>
                    <a:noFill/>
                  </a:ln>
                  <a:solidFill>
                    <a:srgbClr val="FFFFFF"/>
                  </a:solidFill>
                  <a:effectLst/>
                  <a:uLnTx/>
                  <a:uFillTx/>
                  <a:latin typeface="Arial"/>
                  <a:ea typeface="Arial"/>
                  <a:cs typeface="Arial"/>
                  <a:sym typeface="Arial"/>
                </a:rPr>
                <a:t>vCenter Server</a:t>
              </a:r>
              <a:endParaRPr kumimoji="0" sz="10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73" name="Google Shape;2873;p26"/>
            <p:cNvSpPr txBox="1"/>
            <p:nvPr/>
          </p:nvSpPr>
          <p:spPr>
            <a:xfrm>
              <a:off x="5065105" y="4196412"/>
              <a:ext cx="1249804" cy="1384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900"/>
                <a:buFont typeface="Arial"/>
                <a:buNone/>
                <a:tabLst/>
                <a:defRPr/>
              </a:pPr>
              <a:r>
                <a:rPr kumimoji="0" lang="en-US" sz="900" b="1" i="0" u="none" strike="noStrike" kern="1200" cap="none" spc="0" normalizeH="0" baseline="0" noProof="0" dirty="0">
                  <a:ln>
                    <a:noFill/>
                  </a:ln>
                  <a:solidFill>
                    <a:srgbClr val="005C8A"/>
                  </a:solidFill>
                  <a:effectLst/>
                  <a:uLnTx/>
                  <a:uFillTx/>
                  <a:latin typeface="Arial"/>
                  <a:ea typeface="Arial"/>
                  <a:cs typeface="Arial"/>
                  <a:sym typeface="Arial"/>
                </a:rPr>
                <a:t>Core Infrastructure</a:t>
              </a: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874" name="Google Shape;2874;p26"/>
            <p:cNvSpPr/>
            <p:nvPr/>
          </p:nvSpPr>
          <p:spPr>
            <a:xfrm>
              <a:off x="5750568" y="3535687"/>
              <a:ext cx="1498764" cy="456619"/>
            </a:xfrm>
            <a:prstGeom prst="roundRect">
              <a:avLst>
                <a:gd name="adj" fmla="val 6349"/>
              </a:avLst>
            </a:prstGeom>
            <a:solidFill>
              <a:schemeClr val="accent2"/>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10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 name="Google Shape;2875;p26">
              <a:extLst>
                <a:ext uri="{FF2B5EF4-FFF2-40B4-BE49-F238E27FC236}">
                  <a16:creationId xmlns:a16="http://schemas.microsoft.com/office/drawing/2014/main" id="{E7BEC20F-156E-F553-50E0-3581CE8159A1}"/>
                </a:ext>
              </a:extLst>
            </p:cNvPr>
            <p:cNvSpPr/>
            <p:nvPr/>
          </p:nvSpPr>
          <p:spPr>
            <a:xfrm>
              <a:off x="4200904" y="1900613"/>
              <a:ext cx="3048431" cy="408770"/>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dirty="0">
                  <a:ln>
                    <a:noFill/>
                  </a:ln>
                  <a:solidFill>
                    <a:srgbClr val="FFFFFF"/>
                  </a:solidFill>
                  <a:effectLst/>
                  <a:uLnTx/>
                  <a:uFillTx/>
                  <a:latin typeface="Arial"/>
                  <a:ea typeface="Arial"/>
                  <a:cs typeface="Arial"/>
                  <a:sym typeface="Arial"/>
                </a:rPr>
                <a:t>VCF Automation</a:t>
              </a:r>
              <a:endParaRPr kumimoji="0" sz="10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 name="Google Shape;2877;p26">
              <a:extLst>
                <a:ext uri="{FF2B5EF4-FFF2-40B4-BE49-F238E27FC236}">
                  <a16:creationId xmlns:a16="http://schemas.microsoft.com/office/drawing/2014/main" id="{4D307544-976E-7F52-B7B0-6D3B21D851C4}"/>
                </a:ext>
              </a:extLst>
            </p:cNvPr>
            <p:cNvSpPr/>
            <p:nvPr/>
          </p:nvSpPr>
          <p:spPr>
            <a:xfrm>
              <a:off x="4197360" y="2399726"/>
              <a:ext cx="3051976" cy="429809"/>
            </a:xfrm>
            <a:prstGeom prst="roundRect">
              <a:avLst>
                <a:gd name="adj" fmla="val 6349"/>
              </a:avLst>
            </a:prstGeom>
            <a:gradFill>
              <a:gsLst>
                <a:gs pos="0">
                  <a:schemeClr val="accent1"/>
                </a:gs>
                <a:gs pos="99000">
                  <a:schemeClr val="accent3"/>
                </a:gs>
                <a:gs pos="100000">
                  <a:schemeClr val="accent3"/>
                </a:gs>
              </a:gsLst>
              <a:lin ang="18900044"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dirty="0">
                  <a:ln>
                    <a:noFill/>
                  </a:ln>
                  <a:solidFill>
                    <a:srgbClr val="FFFFFF"/>
                  </a:solidFill>
                  <a:effectLst/>
                  <a:uLnTx/>
                  <a:uFillTx/>
                  <a:latin typeface="Arial"/>
                  <a:ea typeface="Arial"/>
                  <a:cs typeface="Arial"/>
                  <a:sym typeface="Arial"/>
                </a:rPr>
                <a:t>VCF Operations</a:t>
              </a:r>
              <a:endParaRPr kumimoji="0" sz="1000" b="1"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3" name="Google Shape;6678;g2d30ebb658d_0_19789">
            <a:extLst>
              <a:ext uri="{FF2B5EF4-FFF2-40B4-BE49-F238E27FC236}">
                <a16:creationId xmlns:a16="http://schemas.microsoft.com/office/drawing/2014/main" id="{442396B8-4359-CF59-6524-64A845AB6CCC}"/>
              </a:ext>
            </a:extLst>
          </p:cNvPr>
          <p:cNvSpPr/>
          <p:nvPr/>
        </p:nvSpPr>
        <p:spPr>
          <a:xfrm>
            <a:off x="3998880" y="1633136"/>
            <a:ext cx="3454744" cy="3676833"/>
          </a:xfrm>
          <a:prstGeom prst="roundRect">
            <a:avLst>
              <a:gd name="adj" fmla="val 2356"/>
            </a:avLst>
          </a:prstGeom>
          <a:solidFill>
            <a:schemeClr val="bg1">
              <a:alpha val="9770"/>
            </a:schemeClr>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7" name="Rectangle 16">
            <a:extLst>
              <a:ext uri="{FF2B5EF4-FFF2-40B4-BE49-F238E27FC236}">
                <a16:creationId xmlns:a16="http://schemas.microsoft.com/office/drawing/2014/main" id="{9F3F68C4-5442-9E32-5C83-68CA6DBC154B}"/>
              </a:ext>
            </a:extLst>
          </p:cNvPr>
          <p:cNvSpPr/>
          <p:nvPr/>
        </p:nvSpPr>
        <p:spPr bwMode="gray">
          <a:xfrm>
            <a:off x="4039690" y="1681638"/>
            <a:ext cx="3386544" cy="166041"/>
          </a:xfrm>
          <a:prstGeom prst="rect">
            <a:avLst/>
          </a:prstGeom>
          <a:solidFill>
            <a:srgbClr val="F1EDF6"/>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76"/>
                                        </p:tgtEl>
                                        <p:attrNameLst>
                                          <p:attrName>style.visibility</p:attrName>
                                        </p:attrNameLst>
                                      </p:cBhvr>
                                      <p:to>
                                        <p:strVal val="visible"/>
                                      </p:to>
                                    </p:set>
                                    <p:animEffect transition="in" filter="fade">
                                      <p:cBhvr>
                                        <p:cTn id="7" dur="500"/>
                                        <p:tgtEl>
                                          <p:spTgt spid="287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78"/>
                                        </p:tgtEl>
                                        <p:attrNameLst>
                                          <p:attrName>style.visibility</p:attrName>
                                        </p:attrNameLst>
                                      </p:cBhvr>
                                      <p:to>
                                        <p:strVal val="visible"/>
                                      </p:to>
                                    </p:set>
                                    <p:animEffect transition="in" filter="fade">
                                      <p:cBhvr>
                                        <p:cTn id="11" dur="500"/>
                                        <p:tgtEl>
                                          <p:spTgt spid="287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898"/>
                                        </p:tgtEl>
                                        <p:attrNameLst>
                                          <p:attrName>style.visibility</p:attrName>
                                        </p:attrNameLst>
                                      </p:cBhvr>
                                      <p:to>
                                        <p:strVal val="visible"/>
                                      </p:to>
                                    </p:set>
                                    <p:animEffect transition="in" filter="fade">
                                      <p:cBhvr>
                                        <p:cTn id="16" dur="500"/>
                                        <p:tgtEl>
                                          <p:spTgt spid="2898"/>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899"/>
                                        </p:tgtEl>
                                        <p:attrNameLst>
                                          <p:attrName>style.visibility</p:attrName>
                                        </p:attrNameLst>
                                      </p:cBhvr>
                                      <p:to>
                                        <p:strVal val="visible"/>
                                      </p:to>
                                    </p:set>
                                    <p:animEffect transition="in" filter="fade">
                                      <p:cBhvr>
                                        <p:cTn id="20" dur="500"/>
                                        <p:tgtEl>
                                          <p:spTgt spid="289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xit" presetSubtype="1" fill="hold" grpId="0" nodeType="clickEffect">
                                  <p:stCondLst>
                                    <p:cond delay="0"/>
                                  </p:stCondLst>
                                  <p:childTnLst>
                                    <p:animEffect transition="out" filter="wipe(up)">
                                      <p:cBhvr>
                                        <p:cTn id="24" dur="500"/>
                                        <p:tgtEl>
                                          <p:spTgt spid="3"/>
                                        </p:tgtEl>
                                      </p:cBhvr>
                                    </p:animEffect>
                                    <p:set>
                                      <p:cBhvr>
                                        <p:cTn id="25" dur="1" fill="hold">
                                          <p:stCondLst>
                                            <p:cond delay="499"/>
                                          </p:stCondLst>
                                        </p:cTn>
                                        <p:tgtEl>
                                          <p:spTgt spid="3"/>
                                        </p:tgtEl>
                                        <p:attrNameLst>
                                          <p:attrName>style.visibility</p:attrName>
                                        </p:attrNameLst>
                                      </p:cBhvr>
                                      <p:to>
                                        <p:strVal val="hidden"/>
                                      </p:to>
                                    </p:set>
                                  </p:childTnLst>
                                </p:cTn>
                              </p:par>
                              <p:par>
                                <p:cTn id="26" presetID="22" presetClass="exit" presetSubtype="1" fill="hold" grpId="0" nodeType="withEffect">
                                  <p:stCondLst>
                                    <p:cond delay="0"/>
                                  </p:stCondLst>
                                  <p:childTnLst>
                                    <p:animEffect transition="out" filter="wipe(up)">
                                      <p:cBhvr>
                                        <p:cTn id="27" dur="500"/>
                                        <p:tgtEl>
                                          <p:spTgt spid="16"/>
                                        </p:tgtEl>
                                      </p:cBhvr>
                                    </p:animEffect>
                                    <p:set>
                                      <p:cBhvr>
                                        <p:cTn id="28" dur="1" fill="hold">
                                          <p:stCondLst>
                                            <p:cond delay="499"/>
                                          </p:stCondLst>
                                        </p:cTn>
                                        <p:tgtEl>
                                          <p:spTgt spid="16"/>
                                        </p:tgtEl>
                                        <p:attrNameLst>
                                          <p:attrName>style.visibility</p:attrName>
                                        </p:attrNameLst>
                                      </p:cBhvr>
                                      <p:to>
                                        <p:strVal val="hidden"/>
                                      </p:to>
                                    </p:set>
                                  </p:childTnLst>
                                </p:cTn>
                              </p:par>
                              <p:par>
                                <p:cTn id="29" presetID="9" presetClass="exit" presetSubtype="0" fill="hold" grpId="0" nodeType="withEffect">
                                  <p:stCondLst>
                                    <p:cond delay="0"/>
                                  </p:stCondLst>
                                  <p:childTnLst>
                                    <p:animEffect transition="out" filter="dissolve">
                                      <p:cBhvr>
                                        <p:cTn id="30" dur="500"/>
                                        <p:tgtEl>
                                          <p:spTgt spid="17"/>
                                        </p:tgtEl>
                                      </p:cBhvr>
                                    </p:animEffect>
                                    <p:set>
                                      <p:cBhvr>
                                        <p:cTn id="31" dur="1" fill="hold">
                                          <p:stCondLst>
                                            <p:cond delay="499"/>
                                          </p:stCondLst>
                                        </p:cTn>
                                        <p:tgtEl>
                                          <p:spTgt spid="1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928"/>
                                        </p:tgtEl>
                                        <p:attrNameLst>
                                          <p:attrName>style.visibility</p:attrName>
                                        </p:attrNameLst>
                                      </p:cBhvr>
                                      <p:to>
                                        <p:strVal val="visible"/>
                                      </p:to>
                                    </p:set>
                                    <p:animEffect transition="in" filter="fade">
                                      <p:cBhvr>
                                        <p:cTn id="36" dur="500"/>
                                        <p:tgtEl>
                                          <p:spTgt spid="2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17"/>
        <p:cNvGrpSpPr/>
        <p:nvPr/>
      </p:nvGrpSpPr>
      <p:grpSpPr>
        <a:xfrm>
          <a:off x="0" y="0"/>
          <a:ext cx="0" cy="0"/>
          <a:chOff x="0" y="0"/>
          <a:chExt cx="0" cy="0"/>
        </a:xfrm>
      </p:grpSpPr>
      <p:sp>
        <p:nvSpPr>
          <p:cNvPr id="6518" name="Google Shape;6518;p3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Simplified Lifecyle for VCF Management Components</a:t>
            </a:r>
            <a:endParaRPr/>
          </a:p>
        </p:txBody>
      </p:sp>
      <p:sp>
        <p:nvSpPr>
          <p:cNvPr id="6519" name="Google Shape;6519;p3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solidFill>
                  <a:schemeClr val="dk1"/>
                </a:solidFill>
              </a:rPr>
              <a:t>VCF Operations Fleet Management</a:t>
            </a:r>
            <a:endParaRPr b="0">
              <a:solidFill>
                <a:schemeClr val="dk1"/>
              </a:solidFill>
            </a:endParaRPr>
          </a:p>
          <a:p>
            <a:pPr marL="0" lvl="0" indent="0" algn="l" rtl="0">
              <a:lnSpc>
                <a:spcPct val="100000"/>
              </a:lnSpc>
              <a:spcBef>
                <a:spcPts val="1200"/>
              </a:spcBef>
              <a:spcAft>
                <a:spcPts val="0"/>
              </a:spcAft>
              <a:buSzPts val="1800"/>
              <a:buNone/>
            </a:pPr>
            <a:endParaRPr/>
          </a:p>
        </p:txBody>
      </p:sp>
      <p:sp>
        <p:nvSpPr>
          <p:cNvPr id="6520" name="Google Shape;6520;p34"/>
          <p:cNvSpPr txBox="1">
            <a:spLocks noGrp="1"/>
          </p:cNvSpPr>
          <p:nvPr>
            <p:ph type="body" idx="2"/>
          </p:nvPr>
        </p:nvSpPr>
        <p:spPr>
          <a:xfrm>
            <a:off x="8379818" y="1600676"/>
            <a:ext cx="3807420" cy="4570809"/>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Enable and manage components from the Overview pane</a:t>
            </a:r>
            <a:endParaRPr dirty="0"/>
          </a:p>
          <a:p>
            <a:pPr marL="457200" lvl="1" indent="-184150" algn="l" rtl="0">
              <a:lnSpc>
                <a:spcPct val="100000"/>
              </a:lnSpc>
              <a:spcBef>
                <a:spcPts val="1200"/>
              </a:spcBef>
              <a:spcAft>
                <a:spcPts val="0"/>
              </a:spcAft>
              <a:buSzPts val="1260"/>
              <a:buChar char="•"/>
            </a:pPr>
            <a:r>
              <a:rPr lang="en-US" dirty="0"/>
              <a:t>Available for VCF Automation, VCF Identity Broker and VCF Operations Fleet Management</a:t>
            </a:r>
            <a:endParaRPr dirty="0"/>
          </a:p>
          <a:p>
            <a:pPr marL="0" lvl="0" indent="0" algn="l" rtl="0">
              <a:lnSpc>
                <a:spcPct val="100000"/>
              </a:lnSpc>
              <a:spcBef>
                <a:spcPts val="1200"/>
              </a:spcBef>
              <a:spcAft>
                <a:spcPts val="0"/>
              </a:spcAft>
              <a:buSzPts val="1440"/>
              <a:buNone/>
            </a:pPr>
            <a:r>
              <a:rPr lang="en-US" dirty="0"/>
              <a:t>“Plan Upgrades” efficiently</a:t>
            </a:r>
            <a:endParaRPr dirty="0"/>
          </a:p>
          <a:p>
            <a:pPr marL="0" lvl="0" indent="0" algn="l" rtl="0">
              <a:lnSpc>
                <a:spcPct val="100000"/>
              </a:lnSpc>
              <a:spcBef>
                <a:spcPts val="1200"/>
              </a:spcBef>
              <a:spcAft>
                <a:spcPts val="0"/>
              </a:spcAft>
              <a:buSzPts val="1440"/>
              <a:buNone/>
            </a:pPr>
            <a:r>
              <a:rPr lang="en-US" dirty="0"/>
              <a:t>Integrations and lifecycle of management components converged into VCF Operations</a:t>
            </a:r>
            <a:endParaRPr dirty="0"/>
          </a:p>
          <a:p>
            <a:pPr marL="0" lvl="0" indent="0" algn="l" rtl="0">
              <a:lnSpc>
                <a:spcPct val="100000"/>
              </a:lnSpc>
              <a:spcBef>
                <a:spcPts val="1200"/>
              </a:spcBef>
              <a:spcAft>
                <a:spcPts val="0"/>
              </a:spcAft>
              <a:buSzPts val="1440"/>
              <a:buNone/>
            </a:pPr>
            <a:r>
              <a:rPr lang="en-US" dirty="0"/>
              <a:t>VCF Depot integration for binaries</a:t>
            </a:r>
            <a:endParaRPr dirty="0"/>
          </a:p>
          <a:p>
            <a:pPr marL="457200" lvl="1" indent="-184150" algn="l" rtl="0">
              <a:lnSpc>
                <a:spcPct val="100000"/>
              </a:lnSpc>
              <a:spcBef>
                <a:spcPts val="1200"/>
              </a:spcBef>
              <a:spcAft>
                <a:spcPts val="0"/>
              </a:spcAft>
              <a:buSzPts val="1260"/>
              <a:buChar char="•"/>
            </a:pPr>
            <a:r>
              <a:rPr lang="en-US" dirty="0"/>
              <a:t>Online, Air-Gapped and Dark-Sites</a:t>
            </a:r>
            <a:endParaRPr dirty="0"/>
          </a:p>
          <a:p>
            <a:pPr marL="0" lvl="0" indent="0" algn="l" rtl="0">
              <a:lnSpc>
                <a:spcPct val="100000"/>
              </a:lnSpc>
              <a:spcBef>
                <a:spcPts val="1200"/>
              </a:spcBef>
              <a:spcAft>
                <a:spcPts val="0"/>
              </a:spcAft>
              <a:buSzPts val="1440"/>
              <a:buNone/>
            </a:pPr>
            <a:r>
              <a:rPr lang="en-US" dirty="0"/>
              <a:t>Backup &amp; Restore</a:t>
            </a:r>
            <a:endParaRPr dirty="0"/>
          </a:p>
          <a:p>
            <a:pPr marL="0" lvl="0" indent="0" algn="l" rtl="0">
              <a:lnSpc>
                <a:spcPct val="100000"/>
              </a:lnSpc>
              <a:spcBef>
                <a:spcPts val="1200"/>
              </a:spcBef>
              <a:spcAft>
                <a:spcPts val="0"/>
              </a:spcAft>
              <a:buSzPts val="1440"/>
              <a:buNone/>
            </a:pPr>
            <a:endParaRPr dirty="0"/>
          </a:p>
          <a:p>
            <a:pPr marL="0" lvl="0" indent="0" algn="l" rtl="0">
              <a:lnSpc>
                <a:spcPct val="100000"/>
              </a:lnSpc>
              <a:spcBef>
                <a:spcPts val="1200"/>
              </a:spcBef>
              <a:spcAft>
                <a:spcPts val="0"/>
              </a:spcAft>
              <a:buSzPts val="1440"/>
              <a:buNone/>
            </a:pPr>
            <a:endParaRPr dirty="0"/>
          </a:p>
        </p:txBody>
      </p:sp>
      <p:sp>
        <p:nvSpPr>
          <p:cNvPr id="6521" name="Google Shape;6521;p34"/>
          <p:cNvSpPr/>
          <p:nvPr/>
        </p:nvSpPr>
        <p:spPr>
          <a:xfrm>
            <a:off x="594298" y="1610005"/>
            <a:ext cx="7438027" cy="4165151"/>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6522" name="Google Shape;6522;p34"/>
          <p:cNvPicPr preferRelativeResize="0"/>
          <p:nvPr/>
        </p:nvPicPr>
        <p:blipFill rotWithShape="1">
          <a:blip r:embed="rId3">
            <a:alphaModFix/>
          </a:blip>
          <a:srcRect/>
          <a:stretch/>
        </p:blipFill>
        <p:spPr>
          <a:xfrm>
            <a:off x="666248" y="1680140"/>
            <a:ext cx="7308724" cy="4020789"/>
          </a:xfrm>
          <a:prstGeom prst="rect">
            <a:avLst/>
          </a:prstGeom>
          <a:noFill/>
          <a:ln>
            <a:noFill/>
          </a:ln>
        </p:spPr>
      </p:pic>
      <p:pic>
        <p:nvPicPr>
          <p:cNvPr id="6523" name="Google Shape;6523;p34"/>
          <p:cNvPicPr preferRelativeResize="0"/>
          <p:nvPr/>
        </p:nvPicPr>
        <p:blipFill rotWithShape="1">
          <a:blip r:embed="rId4">
            <a:alphaModFix/>
          </a:blip>
          <a:srcRect/>
          <a:stretch/>
        </p:blipFill>
        <p:spPr>
          <a:xfrm>
            <a:off x="666249" y="1680141"/>
            <a:ext cx="7308724" cy="4014186"/>
          </a:xfrm>
          <a:prstGeom prst="rect">
            <a:avLst/>
          </a:prstGeom>
          <a:noFill/>
          <a:ln>
            <a:noFill/>
          </a:ln>
        </p:spPr>
      </p:pic>
      <p:grpSp>
        <p:nvGrpSpPr>
          <p:cNvPr id="6524" name="Google Shape;6524;p34"/>
          <p:cNvGrpSpPr/>
          <p:nvPr/>
        </p:nvGrpSpPr>
        <p:grpSpPr>
          <a:xfrm>
            <a:off x="676075" y="1683541"/>
            <a:ext cx="7295520" cy="4014186"/>
            <a:chOff x="161247" y="5417965"/>
            <a:chExt cx="7295520" cy="4014186"/>
          </a:xfrm>
        </p:grpSpPr>
        <p:pic>
          <p:nvPicPr>
            <p:cNvPr id="6525" name="Google Shape;6525;p34"/>
            <p:cNvPicPr preferRelativeResize="0"/>
            <p:nvPr/>
          </p:nvPicPr>
          <p:blipFill rotWithShape="1">
            <a:blip r:embed="rId5">
              <a:alphaModFix/>
            </a:blip>
            <a:srcRect/>
            <a:stretch/>
          </p:blipFill>
          <p:spPr>
            <a:xfrm>
              <a:off x="161247" y="5417965"/>
              <a:ext cx="7295520" cy="4014186"/>
            </a:xfrm>
            <a:prstGeom prst="rect">
              <a:avLst/>
            </a:prstGeom>
            <a:noFill/>
            <a:ln>
              <a:noFill/>
            </a:ln>
          </p:spPr>
        </p:pic>
        <p:pic>
          <p:nvPicPr>
            <p:cNvPr id="6526" name="Google Shape;6526;p34"/>
            <p:cNvPicPr preferRelativeResize="0"/>
            <p:nvPr/>
          </p:nvPicPr>
          <p:blipFill rotWithShape="1">
            <a:blip r:embed="rId6">
              <a:alphaModFix/>
            </a:blip>
            <a:srcRect/>
            <a:stretch/>
          </p:blipFill>
          <p:spPr>
            <a:xfrm>
              <a:off x="3702963" y="6310220"/>
              <a:ext cx="3497580" cy="3072509"/>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23"/>
                                        </p:tgtEl>
                                        <p:attrNameLst>
                                          <p:attrName>style.visibility</p:attrName>
                                        </p:attrNameLst>
                                      </p:cBhvr>
                                      <p:to>
                                        <p:strVal val="visible"/>
                                      </p:to>
                                    </p:set>
                                    <p:animEffect transition="in" filter="fade">
                                      <p:cBhvr>
                                        <p:cTn id="7" dur="500"/>
                                        <p:tgtEl>
                                          <p:spTgt spid="65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524"/>
                                        </p:tgtEl>
                                        <p:attrNameLst>
                                          <p:attrName>style.visibility</p:attrName>
                                        </p:attrNameLst>
                                      </p:cBhvr>
                                      <p:to>
                                        <p:strVal val="visible"/>
                                      </p:to>
                                    </p:set>
                                    <p:animEffect transition="in" filter="fade">
                                      <p:cBhvr>
                                        <p:cTn id="12" dur="500"/>
                                        <p:tgtEl>
                                          <p:spTgt spid="6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531"/>
        <p:cNvGrpSpPr/>
        <p:nvPr/>
      </p:nvGrpSpPr>
      <p:grpSpPr>
        <a:xfrm>
          <a:off x="0" y="0"/>
          <a:ext cx="0" cy="0"/>
          <a:chOff x="0" y="0"/>
          <a:chExt cx="0" cy="0"/>
        </a:xfrm>
      </p:grpSpPr>
      <p:sp>
        <p:nvSpPr>
          <p:cNvPr id="6532" name="Google Shape;6532;p35"/>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533" name="Google Shape;6533;p35"/>
          <p:cNvSpPr/>
          <p:nvPr/>
        </p:nvSpPr>
        <p:spPr>
          <a:xfrm>
            <a:off x="5920416" y="2024178"/>
            <a:ext cx="1909259" cy="1553465"/>
          </a:xfrm>
          <a:prstGeom prst="roundRect">
            <a:avLst>
              <a:gd name="adj" fmla="val 2356"/>
            </a:avLst>
          </a:prstGeom>
          <a:solidFill>
            <a:srgbClr val="E8E8EA"/>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534" name="Google Shape;6534;p35"/>
          <p:cNvSpPr txBox="1">
            <a:spLocks noGrp="1"/>
          </p:cNvSpPr>
          <p:nvPr>
            <p:ph type="title"/>
          </p:nvPr>
        </p:nvSpPr>
        <p:spPr>
          <a:xfrm>
            <a:off x="581245" y="413536"/>
            <a:ext cx="10998269"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2800"/>
              <a:buFont typeface="Arial"/>
              <a:buNone/>
            </a:pPr>
            <a:r>
              <a:rPr lang="en-US">
                <a:solidFill>
                  <a:schemeClr val="accent2"/>
                </a:solidFill>
              </a:rPr>
              <a:t>Nondisruptive Upgrades to VCF 9</a:t>
            </a:r>
            <a:endParaRPr>
              <a:solidFill>
                <a:schemeClr val="accent2"/>
              </a:solidFill>
            </a:endParaRPr>
          </a:p>
        </p:txBody>
      </p:sp>
      <p:sp>
        <p:nvSpPr>
          <p:cNvPr id="6535" name="Google Shape;6535;p35"/>
          <p:cNvSpPr txBox="1">
            <a:spLocks noGrp="1"/>
          </p:cNvSpPr>
          <p:nvPr>
            <p:ph type="subTitle" idx="1"/>
          </p:nvPr>
        </p:nvSpPr>
        <p:spPr>
          <a:xfrm>
            <a:off x="594300" y="812513"/>
            <a:ext cx="10959889" cy="24773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solidFill>
                  <a:schemeClr val="dk1"/>
                </a:solidFill>
              </a:rPr>
              <a:t>Move up to the latest version without migration or conversion</a:t>
            </a:r>
            <a:endParaRPr/>
          </a:p>
          <a:p>
            <a:pPr marL="0" lvl="0" indent="0" algn="l" rtl="0">
              <a:lnSpc>
                <a:spcPct val="100000"/>
              </a:lnSpc>
              <a:spcBef>
                <a:spcPts val="0"/>
              </a:spcBef>
              <a:spcAft>
                <a:spcPts val="0"/>
              </a:spcAft>
              <a:buSzPts val="1800"/>
              <a:buNone/>
            </a:pPr>
            <a:endParaRPr/>
          </a:p>
        </p:txBody>
      </p:sp>
      <p:sp>
        <p:nvSpPr>
          <p:cNvPr id="6536" name="Google Shape;6536;p35"/>
          <p:cNvSpPr txBox="1">
            <a:spLocks noGrp="1"/>
          </p:cNvSpPr>
          <p:nvPr>
            <p:ph type="body" idx="3"/>
          </p:nvPr>
        </p:nvSpPr>
        <p:spPr>
          <a:xfrm>
            <a:off x="8379819" y="1700139"/>
            <a:ext cx="3680486" cy="286287"/>
          </a:xfrm>
          <a:prstGeom prst="rect">
            <a:avLst/>
          </a:prstGeom>
          <a:noFill/>
          <a:ln>
            <a:noFill/>
          </a:ln>
        </p:spPr>
        <p:txBody>
          <a:bodyPr spcFirstLastPara="1" wrap="square" lIns="0" tIns="0" rIns="0" bIns="0" anchor="b" anchorCtr="0">
            <a:noAutofit/>
          </a:bodyPr>
          <a:lstStyle/>
          <a:p>
            <a:pPr marL="457063" lvl="0" indent="-331370" algn="l" rtl="0">
              <a:lnSpc>
                <a:spcPct val="100000"/>
              </a:lnSpc>
              <a:spcBef>
                <a:spcPts val="1200"/>
              </a:spcBef>
              <a:spcAft>
                <a:spcPts val="0"/>
              </a:spcAft>
              <a:buSzPts val="1620"/>
              <a:buChar char="​"/>
            </a:pPr>
            <a:r>
              <a:rPr lang="en-US"/>
              <a:t>Key Benefits</a:t>
            </a:r>
            <a:endParaRPr/>
          </a:p>
        </p:txBody>
      </p:sp>
      <p:sp>
        <p:nvSpPr>
          <p:cNvPr id="6537" name="Google Shape;6537;p35"/>
          <p:cNvSpPr txBox="1">
            <a:spLocks noGrp="1"/>
          </p:cNvSpPr>
          <p:nvPr>
            <p:ph type="body" idx="4"/>
          </p:nvPr>
        </p:nvSpPr>
        <p:spPr>
          <a:xfrm>
            <a:off x="8378232" y="2063404"/>
            <a:ext cx="3682074" cy="1599783"/>
          </a:xfrm>
          <a:prstGeom prst="rect">
            <a:avLst/>
          </a:prstGeom>
          <a:noFill/>
          <a:ln>
            <a:noFill/>
          </a:ln>
        </p:spPr>
        <p:txBody>
          <a:bodyPr spcFirstLastPara="1" wrap="square" lIns="0" tIns="0" rIns="0" bIns="0" anchor="t" anchorCtr="0">
            <a:noAutofit/>
          </a:bodyPr>
          <a:lstStyle/>
          <a:p>
            <a:pPr marL="457063" lvl="0" indent="-319944" algn="l" rtl="0">
              <a:lnSpc>
                <a:spcPct val="100000"/>
              </a:lnSpc>
              <a:spcBef>
                <a:spcPts val="1200"/>
              </a:spcBef>
              <a:spcAft>
                <a:spcPts val="0"/>
              </a:spcAft>
              <a:buSzPts val="1440"/>
              <a:buChar char="​"/>
            </a:pPr>
            <a:r>
              <a:rPr lang="en-US" dirty="0">
                <a:solidFill>
                  <a:schemeClr val="accent2"/>
                </a:solidFill>
              </a:rPr>
              <a:t>In-place upgrade from 5.x to 9</a:t>
            </a:r>
            <a:endParaRPr dirty="0">
              <a:solidFill>
                <a:schemeClr val="accent2"/>
              </a:solidFill>
            </a:endParaRPr>
          </a:p>
          <a:p>
            <a:pPr marL="457063" lvl="0" indent="-319944" algn="l" rtl="0">
              <a:lnSpc>
                <a:spcPct val="100000"/>
              </a:lnSpc>
              <a:spcBef>
                <a:spcPts val="1200"/>
              </a:spcBef>
              <a:spcAft>
                <a:spcPts val="0"/>
              </a:spcAft>
              <a:buSzPts val="1440"/>
              <a:buChar char="​"/>
            </a:pPr>
            <a:r>
              <a:rPr lang="en-US" dirty="0">
                <a:solidFill>
                  <a:schemeClr val="accent2"/>
                </a:solidFill>
              </a:rPr>
              <a:t>No need to procure additional hardware to migrate</a:t>
            </a:r>
            <a:endParaRPr dirty="0">
              <a:solidFill>
                <a:schemeClr val="accent2"/>
              </a:solidFill>
            </a:endParaRPr>
          </a:p>
          <a:p>
            <a:pPr marL="457063" lvl="0" indent="-319944" algn="l" rtl="0">
              <a:lnSpc>
                <a:spcPct val="100000"/>
              </a:lnSpc>
              <a:spcBef>
                <a:spcPts val="1200"/>
              </a:spcBef>
              <a:spcAft>
                <a:spcPts val="0"/>
              </a:spcAft>
              <a:buSzPts val="1440"/>
              <a:buChar char="​"/>
            </a:pPr>
            <a:r>
              <a:rPr lang="en-US" dirty="0">
                <a:solidFill>
                  <a:schemeClr val="accent2"/>
                </a:solidFill>
              </a:rPr>
              <a:t>Take advantage of latest capabilities, including </a:t>
            </a:r>
            <a:r>
              <a:rPr lang="en-US" dirty="0" err="1">
                <a:solidFill>
                  <a:schemeClr val="accent2"/>
                </a:solidFill>
              </a:rPr>
              <a:t>vLCM</a:t>
            </a:r>
            <a:r>
              <a:rPr lang="en-US" dirty="0">
                <a:solidFill>
                  <a:schemeClr val="accent2"/>
                </a:solidFill>
              </a:rPr>
              <a:t> images</a:t>
            </a:r>
            <a:endParaRPr dirty="0">
              <a:solidFill>
                <a:schemeClr val="accent2"/>
              </a:solidFill>
            </a:endParaRPr>
          </a:p>
          <a:p>
            <a:pPr marL="457063" lvl="0" indent="-228503" algn="l" rtl="0">
              <a:lnSpc>
                <a:spcPct val="100000"/>
              </a:lnSpc>
              <a:spcBef>
                <a:spcPts val="1200"/>
              </a:spcBef>
              <a:spcAft>
                <a:spcPts val="0"/>
              </a:spcAft>
              <a:buSzPts val="1440"/>
              <a:buNone/>
            </a:pPr>
            <a:endParaRPr dirty="0"/>
          </a:p>
        </p:txBody>
      </p:sp>
      <p:sp>
        <p:nvSpPr>
          <p:cNvPr id="6538" name="Google Shape;6538;p35"/>
          <p:cNvSpPr txBox="1">
            <a:spLocks noGrp="1"/>
          </p:cNvSpPr>
          <p:nvPr>
            <p:ph type="body" idx="5"/>
          </p:nvPr>
        </p:nvSpPr>
        <p:spPr>
          <a:xfrm>
            <a:off x="8379819" y="3972330"/>
            <a:ext cx="3680486" cy="277281"/>
          </a:xfrm>
          <a:prstGeom prst="rect">
            <a:avLst/>
          </a:prstGeom>
          <a:noFill/>
          <a:ln>
            <a:noFill/>
          </a:ln>
        </p:spPr>
        <p:txBody>
          <a:bodyPr spcFirstLastPara="1" wrap="square" lIns="0" tIns="0" rIns="0" bIns="0" anchor="b" anchorCtr="0">
            <a:noAutofit/>
          </a:bodyPr>
          <a:lstStyle/>
          <a:p>
            <a:pPr marL="457063" lvl="0" indent="-331370" algn="l" rtl="0">
              <a:lnSpc>
                <a:spcPct val="100000"/>
              </a:lnSpc>
              <a:spcBef>
                <a:spcPts val="1200"/>
              </a:spcBef>
              <a:spcAft>
                <a:spcPts val="0"/>
              </a:spcAft>
              <a:buSzPts val="1620"/>
              <a:buChar char="​"/>
            </a:pPr>
            <a:r>
              <a:rPr lang="en-US"/>
              <a:t>Technical Value</a:t>
            </a:r>
            <a:endParaRPr/>
          </a:p>
        </p:txBody>
      </p:sp>
      <p:sp>
        <p:nvSpPr>
          <p:cNvPr id="6539" name="Google Shape;6539;p35"/>
          <p:cNvSpPr txBox="1">
            <a:spLocks noGrp="1"/>
          </p:cNvSpPr>
          <p:nvPr>
            <p:ph type="body" idx="6"/>
          </p:nvPr>
        </p:nvSpPr>
        <p:spPr>
          <a:xfrm>
            <a:off x="8378232" y="4347665"/>
            <a:ext cx="3682074" cy="1599783"/>
          </a:xfrm>
          <a:prstGeom prst="rect">
            <a:avLst/>
          </a:prstGeom>
          <a:noFill/>
          <a:ln>
            <a:noFill/>
          </a:ln>
        </p:spPr>
        <p:txBody>
          <a:bodyPr spcFirstLastPara="1" wrap="square" lIns="0" tIns="0" rIns="0" bIns="0" anchor="t" anchorCtr="0">
            <a:noAutofit/>
          </a:bodyPr>
          <a:lstStyle/>
          <a:p>
            <a:pPr marL="457063" lvl="0" indent="-319944" algn="l" rtl="0">
              <a:lnSpc>
                <a:spcPct val="100000"/>
              </a:lnSpc>
              <a:spcBef>
                <a:spcPts val="1200"/>
              </a:spcBef>
              <a:spcAft>
                <a:spcPts val="0"/>
              </a:spcAft>
              <a:buSzPts val="1440"/>
              <a:buChar char="​"/>
            </a:pPr>
            <a:r>
              <a:rPr lang="en-US" dirty="0">
                <a:solidFill>
                  <a:schemeClr val="accent2"/>
                </a:solidFill>
              </a:rPr>
              <a:t>Upgrade to VCF Operations 9 &amp; deploy Fleet Management</a:t>
            </a:r>
            <a:endParaRPr dirty="0">
              <a:solidFill>
                <a:schemeClr val="accent2"/>
              </a:solidFill>
            </a:endParaRPr>
          </a:p>
          <a:p>
            <a:pPr marL="457063" lvl="0" indent="-319944" algn="l" rtl="0">
              <a:lnSpc>
                <a:spcPct val="100000"/>
              </a:lnSpc>
              <a:spcBef>
                <a:spcPts val="1200"/>
              </a:spcBef>
              <a:spcAft>
                <a:spcPts val="0"/>
              </a:spcAft>
              <a:buSzPts val="1440"/>
              <a:buChar char="​"/>
            </a:pPr>
            <a:r>
              <a:rPr lang="en-US" dirty="0">
                <a:solidFill>
                  <a:schemeClr val="accent2"/>
                </a:solidFill>
              </a:rPr>
              <a:t>SDDC Manager 5.x 🡪 9.0</a:t>
            </a:r>
            <a:endParaRPr dirty="0">
              <a:solidFill>
                <a:schemeClr val="accent2"/>
              </a:solidFill>
            </a:endParaRPr>
          </a:p>
          <a:p>
            <a:pPr marL="457063" lvl="0" indent="-319944" algn="l" rtl="0">
              <a:lnSpc>
                <a:spcPct val="100000"/>
              </a:lnSpc>
              <a:spcBef>
                <a:spcPts val="1200"/>
              </a:spcBef>
              <a:spcAft>
                <a:spcPts val="0"/>
              </a:spcAft>
              <a:buSzPts val="1440"/>
              <a:buChar char="​"/>
            </a:pPr>
            <a:r>
              <a:rPr lang="en-US" dirty="0">
                <a:solidFill>
                  <a:schemeClr val="accent2"/>
                </a:solidFill>
              </a:rPr>
              <a:t>VCF Ops upgrades remaining infrastructure components</a:t>
            </a:r>
            <a:endParaRPr dirty="0">
              <a:solidFill>
                <a:schemeClr val="accent2"/>
              </a:solidFill>
            </a:endParaRPr>
          </a:p>
        </p:txBody>
      </p:sp>
      <p:sp>
        <p:nvSpPr>
          <p:cNvPr id="6540" name="Google Shape;6540;p35"/>
          <p:cNvSpPr/>
          <p:nvPr/>
        </p:nvSpPr>
        <p:spPr>
          <a:xfrm>
            <a:off x="801479" y="3758179"/>
            <a:ext cx="4670075" cy="875189"/>
          </a:xfrm>
          <a:prstGeom prst="roundRect">
            <a:avLst>
              <a:gd name="adj" fmla="val 2356"/>
            </a:avLst>
          </a:prstGeom>
          <a:solidFill>
            <a:srgbClr val="E8E8EA"/>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541" name="Google Shape;6541;p35"/>
          <p:cNvSpPr/>
          <p:nvPr/>
        </p:nvSpPr>
        <p:spPr>
          <a:xfrm>
            <a:off x="801479" y="2006092"/>
            <a:ext cx="4670075" cy="1553465"/>
          </a:xfrm>
          <a:prstGeom prst="roundRect">
            <a:avLst>
              <a:gd name="adj" fmla="val 2356"/>
            </a:avLst>
          </a:prstGeom>
          <a:solidFill>
            <a:srgbClr val="E8E8EA"/>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542" name="Google Shape;6542;p35"/>
          <p:cNvSpPr txBox="1"/>
          <p:nvPr/>
        </p:nvSpPr>
        <p:spPr>
          <a:xfrm>
            <a:off x="1367150" y="1697587"/>
            <a:ext cx="3439394" cy="24615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1B1D36"/>
              </a:buClr>
              <a:buSzPts val="1600"/>
              <a:buFont typeface="Arial"/>
              <a:buNone/>
            </a:pPr>
            <a:r>
              <a:rPr lang="en-US" sz="1600" b="0" i="0" u="none" strike="noStrike" cap="none">
                <a:solidFill>
                  <a:srgbClr val="1B1D36"/>
                </a:solidFill>
                <a:latin typeface="Arial"/>
                <a:ea typeface="Arial"/>
                <a:cs typeface="Arial"/>
                <a:sym typeface="Arial"/>
              </a:rPr>
              <a:t>VCF 5.x &amp; Aria Suite</a:t>
            </a:r>
            <a:endParaRPr/>
          </a:p>
        </p:txBody>
      </p:sp>
      <p:sp>
        <p:nvSpPr>
          <p:cNvPr id="6543" name="Google Shape;6543;p35"/>
          <p:cNvSpPr txBox="1"/>
          <p:nvPr/>
        </p:nvSpPr>
        <p:spPr>
          <a:xfrm>
            <a:off x="6254538" y="1683326"/>
            <a:ext cx="1395553" cy="24615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VCF 9</a:t>
            </a:r>
            <a:endParaRPr/>
          </a:p>
        </p:txBody>
      </p:sp>
      <p:sp>
        <p:nvSpPr>
          <p:cNvPr id="6544" name="Google Shape;6544;p35"/>
          <p:cNvSpPr/>
          <p:nvPr/>
        </p:nvSpPr>
        <p:spPr>
          <a:xfrm>
            <a:off x="6069020" y="2832870"/>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1200" b="1" i="0" u="none" strike="noStrike" cap="none">
                <a:solidFill>
                  <a:srgbClr val="FFFFFF"/>
                </a:solidFill>
                <a:latin typeface="Arial"/>
                <a:ea typeface="Arial"/>
                <a:cs typeface="Arial"/>
                <a:sym typeface="Arial"/>
              </a:rPr>
              <a:t>Fleet Management</a:t>
            </a:r>
            <a:endParaRPr sz="1200" b="1" i="0" u="none" strike="noStrike" cap="none">
              <a:solidFill>
                <a:srgbClr val="FFFFFF"/>
              </a:solidFill>
              <a:latin typeface="Arial"/>
              <a:ea typeface="Arial"/>
              <a:cs typeface="Arial"/>
              <a:sym typeface="Arial"/>
            </a:endParaRPr>
          </a:p>
        </p:txBody>
      </p:sp>
      <p:sp>
        <p:nvSpPr>
          <p:cNvPr id="6545" name="Google Shape;6545;p35"/>
          <p:cNvSpPr/>
          <p:nvPr/>
        </p:nvSpPr>
        <p:spPr>
          <a:xfrm>
            <a:off x="6069020" y="2170371"/>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1200" b="1" i="0" u="none" strike="noStrike" cap="none">
                <a:solidFill>
                  <a:srgbClr val="FFFFFF"/>
                </a:solidFill>
                <a:latin typeface="Arial"/>
                <a:ea typeface="Arial"/>
                <a:cs typeface="Arial"/>
                <a:sym typeface="Arial"/>
              </a:rPr>
              <a:t>VCF Ops 9</a:t>
            </a:r>
            <a:endParaRPr sz="1200" b="1" i="0" u="none" strike="noStrike" cap="none">
              <a:solidFill>
                <a:srgbClr val="FFFFFF"/>
              </a:solidFill>
              <a:latin typeface="Arial"/>
              <a:ea typeface="Arial"/>
              <a:cs typeface="Arial"/>
              <a:sym typeface="Arial"/>
            </a:endParaRPr>
          </a:p>
        </p:txBody>
      </p:sp>
      <p:sp>
        <p:nvSpPr>
          <p:cNvPr id="6546" name="Google Shape;6546;p35"/>
          <p:cNvSpPr/>
          <p:nvPr/>
        </p:nvSpPr>
        <p:spPr>
          <a:xfrm>
            <a:off x="3731764" y="2184603"/>
            <a:ext cx="1581071" cy="553854"/>
          </a:xfrm>
          <a:prstGeom prst="roundRect">
            <a:avLst>
              <a:gd name="adj" fmla="val 6349"/>
            </a:avLst>
          </a:prstGeom>
          <a:solidFill>
            <a:schemeClr val="lt1"/>
          </a:solidFill>
          <a:ln w="25400" cap="flat" cmpd="sng">
            <a:solidFill>
              <a:schemeClr val="accent5"/>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1200" b="1" i="0" u="none" strike="noStrike" cap="none">
                <a:solidFill>
                  <a:srgbClr val="000000"/>
                </a:solidFill>
                <a:latin typeface="Arial"/>
                <a:ea typeface="Arial"/>
                <a:cs typeface="Arial"/>
                <a:sym typeface="Arial"/>
              </a:rPr>
              <a:t>Aria Ops 8</a:t>
            </a:r>
            <a:endParaRPr sz="1200" b="1" i="0" u="none" strike="noStrike" cap="none">
              <a:solidFill>
                <a:srgbClr val="000000"/>
              </a:solidFill>
              <a:latin typeface="Arial"/>
              <a:ea typeface="Arial"/>
              <a:cs typeface="Arial"/>
              <a:sym typeface="Arial"/>
            </a:endParaRPr>
          </a:p>
        </p:txBody>
      </p:sp>
      <p:sp>
        <p:nvSpPr>
          <p:cNvPr id="6547" name="Google Shape;6547;p35"/>
          <p:cNvSpPr/>
          <p:nvPr/>
        </p:nvSpPr>
        <p:spPr>
          <a:xfrm>
            <a:off x="5904924" y="3758178"/>
            <a:ext cx="1909259" cy="860520"/>
          </a:xfrm>
          <a:prstGeom prst="roundRect">
            <a:avLst>
              <a:gd name="adj" fmla="val 2356"/>
            </a:avLst>
          </a:prstGeom>
          <a:solidFill>
            <a:srgbClr val="E8E8EA"/>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548" name="Google Shape;6548;p35"/>
          <p:cNvSpPr/>
          <p:nvPr/>
        </p:nvSpPr>
        <p:spPr>
          <a:xfrm>
            <a:off x="6069020" y="3918211"/>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1200" b="1" i="0" u="none" strike="noStrike" cap="none">
                <a:solidFill>
                  <a:srgbClr val="FFFFFF"/>
                </a:solidFill>
                <a:latin typeface="Arial"/>
                <a:ea typeface="Arial"/>
                <a:cs typeface="Arial"/>
                <a:sym typeface="Arial"/>
              </a:rPr>
              <a:t>9.0</a:t>
            </a:r>
            <a:endParaRPr sz="1200" b="1" i="0" u="none" strike="noStrike" cap="none">
              <a:solidFill>
                <a:srgbClr val="FFFFFF"/>
              </a:solidFill>
              <a:latin typeface="Arial"/>
              <a:ea typeface="Arial"/>
              <a:cs typeface="Arial"/>
              <a:sym typeface="Arial"/>
            </a:endParaRPr>
          </a:p>
        </p:txBody>
      </p:sp>
      <p:sp>
        <p:nvSpPr>
          <p:cNvPr id="6549" name="Google Shape;6549;p35"/>
          <p:cNvSpPr txBox="1"/>
          <p:nvPr/>
        </p:nvSpPr>
        <p:spPr>
          <a:xfrm>
            <a:off x="427023" y="2667794"/>
            <a:ext cx="3439394" cy="27692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1B1D36"/>
              </a:buClr>
              <a:buSzPts val="1799"/>
              <a:buFont typeface="Arial"/>
              <a:buNone/>
            </a:pPr>
            <a:r>
              <a:rPr lang="en-US" sz="1799" b="0" i="0" u="none" strike="noStrike" cap="none">
                <a:solidFill>
                  <a:srgbClr val="1B1D36"/>
                </a:solidFill>
                <a:latin typeface="Arial"/>
                <a:ea typeface="Arial"/>
                <a:cs typeface="Arial"/>
                <a:sym typeface="Arial"/>
              </a:rPr>
              <a:t>VCF Management</a:t>
            </a:r>
            <a:endParaRPr/>
          </a:p>
        </p:txBody>
      </p:sp>
      <p:sp>
        <p:nvSpPr>
          <p:cNvPr id="6550" name="Google Shape;6550;p35"/>
          <p:cNvSpPr txBox="1"/>
          <p:nvPr/>
        </p:nvSpPr>
        <p:spPr>
          <a:xfrm>
            <a:off x="440141" y="4076598"/>
            <a:ext cx="3439394" cy="27692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1B1D36"/>
              </a:buClr>
              <a:buSzPts val="1799"/>
              <a:buFont typeface="Arial"/>
              <a:buNone/>
            </a:pPr>
            <a:r>
              <a:rPr lang="en-US" sz="1799" b="0" i="0" u="none" strike="noStrike" cap="none">
                <a:solidFill>
                  <a:srgbClr val="1B1D36"/>
                </a:solidFill>
                <a:latin typeface="Arial"/>
                <a:ea typeface="Arial"/>
                <a:cs typeface="Arial"/>
                <a:sym typeface="Arial"/>
              </a:rPr>
              <a:t>SDDC Manager</a:t>
            </a:r>
            <a:endParaRPr/>
          </a:p>
        </p:txBody>
      </p:sp>
      <p:sp>
        <p:nvSpPr>
          <p:cNvPr id="6551" name="Google Shape;6551;p35"/>
          <p:cNvSpPr/>
          <p:nvPr/>
        </p:nvSpPr>
        <p:spPr>
          <a:xfrm>
            <a:off x="801479" y="4822584"/>
            <a:ext cx="4670075" cy="1057490"/>
          </a:xfrm>
          <a:prstGeom prst="roundRect">
            <a:avLst>
              <a:gd name="adj" fmla="val 2356"/>
            </a:avLst>
          </a:prstGeom>
          <a:solidFill>
            <a:srgbClr val="E8E8EA"/>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552" name="Google Shape;6552;p35"/>
          <p:cNvSpPr/>
          <p:nvPr/>
        </p:nvSpPr>
        <p:spPr>
          <a:xfrm>
            <a:off x="5904924" y="4825639"/>
            <a:ext cx="1909259" cy="1039765"/>
          </a:xfrm>
          <a:prstGeom prst="roundRect">
            <a:avLst>
              <a:gd name="adj" fmla="val 2356"/>
            </a:avLst>
          </a:prstGeom>
          <a:solidFill>
            <a:srgbClr val="E8E8EA"/>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553" name="Google Shape;6553;p35"/>
          <p:cNvSpPr/>
          <p:nvPr/>
        </p:nvSpPr>
        <p:spPr>
          <a:xfrm>
            <a:off x="6069020" y="5067959"/>
            <a:ext cx="1581071" cy="55385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1200" b="1" i="0" u="none" strike="noStrike" cap="none">
                <a:solidFill>
                  <a:srgbClr val="FFFFFF"/>
                </a:solidFill>
                <a:latin typeface="Arial"/>
                <a:ea typeface="Arial"/>
                <a:cs typeface="Arial"/>
                <a:sym typeface="Arial"/>
              </a:rPr>
              <a:t>vSphere 9        NSX 9</a:t>
            </a:r>
            <a:endParaRPr sz="1200" b="1" i="0" u="none" strike="noStrike" cap="none">
              <a:solidFill>
                <a:srgbClr val="FFFFFF"/>
              </a:solidFill>
              <a:latin typeface="Arial"/>
              <a:ea typeface="Arial"/>
              <a:cs typeface="Arial"/>
              <a:sym typeface="Arial"/>
            </a:endParaRPr>
          </a:p>
        </p:txBody>
      </p:sp>
      <p:sp>
        <p:nvSpPr>
          <p:cNvPr id="6554" name="Google Shape;6554;p35"/>
          <p:cNvSpPr txBox="1"/>
          <p:nvPr/>
        </p:nvSpPr>
        <p:spPr>
          <a:xfrm>
            <a:off x="1079598" y="5087833"/>
            <a:ext cx="2198969" cy="55385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1B1D36"/>
              </a:buClr>
              <a:buSzPts val="1799"/>
              <a:buFont typeface="Arial"/>
              <a:buNone/>
            </a:pPr>
            <a:r>
              <a:rPr lang="en-US" sz="1799" b="0" i="0" u="none" strike="noStrike" cap="none">
                <a:solidFill>
                  <a:srgbClr val="1B1D36"/>
                </a:solidFill>
                <a:latin typeface="Arial"/>
                <a:ea typeface="Arial"/>
                <a:cs typeface="Arial"/>
                <a:sym typeface="Arial"/>
              </a:rPr>
              <a:t>VCF Infrastructure Components</a:t>
            </a:r>
            <a:endParaRPr/>
          </a:p>
        </p:txBody>
      </p:sp>
      <p:sp>
        <p:nvSpPr>
          <p:cNvPr id="6555" name="Google Shape;6555;p35"/>
          <p:cNvSpPr/>
          <p:nvPr/>
        </p:nvSpPr>
        <p:spPr>
          <a:xfrm>
            <a:off x="3731764" y="2836677"/>
            <a:ext cx="1581071" cy="553854"/>
          </a:xfrm>
          <a:prstGeom prst="roundRect">
            <a:avLst>
              <a:gd name="adj" fmla="val 6349"/>
            </a:avLst>
          </a:prstGeom>
          <a:solidFill>
            <a:schemeClr val="lt1"/>
          </a:solidFill>
          <a:ln w="25400" cap="flat" cmpd="sng">
            <a:solidFill>
              <a:schemeClr val="accent5"/>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1200" b="1" i="0" u="none" strike="noStrike" cap="none">
                <a:solidFill>
                  <a:srgbClr val="000000"/>
                </a:solidFill>
                <a:latin typeface="Arial"/>
                <a:ea typeface="Arial"/>
                <a:cs typeface="Arial"/>
                <a:sym typeface="Arial"/>
              </a:rPr>
              <a:t>Aria Suite Lifecycle</a:t>
            </a:r>
            <a:endParaRPr sz="1200" b="1" i="0" u="none" strike="noStrike" cap="none">
              <a:solidFill>
                <a:srgbClr val="000000"/>
              </a:solidFill>
              <a:latin typeface="Arial"/>
              <a:ea typeface="Arial"/>
              <a:cs typeface="Arial"/>
              <a:sym typeface="Arial"/>
            </a:endParaRPr>
          </a:p>
        </p:txBody>
      </p:sp>
      <p:sp>
        <p:nvSpPr>
          <p:cNvPr id="6556" name="Google Shape;6556;p35"/>
          <p:cNvSpPr/>
          <p:nvPr/>
        </p:nvSpPr>
        <p:spPr>
          <a:xfrm>
            <a:off x="3735819" y="3916537"/>
            <a:ext cx="1581071" cy="553854"/>
          </a:xfrm>
          <a:prstGeom prst="roundRect">
            <a:avLst>
              <a:gd name="adj" fmla="val 6349"/>
            </a:avLst>
          </a:prstGeom>
          <a:solidFill>
            <a:schemeClr val="lt1"/>
          </a:solidFill>
          <a:ln w="25400" cap="flat" cmpd="sng">
            <a:solidFill>
              <a:schemeClr val="accent5"/>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1200" b="1" i="0" u="none" strike="noStrike" cap="none">
                <a:solidFill>
                  <a:srgbClr val="000000"/>
                </a:solidFill>
                <a:latin typeface="Arial"/>
                <a:ea typeface="Arial"/>
                <a:cs typeface="Arial"/>
                <a:sym typeface="Arial"/>
              </a:rPr>
              <a:t>5.x</a:t>
            </a:r>
            <a:endParaRPr sz="1200" b="1" i="0" u="none" strike="noStrike" cap="none">
              <a:solidFill>
                <a:srgbClr val="000000"/>
              </a:solidFill>
              <a:latin typeface="Arial"/>
              <a:ea typeface="Arial"/>
              <a:cs typeface="Arial"/>
              <a:sym typeface="Arial"/>
            </a:endParaRPr>
          </a:p>
        </p:txBody>
      </p:sp>
      <p:sp>
        <p:nvSpPr>
          <p:cNvPr id="6557" name="Google Shape;6557;p35"/>
          <p:cNvSpPr/>
          <p:nvPr/>
        </p:nvSpPr>
        <p:spPr>
          <a:xfrm>
            <a:off x="3735819" y="5066554"/>
            <a:ext cx="1581071" cy="553854"/>
          </a:xfrm>
          <a:prstGeom prst="roundRect">
            <a:avLst>
              <a:gd name="adj" fmla="val 6349"/>
            </a:avLst>
          </a:prstGeom>
          <a:solidFill>
            <a:schemeClr val="lt1"/>
          </a:solidFill>
          <a:ln w="25400" cap="flat" cmpd="sng">
            <a:solidFill>
              <a:schemeClr val="accent5"/>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1200" b="1" i="0" u="none" strike="noStrike" cap="none">
                <a:solidFill>
                  <a:srgbClr val="000000"/>
                </a:solidFill>
                <a:latin typeface="Arial"/>
                <a:ea typeface="Arial"/>
                <a:cs typeface="Arial"/>
                <a:sym typeface="Arial"/>
              </a:rPr>
              <a:t>vSphere 8.x.     NSX 4.x</a:t>
            </a:r>
            <a:endParaRPr sz="1200" b="1" i="0" u="none" strike="noStrike" cap="none">
              <a:solidFill>
                <a:srgbClr val="000000"/>
              </a:solidFill>
              <a:latin typeface="Arial"/>
              <a:ea typeface="Arial"/>
              <a:cs typeface="Arial"/>
              <a:sym typeface="Arial"/>
            </a:endParaRPr>
          </a:p>
        </p:txBody>
      </p:sp>
      <p:grpSp>
        <p:nvGrpSpPr>
          <p:cNvPr id="6558" name="Google Shape;6558;p35"/>
          <p:cNvGrpSpPr/>
          <p:nvPr/>
        </p:nvGrpSpPr>
        <p:grpSpPr>
          <a:xfrm>
            <a:off x="5551492" y="2231158"/>
            <a:ext cx="277107" cy="552871"/>
            <a:chOff x="5086390" y="2966073"/>
            <a:chExt cx="365757" cy="671971"/>
          </a:xfrm>
        </p:grpSpPr>
        <p:sp>
          <p:nvSpPr>
            <p:cNvPr id="6559" name="Google Shape;6559;p35"/>
            <p:cNvSpPr/>
            <p:nvPr/>
          </p:nvSpPr>
          <p:spPr>
            <a:xfrm>
              <a:off x="5086390" y="2966073"/>
              <a:ext cx="365757" cy="671971"/>
            </a:xfrm>
            <a:prstGeom prst="rect">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000"/>
                <a:buFont typeface="Arial"/>
                <a:buNone/>
              </a:pPr>
              <a:endParaRPr sz="1000" b="0" i="0" u="none" strike="noStrike" cap="none">
                <a:solidFill>
                  <a:srgbClr val="000000"/>
                </a:solidFill>
                <a:latin typeface="Arial"/>
                <a:ea typeface="Arial"/>
                <a:cs typeface="Arial"/>
                <a:sym typeface="Arial"/>
              </a:endParaRPr>
            </a:p>
          </p:txBody>
        </p:sp>
        <p:grpSp>
          <p:nvGrpSpPr>
            <p:cNvPr id="6560" name="Google Shape;6560;p35"/>
            <p:cNvGrpSpPr/>
            <p:nvPr/>
          </p:nvGrpSpPr>
          <p:grpSpPr>
            <a:xfrm rot="5400000">
              <a:off x="5138869" y="3058040"/>
              <a:ext cx="263441" cy="352709"/>
              <a:chOff x="6930408" y="3506884"/>
              <a:chExt cx="283405" cy="388082"/>
            </a:xfrm>
          </p:grpSpPr>
          <p:sp>
            <p:nvSpPr>
              <p:cNvPr id="6561" name="Google Shape;6561;p35"/>
              <p:cNvSpPr/>
              <p:nvPr/>
            </p:nvSpPr>
            <p:spPr>
              <a:xfrm rot="-54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313"/>
                </a:schemeClr>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6562" name="Google Shape;6562;p35"/>
              <p:cNvSpPr/>
              <p:nvPr/>
            </p:nvSpPr>
            <p:spPr>
              <a:xfrm rot="-54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411"/>
                </a:schemeClr>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6563" name="Google Shape;6563;p35"/>
              <p:cNvSpPr/>
              <p:nvPr/>
            </p:nvSpPr>
            <p:spPr>
              <a:xfrm rot="-54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grpSp>
      </p:grpSp>
      <p:grpSp>
        <p:nvGrpSpPr>
          <p:cNvPr id="6564" name="Google Shape;6564;p35"/>
          <p:cNvGrpSpPr/>
          <p:nvPr/>
        </p:nvGrpSpPr>
        <p:grpSpPr>
          <a:xfrm>
            <a:off x="5550888" y="2887399"/>
            <a:ext cx="277107" cy="552871"/>
            <a:chOff x="5086390" y="2966073"/>
            <a:chExt cx="365757" cy="671971"/>
          </a:xfrm>
        </p:grpSpPr>
        <p:sp>
          <p:nvSpPr>
            <p:cNvPr id="6565" name="Google Shape;6565;p35"/>
            <p:cNvSpPr/>
            <p:nvPr/>
          </p:nvSpPr>
          <p:spPr>
            <a:xfrm>
              <a:off x="5086390" y="2966073"/>
              <a:ext cx="365757" cy="671971"/>
            </a:xfrm>
            <a:prstGeom prst="rect">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000"/>
                <a:buFont typeface="Arial"/>
                <a:buNone/>
              </a:pPr>
              <a:endParaRPr sz="1000" b="0" i="0" u="none" strike="noStrike" cap="none">
                <a:solidFill>
                  <a:srgbClr val="000000"/>
                </a:solidFill>
                <a:latin typeface="Arial"/>
                <a:ea typeface="Arial"/>
                <a:cs typeface="Arial"/>
                <a:sym typeface="Arial"/>
              </a:endParaRPr>
            </a:p>
          </p:txBody>
        </p:sp>
        <p:grpSp>
          <p:nvGrpSpPr>
            <p:cNvPr id="6566" name="Google Shape;6566;p35"/>
            <p:cNvGrpSpPr/>
            <p:nvPr/>
          </p:nvGrpSpPr>
          <p:grpSpPr>
            <a:xfrm rot="5400000">
              <a:off x="5138869" y="3058040"/>
              <a:ext cx="263441" cy="352709"/>
              <a:chOff x="6930408" y="3506884"/>
              <a:chExt cx="283405" cy="388082"/>
            </a:xfrm>
          </p:grpSpPr>
          <p:sp>
            <p:nvSpPr>
              <p:cNvPr id="6567" name="Google Shape;6567;p35"/>
              <p:cNvSpPr/>
              <p:nvPr/>
            </p:nvSpPr>
            <p:spPr>
              <a:xfrm rot="-54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313"/>
                </a:schemeClr>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6568" name="Google Shape;6568;p35"/>
              <p:cNvSpPr/>
              <p:nvPr/>
            </p:nvSpPr>
            <p:spPr>
              <a:xfrm rot="-54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411"/>
                </a:schemeClr>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6569" name="Google Shape;6569;p35"/>
              <p:cNvSpPr/>
              <p:nvPr/>
            </p:nvSpPr>
            <p:spPr>
              <a:xfrm rot="-54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grpSp>
      </p:grpSp>
      <p:grpSp>
        <p:nvGrpSpPr>
          <p:cNvPr id="6570" name="Google Shape;6570;p35"/>
          <p:cNvGrpSpPr/>
          <p:nvPr/>
        </p:nvGrpSpPr>
        <p:grpSpPr>
          <a:xfrm>
            <a:off x="5559922" y="3970569"/>
            <a:ext cx="277107" cy="552871"/>
            <a:chOff x="5086390" y="2966073"/>
            <a:chExt cx="365757" cy="671971"/>
          </a:xfrm>
        </p:grpSpPr>
        <p:sp>
          <p:nvSpPr>
            <p:cNvPr id="6571" name="Google Shape;6571;p35"/>
            <p:cNvSpPr/>
            <p:nvPr/>
          </p:nvSpPr>
          <p:spPr>
            <a:xfrm>
              <a:off x="5086390" y="2966073"/>
              <a:ext cx="365757" cy="671971"/>
            </a:xfrm>
            <a:prstGeom prst="rect">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000"/>
                <a:buFont typeface="Arial"/>
                <a:buNone/>
              </a:pPr>
              <a:endParaRPr sz="1000" b="0" i="0" u="none" strike="noStrike" cap="none">
                <a:solidFill>
                  <a:srgbClr val="000000"/>
                </a:solidFill>
                <a:latin typeface="Arial"/>
                <a:ea typeface="Arial"/>
                <a:cs typeface="Arial"/>
                <a:sym typeface="Arial"/>
              </a:endParaRPr>
            </a:p>
          </p:txBody>
        </p:sp>
        <p:grpSp>
          <p:nvGrpSpPr>
            <p:cNvPr id="6572" name="Google Shape;6572;p35"/>
            <p:cNvGrpSpPr/>
            <p:nvPr/>
          </p:nvGrpSpPr>
          <p:grpSpPr>
            <a:xfrm rot="5400000">
              <a:off x="5138869" y="3058040"/>
              <a:ext cx="263441" cy="352709"/>
              <a:chOff x="6930408" y="3506884"/>
              <a:chExt cx="283405" cy="388082"/>
            </a:xfrm>
          </p:grpSpPr>
          <p:sp>
            <p:nvSpPr>
              <p:cNvPr id="6573" name="Google Shape;6573;p35"/>
              <p:cNvSpPr/>
              <p:nvPr/>
            </p:nvSpPr>
            <p:spPr>
              <a:xfrm rot="-54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313"/>
                </a:schemeClr>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6574" name="Google Shape;6574;p35"/>
              <p:cNvSpPr/>
              <p:nvPr/>
            </p:nvSpPr>
            <p:spPr>
              <a:xfrm rot="-54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411"/>
                </a:schemeClr>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6575" name="Google Shape;6575;p35"/>
              <p:cNvSpPr/>
              <p:nvPr/>
            </p:nvSpPr>
            <p:spPr>
              <a:xfrm rot="-54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grpSp>
      </p:grpSp>
      <p:grpSp>
        <p:nvGrpSpPr>
          <p:cNvPr id="6576" name="Google Shape;6576;p35"/>
          <p:cNvGrpSpPr/>
          <p:nvPr/>
        </p:nvGrpSpPr>
        <p:grpSpPr>
          <a:xfrm>
            <a:off x="5553878" y="5118285"/>
            <a:ext cx="277107" cy="552871"/>
            <a:chOff x="5086390" y="2966073"/>
            <a:chExt cx="365757" cy="671971"/>
          </a:xfrm>
        </p:grpSpPr>
        <p:sp>
          <p:nvSpPr>
            <p:cNvPr id="6577" name="Google Shape;6577;p35"/>
            <p:cNvSpPr/>
            <p:nvPr/>
          </p:nvSpPr>
          <p:spPr>
            <a:xfrm>
              <a:off x="5086390" y="2966073"/>
              <a:ext cx="365757" cy="671971"/>
            </a:xfrm>
            <a:prstGeom prst="rect">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000"/>
                <a:buFont typeface="Arial"/>
                <a:buNone/>
              </a:pPr>
              <a:endParaRPr sz="1000" b="0" i="0" u="none" strike="noStrike" cap="none">
                <a:solidFill>
                  <a:srgbClr val="000000"/>
                </a:solidFill>
                <a:latin typeface="Arial"/>
                <a:ea typeface="Arial"/>
                <a:cs typeface="Arial"/>
                <a:sym typeface="Arial"/>
              </a:endParaRPr>
            </a:p>
          </p:txBody>
        </p:sp>
        <p:grpSp>
          <p:nvGrpSpPr>
            <p:cNvPr id="6578" name="Google Shape;6578;p35"/>
            <p:cNvGrpSpPr/>
            <p:nvPr/>
          </p:nvGrpSpPr>
          <p:grpSpPr>
            <a:xfrm rot="5400000">
              <a:off x="5138869" y="3058040"/>
              <a:ext cx="263441" cy="352709"/>
              <a:chOff x="6930408" y="3506884"/>
              <a:chExt cx="283405" cy="388082"/>
            </a:xfrm>
          </p:grpSpPr>
          <p:sp>
            <p:nvSpPr>
              <p:cNvPr id="6579" name="Google Shape;6579;p35"/>
              <p:cNvSpPr/>
              <p:nvPr/>
            </p:nvSpPr>
            <p:spPr>
              <a:xfrm rot="-5400000">
                <a:off x="6990674" y="3671874"/>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4313"/>
                </a:schemeClr>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6580" name="Google Shape;6580;p35"/>
              <p:cNvSpPr/>
              <p:nvPr/>
            </p:nvSpPr>
            <p:spPr>
              <a:xfrm rot="-5400000">
                <a:off x="6990674" y="3559245"/>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9411"/>
                </a:schemeClr>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6581" name="Google Shape;6581;p35"/>
              <p:cNvSpPr/>
              <p:nvPr/>
            </p:nvSpPr>
            <p:spPr>
              <a:xfrm rot="-5400000">
                <a:off x="6990721" y="3446618"/>
                <a:ext cx="162826" cy="28335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00" tIns="45600" rIns="91300" bIns="456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921CA-CA03-A19F-DA5C-5D18FB5D6BDE}"/>
            </a:ext>
          </a:extLst>
        </p:cNvPr>
        <p:cNvGrpSpPr/>
        <p:nvPr/>
      </p:nvGrpSpPr>
      <p:grpSpPr>
        <a:xfrm>
          <a:off x="0" y="0"/>
          <a:ext cx="0" cy="0"/>
          <a:chOff x="0" y="0"/>
          <a:chExt cx="0" cy="0"/>
        </a:xfrm>
      </p:grpSpPr>
      <p:sp>
        <p:nvSpPr>
          <p:cNvPr id="86" name="Google Shape;1527;p8">
            <a:extLst>
              <a:ext uri="{FF2B5EF4-FFF2-40B4-BE49-F238E27FC236}">
                <a16:creationId xmlns:a16="http://schemas.microsoft.com/office/drawing/2014/main" id="{D0EC036E-84A7-82B7-910D-5E520F767AA1}"/>
              </a:ext>
            </a:extLst>
          </p:cNvPr>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6" name="Google Shape;1479;p7">
            <a:extLst>
              <a:ext uri="{FF2B5EF4-FFF2-40B4-BE49-F238E27FC236}">
                <a16:creationId xmlns:a16="http://schemas.microsoft.com/office/drawing/2014/main" id="{ACBA2335-EB47-785A-14FF-040754D06AE6}"/>
              </a:ext>
            </a:extLst>
          </p:cNvPr>
          <p:cNvSpPr/>
          <p:nvPr/>
        </p:nvSpPr>
        <p:spPr>
          <a:xfrm>
            <a:off x="4803854" y="2835253"/>
            <a:ext cx="2849507" cy="1441651"/>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5" name="Google Shape;1479;p7">
            <a:extLst>
              <a:ext uri="{FF2B5EF4-FFF2-40B4-BE49-F238E27FC236}">
                <a16:creationId xmlns:a16="http://schemas.microsoft.com/office/drawing/2014/main" id="{4EE0AAD6-CF7A-33A2-91CF-99FB77026E79}"/>
              </a:ext>
            </a:extLst>
          </p:cNvPr>
          <p:cNvSpPr/>
          <p:nvPr/>
        </p:nvSpPr>
        <p:spPr>
          <a:xfrm>
            <a:off x="1014392" y="1769195"/>
            <a:ext cx="2965880" cy="2593465"/>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 name="Title 8">
            <a:extLst>
              <a:ext uri="{FF2B5EF4-FFF2-40B4-BE49-F238E27FC236}">
                <a16:creationId xmlns:a16="http://schemas.microsoft.com/office/drawing/2014/main" id="{ED266049-58AA-7DF4-A427-8EC8BAA9FDCF}"/>
              </a:ext>
            </a:extLst>
          </p:cNvPr>
          <p:cNvSpPr>
            <a:spLocks noGrp="1"/>
          </p:cNvSpPr>
          <p:nvPr>
            <p:ph type="title"/>
          </p:nvPr>
        </p:nvSpPr>
        <p:spPr>
          <a:xfrm>
            <a:off x="581245" y="413536"/>
            <a:ext cx="10998139" cy="380901"/>
          </a:xfrm>
        </p:spPr>
        <p:txBody>
          <a:bodyPr/>
          <a:lstStyle/>
          <a:p>
            <a:r>
              <a:rPr lang="en-US"/>
              <a:t>Single Sign-On for Administrator Access Across VCF</a:t>
            </a:r>
            <a:endParaRPr lang="en-US" dirty="0"/>
          </a:p>
        </p:txBody>
      </p:sp>
      <p:sp>
        <p:nvSpPr>
          <p:cNvPr id="10" name="Subtitle 9">
            <a:extLst>
              <a:ext uri="{FF2B5EF4-FFF2-40B4-BE49-F238E27FC236}">
                <a16:creationId xmlns:a16="http://schemas.microsoft.com/office/drawing/2014/main" id="{184605AA-DB02-E2BE-4CA4-46FBB556EB1F}"/>
              </a:ext>
            </a:extLst>
          </p:cNvPr>
          <p:cNvSpPr>
            <a:spLocks noGrp="1"/>
          </p:cNvSpPr>
          <p:nvPr>
            <p:ph type="subTitle" idx="10"/>
          </p:nvPr>
        </p:nvSpPr>
        <p:spPr>
          <a:xfrm>
            <a:off x="594300" y="812513"/>
            <a:ext cx="10959832" cy="247678"/>
          </a:xfrm>
        </p:spPr>
        <p:txBody>
          <a:bodyPr/>
          <a:lstStyle/>
          <a:p>
            <a:r>
              <a:rPr lang="en-US"/>
              <a:t>New modern identity broker simplifies configuration</a:t>
            </a:r>
            <a:endParaRPr lang="en-US" dirty="0"/>
          </a:p>
        </p:txBody>
      </p:sp>
      <p:sp>
        <p:nvSpPr>
          <p:cNvPr id="12" name="Text Placeholder 11">
            <a:extLst>
              <a:ext uri="{FF2B5EF4-FFF2-40B4-BE49-F238E27FC236}">
                <a16:creationId xmlns:a16="http://schemas.microsoft.com/office/drawing/2014/main" id="{16841FAA-1191-E65E-8382-709F8AF349E9}"/>
              </a:ext>
            </a:extLst>
          </p:cNvPr>
          <p:cNvSpPr>
            <a:spLocks noGrp="1"/>
          </p:cNvSpPr>
          <p:nvPr>
            <p:ph type="body" sz="quarter" idx="17"/>
          </p:nvPr>
        </p:nvSpPr>
        <p:spPr>
          <a:xfrm>
            <a:off x="8379818" y="1600676"/>
            <a:ext cx="3807420" cy="4570809"/>
          </a:xfrm>
        </p:spPr>
        <p:txBody>
          <a:bodyPr/>
          <a:lstStyle/>
          <a:p>
            <a:r>
              <a:rPr lang="en-US" dirty="0"/>
              <a:t>All new design with two modes:</a:t>
            </a:r>
          </a:p>
          <a:p>
            <a:pPr lvl="1"/>
            <a:r>
              <a:rPr lang="en-US" dirty="0"/>
              <a:t>Embedded</a:t>
            </a:r>
          </a:p>
          <a:p>
            <a:pPr lvl="1"/>
            <a:r>
              <a:rPr lang="en-US" dirty="0"/>
              <a:t>External appliance cluster</a:t>
            </a:r>
            <a:br>
              <a:rPr lang="en-US" dirty="0"/>
            </a:br>
            <a:r>
              <a:rPr lang="en-US" dirty="0"/>
              <a:t>(supports multiple VCF instances)</a:t>
            </a:r>
          </a:p>
          <a:p>
            <a:r>
              <a:rPr lang="en-US" dirty="0"/>
              <a:t>Automatic configuration</a:t>
            </a:r>
          </a:p>
          <a:p>
            <a:pPr lvl="1"/>
            <a:r>
              <a:rPr lang="en-US" dirty="0"/>
              <a:t>vCenter, NSX, Ops, Automation</a:t>
            </a:r>
          </a:p>
          <a:p>
            <a:r>
              <a:rPr lang="en-US" dirty="0"/>
              <a:t>Supports modern and directory-based identity providers</a:t>
            </a:r>
          </a:p>
          <a:p>
            <a:pPr lvl="1"/>
            <a:r>
              <a:rPr lang="en-US" dirty="0"/>
              <a:t>SAML 2, OIDC, or AD/LDAP</a:t>
            </a:r>
          </a:p>
          <a:p>
            <a:r>
              <a:rPr lang="en-US" dirty="0"/>
              <a:t>Privileges are set for each VCF component according to user/group</a:t>
            </a:r>
          </a:p>
          <a:p>
            <a:r>
              <a:rPr lang="en-US" dirty="0"/>
              <a:t>No connector needed, since VIDB is inside the firewall</a:t>
            </a:r>
          </a:p>
          <a:p>
            <a:endParaRPr lang="en-US" dirty="0"/>
          </a:p>
        </p:txBody>
      </p:sp>
      <p:sp>
        <p:nvSpPr>
          <p:cNvPr id="53" name="Freeform 52">
            <a:extLst>
              <a:ext uri="{FF2B5EF4-FFF2-40B4-BE49-F238E27FC236}">
                <a16:creationId xmlns:a16="http://schemas.microsoft.com/office/drawing/2014/main" id="{B37842B0-AE8E-FC77-DE36-95E854107452}"/>
              </a:ext>
            </a:extLst>
          </p:cNvPr>
          <p:cNvSpPr/>
          <p:nvPr/>
        </p:nvSpPr>
        <p:spPr bwMode="gray">
          <a:xfrm rot="18543376" flipV="1">
            <a:off x="4430015" y="3091954"/>
            <a:ext cx="2118824" cy="2074183"/>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1316065 w 1362078"/>
              <a:gd name="connsiteY0" fmla="*/ 0 h 613758"/>
              <a:gd name="connsiteX1" fmla="*/ 428 w 1362078"/>
              <a:gd name="connsiteY1" fmla="*/ 613758 h 613758"/>
              <a:gd name="connsiteX0" fmla="*/ 1317084 w 1317084"/>
              <a:gd name="connsiteY0" fmla="*/ 0 h 613758"/>
              <a:gd name="connsiteX1" fmla="*/ 1447 w 1317084"/>
              <a:gd name="connsiteY1" fmla="*/ 613758 h 613758"/>
              <a:gd name="connsiteX0" fmla="*/ 1488844 w 1488844"/>
              <a:gd name="connsiteY0" fmla="*/ 0 h 613758"/>
              <a:gd name="connsiteX1" fmla="*/ 1084 w 1488844"/>
              <a:gd name="connsiteY1" fmla="*/ 613758 h 613758"/>
            </a:gdLst>
            <a:ahLst/>
            <a:cxnLst>
              <a:cxn ang="0">
                <a:pos x="connsiteX0" y="connsiteY0"/>
              </a:cxn>
              <a:cxn ang="0">
                <a:pos x="connsiteX1" y="connsiteY1"/>
              </a:cxn>
            </a:cxnLst>
            <a:rect l="l" t="t" r="r" b="b"/>
            <a:pathLst>
              <a:path w="1488844" h="613758">
                <a:moveTo>
                  <a:pt x="1488844" y="0"/>
                </a:moveTo>
                <a:cubicBezTo>
                  <a:pt x="616407" y="50394"/>
                  <a:pt x="-30122" y="369729"/>
                  <a:pt x="1084" y="61375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7" name="Freeform 56">
            <a:extLst>
              <a:ext uri="{FF2B5EF4-FFF2-40B4-BE49-F238E27FC236}">
                <a16:creationId xmlns:a16="http://schemas.microsoft.com/office/drawing/2014/main" id="{A0870581-3170-446E-BA87-699870DD6D60}"/>
              </a:ext>
            </a:extLst>
          </p:cNvPr>
          <p:cNvSpPr/>
          <p:nvPr/>
        </p:nvSpPr>
        <p:spPr bwMode="gray">
          <a:xfrm>
            <a:off x="1736798" y="4410440"/>
            <a:ext cx="1449896" cy="478699"/>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0 w 771346"/>
              <a:gd name="connsiteY0" fmla="*/ 0 h 818154"/>
              <a:gd name="connsiteX1" fmla="*/ 771346 w 771346"/>
              <a:gd name="connsiteY1" fmla="*/ 818154 h 818154"/>
              <a:gd name="connsiteX0" fmla="*/ 0 w 771346"/>
              <a:gd name="connsiteY0" fmla="*/ 0 h 818154"/>
              <a:gd name="connsiteX1" fmla="*/ 771346 w 771346"/>
              <a:gd name="connsiteY1" fmla="*/ 818154 h 818154"/>
              <a:gd name="connsiteX0" fmla="*/ 0 w 911196"/>
              <a:gd name="connsiteY0" fmla="*/ 0 h 796638"/>
              <a:gd name="connsiteX1" fmla="*/ 911196 w 911196"/>
              <a:gd name="connsiteY1" fmla="*/ 796638 h 796638"/>
              <a:gd name="connsiteX0" fmla="*/ 0 w 911196"/>
              <a:gd name="connsiteY0" fmla="*/ 0 h 796638"/>
              <a:gd name="connsiteX1" fmla="*/ 911196 w 911196"/>
              <a:gd name="connsiteY1" fmla="*/ 796638 h 796638"/>
              <a:gd name="connsiteX0" fmla="*/ 0 w 911196"/>
              <a:gd name="connsiteY0" fmla="*/ 0 h 828911"/>
              <a:gd name="connsiteX1" fmla="*/ 911196 w 911196"/>
              <a:gd name="connsiteY1" fmla="*/ 828911 h 828911"/>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857408"/>
              <a:gd name="connsiteY0" fmla="*/ 0 h 839668"/>
              <a:gd name="connsiteX1" fmla="*/ 857408 w 857408"/>
              <a:gd name="connsiteY1" fmla="*/ 839668 h 839668"/>
              <a:gd name="connsiteX0" fmla="*/ 0 w 857408"/>
              <a:gd name="connsiteY0" fmla="*/ 0 h 839668"/>
              <a:gd name="connsiteX1" fmla="*/ 857408 w 857408"/>
              <a:gd name="connsiteY1" fmla="*/ 839668 h 83966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878923"/>
              <a:gd name="connsiteY0" fmla="*/ 871017 h 900480"/>
              <a:gd name="connsiteX1" fmla="*/ 878923 w 878923"/>
              <a:gd name="connsiteY1" fmla="*/ 219 h 900480"/>
              <a:gd name="connsiteX0" fmla="*/ 0 w 911196"/>
              <a:gd name="connsiteY0" fmla="*/ 860262 h 889979"/>
              <a:gd name="connsiteX1" fmla="*/ 911196 w 911196"/>
              <a:gd name="connsiteY1" fmla="*/ 221 h 889979"/>
              <a:gd name="connsiteX0" fmla="*/ 0 w 911196"/>
              <a:gd name="connsiteY0" fmla="*/ 861498 h 861498"/>
              <a:gd name="connsiteX1" fmla="*/ 911196 w 911196"/>
              <a:gd name="connsiteY1" fmla="*/ 1457 h 861498"/>
              <a:gd name="connsiteX0" fmla="*/ 0 w 1470594"/>
              <a:gd name="connsiteY0" fmla="*/ 947084 h 947084"/>
              <a:gd name="connsiteX1" fmla="*/ 1470594 w 1470594"/>
              <a:gd name="connsiteY1" fmla="*/ 982 h 947084"/>
              <a:gd name="connsiteX0" fmla="*/ 0 w 1470594"/>
              <a:gd name="connsiteY0" fmla="*/ 946102 h 946102"/>
              <a:gd name="connsiteX1" fmla="*/ 1470594 w 1470594"/>
              <a:gd name="connsiteY1" fmla="*/ 0 h 946102"/>
            </a:gdLst>
            <a:ahLst/>
            <a:cxnLst>
              <a:cxn ang="0">
                <a:pos x="connsiteX0" y="connsiteY0"/>
              </a:cxn>
              <a:cxn ang="0">
                <a:pos x="connsiteX1" y="connsiteY1"/>
              </a:cxn>
            </a:cxnLst>
            <a:rect l="l" t="t" r="r" b="b"/>
            <a:pathLst>
              <a:path w="1470594" h="946102">
                <a:moveTo>
                  <a:pt x="0" y="946102"/>
                </a:moveTo>
                <a:cubicBezTo>
                  <a:pt x="558329" y="211187"/>
                  <a:pt x="686353" y="35670"/>
                  <a:pt x="1470594" y="0"/>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8" name="Freeform 57">
            <a:extLst>
              <a:ext uri="{FF2B5EF4-FFF2-40B4-BE49-F238E27FC236}">
                <a16:creationId xmlns:a16="http://schemas.microsoft.com/office/drawing/2014/main" id="{3E116D3C-D225-29D9-5D6A-2B233964E119}"/>
              </a:ext>
            </a:extLst>
          </p:cNvPr>
          <p:cNvSpPr/>
          <p:nvPr/>
        </p:nvSpPr>
        <p:spPr bwMode="gray">
          <a:xfrm>
            <a:off x="2526127" y="4386278"/>
            <a:ext cx="812518" cy="440280"/>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0 w 771346"/>
              <a:gd name="connsiteY0" fmla="*/ 0 h 818154"/>
              <a:gd name="connsiteX1" fmla="*/ 771346 w 771346"/>
              <a:gd name="connsiteY1" fmla="*/ 818154 h 818154"/>
              <a:gd name="connsiteX0" fmla="*/ 0 w 771346"/>
              <a:gd name="connsiteY0" fmla="*/ 0 h 818154"/>
              <a:gd name="connsiteX1" fmla="*/ 771346 w 771346"/>
              <a:gd name="connsiteY1" fmla="*/ 818154 h 818154"/>
              <a:gd name="connsiteX0" fmla="*/ 0 w 911196"/>
              <a:gd name="connsiteY0" fmla="*/ 0 h 796638"/>
              <a:gd name="connsiteX1" fmla="*/ 911196 w 911196"/>
              <a:gd name="connsiteY1" fmla="*/ 796638 h 796638"/>
              <a:gd name="connsiteX0" fmla="*/ 0 w 911196"/>
              <a:gd name="connsiteY0" fmla="*/ 0 h 796638"/>
              <a:gd name="connsiteX1" fmla="*/ 911196 w 911196"/>
              <a:gd name="connsiteY1" fmla="*/ 796638 h 796638"/>
              <a:gd name="connsiteX0" fmla="*/ 0 w 911196"/>
              <a:gd name="connsiteY0" fmla="*/ 0 h 828911"/>
              <a:gd name="connsiteX1" fmla="*/ 911196 w 911196"/>
              <a:gd name="connsiteY1" fmla="*/ 828911 h 828911"/>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857408"/>
              <a:gd name="connsiteY0" fmla="*/ 0 h 839668"/>
              <a:gd name="connsiteX1" fmla="*/ 857408 w 857408"/>
              <a:gd name="connsiteY1" fmla="*/ 839668 h 839668"/>
              <a:gd name="connsiteX0" fmla="*/ 0 w 857408"/>
              <a:gd name="connsiteY0" fmla="*/ 0 h 839668"/>
              <a:gd name="connsiteX1" fmla="*/ 857408 w 857408"/>
              <a:gd name="connsiteY1" fmla="*/ 839668 h 83966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878923"/>
              <a:gd name="connsiteY0" fmla="*/ 871017 h 900480"/>
              <a:gd name="connsiteX1" fmla="*/ 878923 w 878923"/>
              <a:gd name="connsiteY1" fmla="*/ 219 h 900480"/>
              <a:gd name="connsiteX0" fmla="*/ 0 w 911196"/>
              <a:gd name="connsiteY0" fmla="*/ 860262 h 889979"/>
              <a:gd name="connsiteX1" fmla="*/ 911196 w 911196"/>
              <a:gd name="connsiteY1" fmla="*/ 221 h 889979"/>
              <a:gd name="connsiteX0" fmla="*/ 0 w 911196"/>
              <a:gd name="connsiteY0" fmla="*/ 861498 h 861498"/>
              <a:gd name="connsiteX1" fmla="*/ 911196 w 911196"/>
              <a:gd name="connsiteY1" fmla="*/ 1457 h 861498"/>
              <a:gd name="connsiteX0" fmla="*/ 0 w 1470594"/>
              <a:gd name="connsiteY0" fmla="*/ 947084 h 947084"/>
              <a:gd name="connsiteX1" fmla="*/ 1470594 w 1470594"/>
              <a:gd name="connsiteY1" fmla="*/ 982 h 947084"/>
              <a:gd name="connsiteX0" fmla="*/ 0 w 1470594"/>
              <a:gd name="connsiteY0" fmla="*/ 946102 h 946102"/>
              <a:gd name="connsiteX1" fmla="*/ 1470594 w 1470594"/>
              <a:gd name="connsiteY1" fmla="*/ 0 h 946102"/>
              <a:gd name="connsiteX0" fmla="*/ 0 w 663770"/>
              <a:gd name="connsiteY0" fmla="*/ 817010 h 817010"/>
              <a:gd name="connsiteX1" fmla="*/ 663770 w 663770"/>
              <a:gd name="connsiteY1" fmla="*/ 0 h 817010"/>
              <a:gd name="connsiteX0" fmla="*/ 0 w 663777"/>
              <a:gd name="connsiteY0" fmla="*/ 817010 h 817010"/>
              <a:gd name="connsiteX1" fmla="*/ 663770 w 663777"/>
              <a:gd name="connsiteY1" fmla="*/ 0 h 817010"/>
              <a:gd name="connsiteX0" fmla="*/ 0 w 663773"/>
              <a:gd name="connsiteY0" fmla="*/ 817010 h 817010"/>
              <a:gd name="connsiteX1" fmla="*/ 663770 w 663773"/>
              <a:gd name="connsiteY1" fmla="*/ 0 h 817010"/>
              <a:gd name="connsiteX0" fmla="*/ 0 w 470142"/>
              <a:gd name="connsiteY0" fmla="*/ 784737 h 784737"/>
              <a:gd name="connsiteX1" fmla="*/ 470133 w 470142"/>
              <a:gd name="connsiteY1" fmla="*/ 0 h 784737"/>
              <a:gd name="connsiteX0" fmla="*/ 0 w 470133"/>
              <a:gd name="connsiteY0" fmla="*/ 784737 h 784737"/>
              <a:gd name="connsiteX1" fmla="*/ 470133 w 470133"/>
              <a:gd name="connsiteY1" fmla="*/ 0 h 784737"/>
            </a:gdLst>
            <a:ahLst/>
            <a:cxnLst>
              <a:cxn ang="0">
                <a:pos x="connsiteX0" y="connsiteY0"/>
              </a:cxn>
              <a:cxn ang="0">
                <a:pos x="connsiteX1" y="connsiteY1"/>
              </a:cxn>
            </a:cxnLst>
            <a:rect l="l" t="t" r="r" b="b"/>
            <a:pathLst>
              <a:path w="470133" h="784737">
                <a:moveTo>
                  <a:pt x="0" y="784737"/>
                </a:moveTo>
                <a:cubicBezTo>
                  <a:pt x="386206" y="566189"/>
                  <a:pt x="438927" y="498249"/>
                  <a:pt x="470133" y="0"/>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9" name="Freeform 58">
            <a:extLst>
              <a:ext uri="{FF2B5EF4-FFF2-40B4-BE49-F238E27FC236}">
                <a16:creationId xmlns:a16="http://schemas.microsoft.com/office/drawing/2014/main" id="{A281DE26-2FCF-0E87-22F7-B09CD5990898}"/>
              </a:ext>
            </a:extLst>
          </p:cNvPr>
          <p:cNvSpPr/>
          <p:nvPr/>
        </p:nvSpPr>
        <p:spPr bwMode="gray">
          <a:xfrm flipH="1">
            <a:off x="3391143" y="4386276"/>
            <a:ext cx="113423" cy="440281"/>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0 w 771346"/>
              <a:gd name="connsiteY0" fmla="*/ 0 h 818154"/>
              <a:gd name="connsiteX1" fmla="*/ 771346 w 771346"/>
              <a:gd name="connsiteY1" fmla="*/ 818154 h 818154"/>
              <a:gd name="connsiteX0" fmla="*/ 0 w 771346"/>
              <a:gd name="connsiteY0" fmla="*/ 0 h 818154"/>
              <a:gd name="connsiteX1" fmla="*/ 771346 w 771346"/>
              <a:gd name="connsiteY1" fmla="*/ 818154 h 818154"/>
              <a:gd name="connsiteX0" fmla="*/ 0 w 911196"/>
              <a:gd name="connsiteY0" fmla="*/ 0 h 796638"/>
              <a:gd name="connsiteX1" fmla="*/ 911196 w 911196"/>
              <a:gd name="connsiteY1" fmla="*/ 796638 h 796638"/>
              <a:gd name="connsiteX0" fmla="*/ 0 w 911196"/>
              <a:gd name="connsiteY0" fmla="*/ 0 h 796638"/>
              <a:gd name="connsiteX1" fmla="*/ 911196 w 911196"/>
              <a:gd name="connsiteY1" fmla="*/ 796638 h 796638"/>
              <a:gd name="connsiteX0" fmla="*/ 0 w 911196"/>
              <a:gd name="connsiteY0" fmla="*/ 0 h 828911"/>
              <a:gd name="connsiteX1" fmla="*/ 911196 w 911196"/>
              <a:gd name="connsiteY1" fmla="*/ 828911 h 828911"/>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857408"/>
              <a:gd name="connsiteY0" fmla="*/ 0 h 839668"/>
              <a:gd name="connsiteX1" fmla="*/ 857408 w 857408"/>
              <a:gd name="connsiteY1" fmla="*/ 839668 h 839668"/>
              <a:gd name="connsiteX0" fmla="*/ 0 w 857408"/>
              <a:gd name="connsiteY0" fmla="*/ 0 h 839668"/>
              <a:gd name="connsiteX1" fmla="*/ 857408 w 857408"/>
              <a:gd name="connsiteY1" fmla="*/ 839668 h 83966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878923"/>
              <a:gd name="connsiteY0" fmla="*/ 871017 h 900480"/>
              <a:gd name="connsiteX1" fmla="*/ 878923 w 878923"/>
              <a:gd name="connsiteY1" fmla="*/ 219 h 900480"/>
              <a:gd name="connsiteX0" fmla="*/ 0 w 911196"/>
              <a:gd name="connsiteY0" fmla="*/ 860262 h 889979"/>
              <a:gd name="connsiteX1" fmla="*/ 911196 w 911196"/>
              <a:gd name="connsiteY1" fmla="*/ 221 h 889979"/>
              <a:gd name="connsiteX0" fmla="*/ 0 w 911196"/>
              <a:gd name="connsiteY0" fmla="*/ 861498 h 861498"/>
              <a:gd name="connsiteX1" fmla="*/ 911196 w 911196"/>
              <a:gd name="connsiteY1" fmla="*/ 1457 h 861498"/>
              <a:gd name="connsiteX0" fmla="*/ 0 w 1470594"/>
              <a:gd name="connsiteY0" fmla="*/ 947084 h 947084"/>
              <a:gd name="connsiteX1" fmla="*/ 1470594 w 1470594"/>
              <a:gd name="connsiteY1" fmla="*/ 982 h 947084"/>
              <a:gd name="connsiteX0" fmla="*/ 0 w 1470594"/>
              <a:gd name="connsiteY0" fmla="*/ 946102 h 946102"/>
              <a:gd name="connsiteX1" fmla="*/ 1470594 w 1470594"/>
              <a:gd name="connsiteY1" fmla="*/ 0 h 946102"/>
              <a:gd name="connsiteX0" fmla="*/ 0 w 663770"/>
              <a:gd name="connsiteY0" fmla="*/ 817010 h 817010"/>
              <a:gd name="connsiteX1" fmla="*/ 663770 w 663770"/>
              <a:gd name="connsiteY1" fmla="*/ 0 h 817010"/>
              <a:gd name="connsiteX0" fmla="*/ 0 w 663777"/>
              <a:gd name="connsiteY0" fmla="*/ 817010 h 817010"/>
              <a:gd name="connsiteX1" fmla="*/ 663770 w 663777"/>
              <a:gd name="connsiteY1" fmla="*/ 0 h 817010"/>
              <a:gd name="connsiteX0" fmla="*/ 0 w 663773"/>
              <a:gd name="connsiteY0" fmla="*/ 817010 h 817010"/>
              <a:gd name="connsiteX1" fmla="*/ 663770 w 663773"/>
              <a:gd name="connsiteY1" fmla="*/ 0 h 817010"/>
              <a:gd name="connsiteX0" fmla="*/ 0 w 470142"/>
              <a:gd name="connsiteY0" fmla="*/ 784737 h 784737"/>
              <a:gd name="connsiteX1" fmla="*/ 470133 w 470142"/>
              <a:gd name="connsiteY1" fmla="*/ 0 h 784737"/>
              <a:gd name="connsiteX0" fmla="*/ 0 w 470133"/>
              <a:gd name="connsiteY0" fmla="*/ 784737 h 784737"/>
              <a:gd name="connsiteX1" fmla="*/ 470133 w 470133"/>
              <a:gd name="connsiteY1" fmla="*/ 0 h 784737"/>
              <a:gd name="connsiteX0" fmla="*/ 1025679 w 1091429"/>
              <a:gd name="connsiteY0" fmla="*/ 1021406 h 1021406"/>
              <a:gd name="connsiteX1" fmla="*/ 499 w 1091429"/>
              <a:gd name="connsiteY1" fmla="*/ 0 h 1021406"/>
              <a:gd name="connsiteX0" fmla="*/ 649336 w 733748"/>
              <a:gd name="connsiteY0" fmla="*/ 763222 h 763222"/>
              <a:gd name="connsiteX1" fmla="*/ 673 w 733748"/>
              <a:gd name="connsiteY1" fmla="*/ 0 h 763222"/>
              <a:gd name="connsiteX0" fmla="*/ 649917 w 649917"/>
              <a:gd name="connsiteY0" fmla="*/ 763222 h 763222"/>
              <a:gd name="connsiteX1" fmla="*/ 1254 w 649917"/>
              <a:gd name="connsiteY1" fmla="*/ 0 h 763222"/>
              <a:gd name="connsiteX0" fmla="*/ 656702 w 656702"/>
              <a:gd name="connsiteY0" fmla="*/ 763222 h 763222"/>
              <a:gd name="connsiteX1" fmla="*/ 8039 w 656702"/>
              <a:gd name="connsiteY1" fmla="*/ 0 h 763222"/>
            </a:gdLst>
            <a:ahLst/>
            <a:cxnLst>
              <a:cxn ang="0">
                <a:pos x="connsiteX0" y="connsiteY0"/>
              </a:cxn>
              <a:cxn ang="0">
                <a:pos x="connsiteX1" y="connsiteY1"/>
              </a:cxn>
            </a:cxnLst>
            <a:rect l="l" t="t" r="r" b="b"/>
            <a:pathLst>
              <a:path w="656702" h="763222">
                <a:moveTo>
                  <a:pt x="656702" y="763222"/>
                </a:moveTo>
                <a:cubicBezTo>
                  <a:pt x="537298" y="458613"/>
                  <a:pt x="-76955" y="573552"/>
                  <a:pt x="8039" y="0"/>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6" name="Google Shape;1494;p7">
            <a:extLst>
              <a:ext uri="{FF2B5EF4-FFF2-40B4-BE49-F238E27FC236}">
                <a16:creationId xmlns:a16="http://schemas.microsoft.com/office/drawing/2014/main" id="{AB6A0872-18DC-DF1A-4B99-C00EC01F96D7}"/>
              </a:ext>
            </a:extLst>
          </p:cNvPr>
          <p:cNvSpPr/>
          <p:nvPr/>
        </p:nvSpPr>
        <p:spPr>
          <a:xfrm>
            <a:off x="1169410" y="2416542"/>
            <a:ext cx="2636395" cy="465556"/>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dirty="0">
                <a:ln>
                  <a:noFill/>
                </a:ln>
                <a:solidFill>
                  <a:srgbClr val="FFFFFF"/>
                </a:solidFill>
                <a:effectLst/>
                <a:uLnTx/>
                <a:uFillTx/>
                <a:latin typeface="Arial"/>
                <a:ea typeface="Arial"/>
                <a:cs typeface="Arial"/>
                <a:sym typeface="Arial"/>
              </a:rPr>
              <a:t>VCF Automation </a:t>
            </a:r>
            <a:endParaRPr kumimoji="0" sz="11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2" name="Google Shape;1495;p7">
            <a:extLst>
              <a:ext uri="{FF2B5EF4-FFF2-40B4-BE49-F238E27FC236}">
                <a16:creationId xmlns:a16="http://schemas.microsoft.com/office/drawing/2014/main" id="{79888B61-B06B-4707-7458-08F28A3F1397}"/>
              </a:ext>
            </a:extLst>
          </p:cNvPr>
          <p:cNvSpPr/>
          <p:nvPr/>
        </p:nvSpPr>
        <p:spPr>
          <a:xfrm>
            <a:off x="1169412" y="3543324"/>
            <a:ext cx="1230213" cy="468929"/>
          </a:xfrm>
          <a:prstGeom prst="roundRect">
            <a:avLst>
              <a:gd name="adj" fmla="val 6349"/>
            </a:avLst>
          </a:prstGeom>
          <a:solidFill>
            <a:schemeClr val="accent5"/>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11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3" name="Google Shape;1492;p7">
            <a:extLst>
              <a:ext uri="{FF2B5EF4-FFF2-40B4-BE49-F238E27FC236}">
                <a16:creationId xmlns:a16="http://schemas.microsoft.com/office/drawing/2014/main" id="{A944149B-E5CE-0468-1675-B25EEE72FC21}"/>
              </a:ext>
            </a:extLst>
          </p:cNvPr>
          <p:cNvSpPr/>
          <p:nvPr/>
        </p:nvSpPr>
        <p:spPr>
          <a:xfrm>
            <a:off x="2704092" y="3594078"/>
            <a:ext cx="1239871" cy="719335"/>
          </a:xfrm>
          <a:prstGeom prst="roundRect">
            <a:avLst>
              <a:gd name="adj" fmla="val 6349"/>
            </a:avLst>
          </a:prstGeom>
          <a:solidFill>
            <a:schemeClr val="accent2"/>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endParaRPr kumimoji="0" lang="en-US" sz="1100" b="1" i="0" u="none" strike="noStrike" kern="1200" cap="none" spc="0" normalizeH="0" baseline="0" noProof="0" dirty="0">
              <a:ln>
                <a:noFill/>
              </a:ln>
              <a:solidFill>
                <a:srgbClr val="FFFFFF"/>
              </a:solidFill>
              <a:effectLst/>
              <a:uLnTx/>
              <a:uFillTx/>
              <a:latin typeface="Arial"/>
              <a:ea typeface="Arial"/>
              <a:cs typeface="Arial"/>
              <a:sym typeface="Arial"/>
            </a:endParaRPr>
          </a:p>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endParaRPr kumimoji="0" lang="en-US" sz="1100" b="1" i="0" u="none" strike="noStrike" kern="1200" cap="none" spc="0" normalizeH="0" baseline="0" noProof="0" dirty="0">
              <a:ln>
                <a:noFill/>
              </a:ln>
              <a:solidFill>
                <a:srgbClr val="FFFFFF"/>
              </a:solidFill>
              <a:effectLst/>
              <a:uLnTx/>
              <a:uFillTx/>
              <a:latin typeface="Arial"/>
              <a:ea typeface="Arial"/>
              <a:cs typeface="Arial"/>
              <a:sym typeface="Arial"/>
            </a:endParaRPr>
          </a:p>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endParaRPr kumimoji="0" sz="11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5" name="Google Shape;1490;p7">
            <a:extLst>
              <a:ext uri="{FF2B5EF4-FFF2-40B4-BE49-F238E27FC236}">
                <a16:creationId xmlns:a16="http://schemas.microsoft.com/office/drawing/2014/main" id="{9524799A-B793-472F-CFFC-39A89E904AB1}"/>
              </a:ext>
            </a:extLst>
          </p:cNvPr>
          <p:cNvSpPr/>
          <p:nvPr/>
        </p:nvSpPr>
        <p:spPr>
          <a:xfrm>
            <a:off x="1209402" y="1911886"/>
            <a:ext cx="2596404" cy="392038"/>
          </a:xfrm>
          <a:prstGeom prst="roundRect">
            <a:avLst>
              <a:gd name="adj" fmla="val 50000"/>
            </a:avLst>
          </a:prstGeom>
          <a:solidFill>
            <a:schemeClr val="lt1"/>
          </a:solidFill>
          <a:ln w="25400" cap="flat" cmpd="sng">
            <a:gradFill>
              <a:gsLst>
                <a:gs pos="0">
                  <a:schemeClr val="accent5"/>
                </a:gs>
                <a:gs pos="100000">
                  <a:schemeClr val="accent2"/>
                </a:gs>
                <a:gs pos="100000">
                  <a:schemeClr val="accent2"/>
                </a:gs>
                <a:gs pos="100000">
                  <a:schemeClr val="accent1">
                    <a:lumMod val="30000"/>
                    <a:lumOff val="70000"/>
                  </a:schemeClr>
                </a:gs>
              </a:gsLst>
              <a:lin ang="21594000" scaled="0"/>
            </a:gra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0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Management Domain</a:t>
            </a:r>
            <a:endParaRPr kumimoji="0" sz="100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66" name="Google Shape;1491;p7">
            <a:extLst>
              <a:ext uri="{FF2B5EF4-FFF2-40B4-BE49-F238E27FC236}">
                <a16:creationId xmlns:a16="http://schemas.microsoft.com/office/drawing/2014/main" id="{43031834-59B2-67E7-DB71-B83A104A98E9}"/>
              </a:ext>
            </a:extLst>
          </p:cNvPr>
          <p:cNvPicPr preferRelativeResize="0">
            <a:picLocks noChangeAspect="1"/>
          </p:cNvPicPr>
          <p:nvPr/>
        </p:nvPicPr>
        <p:blipFill rotWithShape="1">
          <a:blip r:embed="rId3">
            <a:alphaModFix/>
          </a:blip>
          <a:srcRect/>
          <a:stretch/>
        </p:blipFill>
        <p:spPr>
          <a:xfrm>
            <a:off x="1505593" y="1941094"/>
            <a:ext cx="297628" cy="336803"/>
          </a:xfrm>
          <a:prstGeom prst="rect">
            <a:avLst/>
          </a:prstGeom>
          <a:noFill/>
          <a:ln>
            <a:noFill/>
          </a:ln>
        </p:spPr>
      </p:pic>
      <p:sp>
        <p:nvSpPr>
          <p:cNvPr id="67" name="Google Shape;1492;p7">
            <a:extLst>
              <a:ext uri="{FF2B5EF4-FFF2-40B4-BE49-F238E27FC236}">
                <a16:creationId xmlns:a16="http://schemas.microsoft.com/office/drawing/2014/main" id="{ABC6C12E-406D-4BDE-432A-86ABA689432B}"/>
              </a:ext>
            </a:extLst>
          </p:cNvPr>
          <p:cNvSpPr/>
          <p:nvPr/>
        </p:nvSpPr>
        <p:spPr>
          <a:xfrm>
            <a:off x="2820779" y="3944111"/>
            <a:ext cx="992349" cy="297881"/>
          </a:xfrm>
          <a:prstGeom prst="roundRect">
            <a:avLst>
              <a:gd name="adj" fmla="val 6349"/>
            </a:avLst>
          </a:prstGeom>
          <a:solidFill>
            <a:schemeClr val="lt1"/>
          </a:solidFill>
          <a:ln>
            <a:solidFill>
              <a:schemeClr val="accent2"/>
            </a:soli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000" b="1" i="0" u="none" strike="noStrike" kern="1200" cap="none" spc="0" normalizeH="0" baseline="0" noProof="0" dirty="0">
                <a:ln>
                  <a:noFill/>
                </a:ln>
                <a:solidFill>
                  <a:srgbClr val="005C8A"/>
                </a:solidFill>
                <a:effectLst/>
                <a:uLnTx/>
                <a:uFillTx/>
                <a:latin typeface="Arial"/>
                <a:ea typeface="Arial"/>
                <a:cs typeface="Arial"/>
                <a:sym typeface="Arial"/>
              </a:rPr>
              <a:t>VIDB</a:t>
            </a:r>
            <a:endParaRPr kumimoji="0" sz="10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8" name="Google Shape;1479;p7">
            <a:extLst>
              <a:ext uri="{FF2B5EF4-FFF2-40B4-BE49-F238E27FC236}">
                <a16:creationId xmlns:a16="http://schemas.microsoft.com/office/drawing/2014/main" id="{88E135D6-6868-1C2D-62DB-BEBDEBF7C2D7}"/>
              </a:ext>
            </a:extLst>
          </p:cNvPr>
          <p:cNvSpPr/>
          <p:nvPr/>
        </p:nvSpPr>
        <p:spPr>
          <a:xfrm>
            <a:off x="1010622" y="4848071"/>
            <a:ext cx="2965881" cy="957449"/>
          </a:xfrm>
          <a:prstGeom prst="roundRect">
            <a:avLst>
              <a:gd name="adj" fmla="val 2356"/>
            </a:avLst>
          </a:prstGeom>
          <a:solidFill>
            <a:srgbClr val="E8E8EA"/>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9" name="Rectangle 68">
            <a:extLst>
              <a:ext uri="{FF2B5EF4-FFF2-40B4-BE49-F238E27FC236}">
                <a16:creationId xmlns:a16="http://schemas.microsoft.com/office/drawing/2014/main" id="{B6BE23B5-6230-D87F-94FF-7E61145E8644}"/>
              </a:ext>
            </a:extLst>
          </p:cNvPr>
          <p:cNvSpPr/>
          <p:nvPr/>
        </p:nvSpPr>
        <p:spPr bwMode="gray">
          <a:xfrm>
            <a:off x="1575642" y="5685590"/>
            <a:ext cx="1815502" cy="228540"/>
          </a:xfrm>
          <a:prstGeom prst="rect">
            <a:avLst/>
          </a:prstGeom>
          <a:solidFill>
            <a:schemeClr val="bg1"/>
          </a:solidFill>
          <a:ln w="25400">
            <a:solidFill>
              <a:schemeClr val="bg2">
                <a:lumMod val="5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rPr>
              <a:t>OpenID Connect Clients</a:t>
            </a:r>
          </a:p>
        </p:txBody>
      </p:sp>
      <p:sp>
        <p:nvSpPr>
          <p:cNvPr id="70" name="Google Shape;1492;p7">
            <a:extLst>
              <a:ext uri="{FF2B5EF4-FFF2-40B4-BE49-F238E27FC236}">
                <a16:creationId xmlns:a16="http://schemas.microsoft.com/office/drawing/2014/main" id="{9D031A83-555A-C3D1-2967-DCA1AF119836}"/>
              </a:ext>
            </a:extLst>
          </p:cNvPr>
          <p:cNvSpPr/>
          <p:nvPr/>
        </p:nvSpPr>
        <p:spPr>
          <a:xfrm>
            <a:off x="1177213" y="4958715"/>
            <a:ext cx="803833" cy="640395"/>
          </a:xfrm>
          <a:prstGeom prst="roundRect">
            <a:avLst>
              <a:gd name="adj" fmla="val 6349"/>
            </a:avLst>
          </a:prstGeom>
          <a:solidFill>
            <a:schemeClr val="lt1"/>
          </a:solidFill>
          <a:ln>
            <a:solidFill>
              <a:schemeClr val="accent2"/>
            </a:soli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000" b="1" i="0" u="none" strike="noStrike" kern="1200" cap="none" spc="0" normalizeH="0" baseline="0" noProof="0" dirty="0">
                <a:ln>
                  <a:noFill/>
                </a:ln>
                <a:solidFill>
                  <a:srgbClr val="005C8A"/>
                </a:solidFill>
                <a:effectLst/>
                <a:uLnTx/>
                <a:uFillTx/>
                <a:latin typeface="Arial"/>
                <a:ea typeface="Arial"/>
                <a:cs typeface="Arial"/>
                <a:sym typeface="Arial"/>
              </a:rPr>
              <a:t>VCF Ops for Networks</a:t>
            </a:r>
            <a:endParaRPr kumimoji="0" sz="10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71" name="Google Shape;1492;p7">
            <a:extLst>
              <a:ext uri="{FF2B5EF4-FFF2-40B4-BE49-F238E27FC236}">
                <a16:creationId xmlns:a16="http://schemas.microsoft.com/office/drawing/2014/main" id="{E8B24148-12FD-F4F4-D2BD-5A5AE02692AB}"/>
              </a:ext>
            </a:extLst>
          </p:cNvPr>
          <p:cNvSpPr/>
          <p:nvPr/>
        </p:nvSpPr>
        <p:spPr>
          <a:xfrm>
            <a:off x="2107030" y="4956279"/>
            <a:ext cx="765818" cy="640395"/>
          </a:xfrm>
          <a:prstGeom prst="roundRect">
            <a:avLst>
              <a:gd name="adj" fmla="val 6349"/>
            </a:avLst>
          </a:prstGeom>
          <a:solidFill>
            <a:schemeClr val="lt1"/>
          </a:solidFill>
          <a:ln>
            <a:solidFill>
              <a:schemeClr val="accent2"/>
            </a:soli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000" b="1" i="0" u="none" strike="noStrike" kern="1200" cap="none" spc="0" normalizeH="0" baseline="0" noProof="0" dirty="0">
                <a:ln>
                  <a:noFill/>
                </a:ln>
                <a:solidFill>
                  <a:srgbClr val="005C8A"/>
                </a:solidFill>
                <a:effectLst/>
                <a:uLnTx/>
                <a:uFillTx/>
                <a:latin typeface="Arial"/>
                <a:ea typeface="Arial"/>
                <a:cs typeface="Arial"/>
                <a:sym typeface="Arial"/>
              </a:rPr>
              <a:t>VCF HCX</a:t>
            </a:r>
            <a:endParaRPr kumimoji="0" sz="10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72" name="Google Shape;1492;p7">
            <a:extLst>
              <a:ext uri="{FF2B5EF4-FFF2-40B4-BE49-F238E27FC236}">
                <a16:creationId xmlns:a16="http://schemas.microsoft.com/office/drawing/2014/main" id="{4FA5A743-7AEA-D09A-CAB9-4F6DDD42974D}"/>
              </a:ext>
            </a:extLst>
          </p:cNvPr>
          <p:cNvSpPr/>
          <p:nvPr/>
        </p:nvSpPr>
        <p:spPr>
          <a:xfrm>
            <a:off x="2998830" y="4957606"/>
            <a:ext cx="803833" cy="640395"/>
          </a:xfrm>
          <a:prstGeom prst="roundRect">
            <a:avLst>
              <a:gd name="adj" fmla="val 6349"/>
            </a:avLst>
          </a:prstGeom>
          <a:solidFill>
            <a:schemeClr val="lt1"/>
          </a:solidFill>
          <a:ln>
            <a:solidFill>
              <a:schemeClr val="accent2"/>
            </a:solid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000" b="1" i="0" u="none" strike="noStrike" kern="1200" cap="none" spc="0" normalizeH="0" baseline="0" noProof="0" dirty="0">
                <a:ln>
                  <a:noFill/>
                </a:ln>
                <a:solidFill>
                  <a:srgbClr val="005C8A"/>
                </a:solidFill>
                <a:effectLst/>
                <a:uLnTx/>
                <a:uFillTx/>
                <a:latin typeface="Arial"/>
                <a:ea typeface="Arial"/>
                <a:cs typeface="Arial"/>
                <a:sym typeface="Arial"/>
              </a:rPr>
              <a:t>VCF Ops for Logs</a:t>
            </a:r>
            <a:endParaRPr kumimoji="0" sz="10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79" name="Google Shape;1494;p7">
            <a:extLst>
              <a:ext uri="{FF2B5EF4-FFF2-40B4-BE49-F238E27FC236}">
                <a16:creationId xmlns:a16="http://schemas.microsoft.com/office/drawing/2014/main" id="{820778BC-9F2B-2D84-C926-77CFA5F5201E}"/>
              </a:ext>
            </a:extLst>
          </p:cNvPr>
          <p:cNvSpPr/>
          <p:nvPr/>
        </p:nvSpPr>
        <p:spPr>
          <a:xfrm>
            <a:off x="4950286" y="3459391"/>
            <a:ext cx="1228943" cy="466942"/>
          </a:xfrm>
          <a:prstGeom prst="roundRect">
            <a:avLst>
              <a:gd name="adj" fmla="val 6349"/>
            </a:avLst>
          </a:prstGeom>
          <a:gradFill>
            <a:gsLst>
              <a:gs pos="0">
                <a:schemeClr val="accent3"/>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dirty="0">
                <a:ln>
                  <a:noFill/>
                </a:ln>
                <a:solidFill>
                  <a:srgbClr val="FFFFFF"/>
                </a:solidFill>
                <a:effectLst/>
                <a:uLnTx/>
                <a:uFillTx/>
                <a:latin typeface="Arial"/>
                <a:ea typeface="Arial"/>
                <a:cs typeface="Arial"/>
                <a:sym typeface="Arial"/>
              </a:rPr>
              <a:t>vCenter Server</a:t>
            </a:r>
            <a:endParaRPr kumimoji="0" sz="11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0" name="Google Shape;1494;p7">
            <a:extLst>
              <a:ext uri="{FF2B5EF4-FFF2-40B4-BE49-F238E27FC236}">
                <a16:creationId xmlns:a16="http://schemas.microsoft.com/office/drawing/2014/main" id="{16486F43-55FC-C95D-07A2-AB2C56C453AC}"/>
              </a:ext>
            </a:extLst>
          </p:cNvPr>
          <p:cNvSpPr/>
          <p:nvPr/>
        </p:nvSpPr>
        <p:spPr>
          <a:xfrm>
            <a:off x="1169410" y="2970125"/>
            <a:ext cx="2636395" cy="465556"/>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dirty="0">
                <a:ln>
                  <a:noFill/>
                </a:ln>
                <a:solidFill>
                  <a:srgbClr val="FFFFFF"/>
                </a:solidFill>
                <a:effectLst/>
                <a:uLnTx/>
                <a:uFillTx/>
                <a:latin typeface="Arial"/>
                <a:ea typeface="Arial"/>
                <a:cs typeface="Arial"/>
                <a:sym typeface="Arial"/>
              </a:rPr>
              <a:t>VCF Operations</a:t>
            </a:r>
            <a:endParaRPr kumimoji="0" sz="11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2" name="Google Shape;1495;p7">
            <a:extLst>
              <a:ext uri="{FF2B5EF4-FFF2-40B4-BE49-F238E27FC236}">
                <a16:creationId xmlns:a16="http://schemas.microsoft.com/office/drawing/2014/main" id="{2500E4A4-2756-BA82-52E8-7E02245BB3A3}"/>
              </a:ext>
            </a:extLst>
          </p:cNvPr>
          <p:cNvSpPr/>
          <p:nvPr/>
        </p:nvSpPr>
        <p:spPr>
          <a:xfrm>
            <a:off x="6291725" y="3457406"/>
            <a:ext cx="1230213" cy="468929"/>
          </a:xfrm>
          <a:prstGeom prst="roundRect">
            <a:avLst>
              <a:gd name="adj" fmla="val 6349"/>
            </a:avLst>
          </a:prstGeom>
          <a:solidFill>
            <a:schemeClr val="accent1"/>
          </a:solidFill>
          <a:ln>
            <a:noFill/>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800"/>
              <a:buFontTx/>
              <a:buNone/>
              <a:tabLst/>
              <a:defRPr/>
            </a:pPr>
            <a:r>
              <a:rPr kumimoji="0" lang="en-US" sz="110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11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83" name="Google Shape;1490;p7">
            <a:extLst>
              <a:ext uri="{FF2B5EF4-FFF2-40B4-BE49-F238E27FC236}">
                <a16:creationId xmlns:a16="http://schemas.microsoft.com/office/drawing/2014/main" id="{EE3EB222-C5F8-3A37-6BD7-00F578BA140C}"/>
              </a:ext>
            </a:extLst>
          </p:cNvPr>
          <p:cNvSpPr/>
          <p:nvPr/>
        </p:nvSpPr>
        <p:spPr>
          <a:xfrm>
            <a:off x="4922580" y="2971653"/>
            <a:ext cx="2596404" cy="392038"/>
          </a:xfrm>
          <a:prstGeom prst="roundRect">
            <a:avLst>
              <a:gd name="adj" fmla="val 50000"/>
            </a:avLst>
          </a:prstGeom>
          <a:solidFill>
            <a:schemeClr val="lt1"/>
          </a:solidFill>
          <a:ln w="25400" cap="flat" cmpd="sng">
            <a:gradFill>
              <a:gsLst>
                <a:gs pos="0">
                  <a:schemeClr val="accent5"/>
                </a:gs>
                <a:gs pos="100000">
                  <a:schemeClr val="accent2"/>
                </a:gs>
                <a:gs pos="100000">
                  <a:schemeClr val="accent2"/>
                </a:gs>
                <a:gs pos="100000">
                  <a:schemeClr val="accent1">
                    <a:lumMod val="30000"/>
                    <a:lumOff val="70000"/>
                  </a:schemeClr>
                </a:gs>
              </a:gsLst>
              <a:lin ang="21594000" scaled="0"/>
            </a:gradFill>
            <a:prstDash val="solid"/>
            <a:round/>
            <a:headEnd type="none" w="sm" len="sm"/>
            <a:tailEnd type="none" w="sm" len="sm"/>
          </a:ln>
        </p:spPr>
        <p:txBody>
          <a:bodyPr spcFirstLastPara="1" wrap="square" lIns="91376" tIns="45688" rIns="91376" bIns="45688" anchor="ctr" anchorCtr="0">
            <a:noAutofit/>
          </a:bodyPr>
          <a:lstStyle/>
          <a:p>
            <a:pPr marL="0" marR="0" lvl="0" indent="0" algn="ctr" defTabSz="914126" rtl="0" eaLnBrk="1" fontAlgn="auto" latinLnBrk="0" hangingPunct="1">
              <a:lnSpc>
                <a:spcPct val="100000"/>
              </a:lnSpc>
              <a:spcBef>
                <a:spcPts val="0"/>
              </a:spcBef>
              <a:spcAft>
                <a:spcPts val="0"/>
              </a:spcAft>
              <a:buClr>
                <a:srgbClr val="000000"/>
              </a:buClr>
              <a:buSzPts val="1000"/>
              <a:buFontTx/>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Workload Domain</a:t>
            </a:r>
            <a:endParaRPr kumimoji="0" sz="10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5" name="Freeform 84">
            <a:extLst>
              <a:ext uri="{FF2B5EF4-FFF2-40B4-BE49-F238E27FC236}">
                <a16:creationId xmlns:a16="http://schemas.microsoft.com/office/drawing/2014/main" id="{FA9BD8D5-ABAE-ACD1-1122-865B991E8663}"/>
              </a:ext>
            </a:extLst>
          </p:cNvPr>
          <p:cNvSpPr/>
          <p:nvPr/>
        </p:nvSpPr>
        <p:spPr bwMode="gray">
          <a:xfrm rot="18543376" flipV="1">
            <a:off x="4290702" y="3400609"/>
            <a:ext cx="988971" cy="1148236"/>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1316065 w 1362078"/>
              <a:gd name="connsiteY0" fmla="*/ 0 h 613758"/>
              <a:gd name="connsiteX1" fmla="*/ 428 w 1362078"/>
              <a:gd name="connsiteY1" fmla="*/ 613758 h 613758"/>
              <a:gd name="connsiteX0" fmla="*/ 1317084 w 1317084"/>
              <a:gd name="connsiteY0" fmla="*/ 0 h 613758"/>
              <a:gd name="connsiteX1" fmla="*/ 1447 w 1317084"/>
              <a:gd name="connsiteY1" fmla="*/ 613758 h 613758"/>
              <a:gd name="connsiteX0" fmla="*/ 1488844 w 1488844"/>
              <a:gd name="connsiteY0" fmla="*/ 0 h 613758"/>
              <a:gd name="connsiteX1" fmla="*/ 1084 w 1488844"/>
              <a:gd name="connsiteY1" fmla="*/ 613758 h 613758"/>
            </a:gdLst>
            <a:ahLst/>
            <a:cxnLst>
              <a:cxn ang="0">
                <a:pos x="connsiteX0" y="connsiteY0"/>
              </a:cxn>
              <a:cxn ang="0">
                <a:pos x="connsiteX1" y="connsiteY1"/>
              </a:cxn>
            </a:cxnLst>
            <a:rect l="l" t="t" r="r" b="b"/>
            <a:pathLst>
              <a:path w="1488844" h="613758">
                <a:moveTo>
                  <a:pt x="1488844" y="0"/>
                </a:moveTo>
                <a:cubicBezTo>
                  <a:pt x="616407" y="50394"/>
                  <a:pt x="-30122" y="369729"/>
                  <a:pt x="1084" y="61375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7" name="Freeform 86">
            <a:extLst>
              <a:ext uri="{FF2B5EF4-FFF2-40B4-BE49-F238E27FC236}">
                <a16:creationId xmlns:a16="http://schemas.microsoft.com/office/drawing/2014/main" id="{CCE7B233-7F0C-F32B-EAEB-BCADFF782CB4}"/>
              </a:ext>
            </a:extLst>
          </p:cNvPr>
          <p:cNvSpPr/>
          <p:nvPr/>
        </p:nvSpPr>
        <p:spPr bwMode="gray">
          <a:xfrm rot="11694849" flipV="1">
            <a:off x="3668916" y="2616921"/>
            <a:ext cx="556684" cy="1230351"/>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1316065 w 1362078"/>
              <a:gd name="connsiteY0" fmla="*/ 0 h 613758"/>
              <a:gd name="connsiteX1" fmla="*/ 428 w 1362078"/>
              <a:gd name="connsiteY1" fmla="*/ 613758 h 613758"/>
              <a:gd name="connsiteX0" fmla="*/ 1317084 w 1317084"/>
              <a:gd name="connsiteY0" fmla="*/ 0 h 613758"/>
              <a:gd name="connsiteX1" fmla="*/ 1447 w 1317084"/>
              <a:gd name="connsiteY1" fmla="*/ 613758 h 613758"/>
              <a:gd name="connsiteX0" fmla="*/ 1488844 w 1488844"/>
              <a:gd name="connsiteY0" fmla="*/ 0 h 613758"/>
              <a:gd name="connsiteX1" fmla="*/ 1084 w 1488844"/>
              <a:gd name="connsiteY1" fmla="*/ 613758 h 613758"/>
            </a:gdLst>
            <a:ahLst/>
            <a:cxnLst>
              <a:cxn ang="0">
                <a:pos x="connsiteX0" y="connsiteY0"/>
              </a:cxn>
              <a:cxn ang="0">
                <a:pos x="connsiteX1" y="connsiteY1"/>
              </a:cxn>
            </a:cxnLst>
            <a:rect l="l" t="t" r="r" b="b"/>
            <a:pathLst>
              <a:path w="1488844" h="613758">
                <a:moveTo>
                  <a:pt x="1488844" y="0"/>
                </a:moveTo>
                <a:cubicBezTo>
                  <a:pt x="616407" y="50394"/>
                  <a:pt x="-30122" y="369729"/>
                  <a:pt x="1084" y="61375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8" name="Freeform 87">
            <a:extLst>
              <a:ext uri="{FF2B5EF4-FFF2-40B4-BE49-F238E27FC236}">
                <a16:creationId xmlns:a16="http://schemas.microsoft.com/office/drawing/2014/main" id="{0494E310-1998-FBE8-34AB-D65A1AC00F30}"/>
              </a:ext>
            </a:extLst>
          </p:cNvPr>
          <p:cNvSpPr/>
          <p:nvPr/>
        </p:nvSpPr>
        <p:spPr bwMode="gray">
          <a:xfrm rot="11694849" flipV="1">
            <a:off x="3758516" y="3233499"/>
            <a:ext cx="348172" cy="567462"/>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1316065 w 1362078"/>
              <a:gd name="connsiteY0" fmla="*/ 0 h 613758"/>
              <a:gd name="connsiteX1" fmla="*/ 428 w 1362078"/>
              <a:gd name="connsiteY1" fmla="*/ 613758 h 613758"/>
              <a:gd name="connsiteX0" fmla="*/ 1317084 w 1317084"/>
              <a:gd name="connsiteY0" fmla="*/ 0 h 613758"/>
              <a:gd name="connsiteX1" fmla="*/ 1447 w 1317084"/>
              <a:gd name="connsiteY1" fmla="*/ 613758 h 613758"/>
              <a:gd name="connsiteX0" fmla="*/ 1488844 w 1488844"/>
              <a:gd name="connsiteY0" fmla="*/ 0 h 613758"/>
              <a:gd name="connsiteX1" fmla="*/ 1084 w 1488844"/>
              <a:gd name="connsiteY1" fmla="*/ 613758 h 613758"/>
            </a:gdLst>
            <a:ahLst/>
            <a:cxnLst>
              <a:cxn ang="0">
                <a:pos x="connsiteX0" y="connsiteY0"/>
              </a:cxn>
              <a:cxn ang="0">
                <a:pos x="connsiteX1" y="connsiteY1"/>
              </a:cxn>
            </a:cxnLst>
            <a:rect l="l" t="t" r="r" b="b"/>
            <a:pathLst>
              <a:path w="1488844" h="613758">
                <a:moveTo>
                  <a:pt x="1488844" y="0"/>
                </a:moveTo>
                <a:cubicBezTo>
                  <a:pt x="616407" y="50394"/>
                  <a:pt x="-30122" y="369729"/>
                  <a:pt x="1084" y="61375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6" name="Freeform 55">
            <a:extLst>
              <a:ext uri="{FF2B5EF4-FFF2-40B4-BE49-F238E27FC236}">
                <a16:creationId xmlns:a16="http://schemas.microsoft.com/office/drawing/2014/main" id="{51A2D368-0EC3-8D5B-94C0-D297E084C155}"/>
              </a:ext>
            </a:extLst>
          </p:cNvPr>
          <p:cNvSpPr/>
          <p:nvPr/>
        </p:nvSpPr>
        <p:spPr bwMode="gray">
          <a:xfrm>
            <a:off x="2431897" y="3766080"/>
            <a:ext cx="352575" cy="316806"/>
          </a:xfrm>
          <a:custGeom>
            <a:avLst/>
            <a:gdLst>
              <a:gd name="connsiteX0" fmla="*/ 0 w 1196502"/>
              <a:gd name="connsiteY0" fmla="*/ 490438 h 490438"/>
              <a:gd name="connsiteX1" fmla="*/ 749030 w 1196502"/>
              <a:gd name="connsiteY1" fmla="*/ 4055 h 490438"/>
              <a:gd name="connsiteX2" fmla="*/ 1196502 w 1196502"/>
              <a:gd name="connsiteY2" fmla="*/ 256974 h 490438"/>
              <a:gd name="connsiteX0" fmla="*/ 0 w 1196502"/>
              <a:gd name="connsiteY0" fmla="*/ 385915 h 385915"/>
              <a:gd name="connsiteX1" fmla="*/ 729575 w 1196502"/>
              <a:gd name="connsiteY1" fmla="*/ 6536 h 385915"/>
              <a:gd name="connsiteX2" fmla="*/ 1196502 w 1196502"/>
              <a:gd name="connsiteY2" fmla="*/ 152451 h 385915"/>
              <a:gd name="connsiteX0" fmla="*/ 0 w 1147864"/>
              <a:gd name="connsiteY0" fmla="*/ 383173 h 383173"/>
              <a:gd name="connsiteX1" fmla="*/ 729575 w 1147864"/>
              <a:gd name="connsiteY1" fmla="*/ 3794 h 383173"/>
              <a:gd name="connsiteX2" fmla="*/ 1147864 w 1147864"/>
              <a:gd name="connsiteY2" fmla="*/ 276169 h 383173"/>
              <a:gd name="connsiteX0" fmla="*/ 0 w 1147864"/>
              <a:gd name="connsiteY0" fmla="*/ 386834 h 386834"/>
              <a:gd name="connsiteX1" fmla="*/ 729575 w 1147864"/>
              <a:gd name="connsiteY1" fmla="*/ 7455 h 386834"/>
              <a:gd name="connsiteX2" fmla="*/ 1147864 w 1147864"/>
              <a:gd name="connsiteY2" fmla="*/ 279830 h 386834"/>
              <a:gd name="connsiteX0" fmla="*/ 0 w 1147864"/>
              <a:gd name="connsiteY0" fmla="*/ 414874 h 414874"/>
              <a:gd name="connsiteX1" fmla="*/ 642026 w 1147864"/>
              <a:gd name="connsiteY1" fmla="*/ 6312 h 414874"/>
              <a:gd name="connsiteX2" fmla="*/ 1147864 w 1147864"/>
              <a:gd name="connsiteY2" fmla="*/ 307870 h 414874"/>
              <a:gd name="connsiteX0" fmla="*/ 0 w 1147864"/>
              <a:gd name="connsiteY0" fmla="*/ 160882 h 292942"/>
              <a:gd name="connsiteX1" fmla="*/ 566722 w 1147864"/>
              <a:gd name="connsiteY1" fmla="*/ 290202 h 292942"/>
              <a:gd name="connsiteX2" fmla="*/ 1147864 w 1147864"/>
              <a:gd name="connsiteY2" fmla="*/ 53878 h 292942"/>
              <a:gd name="connsiteX0" fmla="*/ 0 w 964984"/>
              <a:gd name="connsiteY0" fmla="*/ 69434 h 274402"/>
              <a:gd name="connsiteX1" fmla="*/ 566722 w 964984"/>
              <a:gd name="connsiteY1" fmla="*/ 198754 h 274402"/>
              <a:gd name="connsiteX2" fmla="*/ 964984 w 964984"/>
              <a:gd name="connsiteY2" fmla="*/ 274402 h 274402"/>
              <a:gd name="connsiteX0" fmla="*/ 0 w 964984"/>
              <a:gd name="connsiteY0" fmla="*/ 0 h 204968"/>
              <a:gd name="connsiteX1" fmla="*/ 964984 w 964984"/>
              <a:gd name="connsiteY1" fmla="*/ 204968 h 204968"/>
              <a:gd name="connsiteX0" fmla="*/ 0 w 954227"/>
              <a:gd name="connsiteY0" fmla="*/ 0 h 258756"/>
              <a:gd name="connsiteX1" fmla="*/ 954227 w 954227"/>
              <a:gd name="connsiteY1" fmla="*/ 258756 h 258756"/>
              <a:gd name="connsiteX0" fmla="*/ 0 w 954227"/>
              <a:gd name="connsiteY0" fmla="*/ 0 h 258756"/>
              <a:gd name="connsiteX1" fmla="*/ 954227 w 954227"/>
              <a:gd name="connsiteY1" fmla="*/ 258756 h 258756"/>
              <a:gd name="connsiteX0" fmla="*/ 0 w 846650"/>
              <a:gd name="connsiteY0" fmla="*/ 0 h 258756"/>
              <a:gd name="connsiteX1" fmla="*/ 846650 w 846650"/>
              <a:gd name="connsiteY1" fmla="*/ 258756 h 258756"/>
              <a:gd name="connsiteX0" fmla="*/ 0 w 846650"/>
              <a:gd name="connsiteY0" fmla="*/ 0 h 258756"/>
              <a:gd name="connsiteX1" fmla="*/ 846650 w 846650"/>
              <a:gd name="connsiteY1" fmla="*/ 258756 h 258756"/>
              <a:gd name="connsiteX0" fmla="*/ 0 w 1306859"/>
              <a:gd name="connsiteY0" fmla="*/ 401439 h 660195"/>
              <a:gd name="connsiteX1" fmla="*/ 1164888 w 1306859"/>
              <a:gd name="connsiteY1" fmla="*/ 0 h 660195"/>
              <a:gd name="connsiteX2" fmla="*/ 846650 w 1306859"/>
              <a:gd name="connsiteY2" fmla="*/ 660195 h 660195"/>
              <a:gd name="connsiteX0" fmla="*/ 0 w 553823"/>
              <a:gd name="connsiteY0" fmla="*/ 250 h 700069"/>
              <a:gd name="connsiteX1" fmla="*/ 411852 w 553823"/>
              <a:gd name="connsiteY1" fmla="*/ 39874 h 700069"/>
              <a:gd name="connsiteX2" fmla="*/ 93614 w 553823"/>
              <a:gd name="connsiteY2" fmla="*/ 700069 h 700069"/>
              <a:gd name="connsiteX0" fmla="*/ 0 w 451816"/>
              <a:gd name="connsiteY0" fmla="*/ 72 h 699891"/>
              <a:gd name="connsiteX1" fmla="*/ 293518 w 451816"/>
              <a:gd name="connsiteY1" fmla="*/ 168788 h 699891"/>
              <a:gd name="connsiteX2" fmla="*/ 93614 w 451816"/>
              <a:gd name="connsiteY2" fmla="*/ 699891 h 699891"/>
              <a:gd name="connsiteX0" fmla="*/ 0 w 308551"/>
              <a:gd name="connsiteY0" fmla="*/ 72 h 699891"/>
              <a:gd name="connsiteX1" fmla="*/ 293518 w 308551"/>
              <a:gd name="connsiteY1" fmla="*/ 168788 h 699891"/>
              <a:gd name="connsiteX2" fmla="*/ 93614 w 308551"/>
              <a:gd name="connsiteY2" fmla="*/ 699891 h 699891"/>
              <a:gd name="connsiteX0" fmla="*/ 0 w 93614"/>
              <a:gd name="connsiteY0" fmla="*/ 0 h 699819"/>
              <a:gd name="connsiteX1" fmla="*/ 93614 w 93614"/>
              <a:gd name="connsiteY1" fmla="*/ 699819 h 699819"/>
              <a:gd name="connsiteX0" fmla="*/ 0 w 189200"/>
              <a:gd name="connsiteY0" fmla="*/ 0 h 699819"/>
              <a:gd name="connsiteX1" fmla="*/ 93614 w 189200"/>
              <a:gd name="connsiteY1" fmla="*/ 699819 h 699819"/>
              <a:gd name="connsiteX0" fmla="*/ 0 w 206728"/>
              <a:gd name="connsiteY0" fmla="*/ 0 h 710577"/>
              <a:gd name="connsiteX1" fmla="*/ 115130 w 206728"/>
              <a:gd name="connsiteY1" fmla="*/ 710577 h 710577"/>
              <a:gd name="connsiteX0" fmla="*/ 0 w 152350"/>
              <a:gd name="connsiteY0" fmla="*/ 0 h 710577"/>
              <a:gd name="connsiteX1" fmla="*/ 115130 w 152350"/>
              <a:gd name="connsiteY1" fmla="*/ 710577 h 710577"/>
              <a:gd name="connsiteX0" fmla="*/ 0 w 231040"/>
              <a:gd name="connsiteY0" fmla="*/ 0 h 710577"/>
              <a:gd name="connsiteX1" fmla="*/ 115130 w 231040"/>
              <a:gd name="connsiteY1" fmla="*/ 710577 h 710577"/>
              <a:gd name="connsiteX0" fmla="*/ 0 w 179842"/>
              <a:gd name="connsiteY0" fmla="*/ 0 h 710577"/>
              <a:gd name="connsiteX1" fmla="*/ 115130 w 179842"/>
              <a:gd name="connsiteY1" fmla="*/ 710577 h 710577"/>
              <a:gd name="connsiteX0" fmla="*/ 0 w 771346"/>
              <a:gd name="connsiteY0" fmla="*/ 0 h 818154"/>
              <a:gd name="connsiteX1" fmla="*/ 771346 w 771346"/>
              <a:gd name="connsiteY1" fmla="*/ 818154 h 818154"/>
              <a:gd name="connsiteX0" fmla="*/ 0 w 771346"/>
              <a:gd name="connsiteY0" fmla="*/ 0 h 818154"/>
              <a:gd name="connsiteX1" fmla="*/ 771346 w 771346"/>
              <a:gd name="connsiteY1" fmla="*/ 818154 h 818154"/>
              <a:gd name="connsiteX0" fmla="*/ 0 w 911196"/>
              <a:gd name="connsiteY0" fmla="*/ 0 h 796638"/>
              <a:gd name="connsiteX1" fmla="*/ 911196 w 911196"/>
              <a:gd name="connsiteY1" fmla="*/ 796638 h 796638"/>
              <a:gd name="connsiteX0" fmla="*/ 0 w 911196"/>
              <a:gd name="connsiteY0" fmla="*/ 0 h 796638"/>
              <a:gd name="connsiteX1" fmla="*/ 911196 w 911196"/>
              <a:gd name="connsiteY1" fmla="*/ 796638 h 796638"/>
              <a:gd name="connsiteX0" fmla="*/ 0 w 911196"/>
              <a:gd name="connsiteY0" fmla="*/ 0 h 828911"/>
              <a:gd name="connsiteX1" fmla="*/ 911196 w 911196"/>
              <a:gd name="connsiteY1" fmla="*/ 828911 h 828911"/>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1072560"/>
              <a:gd name="connsiteY0" fmla="*/ 0 h 818153"/>
              <a:gd name="connsiteX1" fmla="*/ 1072560 w 1072560"/>
              <a:gd name="connsiteY1" fmla="*/ 818153 h 818153"/>
              <a:gd name="connsiteX0" fmla="*/ 0 w 857408"/>
              <a:gd name="connsiteY0" fmla="*/ 0 h 839668"/>
              <a:gd name="connsiteX1" fmla="*/ 857408 w 857408"/>
              <a:gd name="connsiteY1" fmla="*/ 839668 h 839668"/>
              <a:gd name="connsiteX0" fmla="*/ 0 w 857408"/>
              <a:gd name="connsiteY0" fmla="*/ 0 h 839668"/>
              <a:gd name="connsiteX1" fmla="*/ 857408 w 857408"/>
              <a:gd name="connsiteY1" fmla="*/ 839668 h 83966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 name="connsiteX0" fmla="*/ 0 w 653012"/>
              <a:gd name="connsiteY0" fmla="*/ 0 h 291028"/>
              <a:gd name="connsiteX1" fmla="*/ 653012 w 653012"/>
              <a:gd name="connsiteY1" fmla="*/ 291028 h 291028"/>
            </a:gdLst>
            <a:ahLst/>
            <a:cxnLst>
              <a:cxn ang="0">
                <a:pos x="connsiteX0" y="connsiteY0"/>
              </a:cxn>
              <a:cxn ang="0">
                <a:pos x="connsiteX1" y="connsiteY1"/>
              </a:cxn>
            </a:cxnLst>
            <a:rect l="l" t="t" r="r" b="b"/>
            <a:pathLst>
              <a:path w="653012" h="291028">
                <a:moveTo>
                  <a:pt x="0" y="0"/>
                </a:moveTo>
                <a:cubicBezTo>
                  <a:pt x="192569" y="222515"/>
                  <a:pt x="352865" y="272910"/>
                  <a:pt x="653012" y="291028"/>
                </a:cubicBezTo>
              </a:path>
            </a:pathLst>
          </a:custGeom>
          <a:ln w="25400">
            <a:solidFill>
              <a:schemeClr val="accent3"/>
            </a:solidFill>
            <a:miter lim="8000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0" name="TextBox 89">
            <a:extLst>
              <a:ext uri="{FF2B5EF4-FFF2-40B4-BE49-F238E27FC236}">
                <a16:creationId xmlns:a16="http://schemas.microsoft.com/office/drawing/2014/main" id="{359FF6F0-A8C4-9A7A-6919-F6EC07E0058D}"/>
              </a:ext>
            </a:extLst>
          </p:cNvPr>
          <p:cNvSpPr txBox="1"/>
          <p:nvPr/>
        </p:nvSpPr>
        <p:spPr>
          <a:xfrm>
            <a:off x="2810609" y="3699276"/>
            <a:ext cx="1003219" cy="169233"/>
          </a:xfrm>
          <a:prstGeom prst="rect">
            <a:avLst/>
          </a:prstGeom>
          <a:noFill/>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anose="020B0604020202020204"/>
                <a:ea typeface="+mn-ea"/>
                <a:cs typeface="+mn-cs"/>
              </a:rPr>
              <a:t>vCenter Server</a:t>
            </a:r>
          </a:p>
        </p:txBody>
      </p:sp>
    </p:spTree>
    <p:extLst>
      <p:ext uri="{BB962C8B-B14F-4D97-AF65-F5344CB8AC3E}">
        <p14:creationId xmlns:p14="http://schemas.microsoft.com/office/powerpoint/2010/main" val="56573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622"/>
        <p:cNvGrpSpPr/>
        <p:nvPr/>
      </p:nvGrpSpPr>
      <p:grpSpPr>
        <a:xfrm>
          <a:off x="0" y="0"/>
          <a:ext cx="0" cy="0"/>
          <a:chOff x="0" y="0"/>
          <a:chExt cx="0" cy="0"/>
        </a:xfrm>
      </p:grpSpPr>
      <p:sp>
        <p:nvSpPr>
          <p:cNvPr id="6623" name="Google Shape;6623;p37"/>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624" name="Google Shape;6624;p37"/>
          <p:cNvSpPr txBox="1">
            <a:spLocks noGrp="1"/>
          </p:cNvSpPr>
          <p:nvPr>
            <p:ph type="title"/>
          </p:nvPr>
        </p:nvSpPr>
        <p:spPr>
          <a:xfrm>
            <a:off x="581245" y="413536"/>
            <a:ext cx="10998139"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Centralized Certificate Management</a:t>
            </a:r>
            <a:endParaRPr/>
          </a:p>
        </p:txBody>
      </p:sp>
      <p:sp>
        <p:nvSpPr>
          <p:cNvPr id="6625" name="Google Shape;6625;p37"/>
          <p:cNvSpPr txBox="1">
            <a:spLocks noGrp="1"/>
          </p:cNvSpPr>
          <p:nvPr>
            <p:ph type="subTitle" idx="1"/>
          </p:nvPr>
        </p:nvSpPr>
        <p:spPr>
          <a:xfrm>
            <a:off x="594300" y="812513"/>
            <a:ext cx="10959832"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Non-disruptive certificate updates for VCF infrastructure and management components</a:t>
            </a:r>
            <a:endParaRPr/>
          </a:p>
        </p:txBody>
      </p:sp>
      <p:sp>
        <p:nvSpPr>
          <p:cNvPr id="6626" name="Google Shape;6626;p37"/>
          <p:cNvSpPr txBox="1">
            <a:spLocks noGrp="1"/>
          </p:cNvSpPr>
          <p:nvPr>
            <p:ph type="body" idx="2"/>
          </p:nvPr>
        </p:nvSpPr>
        <p:spPr>
          <a:xfrm>
            <a:off x="8379818" y="1600676"/>
            <a:ext cx="3807420" cy="4570809"/>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One interface to manage certificates for VCF Infrastructure &amp; Management components</a:t>
            </a:r>
            <a:endParaRPr dirty="0"/>
          </a:p>
          <a:p>
            <a:pPr marL="0" lvl="0" indent="0" algn="l" rtl="0">
              <a:lnSpc>
                <a:spcPct val="100000"/>
              </a:lnSpc>
              <a:spcBef>
                <a:spcPts val="1200"/>
              </a:spcBef>
              <a:spcAft>
                <a:spcPts val="0"/>
              </a:spcAft>
              <a:buSzPts val="1440"/>
              <a:buNone/>
            </a:pPr>
            <a:r>
              <a:rPr lang="en-US" dirty="0"/>
              <a:t>Supports Microsoft, OpenSSL, or external certificate authorities</a:t>
            </a:r>
            <a:endParaRPr dirty="0"/>
          </a:p>
          <a:p>
            <a:pPr marL="0" lvl="0" indent="0" algn="l" rtl="0">
              <a:lnSpc>
                <a:spcPct val="100000"/>
              </a:lnSpc>
              <a:spcBef>
                <a:spcPts val="1200"/>
              </a:spcBef>
              <a:spcAft>
                <a:spcPts val="0"/>
              </a:spcAft>
              <a:buSzPts val="1440"/>
              <a:buNone/>
            </a:pPr>
            <a:r>
              <a:rPr lang="en-US" dirty="0"/>
              <a:t>Automatic renewal</a:t>
            </a:r>
            <a:endParaRPr dirty="0"/>
          </a:p>
          <a:p>
            <a:pPr marL="0" lvl="0" indent="0" algn="l" rtl="0">
              <a:lnSpc>
                <a:spcPct val="100000"/>
              </a:lnSpc>
              <a:spcBef>
                <a:spcPts val="1200"/>
              </a:spcBef>
              <a:spcAft>
                <a:spcPts val="0"/>
              </a:spcAft>
              <a:buSzPts val="1440"/>
              <a:buNone/>
            </a:pPr>
            <a:r>
              <a:rPr lang="en-US" dirty="0"/>
              <a:t>VCF Operations alerts configured out of the box</a:t>
            </a:r>
            <a:endParaRPr dirty="0"/>
          </a:p>
          <a:p>
            <a:pPr marL="0" lvl="0" indent="0" algn="l" rtl="0">
              <a:lnSpc>
                <a:spcPct val="100000"/>
              </a:lnSpc>
              <a:spcBef>
                <a:spcPts val="1200"/>
              </a:spcBef>
              <a:spcAft>
                <a:spcPts val="0"/>
              </a:spcAft>
              <a:buSzPts val="1440"/>
              <a:buNone/>
            </a:pPr>
            <a:r>
              <a:rPr lang="en-US" dirty="0"/>
              <a:t>Manage VMware ESX host certs</a:t>
            </a:r>
            <a:endParaRPr dirty="0"/>
          </a:p>
          <a:p>
            <a:pPr marL="0" lvl="0" indent="0" algn="l" rtl="0">
              <a:lnSpc>
                <a:spcPct val="100000"/>
              </a:lnSpc>
              <a:spcBef>
                <a:spcPts val="1200"/>
              </a:spcBef>
              <a:spcAft>
                <a:spcPts val="0"/>
              </a:spcAft>
              <a:buSzPts val="1440"/>
              <a:buNone/>
            </a:pPr>
            <a:r>
              <a:rPr lang="en-US" dirty="0"/>
              <a:t>New non-disruptive (NDC) architecture delivers fast and reliable certificate updates</a:t>
            </a:r>
            <a:endParaRPr dirty="0"/>
          </a:p>
        </p:txBody>
      </p:sp>
      <p:sp>
        <p:nvSpPr>
          <p:cNvPr id="6627" name="Google Shape;6627;p37"/>
          <p:cNvSpPr/>
          <p:nvPr/>
        </p:nvSpPr>
        <p:spPr>
          <a:xfrm rot="5400000">
            <a:off x="5299534" y="2089643"/>
            <a:ext cx="1709105" cy="1432823"/>
          </a:xfrm>
          <a:prstGeom prst="bentArrow">
            <a:avLst>
              <a:gd name="adj1" fmla="val 9936"/>
              <a:gd name="adj2" fmla="val 17504"/>
              <a:gd name="adj3" fmla="val 25000"/>
              <a:gd name="adj4" fmla="val 43750"/>
            </a:avLst>
          </a:prstGeom>
          <a:solidFill>
            <a:schemeClr val="accent3"/>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799"/>
              <a:buFont typeface="Arial"/>
              <a:buNone/>
            </a:pPr>
            <a:endParaRPr sz="1799" b="0" i="0" u="none" strike="noStrike" cap="none">
              <a:solidFill>
                <a:srgbClr val="FFFFFF"/>
              </a:solidFill>
              <a:latin typeface="Arial"/>
              <a:ea typeface="Arial"/>
              <a:cs typeface="Arial"/>
              <a:sym typeface="Arial"/>
            </a:endParaRPr>
          </a:p>
        </p:txBody>
      </p:sp>
      <p:sp>
        <p:nvSpPr>
          <p:cNvPr id="6628" name="Google Shape;6628;p37"/>
          <p:cNvSpPr/>
          <p:nvPr/>
        </p:nvSpPr>
        <p:spPr>
          <a:xfrm>
            <a:off x="670480" y="1676855"/>
            <a:ext cx="4753142" cy="3834403"/>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6629" name="Google Shape;6629;p37"/>
          <p:cNvPicPr preferRelativeResize="0"/>
          <p:nvPr/>
        </p:nvPicPr>
        <p:blipFill rotWithShape="1">
          <a:blip r:embed="rId3">
            <a:alphaModFix/>
          </a:blip>
          <a:srcRect/>
          <a:stretch/>
        </p:blipFill>
        <p:spPr>
          <a:xfrm>
            <a:off x="685345" y="1764691"/>
            <a:ext cx="4723413" cy="3639686"/>
          </a:xfrm>
          <a:prstGeom prst="rect">
            <a:avLst/>
          </a:prstGeom>
          <a:noFill/>
          <a:ln>
            <a:noFill/>
          </a:ln>
        </p:spPr>
      </p:pic>
      <p:sp>
        <p:nvSpPr>
          <p:cNvPr id="6630" name="Google Shape;6630;p37"/>
          <p:cNvSpPr/>
          <p:nvPr/>
        </p:nvSpPr>
        <p:spPr>
          <a:xfrm>
            <a:off x="1702945" y="3734864"/>
            <a:ext cx="6145657" cy="2191022"/>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6631" name="Google Shape;6631;p37"/>
          <p:cNvPicPr preferRelativeResize="0"/>
          <p:nvPr/>
        </p:nvPicPr>
        <p:blipFill rotWithShape="1">
          <a:blip r:embed="rId4">
            <a:alphaModFix/>
          </a:blip>
          <a:srcRect/>
          <a:stretch/>
        </p:blipFill>
        <p:spPr>
          <a:xfrm>
            <a:off x="1767240" y="3778759"/>
            <a:ext cx="6030575" cy="214919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27"/>
                                        </p:tgtEl>
                                        <p:attrNameLst>
                                          <p:attrName>style.visibility</p:attrName>
                                        </p:attrNameLst>
                                      </p:cBhvr>
                                      <p:to>
                                        <p:strVal val="visible"/>
                                      </p:to>
                                    </p:set>
                                    <p:animEffect transition="in" filter="fade">
                                      <p:cBhvr>
                                        <p:cTn id="7" dur="500"/>
                                        <p:tgtEl>
                                          <p:spTgt spid="662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31"/>
                                        </p:tgtEl>
                                        <p:attrNameLst>
                                          <p:attrName>style.visibility</p:attrName>
                                        </p:attrNameLst>
                                      </p:cBhvr>
                                      <p:to>
                                        <p:strVal val="visible"/>
                                      </p:to>
                                    </p:set>
                                    <p:animEffect transition="in" filter="fade">
                                      <p:cBhvr>
                                        <p:cTn id="11" dur="500"/>
                                        <p:tgtEl>
                                          <p:spTgt spid="6631"/>
                                        </p:tgtEl>
                                      </p:cBhvr>
                                    </p:animEffect>
                                  </p:childTnLst>
                                </p:cTn>
                              </p:par>
                              <p:par>
                                <p:cTn id="12" presetID="10" presetClass="entr" presetSubtype="0" fill="hold" nodeType="withEffect">
                                  <p:stCondLst>
                                    <p:cond delay="0"/>
                                  </p:stCondLst>
                                  <p:childTnLst>
                                    <p:set>
                                      <p:cBhvr>
                                        <p:cTn id="13" dur="1" fill="hold">
                                          <p:stCondLst>
                                            <p:cond delay="0"/>
                                          </p:stCondLst>
                                        </p:cTn>
                                        <p:tgtEl>
                                          <p:spTgt spid="6630"/>
                                        </p:tgtEl>
                                        <p:attrNameLst>
                                          <p:attrName>style.visibility</p:attrName>
                                        </p:attrNameLst>
                                      </p:cBhvr>
                                      <p:to>
                                        <p:strVal val="visible"/>
                                      </p:to>
                                    </p:set>
                                    <p:animEffect transition="in" filter="fade">
                                      <p:cBhvr>
                                        <p:cTn id="14" dur="500"/>
                                        <p:tgtEl>
                                          <p:spTgt spid="6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36"/>
        <p:cNvGrpSpPr/>
        <p:nvPr/>
      </p:nvGrpSpPr>
      <p:grpSpPr>
        <a:xfrm>
          <a:off x="0" y="0"/>
          <a:ext cx="0" cy="0"/>
          <a:chOff x="0" y="0"/>
          <a:chExt cx="0" cy="0"/>
        </a:xfrm>
      </p:grpSpPr>
      <p:sp>
        <p:nvSpPr>
          <p:cNvPr id="6637" name="Google Shape;6637;p38"/>
          <p:cNvSpPr/>
          <p:nvPr/>
        </p:nvSpPr>
        <p:spPr>
          <a:xfrm>
            <a:off x="594298" y="1610005"/>
            <a:ext cx="7438027"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638" name="Google Shape;6638;p38"/>
          <p:cNvSpPr txBox="1">
            <a:spLocks noGrp="1"/>
          </p:cNvSpPr>
          <p:nvPr>
            <p:ph type="title"/>
          </p:nvPr>
        </p:nvSpPr>
        <p:spPr>
          <a:xfrm>
            <a:off x="581245" y="413536"/>
            <a:ext cx="10998139"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Centralized Password Management</a:t>
            </a:r>
            <a:endParaRPr/>
          </a:p>
        </p:txBody>
      </p:sp>
      <p:sp>
        <p:nvSpPr>
          <p:cNvPr id="6639" name="Google Shape;6639;p38"/>
          <p:cNvSpPr txBox="1">
            <a:spLocks noGrp="1"/>
          </p:cNvSpPr>
          <p:nvPr>
            <p:ph type="subTitle" idx="1"/>
          </p:nvPr>
        </p:nvSpPr>
        <p:spPr>
          <a:xfrm>
            <a:off x="594300" y="812513"/>
            <a:ext cx="10959832"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Simplified password management across infrastructure and management components</a:t>
            </a:r>
            <a:endParaRPr/>
          </a:p>
        </p:txBody>
      </p:sp>
      <p:sp>
        <p:nvSpPr>
          <p:cNvPr id="6640" name="Google Shape;6640;p38"/>
          <p:cNvSpPr txBox="1">
            <a:spLocks noGrp="1"/>
          </p:cNvSpPr>
          <p:nvPr>
            <p:ph type="body" idx="2"/>
          </p:nvPr>
        </p:nvSpPr>
        <p:spPr>
          <a:xfrm>
            <a:off x="8379818" y="1600676"/>
            <a:ext cx="3807420" cy="4570809"/>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Manage the key “break glass” admin accounts for VCF components</a:t>
            </a:r>
            <a:endParaRPr dirty="0"/>
          </a:p>
          <a:p>
            <a:pPr marL="0" lvl="0" indent="0" algn="l" rtl="0">
              <a:lnSpc>
                <a:spcPct val="100000"/>
              </a:lnSpc>
              <a:spcBef>
                <a:spcPts val="1200"/>
              </a:spcBef>
              <a:spcAft>
                <a:spcPts val="0"/>
              </a:spcAft>
              <a:buSzPts val="1440"/>
              <a:buNone/>
            </a:pPr>
            <a:r>
              <a:rPr lang="en-US" dirty="0"/>
              <a:t>Passwords can be </a:t>
            </a:r>
            <a:r>
              <a:rPr lang="en-US" b="1" dirty="0"/>
              <a:t>reset</a:t>
            </a:r>
            <a:r>
              <a:rPr lang="en-US" dirty="0"/>
              <a:t> in the case they are forgotten</a:t>
            </a:r>
            <a:endParaRPr dirty="0"/>
          </a:p>
          <a:p>
            <a:pPr marL="0" lvl="0" indent="0" algn="l" rtl="0">
              <a:lnSpc>
                <a:spcPct val="100000"/>
              </a:lnSpc>
              <a:spcBef>
                <a:spcPts val="1200"/>
              </a:spcBef>
              <a:spcAft>
                <a:spcPts val="0"/>
              </a:spcAft>
              <a:buSzPts val="1440"/>
              <a:buNone/>
            </a:pPr>
            <a:r>
              <a:rPr lang="en-US" b="1" dirty="0"/>
              <a:t>Remediation</a:t>
            </a:r>
            <a:r>
              <a:rPr lang="en-US" dirty="0"/>
              <a:t> is used to sync a password that was changed directly on a component</a:t>
            </a:r>
            <a:endParaRPr dirty="0"/>
          </a:p>
          <a:p>
            <a:pPr marL="0" lvl="0" indent="0" algn="l" rtl="0">
              <a:lnSpc>
                <a:spcPct val="100000"/>
              </a:lnSpc>
              <a:spcBef>
                <a:spcPts val="1200"/>
              </a:spcBef>
              <a:spcAft>
                <a:spcPts val="0"/>
              </a:spcAft>
              <a:buSzPts val="1440"/>
              <a:buNone/>
            </a:pPr>
            <a:r>
              <a:rPr lang="en-US" dirty="0"/>
              <a:t>VCF Operations alerts to warn of upcoming password expiration</a:t>
            </a:r>
            <a:endParaRPr dirty="0"/>
          </a:p>
          <a:p>
            <a:pPr marL="0" lvl="0" indent="0" algn="l" rtl="0">
              <a:lnSpc>
                <a:spcPct val="100000"/>
              </a:lnSpc>
              <a:spcBef>
                <a:spcPts val="1200"/>
              </a:spcBef>
              <a:spcAft>
                <a:spcPts val="0"/>
              </a:spcAft>
              <a:buSzPts val="1440"/>
              <a:buNone/>
            </a:pPr>
            <a:r>
              <a:rPr lang="en-US" dirty="0"/>
              <a:t>No longer a need to rotate service accounts – managed internally </a:t>
            </a:r>
            <a:endParaRPr dirty="0"/>
          </a:p>
          <a:p>
            <a:pPr marL="0" lvl="0" indent="0" algn="l" rtl="0">
              <a:lnSpc>
                <a:spcPct val="100000"/>
              </a:lnSpc>
              <a:spcBef>
                <a:spcPts val="1200"/>
              </a:spcBef>
              <a:spcAft>
                <a:spcPts val="0"/>
              </a:spcAft>
              <a:buSzPts val="1440"/>
              <a:buNone/>
            </a:pPr>
            <a:endParaRPr dirty="0"/>
          </a:p>
          <a:p>
            <a:pPr marL="0" lvl="0" indent="0" algn="l" rtl="0">
              <a:lnSpc>
                <a:spcPct val="100000"/>
              </a:lnSpc>
              <a:spcBef>
                <a:spcPts val="1200"/>
              </a:spcBef>
              <a:spcAft>
                <a:spcPts val="0"/>
              </a:spcAft>
              <a:buSzPts val="1440"/>
              <a:buNone/>
            </a:pPr>
            <a:endParaRPr dirty="0"/>
          </a:p>
        </p:txBody>
      </p:sp>
      <p:pic>
        <p:nvPicPr>
          <p:cNvPr id="6641" name="Google Shape;6641;p38" descr="A screenshot of a computer&#10;&#10;AI-generated content may be incorrect."/>
          <p:cNvPicPr preferRelativeResize="0"/>
          <p:nvPr/>
        </p:nvPicPr>
        <p:blipFill rotWithShape="1">
          <a:blip r:embed="rId3">
            <a:alphaModFix/>
          </a:blip>
          <a:srcRect/>
          <a:stretch/>
        </p:blipFill>
        <p:spPr>
          <a:xfrm>
            <a:off x="735291" y="1714762"/>
            <a:ext cx="7177074" cy="40073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646"/>
        <p:cNvGrpSpPr/>
        <p:nvPr/>
      </p:nvGrpSpPr>
      <p:grpSpPr>
        <a:xfrm>
          <a:off x="0" y="0"/>
          <a:ext cx="0" cy="0"/>
          <a:chOff x="0" y="0"/>
          <a:chExt cx="0" cy="0"/>
        </a:xfrm>
      </p:grpSpPr>
      <p:sp>
        <p:nvSpPr>
          <p:cNvPr id="6647" name="Google Shape;6647;p39"/>
          <p:cNvSpPr/>
          <p:nvPr/>
        </p:nvSpPr>
        <p:spPr>
          <a:xfrm>
            <a:off x="536094" y="1610005"/>
            <a:ext cx="7388705" cy="4513704"/>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648" name="Google Shape;6648;p39"/>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700"/>
              <a:buFont typeface="Arial"/>
              <a:buNone/>
            </a:pPr>
            <a:r>
              <a:rPr lang="en-US"/>
              <a:t>Easily Monitor and Address Configuration Differences</a:t>
            </a:r>
            <a:endParaRPr/>
          </a:p>
        </p:txBody>
      </p:sp>
      <p:sp>
        <p:nvSpPr>
          <p:cNvPr id="6649" name="Google Shape;6649;p39"/>
          <p:cNvSpPr txBox="1">
            <a:spLocks noGrp="1"/>
          </p:cNvSpPr>
          <p:nvPr>
            <p:ph type="subTitle" idx="1"/>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710"/>
              <a:buNone/>
            </a:pPr>
            <a:r>
              <a:rPr lang="en-US"/>
              <a:t>Configuration Drift Management and Assessment</a:t>
            </a:r>
            <a:endParaRPr/>
          </a:p>
          <a:p>
            <a:pPr marL="0" lvl="0" indent="0" algn="l" rtl="0">
              <a:lnSpc>
                <a:spcPct val="100000"/>
              </a:lnSpc>
              <a:spcBef>
                <a:spcPts val="1200"/>
              </a:spcBef>
              <a:spcAft>
                <a:spcPts val="0"/>
              </a:spcAft>
              <a:buSzPts val="1799"/>
              <a:buNone/>
            </a:pPr>
            <a:endParaRPr/>
          </a:p>
        </p:txBody>
      </p:sp>
      <p:sp>
        <p:nvSpPr>
          <p:cNvPr id="6650" name="Google Shape;6650;p39"/>
          <p:cNvSpPr txBox="1">
            <a:spLocks noGrp="1"/>
          </p:cNvSpPr>
          <p:nvPr>
            <p:ph type="body" idx="2"/>
          </p:nvPr>
        </p:nvSpPr>
        <p:spPr>
          <a:xfrm>
            <a:off x="8379818" y="1600676"/>
            <a:ext cx="3807420" cy="4570809"/>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Centrally monitor configuration drift across clusters and vCenters</a:t>
            </a:r>
            <a:endParaRPr dirty="0"/>
          </a:p>
          <a:p>
            <a:pPr marL="457063" lvl="1" indent="-184094" algn="l" rtl="0">
              <a:lnSpc>
                <a:spcPct val="100000"/>
              </a:lnSpc>
              <a:spcBef>
                <a:spcPts val="1200"/>
              </a:spcBef>
              <a:spcAft>
                <a:spcPts val="0"/>
              </a:spcAft>
              <a:buSzPts val="1260"/>
              <a:buChar char="•"/>
            </a:pPr>
            <a:r>
              <a:rPr lang="en-US" dirty="0"/>
              <a:t>Deliver smooth operations with consistency and compliance</a:t>
            </a:r>
            <a:endParaRPr dirty="0"/>
          </a:p>
          <a:p>
            <a:pPr marL="457063" lvl="1" indent="-184094" algn="l" rtl="0">
              <a:lnSpc>
                <a:spcPct val="100000"/>
              </a:lnSpc>
              <a:spcBef>
                <a:spcPts val="1200"/>
              </a:spcBef>
              <a:spcAft>
                <a:spcPts val="0"/>
              </a:spcAft>
              <a:buSzPts val="1260"/>
              <a:buChar char="•"/>
            </a:pPr>
            <a:r>
              <a:rPr lang="en-US" dirty="0"/>
              <a:t>Reduce risk of security breaches</a:t>
            </a:r>
            <a:endParaRPr dirty="0"/>
          </a:p>
          <a:p>
            <a:pPr marL="457063" lvl="1" indent="-184094" algn="l" rtl="0">
              <a:lnSpc>
                <a:spcPct val="100000"/>
              </a:lnSpc>
              <a:spcBef>
                <a:spcPts val="1200"/>
              </a:spcBef>
              <a:spcAft>
                <a:spcPts val="0"/>
              </a:spcAft>
              <a:buSzPts val="1260"/>
              <a:buChar char="•"/>
            </a:pPr>
            <a:r>
              <a:rPr lang="en-US" dirty="0"/>
              <a:t>Ensure environments run smoothly</a:t>
            </a:r>
            <a:endParaRPr dirty="0"/>
          </a:p>
          <a:p>
            <a:pPr marL="457063" lvl="1" indent="-184094" algn="l" rtl="0">
              <a:lnSpc>
                <a:spcPct val="100000"/>
              </a:lnSpc>
              <a:spcBef>
                <a:spcPts val="1200"/>
              </a:spcBef>
              <a:spcAft>
                <a:spcPts val="0"/>
              </a:spcAft>
              <a:buSzPts val="1260"/>
              <a:buChar char="•"/>
            </a:pPr>
            <a:r>
              <a:rPr lang="en-US" dirty="0"/>
              <a:t>Automate Drift Detection </a:t>
            </a:r>
            <a:endParaRPr dirty="0"/>
          </a:p>
          <a:p>
            <a:pPr marL="457063" lvl="1" indent="-184094" algn="l" rtl="0">
              <a:lnSpc>
                <a:spcPct val="100000"/>
              </a:lnSpc>
              <a:spcBef>
                <a:spcPts val="1200"/>
              </a:spcBef>
              <a:spcAft>
                <a:spcPts val="0"/>
              </a:spcAft>
              <a:buSzPts val="1260"/>
              <a:buChar char="•"/>
            </a:pPr>
            <a:r>
              <a:rPr lang="en-US" dirty="0"/>
              <a:t>Schedule Configuration Drift Reports &amp; automate drift detection</a:t>
            </a:r>
            <a:endParaRPr dirty="0"/>
          </a:p>
          <a:p>
            <a:pPr marL="457063" lvl="1" indent="-184094" algn="l" rtl="0">
              <a:lnSpc>
                <a:spcPct val="100000"/>
              </a:lnSpc>
              <a:spcBef>
                <a:spcPts val="1200"/>
              </a:spcBef>
              <a:spcAft>
                <a:spcPts val="0"/>
              </a:spcAft>
              <a:buSzPts val="1260"/>
              <a:buChar char="•"/>
            </a:pPr>
            <a:r>
              <a:rPr lang="en-US" dirty="0"/>
              <a:t>Create and edit Configuration Drift templates</a:t>
            </a:r>
            <a:endParaRPr dirty="0"/>
          </a:p>
          <a:p>
            <a:pPr marL="457063" lvl="1" indent="-184094" algn="l" rtl="0">
              <a:lnSpc>
                <a:spcPct val="100000"/>
              </a:lnSpc>
              <a:spcBef>
                <a:spcPts val="1200"/>
              </a:spcBef>
              <a:spcAft>
                <a:spcPts val="0"/>
              </a:spcAft>
              <a:buSzPts val="1260"/>
              <a:buChar char="•"/>
            </a:pPr>
            <a:r>
              <a:rPr lang="en-US" dirty="0"/>
              <a:t>Control template versioning with Git-Integration</a:t>
            </a:r>
            <a:endParaRPr dirty="0"/>
          </a:p>
          <a:p>
            <a:pPr marL="0" lvl="0" indent="0" algn="l" rtl="0">
              <a:lnSpc>
                <a:spcPct val="100000"/>
              </a:lnSpc>
              <a:spcBef>
                <a:spcPts val="1200"/>
              </a:spcBef>
              <a:spcAft>
                <a:spcPts val="0"/>
              </a:spcAft>
              <a:buSzPts val="1440"/>
              <a:buNone/>
            </a:pPr>
            <a:endParaRPr dirty="0"/>
          </a:p>
        </p:txBody>
      </p:sp>
      <p:grpSp>
        <p:nvGrpSpPr>
          <p:cNvPr id="6651" name="Google Shape;6651;p39"/>
          <p:cNvGrpSpPr/>
          <p:nvPr/>
        </p:nvGrpSpPr>
        <p:grpSpPr>
          <a:xfrm>
            <a:off x="628788" y="1696232"/>
            <a:ext cx="7196024" cy="4362999"/>
            <a:chOff x="628786" y="1696226"/>
            <a:chExt cx="7772400" cy="4712462"/>
          </a:xfrm>
        </p:grpSpPr>
        <p:pic>
          <p:nvPicPr>
            <p:cNvPr id="6652" name="Google Shape;6652;p39"/>
            <p:cNvPicPr preferRelativeResize="0"/>
            <p:nvPr/>
          </p:nvPicPr>
          <p:blipFill rotWithShape="1">
            <a:blip r:embed="rId3">
              <a:alphaModFix/>
            </a:blip>
            <a:srcRect/>
            <a:stretch/>
          </p:blipFill>
          <p:spPr>
            <a:xfrm>
              <a:off x="628786" y="1696226"/>
              <a:ext cx="7772400" cy="4712462"/>
            </a:xfrm>
            <a:prstGeom prst="rect">
              <a:avLst/>
            </a:prstGeom>
            <a:noFill/>
            <a:ln>
              <a:noFill/>
            </a:ln>
          </p:spPr>
        </p:pic>
        <p:pic>
          <p:nvPicPr>
            <p:cNvPr id="6653" name="Google Shape;6653;p39"/>
            <p:cNvPicPr preferRelativeResize="0"/>
            <p:nvPr/>
          </p:nvPicPr>
          <p:blipFill rotWithShape="1">
            <a:blip r:embed="rId4">
              <a:alphaModFix/>
            </a:blip>
            <a:srcRect/>
            <a:stretch/>
          </p:blipFill>
          <p:spPr>
            <a:xfrm>
              <a:off x="1431875" y="2073432"/>
              <a:ext cx="6944598" cy="4284964"/>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658"/>
        <p:cNvGrpSpPr/>
        <p:nvPr/>
      </p:nvGrpSpPr>
      <p:grpSpPr>
        <a:xfrm>
          <a:off x="0" y="0"/>
          <a:ext cx="0" cy="0"/>
          <a:chOff x="0" y="0"/>
          <a:chExt cx="0" cy="0"/>
        </a:xfrm>
      </p:grpSpPr>
      <p:sp>
        <p:nvSpPr>
          <p:cNvPr id="6659" name="Google Shape;6659;p40"/>
          <p:cNvSpPr/>
          <p:nvPr/>
        </p:nvSpPr>
        <p:spPr>
          <a:xfrm>
            <a:off x="730060" y="1610005"/>
            <a:ext cx="7290533" cy="44361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660" name="Google Shape;6660;p4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Manage, Identify and Organize Resources</a:t>
            </a:r>
            <a:endParaRPr/>
          </a:p>
        </p:txBody>
      </p:sp>
      <p:sp>
        <p:nvSpPr>
          <p:cNvPr id="6661" name="Google Shape;6661;p4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Unified Tag Management</a:t>
            </a:r>
            <a:endParaRPr/>
          </a:p>
          <a:p>
            <a:pPr marL="0" lvl="0" indent="0" algn="l" rtl="0">
              <a:lnSpc>
                <a:spcPct val="100000"/>
              </a:lnSpc>
              <a:spcBef>
                <a:spcPts val="1200"/>
              </a:spcBef>
              <a:spcAft>
                <a:spcPts val="0"/>
              </a:spcAft>
              <a:buSzPts val="1800"/>
              <a:buNone/>
            </a:pPr>
            <a:endParaRPr/>
          </a:p>
        </p:txBody>
      </p:sp>
      <p:sp>
        <p:nvSpPr>
          <p:cNvPr id="6662" name="Google Shape;6662;p40"/>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Create, edit, delete categories and tags from a single pane of glass</a:t>
            </a:r>
            <a:endParaRPr dirty="0"/>
          </a:p>
          <a:p>
            <a:pPr marL="0" lvl="0" indent="0" algn="l" rtl="0">
              <a:lnSpc>
                <a:spcPct val="100000"/>
              </a:lnSpc>
              <a:spcBef>
                <a:spcPts val="1200"/>
              </a:spcBef>
              <a:spcAft>
                <a:spcPts val="0"/>
              </a:spcAft>
              <a:buSzPts val="1440"/>
              <a:buNone/>
            </a:pPr>
            <a:r>
              <a:rPr lang="en-US" dirty="0"/>
              <a:t>Import brownfield categories and tags from vCenters and evaluate conflicts</a:t>
            </a:r>
            <a:endParaRPr dirty="0"/>
          </a:p>
          <a:p>
            <a:pPr marL="0" lvl="0" indent="0" algn="l" rtl="0">
              <a:lnSpc>
                <a:spcPct val="100000"/>
              </a:lnSpc>
              <a:spcBef>
                <a:spcPts val="1200"/>
              </a:spcBef>
              <a:spcAft>
                <a:spcPts val="0"/>
              </a:spcAft>
              <a:buSzPts val="1440"/>
              <a:buNone/>
            </a:pPr>
            <a:r>
              <a:rPr lang="en-US" dirty="0"/>
              <a:t>Push categories and tags to vCenters</a:t>
            </a:r>
            <a:endParaRPr dirty="0"/>
          </a:p>
          <a:p>
            <a:pPr marL="0" lvl="0" indent="0" algn="l" rtl="0">
              <a:lnSpc>
                <a:spcPct val="100000"/>
              </a:lnSpc>
              <a:spcBef>
                <a:spcPts val="1200"/>
              </a:spcBef>
              <a:spcAft>
                <a:spcPts val="0"/>
              </a:spcAft>
              <a:buSzPts val="1440"/>
              <a:buNone/>
            </a:pPr>
            <a:r>
              <a:rPr lang="en-US" dirty="0"/>
              <a:t>Pushed tags are persisted across vCenters after </a:t>
            </a:r>
            <a:r>
              <a:rPr lang="en-US" dirty="0" err="1"/>
              <a:t>vMotion</a:t>
            </a:r>
            <a:endParaRPr dirty="0"/>
          </a:p>
          <a:p>
            <a:pPr marL="0" lvl="0" indent="0" algn="l" rtl="0">
              <a:lnSpc>
                <a:spcPct val="100000"/>
              </a:lnSpc>
              <a:spcBef>
                <a:spcPts val="1200"/>
              </a:spcBef>
              <a:spcAft>
                <a:spcPts val="0"/>
              </a:spcAft>
              <a:buSzPts val="1440"/>
              <a:buNone/>
            </a:pPr>
            <a:r>
              <a:rPr lang="en-US" dirty="0"/>
              <a:t>Centralized consistent behavior across services to create and manage tags</a:t>
            </a:r>
            <a:endParaRPr dirty="0"/>
          </a:p>
          <a:p>
            <a:pPr marL="0" lvl="0" indent="0" algn="l" rtl="0">
              <a:lnSpc>
                <a:spcPct val="100000"/>
              </a:lnSpc>
              <a:spcBef>
                <a:spcPts val="1200"/>
              </a:spcBef>
              <a:spcAft>
                <a:spcPts val="0"/>
              </a:spcAft>
              <a:buSzPts val="1440"/>
              <a:buNone/>
            </a:pPr>
            <a:r>
              <a:rPr lang="en-US" dirty="0"/>
              <a:t>Identify and eliminate  duplicate tags across vCenters </a:t>
            </a:r>
            <a:endParaRPr dirty="0"/>
          </a:p>
          <a:p>
            <a:pPr marL="0" lvl="0" indent="0" algn="l" rtl="0">
              <a:lnSpc>
                <a:spcPct val="100000"/>
              </a:lnSpc>
              <a:spcBef>
                <a:spcPts val="1200"/>
              </a:spcBef>
              <a:spcAft>
                <a:spcPts val="0"/>
              </a:spcAft>
              <a:buSzPts val="1440"/>
              <a:buNone/>
            </a:pPr>
            <a:endParaRPr dirty="0"/>
          </a:p>
        </p:txBody>
      </p:sp>
      <p:pic>
        <p:nvPicPr>
          <p:cNvPr id="6663" name="Google Shape;6663;p40"/>
          <p:cNvPicPr preferRelativeResize="0"/>
          <p:nvPr/>
        </p:nvPicPr>
        <p:blipFill rotWithShape="1">
          <a:blip r:embed="rId3">
            <a:alphaModFix/>
          </a:blip>
          <a:srcRect/>
          <a:stretch/>
        </p:blipFill>
        <p:spPr>
          <a:xfrm>
            <a:off x="794349" y="1658696"/>
            <a:ext cx="7150608" cy="434559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668"/>
        <p:cNvGrpSpPr/>
        <p:nvPr/>
      </p:nvGrpSpPr>
      <p:grpSpPr>
        <a:xfrm>
          <a:off x="0" y="0"/>
          <a:ext cx="0" cy="0"/>
          <a:chOff x="0" y="0"/>
          <a:chExt cx="0" cy="0"/>
        </a:xfrm>
      </p:grpSpPr>
      <p:sp>
        <p:nvSpPr>
          <p:cNvPr id="6669" name="Google Shape;6669;p41"/>
          <p:cNvSpPr/>
          <p:nvPr/>
        </p:nvSpPr>
        <p:spPr>
          <a:xfrm>
            <a:off x="8066" y="1612253"/>
            <a:ext cx="8131281" cy="4570809"/>
          </a:xfrm>
          <a:prstGeom prst="roundRect">
            <a:avLst>
              <a:gd name="adj" fmla="val 0"/>
            </a:avLst>
          </a:prstGeom>
          <a:solidFill>
            <a:srgbClr val="F4F8FA"/>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FFFFFF"/>
              </a:buClr>
              <a:buSzPts val="1000"/>
              <a:buFont typeface="Arial"/>
              <a:buNone/>
            </a:pPr>
            <a:endParaRPr sz="1000" b="0" i="0" u="none" strike="noStrike" cap="none">
              <a:solidFill>
                <a:srgbClr val="000000"/>
              </a:solidFill>
              <a:latin typeface="Arial"/>
              <a:ea typeface="Arial"/>
              <a:cs typeface="Arial"/>
              <a:sym typeface="Arial"/>
            </a:endParaRPr>
          </a:p>
        </p:txBody>
      </p:sp>
      <p:sp>
        <p:nvSpPr>
          <p:cNvPr id="6670" name="Google Shape;6670;p4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VCF Download Tool for Disconnected Sites</a:t>
            </a:r>
            <a:endParaRPr/>
          </a:p>
        </p:txBody>
      </p:sp>
      <p:sp>
        <p:nvSpPr>
          <p:cNvPr id="6671" name="Google Shape;6671;p4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Command-line utility supports new, enhanced offline depot and binary transfer scenarios</a:t>
            </a:r>
            <a:endParaRPr/>
          </a:p>
        </p:txBody>
      </p:sp>
      <p:sp>
        <p:nvSpPr>
          <p:cNvPr id="6672" name="Google Shape;6672;p41"/>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New binary download tool</a:t>
            </a:r>
            <a:endParaRPr dirty="0"/>
          </a:p>
          <a:p>
            <a:pPr marL="457200" lvl="1" indent="-184150" algn="l" rtl="0">
              <a:lnSpc>
                <a:spcPct val="100000"/>
              </a:lnSpc>
              <a:spcBef>
                <a:spcPts val="1200"/>
              </a:spcBef>
              <a:spcAft>
                <a:spcPts val="0"/>
              </a:spcAft>
              <a:buSzPts val="1260"/>
              <a:buChar char="•"/>
            </a:pPr>
            <a:r>
              <a:rPr lang="en-US" dirty="0"/>
              <a:t>Supports VCF 9+</a:t>
            </a:r>
            <a:endParaRPr dirty="0"/>
          </a:p>
          <a:p>
            <a:pPr marL="457200" lvl="1" indent="-184150" algn="l" rtl="0">
              <a:lnSpc>
                <a:spcPct val="100000"/>
              </a:lnSpc>
              <a:spcBef>
                <a:spcPts val="1200"/>
              </a:spcBef>
              <a:spcAft>
                <a:spcPts val="0"/>
              </a:spcAft>
              <a:buSzPts val="1260"/>
              <a:buChar char="•"/>
            </a:pPr>
            <a:r>
              <a:rPr lang="en-US" dirty="0"/>
              <a:t>Integrates infrastructure bundles and UMDS host patches</a:t>
            </a:r>
            <a:endParaRPr dirty="0"/>
          </a:p>
          <a:p>
            <a:pPr marL="0" lvl="0" indent="0" algn="l" rtl="0">
              <a:lnSpc>
                <a:spcPct val="100000"/>
              </a:lnSpc>
              <a:spcBef>
                <a:spcPts val="1200"/>
              </a:spcBef>
              <a:spcAft>
                <a:spcPts val="0"/>
              </a:spcAft>
              <a:buSzPts val="1440"/>
              <a:buNone/>
            </a:pPr>
            <a:r>
              <a:rPr lang="en-US" dirty="0"/>
              <a:t>Essential for disconnected sites</a:t>
            </a:r>
            <a:endParaRPr dirty="0"/>
          </a:p>
          <a:p>
            <a:pPr marL="457200" lvl="1" indent="-184150" algn="l" rtl="0">
              <a:lnSpc>
                <a:spcPct val="100000"/>
              </a:lnSpc>
              <a:spcBef>
                <a:spcPts val="1200"/>
              </a:spcBef>
              <a:spcAft>
                <a:spcPts val="0"/>
              </a:spcAft>
              <a:buSzPts val="1260"/>
              <a:buChar char="•"/>
            </a:pPr>
            <a:r>
              <a:rPr lang="en-US" dirty="0"/>
              <a:t>Initial VCF installation</a:t>
            </a:r>
            <a:endParaRPr dirty="0"/>
          </a:p>
          <a:p>
            <a:pPr marL="457200" lvl="1" indent="-184150" algn="l" rtl="0">
              <a:lnSpc>
                <a:spcPct val="100000"/>
              </a:lnSpc>
              <a:spcBef>
                <a:spcPts val="1200"/>
              </a:spcBef>
              <a:spcAft>
                <a:spcPts val="0"/>
              </a:spcAft>
              <a:buSzPts val="1260"/>
              <a:buChar char="•"/>
            </a:pPr>
            <a:r>
              <a:rPr lang="en-US" dirty="0"/>
              <a:t>Ongoing lifecycle management</a:t>
            </a:r>
            <a:endParaRPr dirty="0"/>
          </a:p>
          <a:p>
            <a:pPr marL="0" lvl="0" indent="0" algn="l" rtl="0">
              <a:lnSpc>
                <a:spcPct val="100000"/>
              </a:lnSpc>
              <a:spcBef>
                <a:spcPts val="1200"/>
              </a:spcBef>
              <a:spcAft>
                <a:spcPts val="0"/>
              </a:spcAft>
              <a:buSzPts val="1440"/>
              <a:buNone/>
            </a:pPr>
            <a:r>
              <a:rPr lang="en-US" dirty="0"/>
              <a:t>VCF 5.x and below continue to use the original OBTU tool</a:t>
            </a:r>
            <a:endParaRPr dirty="0"/>
          </a:p>
        </p:txBody>
      </p:sp>
      <p:pic>
        <p:nvPicPr>
          <p:cNvPr id="6673" name="Google Shape;6673;p41"/>
          <p:cNvPicPr preferRelativeResize="0">
            <a:picLocks noGrp="1"/>
          </p:cNvPicPr>
          <p:nvPr>
            <p:ph type="body" idx="3"/>
          </p:nvPr>
        </p:nvPicPr>
        <p:blipFill rotWithShape="1">
          <a:blip r:embed="rId3">
            <a:alphaModFix/>
          </a:blip>
          <a:srcRect/>
          <a:stretch/>
        </p:blipFill>
        <p:spPr>
          <a:xfrm>
            <a:off x="652106" y="2227295"/>
            <a:ext cx="7279439" cy="2624838"/>
          </a:xfrm>
          <a:prstGeom prst="rect">
            <a:avLst/>
          </a:prstGeom>
          <a:noFill/>
          <a:ln>
            <a:noFill/>
          </a:ln>
        </p:spPr>
      </p:pic>
      <p:sp>
        <p:nvSpPr>
          <p:cNvPr id="6674" name="Google Shape;6674;p41"/>
          <p:cNvSpPr/>
          <p:nvPr/>
        </p:nvSpPr>
        <p:spPr>
          <a:xfrm>
            <a:off x="594300" y="2163969"/>
            <a:ext cx="7398906" cy="2683662"/>
          </a:xfrm>
          <a:prstGeom prst="roundRect">
            <a:avLst>
              <a:gd name="adj" fmla="val 5089"/>
            </a:avLst>
          </a:prstGeom>
          <a:noFill/>
          <a:ln w="127000" cap="flat" cmpd="sng">
            <a:solidFill>
              <a:schemeClr val="lt1"/>
            </a:solidFill>
            <a:prstDash val="solid"/>
            <a:miter lim="800000"/>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chemeClr val="lt1"/>
              </a:buClr>
              <a:buSzPts val="1799"/>
              <a:buFont typeface="Arial"/>
              <a:buNone/>
            </a:pPr>
            <a:endParaRPr sz="1799" b="0" i="0" u="none" strike="noStrike" cap="none">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679"/>
        <p:cNvGrpSpPr/>
        <p:nvPr/>
      </p:nvGrpSpPr>
      <p:grpSpPr>
        <a:xfrm>
          <a:off x="0" y="0"/>
          <a:ext cx="0" cy="0"/>
          <a:chOff x="0" y="0"/>
          <a:chExt cx="0" cy="0"/>
        </a:xfrm>
      </p:grpSpPr>
      <p:sp>
        <p:nvSpPr>
          <p:cNvPr id="6680" name="Google Shape;6680;p42"/>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Private Cloud Operations</a:t>
            </a:r>
            <a:br>
              <a:rPr lang="en-US"/>
            </a:br>
            <a:endParaRPr/>
          </a:p>
        </p:txBody>
      </p:sp>
      <p:sp>
        <p:nvSpPr>
          <p:cNvPr id="6681" name="Google Shape;6681;p42"/>
          <p:cNvSpPr txBox="1"/>
          <p:nvPr/>
        </p:nvSpPr>
        <p:spPr>
          <a:xfrm>
            <a:off x="490252" y="2308659"/>
            <a:ext cx="7315200" cy="432278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800"/>
              <a:buFont typeface="Arial"/>
              <a:buChar char="•"/>
            </a:pPr>
            <a:r>
              <a:rPr lang="en-US" sz="2000">
                <a:solidFill>
                  <a:schemeClr val="dk1"/>
                </a:solidFill>
                <a:latin typeface="Arial"/>
                <a:ea typeface="Arial"/>
                <a:cs typeface="Arial"/>
                <a:sym typeface="Arial"/>
              </a:rPr>
              <a:t>Integrated Infrastructure Operations - Network</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Integrated Infrastructure Operations – Storage</a:t>
            </a:r>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Integrated Infrastructure Operations - Logs</a:t>
            </a:r>
            <a:r>
              <a:rPr lang="en-US" sz="18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Health and Diagnostics</a:t>
            </a:r>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Fin-Ops – Chargeback</a:t>
            </a:r>
            <a:endParaRPr/>
          </a:p>
          <a:p>
            <a:pPr marL="342900" marR="0" lvl="0" indent="-342900" algn="l" rtl="0">
              <a:lnSpc>
                <a:spcPct val="100000"/>
              </a:lnSpc>
              <a:spcBef>
                <a:spcPts val="600"/>
              </a:spcBef>
              <a:spcAft>
                <a:spcPts val="0"/>
              </a:spcAft>
              <a:buClr>
                <a:srgbClr val="666666"/>
              </a:buClr>
              <a:buSzPts val="1800"/>
              <a:buFont typeface="Arial"/>
              <a:buChar char="•"/>
            </a:pPr>
            <a:r>
              <a:rPr lang="en-US" sz="2000">
                <a:solidFill>
                  <a:schemeClr val="dk1"/>
                </a:solidFill>
                <a:latin typeface="Arial"/>
                <a:ea typeface="Arial"/>
                <a:cs typeface="Arial"/>
                <a:sym typeface="Arial"/>
              </a:rPr>
              <a:t>Workload Migration Planning</a:t>
            </a:r>
            <a:endParaRPr sz="180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a:solidFill>
                <a:schemeClr val="dk1"/>
              </a:solidFill>
              <a:latin typeface="Arial"/>
              <a:ea typeface="Arial"/>
              <a:cs typeface="Arial"/>
              <a:sym typeface="Arial"/>
            </a:endParaRPr>
          </a:p>
        </p:txBody>
      </p:sp>
      <p:sp>
        <p:nvSpPr>
          <p:cNvPr id="6682" name="Google Shape;6682;p42"/>
          <p:cNvSpPr txBox="1"/>
          <p:nvPr/>
        </p:nvSpPr>
        <p:spPr>
          <a:xfrm>
            <a:off x="588963" y="1823094"/>
            <a:ext cx="20219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chemeClr val="accent2"/>
                </a:solidFill>
                <a:latin typeface="Arial"/>
                <a:ea typeface="Arial"/>
                <a:cs typeface="Arial"/>
                <a:sym typeface="Arial"/>
              </a:rPr>
              <a:t>VCF OPERATIONS</a:t>
            </a:r>
            <a:endParaRPr sz="1800">
              <a:solidFill>
                <a:schemeClr val="accen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54">
          <a:extLst>
            <a:ext uri="{FF2B5EF4-FFF2-40B4-BE49-F238E27FC236}">
              <a16:creationId xmlns:a16="http://schemas.microsoft.com/office/drawing/2014/main" id="{DA4105A7-7B24-4D7D-F6BB-187D497F445E}"/>
            </a:ext>
          </a:extLst>
        </p:cNvPr>
        <p:cNvGrpSpPr/>
        <p:nvPr/>
      </p:nvGrpSpPr>
      <p:grpSpPr>
        <a:xfrm>
          <a:off x="0" y="0"/>
          <a:ext cx="0" cy="0"/>
          <a:chOff x="0" y="0"/>
          <a:chExt cx="0" cy="0"/>
        </a:xfrm>
      </p:grpSpPr>
      <p:sp>
        <p:nvSpPr>
          <p:cNvPr id="2857" name="Google Shape;2857;p26">
            <a:extLst>
              <a:ext uri="{FF2B5EF4-FFF2-40B4-BE49-F238E27FC236}">
                <a16:creationId xmlns:a16="http://schemas.microsoft.com/office/drawing/2014/main" id="{14E1D11C-B6FA-3413-F0C1-8531D04D91C6}"/>
              </a:ext>
            </a:extLst>
          </p:cNvPr>
          <p:cNvSpPr/>
          <p:nvPr/>
        </p:nvSpPr>
        <p:spPr>
          <a:xfrm>
            <a:off x="726" y="1408070"/>
            <a:ext cx="12170677" cy="4701027"/>
          </a:xfrm>
          <a:custGeom>
            <a:avLst/>
            <a:gdLst/>
            <a:ahLst/>
            <a:cxnLst/>
            <a:rect l="l" t="t" r="r" b="b"/>
            <a:pathLst>
              <a:path w="3672840" h="3488576" extrusionOk="0">
                <a:moveTo>
                  <a:pt x="0" y="0"/>
                </a:moveTo>
                <a:lnTo>
                  <a:pt x="3672840" y="0"/>
                </a:lnTo>
                <a:lnTo>
                  <a:pt x="3672840" y="1284810"/>
                </a:lnTo>
                <a:lnTo>
                  <a:pt x="3672840" y="1371601"/>
                </a:lnTo>
                <a:lnTo>
                  <a:pt x="3672840" y="3488576"/>
                </a:lnTo>
                <a:lnTo>
                  <a:pt x="0" y="3488576"/>
                </a:lnTo>
                <a:lnTo>
                  <a:pt x="0" y="1371601"/>
                </a:lnTo>
                <a:lnTo>
                  <a:pt x="0" y="1284810"/>
                </a:lnTo>
                <a:close/>
              </a:path>
            </a:pathLst>
          </a:custGeom>
          <a:solidFill>
            <a:srgbClr val="F4F8FA"/>
          </a:solidFill>
          <a:ln>
            <a:noFill/>
          </a:ln>
        </p:spPr>
        <p:txBody>
          <a:bodyPr spcFirstLastPara="1" wrap="square" lIns="91350" tIns="45650" rIns="91350" bIns="456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58" name="Google Shape;2858;p26">
            <a:extLst>
              <a:ext uri="{FF2B5EF4-FFF2-40B4-BE49-F238E27FC236}">
                <a16:creationId xmlns:a16="http://schemas.microsoft.com/office/drawing/2014/main" id="{69BA0DBD-6000-DCFE-C1C6-DAE37BA38287}"/>
              </a:ext>
            </a:extLst>
          </p:cNvPr>
          <p:cNvSpPr/>
          <p:nvPr/>
        </p:nvSpPr>
        <p:spPr>
          <a:xfrm>
            <a:off x="581247" y="1527086"/>
            <a:ext cx="10871707" cy="4446994"/>
          </a:xfrm>
          <a:prstGeom prst="roundRect">
            <a:avLst>
              <a:gd name="adj" fmla="val 2525"/>
            </a:avLst>
          </a:prstGeom>
          <a:solidFill>
            <a:schemeClr val="lt1"/>
          </a:solidFill>
          <a:ln w="9525" cap="flat" cmpd="sng">
            <a:solidFill>
              <a:srgbClr val="797979"/>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 name="Google Shape;6678;g2d30ebb658d_0_19789">
            <a:extLst>
              <a:ext uri="{FF2B5EF4-FFF2-40B4-BE49-F238E27FC236}">
                <a16:creationId xmlns:a16="http://schemas.microsoft.com/office/drawing/2014/main" id="{99470523-9960-3FE6-5772-BAB24043C773}"/>
              </a:ext>
            </a:extLst>
          </p:cNvPr>
          <p:cNvSpPr/>
          <p:nvPr/>
        </p:nvSpPr>
        <p:spPr>
          <a:xfrm>
            <a:off x="3998316" y="1628976"/>
            <a:ext cx="3454744" cy="4259217"/>
          </a:xfrm>
          <a:prstGeom prst="roundRect">
            <a:avLst>
              <a:gd name="adj" fmla="val 2356"/>
            </a:avLst>
          </a:prstGeom>
          <a:solidFill>
            <a:schemeClr val="accent5">
              <a:alpha val="9770"/>
            </a:schemeClr>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4" name="Group 13">
            <a:extLst>
              <a:ext uri="{FF2B5EF4-FFF2-40B4-BE49-F238E27FC236}">
                <a16:creationId xmlns:a16="http://schemas.microsoft.com/office/drawing/2014/main" id="{51516C7D-274D-A7A0-3C4F-01F6EA8B9D4D}"/>
              </a:ext>
            </a:extLst>
          </p:cNvPr>
          <p:cNvGrpSpPr/>
          <p:nvPr/>
        </p:nvGrpSpPr>
        <p:grpSpPr>
          <a:xfrm>
            <a:off x="4095905" y="1684476"/>
            <a:ext cx="3241873" cy="4105882"/>
            <a:chOff x="6126406" y="1684476"/>
            <a:chExt cx="3241873" cy="4105882"/>
          </a:xfrm>
        </p:grpSpPr>
        <p:sp>
          <p:nvSpPr>
            <p:cNvPr id="10" name="TextBox 9">
              <a:extLst>
                <a:ext uri="{FF2B5EF4-FFF2-40B4-BE49-F238E27FC236}">
                  <a16:creationId xmlns:a16="http://schemas.microsoft.com/office/drawing/2014/main" id="{EBB6C753-DF40-D704-B012-302A19EAC2BF}"/>
                </a:ext>
              </a:extLst>
            </p:cNvPr>
            <p:cNvSpPr txBox="1"/>
            <p:nvPr/>
          </p:nvSpPr>
          <p:spPr>
            <a:xfrm>
              <a:off x="7479263" y="1684476"/>
              <a:ext cx="552582" cy="14776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VCF Fleet</a:t>
              </a:r>
            </a:p>
          </p:txBody>
        </p:sp>
        <p:grpSp>
          <p:nvGrpSpPr>
            <p:cNvPr id="6" name="Group 5">
              <a:extLst>
                <a:ext uri="{FF2B5EF4-FFF2-40B4-BE49-F238E27FC236}">
                  <a16:creationId xmlns:a16="http://schemas.microsoft.com/office/drawing/2014/main" id="{F9D282C7-0D8E-2C8E-927B-17A58E56D230}"/>
                </a:ext>
              </a:extLst>
            </p:cNvPr>
            <p:cNvGrpSpPr/>
            <p:nvPr/>
          </p:nvGrpSpPr>
          <p:grpSpPr>
            <a:xfrm>
              <a:off x="6126406" y="5305809"/>
              <a:ext cx="3241873" cy="484549"/>
              <a:chOff x="4103641" y="5305809"/>
              <a:chExt cx="3241873" cy="484549"/>
            </a:xfrm>
          </p:grpSpPr>
          <p:grpSp>
            <p:nvGrpSpPr>
              <p:cNvPr id="11" name="Group 10">
                <a:extLst>
                  <a:ext uri="{FF2B5EF4-FFF2-40B4-BE49-F238E27FC236}">
                    <a16:creationId xmlns:a16="http://schemas.microsoft.com/office/drawing/2014/main" id="{DEA4C7E9-5BD1-EB4D-85FB-7A15F4AAFE6D}"/>
                  </a:ext>
                </a:extLst>
              </p:cNvPr>
              <p:cNvGrpSpPr/>
              <p:nvPr/>
            </p:nvGrpSpPr>
            <p:grpSpPr>
              <a:xfrm>
                <a:off x="4103641" y="5305809"/>
                <a:ext cx="3241873" cy="484549"/>
                <a:chOff x="4357596" y="5842511"/>
                <a:chExt cx="1909145" cy="308820"/>
              </a:xfrm>
            </p:grpSpPr>
            <p:sp>
              <p:nvSpPr>
                <p:cNvPr id="12" name="Google Shape;6678;g2d30ebb658d_0_19789">
                  <a:extLst>
                    <a:ext uri="{FF2B5EF4-FFF2-40B4-BE49-F238E27FC236}">
                      <a16:creationId xmlns:a16="http://schemas.microsoft.com/office/drawing/2014/main" id="{5A70FDCF-6BA0-5ABE-67C7-5F494677B38E}"/>
                    </a:ext>
                  </a:extLst>
                </p:cNvPr>
                <p:cNvSpPr/>
                <p:nvPr/>
              </p:nvSpPr>
              <p:spPr>
                <a:xfrm>
                  <a:off x="4357596" y="5842511"/>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3" name="TextBox 12">
                  <a:extLst>
                    <a:ext uri="{FF2B5EF4-FFF2-40B4-BE49-F238E27FC236}">
                      <a16:creationId xmlns:a16="http://schemas.microsoft.com/office/drawing/2014/main" id="{A2583E97-A999-2890-F98D-94A5FDCA2576}"/>
                    </a:ext>
                  </a:extLst>
                </p:cNvPr>
                <p:cNvSpPr txBox="1"/>
                <p:nvPr/>
              </p:nvSpPr>
              <p:spPr>
                <a:xfrm>
                  <a:off x="4889462" y="5958091"/>
                  <a:ext cx="809461" cy="7729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Additional VCF Instances</a:t>
                  </a:r>
                </a:p>
              </p:txBody>
            </p:sp>
          </p:grpSp>
          <p:pic>
            <p:nvPicPr>
              <p:cNvPr id="15" name="Google Shape;2871;p26">
                <a:extLst>
                  <a:ext uri="{FF2B5EF4-FFF2-40B4-BE49-F238E27FC236}">
                    <a16:creationId xmlns:a16="http://schemas.microsoft.com/office/drawing/2014/main" id="{25922329-286D-18D4-1530-87BBA09C15D5}"/>
                  </a:ext>
                </a:extLst>
              </p:cNvPr>
              <p:cNvPicPr preferRelativeResize="0"/>
              <p:nvPr/>
            </p:nvPicPr>
            <p:blipFill rotWithShape="1">
              <a:blip r:embed="rId3">
                <a:alphaModFix/>
              </a:blip>
              <a:srcRect/>
              <a:stretch/>
            </p:blipFill>
            <p:spPr>
              <a:xfrm>
                <a:off x="4511014" y="5385954"/>
                <a:ext cx="289251" cy="317890"/>
              </a:xfrm>
              <a:prstGeom prst="rect">
                <a:avLst/>
              </a:prstGeom>
              <a:noFill/>
              <a:ln>
                <a:noFill/>
              </a:ln>
            </p:spPr>
          </p:pic>
        </p:grpSp>
      </p:grpSp>
      <p:sp>
        <p:nvSpPr>
          <p:cNvPr id="2855" name="Google Shape;2855;p26">
            <a:extLst>
              <a:ext uri="{FF2B5EF4-FFF2-40B4-BE49-F238E27FC236}">
                <a16:creationId xmlns:a16="http://schemas.microsoft.com/office/drawing/2014/main" id="{8F5967D5-2EFA-8573-9091-C511BBABC647}"/>
              </a:ext>
            </a:extLst>
          </p:cNvPr>
          <p:cNvSpPr txBox="1">
            <a:spLocks noGrp="1"/>
          </p:cNvSpPr>
          <p:nvPr>
            <p:ph type="title"/>
          </p:nvPr>
        </p:nvSpPr>
        <p:spPr>
          <a:xfrm>
            <a:off x="581245" y="413536"/>
            <a:ext cx="10998139" cy="380901"/>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800"/>
              <a:buNone/>
            </a:pPr>
            <a:r>
              <a:rPr lang="en-US" dirty="0"/>
              <a:t>Private Cloud Operations</a:t>
            </a:r>
            <a:endParaRPr dirty="0"/>
          </a:p>
        </p:txBody>
      </p:sp>
      <p:sp>
        <p:nvSpPr>
          <p:cNvPr id="2856" name="Google Shape;2856;p26">
            <a:extLst>
              <a:ext uri="{FF2B5EF4-FFF2-40B4-BE49-F238E27FC236}">
                <a16:creationId xmlns:a16="http://schemas.microsoft.com/office/drawing/2014/main" id="{F97F5CCA-D4D6-DA6D-FC4E-C8E0F3D7790E}"/>
              </a:ext>
            </a:extLst>
          </p:cNvPr>
          <p:cNvSpPr txBox="1">
            <a:spLocks noGrp="1"/>
          </p:cNvSpPr>
          <p:nvPr>
            <p:ph type="subTitle" idx="1"/>
          </p:nvPr>
        </p:nvSpPr>
        <p:spPr>
          <a:xfrm>
            <a:off x="594300" y="812513"/>
            <a:ext cx="10959832" cy="24767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VCF Operations</a:t>
            </a:r>
            <a:endParaRPr dirty="0"/>
          </a:p>
        </p:txBody>
      </p:sp>
      <p:sp>
        <p:nvSpPr>
          <p:cNvPr id="2876" name="Google Shape;2876;p26">
            <a:extLst>
              <a:ext uri="{FF2B5EF4-FFF2-40B4-BE49-F238E27FC236}">
                <a16:creationId xmlns:a16="http://schemas.microsoft.com/office/drawing/2014/main" id="{46376D7D-3168-FE66-EAED-2F3BF21E7009}"/>
              </a:ext>
            </a:extLst>
          </p:cNvPr>
          <p:cNvSpPr/>
          <p:nvPr/>
        </p:nvSpPr>
        <p:spPr>
          <a:xfrm rot="5400000">
            <a:off x="1980766" y="3687645"/>
            <a:ext cx="3638148" cy="812800"/>
          </a:xfrm>
          <a:prstGeom prst="triangle">
            <a:avLst>
              <a:gd name="adj" fmla="val 7916"/>
            </a:avLst>
          </a:prstGeom>
          <a:gradFill>
            <a:gsLst>
              <a:gs pos="0">
                <a:srgbClr val="005C8A">
                  <a:alpha val="23529"/>
                </a:srgbClr>
              </a:gs>
              <a:gs pos="100000">
                <a:srgbClr val="FFFFFF">
                  <a:alpha val="0"/>
                </a:srgbClr>
              </a:gs>
            </a:gsLst>
            <a:lin ang="540000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78" name="Google Shape;2878;p26">
            <a:extLst>
              <a:ext uri="{FF2B5EF4-FFF2-40B4-BE49-F238E27FC236}">
                <a16:creationId xmlns:a16="http://schemas.microsoft.com/office/drawing/2014/main" id="{B67AA59F-A19C-8B5C-071E-81C3182D4EDC}"/>
              </a:ext>
            </a:extLst>
          </p:cNvPr>
          <p:cNvGrpSpPr/>
          <p:nvPr/>
        </p:nvGrpSpPr>
        <p:grpSpPr>
          <a:xfrm>
            <a:off x="902756" y="1965017"/>
            <a:ext cx="3366124" cy="3347676"/>
            <a:chOff x="902756" y="2042507"/>
            <a:chExt cx="3366124" cy="3347676"/>
          </a:xfrm>
        </p:grpSpPr>
        <p:sp>
          <p:nvSpPr>
            <p:cNvPr id="2879" name="Google Shape;2879;p26">
              <a:extLst>
                <a:ext uri="{FF2B5EF4-FFF2-40B4-BE49-F238E27FC236}">
                  <a16:creationId xmlns:a16="http://schemas.microsoft.com/office/drawing/2014/main" id="{44324A95-6CE1-34BE-E164-02FFD10B0506}"/>
                </a:ext>
              </a:extLst>
            </p:cNvPr>
            <p:cNvSpPr txBox="1"/>
            <p:nvPr/>
          </p:nvSpPr>
          <p:spPr>
            <a:xfrm>
              <a:off x="915197" y="2588956"/>
              <a:ext cx="2990953"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VCF Health &amp; Diagnostics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a:ln>
                    <a:noFill/>
                  </a:ln>
                  <a:solidFill>
                    <a:srgbClr val="777777"/>
                  </a:solidFill>
                  <a:effectLst/>
                  <a:uLnTx/>
                  <a:uFillTx/>
                  <a:latin typeface="Arial"/>
                  <a:ea typeface="Arial"/>
                  <a:cs typeface="Arial"/>
                  <a:sym typeface="Arial"/>
                </a:rPr>
                <a:t>(formerly Aria Skyline)</a:t>
              </a:r>
              <a:endParaRPr kumimoji="0" sz="1300" b="0" i="0" u="none" strike="noStrike" kern="1200" cap="none" spc="0" normalizeH="0" baseline="0" noProof="0">
                <a:ln>
                  <a:noFill/>
                </a:ln>
                <a:solidFill>
                  <a:srgbClr val="777777"/>
                </a:solidFill>
                <a:effectLst/>
                <a:uLnTx/>
                <a:uFillTx/>
                <a:latin typeface="Arial"/>
                <a:ea typeface="Arial"/>
                <a:cs typeface="Arial"/>
                <a:sym typeface="Arial"/>
              </a:endParaRPr>
            </a:p>
          </p:txBody>
        </p:sp>
        <p:sp>
          <p:nvSpPr>
            <p:cNvPr id="2880" name="Google Shape;2880;p26">
              <a:extLst>
                <a:ext uri="{FF2B5EF4-FFF2-40B4-BE49-F238E27FC236}">
                  <a16:creationId xmlns:a16="http://schemas.microsoft.com/office/drawing/2014/main" id="{B8047814-A8A8-2FB8-FC7B-8EE3BF78E562}"/>
                </a:ext>
              </a:extLst>
            </p:cNvPr>
            <p:cNvSpPr txBox="1"/>
            <p:nvPr/>
          </p:nvSpPr>
          <p:spPr>
            <a:xfrm>
              <a:off x="910038" y="3609123"/>
              <a:ext cx="2916759"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Network Operations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endParaRPr kumimoji="0" sz="1300" b="0" i="0" u="none" strike="noStrike" kern="1200" cap="none" spc="0" normalizeH="0" baseline="0" noProof="0">
                <a:ln>
                  <a:noFill/>
                </a:ln>
                <a:solidFill>
                  <a:srgbClr val="777777"/>
                </a:solidFill>
                <a:effectLst/>
                <a:uLnTx/>
                <a:uFillTx/>
                <a:latin typeface="Arial"/>
                <a:ea typeface="Arial"/>
                <a:cs typeface="Arial"/>
                <a:sym typeface="Arial"/>
              </a:endParaRPr>
            </a:p>
          </p:txBody>
        </p:sp>
        <p:sp>
          <p:nvSpPr>
            <p:cNvPr id="2881" name="Google Shape;2881;p26">
              <a:extLst>
                <a:ext uri="{FF2B5EF4-FFF2-40B4-BE49-F238E27FC236}">
                  <a16:creationId xmlns:a16="http://schemas.microsoft.com/office/drawing/2014/main" id="{62CF6169-48C1-011D-F87C-58D4313F60DC}"/>
                </a:ext>
              </a:extLst>
            </p:cNvPr>
            <p:cNvSpPr/>
            <p:nvPr/>
          </p:nvSpPr>
          <p:spPr>
            <a:xfrm>
              <a:off x="3286216" y="4014594"/>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2" name="Google Shape;2882;p26">
              <a:extLst>
                <a:ext uri="{FF2B5EF4-FFF2-40B4-BE49-F238E27FC236}">
                  <a16:creationId xmlns:a16="http://schemas.microsoft.com/office/drawing/2014/main" id="{6CB58EC9-5D05-1B9B-90A2-A30400C37EAF}"/>
                </a:ext>
              </a:extLst>
            </p:cNvPr>
            <p:cNvSpPr txBox="1"/>
            <p:nvPr/>
          </p:nvSpPr>
          <p:spPr>
            <a:xfrm>
              <a:off x="909467" y="4650753"/>
              <a:ext cx="2257030" cy="36000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Troubleshooting &amp; Observability</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3" name="Google Shape;2883;p26">
              <a:extLst>
                <a:ext uri="{FF2B5EF4-FFF2-40B4-BE49-F238E27FC236}">
                  <a16:creationId xmlns:a16="http://schemas.microsoft.com/office/drawing/2014/main" id="{777BCAF3-E2F3-7625-E984-B4DCAB19E19D}"/>
                </a:ext>
              </a:extLst>
            </p:cNvPr>
            <p:cNvSpPr txBox="1"/>
            <p:nvPr/>
          </p:nvSpPr>
          <p:spPr>
            <a:xfrm>
              <a:off x="914705" y="4130910"/>
              <a:ext cx="287963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Storage Operations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4" name="Google Shape;2884;p26">
              <a:extLst>
                <a:ext uri="{FF2B5EF4-FFF2-40B4-BE49-F238E27FC236}">
                  <a16:creationId xmlns:a16="http://schemas.microsoft.com/office/drawing/2014/main" id="{6394AD42-9E48-D09C-1B9E-F1415B87C825}"/>
                </a:ext>
              </a:extLst>
            </p:cNvPr>
            <p:cNvSpPr/>
            <p:nvPr/>
          </p:nvSpPr>
          <p:spPr>
            <a:xfrm>
              <a:off x="3286216" y="4524815"/>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5" name="Google Shape;2885;p26">
              <a:extLst>
                <a:ext uri="{FF2B5EF4-FFF2-40B4-BE49-F238E27FC236}">
                  <a16:creationId xmlns:a16="http://schemas.microsoft.com/office/drawing/2014/main" id="{CAFFE54D-DE9F-6EAC-C1EC-4A1FABAB6503}"/>
                </a:ext>
              </a:extLst>
            </p:cNvPr>
            <p:cNvSpPr/>
            <p:nvPr/>
          </p:nvSpPr>
          <p:spPr>
            <a:xfrm>
              <a:off x="3286216" y="5035037"/>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6" name="Google Shape;2886;p26">
              <a:extLst>
                <a:ext uri="{FF2B5EF4-FFF2-40B4-BE49-F238E27FC236}">
                  <a16:creationId xmlns:a16="http://schemas.microsoft.com/office/drawing/2014/main" id="{3F0FBC0C-3EEF-BC7E-C188-9E2D61FD8679}"/>
                </a:ext>
              </a:extLst>
            </p:cNvPr>
            <p:cNvSpPr txBox="1"/>
            <p:nvPr/>
          </p:nvSpPr>
          <p:spPr>
            <a:xfrm>
              <a:off x="902756" y="3106661"/>
              <a:ext cx="260518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Integrated Log Operations </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7" name="Google Shape;2887;p26">
              <a:extLst>
                <a:ext uri="{FF2B5EF4-FFF2-40B4-BE49-F238E27FC236}">
                  <a16:creationId xmlns:a16="http://schemas.microsoft.com/office/drawing/2014/main" id="{7310059D-00E8-9328-4E6D-E0E22FF3652A}"/>
                </a:ext>
              </a:extLst>
            </p:cNvPr>
            <p:cNvSpPr/>
            <p:nvPr/>
          </p:nvSpPr>
          <p:spPr>
            <a:xfrm>
              <a:off x="3286216" y="3023497"/>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88" name="Google Shape;2888;p26">
              <a:extLst>
                <a:ext uri="{FF2B5EF4-FFF2-40B4-BE49-F238E27FC236}">
                  <a16:creationId xmlns:a16="http://schemas.microsoft.com/office/drawing/2014/main" id="{4B7FDA95-14BA-AE80-EC97-9B89CCC0EED8}"/>
                </a:ext>
              </a:extLst>
            </p:cNvPr>
            <p:cNvSpPr txBox="1"/>
            <p:nvPr/>
          </p:nvSpPr>
          <p:spPr>
            <a:xfrm>
              <a:off x="916987" y="5165383"/>
              <a:ext cx="269536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Security Operations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889" name="Google Shape;2889;p26">
              <a:extLst>
                <a:ext uri="{FF2B5EF4-FFF2-40B4-BE49-F238E27FC236}">
                  <a16:creationId xmlns:a16="http://schemas.microsoft.com/office/drawing/2014/main" id="{89B8F44A-CF60-4C92-AA0A-C492808030A2}"/>
                </a:ext>
              </a:extLst>
            </p:cNvPr>
            <p:cNvSpPr/>
            <p:nvPr/>
          </p:nvSpPr>
          <p:spPr>
            <a:xfrm>
              <a:off x="3286216" y="3516422"/>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90" name="Google Shape;2890;p26">
              <a:extLst>
                <a:ext uri="{FF2B5EF4-FFF2-40B4-BE49-F238E27FC236}">
                  <a16:creationId xmlns:a16="http://schemas.microsoft.com/office/drawing/2014/main" id="{3CCC652F-FE9A-4B32-6A47-D95D6C9CD3A5}"/>
                </a:ext>
              </a:extLst>
            </p:cNvPr>
            <p:cNvSpPr/>
            <p:nvPr/>
          </p:nvSpPr>
          <p:spPr>
            <a:xfrm>
              <a:off x="3275075" y="2508035"/>
              <a:ext cx="354227" cy="355146"/>
            </a:xfrm>
            <a:prstGeom prst="ellipse">
              <a:avLst/>
            </a:prstGeom>
            <a:solidFill>
              <a:schemeClr val="accent1"/>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pic>
          <p:nvPicPr>
            <p:cNvPr id="2891" name="Google Shape;2891;p26">
              <a:extLst>
                <a:ext uri="{FF2B5EF4-FFF2-40B4-BE49-F238E27FC236}">
                  <a16:creationId xmlns:a16="http://schemas.microsoft.com/office/drawing/2014/main" id="{D65082F0-635A-F969-5F25-7756474D7DCB}"/>
                </a:ext>
              </a:extLst>
            </p:cNvPr>
            <p:cNvPicPr preferRelativeResize="0"/>
            <p:nvPr/>
          </p:nvPicPr>
          <p:blipFill rotWithShape="1">
            <a:blip r:embed="rId4">
              <a:alphaModFix/>
            </a:blip>
            <a:srcRect/>
            <a:stretch/>
          </p:blipFill>
          <p:spPr>
            <a:xfrm>
              <a:off x="3333695" y="5082992"/>
              <a:ext cx="259241" cy="259241"/>
            </a:xfrm>
            <a:prstGeom prst="rect">
              <a:avLst/>
            </a:prstGeom>
            <a:noFill/>
            <a:ln>
              <a:noFill/>
            </a:ln>
          </p:spPr>
        </p:pic>
        <p:pic>
          <p:nvPicPr>
            <p:cNvPr id="2892" name="Google Shape;2892;p26">
              <a:extLst>
                <a:ext uri="{FF2B5EF4-FFF2-40B4-BE49-F238E27FC236}">
                  <a16:creationId xmlns:a16="http://schemas.microsoft.com/office/drawing/2014/main" id="{29062212-1EB9-A278-475A-B05937394444}"/>
                </a:ext>
              </a:extLst>
            </p:cNvPr>
            <p:cNvPicPr preferRelativeResize="0"/>
            <p:nvPr/>
          </p:nvPicPr>
          <p:blipFill rotWithShape="1">
            <a:blip r:embed="rId5">
              <a:alphaModFix/>
            </a:blip>
            <a:srcRect/>
            <a:stretch/>
          </p:blipFill>
          <p:spPr>
            <a:xfrm>
              <a:off x="3344419" y="3587875"/>
              <a:ext cx="225036" cy="225036"/>
            </a:xfrm>
            <a:prstGeom prst="rect">
              <a:avLst/>
            </a:prstGeom>
            <a:noFill/>
            <a:ln>
              <a:noFill/>
            </a:ln>
          </p:spPr>
        </p:pic>
        <p:pic>
          <p:nvPicPr>
            <p:cNvPr id="2893" name="Google Shape;2893;p26">
              <a:extLst>
                <a:ext uri="{FF2B5EF4-FFF2-40B4-BE49-F238E27FC236}">
                  <a16:creationId xmlns:a16="http://schemas.microsoft.com/office/drawing/2014/main" id="{F64BB0F4-0283-7AC1-2AFF-85C1B3B65327}"/>
                </a:ext>
              </a:extLst>
            </p:cNvPr>
            <p:cNvPicPr preferRelativeResize="0"/>
            <p:nvPr/>
          </p:nvPicPr>
          <p:blipFill rotWithShape="1">
            <a:blip r:embed="rId6">
              <a:alphaModFix/>
            </a:blip>
            <a:srcRect/>
            <a:stretch/>
          </p:blipFill>
          <p:spPr>
            <a:xfrm>
              <a:off x="3356814" y="4079651"/>
              <a:ext cx="225036" cy="225036"/>
            </a:xfrm>
            <a:prstGeom prst="rect">
              <a:avLst/>
            </a:prstGeom>
            <a:noFill/>
            <a:ln>
              <a:noFill/>
            </a:ln>
          </p:spPr>
        </p:pic>
        <p:pic>
          <p:nvPicPr>
            <p:cNvPr id="2894" name="Google Shape;2894;p26">
              <a:extLst>
                <a:ext uri="{FF2B5EF4-FFF2-40B4-BE49-F238E27FC236}">
                  <a16:creationId xmlns:a16="http://schemas.microsoft.com/office/drawing/2014/main" id="{0FD8A000-4DC0-303C-7BCF-ECD526C3975D}"/>
                </a:ext>
              </a:extLst>
            </p:cNvPr>
            <p:cNvPicPr preferRelativeResize="0"/>
            <p:nvPr/>
          </p:nvPicPr>
          <p:blipFill rotWithShape="1">
            <a:blip r:embed="rId7">
              <a:alphaModFix/>
            </a:blip>
            <a:srcRect/>
            <a:stretch/>
          </p:blipFill>
          <p:spPr>
            <a:xfrm>
              <a:off x="3345215" y="2571235"/>
              <a:ext cx="226727" cy="226727"/>
            </a:xfrm>
            <a:prstGeom prst="rect">
              <a:avLst/>
            </a:prstGeom>
            <a:noFill/>
            <a:ln>
              <a:noFill/>
            </a:ln>
          </p:spPr>
        </p:pic>
        <p:pic>
          <p:nvPicPr>
            <p:cNvPr id="2895" name="Google Shape;2895;p26">
              <a:extLst>
                <a:ext uri="{FF2B5EF4-FFF2-40B4-BE49-F238E27FC236}">
                  <a16:creationId xmlns:a16="http://schemas.microsoft.com/office/drawing/2014/main" id="{8BD97C02-54A5-E5DF-526B-43E53319F8B9}"/>
                </a:ext>
              </a:extLst>
            </p:cNvPr>
            <p:cNvPicPr preferRelativeResize="0"/>
            <p:nvPr/>
          </p:nvPicPr>
          <p:blipFill rotWithShape="1">
            <a:blip r:embed="rId8">
              <a:alphaModFix/>
            </a:blip>
            <a:srcRect/>
            <a:stretch/>
          </p:blipFill>
          <p:spPr>
            <a:xfrm>
              <a:off x="3369606" y="4602662"/>
              <a:ext cx="225036" cy="225036"/>
            </a:xfrm>
            <a:prstGeom prst="rect">
              <a:avLst/>
            </a:prstGeom>
            <a:noFill/>
            <a:ln>
              <a:noFill/>
            </a:ln>
          </p:spPr>
        </p:pic>
        <p:pic>
          <p:nvPicPr>
            <p:cNvPr id="2896" name="Google Shape;2896;p26">
              <a:extLst>
                <a:ext uri="{FF2B5EF4-FFF2-40B4-BE49-F238E27FC236}">
                  <a16:creationId xmlns:a16="http://schemas.microsoft.com/office/drawing/2014/main" id="{019AEBD8-329C-E87A-1F5C-C7FC86A5B259}"/>
                </a:ext>
              </a:extLst>
            </p:cNvPr>
            <p:cNvPicPr preferRelativeResize="0"/>
            <p:nvPr/>
          </p:nvPicPr>
          <p:blipFill rotWithShape="1">
            <a:blip r:embed="rId9">
              <a:alphaModFix/>
            </a:blip>
            <a:srcRect/>
            <a:stretch/>
          </p:blipFill>
          <p:spPr>
            <a:xfrm>
              <a:off x="3341694" y="3094684"/>
              <a:ext cx="212787" cy="212788"/>
            </a:xfrm>
            <a:prstGeom prst="rect">
              <a:avLst/>
            </a:prstGeom>
            <a:noFill/>
            <a:ln>
              <a:noFill/>
            </a:ln>
          </p:spPr>
        </p:pic>
        <p:sp>
          <p:nvSpPr>
            <p:cNvPr id="2897" name="Google Shape;2897;p26">
              <a:extLst>
                <a:ext uri="{FF2B5EF4-FFF2-40B4-BE49-F238E27FC236}">
                  <a16:creationId xmlns:a16="http://schemas.microsoft.com/office/drawing/2014/main" id="{6540BE7A-237E-2A9E-CA43-24A3DC68F860}"/>
                </a:ext>
              </a:extLst>
            </p:cNvPr>
            <p:cNvSpPr txBox="1"/>
            <p:nvPr/>
          </p:nvSpPr>
          <p:spPr>
            <a:xfrm>
              <a:off x="1277927" y="2042507"/>
              <a:ext cx="2990953" cy="2215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600" b="0" i="0" u="none" strike="noStrike" kern="1200" cap="none" spc="0" normalizeH="0" baseline="0" noProof="0">
                  <a:ln>
                    <a:noFill/>
                  </a:ln>
                  <a:solidFill>
                    <a:srgbClr val="007B8C"/>
                  </a:solidFill>
                  <a:effectLst/>
                  <a:uLnTx/>
                  <a:uFillTx/>
                  <a:latin typeface="Arial"/>
                  <a:ea typeface="Arial"/>
                  <a:cs typeface="Arial"/>
                  <a:sym typeface="Arial"/>
                </a:rPr>
                <a:t>VCF Operations</a:t>
              </a:r>
              <a:endParaRPr kumimoji="0" sz="1600" b="0" i="0" u="none" strike="noStrike" kern="1200" cap="none" spc="0" normalizeH="0" baseline="0" noProof="0">
                <a:ln>
                  <a:noFill/>
                </a:ln>
                <a:solidFill>
                  <a:srgbClr val="007B8C"/>
                </a:solidFill>
                <a:effectLst/>
                <a:uLnTx/>
                <a:uFillTx/>
                <a:latin typeface="Arial"/>
                <a:ea typeface="Arial"/>
                <a:cs typeface="Arial"/>
                <a:sym typeface="Arial"/>
              </a:endParaRPr>
            </a:p>
          </p:txBody>
        </p:sp>
      </p:grpSp>
      <p:sp>
        <p:nvSpPr>
          <p:cNvPr id="2898" name="Google Shape;2898;p26">
            <a:extLst>
              <a:ext uri="{FF2B5EF4-FFF2-40B4-BE49-F238E27FC236}">
                <a16:creationId xmlns:a16="http://schemas.microsoft.com/office/drawing/2014/main" id="{AF78FD9A-DC4D-8185-C3D3-39FE1D1AB396}"/>
              </a:ext>
            </a:extLst>
          </p:cNvPr>
          <p:cNvSpPr/>
          <p:nvPr/>
        </p:nvSpPr>
        <p:spPr>
          <a:xfrm rot="-5400000">
            <a:off x="5903236" y="3634306"/>
            <a:ext cx="3600898" cy="956728"/>
          </a:xfrm>
          <a:prstGeom prst="triangle">
            <a:avLst>
              <a:gd name="adj" fmla="val 92533"/>
            </a:avLst>
          </a:prstGeom>
          <a:gradFill>
            <a:gsLst>
              <a:gs pos="0">
                <a:srgbClr val="005C8A">
                  <a:alpha val="23529"/>
                </a:srgbClr>
              </a:gs>
              <a:gs pos="100000">
                <a:srgbClr val="FFFFFF">
                  <a:alpha val="0"/>
                </a:srgbClr>
              </a:gs>
            </a:gsLst>
            <a:lin ang="540000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99" name="Google Shape;2899;p26">
            <a:extLst>
              <a:ext uri="{FF2B5EF4-FFF2-40B4-BE49-F238E27FC236}">
                <a16:creationId xmlns:a16="http://schemas.microsoft.com/office/drawing/2014/main" id="{B24300D1-D4A0-2282-38B0-BFE9DD7FA868}"/>
              </a:ext>
            </a:extLst>
          </p:cNvPr>
          <p:cNvGrpSpPr/>
          <p:nvPr/>
        </p:nvGrpSpPr>
        <p:grpSpPr>
          <a:xfrm>
            <a:off x="7979394" y="1962653"/>
            <a:ext cx="3571788" cy="3497438"/>
            <a:chOff x="7979394" y="2040143"/>
            <a:chExt cx="3571788" cy="3497438"/>
          </a:xfrm>
        </p:grpSpPr>
        <p:sp>
          <p:nvSpPr>
            <p:cNvPr id="2900" name="Google Shape;2900;p26">
              <a:extLst>
                <a:ext uri="{FF2B5EF4-FFF2-40B4-BE49-F238E27FC236}">
                  <a16:creationId xmlns:a16="http://schemas.microsoft.com/office/drawing/2014/main" id="{2B97804E-E445-630B-B927-9CC0411CC2A1}"/>
                </a:ext>
              </a:extLst>
            </p:cNvPr>
            <p:cNvSpPr txBox="1"/>
            <p:nvPr/>
          </p:nvSpPr>
          <p:spPr>
            <a:xfrm>
              <a:off x="8798834" y="5291464"/>
              <a:ext cx="2752348" cy="246117"/>
            </a:xfrm>
            <a:prstGeom prst="rect">
              <a:avLst/>
            </a:prstGeom>
            <a:noFill/>
            <a:ln>
              <a:noFill/>
            </a:ln>
          </p:spPr>
          <p:txBody>
            <a:bodyPr spcFirstLastPara="1" wrap="square" lIns="91400" tIns="45675" rIns="91400" bIns="45675"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700"/>
                <a:buFont typeface="Arial"/>
                <a:buNone/>
                <a:tabLst/>
                <a:defRPr/>
              </a:pPr>
              <a:r>
                <a:rPr kumimoji="0" lang="en-US" sz="1000" b="0" i="1" u="none" strike="noStrike" kern="1200" cap="none" spc="0" normalizeH="0" baseline="0" noProof="0">
                  <a:ln>
                    <a:noFill/>
                  </a:ln>
                  <a:solidFill>
                    <a:srgbClr val="000000"/>
                  </a:solidFill>
                  <a:effectLst/>
                  <a:uLnTx/>
                  <a:uFillTx/>
                  <a:latin typeface="Arial"/>
                  <a:ea typeface="Arial"/>
                  <a:cs typeface="Arial"/>
                  <a:sym typeface="Arial"/>
                </a:rPr>
                <a:t>.</a:t>
              </a: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1" name="Google Shape;2901;p26">
              <a:extLst>
                <a:ext uri="{FF2B5EF4-FFF2-40B4-BE49-F238E27FC236}">
                  <a16:creationId xmlns:a16="http://schemas.microsoft.com/office/drawing/2014/main" id="{3E70F93F-1E7C-4A9F-7122-26301CE9C432}"/>
                </a:ext>
              </a:extLst>
            </p:cNvPr>
            <p:cNvSpPr txBox="1"/>
            <p:nvPr/>
          </p:nvSpPr>
          <p:spPr>
            <a:xfrm>
              <a:off x="8618806" y="2620490"/>
              <a:ext cx="239735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Identity &amp; Access</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2" name="Google Shape;2902;p26">
              <a:extLst>
                <a:ext uri="{FF2B5EF4-FFF2-40B4-BE49-F238E27FC236}">
                  <a16:creationId xmlns:a16="http://schemas.microsoft.com/office/drawing/2014/main" id="{5BF97C16-6D97-394C-50A5-7161170FFEE3}"/>
                </a:ext>
              </a:extLst>
            </p:cNvPr>
            <p:cNvSpPr/>
            <p:nvPr/>
          </p:nvSpPr>
          <p:spPr>
            <a:xfrm>
              <a:off x="7979394" y="2509291"/>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3" name="Google Shape;2903;p26">
              <a:extLst>
                <a:ext uri="{FF2B5EF4-FFF2-40B4-BE49-F238E27FC236}">
                  <a16:creationId xmlns:a16="http://schemas.microsoft.com/office/drawing/2014/main" id="{7621E80B-FA76-DEBA-30FD-742305FFD02C}"/>
                </a:ext>
              </a:extLst>
            </p:cNvPr>
            <p:cNvSpPr txBox="1"/>
            <p:nvPr/>
          </p:nvSpPr>
          <p:spPr>
            <a:xfrm>
              <a:off x="8618804" y="3648975"/>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Password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4" name="Google Shape;2904;p26">
              <a:extLst>
                <a:ext uri="{FF2B5EF4-FFF2-40B4-BE49-F238E27FC236}">
                  <a16:creationId xmlns:a16="http://schemas.microsoft.com/office/drawing/2014/main" id="{4E41F890-E5DC-D44F-D95F-ADBC457004F8}"/>
                </a:ext>
              </a:extLst>
            </p:cNvPr>
            <p:cNvSpPr/>
            <p:nvPr/>
          </p:nvSpPr>
          <p:spPr>
            <a:xfrm>
              <a:off x="7979404" y="3540963"/>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5" name="Google Shape;2905;p26">
              <a:extLst>
                <a:ext uri="{FF2B5EF4-FFF2-40B4-BE49-F238E27FC236}">
                  <a16:creationId xmlns:a16="http://schemas.microsoft.com/office/drawing/2014/main" id="{1CC6C07E-70E9-AF26-0A4E-0DD05ED788F7}"/>
                </a:ext>
              </a:extLst>
            </p:cNvPr>
            <p:cNvSpPr txBox="1"/>
            <p:nvPr/>
          </p:nvSpPr>
          <p:spPr>
            <a:xfrm>
              <a:off x="8618804" y="4625774"/>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Configuration Drift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6" name="Google Shape;2906;p26">
              <a:extLst>
                <a:ext uri="{FF2B5EF4-FFF2-40B4-BE49-F238E27FC236}">
                  <a16:creationId xmlns:a16="http://schemas.microsoft.com/office/drawing/2014/main" id="{E918AC6E-83EA-3C7C-DF96-10F2C3146B9D}"/>
                </a:ext>
              </a:extLst>
            </p:cNvPr>
            <p:cNvSpPr/>
            <p:nvPr/>
          </p:nvSpPr>
          <p:spPr>
            <a:xfrm>
              <a:off x="7982347" y="5028330"/>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7" name="Google Shape;2907;p26">
              <a:extLst>
                <a:ext uri="{FF2B5EF4-FFF2-40B4-BE49-F238E27FC236}">
                  <a16:creationId xmlns:a16="http://schemas.microsoft.com/office/drawing/2014/main" id="{33130A3B-9CF0-439E-0572-945F078062EA}"/>
                </a:ext>
              </a:extLst>
            </p:cNvPr>
            <p:cNvSpPr txBox="1"/>
            <p:nvPr/>
          </p:nvSpPr>
          <p:spPr>
            <a:xfrm>
              <a:off x="8618804" y="4124453"/>
              <a:ext cx="2594796"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Tag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08" name="Google Shape;2908;p26">
              <a:extLst>
                <a:ext uri="{FF2B5EF4-FFF2-40B4-BE49-F238E27FC236}">
                  <a16:creationId xmlns:a16="http://schemas.microsoft.com/office/drawing/2014/main" id="{2638E4AA-EB0B-C650-B1BD-96FE1254DD06}"/>
                </a:ext>
              </a:extLst>
            </p:cNvPr>
            <p:cNvSpPr/>
            <p:nvPr/>
          </p:nvSpPr>
          <p:spPr>
            <a:xfrm>
              <a:off x="7982347" y="4516686"/>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09" name="Google Shape;2909;p26">
              <a:extLst>
                <a:ext uri="{FF2B5EF4-FFF2-40B4-BE49-F238E27FC236}">
                  <a16:creationId xmlns:a16="http://schemas.microsoft.com/office/drawing/2014/main" id="{43C7CB33-7533-59DD-E7AB-3EAED697EAE0}"/>
                </a:ext>
              </a:extLst>
            </p:cNvPr>
            <p:cNvSpPr txBox="1"/>
            <p:nvPr/>
          </p:nvSpPr>
          <p:spPr>
            <a:xfrm>
              <a:off x="8618806" y="3141194"/>
              <a:ext cx="2397355"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Certificate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10" name="Google Shape;2910;p26">
              <a:extLst>
                <a:ext uri="{FF2B5EF4-FFF2-40B4-BE49-F238E27FC236}">
                  <a16:creationId xmlns:a16="http://schemas.microsoft.com/office/drawing/2014/main" id="{142D52E0-699A-5BCC-D3BE-40D620AF58C5}"/>
                </a:ext>
              </a:extLst>
            </p:cNvPr>
            <p:cNvSpPr/>
            <p:nvPr/>
          </p:nvSpPr>
          <p:spPr>
            <a:xfrm>
              <a:off x="7982347" y="3020935"/>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sp>
          <p:nvSpPr>
            <p:cNvPr id="2911" name="Google Shape;2911;p26">
              <a:extLst>
                <a:ext uri="{FF2B5EF4-FFF2-40B4-BE49-F238E27FC236}">
                  <a16:creationId xmlns:a16="http://schemas.microsoft.com/office/drawing/2014/main" id="{A5DE735E-C8BA-5133-56FE-62363D1F3749}"/>
                </a:ext>
              </a:extLst>
            </p:cNvPr>
            <p:cNvSpPr txBox="1"/>
            <p:nvPr/>
          </p:nvSpPr>
          <p:spPr>
            <a:xfrm>
              <a:off x="8618804" y="5127094"/>
              <a:ext cx="2480340" cy="18000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600"/>
                <a:buFont typeface="Arial"/>
                <a:buNone/>
                <a:tabLst/>
                <a:defRPr/>
              </a:pPr>
              <a:r>
                <a:rPr kumimoji="0" lang="en-US" sz="1300" b="0" i="0" u="none" strike="noStrike" kern="1200" cap="none" spc="0" normalizeH="0" baseline="0" noProof="0">
                  <a:ln>
                    <a:noFill/>
                  </a:ln>
                  <a:solidFill>
                    <a:srgbClr val="000000"/>
                  </a:solidFill>
                  <a:effectLst/>
                  <a:uLnTx/>
                  <a:uFillTx/>
                  <a:latin typeface="Arial"/>
                  <a:ea typeface="Arial"/>
                  <a:cs typeface="Arial"/>
                  <a:sym typeface="Arial"/>
                </a:rPr>
                <a:t>Lifecycle Management</a:t>
              </a:r>
              <a:endParaRPr kumimoji="0" sz="13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12" name="Google Shape;2912;p26">
              <a:extLst>
                <a:ext uri="{FF2B5EF4-FFF2-40B4-BE49-F238E27FC236}">
                  <a16:creationId xmlns:a16="http://schemas.microsoft.com/office/drawing/2014/main" id="{A600D11A-6E81-EB5A-B7DE-8408016317F7}"/>
                </a:ext>
              </a:extLst>
            </p:cNvPr>
            <p:cNvSpPr/>
            <p:nvPr/>
          </p:nvSpPr>
          <p:spPr>
            <a:xfrm>
              <a:off x="7985241" y="4024631"/>
              <a:ext cx="364003" cy="365005"/>
            </a:xfrm>
            <a:prstGeom prst="ellipse">
              <a:avLst/>
            </a:prstGeom>
            <a:solidFill>
              <a:schemeClr val="accent3"/>
            </a:solidFill>
            <a:ln>
              <a:noFill/>
            </a:ln>
            <a:effectLst>
              <a:outerShdw sx="120000" sy="120000" algn="ctr" rotWithShape="0">
                <a:schemeClr val="accent1">
                  <a:alpha val="20000"/>
                </a:schemeClr>
              </a:outerShdw>
            </a:effectLst>
          </p:spPr>
          <p:txBody>
            <a:bodyPr spcFirstLastPara="1" wrap="square" lIns="91325" tIns="45650" rIns="91325" bIns="4565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98C7"/>
                </a:solidFill>
                <a:effectLst/>
                <a:uLnTx/>
                <a:uFillTx/>
                <a:latin typeface="Arial"/>
                <a:ea typeface="Arial"/>
                <a:cs typeface="Arial"/>
                <a:sym typeface="Arial"/>
              </a:endParaRPr>
            </a:p>
          </p:txBody>
        </p:sp>
        <p:pic>
          <p:nvPicPr>
            <p:cNvPr id="2913" name="Google Shape;2913;p26">
              <a:extLst>
                <a:ext uri="{FF2B5EF4-FFF2-40B4-BE49-F238E27FC236}">
                  <a16:creationId xmlns:a16="http://schemas.microsoft.com/office/drawing/2014/main" id="{A759B8D0-BFEF-637E-5893-962E2F67F21F}"/>
                </a:ext>
              </a:extLst>
            </p:cNvPr>
            <p:cNvPicPr preferRelativeResize="0"/>
            <p:nvPr/>
          </p:nvPicPr>
          <p:blipFill rotWithShape="1">
            <a:blip r:embed="rId10">
              <a:alphaModFix/>
            </a:blip>
            <a:srcRect/>
            <a:stretch/>
          </p:blipFill>
          <p:spPr>
            <a:xfrm>
              <a:off x="8034212" y="2601517"/>
              <a:ext cx="254402" cy="178085"/>
            </a:xfrm>
            <a:prstGeom prst="rect">
              <a:avLst/>
            </a:prstGeom>
            <a:noFill/>
            <a:ln>
              <a:noFill/>
            </a:ln>
          </p:spPr>
        </p:pic>
        <p:pic>
          <p:nvPicPr>
            <p:cNvPr id="2914" name="Google Shape;2914;p26">
              <a:extLst>
                <a:ext uri="{FF2B5EF4-FFF2-40B4-BE49-F238E27FC236}">
                  <a16:creationId xmlns:a16="http://schemas.microsoft.com/office/drawing/2014/main" id="{195721CC-6581-A7E7-1081-B98AB8CB90B5}"/>
                </a:ext>
              </a:extLst>
            </p:cNvPr>
            <p:cNvPicPr preferRelativeResize="0"/>
            <p:nvPr/>
          </p:nvPicPr>
          <p:blipFill rotWithShape="1">
            <a:blip r:embed="rId11">
              <a:alphaModFix/>
            </a:blip>
            <a:srcRect/>
            <a:stretch/>
          </p:blipFill>
          <p:spPr>
            <a:xfrm>
              <a:off x="8043287" y="3598495"/>
              <a:ext cx="252899" cy="206448"/>
            </a:xfrm>
            <a:prstGeom prst="rect">
              <a:avLst/>
            </a:prstGeom>
            <a:noFill/>
            <a:ln>
              <a:noFill/>
            </a:ln>
          </p:spPr>
        </p:pic>
        <p:pic>
          <p:nvPicPr>
            <p:cNvPr id="2915" name="Google Shape;2915;p26">
              <a:extLst>
                <a:ext uri="{FF2B5EF4-FFF2-40B4-BE49-F238E27FC236}">
                  <a16:creationId xmlns:a16="http://schemas.microsoft.com/office/drawing/2014/main" id="{8751EAF3-E919-C301-189D-175D7E2C0395}"/>
                </a:ext>
              </a:extLst>
            </p:cNvPr>
            <p:cNvPicPr preferRelativeResize="0"/>
            <p:nvPr/>
          </p:nvPicPr>
          <p:blipFill rotWithShape="1">
            <a:blip r:embed="rId12">
              <a:alphaModFix/>
            </a:blip>
            <a:srcRect/>
            <a:stretch/>
          </p:blipFill>
          <p:spPr>
            <a:xfrm>
              <a:off x="8087159" y="3081180"/>
              <a:ext cx="165158" cy="252899"/>
            </a:xfrm>
            <a:prstGeom prst="rect">
              <a:avLst/>
            </a:prstGeom>
            <a:noFill/>
            <a:ln>
              <a:noFill/>
            </a:ln>
          </p:spPr>
        </p:pic>
        <p:pic>
          <p:nvPicPr>
            <p:cNvPr id="2916" name="Google Shape;2916;p26">
              <a:extLst>
                <a:ext uri="{FF2B5EF4-FFF2-40B4-BE49-F238E27FC236}">
                  <a16:creationId xmlns:a16="http://schemas.microsoft.com/office/drawing/2014/main" id="{D2873433-73E4-CE88-3168-A99B16691E40}"/>
                </a:ext>
              </a:extLst>
            </p:cNvPr>
            <p:cNvPicPr preferRelativeResize="0"/>
            <p:nvPr/>
          </p:nvPicPr>
          <p:blipFill rotWithShape="1">
            <a:blip r:embed="rId13">
              <a:alphaModFix/>
            </a:blip>
            <a:srcRect/>
            <a:stretch/>
          </p:blipFill>
          <p:spPr>
            <a:xfrm>
              <a:off x="8015742" y="4115370"/>
              <a:ext cx="290862" cy="178079"/>
            </a:xfrm>
            <a:prstGeom prst="rect">
              <a:avLst/>
            </a:prstGeom>
            <a:noFill/>
            <a:ln>
              <a:noFill/>
            </a:ln>
          </p:spPr>
        </p:pic>
        <p:sp>
          <p:nvSpPr>
            <p:cNvPr id="2917" name="Google Shape;2917;p26">
              <a:extLst>
                <a:ext uri="{FF2B5EF4-FFF2-40B4-BE49-F238E27FC236}">
                  <a16:creationId xmlns:a16="http://schemas.microsoft.com/office/drawing/2014/main" id="{B392E6E4-2AA7-A9AB-286D-7BA7948CD3F4}"/>
                </a:ext>
              </a:extLst>
            </p:cNvPr>
            <p:cNvSpPr txBox="1"/>
            <p:nvPr/>
          </p:nvSpPr>
          <p:spPr>
            <a:xfrm>
              <a:off x="8472687" y="2040143"/>
              <a:ext cx="2990953" cy="2215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0000"/>
                </a:lnSpc>
                <a:spcBef>
                  <a:spcPts val="0"/>
                </a:spcBef>
                <a:spcAft>
                  <a:spcPts val="0"/>
                </a:spcAft>
                <a:buClr>
                  <a:srgbClr val="000000"/>
                </a:buClr>
                <a:buSzPts val="1800"/>
                <a:buFont typeface="Arial"/>
                <a:buNone/>
                <a:tabLst/>
                <a:defRPr/>
              </a:pPr>
              <a:r>
                <a:rPr kumimoji="0" lang="en-US" sz="1600" b="0" i="0" u="none" strike="noStrike" kern="1200" cap="none" spc="0" normalizeH="0" baseline="0" noProof="0">
                  <a:ln>
                    <a:noFill/>
                  </a:ln>
                  <a:solidFill>
                    <a:srgbClr val="0098C7"/>
                  </a:solidFill>
                  <a:effectLst/>
                  <a:uLnTx/>
                  <a:uFillTx/>
                  <a:latin typeface="Arial"/>
                  <a:ea typeface="Arial"/>
                  <a:cs typeface="Arial"/>
                  <a:sym typeface="Arial"/>
                </a:rPr>
                <a:t>VCF Fleet Management</a:t>
              </a:r>
              <a:endParaRPr kumimoji="0" sz="1600" b="0" i="0" u="none" strike="noStrike" kern="1200" cap="none" spc="0" normalizeH="0" baseline="0" noProof="0">
                <a:ln>
                  <a:noFill/>
                </a:ln>
                <a:solidFill>
                  <a:srgbClr val="0098C7"/>
                </a:solidFill>
                <a:effectLst/>
                <a:uLnTx/>
                <a:uFillTx/>
                <a:latin typeface="Arial"/>
                <a:ea typeface="Arial"/>
                <a:cs typeface="Arial"/>
                <a:sym typeface="Arial"/>
              </a:endParaRPr>
            </a:p>
          </p:txBody>
        </p:sp>
        <p:pic>
          <p:nvPicPr>
            <p:cNvPr id="2918" name="Google Shape;2918;p26">
              <a:extLst>
                <a:ext uri="{FF2B5EF4-FFF2-40B4-BE49-F238E27FC236}">
                  <a16:creationId xmlns:a16="http://schemas.microsoft.com/office/drawing/2014/main" id="{681AFDD5-9820-229A-F36E-83D1B092E349}"/>
                </a:ext>
              </a:extLst>
            </p:cNvPr>
            <p:cNvPicPr preferRelativeResize="0"/>
            <p:nvPr/>
          </p:nvPicPr>
          <p:blipFill rotWithShape="1">
            <a:blip r:embed="rId14">
              <a:alphaModFix/>
            </a:blip>
            <a:srcRect/>
            <a:stretch/>
          </p:blipFill>
          <p:spPr>
            <a:xfrm>
              <a:off x="8046126" y="4597655"/>
              <a:ext cx="254402" cy="233634"/>
            </a:xfrm>
            <a:prstGeom prst="rect">
              <a:avLst/>
            </a:prstGeom>
            <a:noFill/>
            <a:ln>
              <a:noFill/>
            </a:ln>
          </p:spPr>
        </p:pic>
        <p:grpSp>
          <p:nvGrpSpPr>
            <p:cNvPr id="2919" name="Google Shape;2919;p26">
              <a:extLst>
                <a:ext uri="{FF2B5EF4-FFF2-40B4-BE49-F238E27FC236}">
                  <a16:creationId xmlns:a16="http://schemas.microsoft.com/office/drawing/2014/main" id="{3534D766-9D68-9897-318D-D3E567FAE097}"/>
                </a:ext>
              </a:extLst>
            </p:cNvPr>
            <p:cNvGrpSpPr/>
            <p:nvPr/>
          </p:nvGrpSpPr>
          <p:grpSpPr>
            <a:xfrm>
              <a:off x="8037213" y="5077773"/>
              <a:ext cx="262797" cy="262796"/>
              <a:chOff x="3544748" y="4874841"/>
              <a:chExt cx="739588" cy="739586"/>
            </a:xfrm>
          </p:grpSpPr>
          <p:grpSp>
            <p:nvGrpSpPr>
              <p:cNvPr id="2920" name="Google Shape;2920;p26">
                <a:extLst>
                  <a:ext uri="{FF2B5EF4-FFF2-40B4-BE49-F238E27FC236}">
                    <a16:creationId xmlns:a16="http://schemas.microsoft.com/office/drawing/2014/main" id="{BBD35D8A-1E18-F69E-274B-30299DBE5503}"/>
                  </a:ext>
                </a:extLst>
              </p:cNvPr>
              <p:cNvGrpSpPr/>
              <p:nvPr/>
            </p:nvGrpSpPr>
            <p:grpSpPr>
              <a:xfrm>
                <a:off x="3672761" y="5003383"/>
                <a:ext cx="480897" cy="494931"/>
                <a:chOff x="3672761" y="5003383"/>
                <a:chExt cx="480897" cy="494931"/>
              </a:xfrm>
            </p:grpSpPr>
            <p:grpSp>
              <p:nvGrpSpPr>
                <p:cNvPr id="2921" name="Google Shape;2921;p26">
                  <a:extLst>
                    <a:ext uri="{FF2B5EF4-FFF2-40B4-BE49-F238E27FC236}">
                      <a16:creationId xmlns:a16="http://schemas.microsoft.com/office/drawing/2014/main" id="{97FC76C7-38F2-444A-2029-CC978463356A}"/>
                    </a:ext>
                  </a:extLst>
                </p:cNvPr>
                <p:cNvGrpSpPr/>
                <p:nvPr/>
              </p:nvGrpSpPr>
              <p:grpSpPr>
                <a:xfrm>
                  <a:off x="3672761" y="5003383"/>
                  <a:ext cx="454934" cy="454954"/>
                  <a:chOff x="3672761" y="5003383"/>
                  <a:chExt cx="454934" cy="454954"/>
                </a:xfrm>
              </p:grpSpPr>
              <p:sp>
                <p:nvSpPr>
                  <p:cNvPr id="2922" name="Google Shape;2922;p26">
                    <a:extLst>
                      <a:ext uri="{FF2B5EF4-FFF2-40B4-BE49-F238E27FC236}">
                        <a16:creationId xmlns:a16="http://schemas.microsoft.com/office/drawing/2014/main" id="{E2B67FC2-A8B4-93F3-C4AF-A40EF6B37991}"/>
                      </a:ext>
                    </a:extLst>
                  </p:cNvPr>
                  <p:cNvSpPr/>
                  <p:nvPr/>
                </p:nvSpPr>
                <p:spPr>
                  <a:xfrm>
                    <a:off x="3672761" y="5254171"/>
                    <a:ext cx="203636" cy="204166"/>
                  </a:xfrm>
                  <a:custGeom>
                    <a:avLst/>
                    <a:gdLst/>
                    <a:ahLst/>
                    <a:cxnLst/>
                    <a:rect l="l" t="t" r="r" b="b"/>
                    <a:pathLst>
                      <a:path w="203636" h="204166" extrusionOk="0">
                        <a:moveTo>
                          <a:pt x="203636" y="37615"/>
                        </a:moveTo>
                        <a:lnTo>
                          <a:pt x="169200" y="3179"/>
                        </a:lnTo>
                        <a:cubicBezTo>
                          <a:pt x="168140" y="2119"/>
                          <a:pt x="167611" y="1060"/>
                          <a:pt x="166551" y="0"/>
                        </a:cubicBezTo>
                        <a:lnTo>
                          <a:pt x="109863" y="57217"/>
                        </a:lnTo>
                        <a:lnTo>
                          <a:pt x="95559" y="71522"/>
                        </a:lnTo>
                        <a:cubicBezTo>
                          <a:pt x="70659" y="60926"/>
                          <a:pt x="40461" y="66224"/>
                          <a:pt x="20329" y="86356"/>
                        </a:cubicBezTo>
                        <a:cubicBezTo>
                          <a:pt x="197" y="106488"/>
                          <a:pt x="-5101" y="136156"/>
                          <a:pt x="4965" y="161056"/>
                        </a:cubicBezTo>
                        <a:lnTo>
                          <a:pt x="39401" y="126620"/>
                        </a:lnTo>
                        <a:lnTo>
                          <a:pt x="69599" y="134567"/>
                        </a:lnTo>
                        <a:lnTo>
                          <a:pt x="77546" y="164765"/>
                        </a:lnTo>
                        <a:lnTo>
                          <a:pt x="43110" y="199201"/>
                        </a:lnTo>
                        <a:cubicBezTo>
                          <a:pt x="68010" y="209267"/>
                          <a:pt x="97678" y="203969"/>
                          <a:pt x="117810" y="183837"/>
                        </a:cubicBezTo>
                        <a:cubicBezTo>
                          <a:pt x="138472" y="163175"/>
                          <a:pt x="143240" y="133507"/>
                          <a:pt x="132644" y="108607"/>
                        </a:cubicBezTo>
                        <a:lnTo>
                          <a:pt x="146949" y="94303"/>
                        </a:lnTo>
                        <a:lnTo>
                          <a:pt x="203636" y="37615"/>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23" name="Google Shape;2923;p26">
                    <a:extLst>
                      <a:ext uri="{FF2B5EF4-FFF2-40B4-BE49-F238E27FC236}">
                        <a16:creationId xmlns:a16="http://schemas.microsoft.com/office/drawing/2014/main" id="{1E49BBDE-EF9A-F088-C1C8-299B6D0C42FA}"/>
                      </a:ext>
                    </a:extLst>
                  </p:cNvPr>
                  <p:cNvSpPr/>
                  <p:nvPr/>
                </p:nvSpPr>
                <p:spPr>
                  <a:xfrm>
                    <a:off x="3915072" y="5003383"/>
                    <a:ext cx="212623" cy="212112"/>
                  </a:xfrm>
                  <a:custGeom>
                    <a:avLst/>
                    <a:gdLst/>
                    <a:ahLst/>
                    <a:cxnLst/>
                    <a:rect l="l" t="t" r="r" b="b"/>
                    <a:pathLst>
                      <a:path w="212623" h="212112" extrusionOk="0">
                        <a:moveTo>
                          <a:pt x="207678" y="43110"/>
                        </a:moveTo>
                        <a:lnTo>
                          <a:pt x="173241" y="77546"/>
                        </a:lnTo>
                        <a:lnTo>
                          <a:pt x="143043" y="69599"/>
                        </a:lnTo>
                        <a:lnTo>
                          <a:pt x="135096" y="39401"/>
                        </a:lnTo>
                        <a:lnTo>
                          <a:pt x="169533" y="4965"/>
                        </a:lnTo>
                        <a:cubicBezTo>
                          <a:pt x="144633" y="-5101"/>
                          <a:pt x="114964" y="197"/>
                          <a:pt x="94832" y="20329"/>
                        </a:cubicBezTo>
                        <a:cubicBezTo>
                          <a:pt x="74171" y="40991"/>
                          <a:pt x="69403" y="70659"/>
                          <a:pt x="79998" y="95559"/>
                        </a:cubicBezTo>
                        <a:lnTo>
                          <a:pt x="65694" y="109863"/>
                        </a:lnTo>
                        <a:lnTo>
                          <a:pt x="0" y="175028"/>
                        </a:lnTo>
                        <a:cubicBezTo>
                          <a:pt x="1060" y="175557"/>
                          <a:pt x="2119" y="176617"/>
                          <a:pt x="3179" y="177677"/>
                        </a:cubicBezTo>
                        <a:lnTo>
                          <a:pt x="37615" y="212113"/>
                        </a:lnTo>
                        <a:lnTo>
                          <a:pt x="102249" y="147479"/>
                        </a:lnTo>
                        <a:lnTo>
                          <a:pt x="116554" y="133174"/>
                        </a:lnTo>
                        <a:cubicBezTo>
                          <a:pt x="141454" y="143770"/>
                          <a:pt x="171652" y="138472"/>
                          <a:pt x="191784" y="118340"/>
                        </a:cubicBezTo>
                        <a:cubicBezTo>
                          <a:pt x="212446" y="97678"/>
                          <a:pt x="217744" y="68010"/>
                          <a:pt x="207678" y="4311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924" name="Google Shape;2924;p26">
                  <a:extLst>
                    <a:ext uri="{FF2B5EF4-FFF2-40B4-BE49-F238E27FC236}">
                      <a16:creationId xmlns:a16="http://schemas.microsoft.com/office/drawing/2014/main" id="{0C49F1A0-F9D6-3391-1C90-8035998DCED0}"/>
                    </a:ext>
                  </a:extLst>
                </p:cNvPr>
                <p:cNvGrpSpPr/>
                <p:nvPr/>
              </p:nvGrpSpPr>
              <p:grpSpPr>
                <a:xfrm>
                  <a:off x="3694149" y="5034308"/>
                  <a:ext cx="459509" cy="464006"/>
                  <a:chOff x="3694149" y="5034308"/>
                  <a:chExt cx="459509" cy="464006"/>
                </a:xfrm>
              </p:grpSpPr>
              <p:sp>
                <p:nvSpPr>
                  <p:cNvPr id="2925" name="Google Shape;2925;p26">
                    <a:extLst>
                      <a:ext uri="{FF2B5EF4-FFF2-40B4-BE49-F238E27FC236}">
                        <a16:creationId xmlns:a16="http://schemas.microsoft.com/office/drawing/2014/main" id="{BEF23D68-44AB-95CE-1663-DB57F0C2F124}"/>
                      </a:ext>
                    </a:extLst>
                  </p:cNvPr>
                  <p:cNvSpPr/>
                  <p:nvPr/>
                </p:nvSpPr>
                <p:spPr>
                  <a:xfrm>
                    <a:off x="3906595" y="5243475"/>
                    <a:ext cx="247063" cy="254839"/>
                  </a:xfrm>
                  <a:custGeom>
                    <a:avLst/>
                    <a:gdLst/>
                    <a:ahLst/>
                    <a:cxnLst/>
                    <a:rect l="l" t="t" r="r" b="b"/>
                    <a:pathLst>
                      <a:path w="247063" h="254839" extrusionOk="0">
                        <a:moveTo>
                          <a:pt x="106488" y="4339"/>
                        </a:moveTo>
                        <a:cubicBezTo>
                          <a:pt x="110196" y="1160"/>
                          <a:pt x="114964" y="-429"/>
                          <a:pt x="119733" y="100"/>
                        </a:cubicBezTo>
                        <a:cubicBezTo>
                          <a:pt x="124501" y="100"/>
                          <a:pt x="129269" y="2220"/>
                          <a:pt x="132447" y="5928"/>
                        </a:cubicBezTo>
                        <a:cubicBezTo>
                          <a:pt x="136156" y="9637"/>
                          <a:pt x="138275" y="14405"/>
                          <a:pt x="138275" y="19703"/>
                        </a:cubicBezTo>
                        <a:cubicBezTo>
                          <a:pt x="138275" y="25001"/>
                          <a:pt x="136156" y="29769"/>
                          <a:pt x="132447" y="33477"/>
                        </a:cubicBezTo>
                        <a:lnTo>
                          <a:pt x="122911" y="43013"/>
                        </a:lnTo>
                        <a:lnTo>
                          <a:pt x="228339" y="152680"/>
                        </a:lnTo>
                        <a:cubicBezTo>
                          <a:pt x="245293" y="170163"/>
                          <a:pt x="251120" y="195063"/>
                          <a:pt x="244233" y="218374"/>
                        </a:cubicBezTo>
                        <a:cubicBezTo>
                          <a:pt x="238935" y="237446"/>
                          <a:pt x="230988" y="246983"/>
                          <a:pt x="207678" y="252810"/>
                        </a:cubicBezTo>
                        <a:cubicBezTo>
                          <a:pt x="184367" y="258638"/>
                          <a:pt x="159467" y="251751"/>
                          <a:pt x="142514" y="234268"/>
                        </a:cubicBezTo>
                        <a:lnTo>
                          <a:pt x="40794" y="125131"/>
                        </a:lnTo>
                        <a:lnTo>
                          <a:pt x="33377" y="132548"/>
                        </a:lnTo>
                        <a:lnTo>
                          <a:pt x="33377" y="132548"/>
                        </a:lnTo>
                        <a:cubicBezTo>
                          <a:pt x="28609" y="137316"/>
                          <a:pt x="21721" y="139435"/>
                          <a:pt x="15364" y="137846"/>
                        </a:cubicBezTo>
                        <a:cubicBezTo>
                          <a:pt x="9006" y="136256"/>
                          <a:pt x="3179" y="131488"/>
                          <a:pt x="1060" y="125131"/>
                        </a:cubicBezTo>
                        <a:cubicBezTo>
                          <a:pt x="-1060" y="118773"/>
                          <a:pt x="0" y="111886"/>
                          <a:pt x="4238" y="106588"/>
                        </a:cubicBezTo>
                        <a:lnTo>
                          <a:pt x="106488" y="4339"/>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926" name="Google Shape;2926;p26">
                    <a:extLst>
                      <a:ext uri="{FF2B5EF4-FFF2-40B4-BE49-F238E27FC236}">
                        <a16:creationId xmlns:a16="http://schemas.microsoft.com/office/drawing/2014/main" id="{258F41BB-6404-6653-BE6C-8D852EA97F29}"/>
                      </a:ext>
                    </a:extLst>
                  </p:cNvPr>
                  <p:cNvSpPr/>
                  <p:nvPr/>
                </p:nvSpPr>
                <p:spPr>
                  <a:xfrm>
                    <a:off x="3694149" y="5034308"/>
                    <a:ext cx="267014" cy="265424"/>
                  </a:xfrm>
                  <a:custGeom>
                    <a:avLst/>
                    <a:gdLst/>
                    <a:ahLst/>
                    <a:cxnLst/>
                    <a:rect l="l" t="t" r="r" b="b"/>
                    <a:pathLst>
                      <a:path w="267014" h="265424" extrusionOk="0">
                        <a:moveTo>
                          <a:pt x="34966" y="0"/>
                        </a:moveTo>
                        <a:lnTo>
                          <a:pt x="106488" y="42913"/>
                        </a:lnTo>
                        <a:lnTo>
                          <a:pt x="145162" y="115494"/>
                        </a:lnTo>
                        <a:lnTo>
                          <a:pt x="267014" y="237346"/>
                        </a:lnTo>
                        <a:lnTo>
                          <a:pt x="238935" y="265425"/>
                        </a:lnTo>
                        <a:lnTo>
                          <a:pt x="117084" y="143573"/>
                        </a:lnTo>
                        <a:lnTo>
                          <a:pt x="43973" y="105428"/>
                        </a:lnTo>
                        <a:lnTo>
                          <a:pt x="0" y="34966"/>
                        </a:lnTo>
                        <a:lnTo>
                          <a:pt x="34966" y="0"/>
                        </a:lnTo>
                        <a:close/>
                        <a:moveTo>
                          <a:pt x="57747" y="90594"/>
                        </a:moveTo>
                        <a:lnTo>
                          <a:pt x="58807" y="91124"/>
                        </a:lnTo>
                        <a:lnTo>
                          <a:pt x="91654" y="58277"/>
                        </a:lnTo>
                        <a:lnTo>
                          <a:pt x="91124" y="57747"/>
                        </a:lnTo>
                        <a:lnTo>
                          <a:pt x="37615" y="25430"/>
                        </a:lnTo>
                        <a:lnTo>
                          <a:pt x="24900" y="38145"/>
                        </a:lnTo>
                        <a:lnTo>
                          <a:pt x="57747" y="90594"/>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sp>
            <p:nvSpPr>
              <p:cNvPr id="2927" name="Google Shape;2927;p26">
                <a:extLst>
                  <a:ext uri="{FF2B5EF4-FFF2-40B4-BE49-F238E27FC236}">
                    <a16:creationId xmlns:a16="http://schemas.microsoft.com/office/drawing/2014/main" id="{157D7FD9-0B7F-DD93-5579-82AAA7F63DA1}"/>
                  </a:ext>
                </a:extLst>
              </p:cNvPr>
              <p:cNvSpPr/>
              <p:nvPr/>
            </p:nvSpPr>
            <p:spPr>
              <a:xfrm>
                <a:off x="3544748" y="4874841"/>
                <a:ext cx="739588" cy="739586"/>
              </a:xfrm>
              <a:custGeom>
                <a:avLst/>
                <a:gdLst/>
                <a:ahLst/>
                <a:cxnLst/>
                <a:rect l="l" t="t" r="r" b="b"/>
                <a:pathLst>
                  <a:path w="739588" h="739586" extrusionOk="0">
                    <a:moveTo>
                      <a:pt x="370323" y="0"/>
                    </a:moveTo>
                    <a:cubicBezTo>
                      <a:pt x="312576" y="0"/>
                      <a:pt x="258008" y="13245"/>
                      <a:pt x="209267" y="36556"/>
                    </a:cubicBezTo>
                    <a:lnTo>
                      <a:pt x="221452" y="60396"/>
                    </a:lnTo>
                    <a:cubicBezTo>
                      <a:pt x="266484" y="38675"/>
                      <a:pt x="317344" y="26490"/>
                      <a:pt x="370323" y="26490"/>
                    </a:cubicBezTo>
                    <a:cubicBezTo>
                      <a:pt x="559458" y="26490"/>
                      <a:pt x="713627" y="180658"/>
                      <a:pt x="713627" y="369793"/>
                    </a:cubicBezTo>
                    <a:cubicBezTo>
                      <a:pt x="713627" y="558928"/>
                      <a:pt x="559458" y="713097"/>
                      <a:pt x="370323" y="713097"/>
                    </a:cubicBezTo>
                    <a:cubicBezTo>
                      <a:pt x="181188" y="713097"/>
                      <a:pt x="27019" y="558928"/>
                      <a:pt x="27019" y="369793"/>
                    </a:cubicBezTo>
                    <a:cubicBezTo>
                      <a:pt x="27019" y="282908"/>
                      <a:pt x="59336" y="203439"/>
                      <a:pt x="112845" y="143043"/>
                    </a:cubicBezTo>
                    <a:lnTo>
                      <a:pt x="145692" y="179599"/>
                    </a:lnTo>
                    <a:lnTo>
                      <a:pt x="188605" y="50860"/>
                    </a:lnTo>
                    <a:lnTo>
                      <a:pt x="55628" y="78409"/>
                    </a:lnTo>
                    <a:lnTo>
                      <a:pt x="95362" y="122911"/>
                    </a:lnTo>
                    <a:cubicBezTo>
                      <a:pt x="36026" y="188605"/>
                      <a:pt x="0" y="274961"/>
                      <a:pt x="0" y="369793"/>
                    </a:cubicBezTo>
                    <a:cubicBezTo>
                      <a:pt x="0" y="574292"/>
                      <a:pt x="165824" y="739587"/>
                      <a:pt x="369793" y="739587"/>
                    </a:cubicBezTo>
                    <a:cubicBezTo>
                      <a:pt x="574292" y="739587"/>
                      <a:pt x="739587" y="573763"/>
                      <a:pt x="739587" y="369793"/>
                    </a:cubicBezTo>
                    <a:cubicBezTo>
                      <a:pt x="740117" y="165294"/>
                      <a:pt x="574292" y="0"/>
                      <a:pt x="370323" y="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sp>
        <p:nvSpPr>
          <p:cNvPr id="2928" name="Google Shape;2928;p26">
            <a:extLst>
              <a:ext uri="{FF2B5EF4-FFF2-40B4-BE49-F238E27FC236}">
                <a16:creationId xmlns:a16="http://schemas.microsoft.com/office/drawing/2014/main" id="{60D38C1A-CC5B-548D-B6F5-77AFF05D2381}"/>
              </a:ext>
            </a:extLst>
          </p:cNvPr>
          <p:cNvSpPr/>
          <p:nvPr/>
        </p:nvSpPr>
        <p:spPr>
          <a:xfrm>
            <a:off x="776849" y="1728862"/>
            <a:ext cx="2890911" cy="3731229"/>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5" name="Group 4">
            <a:extLst>
              <a:ext uri="{FF2B5EF4-FFF2-40B4-BE49-F238E27FC236}">
                <a16:creationId xmlns:a16="http://schemas.microsoft.com/office/drawing/2014/main" id="{7D0696C0-92D3-4161-7133-4756E0B3B846}"/>
              </a:ext>
            </a:extLst>
          </p:cNvPr>
          <p:cNvGrpSpPr/>
          <p:nvPr/>
        </p:nvGrpSpPr>
        <p:grpSpPr>
          <a:xfrm>
            <a:off x="4097637" y="1900613"/>
            <a:ext cx="3247876" cy="3275608"/>
            <a:chOff x="4097637" y="1900613"/>
            <a:chExt cx="3247876" cy="3275608"/>
          </a:xfrm>
        </p:grpSpPr>
        <p:sp>
          <p:nvSpPr>
            <p:cNvPr id="2859" name="Google Shape;2859;p26">
              <a:extLst>
                <a:ext uri="{FF2B5EF4-FFF2-40B4-BE49-F238E27FC236}">
                  <a16:creationId xmlns:a16="http://schemas.microsoft.com/office/drawing/2014/main" id="{899D6C5C-23D2-3516-1750-516C831010A1}"/>
                </a:ext>
              </a:extLst>
            </p:cNvPr>
            <p:cNvSpPr/>
            <p:nvPr/>
          </p:nvSpPr>
          <p:spPr>
            <a:xfrm>
              <a:off x="4097637" y="2893604"/>
              <a:ext cx="3247876" cy="2282617"/>
            </a:xfrm>
            <a:prstGeom prst="roundRect">
              <a:avLst>
                <a:gd name="adj" fmla="val 2356"/>
              </a:avLst>
            </a:prstGeom>
            <a:solidFill>
              <a:srgbClr val="E8E8EA"/>
            </a:solidFill>
            <a:ln>
              <a:solidFill>
                <a:schemeClr val="tx1"/>
              </a:solid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0" name="Google Shape;2860;p26">
              <a:extLst>
                <a:ext uri="{FF2B5EF4-FFF2-40B4-BE49-F238E27FC236}">
                  <a16:creationId xmlns:a16="http://schemas.microsoft.com/office/drawing/2014/main" id="{624A4724-556E-8689-F4DB-EB54B1C3E4DE}"/>
                </a:ext>
              </a:extLst>
            </p:cNvPr>
            <p:cNvSpPr/>
            <p:nvPr/>
          </p:nvSpPr>
          <p:spPr>
            <a:xfrm>
              <a:off x="4190324" y="4122456"/>
              <a:ext cx="3048433" cy="901416"/>
            </a:xfrm>
            <a:prstGeom prst="roundRect">
              <a:avLst>
                <a:gd name="adj" fmla="val 6349"/>
              </a:avLst>
            </a:prstGeom>
            <a:noFill/>
            <a:ln w="25400" cap="flat" cmpd="sng">
              <a:solidFill>
                <a:schemeClr val="accent2"/>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2861" name="Google Shape;2861;p26">
              <a:extLst>
                <a:ext uri="{FF2B5EF4-FFF2-40B4-BE49-F238E27FC236}">
                  <a16:creationId xmlns:a16="http://schemas.microsoft.com/office/drawing/2014/main" id="{E630D306-27A6-F108-28EB-1F1C4BD21F8D}"/>
                </a:ext>
              </a:extLst>
            </p:cNvPr>
            <p:cNvGrpSpPr/>
            <p:nvPr/>
          </p:nvGrpSpPr>
          <p:grpSpPr>
            <a:xfrm>
              <a:off x="6482182" y="4400529"/>
              <a:ext cx="519660" cy="519660"/>
              <a:chOff x="10722212" y="2729558"/>
              <a:chExt cx="663407" cy="663407"/>
            </a:xfrm>
          </p:grpSpPr>
          <p:sp>
            <p:nvSpPr>
              <p:cNvPr id="2862" name="Google Shape;2862;p26">
                <a:extLst>
                  <a:ext uri="{FF2B5EF4-FFF2-40B4-BE49-F238E27FC236}">
                    <a16:creationId xmlns:a16="http://schemas.microsoft.com/office/drawing/2014/main" id="{321BE0A4-231A-E80B-4507-56CD0269BF9E}"/>
                  </a:ext>
                </a:extLst>
              </p:cNvPr>
              <p:cNvSpPr/>
              <p:nvPr/>
            </p:nvSpPr>
            <p:spPr>
              <a:xfrm>
                <a:off x="10722212" y="2729558"/>
                <a:ext cx="663407" cy="663407"/>
              </a:xfrm>
              <a:prstGeom prst="ellipse">
                <a:avLst/>
              </a:prstGeom>
              <a:solidFill>
                <a:schemeClr val="accent2"/>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3" name="Google Shape;2863;p26">
                <a:extLst>
                  <a:ext uri="{FF2B5EF4-FFF2-40B4-BE49-F238E27FC236}">
                    <a16:creationId xmlns:a16="http://schemas.microsoft.com/office/drawing/2014/main" id="{D236C100-2B53-CF02-1DDA-E5F4D0FF3EEE}"/>
                  </a:ext>
                </a:extLst>
              </p:cNvPr>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4" name="Google Shape;2864;p26">
              <a:extLst>
                <a:ext uri="{FF2B5EF4-FFF2-40B4-BE49-F238E27FC236}">
                  <a16:creationId xmlns:a16="http://schemas.microsoft.com/office/drawing/2014/main" id="{20270B24-3445-EF71-D105-5276B9263D76}"/>
                </a:ext>
              </a:extLst>
            </p:cNvPr>
            <p:cNvGrpSpPr/>
            <p:nvPr/>
          </p:nvGrpSpPr>
          <p:grpSpPr>
            <a:xfrm>
              <a:off x="4380967" y="4400310"/>
              <a:ext cx="519660" cy="519660"/>
              <a:chOff x="572541" y="5475121"/>
              <a:chExt cx="663407" cy="663407"/>
            </a:xfrm>
          </p:grpSpPr>
          <p:sp>
            <p:nvSpPr>
              <p:cNvPr id="2865" name="Google Shape;2865;p26">
                <a:extLst>
                  <a:ext uri="{FF2B5EF4-FFF2-40B4-BE49-F238E27FC236}">
                    <a16:creationId xmlns:a16="http://schemas.microsoft.com/office/drawing/2014/main" id="{F42E9BBA-AB90-8E84-4E75-593CA194569C}"/>
                  </a:ext>
                </a:extLst>
              </p:cNvPr>
              <p:cNvSpPr/>
              <p:nvPr/>
            </p:nvSpPr>
            <p:spPr>
              <a:xfrm>
                <a:off x="572541" y="5475121"/>
                <a:ext cx="663407" cy="663407"/>
              </a:xfrm>
              <a:prstGeom prst="ellipse">
                <a:avLst/>
              </a:prstGeom>
              <a:solidFill>
                <a:schemeClr val="accent5"/>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6" name="Google Shape;2866;p26">
                <a:extLst>
                  <a:ext uri="{FF2B5EF4-FFF2-40B4-BE49-F238E27FC236}">
                    <a16:creationId xmlns:a16="http://schemas.microsoft.com/office/drawing/2014/main" id="{848E21BE-CEF2-8083-2522-0659698C31E1}"/>
                  </a:ext>
                </a:extLst>
              </p:cNvPr>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7" name="Google Shape;2867;p26">
              <a:extLst>
                <a:ext uri="{FF2B5EF4-FFF2-40B4-BE49-F238E27FC236}">
                  <a16:creationId xmlns:a16="http://schemas.microsoft.com/office/drawing/2014/main" id="{0D0BD4B0-5F99-22FB-510B-F2D6FC0912BC}"/>
                </a:ext>
              </a:extLst>
            </p:cNvPr>
            <p:cNvGrpSpPr/>
            <p:nvPr/>
          </p:nvGrpSpPr>
          <p:grpSpPr>
            <a:xfrm>
              <a:off x="5424064" y="4400312"/>
              <a:ext cx="519660" cy="519660"/>
              <a:chOff x="9272259" y="5475121"/>
              <a:chExt cx="663407" cy="663407"/>
            </a:xfrm>
          </p:grpSpPr>
          <p:sp>
            <p:nvSpPr>
              <p:cNvPr id="2868" name="Google Shape;2868;p26">
                <a:extLst>
                  <a:ext uri="{FF2B5EF4-FFF2-40B4-BE49-F238E27FC236}">
                    <a16:creationId xmlns:a16="http://schemas.microsoft.com/office/drawing/2014/main" id="{9F8AE37E-C4D8-2BFC-A299-4A93009685E4}"/>
                  </a:ext>
                </a:extLst>
              </p:cNvPr>
              <p:cNvSpPr/>
              <p:nvPr/>
            </p:nvSpPr>
            <p:spPr>
              <a:xfrm>
                <a:off x="9272259" y="5475121"/>
                <a:ext cx="663407" cy="663407"/>
              </a:xfrm>
              <a:prstGeom prst="ellipse">
                <a:avLst/>
              </a:prstGeom>
              <a:gradFill>
                <a:gsLst>
                  <a:gs pos="0">
                    <a:schemeClr val="accent2"/>
                  </a:gs>
                  <a:gs pos="100000">
                    <a:schemeClr val="accent2"/>
                  </a:gs>
                </a:gsLst>
                <a:lin ang="0"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69" name="Google Shape;2869;p26">
                <a:extLst>
                  <a:ext uri="{FF2B5EF4-FFF2-40B4-BE49-F238E27FC236}">
                    <a16:creationId xmlns:a16="http://schemas.microsoft.com/office/drawing/2014/main" id="{4A604130-1F15-9306-69A8-85F0FD981E46}"/>
                  </a:ext>
                </a:extLst>
              </p:cNvPr>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870" name="Google Shape;2870;p26">
              <a:extLst>
                <a:ext uri="{FF2B5EF4-FFF2-40B4-BE49-F238E27FC236}">
                  <a16:creationId xmlns:a16="http://schemas.microsoft.com/office/drawing/2014/main" id="{43F37499-2546-9FC9-1E4F-5C0221FE4326}"/>
                </a:ext>
              </a:extLst>
            </p:cNvPr>
            <p:cNvSpPr/>
            <p:nvPr/>
          </p:nvSpPr>
          <p:spPr>
            <a:xfrm>
              <a:off x="4254762" y="3019567"/>
              <a:ext cx="2931032" cy="429809"/>
            </a:xfrm>
            <a:prstGeom prst="roundRect">
              <a:avLst>
                <a:gd name="adj" fmla="val 50000"/>
              </a:avLst>
            </a:prstGeom>
            <a:solidFill>
              <a:schemeClr val="lt1"/>
            </a:solidFill>
            <a:ln w="25400" cap="flat" cmpd="sng">
              <a:solidFill>
                <a:schemeClr val="accent5"/>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         </a:t>
              </a: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VMware Cloud Foundation Instance</a:t>
              </a:r>
              <a:endParaRPr kumimoji="0" sz="1000" b="0" i="0" u="none" strike="noStrike" kern="1200" cap="none" spc="0" normalizeH="0" baseline="0" noProof="0" dirty="0">
                <a:ln>
                  <a:noFill/>
                </a:ln>
                <a:solidFill>
                  <a:srgbClr val="000000"/>
                </a:solidFill>
                <a:effectLst/>
                <a:uLnTx/>
                <a:uFillTx/>
                <a:latin typeface="Arial"/>
                <a:ea typeface="Arial"/>
                <a:cs typeface="Arial"/>
                <a:sym typeface="Arial"/>
              </a:endParaRPr>
            </a:p>
          </p:txBody>
        </p:sp>
        <p:pic>
          <p:nvPicPr>
            <p:cNvPr id="2871" name="Google Shape;2871;p26">
              <a:extLst>
                <a:ext uri="{FF2B5EF4-FFF2-40B4-BE49-F238E27FC236}">
                  <a16:creationId xmlns:a16="http://schemas.microsoft.com/office/drawing/2014/main" id="{3267DC19-3F76-8808-8A91-F9E4596DABDC}"/>
                </a:ext>
              </a:extLst>
            </p:cNvPr>
            <p:cNvPicPr preferRelativeResize="0"/>
            <p:nvPr/>
          </p:nvPicPr>
          <p:blipFill rotWithShape="1">
            <a:blip r:embed="rId3">
              <a:alphaModFix/>
            </a:blip>
            <a:srcRect/>
            <a:stretch/>
          </p:blipFill>
          <p:spPr>
            <a:xfrm>
              <a:off x="4511014" y="3063045"/>
              <a:ext cx="289251" cy="317890"/>
            </a:xfrm>
            <a:prstGeom prst="rect">
              <a:avLst/>
            </a:prstGeom>
            <a:noFill/>
            <a:ln>
              <a:noFill/>
            </a:ln>
          </p:spPr>
        </p:pic>
        <p:sp>
          <p:nvSpPr>
            <p:cNvPr id="2872" name="Google Shape;2872;p26">
              <a:extLst>
                <a:ext uri="{FF2B5EF4-FFF2-40B4-BE49-F238E27FC236}">
                  <a16:creationId xmlns:a16="http://schemas.microsoft.com/office/drawing/2014/main" id="{DFE4F53B-4C9B-DE0B-0340-CA06944C7ECF}"/>
                </a:ext>
              </a:extLst>
            </p:cNvPr>
            <p:cNvSpPr/>
            <p:nvPr/>
          </p:nvSpPr>
          <p:spPr>
            <a:xfrm>
              <a:off x="4198064" y="3539076"/>
              <a:ext cx="1452081" cy="456619"/>
            </a:xfrm>
            <a:prstGeom prst="roundRect">
              <a:avLst>
                <a:gd name="adj" fmla="val 6349"/>
              </a:avLst>
            </a:prstGeom>
            <a:solidFill>
              <a:schemeClr val="accent5"/>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a:ln>
                    <a:noFill/>
                  </a:ln>
                  <a:solidFill>
                    <a:srgbClr val="FFFFFF"/>
                  </a:solidFill>
                  <a:effectLst/>
                  <a:uLnTx/>
                  <a:uFillTx/>
                  <a:latin typeface="Arial"/>
                  <a:ea typeface="Arial"/>
                  <a:cs typeface="Arial"/>
                  <a:sym typeface="Arial"/>
                </a:rPr>
                <a:t>vCenter Server</a:t>
              </a:r>
              <a:endParaRPr kumimoji="0" sz="10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873" name="Google Shape;2873;p26">
              <a:extLst>
                <a:ext uri="{FF2B5EF4-FFF2-40B4-BE49-F238E27FC236}">
                  <a16:creationId xmlns:a16="http://schemas.microsoft.com/office/drawing/2014/main" id="{4906311F-5398-EDC9-DCA8-D60D9842B297}"/>
                </a:ext>
              </a:extLst>
            </p:cNvPr>
            <p:cNvSpPr txBox="1"/>
            <p:nvPr/>
          </p:nvSpPr>
          <p:spPr>
            <a:xfrm>
              <a:off x="5065105" y="4196412"/>
              <a:ext cx="1249804" cy="1384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900"/>
                <a:buFont typeface="Arial"/>
                <a:buNone/>
                <a:tabLst/>
                <a:defRPr/>
              </a:pPr>
              <a:r>
                <a:rPr kumimoji="0" lang="en-US" sz="900" b="1" i="0" u="none" strike="noStrike" kern="1200" cap="none" spc="0" normalizeH="0" baseline="0" noProof="0" dirty="0">
                  <a:ln>
                    <a:noFill/>
                  </a:ln>
                  <a:solidFill>
                    <a:srgbClr val="005C8A"/>
                  </a:solidFill>
                  <a:effectLst/>
                  <a:uLnTx/>
                  <a:uFillTx/>
                  <a:latin typeface="Arial"/>
                  <a:ea typeface="Arial"/>
                  <a:cs typeface="Arial"/>
                  <a:sym typeface="Arial"/>
                </a:rPr>
                <a:t>Core Infrastructure</a:t>
              </a: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874" name="Google Shape;2874;p26">
              <a:extLst>
                <a:ext uri="{FF2B5EF4-FFF2-40B4-BE49-F238E27FC236}">
                  <a16:creationId xmlns:a16="http://schemas.microsoft.com/office/drawing/2014/main" id="{71477AE0-9F0A-60B2-9210-31E9191E96F4}"/>
                </a:ext>
              </a:extLst>
            </p:cNvPr>
            <p:cNvSpPr/>
            <p:nvPr/>
          </p:nvSpPr>
          <p:spPr>
            <a:xfrm>
              <a:off x="5750568" y="3535687"/>
              <a:ext cx="1498764" cy="456619"/>
            </a:xfrm>
            <a:prstGeom prst="roundRect">
              <a:avLst>
                <a:gd name="adj" fmla="val 6349"/>
              </a:avLst>
            </a:prstGeom>
            <a:solidFill>
              <a:schemeClr val="accent2"/>
            </a:soli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a:ln>
                    <a:noFill/>
                  </a:ln>
                  <a:solidFill>
                    <a:srgbClr val="FFFFFF"/>
                  </a:solidFill>
                  <a:effectLst/>
                  <a:uLnTx/>
                  <a:uFillTx/>
                  <a:latin typeface="Arial"/>
                  <a:ea typeface="Arial"/>
                  <a:cs typeface="Arial"/>
                  <a:sym typeface="Arial"/>
                </a:rPr>
                <a:t>NSX Manager</a:t>
              </a:r>
              <a:endParaRPr kumimoji="0" sz="1000" b="1"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 name="Google Shape;2875;p26">
              <a:extLst>
                <a:ext uri="{FF2B5EF4-FFF2-40B4-BE49-F238E27FC236}">
                  <a16:creationId xmlns:a16="http://schemas.microsoft.com/office/drawing/2014/main" id="{4E016BF7-6A46-3484-3B4A-DD7CF9BB2853}"/>
                </a:ext>
              </a:extLst>
            </p:cNvPr>
            <p:cNvSpPr/>
            <p:nvPr/>
          </p:nvSpPr>
          <p:spPr>
            <a:xfrm>
              <a:off x="4200904" y="1900613"/>
              <a:ext cx="3048431" cy="408770"/>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dirty="0">
                  <a:ln>
                    <a:noFill/>
                  </a:ln>
                  <a:solidFill>
                    <a:srgbClr val="FFFFFF"/>
                  </a:solidFill>
                  <a:effectLst/>
                  <a:uLnTx/>
                  <a:uFillTx/>
                  <a:latin typeface="Arial"/>
                  <a:ea typeface="Arial"/>
                  <a:cs typeface="Arial"/>
                  <a:sym typeface="Arial"/>
                </a:rPr>
                <a:t>VCF Automation</a:t>
              </a:r>
              <a:endParaRPr kumimoji="0" sz="1000" b="1"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 name="Google Shape;2877;p26">
              <a:extLst>
                <a:ext uri="{FF2B5EF4-FFF2-40B4-BE49-F238E27FC236}">
                  <a16:creationId xmlns:a16="http://schemas.microsoft.com/office/drawing/2014/main" id="{00D5DF66-ED57-DD80-5D49-D271EB61F33D}"/>
                </a:ext>
              </a:extLst>
            </p:cNvPr>
            <p:cNvSpPr/>
            <p:nvPr/>
          </p:nvSpPr>
          <p:spPr>
            <a:xfrm>
              <a:off x="4197360" y="2399726"/>
              <a:ext cx="3051976" cy="429809"/>
            </a:xfrm>
            <a:prstGeom prst="roundRect">
              <a:avLst>
                <a:gd name="adj" fmla="val 6349"/>
              </a:avLst>
            </a:prstGeom>
            <a:gradFill>
              <a:gsLst>
                <a:gs pos="0">
                  <a:schemeClr val="accent1"/>
                </a:gs>
                <a:gs pos="99000">
                  <a:schemeClr val="accent3"/>
                </a:gs>
                <a:gs pos="100000">
                  <a:schemeClr val="accent3"/>
                </a:gs>
              </a:gsLst>
              <a:lin ang="18900044" scaled="0"/>
            </a:gradFill>
            <a:ln>
              <a:noFill/>
            </a:ln>
          </p:spPr>
          <p:txBody>
            <a:bodyPr spcFirstLastPara="1" wrap="square" lIns="91375" tIns="45675" rIns="91375"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1000" b="1" i="0" u="none" strike="noStrike" kern="1200" cap="none" spc="0" normalizeH="0" baseline="0" noProof="0" dirty="0">
                  <a:ln>
                    <a:noFill/>
                  </a:ln>
                  <a:solidFill>
                    <a:srgbClr val="FFFFFF"/>
                  </a:solidFill>
                  <a:effectLst/>
                  <a:uLnTx/>
                  <a:uFillTx/>
                  <a:latin typeface="Arial"/>
                  <a:ea typeface="Arial"/>
                  <a:cs typeface="Arial"/>
                  <a:sym typeface="Arial"/>
                </a:rPr>
                <a:t>VCF Operations</a:t>
              </a:r>
              <a:endParaRPr kumimoji="0" sz="1000" b="1"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4" name="Google Shape;2928;p26">
            <a:extLst>
              <a:ext uri="{FF2B5EF4-FFF2-40B4-BE49-F238E27FC236}">
                <a16:creationId xmlns:a16="http://schemas.microsoft.com/office/drawing/2014/main" id="{2714FCCB-F28B-DC23-451D-94588C14E8F8}"/>
              </a:ext>
            </a:extLst>
          </p:cNvPr>
          <p:cNvSpPr/>
          <p:nvPr/>
        </p:nvSpPr>
        <p:spPr>
          <a:xfrm>
            <a:off x="7966553" y="1946418"/>
            <a:ext cx="2890911" cy="3731229"/>
          </a:xfrm>
          <a:prstGeom prst="rect">
            <a:avLst/>
          </a:prstGeom>
          <a:solidFill>
            <a:schemeClr val="lt1">
              <a:alpha val="71372"/>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62742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1500"/>
                            </p:stCondLst>
                            <p:childTnLst>
                              <p:par>
                                <p:cTn id="9" presetID="9" presetClass="exit" presetSubtype="0" fill="hold" grpId="0" nodeType="afterEffect">
                                  <p:stCondLst>
                                    <p:cond delay="0"/>
                                  </p:stCondLst>
                                  <p:childTnLst>
                                    <p:animEffect transition="out" filter="dissolve">
                                      <p:cBhvr>
                                        <p:cTn id="10" dur="500"/>
                                        <p:tgtEl>
                                          <p:spTgt spid="2928"/>
                                        </p:tgtEl>
                                      </p:cBhvr>
                                    </p:animEffect>
                                    <p:set>
                                      <p:cBhvr>
                                        <p:cTn id="11" dur="1" fill="hold">
                                          <p:stCondLst>
                                            <p:cond delay="499"/>
                                          </p:stCondLst>
                                        </p:cTn>
                                        <p:tgtEl>
                                          <p:spTgt spid="29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 grpId="0" animBg="1"/>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776"/>
        <p:cNvGrpSpPr/>
        <p:nvPr/>
      </p:nvGrpSpPr>
      <p:grpSpPr>
        <a:xfrm>
          <a:off x="0" y="0"/>
          <a:ext cx="0" cy="0"/>
          <a:chOff x="0" y="0"/>
          <a:chExt cx="0" cy="0"/>
        </a:xfrm>
      </p:grpSpPr>
      <p:sp>
        <p:nvSpPr>
          <p:cNvPr id="6777" name="Google Shape;6777;p44"/>
          <p:cNvSpPr/>
          <p:nvPr/>
        </p:nvSpPr>
        <p:spPr>
          <a:xfrm>
            <a:off x="568518" y="1596277"/>
            <a:ext cx="7330575" cy="4583149"/>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778" name="Google Shape;6778;p4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Improve Performance and Reduce Downtime for VCF</a:t>
            </a:r>
            <a:endParaRPr/>
          </a:p>
        </p:txBody>
      </p:sp>
      <p:sp>
        <p:nvSpPr>
          <p:cNvPr id="6779" name="Google Shape;6779;p4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799"/>
              <a:buNone/>
            </a:pPr>
            <a:r>
              <a:rPr lang="en-US" sz="1999">
                <a:solidFill>
                  <a:srgbClr val="1B1E35"/>
                </a:solidFill>
              </a:rPr>
              <a:t>Integrated Infrastructure Operations: Network</a:t>
            </a:r>
            <a:endParaRPr sz="1200">
              <a:solidFill>
                <a:srgbClr val="1B1E35"/>
              </a:solidFill>
            </a:endParaRPr>
          </a:p>
          <a:p>
            <a:pPr marL="0" lvl="0" indent="0" algn="l" rtl="0">
              <a:lnSpc>
                <a:spcPct val="100000"/>
              </a:lnSpc>
              <a:spcBef>
                <a:spcPts val="1200"/>
              </a:spcBef>
              <a:spcAft>
                <a:spcPts val="0"/>
              </a:spcAft>
              <a:buSzPts val="1800"/>
              <a:buNone/>
            </a:pPr>
            <a:endParaRPr/>
          </a:p>
        </p:txBody>
      </p:sp>
      <p:sp>
        <p:nvSpPr>
          <p:cNvPr id="6780" name="Google Shape;6780;p44"/>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Network Operations Home Page</a:t>
            </a:r>
            <a:endParaRPr dirty="0"/>
          </a:p>
          <a:p>
            <a:pPr marL="0" lvl="0" indent="0" algn="l" rtl="0">
              <a:lnSpc>
                <a:spcPct val="100000"/>
              </a:lnSpc>
              <a:spcBef>
                <a:spcPts val="1200"/>
              </a:spcBef>
              <a:spcAft>
                <a:spcPts val="0"/>
              </a:spcAft>
              <a:buSzPts val="1440"/>
              <a:buNone/>
            </a:pPr>
            <a:r>
              <a:rPr lang="en-US" dirty="0"/>
              <a:t>Comprehensive view of entire VCF network</a:t>
            </a:r>
            <a:endParaRPr dirty="0"/>
          </a:p>
          <a:p>
            <a:pPr marL="0" lvl="0" indent="0" algn="l" rtl="0">
              <a:lnSpc>
                <a:spcPct val="100000"/>
              </a:lnSpc>
              <a:spcBef>
                <a:spcPts val="1200"/>
              </a:spcBef>
              <a:spcAft>
                <a:spcPts val="0"/>
              </a:spcAft>
              <a:buSzPts val="1440"/>
              <a:buNone/>
            </a:pPr>
            <a:r>
              <a:rPr lang="en-US" dirty="0"/>
              <a:t>Faster troubleshooting of traffic issues with flow insights</a:t>
            </a:r>
            <a:endParaRPr dirty="0"/>
          </a:p>
          <a:p>
            <a:pPr marL="0" lvl="0" indent="0" algn="l" rtl="0">
              <a:lnSpc>
                <a:spcPct val="100000"/>
              </a:lnSpc>
              <a:spcBef>
                <a:spcPts val="1200"/>
              </a:spcBef>
              <a:spcAft>
                <a:spcPts val="0"/>
              </a:spcAft>
              <a:buSzPts val="1440"/>
              <a:buNone/>
            </a:pPr>
            <a:r>
              <a:rPr lang="en-US" dirty="0"/>
              <a:t>Unified experience for Data source addition</a:t>
            </a:r>
            <a:endParaRPr dirty="0"/>
          </a:p>
          <a:p>
            <a:pPr marL="0" lvl="0" indent="0" algn="l" rtl="0">
              <a:lnSpc>
                <a:spcPct val="100000"/>
              </a:lnSpc>
              <a:spcBef>
                <a:spcPts val="1200"/>
              </a:spcBef>
              <a:spcAft>
                <a:spcPts val="0"/>
              </a:spcAft>
              <a:buSzPts val="1440"/>
              <a:buNone/>
            </a:pPr>
            <a:r>
              <a:rPr lang="en-US" dirty="0"/>
              <a:t>Analyze Flows in addition to metrics and Logs</a:t>
            </a:r>
            <a:endParaRPr dirty="0"/>
          </a:p>
          <a:p>
            <a:pPr marL="0" lvl="0" indent="0" algn="l" rtl="0">
              <a:lnSpc>
                <a:spcPct val="100000"/>
              </a:lnSpc>
              <a:spcBef>
                <a:spcPts val="1200"/>
              </a:spcBef>
              <a:spcAft>
                <a:spcPts val="0"/>
              </a:spcAft>
              <a:buSzPts val="1440"/>
              <a:buNone/>
            </a:pPr>
            <a:r>
              <a:rPr lang="en-US" dirty="0"/>
              <a:t>End-to-end Path Analysis and flow metrics</a:t>
            </a:r>
            <a:endParaRPr dirty="0"/>
          </a:p>
          <a:p>
            <a:pPr marL="0" lvl="0" indent="0" algn="l" rtl="0">
              <a:lnSpc>
                <a:spcPct val="100000"/>
              </a:lnSpc>
              <a:spcBef>
                <a:spcPts val="1200"/>
              </a:spcBef>
              <a:spcAft>
                <a:spcPts val="0"/>
              </a:spcAft>
              <a:buSzPts val="1440"/>
              <a:buNone/>
            </a:pPr>
            <a:r>
              <a:rPr lang="en-US" dirty="0"/>
              <a:t>Discover Business Applications insights using Flow based discovery </a:t>
            </a:r>
            <a:endParaRPr dirty="0"/>
          </a:p>
          <a:p>
            <a:pPr marL="0" lvl="0" indent="0" algn="l" rtl="0">
              <a:lnSpc>
                <a:spcPct val="100000"/>
              </a:lnSpc>
              <a:spcBef>
                <a:spcPts val="1200"/>
              </a:spcBef>
              <a:spcAft>
                <a:spcPts val="0"/>
              </a:spcAft>
              <a:buSzPts val="1440"/>
              <a:buNone/>
            </a:pPr>
            <a:endParaRPr dirty="0"/>
          </a:p>
        </p:txBody>
      </p:sp>
      <p:sp>
        <p:nvSpPr>
          <p:cNvPr id="6781" name="Google Shape;6781;p44"/>
          <p:cNvSpPr/>
          <p:nvPr/>
        </p:nvSpPr>
        <p:spPr>
          <a:xfrm>
            <a:off x="665280" y="1686654"/>
            <a:ext cx="6974697" cy="4199759"/>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6782" name="Google Shape;6782;p44"/>
          <p:cNvSpPr txBox="1"/>
          <p:nvPr/>
        </p:nvSpPr>
        <p:spPr>
          <a:xfrm>
            <a:off x="784288" y="1677797"/>
            <a:ext cx="7002319" cy="4326162"/>
          </a:xfrm>
          <a:prstGeom prst="rect">
            <a:avLst/>
          </a:prstGeom>
          <a:noFill/>
          <a:ln>
            <a:noFill/>
          </a:ln>
        </p:spPr>
        <p:txBody>
          <a:bodyPr spcFirstLastPara="1" wrap="square" lIns="594000" tIns="1370850" rIns="456950" bIns="456950" anchor="t" anchorCtr="0">
            <a:noAutofit/>
          </a:bodyPr>
          <a:lstStyle/>
          <a:p>
            <a:pPr marL="457063" marR="0" lvl="0" indent="-291378" algn="l" rtl="0">
              <a:lnSpc>
                <a:spcPct val="100000"/>
              </a:lnSpc>
              <a:spcBef>
                <a:spcPts val="0"/>
              </a:spcBef>
              <a:spcAft>
                <a:spcPts val="1200"/>
              </a:spcAft>
              <a:buClr>
                <a:srgbClr val="666666"/>
              </a:buClr>
              <a:buSzPts val="1800"/>
              <a:buFont typeface="Arial"/>
              <a:buChar char="​"/>
            </a:pPr>
            <a:r>
              <a:rPr lang="en-US" sz="2000">
                <a:solidFill>
                  <a:schemeClr val="dk1"/>
                </a:solidFill>
                <a:latin typeface="Arial"/>
                <a:ea typeface="Arial"/>
                <a:cs typeface="Arial"/>
                <a:sym typeface="Arial"/>
              </a:rPr>
              <a:t> </a:t>
            </a:r>
            <a:endParaRPr/>
          </a:p>
        </p:txBody>
      </p:sp>
      <p:pic>
        <p:nvPicPr>
          <p:cNvPr id="6783" name="Google Shape;6783;p44" descr="A screenshot of a computer&#10;&#10;AI-generated content may be incorrect."/>
          <p:cNvPicPr preferRelativeResize="0"/>
          <p:nvPr/>
        </p:nvPicPr>
        <p:blipFill rotWithShape="1">
          <a:blip r:embed="rId3">
            <a:alphaModFix/>
          </a:blip>
          <a:srcRect/>
          <a:stretch/>
        </p:blipFill>
        <p:spPr>
          <a:xfrm>
            <a:off x="656741" y="1677798"/>
            <a:ext cx="7123040" cy="4437368"/>
          </a:xfrm>
          <a:prstGeom prst="rect">
            <a:avLst/>
          </a:prstGeom>
          <a:noFill/>
          <a:ln>
            <a:noFill/>
          </a:ln>
        </p:spPr>
      </p:pic>
      <p:pic>
        <p:nvPicPr>
          <p:cNvPr id="6784" name="Google Shape;6784;p44" descr="A screenshot of a computer&#10;&#10;AI-generated content may be incorrect."/>
          <p:cNvPicPr preferRelativeResize="0"/>
          <p:nvPr/>
        </p:nvPicPr>
        <p:blipFill rotWithShape="1">
          <a:blip r:embed="rId4">
            <a:alphaModFix/>
          </a:blip>
          <a:srcRect/>
          <a:stretch/>
        </p:blipFill>
        <p:spPr>
          <a:xfrm>
            <a:off x="665283" y="1677798"/>
            <a:ext cx="7114953" cy="4437368"/>
          </a:xfrm>
          <a:prstGeom prst="rect">
            <a:avLst/>
          </a:prstGeom>
          <a:noFill/>
          <a:ln>
            <a:noFill/>
          </a:ln>
        </p:spPr>
      </p:pic>
      <p:pic>
        <p:nvPicPr>
          <p:cNvPr id="6785" name="Google Shape;6785;p44" descr="A screenshot of a computer&#10;&#10;AI-generated content may be incorrect."/>
          <p:cNvPicPr preferRelativeResize="0"/>
          <p:nvPr/>
        </p:nvPicPr>
        <p:blipFill rotWithShape="1">
          <a:blip r:embed="rId5">
            <a:alphaModFix/>
          </a:blip>
          <a:srcRect/>
          <a:stretch/>
        </p:blipFill>
        <p:spPr>
          <a:xfrm>
            <a:off x="665281" y="1677798"/>
            <a:ext cx="7135063" cy="4437368"/>
          </a:xfrm>
          <a:prstGeom prst="rect">
            <a:avLst/>
          </a:prstGeom>
          <a:noFill/>
          <a:ln>
            <a:noFill/>
          </a:ln>
        </p:spPr>
      </p:pic>
      <p:pic>
        <p:nvPicPr>
          <p:cNvPr id="6786" name="Google Shape;6786;p44" descr="A screenshot of a computer&#10;&#10;AI-generated content may be incorrect."/>
          <p:cNvPicPr preferRelativeResize="0"/>
          <p:nvPr/>
        </p:nvPicPr>
        <p:blipFill rotWithShape="1">
          <a:blip r:embed="rId6">
            <a:alphaModFix/>
          </a:blip>
          <a:srcRect/>
          <a:stretch/>
        </p:blipFill>
        <p:spPr>
          <a:xfrm>
            <a:off x="665280" y="1677795"/>
            <a:ext cx="7135063" cy="42603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84"/>
                                        </p:tgtEl>
                                        <p:attrNameLst>
                                          <p:attrName>style.visibility</p:attrName>
                                        </p:attrNameLst>
                                      </p:cBhvr>
                                      <p:to>
                                        <p:strVal val="visible"/>
                                      </p:to>
                                    </p:set>
                                    <p:animEffect transition="in" filter="fade">
                                      <p:cBhvr>
                                        <p:cTn id="7" dur="500"/>
                                        <p:tgtEl>
                                          <p:spTgt spid="67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85"/>
                                        </p:tgtEl>
                                        <p:attrNameLst>
                                          <p:attrName>style.visibility</p:attrName>
                                        </p:attrNameLst>
                                      </p:cBhvr>
                                      <p:to>
                                        <p:strVal val="visible"/>
                                      </p:to>
                                    </p:set>
                                    <p:animEffect transition="in" filter="fade">
                                      <p:cBhvr>
                                        <p:cTn id="12" dur="500"/>
                                        <p:tgtEl>
                                          <p:spTgt spid="678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786"/>
                                        </p:tgtEl>
                                        <p:attrNameLst>
                                          <p:attrName>style.visibility</p:attrName>
                                        </p:attrNameLst>
                                      </p:cBhvr>
                                      <p:to>
                                        <p:strVal val="visible"/>
                                      </p:to>
                                    </p:set>
                                    <p:animEffect transition="in" filter="fade">
                                      <p:cBhvr>
                                        <p:cTn id="17" dur="500"/>
                                        <p:tgtEl>
                                          <p:spTgt spid="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791"/>
        <p:cNvGrpSpPr/>
        <p:nvPr/>
      </p:nvGrpSpPr>
      <p:grpSpPr>
        <a:xfrm>
          <a:off x="0" y="0"/>
          <a:ext cx="0" cy="0"/>
          <a:chOff x="0" y="0"/>
          <a:chExt cx="0" cy="0"/>
        </a:xfrm>
      </p:grpSpPr>
      <p:sp>
        <p:nvSpPr>
          <p:cNvPr id="6792" name="Google Shape;6792;p45"/>
          <p:cNvSpPr/>
          <p:nvPr/>
        </p:nvSpPr>
        <p:spPr>
          <a:xfrm>
            <a:off x="672870" y="1554592"/>
            <a:ext cx="7265462" cy="1853635"/>
          </a:xfrm>
          <a:prstGeom prst="rect">
            <a:avLst/>
          </a:prstGeom>
          <a:gradFill>
            <a:gsLst>
              <a:gs pos="0">
                <a:srgbClr val="000000">
                  <a:alpha val="0"/>
                </a:srgbClr>
              </a:gs>
              <a:gs pos="14000">
                <a:srgbClr val="000000">
                  <a:alpha val="1960"/>
                </a:srgbClr>
              </a:gs>
              <a:gs pos="100000">
                <a:srgbClr val="0000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793" name="Google Shape;6793;p4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Improve Performance and Reduce Downtime for VCF</a:t>
            </a:r>
            <a:endParaRPr/>
          </a:p>
        </p:txBody>
      </p:sp>
      <p:sp>
        <p:nvSpPr>
          <p:cNvPr id="6794" name="Google Shape;6794;p4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Integrated Infrastructure Operations: Storage</a:t>
            </a:r>
            <a:endParaRPr/>
          </a:p>
        </p:txBody>
      </p:sp>
      <p:sp>
        <p:nvSpPr>
          <p:cNvPr id="6795" name="Google Shape;6795;p45"/>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dirty="0"/>
              <a:t>All new dashboards to</a:t>
            </a:r>
            <a:r>
              <a:rPr lang="en-US" b="1" dirty="0"/>
              <a:t> monitor and manage storage </a:t>
            </a:r>
            <a:r>
              <a:rPr lang="en-US" dirty="0"/>
              <a:t>powering VMware Cloud Foundation</a:t>
            </a:r>
            <a:endParaRPr dirty="0"/>
          </a:p>
          <a:p>
            <a:pPr marL="457200" lvl="1" indent="-184150" algn="l" rtl="0">
              <a:lnSpc>
                <a:spcPct val="100000"/>
              </a:lnSpc>
              <a:spcBef>
                <a:spcPts val="1200"/>
              </a:spcBef>
              <a:spcAft>
                <a:spcPts val="0"/>
              </a:spcAft>
              <a:buSzPts val="1260"/>
              <a:buChar char="•"/>
            </a:pPr>
            <a:r>
              <a:rPr lang="en-US" dirty="0"/>
              <a:t>Storage Operations Overview</a:t>
            </a:r>
            <a:endParaRPr dirty="0"/>
          </a:p>
          <a:p>
            <a:pPr marL="457200" lvl="1" indent="-184150" algn="l" rtl="0">
              <a:lnSpc>
                <a:spcPct val="100000"/>
              </a:lnSpc>
              <a:spcBef>
                <a:spcPts val="1200"/>
              </a:spcBef>
              <a:spcAft>
                <a:spcPts val="0"/>
              </a:spcAft>
              <a:buSzPts val="1260"/>
              <a:buChar char="•"/>
            </a:pPr>
            <a:r>
              <a:rPr lang="en-US" dirty="0" err="1"/>
              <a:t>vSAN</a:t>
            </a:r>
            <a:r>
              <a:rPr lang="en-US" dirty="0"/>
              <a:t> Performance</a:t>
            </a:r>
            <a:endParaRPr dirty="0"/>
          </a:p>
          <a:p>
            <a:pPr marL="457200" lvl="1" indent="-184150" algn="l" rtl="0">
              <a:lnSpc>
                <a:spcPct val="100000"/>
              </a:lnSpc>
              <a:spcBef>
                <a:spcPts val="1200"/>
              </a:spcBef>
              <a:spcAft>
                <a:spcPts val="0"/>
              </a:spcAft>
              <a:buSzPts val="1260"/>
              <a:buChar char="•"/>
            </a:pPr>
            <a:r>
              <a:rPr lang="en-US" dirty="0" err="1"/>
              <a:t>vSAN</a:t>
            </a:r>
            <a:r>
              <a:rPr lang="en-US" dirty="0"/>
              <a:t> Performance Diagnostics</a:t>
            </a:r>
            <a:endParaRPr dirty="0"/>
          </a:p>
          <a:p>
            <a:pPr marL="0" lvl="0" indent="0" algn="l" rtl="0">
              <a:lnSpc>
                <a:spcPct val="100000"/>
              </a:lnSpc>
              <a:spcBef>
                <a:spcPts val="1200"/>
              </a:spcBef>
              <a:spcAft>
                <a:spcPts val="0"/>
              </a:spcAft>
              <a:buSzPts val="1440"/>
              <a:buNone/>
            </a:pPr>
            <a:r>
              <a:rPr lang="en-US" b="1" dirty="0"/>
              <a:t>Holistic views </a:t>
            </a:r>
            <a:r>
              <a:rPr lang="en-US" dirty="0"/>
              <a:t>provide at-a-glance conditions </a:t>
            </a:r>
            <a:r>
              <a:rPr lang="en-US" b="1" dirty="0"/>
              <a:t>across multiple clusters</a:t>
            </a:r>
            <a:endParaRPr dirty="0"/>
          </a:p>
          <a:p>
            <a:pPr marL="0" lvl="0" indent="0" algn="l" rtl="0">
              <a:lnSpc>
                <a:spcPct val="100000"/>
              </a:lnSpc>
              <a:spcBef>
                <a:spcPts val="1200"/>
              </a:spcBef>
              <a:spcAft>
                <a:spcPts val="0"/>
              </a:spcAft>
              <a:buSzPts val="1440"/>
              <a:buNone/>
            </a:pPr>
            <a:r>
              <a:rPr lang="en-US" b="1" dirty="0"/>
              <a:t>Key metrics </a:t>
            </a:r>
            <a:r>
              <a:rPr lang="en-US" dirty="0"/>
              <a:t>and </a:t>
            </a:r>
            <a:r>
              <a:rPr lang="en-US" b="1" dirty="0"/>
              <a:t>health information </a:t>
            </a:r>
            <a:r>
              <a:rPr lang="en-US" dirty="0"/>
              <a:t>retrieved from </a:t>
            </a:r>
            <a:r>
              <a:rPr lang="en-US" dirty="0" err="1"/>
              <a:t>vSAN</a:t>
            </a:r>
            <a:r>
              <a:rPr lang="en-US" dirty="0"/>
              <a:t> APIs</a:t>
            </a:r>
            <a:endParaRPr dirty="0"/>
          </a:p>
          <a:p>
            <a:pPr marL="0" lvl="0" indent="0" algn="l" rtl="0">
              <a:lnSpc>
                <a:spcPct val="100000"/>
              </a:lnSpc>
              <a:spcBef>
                <a:spcPts val="1200"/>
              </a:spcBef>
              <a:spcAft>
                <a:spcPts val="0"/>
              </a:spcAft>
              <a:buSzPts val="1440"/>
              <a:buNone/>
            </a:pPr>
            <a:endParaRPr dirty="0"/>
          </a:p>
          <a:p>
            <a:pPr marL="0" lvl="0" indent="0" algn="l" rtl="0">
              <a:lnSpc>
                <a:spcPct val="100000"/>
              </a:lnSpc>
              <a:spcBef>
                <a:spcPts val="1200"/>
              </a:spcBef>
              <a:spcAft>
                <a:spcPts val="0"/>
              </a:spcAft>
              <a:buSzPts val="1440"/>
              <a:buNone/>
            </a:pPr>
            <a:endParaRPr dirty="0"/>
          </a:p>
          <a:p>
            <a:pPr marL="0" lvl="0" indent="0" algn="l" rtl="0">
              <a:lnSpc>
                <a:spcPct val="100000"/>
              </a:lnSpc>
              <a:spcBef>
                <a:spcPts val="1200"/>
              </a:spcBef>
              <a:spcAft>
                <a:spcPts val="0"/>
              </a:spcAft>
              <a:buSzPts val="1440"/>
              <a:buNone/>
            </a:pPr>
            <a:endParaRPr dirty="0"/>
          </a:p>
        </p:txBody>
      </p:sp>
      <p:grpSp>
        <p:nvGrpSpPr>
          <p:cNvPr id="6796" name="Google Shape;6796;p45"/>
          <p:cNvGrpSpPr/>
          <p:nvPr/>
        </p:nvGrpSpPr>
        <p:grpSpPr>
          <a:xfrm>
            <a:off x="5748899" y="4765236"/>
            <a:ext cx="2189434" cy="113067"/>
            <a:chOff x="9883178" y="3095486"/>
            <a:chExt cx="2189434" cy="113067"/>
          </a:xfrm>
        </p:grpSpPr>
        <p:sp>
          <p:nvSpPr>
            <p:cNvPr id="6797" name="Google Shape;6797;p45"/>
            <p:cNvSpPr/>
            <p:nvPr/>
          </p:nvSpPr>
          <p:spPr>
            <a:xfrm>
              <a:off x="9883178" y="3095486"/>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798" name="Google Shape;6798;p45"/>
            <p:cNvSpPr/>
            <p:nvPr/>
          </p:nvSpPr>
          <p:spPr>
            <a:xfrm>
              <a:off x="10447015" y="3095486"/>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799" name="Google Shape;6799;p45"/>
            <p:cNvSpPr/>
            <p:nvPr/>
          </p:nvSpPr>
          <p:spPr>
            <a:xfrm>
              <a:off x="11010852" y="3095486"/>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00" name="Google Shape;6800;p45"/>
            <p:cNvSpPr/>
            <p:nvPr/>
          </p:nvSpPr>
          <p:spPr>
            <a:xfrm>
              <a:off x="11574689" y="3095486"/>
              <a:ext cx="497923" cy="113067"/>
            </a:xfrm>
            <a:prstGeom prst="rect">
              <a:avLst/>
            </a:prstGeom>
            <a:solidFill>
              <a:schemeClr val="accent4">
                <a:alpha val="64705"/>
              </a:schemeClr>
            </a:soli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cxnSp>
        <p:nvCxnSpPr>
          <p:cNvPr id="6801" name="Google Shape;6801;p45"/>
          <p:cNvCxnSpPr/>
          <p:nvPr/>
        </p:nvCxnSpPr>
        <p:spPr>
          <a:xfrm rot="10800000">
            <a:off x="6843616" y="5176497"/>
            <a:ext cx="0" cy="160235"/>
          </a:xfrm>
          <a:prstGeom prst="straightConnector1">
            <a:avLst/>
          </a:prstGeom>
          <a:noFill/>
          <a:ln w="25400" cap="flat" cmpd="sng">
            <a:solidFill>
              <a:schemeClr val="accent2"/>
            </a:solidFill>
            <a:prstDash val="dot"/>
            <a:miter lim="800000"/>
            <a:headEnd type="diamond" w="lg" len="lg"/>
            <a:tailEnd type="none" w="sm" len="sm"/>
          </a:ln>
        </p:spPr>
      </p:cxnSp>
      <p:pic>
        <p:nvPicPr>
          <p:cNvPr id="6802" name="Google Shape;6802;p45"/>
          <p:cNvPicPr preferRelativeResize="0"/>
          <p:nvPr/>
        </p:nvPicPr>
        <p:blipFill rotWithShape="1">
          <a:blip r:embed="rId3">
            <a:alphaModFix/>
          </a:blip>
          <a:srcRect/>
          <a:stretch/>
        </p:blipFill>
        <p:spPr>
          <a:xfrm>
            <a:off x="6748411" y="4912588"/>
            <a:ext cx="190410" cy="223781"/>
          </a:xfrm>
          <a:prstGeom prst="rect">
            <a:avLst/>
          </a:prstGeom>
          <a:noFill/>
          <a:ln>
            <a:noFill/>
          </a:ln>
        </p:spPr>
      </p:pic>
      <p:grpSp>
        <p:nvGrpSpPr>
          <p:cNvPr id="6803" name="Google Shape;6803;p45"/>
          <p:cNvGrpSpPr/>
          <p:nvPr/>
        </p:nvGrpSpPr>
        <p:grpSpPr>
          <a:xfrm>
            <a:off x="5748899" y="5443839"/>
            <a:ext cx="2189434" cy="775737"/>
            <a:chOff x="7631066" y="4260300"/>
            <a:chExt cx="2189434" cy="775737"/>
          </a:xfrm>
        </p:grpSpPr>
        <p:grpSp>
          <p:nvGrpSpPr>
            <p:cNvPr id="6804" name="Google Shape;6804;p45"/>
            <p:cNvGrpSpPr/>
            <p:nvPr/>
          </p:nvGrpSpPr>
          <p:grpSpPr>
            <a:xfrm>
              <a:off x="7631066" y="4851371"/>
              <a:ext cx="2189434" cy="184666"/>
              <a:chOff x="7950077" y="3379353"/>
              <a:chExt cx="2189434" cy="184666"/>
            </a:xfrm>
          </p:grpSpPr>
          <p:cxnSp>
            <p:nvCxnSpPr>
              <p:cNvPr id="6805" name="Google Shape;6805;p45"/>
              <p:cNvCxnSpPr/>
              <p:nvPr/>
            </p:nvCxnSpPr>
            <p:spPr>
              <a:xfrm>
                <a:off x="7954667" y="3387515"/>
                <a:ext cx="0" cy="8801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6806" name="Google Shape;6806;p45"/>
              <p:cNvCxnSpPr/>
              <p:nvPr/>
            </p:nvCxnSpPr>
            <p:spPr>
              <a:xfrm>
                <a:off x="9884678" y="3475525"/>
                <a:ext cx="254833"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6807" name="Google Shape;6807;p45"/>
              <p:cNvCxnSpPr/>
              <p:nvPr/>
            </p:nvCxnSpPr>
            <p:spPr>
              <a:xfrm>
                <a:off x="10139511" y="3387515"/>
                <a:ext cx="0" cy="8801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cxnSp>
            <p:nvCxnSpPr>
              <p:cNvPr id="6808" name="Google Shape;6808;p45"/>
              <p:cNvCxnSpPr/>
              <p:nvPr/>
            </p:nvCxnSpPr>
            <p:spPr>
              <a:xfrm>
                <a:off x="7950077" y="3475525"/>
                <a:ext cx="229626" cy="0"/>
              </a:xfrm>
              <a:prstGeom prst="straightConnector1">
                <a:avLst/>
              </a:prstGeom>
              <a:solidFill>
                <a:schemeClr val="accent1"/>
              </a:solidFill>
              <a:ln w="15875" cap="flat" cmpd="sng">
                <a:solidFill>
                  <a:schemeClr val="accent2"/>
                </a:solidFill>
                <a:prstDash val="solid"/>
                <a:miter lim="800000"/>
                <a:headEnd type="none" w="sm" len="sm"/>
                <a:tailEnd type="none" w="sm" len="sm"/>
              </a:ln>
            </p:spPr>
          </p:cxnSp>
          <p:sp>
            <p:nvSpPr>
              <p:cNvPr id="6809" name="Google Shape;6809;p45"/>
              <p:cNvSpPr txBox="1"/>
              <p:nvPr/>
            </p:nvSpPr>
            <p:spPr>
              <a:xfrm>
                <a:off x="8189925" y="3379353"/>
                <a:ext cx="1709737"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2"/>
                    </a:solidFill>
                    <a:latin typeface="Arial"/>
                    <a:ea typeface="Arial"/>
                    <a:cs typeface="Arial"/>
                    <a:sym typeface="Arial"/>
                  </a:rPr>
                  <a:t>vSAN storage cluster</a:t>
                </a:r>
                <a:endParaRPr/>
              </a:p>
            </p:txBody>
          </p:sp>
        </p:grpSp>
        <p:grpSp>
          <p:nvGrpSpPr>
            <p:cNvPr id="6810" name="Google Shape;6810;p45"/>
            <p:cNvGrpSpPr/>
            <p:nvPr/>
          </p:nvGrpSpPr>
          <p:grpSpPr>
            <a:xfrm>
              <a:off x="7631066" y="4707082"/>
              <a:ext cx="2189434" cy="113067"/>
              <a:chOff x="9883178" y="3095486"/>
              <a:chExt cx="2189434" cy="113067"/>
            </a:xfrm>
          </p:grpSpPr>
          <p:sp>
            <p:nvSpPr>
              <p:cNvPr id="6811" name="Google Shape;6811;p45"/>
              <p:cNvSpPr/>
              <p:nvPr/>
            </p:nvSpPr>
            <p:spPr>
              <a:xfrm>
                <a:off x="9883178"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12" name="Google Shape;6812;p45"/>
              <p:cNvSpPr/>
              <p:nvPr/>
            </p:nvSpPr>
            <p:spPr>
              <a:xfrm>
                <a:off x="10447015"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13" name="Google Shape;6813;p45"/>
              <p:cNvSpPr/>
              <p:nvPr/>
            </p:nvSpPr>
            <p:spPr>
              <a:xfrm>
                <a:off x="11010852"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14" name="Google Shape;6814;p45"/>
              <p:cNvSpPr/>
              <p:nvPr/>
            </p:nvSpPr>
            <p:spPr>
              <a:xfrm>
                <a:off x="11574689" y="3095486"/>
                <a:ext cx="497923" cy="113067"/>
              </a:xfrm>
              <a:prstGeom prst="rect">
                <a:avLst/>
              </a:prstGeom>
              <a:solidFill>
                <a:schemeClr val="accent3">
                  <a:alpha val="64705"/>
                </a:scheme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6815" name="Google Shape;6815;p45"/>
            <p:cNvGrpSpPr/>
            <p:nvPr/>
          </p:nvGrpSpPr>
          <p:grpSpPr>
            <a:xfrm>
              <a:off x="7631066" y="4260300"/>
              <a:ext cx="2189434" cy="400437"/>
              <a:chOff x="5446716" y="4074320"/>
              <a:chExt cx="2189434" cy="400437"/>
            </a:xfrm>
          </p:grpSpPr>
          <p:sp>
            <p:nvSpPr>
              <p:cNvPr id="6816" name="Google Shape;6816;p45"/>
              <p:cNvSpPr/>
              <p:nvPr/>
            </p:nvSpPr>
            <p:spPr>
              <a:xfrm>
                <a:off x="5446716" y="4074320"/>
                <a:ext cx="2189434" cy="400437"/>
              </a:xfrm>
              <a:prstGeom prst="rect">
                <a:avLst/>
              </a:prstGeom>
              <a:solidFill>
                <a:schemeClr val="lt2"/>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nvGrpSpPr>
              <p:cNvPr id="6817" name="Google Shape;6817;p45"/>
              <p:cNvGrpSpPr/>
              <p:nvPr/>
            </p:nvGrpSpPr>
            <p:grpSpPr>
              <a:xfrm>
                <a:off x="5527303" y="4148769"/>
                <a:ext cx="2038349" cy="254952"/>
                <a:chOff x="1410325" y="3573078"/>
                <a:chExt cx="2038349" cy="254952"/>
              </a:xfrm>
            </p:grpSpPr>
            <p:sp>
              <p:nvSpPr>
                <p:cNvPr id="6818" name="Google Shape;6818;p45"/>
                <p:cNvSpPr/>
                <p:nvPr/>
              </p:nvSpPr>
              <p:spPr>
                <a:xfrm>
                  <a:off x="1410325" y="3573078"/>
                  <a:ext cx="2038349" cy="254952"/>
                </a:xfrm>
                <a:prstGeom prst="rect">
                  <a:avLst/>
                </a:prstGeom>
                <a:noFill/>
                <a:ln w="9525" cap="flat" cmpd="sng">
                  <a:solidFill>
                    <a:srgbClr val="316E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6819" name="Google Shape;6819;p45"/>
                <p:cNvSpPr/>
                <p:nvPr/>
              </p:nvSpPr>
              <p:spPr>
                <a:xfrm>
                  <a:off x="1420623" y="3636670"/>
                  <a:ext cx="543931"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vSAN ESA</a:t>
                  </a:r>
                  <a:endParaRPr/>
                </a:p>
              </p:txBody>
            </p:sp>
            <p:sp>
              <p:nvSpPr>
                <p:cNvPr id="6820" name="Google Shape;6820;p45"/>
                <p:cNvSpPr/>
                <p:nvPr/>
              </p:nvSpPr>
              <p:spPr>
                <a:xfrm>
                  <a:off x="2828447" y="3636670"/>
                  <a:ext cx="608625"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vSAN SC</a:t>
                  </a:r>
                  <a:endParaRPr/>
                </a:p>
              </p:txBody>
            </p:sp>
            <p:cxnSp>
              <p:nvCxnSpPr>
                <p:cNvPr id="6821" name="Google Shape;6821;p45"/>
                <p:cNvCxnSpPr/>
                <p:nvPr/>
              </p:nvCxnSpPr>
              <p:spPr>
                <a:xfrm rot="10800000">
                  <a:off x="2003038" y="3698226"/>
                  <a:ext cx="297114" cy="0"/>
                </a:xfrm>
                <a:prstGeom prst="straightConnector1">
                  <a:avLst/>
                </a:prstGeom>
                <a:noFill/>
                <a:ln w="9525" cap="flat" cmpd="sng">
                  <a:solidFill>
                    <a:schemeClr val="accent2"/>
                  </a:solidFill>
                  <a:prstDash val="solid"/>
                  <a:miter lim="800000"/>
                  <a:headEnd type="none" w="sm" len="sm"/>
                  <a:tailEnd type="triangle" w="med" len="med"/>
                </a:ln>
              </p:spPr>
            </p:cxnSp>
            <p:cxnSp>
              <p:nvCxnSpPr>
                <p:cNvPr id="6822" name="Google Shape;6822;p45"/>
                <p:cNvCxnSpPr/>
                <p:nvPr/>
              </p:nvCxnSpPr>
              <p:spPr>
                <a:xfrm>
                  <a:off x="2300152" y="3698226"/>
                  <a:ext cx="499235" cy="0"/>
                </a:xfrm>
                <a:prstGeom prst="straightConnector1">
                  <a:avLst/>
                </a:prstGeom>
                <a:noFill/>
                <a:ln w="9525" cap="flat" cmpd="sng">
                  <a:solidFill>
                    <a:schemeClr val="accent2"/>
                  </a:solidFill>
                  <a:prstDash val="solid"/>
                  <a:miter lim="800000"/>
                  <a:headEnd type="none" w="sm" len="sm"/>
                  <a:tailEnd type="triangle" w="med" len="med"/>
                </a:ln>
              </p:spPr>
            </p:cxnSp>
          </p:grpSp>
        </p:grpSp>
      </p:grpSp>
      <p:grpSp>
        <p:nvGrpSpPr>
          <p:cNvPr id="6823" name="Google Shape;6823;p45"/>
          <p:cNvGrpSpPr/>
          <p:nvPr/>
        </p:nvGrpSpPr>
        <p:grpSpPr>
          <a:xfrm>
            <a:off x="4057388" y="4765236"/>
            <a:ext cx="1625597" cy="499755"/>
            <a:chOff x="5939555" y="3323448"/>
            <a:chExt cx="1625597" cy="499755"/>
          </a:xfrm>
        </p:grpSpPr>
        <p:cxnSp>
          <p:nvCxnSpPr>
            <p:cNvPr id="6824" name="Google Shape;6824;p45"/>
            <p:cNvCxnSpPr/>
            <p:nvPr/>
          </p:nvCxnSpPr>
          <p:spPr>
            <a:xfrm>
              <a:off x="7246656" y="3734709"/>
              <a:ext cx="318496"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6825" name="Google Shape;6825;p45"/>
            <p:cNvCxnSpPr/>
            <p:nvPr/>
          </p:nvCxnSpPr>
          <p:spPr>
            <a:xfrm>
              <a:off x="7565152" y="3646699"/>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6826" name="Google Shape;6826;p45"/>
            <p:cNvCxnSpPr/>
            <p:nvPr/>
          </p:nvCxnSpPr>
          <p:spPr>
            <a:xfrm>
              <a:off x="5939555" y="3734709"/>
              <a:ext cx="319676"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sp>
          <p:nvSpPr>
            <p:cNvPr id="6827" name="Google Shape;6827;p45"/>
            <p:cNvSpPr txBox="1"/>
            <p:nvPr/>
          </p:nvSpPr>
          <p:spPr>
            <a:xfrm>
              <a:off x="6294337" y="3638537"/>
              <a:ext cx="916032"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1"/>
                  </a:solidFill>
                  <a:latin typeface="Arial"/>
                  <a:ea typeface="Arial"/>
                  <a:cs typeface="Arial"/>
                  <a:sym typeface="Arial"/>
                </a:rPr>
                <a:t>vSAN HCI </a:t>
              </a:r>
              <a:endParaRPr/>
            </a:p>
          </p:txBody>
        </p:sp>
        <p:grpSp>
          <p:nvGrpSpPr>
            <p:cNvPr id="6828" name="Google Shape;6828;p45"/>
            <p:cNvGrpSpPr/>
            <p:nvPr/>
          </p:nvGrpSpPr>
          <p:grpSpPr>
            <a:xfrm>
              <a:off x="5939555" y="3323448"/>
              <a:ext cx="1625597" cy="283867"/>
              <a:chOff x="3576049" y="2849562"/>
              <a:chExt cx="1625597" cy="283867"/>
            </a:xfrm>
          </p:grpSpPr>
          <p:grpSp>
            <p:nvGrpSpPr>
              <p:cNvPr id="6829" name="Google Shape;6829;p45"/>
              <p:cNvGrpSpPr/>
              <p:nvPr/>
            </p:nvGrpSpPr>
            <p:grpSpPr>
              <a:xfrm>
                <a:off x="3576049" y="2849562"/>
                <a:ext cx="1625597" cy="113067"/>
                <a:chOff x="9883178" y="3095486"/>
                <a:chExt cx="1625597" cy="113067"/>
              </a:xfrm>
            </p:grpSpPr>
            <p:sp>
              <p:nvSpPr>
                <p:cNvPr id="6830" name="Google Shape;6830;p45"/>
                <p:cNvSpPr/>
                <p:nvPr/>
              </p:nvSpPr>
              <p:spPr>
                <a:xfrm>
                  <a:off x="9883178"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31" name="Google Shape;6831;p45"/>
                <p:cNvSpPr/>
                <p:nvPr/>
              </p:nvSpPr>
              <p:spPr>
                <a:xfrm>
                  <a:off x="10447015"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32" name="Google Shape;6832;p45"/>
                <p:cNvSpPr/>
                <p:nvPr/>
              </p:nvSpPr>
              <p:spPr>
                <a:xfrm>
                  <a:off x="11010852"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6833" name="Google Shape;6833;p45"/>
              <p:cNvGrpSpPr/>
              <p:nvPr/>
            </p:nvGrpSpPr>
            <p:grpSpPr>
              <a:xfrm>
                <a:off x="3576049" y="3020362"/>
                <a:ext cx="1625597" cy="113067"/>
                <a:chOff x="9883178" y="3095486"/>
                <a:chExt cx="1625597" cy="113067"/>
              </a:xfrm>
            </p:grpSpPr>
            <p:sp>
              <p:nvSpPr>
                <p:cNvPr id="6834" name="Google Shape;6834;p45"/>
                <p:cNvSpPr/>
                <p:nvPr/>
              </p:nvSpPr>
              <p:spPr>
                <a:xfrm>
                  <a:off x="9883178"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35" name="Google Shape;6835;p45"/>
                <p:cNvSpPr/>
                <p:nvPr/>
              </p:nvSpPr>
              <p:spPr>
                <a:xfrm>
                  <a:off x="10447015"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36" name="Google Shape;6836;p45"/>
                <p:cNvSpPr/>
                <p:nvPr/>
              </p:nvSpPr>
              <p:spPr>
                <a:xfrm>
                  <a:off x="11010852"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grpSp>
      <p:grpSp>
        <p:nvGrpSpPr>
          <p:cNvPr id="6837" name="Google Shape;6837;p45"/>
          <p:cNvGrpSpPr/>
          <p:nvPr/>
        </p:nvGrpSpPr>
        <p:grpSpPr>
          <a:xfrm>
            <a:off x="2365925" y="4765236"/>
            <a:ext cx="1696053" cy="499755"/>
            <a:chOff x="4248092" y="3323448"/>
            <a:chExt cx="1696053" cy="499755"/>
          </a:xfrm>
        </p:grpSpPr>
        <p:cxnSp>
          <p:nvCxnSpPr>
            <p:cNvPr id="6838" name="Google Shape;6838;p45"/>
            <p:cNvCxnSpPr/>
            <p:nvPr/>
          </p:nvCxnSpPr>
          <p:spPr>
            <a:xfrm>
              <a:off x="4252682" y="3646699"/>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6839" name="Google Shape;6839;p45"/>
            <p:cNvCxnSpPr/>
            <p:nvPr/>
          </p:nvCxnSpPr>
          <p:spPr>
            <a:xfrm>
              <a:off x="5555193" y="3734709"/>
              <a:ext cx="318496"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6840" name="Google Shape;6840;p45"/>
            <p:cNvCxnSpPr/>
            <p:nvPr/>
          </p:nvCxnSpPr>
          <p:spPr>
            <a:xfrm>
              <a:off x="5873689" y="3646699"/>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6841" name="Google Shape;6841;p45"/>
            <p:cNvCxnSpPr/>
            <p:nvPr/>
          </p:nvCxnSpPr>
          <p:spPr>
            <a:xfrm>
              <a:off x="4248092" y="3734709"/>
              <a:ext cx="319676"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sp>
          <p:nvSpPr>
            <p:cNvPr id="6842" name="Google Shape;6842;p45"/>
            <p:cNvSpPr txBox="1"/>
            <p:nvPr/>
          </p:nvSpPr>
          <p:spPr>
            <a:xfrm>
              <a:off x="4602874" y="3638537"/>
              <a:ext cx="916032"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1"/>
                  </a:solidFill>
                  <a:latin typeface="Arial"/>
                  <a:ea typeface="Arial"/>
                  <a:cs typeface="Arial"/>
                  <a:sym typeface="Arial"/>
                </a:rPr>
                <a:t>vSAN HCI</a:t>
              </a:r>
              <a:endParaRPr/>
            </a:p>
          </p:txBody>
        </p:sp>
        <p:grpSp>
          <p:nvGrpSpPr>
            <p:cNvPr id="6843" name="Google Shape;6843;p45"/>
            <p:cNvGrpSpPr/>
            <p:nvPr/>
          </p:nvGrpSpPr>
          <p:grpSpPr>
            <a:xfrm>
              <a:off x="4248092" y="3323448"/>
              <a:ext cx="1625597" cy="283867"/>
              <a:chOff x="3576049" y="2849562"/>
              <a:chExt cx="1625597" cy="283867"/>
            </a:xfrm>
          </p:grpSpPr>
          <p:grpSp>
            <p:nvGrpSpPr>
              <p:cNvPr id="6844" name="Google Shape;6844;p45"/>
              <p:cNvGrpSpPr/>
              <p:nvPr/>
            </p:nvGrpSpPr>
            <p:grpSpPr>
              <a:xfrm>
                <a:off x="3576049" y="2849562"/>
                <a:ext cx="1625597" cy="113067"/>
                <a:chOff x="9883178" y="3095486"/>
                <a:chExt cx="1625597" cy="113067"/>
              </a:xfrm>
            </p:grpSpPr>
            <p:sp>
              <p:nvSpPr>
                <p:cNvPr id="6845" name="Google Shape;6845;p45"/>
                <p:cNvSpPr/>
                <p:nvPr/>
              </p:nvSpPr>
              <p:spPr>
                <a:xfrm>
                  <a:off x="9883178"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46" name="Google Shape;6846;p45"/>
                <p:cNvSpPr/>
                <p:nvPr/>
              </p:nvSpPr>
              <p:spPr>
                <a:xfrm>
                  <a:off x="10447015"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47" name="Google Shape;6847;p45"/>
                <p:cNvSpPr/>
                <p:nvPr/>
              </p:nvSpPr>
              <p:spPr>
                <a:xfrm>
                  <a:off x="11010852"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6848" name="Google Shape;6848;p45"/>
              <p:cNvGrpSpPr/>
              <p:nvPr/>
            </p:nvGrpSpPr>
            <p:grpSpPr>
              <a:xfrm>
                <a:off x="3576049" y="3020362"/>
                <a:ext cx="1625597" cy="113067"/>
                <a:chOff x="9883178" y="3095486"/>
                <a:chExt cx="1625597" cy="113067"/>
              </a:xfrm>
            </p:grpSpPr>
            <p:sp>
              <p:nvSpPr>
                <p:cNvPr id="6849" name="Google Shape;6849;p45"/>
                <p:cNvSpPr/>
                <p:nvPr/>
              </p:nvSpPr>
              <p:spPr>
                <a:xfrm>
                  <a:off x="9883178"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50" name="Google Shape;6850;p45"/>
                <p:cNvSpPr/>
                <p:nvPr/>
              </p:nvSpPr>
              <p:spPr>
                <a:xfrm>
                  <a:off x="10447015"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51" name="Google Shape;6851;p45"/>
                <p:cNvSpPr/>
                <p:nvPr/>
              </p:nvSpPr>
              <p:spPr>
                <a:xfrm>
                  <a:off x="11010852"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cxnSp>
          <p:nvCxnSpPr>
            <p:cNvPr id="6852" name="Google Shape;6852;p45"/>
            <p:cNvCxnSpPr/>
            <p:nvPr/>
          </p:nvCxnSpPr>
          <p:spPr>
            <a:xfrm>
              <a:off x="5944145" y="3646699"/>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grpSp>
      <p:grpSp>
        <p:nvGrpSpPr>
          <p:cNvPr id="6853" name="Google Shape;6853;p45"/>
          <p:cNvGrpSpPr/>
          <p:nvPr/>
        </p:nvGrpSpPr>
        <p:grpSpPr>
          <a:xfrm>
            <a:off x="672869" y="4008133"/>
            <a:ext cx="7265463" cy="713101"/>
            <a:chOff x="2652045" y="1655112"/>
            <a:chExt cx="7265463" cy="713101"/>
          </a:xfrm>
        </p:grpSpPr>
        <p:sp>
          <p:nvSpPr>
            <p:cNvPr id="6854" name="Google Shape;6854;p45"/>
            <p:cNvSpPr/>
            <p:nvPr/>
          </p:nvSpPr>
          <p:spPr>
            <a:xfrm>
              <a:off x="2652045" y="1655112"/>
              <a:ext cx="7265463" cy="713101"/>
            </a:xfrm>
            <a:prstGeom prst="rect">
              <a:avLst/>
            </a:prstGeom>
            <a:solidFill>
              <a:schemeClr val="lt2"/>
            </a:solid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nvGrpSpPr>
            <p:cNvPr id="6855" name="Google Shape;6855;p45"/>
            <p:cNvGrpSpPr/>
            <p:nvPr/>
          </p:nvGrpSpPr>
          <p:grpSpPr>
            <a:xfrm>
              <a:off x="4707450" y="1723462"/>
              <a:ext cx="2590815" cy="228600"/>
              <a:chOff x="4814773" y="2031920"/>
              <a:chExt cx="2590815" cy="228600"/>
            </a:xfrm>
          </p:grpSpPr>
          <p:pic>
            <p:nvPicPr>
              <p:cNvPr id="6856" name="Google Shape;6856;p45"/>
              <p:cNvPicPr preferRelativeResize="0"/>
              <p:nvPr/>
            </p:nvPicPr>
            <p:blipFill rotWithShape="1">
              <a:blip r:embed="rId4">
                <a:alphaModFix/>
              </a:blip>
              <a:srcRect/>
              <a:stretch/>
            </p:blipFill>
            <p:spPr>
              <a:xfrm>
                <a:off x="4814773" y="2031920"/>
                <a:ext cx="228600" cy="228600"/>
              </a:xfrm>
              <a:prstGeom prst="rect">
                <a:avLst/>
              </a:prstGeom>
              <a:noFill/>
              <a:ln>
                <a:noFill/>
              </a:ln>
            </p:spPr>
          </p:pic>
          <p:sp>
            <p:nvSpPr>
              <p:cNvPr id="6857" name="Google Shape;6857;p45"/>
              <p:cNvSpPr/>
              <p:nvPr/>
            </p:nvSpPr>
            <p:spPr>
              <a:xfrm>
                <a:off x="5013409" y="2053887"/>
                <a:ext cx="2195497" cy="184666"/>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a:solidFill>
                      <a:schemeClr val="accent2"/>
                    </a:solidFill>
                    <a:latin typeface="Arial"/>
                    <a:ea typeface="Arial"/>
                    <a:cs typeface="Arial"/>
                    <a:sym typeface="Arial"/>
                  </a:rPr>
                  <a:t>VMware Cloud Foundation</a:t>
                </a:r>
                <a:endParaRPr/>
              </a:p>
            </p:txBody>
          </p:sp>
          <p:pic>
            <p:nvPicPr>
              <p:cNvPr id="6858" name="Google Shape;6858;p45"/>
              <p:cNvPicPr preferRelativeResize="0"/>
              <p:nvPr/>
            </p:nvPicPr>
            <p:blipFill rotWithShape="1">
              <a:blip r:embed="rId4">
                <a:alphaModFix/>
              </a:blip>
              <a:srcRect/>
              <a:stretch/>
            </p:blipFill>
            <p:spPr>
              <a:xfrm>
                <a:off x="7176988" y="2031920"/>
                <a:ext cx="228600" cy="228600"/>
              </a:xfrm>
              <a:prstGeom prst="rect">
                <a:avLst/>
              </a:prstGeom>
              <a:noFill/>
              <a:ln>
                <a:noFill/>
              </a:ln>
            </p:spPr>
          </p:pic>
        </p:grpSp>
        <p:grpSp>
          <p:nvGrpSpPr>
            <p:cNvPr id="6859" name="Google Shape;6859;p45"/>
            <p:cNvGrpSpPr/>
            <p:nvPr/>
          </p:nvGrpSpPr>
          <p:grpSpPr>
            <a:xfrm>
              <a:off x="7803617" y="2042225"/>
              <a:ext cx="2038349" cy="254952"/>
              <a:chOff x="1410325" y="3573078"/>
              <a:chExt cx="2038349" cy="254952"/>
            </a:xfrm>
          </p:grpSpPr>
          <p:sp>
            <p:nvSpPr>
              <p:cNvPr id="6860" name="Google Shape;6860;p45"/>
              <p:cNvSpPr/>
              <p:nvPr/>
            </p:nvSpPr>
            <p:spPr>
              <a:xfrm>
                <a:off x="1410325" y="3573078"/>
                <a:ext cx="2038349" cy="254952"/>
              </a:xfrm>
              <a:prstGeom prst="rect">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6861" name="Google Shape;6861;p45"/>
              <p:cNvSpPr/>
              <p:nvPr/>
            </p:nvSpPr>
            <p:spPr>
              <a:xfrm>
                <a:off x="1420623" y="3636670"/>
                <a:ext cx="543931"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vSphere</a:t>
                </a:r>
                <a:endParaRPr/>
              </a:p>
            </p:txBody>
          </p:sp>
          <p:sp>
            <p:nvSpPr>
              <p:cNvPr id="6862" name="Google Shape;6862;p45"/>
              <p:cNvSpPr/>
              <p:nvPr/>
            </p:nvSpPr>
            <p:spPr>
              <a:xfrm>
                <a:off x="2828447" y="3636670"/>
                <a:ext cx="608625"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vSphere</a:t>
                </a:r>
                <a:endParaRPr/>
              </a:p>
            </p:txBody>
          </p:sp>
          <p:cxnSp>
            <p:nvCxnSpPr>
              <p:cNvPr id="6863" name="Google Shape;6863;p45"/>
              <p:cNvCxnSpPr/>
              <p:nvPr/>
            </p:nvCxnSpPr>
            <p:spPr>
              <a:xfrm rot="10800000">
                <a:off x="2003038" y="3698226"/>
                <a:ext cx="297114" cy="0"/>
              </a:xfrm>
              <a:prstGeom prst="straightConnector1">
                <a:avLst/>
              </a:prstGeom>
              <a:noFill/>
              <a:ln w="9525" cap="flat" cmpd="sng">
                <a:solidFill>
                  <a:schemeClr val="accent2"/>
                </a:solidFill>
                <a:prstDash val="solid"/>
                <a:miter lim="800000"/>
                <a:headEnd type="none" w="sm" len="sm"/>
                <a:tailEnd type="triangle" w="med" len="med"/>
              </a:ln>
            </p:spPr>
          </p:cxnSp>
          <p:cxnSp>
            <p:nvCxnSpPr>
              <p:cNvPr id="6864" name="Google Shape;6864;p45"/>
              <p:cNvCxnSpPr/>
              <p:nvPr/>
            </p:nvCxnSpPr>
            <p:spPr>
              <a:xfrm>
                <a:off x="2300152" y="3698226"/>
                <a:ext cx="499235" cy="0"/>
              </a:xfrm>
              <a:prstGeom prst="straightConnector1">
                <a:avLst/>
              </a:prstGeom>
              <a:noFill/>
              <a:ln w="9525" cap="flat" cmpd="sng">
                <a:solidFill>
                  <a:schemeClr val="accent2"/>
                </a:solidFill>
                <a:prstDash val="solid"/>
                <a:miter lim="800000"/>
                <a:headEnd type="none" w="sm" len="sm"/>
                <a:tailEnd type="triangle" w="med" len="med"/>
              </a:ln>
            </p:spPr>
          </p:cxnSp>
        </p:grpSp>
        <p:grpSp>
          <p:nvGrpSpPr>
            <p:cNvPr id="6865" name="Google Shape;6865;p45"/>
            <p:cNvGrpSpPr/>
            <p:nvPr/>
          </p:nvGrpSpPr>
          <p:grpSpPr>
            <a:xfrm>
              <a:off x="4413109" y="2042225"/>
              <a:ext cx="1489580" cy="254952"/>
              <a:chOff x="1410326" y="3573078"/>
              <a:chExt cx="1489580" cy="254952"/>
            </a:xfrm>
          </p:grpSpPr>
          <p:sp>
            <p:nvSpPr>
              <p:cNvPr id="6866" name="Google Shape;6866;p45"/>
              <p:cNvSpPr/>
              <p:nvPr/>
            </p:nvSpPr>
            <p:spPr>
              <a:xfrm>
                <a:off x="1410326" y="3573078"/>
                <a:ext cx="1489580" cy="254952"/>
              </a:xfrm>
              <a:prstGeom prst="rect">
                <a:avLst/>
              </a:prstGeom>
              <a:noFill/>
              <a:ln w="9525" cap="flat" cmpd="sng">
                <a:solidFill>
                  <a:srgbClr val="316E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6867" name="Google Shape;6867;p45"/>
              <p:cNvSpPr/>
              <p:nvPr/>
            </p:nvSpPr>
            <p:spPr>
              <a:xfrm>
                <a:off x="1429476" y="3636670"/>
                <a:ext cx="486200"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vSphere</a:t>
                </a:r>
                <a:endParaRPr/>
              </a:p>
            </p:txBody>
          </p:sp>
          <p:sp>
            <p:nvSpPr>
              <p:cNvPr id="6868" name="Google Shape;6868;p45"/>
              <p:cNvSpPr/>
              <p:nvPr/>
            </p:nvSpPr>
            <p:spPr>
              <a:xfrm>
                <a:off x="2342248" y="3636670"/>
                <a:ext cx="557658"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vSAN ESA</a:t>
                </a:r>
                <a:endParaRPr/>
              </a:p>
            </p:txBody>
          </p:sp>
          <p:cxnSp>
            <p:nvCxnSpPr>
              <p:cNvPr id="6869" name="Google Shape;6869;p45"/>
              <p:cNvCxnSpPr/>
              <p:nvPr/>
            </p:nvCxnSpPr>
            <p:spPr>
              <a:xfrm rot="10800000">
                <a:off x="1915786" y="3698226"/>
                <a:ext cx="109171" cy="0"/>
              </a:xfrm>
              <a:prstGeom prst="straightConnector1">
                <a:avLst/>
              </a:prstGeom>
              <a:noFill/>
              <a:ln w="9525" cap="flat" cmpd="sng">
                <a:solidFill>
                  <a:schemeClr val="accent2"/>
                </a:solidFill>
                <a:prstDash val="solid"/>
                <a:miter lim="800000"/>
                <a:headEnd type="none" w="sm" len="sm"/>
                <a:tailEnd type="triangle" w="med" len="med"/>
              </a:ln>
            </p:spPr>
          </p:cxnSp>
          <p:cxnSp>
            <p:nvCxnSpPr>
              <p:cNvPr id="6870" name="Google Shape;6870;p45"/>
              <p:cNvCxnSpPr/>
              <p:nvPr/>
            </p:nvCxnSpPr>
            <p:spPr>
              <a:xfrm>
                <a:off x="2024957" y="3698226"/>
                <a:ext cx="317290" cy="0"/>
              </a:xfrm>
              <a:prstGeom prst="straightConnector1">
                <a:avLst/>
              </a:prstGeom>
              <a:noFill/>
              <a:ln w="9525" cap="flat" cmpd="sng">
                <a:solidFill>
                  <a:schemeClr val="accent2"/>
                </a:solidFill>
                <a:prstDash val="solid"/>
                <a:miter lim="800000"/>
                <a:headEnd type="none" w="sm" len="sm"/>
                <a:tailEnd type="triangle" w="med" len="med"/>
              </a:ln>
            </p:spPr>
          </p:cxnSp>
        </p:grpSp>
        <p:grpSp>
          <p:nvGrpSpPr>
            <p:cNvPr id="6871" name="Google Shape;6871;p45"/>
            <p:cNvGrpSpPr/>
            <p:nvPr/>
          </p:nvGrpSpPr>
          <p:grpSpPr>
            <a:xfrm>
              <a:off x="6104572" y="2042225"/>
              <a:ext cx="1489580" cy="254952"/>
              <a:chOff x="1410326" y="3573078"/>
              <a:chExt cx="1489580" cy="254952"/>
            </a:xfrm>
          </p:grpSpPr>
          <p:sp>
            <p:nvSpPr>
              <p:cNvPr id="6872" name="Google Shape;6872;p45"/>
              <p:cNvSpPr/>
              <p:nvPr/>
            </p:nvSpPr>
            <p:spPr>
              <a:xfrm>
                <a:off x="1410326" y="3573078"/>
                <a:ext cx="1489580" cy="254952"/>
              </a:xfrm>
              <a:prstGeom prst="rect">
                <a:avLst/>
              </a:prstGeom>
              <a:noFill/>
              <a:ln w="9525" cap="flat" cmpd="sng">
                <a:solidFill>
                  <a:srgbClr val="316E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6873" name="Google Shape;6873;p45"/>
              <p:cNvSpPr/>
              <p:nvPr/>
            </p:nvSpPr>
            <p:spPr>
              <a:xfrm>
                <a:off x="1429476" y="3636670"/>
                <a:ext cx="486200"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vSphere</a:t>
                </a:r>
                <a:endParaRPr/>
              </a:p>
            </p:txBody>
          </p:sp>
          <p:sp>
            <p:nvSpPr>
              <p:cNvPr id="6874" name="Google Shape;6874;p45"/>
              <p:cNvSpPr/>
              <p:nvPr/>
            </p:nvSpPr>
            <p:spPr>
              <a:xfrm>
                <a:off x="2342248" y="3636670"/>
                <a:ext cx="557658"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vSAN ESA</a:t>
                </a:r>
                <a:endParaRPr/>
              </a:p>
            </p:txBody>
          </p:sp>
          <p:cxnSp>
            <p:nvCxnSpPr>
              <p:cNvPr id="6875" name="Google Shape;6875;p45"/>
              <p:cNvCxnSpPr/>
              <p:nvPr/>
            </p:nvCxnSpPr>
            <p:spPr>
              <a:xfrm rot="10800000">
                <a:off x="1915786" y="3698226"/>
                <a:ext cx="109171" cy="0"/>
              </a:xfrm>
              <a:prstGeom prst="straightConnector1">
                <a:avLst/>
              </a:prstGeom>
              <a:noFill/>
              <a:ln w="9525" cap="flat" cmpd="sng">
                <a:solidFill>
                  <a:schemeClr val="accent2"/>
                </a:solidFill>
                <a:prstDash val="solid"/>
                <a:miter lim="800000"/>
                <a:headEnd type="none" w="sm" len="sm"/>
                <a:tailEnd type="triangle" w="med" len="med"/>
              </a:ln>
            </p:spPr>
          </p:cxnSp>
          <p:cxnSp>
            <p:nvCxnSpPr>
              <p:cNvPr id="6876" name="Google Shape;6876;p45"/>
              <p:cNvCxnSpPr/>
              <p:nvPr/>
            </p:nvCxnSpPr>
            <p:spPr>
              <a:xfrm>
                <a:off x="2024957" y="3698226"/>
                <a:ext cx="317290" cy="0"/>
              </a:xfrm>
              <a:prstGeom prst="straightConnector1">
                <a:avLst/>
              </a:prstGeom>
              <a:noFill/>
              <a:ln w="9525" cap="flat" cmpd="sng">
                <a:solidFill>
                  <a:schemeClr val="accent2"/>
                </a:solidFill>
                <a:prstDash val="solid"/>
                <a:miter lim="800000"/>
                <a:headEnd type="none" w="sm" len="sm"/>
                <a:tailEnd type="triangle" w="med" len="med"/>
              </a:ln>
            </p:spPr>
          </p:cxnSp>
        </p:grpSp>
      </p:grpSp>
      <p:grpSp>
        <p:nvGrpSpPr>
          <p:cNvPr id="6877" name="Google Shape;6877;p45"/>
          <p:cNvGrpSpPr/>
          <p:nvPr/>
        </p:nvGrpSpPr>
        <p:grpSpPr>
          <a:xfrm>
            <a:off x="672869" y="4765236"/>
            <a:ext cx="1625597" cy="499755"/>
            <a:chOff x="4248092" y="3323448"/>
            <a:chExt cx="1625597" cy="499755"/>
          </a:xfrm>
        </p:grpSpPr>
        <p:cxnSp>
          <p:nvCxnSpPr>
            <p:cNvPr id="6878" name="Google Shape;6878;p45"/>
            <p:cNvCxnSpPr/>
            <p:nvPr/>
          </p:nvCxnSpPr>
          <p:spPr>
            <a:xfrm>
              <a:off x="4252682" y="3646699"/>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6879" name="Google Shape;6879;p45"/>
            <p:cNvCxnSpPr/>
            <p:nvPr/>
          </p:nvCxnSpPr>
          <p:spPr>
            <a:xfrm>
              <a:off x="5555193" y="3734709"/>
              <a:ext cx="318496"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6880" name="Google Shape;6880;p45"/>
            <p:cNvCxnSpPr/>
            <p:nvPr/>
          </p:nvCxnSpPr>
          <p:spPr>
            <a:xfrm>
              <a:off x="5873689" y="3646699"/>
              <a:ext cx="0" cy="8801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cxnSp>
          <p:nvCxnSpPr>
            <p:cNvPr id="6881" name="Google Shape;6881;p45"/>
            <p:cNvCxnSpPr/>
            <p:nvPr/>
          </p:nvCxnSpPr>
          <p:spPr>
            <a:xfrm>
              <a:off x="4248092" y="3734709"/>
              <a:ext cx="319676" cy="0"/>
            </a:xfrm>
            <a:prstGeom prst="straightConnector1">
              <a:avLst/>
            </a:prstGeom>
            <a:solidFill>
              <a:schemeClr val="accent1"/>
            </a:solidFill>
            <a:ln w="15875" cap="flat" cmpd="sng">
              <a:solidFill>
                <a:schemeClr val="accent1"/>
              </a:solidFill>
              <a:prstDash val="solid"/>
              <a:miter lim="800000"/>
              <a:headEnd type="none" w="sm" len="sm"/>
              <a:tailEnd type="none" w="sm" len="sm"/>
            </a:ln>
          </p:spPr>
        </p:cxnSp>
        <p:sp>
          <p:nvSpPr>
            <p:cNvPr id="6882" name="Google Shape;6882;p45"/>
            <p:cNvSpPr txBox="1"/>
            <p:nvPr/>
          </p:nvSpPr>
          <p:spPr>
            <a:xfrm>
              <a:off x="4602874" y="3638537"/>
              <a:ext cx="916032"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a:solidFill>
                    <a:schemeClr val="accent1"/>
                  </a:solidFill>
                  <a:latin typeface="Arial"/>
                  <a:ea typeface="Arial"/>
                  <a:cs typeface="Arial"/>
                  <a:sym typeface="Arial"/>
                </a:rPr>
                <a:t>vSAN HCI</a:t>
              </a:r>
              <a:endParaRPr/>
            </a:p>
          </p:txBody>
        </p:sp>
        <p:grpSp>
          <p:nvGrpSpPr>
            <p:cNvPr id="6883" name="Google Shape;6883;p45"/>
            <p:cNvGrpSpPr/>
            <p:nvPr/>
          </p:nvGrpSpPr>
          <p:grpSpPr>
            <a:xfrm>
              <a:off x="4248092" y="3323448"/>
              <a:ext cx="1625597" cy="283867"/>
              <a:chOff x="3576049" y="2849562"/>
              <a:chExt cx="1625597" cy="283867"/>
            </a:xfrm>
          </p:grpSpPr>
          <p:grpSp>
            <p:nvGrpSpPr>
              <p:cNvPr id="6884" name="Google Shape;6884;p45"/>
              <p:cNvGrpSpPr/>
              <p:nvPr/>
            </p:nvGrpSpPr>
            <p:grpSpPr>
              <a:xfrm>
                <a:off x="3576049" y="2849562"/>
                <a:ext cx="1625597" cy="113067"/>
                <a:chOff x="9883178" y="3095486"/>
                <a:chExt cx="1625597" cy="113067"/>
              </a:xfrm>
            </p:grpSpPr>
            <p:sp>
              <p:nvSpPr>
                <p:cNvPr id="6885" name="Google Shape;6885;p45"/>
                <p:cNvSpPr/>
                <p:nvPr/>
              </p:nvSpPr>
              <p:spPr>
                <a:xfrm>
                  <a:off x="9883178"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86" name="Google Shape;6886;p45"/>
                <p:cNvSpPr/>
                <p:nvPr/>
              </p:nvSpPr>
              <p:spPr>
                <a:xfrm>
                  <a:off x="10447015"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87" name="Google Shape;6887;p45"/>
                <p:cNvSpPr/>
                <p:nvPr/>
              </p:nvSpPr>
              <p:spPr>
                <a:xfrm>
                  <a:off x="11010852"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nvGrpSpPr>
              <p:cNvPr id="6888" name="Google Shape;6888;p45"/>
              <p:cNvGrpSpPr/>
              <p:nvPr/>
            </p:nvGrpSpPr>
            <p:grpSpPr>
              <a:xfrm>
                <a:off x="3576049" y="3020362"/>
                <a:ext cx="1625597" cy="113067"/>
                <a:chOff x="9883178" y="3095486"/>
                <a:chExt cx="1625597" cy="113067"/>
              </a:xfrm>
            </p:grpSpPr>
            <p:sp>
              <p:nvSpPr>
                <p:cNvPr id="6889" name="Google Shape;6889;p45"/>
                <p:cNvSpPr/>
                <p:nvPr/>
              </p:nvSpPr>
              <p:spPr>
                <a:xfrm>
                  <a:off x="9883178"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90" name="Google Shape;6890;p45"/>
                <p:cNvSpPr/>
                <p:nvPr/>
              </p:nvSpPr>
              <p:spPr>
                <a:xfrm>
                  <a:off x="10447015"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6891" name="Google Shape;6891;p45"/>
                <p:cNvSpPr/>
                <p:nvPr/>
              </p:nvSpPr>
              <p:spPr>
                <a:xfrm>
                  <a:off x="11010852" y="3095486"/>
                  <a:ext cx="497923" cy="113067"/>
                </a:xfrm>
                <a:prstGeom prst="rect">
                  <a:avLst/>
                </a:prstGeom>
                <a:solidFill>
                  <a:schemeClr val="accent3">
                    <a:alpha val="64705"/>
                  </a:schemeClr>
                </a:soli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grpSp>
      </p:grpSp>
      <p:grpSp>
        <p:nvGrpSpPr>
          <p:cNvPr id="6892" name="Google Shape;6892;p45"/>
          <p:cNvGrpSpPr/>
          <p:nvPr/>
        </p:nvGrpSpPr>
        <p:grpSpPr>
          <a:xfrm>
            <a:off x="738230" y="4395192"/>
            <a:ext cx="1489580" cy="254952"/>
            <a:chOff x="738230" y="4355436"/>
            <a:chExt cx="1489580" cy="254952"/>
          </a:xfrm>
        </p:grpSpPr>
        <p:sp>
          <p:nvSpPr>
            <p:cNvPr id="6893" name="Google Shape;6893;p45"/>
            <p:cNvSpPr/>
            <p:nvPr/>
          </p:nvSpPr>
          <p:spPr>
            <a:xfrm>
              <a:off x="738230" y="4355436"/>
              <a:ext cx="1489580" cy="254952"/>
            </a:xfrm>
            <a:prstGeom prst="rect">
              <a:avLst/>
            </a:prstGeom>
            <a:noFill/>
            <a:ln w="9525" cap="flat" cmpd="sng">
              <a:solidFill>
                <a:srgbClr val="316E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6894" name="Google Shape;6894;p45"/>
            <p:cNvSpPr/>
            <p:nvPr/>
          </p:nvSpPr>
          <p:spPr>
            <a:xfrm>
              <a:off x="757380" y="4419028"/>
              <a:ext cx="486200"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vSphere</a:t>
              </a:r>
              <a:endParaRPr/>
            </a:p>
          </p:txBody>
        </p:sp>
        <p:sp>
          <p:nvSpPr>
            <p:cNvPr id="6895" name="Google Shape;6895;p45"/>
            <p:cNvSpPr/>
            <p:nvPr/>
          </p:nvSpPr>
          <p:spPr>
            <a:xfrm>
              <a:off x="1670152" y="4419028"/>
              <a:ext cx="557658" cy="123111"/>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800">
                  <a:solidFill>
                    <a:schemeClr val="dk2"/>
                  </a:solidFill>
                  <a:latin typeface="Arial"/>
                  <a:ea typeface="Arial"/>
                  <a:cs typeface="Arial"/>
                  <a:sym typeface="Arial"/>
                </a:rPr>
                <a:t>vSAN ESA</a:t>
              </a:r>
              <a:endParaRPr/>
            </a:p>
          </p:txBody>
        </p:sp>
        <p:cxnSp>
          <p:nvCxnSpPr>
            <p:cNvPr id="6896" name="Google Shape;6896;p45"/>
            <p:cNvCxnSpPr/>
            <p:nvPr/>
          </p:nvCxnSpPr>
          <p:spPr>
            <a:xfrm rot="10800000">
              <a:off x="1243690" y="4480584"/>
              <a:ext cx="109171" cy="0"/>
            </a:xfrm>
            <a:prstGeom prst="straightConnector1">
              <a:avLst/>
            </a:prstGeom>
            <a:noFill/>
            <a:ln w="9525" cap="flat" cmpd="sng">
              <a:solidFill>
                <a:schemeClr val="accent2"/>
              </a:solidFill>
              <a:prstDash val="solid"/>
              <a:miter lim="800000"/>
              <a:headEnd type="none" w="sm" len="sm"/>
              <a:tailEnd type="triangle" w="med" len="med"/>
            </a:ln>
          </p:spPr>
        </p:cxnSp>
        <p:cxnSp>
          <p:nvCxnSpPr>
            <p:cNvPr id="6897" name="Google Shape;6897;p45"/>
            <p:cNvCxnSpPr/>
            <p:nvPr/>
          </p:nvCxnSpPr>
          <p:spPr>
            <a:xfrm>
              <a:off x="1352861" y="4480584"/>
              <a:ext cx="317290" cy="0"/>
            </a:xfrm>
            <a:prstGeom prst="straightConnector1">
              <a:avLst/>
            </a:prstGeom>
            <a:noFill/>
            <a:ln w="9525" cap="flat" cmpd="sng">
              <a:solidFill>
                <a:schemeClr val="accent2"/>
              </a:solidFill>
              <a:prstDash val="solid"/>
              <a:miter lim="800000"/>
              <a:headEnd type="none" w="sm" len="sm"/>
              <a:tailEnd type="triangle" w="med" len="med"/>
            </a:ln>
          </p:spPr>
        </p:cxnSp>
      </p:grpSp>
      <p:grpSp>
        <p:nvGrpSpPr>
          <p:cNvPr id="6898" name="Google Shape;6898;p45"/>
          <p:cNvGrpSpPr/>
          <p:nvPr/>
        </p:nvGrpSpPr>
        <p:grpSpPr>
          <a:xfrm>
            <a:off x="1033068" y="1919966"/>
            <a:ext cx="1883664" cy="1315389"/>
            <a:chOff x="1033068" y="1880210"/>
            <a:chExt cx="1883664" cy="1315389"/>
          </a:xfrm>
        </p:grpSpPr>
        <p:sp>
          <p:nvSpPr>
            <p:cNvPr id="6899" name="Google Shape;6899;p45"/>
            <p:cNvSpPr/>
            <p:nvPr/>
          </p:nvSpPr>
          <p:spPr>
            <a:xfrm>
              <a:off x="1033070" y="2096830"/>
              <a:ext cx="1883135" cy="1098769"/>
            </a:xfrm>
            <a:prstGeom prst="rect">
              <a:avLst/>
            </a:prstGeom>
            <a:solidFill>
              <a:srgbClr val="007295"/>
            </a:solid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endParaRPr sz="1400">
                <a:solidFill>
                  <a:schemeClr val="dk1"/>
                </a:solidFill>
                <a:latin typeface="Arial"/>
                <a:ea typeface="Arial"/>
                <a:cs typeface="Arial"/>
                <a:sym typeface="Arial"/>
              </a:endParaRPr>
            </a:p>
          </p:txBody>
        </p:sp>
        <p:sp>
          <p:nvSpPr>
            <p:cNvPr id="6900" name="Google Shape;6900;p45"/>
            <p:cNvSpPr/>
            <p:nvPr/>
          </p:nvSpPr>
          <p:spPr>
            <a:xfrm>
              <a:off x="1033068" y="1880210"/>
              <a:ext cx="1883664" cy="204002"/>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Rounded"/>
                <a:ea typeface="Arial Rounded"/>
                <a:cs typeface="Arial Rounded"/>
                <a:sym typeface="Arial Rounded"/>
              </a:endParaRPr>
            </a:p>
          </p:txBody>
        </p:sp>
        <p:sp>
          <p:nvSpPr>
            <p:cNvPr id="6901" name="Google Shape;6901;p45"/>
            <p:cNvSpPr/>
            <p:nvPr/>
          </p:nvSpPr>
          <p:spPr>
            <a:xfrm>
              <a:off x="1101766" y="1943729"/>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02" name="Google Shape;6902;p45"/>
            <p:cNvSpPr/>
            <p:nvPr/>
          </p:nvSpPr>
          <p:spPr>
            <a:xfrm>
              <a:off x="1254844" y="1943729"/>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03" name="Google Shape;6903;p45"/>
            <p:cNvSpPr/>
            <p:nvPr/>
          </p:nvSpPr>
          <p:spPr>
            <a:xfrm>
              <a:off x="1407922" y="1943729"/>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04" name="Google Shape;6904;p45"/>
            <p:cNvSpPr/>
            <p:nvPr/>
          </p:nvSpPr>
          <p:spPr>
            <a:xfrm>
              <a:off x="1152078" y="2232123"/>
              <a:ext cx="1636586" cy="836481"/>
            </a:xfrm>
            <a:prstGeom prst="rect">
              <a:avLst/>
            </a:prstGeom>
            <a:solidFill>
              <a:schemeClr val="lt1"/>
            </a:solid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endParaRPr sz="1400">
                <a:solidFill>
                  <a:schemeClr val="dk1"/>
                </a:solidFill>
                <a:latin typeface="Arial"/>
                <a:ea typeface="Arial"/>
                <a:cs typeface="Arial"/>
                <a:sym typeface="Arial"/>
              </a:endParaRPr>
            </a:p>
          </p:txBody>
        </p:sp>
        <p:sp>
          <p:nvSpPr>
            <p:cNvPr id="6905" name="Google Shape;6905;p45"/>
            <p:cNvSpPr/>
            <p:nvPr/>
          </p:nvSpPr>
          <p:spPr>
            <a:xfrm>
              <a:off x="1452049" y="1889072"/>
              <a:ext cx="1045702" cy="159299"/>
            </a:xfrm>
            <a:prstGeom prst="rect">
              <a:avLst/>
            </a:prstGeom>
            <a:no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r>
                <a:rPr lang="en-US" sz="1100">
                  <a:solidFill>
                    <a:schemeClr val="lt1"/>
                  </a:solidFill>
                  <a:latin typeface="Arial"/>
                  <a:ea typeface="Arial"/>
                  <a:cs typeface="Arial"/>
                  <a:sym typeface="Arial"/>
                </a:rPr>
                <a:t>VCF Ops</a:t>
              </a:r>
              <a:endParaRPr/>
            </a:p>
          </p:txBody>
        </p:sp>
      </p:grpSp>
      <p:sp>
        <p:nvSpPr>
          <p:cNvPr id="6906" name="Google Shape;6906;p45"/>
          <p:cNvSpPr txBox="1"/>
          <p:nvPr/>
        </p:nvSpPr>
        <p:spPr>
          <a:xfrm>
            <a:off x="1032542" y="1639956"/>
            <a:ext cx="1883663" cy="237744"/>
          </a:xfrm>
          <a:prstGeom prst="rect">
            <a:avLst/>
          </a:prstGeom>
          <a:noFill/>
          <a:ln>
            <a:noFill/>
          </a:ln>
        </p:spPr>
        <p:txBody>
          <a:bodyPr spcFirstLastPara="1" wrap="square" lIns="0" tIns="60925" rIns="0" bIns="60925" anchor="ctr" anchorCtr="0">
            <a:noAutofit/>
          </a:bodyPr>
          <a:lstStyle/>
          <a:p>
            <a:pPr marL="0" marR="0" lvl="0" indent="0" algn="ctr" rtl="0">
              <a:spcBef>
                <a:spcPts val="0"/>
              </a:spcBef>
              <a:spcAft>
                <a:spcPts val="0"/>
              </a:spcAft>
              <a:buNone/>
            </a:pPr>
            <a:r>
              <a:rPr lang="en-US" sz="1400">
                <a:solidFill>
                  <a:schemeClr val="accent4"/>
                </a:solidFill>
                <a:latin typeface="Arial"/>
                <a:ea typeface="Arial"/>
                <a:cs typeface="Arial"/>
                <a:sym typeface="Arial"/>
              </a:rPr>
              <a:t>Storage Operations</a:t>
            </a:r>
            <a:endParaRPr/>
          </a:p>
        </p:txBody>
      </p:sp>
      <p:grpSp>
        <p:nvGrpSpPr>
          <p:cNvPr id="6907" name="Google Shape;6907;p45"/>
          <p:cNvGrpSpPr/>
          <p:nvPr/>
        </p:nvGrpSpPr>
        <p:grpSpPr>
          <a:xfrm>
            <a:off x="5491029" y="1919966"/>
            <a:ext cx="1883664" cy="1315389"/>
            <a:chOff x="5491029" y="1880210"/>
            <a:chExt cx="1883664" cy="1315389"/>
          </a:xfrm>
        </p:grpSpPr>
        <p:sp>
          <p:nvSpPr>
            <p:cNvPr id="6908" name="Google Shape;6908;p45"/>
            <p:cNvSpPr/>
            <p:nvPr/>
          </p:nvSpPr>
          <p:spPr>
            <a:xfrm>
              <a:off x="5491031" y="2096830"/>
              <a:ext cx="1883135" cy="1098769"/>
            </a:xfrm>
            <a:prstGeom prst="rect">
              <a:avLst/>
            </a:prstGeom>
            <a:solidFill>
              <a:srgbClr val="007295"/>
            </a:solid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endParaRPr sz="1400">
                <a:solidFill>
                  <a:schemeClr val="dk1"/>
                </a:solidFill>
                <a:latin typeface="Arial"/>
                <a:ea typeface="Arial"/>
                <a:cs typeface="Arial"/>
                <a:sym typeface="Arial"/>
              </a:endParaRPr>
            </a:p>
          </p:txBody>
        </p:sp>
        <p:sp>
          <p:nvSpPr>
            <p:cNvPr id="6909" name="Google Shape;6909;p45"/>
            <p:cNvSpPr/>
            <p:nvPr/>
          </p:nvSpPr>
          <p:spPr>
            <a:xfrm>
              <a:off x="5491029" y="1880210"/>
              <a:ext cx="1883664" cy="204002"/>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Rounded"/>
                <a:ea typeface="Arial Rounded"/>
                <a:cs typeface="Arial Rounded"/>
                <a:sym typeface="Arial Rounded"/>
              </a:endParaRPr>
            </a:p>
          </p:txBody>
        </p:sp>
        <p:sp>
          <p:nvSpPr>
            <p:cNvPr id="6910" name="Google Shape;6910;p45"/>
            <p:cNvSpPr/>
            <p:nvPr/>
          </p:nvSpPr>
          <p:spPr>
            <a:xfrm>
              <a:off x="5559727" y="1943729"/>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11" name="Google Shape;6911;p45"/>
            <p:cNvSpPr/>
            <p:nvPr/>
          </p:nvSpPr>
          <p:spPr>
            <a:xfrm>
              <a:off x="5712805" y="1943729"/>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12" name="Google Shape;6912;p45"/>
            <p:cNvSpPr/>
            <p:nvPr/>
          </p:nvSpPr>
          <p:spPr>
            <a:xfrm>
              <a:off x="5865883" y="1943729"/>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13" name="Google Shape;6913;p45"/>
            <p:cNvSpPr/>
            <p:nvPr/>
          </p:nvSpPr>
          <p:spPr>
            <a:xfrm>
              <a:off x="5610039" y="2232123"/>
              <a:ext cx="1636586" cy="836481"/>
            </a:xfrm>
            <a:prstGeom prst="rect">
              <a:avLst/>
            </a:prstGeom>
            <a:solidFill>
              <a:schemeClr val="lt1"/>
            </a:solid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endParaRPr sz="1400">
                <a:solidFill>
                  <a:schemeClr val="dk1"/>
                </a:solidFill>
                <a:latin typeface="Arial"/>
                <a:ea typeface="Arial"/>
                <a:cs typeface="Arial"/>
                <a:sym typeface="Arial"/>
              </a:endParaRPr>
            </a:p>
          </p:txBody>
        </p:sp>
        <p:sp>
          <p:nvSpPr>
            <p:cNvPr id="6914" name="Google Shape;6914;p45"/>
            <p:cNvSpPr/>
            <p:nvPr/>
          </p:nvSpPr>
          <p:spPr>
            <a:xfrm>
              <a:off x="5910010" y="1889072"/>
              <a:ext cx="1045702" cy="159299"/>
            </a:xfrm>
            <a:prstGeom prst="rect">
              <a:avLst/>
            </a:prstGeom>
            <a:no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r>
                <a:rPr lang="en-US" sz="1100">
                  <a:solidFill>
                    <a:schemeClr val="lt1"/>
                  </a:solidFill>
                  <a:latin typeface="Arial"/>
                  <a:ea typeface="Arial"/>
                  <a:cs typeface="Arial"/>
                  <a:sym typeface="Arial"/>
                </a:rPr>
                <a:t>VCF Ops</a:t>
              </a:r>
              <a:endParaRPr/>
            </a:p>
          </p:txBody>
        </p:sp>
      </p:grpSp>
      <p:sp>
        <p:nvSpPr>
          <p:cNvPr id="6915" name="Google Shape;6915;p45"/>
          <p:cNvSpPr txBox="1"/>
          <p:nvPr/>
        </p:nvSpPr>
        <p:spPr>
          <a:xfrm>
            <a:off x="5412238" y="1639956"/>
            <a:ext cx="2033581"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a:solidFill>
                  <a:schemeClr val="accent5"/>
                </a:solidFill>
                <a:latin typeface="Arial"/>
                <a:ea typeface="Arial"/>
                <a:cs typeface="Arial"/>
                <a:sym typeface="Arial"/>
              </a:rPr>
              <a:t>vSAN Perf Diagnostics</a:t>
            </a:r>
            <a:endParaRPr/>
          </a:p>
        </p:txBody>
      </p:sp>
      <p:sp>
        <p:nvSpPr>
          <p:cNvPr id="6916" name="Google Shape;6916;p45"/>
          <p:cNvSpPr txBox="1"/>
          <p:nvPr/>
        </p:nvSpPr>
        <p:spPr>
          <a:xfrm>
            <a:off x="3261523" y="1639956"/>
            <a:ext cx="1883663" cy="237744"/>
          </a:xfrm>
          <a:prstGeom prst="rect">
            <a:avLst/>
          </a:prstGeom>
          <a:noFill/>
          <a:ln>
            <a:noFill/>
          </a:ln>
        </p:spPr>
        <p:txBody>
          <a:bodyPr spcFirstLastPara="1" wrap="square" lIns="0" tIns="60925" rIns="0" bIns="60925" anchor="ctr" anchorCtr="0">
            <a:noAutofit/>
          </a:bodyPr>
          <a:lstStyle/>
          <a:p>
            <a:pPr marL="0" marR="0" lvl="0" indent="0" algn="ctr" rtl="0">
              <a:spcBef>
                <a:spcPts val="0"/>
              </a:spcBef>
              <a:spcAft>
                <a:spcPts val="0"/>
              </a:spcAft>
              <a:buNone/>
            </a:pPr>
            <a:r>
              <a:rPr lang="en-US" sz="1400">
                <a:solidFill>
                  <a:schemeClr val="accent1"/>
                </a:solidFill>
                <a:latin typeface="Arial"/>
                <a:ea typeface="Arial"/>
                <a:cs typeface="Arial"/>
                <a:sym typeface="Arial"/>
              </a:rPr>
              <a:t>vSAN Performance</a:t>
            </a:r>
            <a:endParaRPr/>
          </a:p>
        </p:txBody>
      </p:sp>
      <p:grpSp>
        <p:nvGrpSpPr>
          <p:cNvPr id="6917" name="Google Shape;6917;p45"/>
          <p:cNvGrpSpPr/>
          <p:nvPr/>
        </p:nvGrpSpPr>
        <p:grpSpPr>
          <a:xfrm>
            <a:off x="3262049" y="1919966"/>
            <a:ext cx="1883664" cy="1315389"/>
            <a:chOff x="3262049" y="1880210"/>
            <a:chExt cx="1883664" cy="1315389"/>
          </a:xfrm>
        </p:grpSpPr>
        <p:sp>
          <p:nvSpPr>
            <p:cNvPr id="6918" name="Google Shape;6918;p45"/>
            <p:cNvSpPr/>
            <p:nvPr/>
          </p:nvSpPr>
          <p:spPr>
            <a:xfrm>
              <a:off x="3262051" y="2096830"/>
              <a:ext cx="1883135" cy="1098769"/>
            </a:xfrm>
            <a:prstGeom prst="rect">
              <a:avLst/>
            </a:prstGeom>
            <a:solidFill>
              <a:srgbClr val="007295"/>
            </a:solid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endParaRPr sz="1400">
                <a:solidFill>
                  <a:schemeClr val="dk1"/>
                </a:solidFill>
                <a:latin typeface="Arial"/>
                <a:ea typeface="Arial"/>
                <a:cs typeface="Arial"/>
                <a:sym typeface="Arial"/>
              </a:endParaRPr>
            </a:p>
          </p:txBody>
        </p:sp>
        <p:sp>
          <p:nvSpPr>
            <p:cNvPr id="6919" name="Google Shape;6919;p45"/>
            <p:cNvSpPr/>
            <p:nvPr/>
          </p:nvSpPr>
          <p:spPr>
            <a:xfrm>
              <a:off x="3262049" y="1880210"/>
              <a:ext cx="1883664" cy="204002"/>
            </a:xfrm>
            <a:prstGeom prst="rect">
              <a:avLst/>
            </a:prstGeom>
            <a:solidFill>
              <a:srgbClr val="0044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Rounded"/>
                <a:ea typeface="Arial Rounded"/>
                <a:cs typeface="Arial Rounded"/>
                <a:sym typeface="Arial Rounded"/>
              </a:endParaRPr>
            </a:p>
          </p:txBody>
        </p:sp>
        <p:sp>
          <p:nvSpPr>
            <p:cNvPr id="6920" name="Google Shape;6920;p45"/>
            <p:cNvSpPr/>
            <p:nvPr/>
          </p:nvSpPr>
          <p:spPr>
            <a:xfrm>
              <a:off x="3330747" y="1943729"/>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21" name="Google Shape;6921;p45"/>
            <p:cNvSpPr/>
            <p:nvPr/>
          </p:nvSpPr>
          <p:spPr>
            <a:xfrm>
              <a:off x="3483825" y="1943729"/>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22" name="Google Shape;6922;p45"/>
            <p:cNvSpPr/>
            <p:nvPr/>
          </p:nvSpPr>
          <p:spPr>
            <a:xfrm>
              <a:off x="3636903" y="1943729"/>
              <a:ext cx="79233" cy="76965"/>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23" name="Google Shape;6923;p45"/>
            <p:cNvSpPr/>
            <p:nvPr/>
          </p:nvSpPr>
          <p:spPr>
            <a:xfrm>
              <a:off x="3381059" y="2232123"/>
              <a:ext cx="1636586" cy="836481"/>
            </a:xfrm>
            <a:prstGeom prst="rect">
              <a:avLst/>
            </a:prstGeom>
            <a:solidFill>
              <a:schemeClr val="lt1"/>
            </a:solid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endParaRPr sz="1400">
                <a:solidFill>
                  <a:schemeClr val="dk1"/>
                </a:solidFill>
                <a:latin typeface="Arial"/>
                <a:ea typeface="Arial"/>
                <a:cs typeface="Arial"/>
                <a:sym typeface="Arial"/>
              </a:endParaRPr>
            </a:p>
          </p:txBody>
        </p:sp>
        <p:sp>
          <p:nvSpPr>
            <p:cNvPr id="6924" name="Google Shape;6924;p45"/>
            <p:cNvSpPr/>
            <p:nvPr/>
          </p:nvSpPr>
          <p:spPr>
            <a:xfrm>
              <a:off x="3681030" y="1889072"/>
              <a:ext cx="1045702" cy="159299"/>
            </a:xfrm>
            <a:prstGeom prst="rect">
              <a:avLst/>
            </a:prstGeom>
            <a:no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endParaRPr sz="1100">
                <a:solidFill>
                  <a:schemeClr val="lt1"/>
                </a:solidFill>
                <a:latin typeface="Arial"/>
                <a:ea typeface="Arial"/>
                <a:cs typeface="Arial"/>
                <a:sym typeface="Arial"/>
              </a:endParaRPr>
            </a:p>
          </p:txBody>
        </p:sp>
        <p:sp>
          <p:nvSpPr>
            <p:cNvPr id="6925" name="Google Shape;6925;p45"/>
            <p:cNvSpPr/>
            <p:nvPr/>
          </p:nvSpPr>
          <p:spPr>
            <a:xfrm>
              <a:off x="3680767" y="1892974"/>
              <a:ext cx="1045702" cy="159299"/>
            </a:xfrm>
            <a:prstGeom prst="rect">
              <a:avLst/>
            </a:prstGeom>
            <a:noFill/>
            <a:ln>
              <a:noFill/>
            </a:ln>
          </p:spPr>
          <p:txBody>
            <a:bodyPr spcFirstLastPara="1" wrap="square" lIns="91425" tIns="45700" rIns="91425" bIns="45700" anchor="ctr" anchorCtr="0">
              <a:noAutofit/>
            </a:bodyPr>
            <a:lstStyle/>
            <a:p>
              <a:pPr marL="60325" marR="0" lvl="0" indent="0" algn="ctr" rtl="0">
                <a:spcBef>
                  <a:spcPts val="0"/>
                </a:spcBef>
                <a:spcAft>
                  <a:spcPts val="0"/>
                </a:spcAft>
                <a:buNone/>
              </a:pPr>
              <a:r>
                <a:rPr lang="en-US" sz="1100">
                  <a:solidFill>
                    <a:schemeClr val="lt1"/>
                  </a:solidFill>
                  <a:latin typeface="Arial"/>
                  <a:ea typeface="Arial"/>
                  <a:cs typeface="Arial"/>
                  <a:sym typeface="Arial"/>
                </a:rPr>
                <a:t>VCF Ops</a:t>
              </a:r>
              <a:endParaRPr/>
            </a:p>
          </p:txBody>
        </p:sp>
      </p:grpSp>
      <p:cxnSp>
        <p:nvCxnSpPr>
          <p:cNvPr id="6926" name="Google Shape;6926;p45"/>
          <p:cNvCxnSpPr/>
          <p:nvPr/>
        </p:nvCxnSpPr>
        <p:spPr>
          <a:xfrm rot="10800000">
            <a:off x="4305600" y="3468756"/>
            <a:ext cx="0" cy="412750"/>
          </a:xfrm>
          <a:prstGeom prst="straightConnector1">
            <a:avLst/>
          </a:prstGeom>
          <a:noFill/>
          <a:ln w="25400" cap="flat" cmpd="sng">
            <a:solidFill>
              <a:schemeClr val="dk1"/>
            </a:solidFill>
            <a:prstDash val="solid"/>
            <a:miter lim="800000"/>
            <a:headEnd type="diamond" w="lg" len="lg"/>
            <a:tailEnd type="none" w="sm" len="sm"/>
          </a:ln>
        </p:spPr>
      </p:cxnSp>
      <p:cxnSp>
        <p:nvCxnSpPr>
          <p:cNvPr id="6927" name="Google Shape;6927;p45"/>
          <p:cNvCxnSpPr/>
          <p:nvPr/>
        </p:nvCxnSpPr>
        <p:spPr>
          <a:xfrm rot="10800000">
            <a:off x="672869" y="3454844"/>
            <a:ext cx="7265463" cy="0"/>
          </a:xfrm>
          <a:prstGeom prst="straightConnector1">
            <a:avLst/>
          </a:prstGeom>
          <a:noFill/>
          <a:ln w="25400" cap="flat" cmpd="sng">
            <a:solidFill>
              <a:schemeClr val="dk1"/>
            </a:solidFill>
            <a:prstDash val="solid"/>
            <a:miter lim="800000"/>
            <a:headEnd type="none" w="sm" len="sm"/>
            <a:tailEnd type="none" w="sm" len="sm"/>
          </a:ln>
        </p:spPr>
      </p:cxnSp>
      <p:grpSp>
        <p:nvGrpSpPr>
          <p:cNvPr id="6928" name="Google Shape;6928;p45" descr="Anomaly Detection&#10;"/>
          <p:cNvGrpSpPr/>
          <p:nvPr/>
        </p:nvGrpSpPr>
        <p:grpSpPr>
          <a:xfrm>
            <a:off x="6130191" y="2412803"/>
            <a:ext cx="597674" cy="556708"/>
            <a:chOff x="1876897" y="4062167"/>
            <a:chExt cx="597674" cy="556708"/>
          </a:xfrm>
        </p:grpSpPr>
        <p:sp>
          <p:nvSpPr>
            <p:cNvPr id="6929" name="Google Shape;6929;p45"/>
            <p:cNvSpPr/>
            <p:nvPr/>
          </p:nvSpPr>
          <p:spPr>
            <a:xfrm>
              <a:off x="1876897" y="4170237"/>
              <a:ext cx="597674" cy="309986"/>
            </a:xfrm>
            <a:custGeom>
              <a:avLst/>
              <a:gdLst/>
              <a:ahLst/>
              <a:cxnLst/>
              <a:rect l="l" t="t" r="r" b="b"/>
              <a:pathLst>
                <a:path w="597674" h="309986" extrusionOk="0">
                  <a:moveTo>
                    <a:pt x="565419" y="242946"/>
                  </a:moveTo>
                  <a:cubicBezTo>
                    <a:pt x="563522" y="241048"/>
                    <a:pt x="560992" y="239783"/>
                    <a:pt x="558462" y="240416"/>
                  </a:cubicBezTo>
                  <a:cubicBezTo>
                    <a:pt x="555932" y="241048"/>
                    <a:pt x="553403" y="242946"/>
                    <a:pt x="552138" y="245475"/>
                  </a:cubicBezTo>
                  <a:lnTo>
                    <a:pt x="537591" y="280261"/>
                  </a:lnTo>
                  <a:lnTo>
                    <a:pt x="519882" y="235989"/>
                  </a:lnTo>
                  <a:cubicBezTo>
                    <a:pt x="518617" y="233459"/>
                    <a:pt x="516087" y="230929"/>
                    <a:pt x="512925" y="230929"/>
                  </a:cubicBezTo>
                  <a:cubicBezTo>
                    <a:pt x="509763" y="230929"/>
                    <a:pt x="507233" y="232194"/>
                    <a:pt x="505336" y="234724"/>
                  </a:cubicBezTo>
                  <a:lnTo>
                    <a:pt x="486994" y="265714"/>
                  </a:lnTo>
                  <a:lnTo>
                    <a:pt x="484464" y="258125"/>
                  </a:lnTo>
                  <a:cubicBezTo>
                    <a:pt x="483832" y="255595"/>
                    <a:pt x="481302" y="253697"/>
                    <a:pt x="478772" y="253065"/>
                  </a:cubicBezTo>
                  <a:cubicBezTo>
                    <a:pt x="476242" y="252433"/>
                    <a:pt x="473080" y="253697"/>
                    <a:pt x="471183" y="255595"/>
                  </a:cubicBezTo>
                  <a:lnTo>
                    <a:pt x="443354" y="285953"/>
                  </a:lnTo>
                  <a:lnTo>
                    <a:pt x="412364" y="246108"/>
                  </a:lnTo>
                  <a:cubicBezTo>
                    <a:pt x="411099" y="244211"/>
                    <a:pt x="408569" y="242946"/>
                    <a:pt x="406672" y="242946"/>
                  </a:cubicBezTo>
                  <a:cubicBezTo>
                    <a:pt x="404142" y="242946"/>
                    <a:pt x="402245" y="243578"/>
                    <a:pt x="400347" y="245475"/>
                  </a:cubicBezTo>
                  <a:lnTo>
                    <a:pt x="375681" y="270774"/>
                  </a:lnTo>
                  <a:lnTo>
                    <a:pt x="371886" y="258757"/>
                  </a:lnTo>
                  <a:lnTo>
                    <a:pt x="376946" y="258757"/>
                  </a:lnTo>
                  <a:lnTo>
                    <a:pt x="376946" y="242946"/>
                  </a:lnTo>
                  <a:lnTo>
                    <a:pt x="368724" y="242946"/>
                  </a:lnTo>
                  <a:lnTo>
                    <a:pt x="367459" y="227134"/>
                  </a:lnTo>
                  <a:lnTo>
                    <a:pt x="376946" y="227134"/>
                  </a:lnTo>
                  <a:lnTo>
                    <a:pt x="376946" y="211323"/>
                  </a:lnTo>
                  <a:lnTo>
                    <a:pt x="366194" y="211323"/>
                  </a:lnTo>
                  <a:lnTo>
                    <a:pt x="366194" y="211323"/>
                  </a:lnTo>
                  <a:cubicBezTo>
                    <a:pt x="366194" y="207528"/>
                    <a:pt x="363032" y="204998"/>
                    <a:pt x="359870" y="204366"/>
                  </a:cubicBezTo>
                  <a:cubicBezTo>
                    <a:pt x="356075" y="203733"/>
                    <a:pt x="352913" y="205630"/>
                    <a:pt x="351015" y="208793"/>
                  </a:cubicBezTo>
                  <a:lnTo>
                    <a:pt x="340896" y="229664"/>
                  </a:lnTo>
                  <a:lnTo>
                    <a:pt x="330777" y="88625"/>
                  </a:lnTo>
                  <a:cubicBezTo>
                    <a:pt x="330777" y="85463"/>
                    <a:pt x="328247" y="82933"/>
                    <a:pt x="325717" y="81668"/>
                  </a:cubicBezTo>
                  <a:cubicBezTo>
                    <a:pt x="322555" y="80403"/>
                    <a:pt x="319392" y="81036"/>
                    <a:pt x="317495" y="83566"/>
                  </a:cubicBezTo>
                  <a:lnTo>
                    <a:pt x="313700" y="87993"/>
                  </a:lnTo>
                  <a:lnTo>
                    <a:pt x="298521" y="6406"/>
                  </a:lnTo>
                  <a:cubicBezTo>
                    <a:pt x="297889" y="2611"/>
                    <a:pt x="294726" y="-551"/>
                    <a:pt x="290299" y="81"/>
                  </a:cubicBezTo>
                  <a:cubicBezTo>
                    <a:pt x="286504" y="81"/>
                    <a:pt x="283342" y="3243"/>
                    <a:pt x="282710" y="7038"/>
                  </a:cubicBezTo>
                  <a:lnTo>
                    <a:pt x="258676" y="251168"/>
                  </a:lnTo>
                  <a:lnTo>
                    <a:pt x="247292" y="251168"/>
                  </a:lnTo>
                  <a:lnTo>
                    <a:pt x="227053" y="230296"/>
                  </a:lnTo>
                  <a:cubicBezTo>
                    <a:pt x="223891" y="227134"/>
                    <a:pt x="218831" y="227134"/>
                    <a:pt x="215669" y="230296"/>
                  </a:cubicBezTo>
                  <a:lnTo>
                    <a:pt x="183413" y="263184"/>
                  </a:lnTo>
                  <a:lnTo>
                    <a:pt x="162542" y="241681"/>
                  </a:lnTo>
                  <a:cubicBezTo>
                    <a:pt x="160645" y="239783"/>
                    <a:pt x="158115" y="239151"/>
                    <a:pt x="156218" y="239151"/>
                  </a:cubicBezTo>
                  <a:cubicBezTo>
                    <a:pt x="153688" y="239151"/>
                    <a:pt x="151790" y="241048"/>
                    <a:pt x="150525" y="242946"/>
                  </a:cubicBezTo>
                  <a:lnTo>
                    <a:pt x="137244" y="265714"/>
                  </a:lnTo>
                  <a:lnTo>
                    <a:pt x="125227" y="256227"/>
                  </a:lnTo>
                  <a:cubicBezTo>
                    <a:pt x="122065" y="253697"/>
                    <a:pt x="117005" y="253697"/>
                    <a:pt x="114475" y="257492"/>
                  </a:cubicBezTo>
                  <a:lnTo>
                    <a:pt x="92339" y="284056"/>
                  </a:lnTo>
                  <a:lnTo>
                    <a:pt x="82852" y="232194"/>
                  </a:lnTo>
                  <a:cubicBezTo>
                    <a:pt x="82220" y="229031"/>
                    <a:pt x="79690" y="226502"/>
                    <a:pt x="76528" y="225869"/>
                  </a:cubicBezTo>
                  <a:cubicBezTo>
                    <a:pt x="73365" y="225237"/>
                    <a:pt x="70203" y="226502"/>
                    <a:pt x="68306" y="229664"/>
                  </a:cubicBezTo>
                  <a:lnTo>
                    <a:pt x="45537" y="267612"/>
                  </a:lnTo>
                  <a:lnTo>
                    <a:pt x="30991" y="246740"/>
                  </a:lnTo>
                  <a:cubicBezTo>
                    <a:pt x="29726" y="244843"/>
                    <a:pt x="27196" y="243578"/>
                    <a:pt x="25298" y="243578"/>
                  </a:cubicBezTo>
                  <a:cubicBezTo>
                    <a:pt x="22769" y="243578"/>
                    <a:pt x="20871" y="244211"/>
                    <a:pt x="18974" y="246108"/>
                  </a:cubicBezTo>
                  <a:lnTo>
                    <a:pt x="0" y="265082"/>
                  </a:lnTo>
                  <a:lnTo>
                    <a:pt x="11384" y="276466"/>
                  </a:lnTo>
                  <a:lnTo>
                    <a:pt x="23401" y="263817"/>
                  </a:lnTo>
                  <a:lnTo>
                    <a:pt x="39845" y="286585"/>
                  </a:lnTo>
                  <a:cubicBezTo>
                    <a:pt x="41110" y="288483"/>
                    <a:pt x="44272" y="289748"/>
                    <a:pt x="46802" y="289748"/>
                  </a:cubicBezTo>
                  <a:cubicBezTo>
                    <a:pt x="49332" y="289748"/>
                    <a:pt x="51862" y="287850"/>
                    <a:pt x="53127" y="285953"/>
                  </a:cubicBezTo>
                  <a:lnTo>
                    <a:pt x="70836" y="255595"/>
                  </a:lnTo>
                  <a:lnTo>
                    <a:pt x="79690" y="303662"/>
                  </a:lnTo>
                  <a:cubicBezTo>
                    <a:pt x="80322" y="306824"/>
                    <a:pt x="82220" y="309354"/>
                    <a:pt x="85382" y="309986"/>
                  </a:cubicBezTo>
                  <a:cubicBezTo>
                    <a:pt x="86015" y="309986"/>
                    <a:pt x="86647" y="309986"/>
                    <a:pt x="87279" y="309986"/>
                  </a:cubicBezTo>
                  <a:cubicBezTo>
                    <a:pt x="89809" y="309986"/>
                    <a:pt x="91707" y="308722"/>
                    <a:pt x="93604" y="307457"/>
                  </a:cubicBezTo>
                  <a:lnTo>
                    <a:pt x="121432" y="274569"/>
                  </a:lnTo>
                  <a:lnTo>
                    <a:pt x="134714" y="285320"/>
                  </a:lnTo>
                  <a:cubicBezTo>
                    <a:pt x="136611" y="286585"/>
                    <a:pt x="138509" y="287218"/>
                    <a:pt x="141039" y="287218"/>
                  </a:cubicBezTo>
                  <a:cubicBezTo>
                    <a:pt x="143568" y="287218"/>
                    <a:pt x="145466" y="285320"/>
                    <a:pt x="146731" y="283423"/>
                  </a:cubicBezTo>
                  <a:lnTo>
                    <a:pt x="159380" y="261919"/>
                  </a:lnTo>
                  <a:lnTo>
                    <a:pt x="178354" y="281526"/>
                  </a:lnTo>
                  <a:cubicBezTo>
                    <a:pt x="181516" y="284688"/>
                    <a:pt x="186576" y="284688"/>
                    <a:pt x="189738" y="281526"/>
                  </a:cubicBezTo>
                  <a:lnTo>
                    <a:pt x="218831" y="251800"/>
                  </a:lnTo>
                  <a:lnTo>
                    <a:pt x="218831" y="258757"/>
                  </a:lnTo>
                  <a:lnTo>
                    <a:pt x="232113" y="258757"/>
                  </a:lnTo>
                  <a:lnTo>
                    <a:pt x="239070" y="265714"/>
                  </a:lnTo>
                  <a:cubicBezTo>
                    <a:pt x="240335" y="266979"/>
                    <a:pt x="242865" y="268244"/>
                    <a:pt x="244762" y="268244"/>
                  </a:cubicBezTo>
                  <a:lnTo>
                    <a:pt x="266898" y="268244"/>
                  </a:lnTo>
                  <a:cubicBezTo>
                    <a:pt x="270693" y="268244"/>
                    <a:pt x="274488" y="265082"/>
                    <a:pt x="274488" y="261287"/>
                  </a:cubicBezTo>
                  <a:lnTo>
                    <a:pt x="293461" y="67122"/>
                  </a:lnTo>
                  <a:lnTo>
                    <a:pt x="300419" y="105069"/>
                  </a:lnTo>
                  <a:cubicBezTo>
                    <a:pt x="301051" y="108232"/>
                    <a:pt x="302948" y="110129"/>
                    <a:pt x="306111" y="111394"/>
                  </a:cubicBezTo>
                  <a:cubicBezTo>
                    <a:pt x="308641" y="112026"/>
                    <a:pt x="311803" y="111394"/>
                    <a:pt x="314333" y="109497"/>
                  </a:cubicBezTo>
                  <a:lnTo>
                    <a:pt x="316862" y="106967"/>
                  </a:lnTo>
                  <a:lnTo>
                    <a:pt x="327614" y="260022"/>
                  </a:lnTo>
                  <a:cubicBezTo>
                    <a:pt x="327614" y="263817"/>
                    <a:pt x="330777" y="266347"/>
                    <a:pt x="333939" y="266979"/>
                  </a:cubicBezTo>
                  <a:cubicBezTo>
                    <a:pt x="337734" y="267612"/>
                    <a:pt x="340896" y="265714"/>
                    <a:pt x="342793" y="262552"/>
                  </a:cubicBezTo>
                  <a:lnTo>
                    <a:pt x="353545" y="241048"/>
                  </a:lnTo>
                  <a:lnTo>
                    <a:pt x="354178" y="244843"/>
                  </a:lnTo>
                  <a:cubicBezTo>
                    <a:pt x="354178" y="245475"/>
                    <a:pt x="354178" y="246108"/>
                    <a:pt x="354178" y="246108"/>
                  </a:cubicBezTo>
                  <a:lnTo>
                    <a:pt x="362400" y="274569"/>
                  </a:lnTo>
                  <a:lnTo>
                    <a:pt x="362400" y="274569"/>
                  </a:lnTo>
                  <a:lnTo>
                    <a:pt x="362400" y="290380"/>
                  </a:lnTo>
                  <a:lnTo>
                    <a:pt x="367459" y="290380"/>
                  </a:lnTo>
                  <a:cubicBezTo>
                    <a:pt x="368724" y="292278"/>
                    <a:pt x="369989" y="292910"/>
                    <a:pt x="371886" y="293542"/>
                  </a:cubicBezTo>
                  <a:cubicBezTo>
                    <a:pt x="374416" y="294175"/>
                    <a:pt x="377579" y="293542"/>
                    <a:pt x="379476" y="291645"/>
                  </a:cubicBezTo>
                  <a:lnTo>
                    <a:pt x="407304" y="263184"/>
                  </a:lnTo>
                  <a:lnTo>
                    <a:pt x="438295" y="303662"/>
                  </a:lnTo>
                  <a:cubicBezTo>
                    <a:pt x="439560" y="305559"/>
                    <a:pt x="442090" y="306824"/>
                    <a:pt x="443987" y="306824"/>
                  </a:cubicBezTo>
                  <a:cubicBezTo>
                    <a:pt x="446517" y="306824"/>
                    <a:pt x="448414" y="306192"/>
                    <a:pt x="450312" y="304294"/>
                  </a:cubicBezTo>
                  <a:lnTo>
                    <a:pt x="475610" y="276466"/>
                  </a:lnTo>
                  <a:lnTo>
                    <a:pt x="479405" y="287218"/>
                  </a:lnTo>
                  <a:cubicBezTo>
                    <a:pt x="480670" y="290380"/>
                    <a:pt x="483199" y="292278"/>
                    <a:pt x="486362" y="292278"/>
                  </a:cubicBezTo>
                  <a:cubicBezTo>
                    <a:pt x="489524" y="292278"/>
                    <a:pt x="492686" y="291013"/>
                    <a:pt x="493951" y="288483"/>
                  </a:cubicBezTo>
                  <a:lnTo>
                    <a:pt x="512925" y="256227"/>
                  </a:lnTo>
                  <a:lnTo>
                    <a:pt x="531899" y="303662"/>
                  </a:lnTo>
                  <a:cubicBezTo>
                    <a:pt x="533164" y="306824"/>
                    <a:pt x="535694" y="308722"/>
                    <a:pt x="539488" y="308722"/>
                  </a:cubicBezTo>
                  <a:cubicBezTo>
                    <a:pt x="539488" y="308722"/>
                    <a:pt x="539488" y="308722"/>
                    <a:pt x="539488" y="308722"/>
                  </a:cubicBezTo>
                  <a:cubicBezTo>
                    <a:pt x="542651" y="308722"/>
                    <a:pt x="545813" y="306824"/>
                    <a:pt x="547078" y="303662"/>
                  </a:cubicBezTo>
                  <a:lnTo>
                    <a:pt x="564154" y="263184"/>
                  </a:lnTo>
                  <a:lnTo>
                    <a:pt x="585658" y="289115"/>
                  </a:lnTo>
                  <a:lnTo>
                    <a:pt x="597675" y="278996"/>
                  </a:lnTo>
                  <a:lnTo>
                    <a:pt x="565419" y="24294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0" name="Google Shape;6930;p45"/>
            <p:cNvSpPr/>
            <p:nvPr/>
          </p:nvSpPr>
          <p:spPr>
            <a:xfrm>
              <a:off x="2237399" y="4602288"/>
              <a:ext cx="16443" cy="15811"/>
            </a:xfrm>
            <a:custGeom>
              <a:avLst/>
              <a:gdLst/>
              <a:ahLst/>
              <a:cxnLst/>
              <a:rect l="l" t="t" r="r" b="b"/>
              <a:pathLst>
                <a:path w="16443" h="15811" extrusionOk="0">
                  <a:moveTo>
                    <a:pt x="632" y="0"/>
                  </a:moveTo>
                  <a:lnTo>
                    <a:pt x="632" y="632"/>
                  </a:lnTo>
                  <a:lnTo>
                    <a:pt x="0" y="632"/>
                  </a:lnTo>
                  <a:lnTo>
                    <a:pt x="0" y="8222"/>
                  </a:lnTo>
                  <a:cubicBezTo>
                    <a:pt x="0" y="8854"/>
                    <a:pt x="0" y="9487"/>
                    <a:pt x="0" y="9487"/>
                  </a:cubicBezTo>
                  <a:lnTo>
                    <a:pt x="0" y="15179"/>
                  </a:lnTo>
                  <a:cubicBezTo>
                    <a:pt x="2530" y="15179"/>
                    <a:pt x="3795" y="15179"/>
                    <a:pt x="5060" y="15179"/>
                  </a:cubicBezTo>
                  <a:cubicBezTo>
                    <a:pt x="5060" y="15179"/>
                    <a:pt x="5060" y="15179"/>
                    <a:pt x="5692" y="15179"/>
                  </a:cubicBezTo>
                  <a:cubicBezTo>
                    <a:pt x="6325" y="15812"/>
                    <a:pt x="7590" y="15812"/>
                    <a:pt x="8222" y="15812"/>
                  </a:cubicBezTo>
                  <a:cubicBezTo>
                    <a:pt x="10752" y="15812"/>
                    <a:pt x="12649" y="14547"/>
                    <a:pt x="13914" y="13282"/>
                  </a:cubicBezTo>
                  <a:lnTo>
                    <a:pt x="14547" y="8222"/>
                  </a:lnTo>
                  <a:lnTo>
                    <a:pt x="16444" y="8222"/>
                  </a:lnTo>
                  <a:lnTo>
                    <a:pt x="16444" y="632"/>
                  </a:lnTo>
                  <a:lnTo>
                    <a:pt x="10119" y="632"/>
                  </a:lnTo>
                  <a:cubicBezTo>
                    <a:pt x="7590" y="0"/>
                    <a:pt x="4427" y="0"/>
                    <a:pt x="632"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1" name="Google Shape;6931;p45"/>
            <p:cNvSpPr/>
            <p:nvPr/>
          </p:nvSpPr>
          <p:spPr>
            <a:xfrm>
              <a:off x="2238031" y="4348672"/>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2" name="Google Shape;6932;p45"/>
            <p:cNvSpPr/>
            <p:nvPr/>
          </p:nvSpPr>
          <p:spPr>
            <a:xfrm>
              <a:off x="2238031" y="4317049"/>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3" name="Google Shape;6933;p45"/>
            <p:cNvSpPr/>
            <p:nvPr/>
          </p:nvSpPr>
          <p:spPr>
            <a:xfrm>
              <a:off x="2238031" y="4253170"/>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4" name="Google Shape;6934;p45"/>
            <p:cNvSpPr/>
            <p:nvPr/>
          </p:nvSpPr>
          <p:spPr>
            <a:xfrm>
              <a:off x="2238031" y="4221547"/>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5" name="Google Shape;6935;p45"/>
            <p:cNvSpPr/>
            <p:nvPr/>
          </p:nvSpPr>
          <p:spPr>
            <a:xfrm>
              <a:off x="2238031" y="4284793"/>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6" name="Google Shape;6936;p45"/>
            <p:cNvSpPr/>
            <p:nvPr/>
          </p:nvSpPr>
          <p:spPr>
            <a:xfrm>
              <a:off x="2238031" y="4157669"/>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7" name="Google Shape;6937;p45"/>
            <p:cNvSpPr/>
            <p:nvPr/>
          </p:nvSpPr>
          <p:spPr>
            <a:xfrm>
              <a:off x="2238031" y="4475796"/>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8" name="Google Shape;6938;p45"/>
            <p:cNvSpPr/>
            <p:nvPr/>
          </p:nvSpPr>
          <p:spPr>
            <a:xfrm>
              <a:off x="2238031" y="4507419"/>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39" name="Google Shape;6939;p45"/>
            <p:cNvSpPr/>
            <p:nvPr/>
          </p:nvSpPr>
          <p:spPr>
            <a:xfrm>
              <a:off x="2238031" y="4539675"/>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0" name="Google Shape;6940;p45"/>
            <p:cNvSpPr/>
            <p:nvPr/>
          </p:nvSpPr>
          <p:spPr>
            <a:xfrm>
              <a:off x="2238031" y="4571298"/>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1" name="Google Shape;6941;p45"/>
            <p:cNvSpPr/>
            <p:nvPr/>
          </p:nvSpPr>
          <p:spPr>
            <a:xfrm>
              <a:off x="2238031" y="4093790"/>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2" name="Google Shape;6942;p45"/>
            <p:cNvSpPr/>
            <p:nvPr/>
          </p:nvSpPr>
          <p:spPr>
            <a:xfrm>
              <a:off x="2238031" y="4126046"/>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3" name="Google Shape;6943;p45"/>
            <p:cNvSpPr/>
            <p:nvPr/>
          </p:nvSpPr>
          <p:spPr>
            <a:xfrm>
              <a:off x="2238031" y="4189292"/>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4" name="Google Shape;6944;p45"/>
            <p:cNvSpPr/>
            <p:nvPr/>
          </p:nvSpPr>
          <p:spPr>
            <a:xfrm>
              <a:off x="2238664" y="4062800"/>
              <a:ext cx="15179" cy="15811"/>
            </a:xfrm>
            <a:custGeom>
              <a:avLst/>
              <a:gdLst/>
              <a:ahLst/>
              <a:cxnLst/>
              <a:rect l="l" t="t" r="r" b="b"/>
              <a:pathLst>
                <a:path w="15179" h="15811" extrusionOk="0">
                  <a:moveTo>
                    <a:pt x="15179" y="7590"/>
                  </a:moveTo>
                  <a:cubicBezTo>
                    <a:pt x="15179" y="3162"/>
                    <a:pt x="11384" y="0"/>
                    <a:pt x="7590" y="0"/>
                  </a:cubicBezTo>
                  <a:lnTo>
                    <a:pt x="0" y="0"/>
                  </a:lnTo>
                  <a:lnTo>
                    <a:pt x="0" y="15812"/>
                  </a:lnTo>
                  <a:lnTo>
                    <a:pt x="15179" y="15812"/>
                  </a:lnTo>
                  <a:lnTo>
                    <a:pt x="15179" y="759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5" name="Google Shape;6945;p45"/>
            <p:cNvSpPr/>
            <p:nvPr/>
          </p:nvSpPr>
          <p:spPr>
            <a:xfrm>
              <a:off x="2153282" y="4062167"/>
              <a:ext cx="13914" cy="15811"/>
            </a:xfrm>
            <a:custGeom>
              <a:avLst/>
              <a:gdLst/>
              <a:ahLst/>
              <a:cxnLst/>
              <a:rect l="l" t="t" r="r" b="b"/>
              <a:pathLst>
                <a:path w="13914" h="15811" extrusionOk="0">
                  <a:moveTo>
                    <a:pt x="0" y="0"/>
                  </a:moveTo>
                  <a:lnTo>
                    <a:pt x="13914" y="0"/>
                  </a:lnTo>
                  <a:lnTo>
                    <a:pt x="13914"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6" name="Google Shape;6946;p45"/>
            <p:cNvSpPr/>
            <p:nvPr/>
          </p:nvSpPr>
          <p:spPr>
            <a:xfrm>
              <a:off x="2125453" y="4062167"/>
              <a:ext cx="13914" cy="15811"/>
            </a:xfrm>
            <a:custGeom>
              <a:avLst/>
              <a:gdLst/>
              <a:ahLst/>
              <a:cxnLst/>
              <a:rect l="l" t="t" r="r" b="b"/>
              <a:pathLst>
                <a:path w="13914" h="15811" extrusionOk="0">
                  <a:moveTo>
                    <a:pt x="0" y="0"/>
                  </a:moveTo>
                  <a:lnTo>
                    <a:pt x="13914" y="0"/>
                  </a:lnTo>
                  <a:lnTo>
                    <a:pt x="13914"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7" name="Google Shape;6947;p45"/>
            <p:cNvSpPr/>
            <p:nvPr/>
          </p:nvSpPr>
          <p:spPr>
            <a:xfrm>
              <a:off x="2181742" y="4062167"/>
              <a:ext cx="13914" cy="15811"/>
            </a:xfrm>
            <a:custGeom>
              <a:avLst/>
              <a:gdLst/>
              <a:ahLst/>
              <a:cxnLst/>
              <a:rect l="l" t="t" r="r" b="b"/>
              <a:pathLst>
                <a:path w="13914" h="15811" extrusionOk="0">
                  <a:moveTo>
                    <a:pt x="0" y="0"/>
                  </a:moveTo>
                  <a:lnTo>
                    <a:pt x="13914" y="0"/>
                  </a:lnTo>
                  <a:lnTo>
                    <a:pt x="13914"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8" name="Google Shape;6948;p45"/>
            <p:cNvSpPr/>
            <p:nvPr/>
          </p:nvSpPr>
          <p:spPr>
            <a:xfrm>
              <a:off x="2209571" y="4062167"/>
              <a:ext cx="13914" cy="15811"/>
            </a:xfrm>
            <a:custGeom>
              <a:avLst/>
              <a:gdLst/>
              <a:ahLst/>
              <a:cxnLst/>
              <a:rect l="l" t="t" r="r" b="b"/>
              <a:pathLst>
                <a:path w="13914" h="15811" extrusionOk="0">
                  <a:moveTo>
                    <a:pt x="0" y="0"/>
                  </a:moveTo>
                  <a:lnTo>
                    <a:pt x="13914" y="0"/>
                  </a:lnTo>
                  <a:lnTo>
                    <a:pt x="13914"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9" name="Google Shape;6949;p45"/>
            <p:cNvSpPr/>
            <p:nvPr/>
          </p:nvSpPr>
          <p:spPr>
            <a:xfrm>
              <a:off x="2096360" y="4062167"/>
              <a:ext cx="15811" cy="15179"/>
            </a:xfrm>
            <a:custGeom>
              <a:avLst/>
              <a:gdLst/>
              <a:ahLst/>
              <a:cxnLst/>
              <a:rect l="l" t="t" r="r" b="b"/>
              <a:pathLst>
                <a:path w="15811" h="15179" extrusionOk="0">
                  <a:moveTo>
                    <a:pt x="15179" y="0"/>
                  </a:moveTo>
                  <a:lnTo>
                    <a:pt x="7590" y="0"/>
                  </a:lnTo>
                  <a:cubicBezTo>
                    <a:pt x="3162" y="0"/>
                    <a:pt x="0" y="3795"/>
                    <a:pt x="0" y="7590"/>
                  </a:cubicBezTo>
                  <a:lnTo>
                    <a:pt x="0" y="15179"/>
                  </a:lnTo>
                  <a:lnTo>
                    <a:pt x="15812" y="15179"/>
                  </a:lnTo>
                  <a:lnTo>
                    <a:pt x="15812"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0" name="Google Shape;6950;p45"/>
            <p:cNvSpPr/>
            <p:nvPr/>
          </p:nvSpPr>
          <p:spPr>
            <a:xfrm>
              <a:off x="2095728" y="4126046"/>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1" name="Google Shape;6951;p45"/>
            <p:cNvSpPr/>
            <p:nvPr/>
          </p:nvSpPr>
          <p:spPr>
            <a:xfrm>
              <a:off x="2095728" y="4093790"/>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2" name="Google Shape;6952;p45"/>
            <p:cNvSpPr/>
            <p:nvPr/>
          </p:nvSpPr>
          <p:spPr>
            <a:xfrm>
              <a:off x="2095728" y="4539675"/>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3" name="Google Shape;6953;p45"/>
            <p:cNvSpPr/>
            <p:nvPr/>
          </p:nvSpPr>
          <p:spPr>
            <a:xfrm>
              <a:off x="2095728" y="4475796"/>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4" name="Google Shape;6954;p45"/>
            <p:cNvSpPr/>
            <p:nvPr/>
          </p:nvSpPr>
          <p:spPr>
            <a:xfrm>
              <a:off x="2095728" y="4157669"/>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5" name="Google Shape;6955;p45"/>
            <p:cNvSpPr/>
            <p:nvPr/>
          </p:nvSpPr>
          <p:spPr>
            <a:xfrm>
              <a:off x="2095728" y="4380295"/>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6" name="Google Shape;6956;p45"/>
            <p:cNvSpPr/>
            <p:nvPr/>
          </p:nvSpPr>
          <p:spPr>
            <a:xfrm>
              <a:off x="2095728" y="4507419"/>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7" name="Google Shape;6957;p45"/>
            <p:cNvSpPr/>
            <p:nvPr/>
          </p:nvSpPr>
          <p:spPr>
            <a:xfrm>
              <a:off x="2095728" y="4348672"/>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8" name="Google Shape;6958;p45"/>
            <p:cNvSpPr/>
            <p:nvPr/>
          </p:nvSpPr>
          <p:spPr>
            <a:xfrm>
              <a:off x="2095728" y="4571298"/>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59" name="Google Shape;6959;p45"/>
            <p:cNvSpPr/>
            <p:nvPr/>
          </p:nvSpPr>
          <p:spPr>
            <a:xfrm>
              <a:off x="2095728" y="4444173"/>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0" name="Google Shape;6960;p45"/>
            <p:cNvSpPr/>
            <p:nvPr/>
          </p:nvSpPr>
          <p:spPr>
            <a:xfrm>
              <a:off x="2095728" y="4317049"/>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1" name="Google Shape;6961;p45"/>
            <p:cNvSpPr/>
            <p:nvPr/>
          </p:nvSpPr>
          <p:spPr>
            <a:xfrm>
              <a:off x="2095728" y="4221547"/>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2" name="Google Shape;6962;p45"/>
            <p:cNvSpPr/>
            <p:nvPr/>
          </p:nvSpPr>
          <p:spPr>
            <a:xfrm>
              <a:off x="2095728" y="4189292"/>
              <a:ext cx="15811" cy="15811"/>
            </a:xfrm>
            <a:custGeom>
              <a:avLst/>
              <a:gdLst/>
              <a:ahLst/>
              <a:cxnLst/>
              <a:rect l="l" t="t" r="r" b="b"/>
              <a:pathLst>
                <a:path w="15811" h="15811" extrusionOk="0">
                  <a:moveTo>
                    <a:pt x="0" y="0"/>
                  </a:moveTo>
                  <a:lnTo>
                    <a:pt x="15812" y="0"/>
                  </a:lnTo>
                  <a:lnTo>
                    <a:pt x="15812"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3" name="Google Shape;6963;p45"/>
            <p:cNvSpPr/>
            <p:nvPr/>
          </p:nvSpPr>
          <p:spPr>
            <a:xfrm>
              <a:off x="2095728" y="4253170"/>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4" name="Google Shape;6964;p45"/>
            <p:cNvSpPr/>
            <p:nvPr/>
          </p:nvSpPr>
          <p:spPr>
            <a:xfrm>
              <a:off x="2095728" y="4284793"/>
              <a:ext cx="15811" cy="15811"/>
            </a:xfrm>
            <a:custGeom>
              <a:avLst/>
              <a:gdLst/>
              <a:ahLst/>
              <a:cxnLst/>
              <a:rect l="l" t="t" r="r" b="b"/>
              <a:pathLst>
                <a:path w="15811" h="15811" extrusionOk="0">
                  <a:moveTo>
                    <a:pt x="0" y="0"/>
                  </a:moveTo>
                  <a:lnTo>
                    <a:pt x="15812" y="0"/>
                  </a:lnTo>
                  <a:lnTo>
                    <a:pt x="15812"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5" name="Google Shape;6965;p45"/>
            <p:cNvSpPr/>
            <p:nvPr/>
          </p:nvSpPr>
          <p:spPr>
            <a:xfrm>
              <a:off x="2095728" y="4602921"/>
              <a:ext cx="15811" cy="15811"/>
            </a:xfrm>
            <a:custGeom>
              <a:avLst/>
              <a:gdLst/>
              <a:ahLst/>
              <a:cxnLst/>
              <a:rect l="l" t="t" r="r" b="b"/>
              <a:pathLst>
                <a:path w="15811" h="15811" extrusionOk="0">
                  <a:moveTo>
                    <a:pt x="0" y="0"/>
                  </a:moveTo>
                  <a:lnTo>
                    <a:pt x="0" y="7590"/>
                  </a:lnTo>
                  <a:cubicBezTo>
                    <a:pt x="0" y="9487"/>
                    <a:pt x="632" y="12017"/>
                    <a:pt x="2530" y="13282"/>
                  </a:cubicBezTo>
                  <a:cubicBezTo>
                    <a:pt x="3795" y="14547"/>
                    <a:pt x="5692" y="15812"/>
                    <a:pt x="8222" y="15812"/>
                  </a:cubicBezTo>
                  <a:cubicBezTo>
                    <a:pt x="8222" y="15812"/>
                    <a:pt x="8222" y="15812"/>
                    <a:pt x="8222" y="15812"/>
                  </a:cubicBezTo>
                  <a:lnTo>
                    <a:pt x="15812" y="15812"/>
                  </a:lnTo>
                  <a:lnTo>
                    <a:pt x="15812" y="0"/>
                  </a:lnTo>
                  <a:lnTo>
                    <a:pt x="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6" name="Google Shape;6966;p45"/>
            <p:cNvSpPr/>
            <p:nvPr/>
          </p:nvSpPr>
          <p:spPr>
            <a:xfrm>
              <a:off x="2181742" y="4601656"/>
              <a:ext cx="13914" cy="16443"/>
            </a:xfrm>
            <a:custGeom>
              <a:avLst/>
              <a:gdLst/>
              <a:ahLst/>
              <a:cxnLst/>
              <a:rect l="l" t="t" r="r" b="b"/>
              <a:pathLst>
                <a:path w="13914" h="16443" extrusionOk="0">
                  <a:moveTo>
                    <a:pt x="0" y="632"/>
                  </a:moveTo>
                  <a:lnTo>
                    <a:pt x="0" y="16444"/>
                  </a:lnTo>
                  <a:lnTo>
                    <a:pt x="13914" y="15812"/>
                  </a:lnTo>
                  <a:lnTo>
                    <a:pt x="13914"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7" name="Google Shape;6967;p45"/>
            <p:cNvSpPr/>
            <p:nvPr/>
          </p:nvSpPr>
          <p:spPr>
            <a:xfrm rot="-57736">
              <a:off x="2125472" y="4602947"/>
              <a:ext cx="13914" cy="15812"/>
            </a:xfrm>
            <a:custGeom>
              <a:avLst/>
              <a:gdLst/>
              <a:ahLst/>
              <a:cxnLst/>
              <a:rect l="l" t="t" r="r" b="b"/>
              <a:pathLst>
                <a:path w="13914" h="15812" extrusionOk="0">
                  <a:moveTo>
                    <a:pt x="0" y="0"/>
                  </a:moveTo>
                  <a:lnTo>
                    <a:pt x="13915" y="0"/>
                  </a:lnTo>
                  <a:lnTo>
                    <a:pt x="13915" y="15812"/>
                  </a:ln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8" name="Google Shape;6968;p45"/>
            <p:cNvSpPr/>
            <p:nvPr/>
          </p:nvSpPr>
          <p:spPr>
            <a:xfrm>
              <a:off x="2209571" y="4601656"/>
              <a:ext cx="13914" cy="15811"/>
            </a:xfrm>
            <a:custGeom>
              <a:avLst/>
              <a:gdLst/>
              <a:ahLst/>
              <a:cxnLst/>
              <a:rect l="l" t="t" r="r" b="b"/>
              <a:pathLst>
                <a:path w="13914" h="15811" extrusionOk="0">
                  <a:moveTo>
                    <a:pt x="0" y="15812"/>
                  </a:moveTo>
                  <a:cubicBezTo>
                    <a:pt x="5060" y="15812"/>
                    <a:pt x="9487" y="15812"/>
                    <a:pt x="13914" y="15812"/>
                  </a:cubicBezTo>
                  <a:lnTo>
                    <a:pt x="13914" y="0"/>
                  </a:lnTo>
                  <a:cubicBezTo>
                    <a:pt x="9487" y="0"/>
                    <a:pt x="5060" y="0"/>
                    <a:pt x="0" y="0"/>
                  </a:cubicBezTo>
                  <a:lnTo>
                    <a:pt x="0" y="1581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9" name="Google Shape;6969;p45"/>
            <p:cNvSpPr/>
            <p:nvPr/>
          </p:nvSpPr>
          <p:spPr>
            <a:xfrm rot="-45656">
              <a:off x="2153278" y="4602285"/>
              <a:ext cx="13913" cy="15811"/>
            </a:xfrm>
            <a:custGeom>
              <a:avLst/>
              <a:gdLst/>
              <a:ahLst/>
              <a:cxnLst/>
              <a:rect l="l" t="t" r="r" b="b"/>
              <a:pathLst>
                <a:path w="13913" h="15811" extrusionOk="0">
                  <a:moveTo>
                    <a:pt x="0" y="0"/>
                  </a:moveTo>
                  <a:lnTo>
                    <a:pt x="13914" y="0"/>
                  </a:lnTo>
                  <a:lnTo>
                    <a:pt x="13914" y="15811"/>
                  </a:lnTo>
                  <a:lnTo>
                    <a:pt x="0" y="1581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970" name="Google Shape;6970;p45" descr="Usage Meter&#10;"/>
          <p:cNvGrpSpPr/>
          <p:nvPr/>
        </p:nvGrpSpPr>
        <p:grpSpPr>
          <a:xfrm>
            <a:off x="3903516" y="2412348"/>
            <a:ext cx="600204" cy="556457"/>
            <a:chOff x="5804281" y="1956979"/>
            <a:chExt cx="600204" cy="556457"/>
          </a:xfrm>
        </p:grpSpPr>
        <p:grpSp>
          <p:nvGrpSpPr>
            <p:cNvPr id="6971" name="Google Shape;6971;p45"/>
            <p:cNvGrpSpPr/>
            <p:nvPr/>
          </p:nvGrpSpPr>
          <p:grpSpPr>
            <a:xfrm>
              <a:off x="5844126" y="1956979"/>
              <a:ext cx="529369" cy="265553"/>
              <a:chOff x="5844126" y="1956979"/>
              <a:chExt cx="529369" cy="265553"/>
            </a:xfrm>
          </p:grpSpPr>
          <p:sp>
            <p:nvSpPr>
              <p:cNvPr id="6972" name="Google Shape;6972;p45"/>
              <p:cNvSpPr/>
              <p:nvPr/>
            </p:nvSpPr>
            <p:spPr>
              <a:xfrm>
                <a:off x="5844126" y="1956979"/>
                <a:ext cx="529369" cy="265553"/>
              </a:xfrm>
              <a:custGeom>
                <a:avLst/>
                <a:gdLst/>
                <a:ahLst/>
                <a:cxnLst/>
                <a:rect l="l" t="t" r="r" b="b"/>
                <a:pathLst>
                  <a:path w="529369" h="265553" extrusionOk="0">
                    <a:moveTo>
                      <a:pt x="529369" y="265553"/>
                    </a:moveTo>
                    <a:lnTo>
                      <a:pt x="513558" y="265553"/>
                    </a:lnTo>
                    <a:cubicBezTo>
                      <a:pt x="513558" y="128023"/>
                      <a:pt x="401612" y="15844"/>
                      <a:pt x="264368" y="15844"/>
                    </a:cubicBezTo>
                    <a:cubicBezTo>
                      <a:pt x="127124" y="15844"/>
                      <a:pt x="15812" y="128023"/>
                      <a:pt x="15812" y="265553"/>
                    </a:cubicBezTo>
                    <a:lnTo>
                      <a:pt x="0" y="265553"/>
                    </a:lnTo>
                    <a:cubicBezTo>
                      <a:pt x="0" y="119150"/>
                      <a:pt x="118902" y="0"/>
                      <a:pt x="265001" y="0"/>
                    </a:cubicBezTo>
                    <a:cubicBezTo>
                      <a:pt x="411099" y="0"/>
                      <a:pt x="529369" y="119150"/>
                      <a:pt x="529369" y="26555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6973" name="Google Shape;6973;p45"/>
              <p:cNvGrpSpPr/>
              <p:nvPr/>
            </p:nvGrpSpPr>
            <p:grpSpPr>
              <a:xfrm>
                <a:off x="6043229" y="1993617"/>
                <a:ext cx="17318" cy="31810"/>
                <a:chOff x="6043229" y="1993617"/>
                <a:chExt cx="17318" cy="31810"/>
              </a:xfrm>
            </p:grpSpPr>
            <p:sp>
              <p:nvSpPr>
                <p:cNvPr id="6974" name="Google Shape;6974;p45"/>
                <p:cNvSpPr/>
                <p:nvPr/>
              </p:nvSpPr>
              <p:spPr>
                <a:xfrm>
                  <a:off x="6049675" y="1999442"/>
                  <a:ext cx="5059" cy="19647"/>
                </a:xfrm>
                <a:custGeom>
                  <a:avLst/>
                  <a:gdLst/>
                  <a:ahLst/>
                  <a:cxnLst/>
                  <a:rect l="l" t="t" r="r" b="b"/>
                  <a:pathLst>
                    <a:path w="5059" h="19647" extrusionOk="0">
                      <a:moveTo>
                        <a:pt x="0" y="0"/>
                      </a:moveTo>
                      <a:lnTo>
                        <a:pt x="5060" y="19647"/>
                      </a:ln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75" name="Google Shape;6975;p45"/>
                <p:cNvSpPr/>
                <p:nvPr/>
              </p:nvSpPr>
              <p:spPr>
                <a:xfrm>
                  <a:off x="6043229" y="1993617"/>
                  <a:ext cx="17318" cy="31810"/>
                </a:xfrm>
                <a:custGeom>
                  <a:avLst/>
                  <a:gdLst/>
                  <a:ahLst/>
                  <a:cxnLst/>
                  <a:rect l="l" t="t" r="r" b="b"/>
                  <a:pathLst>
                    <a:path w="17318" h="31810" extrusionOk="0">
                      <a:moveTo>
                        <a:pt x="11505" y="31810"/>
                      </a:moveTo>
                      <a:cubicBezTo>
                        <a:pt x="8976" y="31810"/>
                        <a:pt x="6446" y="29909"/>
                        <a:pt x="5181" y="27374"/>
                      </a:cubicBezTo>
                      <a:lnTo>
                        <a:pt x="121" y="7727"/>
                      </a:lnTo>
                      <a:cubicBezTo>
                        <a:pt x="-511" y="4558"/>
                        <a:pt x="1386" y="755"/>
                        <a:pt x="4548" y="121"/>
                      </a:cubicBezTo>
                      <a:cubicBezTo>
                        <a:pt x="7711" y="-512"/>
                        <a:pt x="11505" y="1389"/>
                        <a:pt x="12138" y="4558"/>
                      </a:cubicBezTo>
                      <a:lnTo>
                        <a:pt x="17198" y="24205"/>
                      </a:lnTo>
                      <a:cubicBezTo>
                        <a:pt x="17830" y="27374"/>
                        <a:pt x="15933" y="31177"/>
                        <a:pt x="12770" y="31810"/>
                      </a:cubicBezTo>
                      <a:cubicBezTo>
                        <a:pt x="12770" y="31810"/>
                        <a:pt x="12138" y="31810"/>
                        <a:pt x="11505" y="3181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976" name="Google Shape;6976;p45"/>
              <p:cNvGrpSpPr/>
              <p:nvPr/>
            </p:nvGrpSpPr>
            <p:grpSpPr>
              <a:xfrm>
                <a:off x="5942789" y="2050145"/>
                <a:ext cx="27195" cy="27252"/>
                <a:chOff x="5942789" y="2050145"/>
                <a:chExt cx="27195" cy="27252"/>
              </a:xfrm>
            </p:grpSpPr>
            <p:sp>
              <p:nvSpPr>
                <p:cNvPr id="6977" name="Google Shape;6977;p45"/>
                <p:cNvSpPr/>
                <p:nvPr/>
              </p:nvSpPr>
              <p:spPr>
                <a:xfrm>
                  <a:off x="5949114" y="2056483"/>
                  <a:ext cx="14546" cy="14576"/>
                </a:xfrm>
                <a:custGeom>
                  <a:avLst/>
                  <a:gdLst/>
                  <a:ahLst/>
                  <a:cxnLst/>
                  <a:rect l="l" t="t" r="r" b="b"/>
                  <a:pathLst>
                    <a:path w="14546" h="14576" extrusionOk="0">
                      <a:moveTo>
                        <a:pt x="0" y="0"/>
                      </a:moveTo>
                      <a:lnTo>
                        <a:pt x="14547" y="14577"/>
                      </a:ln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78" name="Google Shape;6978;p45"/>
                <p:cNvSpPr/>
                <p:nvPr/>
              </p:nvSpPr>
              <p:spPr>
                <a:xfrm>
                  <a:off x="5942789" y="2050145"/>
                  <a:ext cx="27195" cy="27252"/>
                </a:xfrm>
                <a:custGeom>
                  <a:avLst/>
                  <a:gdLst/>
                  <a:ahLst/>
                  <a:cxnLst/>
                  <a:rect l="l" t="t" r="r" b="b"/>
                  <a:pathLst>
                    <a:path w="27195" h="27252" extrusionOk="0">
                      <a:moveTo>
                        <a:pt x="20871" y="27252"/>
                      </a:moveTo>
                      <a:cubicBezTo>
                        <a:pt x="18974" y="27252"/>
                        <a:pt x="17709" y="26619"/>
                        <a:pt x="16444" y="25351"/>
                      </a:cubicBezTo>
                      <a:lnTo>
                        <a:pt x="1897" y="10774"/>
                      </a:lnTo>
                      <a:cubicBezTo>
                        <a:pt x="-632" y="8239"/>
                        <a:pt x="-632" y="4436"/>
                        <a:pt x="1897" y="1901"/>
                      </a:cubicBezTo>
                      <a:cubicBezTo>
                        <a:pt x="4427" y="-634"/>
                        <a:pt x="8222" y="-634"/>
                        <a:pt x="10752" y="1901"/>
                      </a:cubicBezTo>
                      <a:lnTo>
                        <a:pt x="25298" y="16478"/>
                      </a:lnTo>
                      <a:cubicBezTo>
                        <a:pt x="27828" y="19013"/>
                        <a:pt x="27828" y="22816"/>
                        <a:pt x="25298" y="25351"/>
                      </a:cubicBezTo>
                      <a:cubicBezTo>
                        <a:pt x="24033" y="26619"/>
                        <a:pt x="22136" y="27252"/>
                        <a:pt x="20871" y="2725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979" name="Google Shape;6979;p45"/>
              <p:cNvGrpSpPr/>
              <p:nvPr/>
            </p:nvGrpSpPr>
            <p:grpSpPr>
              <a:xfrm>
                <a:off x="6303170" y="2152062"/>
                <a:ext cx="31865" cy="17233"/>
                <a:chOff x="6303170" y="2152062"/>
                <a:chExt cx="31865" cy="17233"/>
              </a:xfrm>
            </p:grpSpPr>
            <p:sp>
              <p:nvSpPr>
                <p:cNvPr id="6980" name="Google Shape;6980;p45"/>
                <p:cNvSpPr/>
                <p:nvPr/>
              </p:nvSpPr>
              <p:spPr>
                <a:xfrm>
                  <a:off x="6309616" y="2157253"/>
                  <a:ext cx="19606" cy="5704"/>
                </a:xfrm>
                <a:custGeom>
                  <a:avLst/>
                  <a:gdLst/>
                  <a:ahLst/>
                  <a:cxnLst/>
                  <a:rect l="l" t="t" r="r" b="b"/>
                  <a:pathLst>
                    <a:path w="19606" h="5704" extrusionOk="0">
                      <a:moveTo>
                        <a:pt x="19606" y="0"/>
                      </a:moveTo>
                      <a:lnTo>
                        <a:pt x="0" y="5704"/>
                      </a:ln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81" name="Google Shape;6981;p45"/>
                <p:cNvSpPr/>
                <p:nvPr/>
              </p:nvSpPr>
              <p:spPr>
                <a:xfrm>
                  <a:off x="6303170" y="2152062"/>
                  <a:ext cx="31865" cy="17233"/>
                </a:xfrm>
                <a:custGeom>
                  <a:avLst/>
                  <a:gdLst/>
                  <a:ahLst/>
                  <a:cxnLst/>
                  <a:rect l="l" t="t" r="r" b="b"/>
                  <a:pathLst>
                    <a:path w="31865" h="17233" extrusionOk="0">
                      <a:moveTo>
                        <a:pt x="6446" y="17233"/>
                      </a:moveTo>
                      <a:cubicBezTo>
                        <a:pt x="3916" y="17233"/>
                        <a:pt x="1386" y="15332"/>
                        <a:pt x="121" y="12797"/>
                      </a:cubicBezTo>
                      <a:cubicBezTo>
                        <a:pt x="-511" y="9628"/>
                        <a:pt x="1386" y="5825"/>
                        <a:pt x="4548" y="5192"/>
                      </a:cubicBezTo>
                      <a:lnTo>
                        <a:pt x="24155" y="121"/>
                      </a:lnTo>
                      <a:cubicBezTo>
                        <a:pt x="27317" y="-512"/>
                        <a:pt x="31112" y="1389"/>
                        <a:pt x="31744" y="4558"/>
                      </a:cubicBezTo>
                      <a:cubicBezTo>
                        <a:pt x="32377" y="7727"/>
                        <a:pt x="30479" y="11529"/>
                        <a:pt x="27317" y="12163"/>
                      </a:cubicBezTo>
                      <a:lnTo>
                        <a:pt x="7711" y="16600"/>
                      </a:lnTo>
                      <a:cubicBezTo>
                        <a:pt x="7078" y="17233"/>
                        <a:pt x="7078" y="17233"/>
                        <a:pt x="6446" y="1723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982" name="Google Shape;6982;p45"/>
              <p:cNvGrpSpPr/>
              <p:nvPr/>
            </p:nvGrpSpPr>
            <p:grpSpPr>
              <a:xfrm>
                <a:off x="5890595" y="2134316"/>
                <a:ext cx="32288" cy="17233"/>
                <a:chOff x="5890595" y="2134316"/>
                <a:chExt cx="32288" cy="17233"/>
              </a:xfrm>
            </p:grpSpPr>
            <p:sp>
              <p:nvSpPr>
                <p:cNvPr id="6983" name="Google Shape;6983;p45"/>
                <p:cNvSpPr/>
                <p:nvPr/>
              </p:nvSpPr>
              <p:spPr>
                <a:xfrm>
                  <a:off x="5897252" y="2139507"/>
                  <a:ext cx="19606" cy="5704"/>
                </a:xfrm>
                <a:custGeom>
                  <a:avLst/>
                  <a:gdLst/>
                  <a:ahLst/>
                  <a:cxnLst/>
                  <a:rect l="l" t="t" r="r" b="b"/>
                  <a:pathLst>
                    <a:path w="19606" h="5704" extrusionOk="0">
                      <a:moveTo>
                        <a:pt x="0" y="0"/>
                      </a:moveTo>
                      <a:lnTo>
                        <a:pt x="19606" y="5704"/>
                      </a:ln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84" name="Google Shape;6984;p45"/>
                <p:cNvSpPr/>
                <p:nvPr/>
              </p:nvSpPr>
              <p:spPr>
                <a:xfrm>
                  <a:off x="5890595" y="2134316"/>
                  <a:ext cx="32288" cy="17233"/>
                </a:xfrm>
                <a:custGeom>
                  <a:avLst/>
                  <a:gdLst/>
                  <a:ahLst/>
                  <a:cxnLst/>
                  <a:rect l="l" t="t" r="r" b="b"/>
                  <a:pathLst>
                    <a:path w="32288" h="17233" extrusionOk="0">
                      <a:moveTo>
                        <a:pt x="26264" y="17233"/>
                      </a:moveTo>
                      <a:cubicBezTo>
                        <a:pt x="25631" y="17233"/>
                        <a:pt x="24999" y="17233"/>
                        <a:pt x="24366" y="17233"/>
                      </a:cubicBezTo>
                      <a:lnTo>
                        <a:pt x="4760" y="12163"/>
                      </a:lnTo>
                      <a:cubicBezTo>
                        <a:pt x="1598" y="11529"/>
                        <a:pt x="-932" y="7727"/>
                        <a:pt x="333" y="4558"/>
                      </a:cubicBezTo>
                      <a:cubicBezTo>
                        <a:pt x="965" y="1389"/>
                        <a:pt x="4760" y="-512"/>
                        <a:pt x="7922" y="121"/>
                      </a:cubicBezTo>
                      <a:lnTo>
                        <a:pt x="27528" y="5192"/>
                      </a:lnTo>
                      <a:cubicBezTo>
                        <a:pt x="30691" y="5825"/>
                        <a:pt x="33221" y="9628"/>
                        <a:pt x="31956" y="12797"/>
                      </a:cubicBezTo>
                      <a:cubicBezTo>
                        <a:pt x="31956" y="15332"/>
                        <a:pt x="29426" y="17233"/>
                        <a:pt x="26264" y="1723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985" name="Google Shape;6985;p45"/>
              <p:cNvGrpSpPr/>
              <p:nvPr/>
            </p:nvGrpSpPr>
            <p:grpSpPr>
              <a:xfrm>
                <a:off x="6250797" y="2050145"/>
                <a:ext cx="27195" cy="27252"/>
                <a:chOff x="6250797" y="2050145"/>
                <a:chExt cx="27195" cy="27252"/>
              </a:xfrm>
            </p:grpSpPr>
            <p:sp>
              <p:nvSpPr>
                <p:cNvPr id="6986" name="Google Shape;6986;p45"/>
                <p:cNvSpPr/>
                <p:nvPr/>
              </p:nvSpPr>
              <p:spPr>
                <a:xfrm>
                  <a:off x="6257122" y="2056483"/>
                  <a:ext cx="14546" cy="14576"/>
                </a:xfrm>
                <a:custGeom>
                  <a:avLst/>
                  <a:gdLst/>
                  <a:ahLst/>
                  <a:cxnLst/>
                  <a:rect l="l" t="t" r="r" b="b"/>
                  <a:pathLst>
                    <a:path w="14546" h="14576" extrusionOk="0">
                      <a:moveTo>
                        <a:pt x="14547" y="0"/>
                      </a:moveTo>
                      <a:lnTo>
                        <a:pt x="0" y="14577"/>
                      </a:ln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87" name="Google Shape;6987;p45"/>
                <p:cNvSpPr/>
                <p:nvPr/>
              </p:nvSpPr>
              <p:spPr>
                <a:xfrm>
                  <a:off x="6250797" y="2050145"/>
                  <a:ext cx="27195" cy="27252"/>
                </a:xfrm>
                <a:custGeom>
                  <a:avLst/>
                  <a:gdLst/>
                  <a:ahLst/>
                  <a:cxnLst/>
                  <a:rect l="l" t="t" r="r" b="b"/>
                  <a:pathLst>
                    <a:path w="27195" h="27252" extrusionOk="0">
                      <a:moveTo>
                        <a:pt x="6325" y="27252"/>
                      </a:moveTo>
                      <a:cubicBezTo>
                        <a:pt x="4427" y="27252"/>
                        <a:pt x="3162" y="26619"/>
                        <a:pt x="1897" y="25351"/>
                      </a:cubicBezTo>
                      <a:cubicBezTo>
                        <a:pt x="-632" y="22816"/>
                        <a:pt x="-632" y="19013"/>
                        <a:pt x="1897" y="16478"/>
                      </a:cubicBezTo>
                      <a:lnTo>
                        <a:pt x="16444" y="1901"/>
                      </a:lnTo>
                      <a:cubicBezTo>
                        <a:pt x="18974" y="-634"/>
                        <a:pt x="22769" y="-634"/>
                        <a:pt x="25298" y="1901"/>
                      </a:cubicBezTo>
                      <a:cubicBezTo>
                        <a:pt x="27828" y="4436"/>
                        <a:pt x="27828" y="8239"/>
                        <a:pt x="25298" y="10774"/>
                      </a:cubicBezTo>
                      <a:lnTo>
                        <a:pt x="10752" y="25351"/>
                      </a:lnTo>
                      <a:cubicBezTo>
                        <a:pt x="9487" y="26619"/>
                        <a:pt x="8222" y="27252"/>
                        <a:pt x="6325" y="2725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6988" name="Google Shape;6988;p45"/>
              <p:cNvGrpSpPr/>
              <p:nvPr/>
            </p:nvGrpSpPr>
            <p:grpSpPr>
              <a:xfrm>
                <a:off x="6156861" y="1989181"/>
                <a:ext cx="17741" cy="31810"/>
                <a:chOff x="6156861" y="1989181"/>
                <a:chExt cx="17741" cy="31810"/>
              </a:xfrm>
            </p:grpSpPr>
            <p:sp>
              <p:nvSpPr>
                <p:cNvPr id="6989" name="Google Shape;6989;p45"/>
                <p:cNvSpPr/>
                <p:nvPr/>
              </p:nvSpPr>
              <p:spPr>
                <a:xfrm>
                  <a:off x="6163518" y="1995006"/>
                  <a:ext cx="5059" cy="19647"/>
                </a:xfrm>
                <a:custGeom>
                  <a:avLst/>
                  <a:gdLst/>
                  <a:ahLst/>
                  <a:cxnLst/>
                  <a:rect l="l" t="t" r="r" b="b"/>
                  <a:pathLst>
                    <a:path w="5059" h="19647" extrusionOk="0">
                      <a:moveTo>
                        <a:pt x="5060" y="0"/>
                      </a:moveTo>
                      <a:lnTo>
                        <a:pt x="0" y="19647"/>
                      </a:ln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90" name="Google Shape;6990;p45"/>
                <p:cNvSpPr/>
                <p:nvPr/>
              </p:nvSpPr>
              <p:spPr>
                <a:xfrm>
                  <a:off x="6156861" y="1989181"/>
                  <a:ext cx="17741" cy="31810"/>
                </a:xfrm>
                <a:custGeom>
                  <a:avLst/>
                  <a:gdLst/>
                  <a:ahLst/>
                  <a:cxnLst/>
                  <a:rect l="l" t="t" r="r" b="b"/>
                  <a:pathLst>
                    <a:path w="17741" h="31810" extrusionOk="0">
                      <a:moveTo>
                        <a:pt x="6657" y="31810"/>
                      </a:moveTo>
                      <a:cubicBezTo>
                        <a:pt x="6025" y="31810"/>
                        <a:pt x="5392" y="31810"/>
                        <a:pt x="4760" y="31810"/>
                      </a:cubicBezTo>
                      <a:cubicBezTo>
                        <a:pt x="1598" y="31177"/>
                        <a:pt x="-932" y="27374"/>
                        <a:pt x="333" y="24205"/>
                      </a:cubicBezTo>
                      <a:lnTo>
                        <a:pt x="5392" y="4558"/>
                      </a:lnTo>
                      <a:cubicBezTo>
                        <a:pt x="6025" y="1389"/>
                        <a:pt x="9820" y="-512"/>
                        <a:pt x="12982" y="121"/>
                      </a:cubicBezTo>
                      <a:cubicBezTo>
                        <a:pt x="16144" y="755"/>
                        <a:pt x="18674" y="4558"/>
                        <a:pt x="17409" y="7727"/>
                      </a:cubicBezTo>
                      <a:lnTo>
                        <a:pt x="12349" y="27374"/>
                      </a:lnTo>
                      <a:cubicBezTo>
                        <a:pt x="11717" y="29909"/>
                        <a:pt x="9187" y="31810"/>
                        <a:pt x="6657" y="3181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6991" name="Google Shape;6991;p45"/>
              <p:cNvSpPr/>
              <p:nvPr/>
            </p:nvSpPr>
            <p:spPr>
              <a:xfrm>
                <a:off x="6121143" y="2153329"/>
                <a:ext cx="133474" cy="61597"/>
              </a:xfrm>
              <a:custGeom>
                <a:avLst/>
                <a:gdLst/>
                <a:ahLst/>
                <a:cxnLst/>
                <a:rect l="l" t="t" r="r" b="b"/>
                <a:pathLst>
                  <a:path w="133474" h="61597" extrusionOk="0">
                    <a:moveTo>
                      <a:pt x="0" y="38782"/>
                    </a:moveTo>
                    <a:lnTo>
                      <a:pt x="127124" y="121"/>
                    </a:lnTo>
                    <a:cubicBezTo>
                      <a:pt x="129022" y="-512"/>
                      <a:pt x="131552" y="1389"/>
                      <a:pt x="132817" y="4558"/>
                    </a:cubicBezTo>
                    <a:cubicBezTo>
                      <a:pt x="134082" y="7727"/>
                      <a:pt x="133449" y="10896"/>
                      <a:pt x="131552" y="11529"/>
                    </a:cubicBezTo>
                    <a:lnTo>
                      <a:pt x="11384" y="61598"/>
                    </a:lnTo>
                    <a:lnTo>
                      <a:pt x="0" y="3878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92" name="Google Shape;6992;p45"/>
              <p:cNvSpPr/>
              <p:nvPr/>
            </p:nvSpPr>
            <p:spPr>
              <a:xfrm>
                <a:off x="6076871" y="2188942"/>
                <a:ext cx="63246" cy="31688"/>
              </a:xfrm>
              <a:custGeom>
                <a:avLst/>
                <a:gdLst/>
                <a:ahLst/>
                <a:cxnLst/>
                <a:rect l="l" t="t" r="r" b="b"/>
                <a:pathLst>
                  <a:path w="63246" h="31688" extrusionOk="0">
                    <a:moveTo>
                      <a:pt x="0" y="31689"/>
                    </a:moveTo>
                    <a:cubicBezTo>
                      <a:pt x="0" y="13943"/>
                      <a:pt x="13914" y="0"/>
                      <a:pt x="31623" y="0"/>
                    </a:cubicBezTo>
                    <a:cubicBezTo>
                      <a:pt x="49332" y="0"/>
                      <a:pt x="63246" y="13943"/>
                      <a:pt x="63246" y="31689"/>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6993" name="Google Shape;6993;p45"/>
            <p:cNvSpPr/>
            <p:nvPr/>
          </p:nvSpPr>
          <p:spPr>
            <a:xfrm>
              <a:off x="6279891" y="2290981"/>
              <a:ext cx="124594" cy="142600"/>
            </a:xfrm>
            <a:custGeom>
              <a:avLst/>
              <a:gdLst/>
              <a:ahLst/>
              <a:cxnLst/>
              <a:rect l="l" t="t" r="r" b="b"/>
              <a:pathLst>
                <a:path w="124594" h="142600" extrusionOk="0">
                  <a:moveTo>
                    <a:pt x="124595" y="142600"/>
                  </a:moveTo>
                  <a:lnTo>
                    <a:pt x="0" y="142600"/>
                  </a:lnTo>
                  <a:lnTo>
                    <a:pt x="0" y="126756"/>
                  </a:lnTo>
                  <a:lnTo>
                    <a:pt x="108783" y="126756"/>
                  </a:lnTo>
                  <a:lnTo>
                    <a:pt x="108783" y="15844"/>
                  </a:lnTo>
                  <a:lnTo>
                    <a:pt x="0" y="15844"/>
                  </a:lnTo>
                  <a:lnTo>
                    <a:pt x="0" y="0"/>
                  </a:lnTo>
                  <a:lnTo>
                    <a:pt x="124595"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94" name="Google Shape;6994;p45"/>
            <p:cNvSpPr/>
            <p:nvPr/>
          </p:nvSpPr>
          <p:spPr>
            <a:xfrm>
              <a:off x="6357051" y="2313797"/>
              <a:ext cx="25298" cy="25351"/>
            </a:xfrm>
            <a:custGeom>
              <a:avLst/>
              <a:gdLst/>
              <a:ahLst/>
              <a:cxnLst/>
              <a:rect l="l" t="t" r="r" b="b"/>
              <a:pathLst>
                <a:path w="25298" h="25351" extrusionOk="0">
                  <a:moveTo>
                    <a:pt x="25298" y="12676"/>
                  </a:moveTo>
                  <a:cubicBezTo>
                    <a:pt x="25298" y="19676"/>
                    <a:pt x="19635" y="25351"/>
                    <a:pt x="12649" y="25351"/>
                  </a:cubicBezTo>
                  <a:cubicBezTo>
                    <a:pt x="5663" y="25351"/>
                    <a:pt x="0" y="19676"/>
                    <a:pt x="0" y="12676"/>
                  </a:cubicBezTo>
                  <a:cubicBezTo>
                    <a:pt x="0" y="5675"/>
                    <a:pt x="5663" y="0"/>
                    <a:pt x="12649" y="0"/>
                  </a:cubicBezTo>
                  <a:cubicBezTo>
                    <a:pt x="19635" y="0"/>
                    <a:pt x="25298" y="5675"/>
                    <a:pt x="25298" y="126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95" name="Google Shape;6995;p45"/>
            <p:cNvSpPr/>
            <p:nvPr/>
          </p:nvSpPr>
          <p:spPr>
            <a:xfrm>
              <a:off x="6315308" y="2355626"/>
              <a:ext cx="25298" cy="25351"/>
            </a:xfrm>
            <a:custGeom>
              <a:avLst/>
              <a:gdLst/>
              <a:ahLst/>
              <a:cxnLst/>
              <a:rect l="l" t="t" r="r" b="b"/>
              <a:pathLst>
                <a:path w="25298" h="25351" extrusionOk="0">
                  <a:moveTo>
                    <a:pt x="25298" y="12676"/>
                  </a:moveTo>
                  <a:cubicBezTo>
                    <a:pt x="25298" y="19676"/>
                    <a:pt x="19635" y="25351"/>
                    <a:pt x="12649" y="25351"/>
                  </a:cubicBezTo>
                  <a:cubicBezTo>
                    <a:pt x="5663" y="25351"/>
                    <a:pt x="0" y="19676"/>
                    <a:pt x="0" y="12676"/>
                  </a:cubicBezTo>
                  <a:cubicBezTo>
                    <a:pt x="0" y="5675"/>
                    <a:pt x="5663" y="0"/>
                    <a:pt x="12649" y="0"/>
                  </a:cubicBezTo>
                  <a:cubicBezTo>
                    <a:pt x="19635" y="0"/>
                    <a:pt x="25298" y="5675"/>
                    <a:pt x="25298" y="126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96" name="Google Shape;6996;p45"/>
            <p:cNvSpPr/>
            <p:nvPr/>
          </p:nvSpPr>
          <p:spPr>
            <a:xfrm>
              <a:off x="6284950" y="2322669"/>
              <a:ext cx="89176" cy="55138"/>
            </a:xfrm>
            <a:custGeom>
              <a:avLst/>
              <a:gdLst/>
              <a:ahLst/>
              <a:cxnLst/>
              <a:rect l="l" t="t" r="r" b="b"/>
              <a:pathLst>
                <a:path w="89176" h="55138" extrusionOk="0">
                  <a:moveTo>
                    <a:pt x="46802" y="55139"/>
                  </a:moveTo>
                  <a:lnTo>
                    <a:pt x="0" y="55139"/>
                  </a:lnTo>
                  <a:lnTo>
                    <a:pt x="0" y="39294"/>
                  </a:lnTo>
                  <a:lnTo>
                    <a:pt x="39845" y="39294"/>
                  </a:lnTo>
                  <a:lnTo>
                    <a:pt x="77793" y="0"/>
                  </a:lnTo>
                  <a:lnTo>
                    <a:pt x="89177" y="1077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97" name="Google Shape;6997;p45"/>
            <p:cNvSpPr/>
            <p:nvPr/>
          </p:nvSpPr>
          <p:spPr>
            <a:xfrm>
              <a:off x="5804281" y="2290981"/>
              <a:ext cx="122697" cy="142600"/>
            </a:xfrm>
            <a:custGeom>
              <a:avLst/>
              <a:gdLst/>
              <a:ahLst/>
              <a:cxnLst/>
              <a:rect l="l" t="t" r="r" b="b"/>
              <a:pathLst>
                <a:path w="122697" h="142600" extrusionOk="0">
                  <a:moveTo>
                    <a:pt x="122697" y="142600"/>
                  </a:moveTo>
                  <a:lnTo>
                    <a:pt x="0" y="142600"/>
                  </a:lnTo>
                  <a:lnTo>
                    <a:pt x="0" y="0"/>
                  </a:lnTo>
                  <a:lnTo>
                    <a:pt x="122697" y="0"/>
                  </a:lnTo>
                  <a:lnTo>
                    <a:pt x="122697" y="15844"/>
                  </a:lnTo>
                  <a:lnTo>
                    <a:pt x="15812" y="15844"/>
                  </a:lnTo>
                  <a:lnTo>
                    <a:pt x="15812" y="126756"/>
                  </a:lnTo>
                  <a:lnTo>
                    <a:pt x="122697" y="12675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98" name="Google Shape;6998;p45"/>
            <p:cNvSpPr/>
            <p:nvPr/>
          </p:nvSpPr>
          <p:spPr>
            <a:xfrm>
              <a:off x="6279891" y="2355626"/>
              <a:ext cx="13281" cy="25351"/>
            </a:xfrm>
            <a:custGeom>
              <a:avLst/>
              <a:gdLst/>
              <a:ahLst/>
              <a:cxnLst/>
              <a:rect l="l" t="t" r="r" b="b"/>
              <a:pathLst>
                <a:path w="13281" h="25351" extrusionOk="0">
                  <a:moveTo>
                    <a:pt x="632" y="0"/>
                  </a:moveTo>
                  <a:cubicBezTo>
                    <a:pt x="632" y="0"/>
                    <a:pt x="0" y="0"/>
                    <a:pt x="0" y="0"/>
                  </a:cubicBezTo>
                  <a:lnTo>
                    <a:pt x="0" y="25351"/>
                  </a:lnTo>
                  <a:cubicBezTo>
                    <a:pt x="0" y="25351"/>
                    <a:pt x="632" y="25351"/>
                    <a:pt x="632" y="25351"/>
                  </a:cubicBezTo>
                  <a:cubicBezTo>
                    <a:pt x="7590" y="25351"/>
                    <a:pt x="13282" y="19647"/>
                    <a:pt x="13282" y="12676"/>
                  </a:cubicBezTo>
                  <a:cubicBezTo>
                    <a:pt x="13282" y="5704"/>
                    <a:pt x="7590" y="0"/>
                    <a:pt x="63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99" name="Google Shape;6999;p45"/>
            <p:cNvSpPr/>
            <p:nvPr/>
          </p:nvSpPr>
          <p:spPr>
            <a:xfrm>
              <a:off x="5829579" y="2322036"/>
              <a:ext cx="97398" cy="85560"/>
            </a:xfrm>
            <a:custGeom>
              <a:avLst/>
              <a:gdLst/>
              <a:ahLst/>
              <a:cxnLst/>
              <a:rect l="l" t="t" r="r" b="b"/>
              <a:pathLst>
                <a:path w="97398" h="85560" extrusionOk="0">
                  <a:moveTo>
                    <a:pt x="97399" y="0"/>
                  </a:moveTo>
                  <a:lnTo>
                    <a:pt x="61981" y="5704"/>
                  </a:lnTo>
                  <a:lnTo>
                    <a:pt x="70836" y="15844"/>
                  </a:lnTo>
                  <a:lnTo>
                    <a:pt x="0" y="73518"/>
                  </a:lnTo>
                  <a:lnTo>
                    <a:pt x="10119" y="85560"/>
                  </a:lnTo>
                  <a:lnTo>
                    <a:pt x="80322" y="28520"/>
                  </a:lnTo>
                  <a:lnTo>
                    <a:pt x="89177" y="38661"/>
                  </a:lnTo>
                  <a:lnTo>
                    <a:pt x="97399" y="1774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0" name="Google Shape;7000;p45"/>
            <p:cNvSpPr/>
            <p:nvPr/>
          </p:nvSpPr>
          <p:spPr>
            <a:xfrm>
              <a:off x="5945319" y="2269432"/>
              <a:ext cx="316230" cy="244004"/>
            </a:xfrm>
            <a:custGeom>
              <a:avLst/>
              <a:gdLst/>
              <a:ahLst/>
              <a:cxnLst/>
              <a:rect l="l" t="t" r="r" b="b"/>
              <a:pathLst>
                <a:path w="316230" h="244004" extrusionOk="0">
                  <a:moveTo>
                    <a:pt x="316230" y="244005"/>
                  </a:moveTo>
                  <a:lnTo>
                    <a:pt x="0" y="244005"/>
                  </a:lnTo>
                  <a:lnTo>
                    <a:pt x="0" y="0"/>
                  </a:lnTo>
                  <a:lnTo>
                    <a:pt x="316230" y="0"/>
                  </a:lnTo>
                  <a:lnTo>
                    <a:pt x="316230" y="244005"/>
                  </a:lnTo>
                  <a:close/>
                  <a:moveTo>
                    <a:pt x="15812" y="228160"/>
                  </a:moveTo>
                  <a:lnTo>
                    <a:pt x="300419" y="228160"/>
                  </a:lnTo>
                  <a:lnTo>
                    <a:pt x="300419" y="15844"/>
                  </a:lnTo>
                  <a:lnTo>
                    <a:pt x="15812" y="15844"/>
                  </a:lnTo>
                  <a:lnTo>
                    <a:pt x="15812" y="22816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1" name="Google Shape;7001;p45"/>
            <p:cNvSpPr/>
            <p:nvPr/>
          </p:nvSpPr>
          <p:spPr>
            <a:xfrm>
              <a:off x="5957968" y="2323937"/>
              <a:ext cx="254248" cy="15844"/>
            </a:xfrm>
            <a:custGeom>
              <a:avLst/>
              <a:gdLst/>
              <a:ahLst/>
              <a:cxnLst/>
              <a:rect l="l" t="t" r="r" b="b"/>
              <a:pathLst>
                <a:path w="254248" h="15844" extrusionOk="0">
                  <a:moveTo>
                    <a:pt x="0" y="0"/>
                  </a:moveTo>
                  <a:lnTo>
                    <a:pt x="254249" y="0"/>
                  </a:lnTo>
                  <a:lnTo>
                    <a:pt x="254249" y="15844"/>
                  </a:lnTo>
                  <a:lnTo>
                    <a:pt x="0" y="1584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2" name="Google Shape;7002;p45"/>
            <p:cNvSpPr/>
            <p:nvPr/>
          </p:nvSpPr>
          <p:spPr>
            <a:xfrm>
              <a:off x="6033231" y="2380977"/>
              <a:ext cx="37947" cy="101404"/>
            </a:xfrm>
            <a:custGeom>
              <a:avLst/>
              <a:gdLst/>
              <a:ahLst/>
              <a:cxnLst/>
              <a:rect l="l" t="t" r="r" b="b"/>
              <a:pathLst>
                <a:path w="37947" h="101404" extrusionOk="0">
                  <a:moveTo>
                    <a:pt x="37948" y="101405"/>
                  </a:moveTo>
                  <a:lnTo>
                    <a:pt x="0" y="101405"/>
                  </a:lnTo>
                  <a:lnTo>
                    <a:pt x="0" y="0"/>
                  </a:lnTo>
                  <a:lnTo>
                    <a:pt x="37948" y="0"/>
                  </a:lnTo>
                  <a:lnTo>
                    <a:pt x="37948" y="101405"/>
                  </a:lnTo>
                  <a:close/>
                  <a:moveTo>
                    <a:pt x="13914" y="87461"/>
                  </a:moveTo>
                  <a:lnTo>
                    <a:pt x="23401" y="87461"/>
                  </a:lnTo>
                  <a:lnTo>
                    <a:pt x="23401" y="14577"/>
                  </a:lnTo>
                  <a:lnTo>
                    <a:pt x="13914" y="14577"/>
                  </a:lnTo>
                  <a:lnTo>
                    <a:pt x="13914" y="8746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3" name="Google Shape;7003;p45"/>
            <p:cNvSpPr/>
            <p:nvPr/>
          </p:nvSpPr>
          <p:spPr>
            <a:xfrm>
              <a:off x="5983267" y="2444355"/>
              <a:ext cx="37947" cy="38026"/>
            </a:xfrm>
            <a:custGeom>
              <a:avLst/>
              <a:gdLst/>
              <a:ahLst/>
              <a:cxnLst/>
              <a:rect l="l" t="t" r="r" b="b"/>
              <a:pathLst>
                <a:path w="37947" h="38026" extrusionOk="0">
                  <a:moveTo>
                    <a:pt x="37948" y="38027"/>
                  </a:moveTo>
                  <a:lnTo>
                    <a:pt x="0" y="38027"/>
                  </a:lnTo>
                  <a:lnTo>
                    <a:pt x="0" y="0"/>
                  </a:lnTo>
                  <a:lnTo>
                    <a:pt x="37948" y="0"/>
                  </a:lnTo>
                  <a:lnTo>
                    <a:pt x="37948" y="38027"/>
                  </a:lnTo>
                  <a:close/>
                  <a:moveTo>
                    <a:pt x="13914" y="24084"/>
                  </a:moveTo>
                  <a:lnTo>
                    <a:pt x="23401" y="24084"/>
                  </a:lnTo>
                  <a:lnTo>
                    <a:pt x="23401" y="14577"/>
                  </a:lnTo>
                  <a:lnTo>
                    <a:pt x="13914" y="14577"/>
                  </a:lnTo>
                  <a:lnTo>
                    <a:pt x="13914" y="2408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4" name="Google Shape;7004;p45"/>
            <p:cNvSpPr/>
            <p:nvPr/>
          </p:nvSpPr>
          <p:spPr>
            <a:xfrm>
              <a:off x="6083196" y="2428510"/>
              <a:ext cx="37947" cy="53871"/>
            </a:xfrm>
            <a:custGeom>
              <a:avLst/>
              <a:gdLst/>
              <a:ahLst/>
              <a:cxnLst/>
              <a:rect l="l" t="t" r="r" b="b"/>
              <a:pathLst>
                <a:path w="37947" h="53871" extrusionOk="0">
                  <a:moveTo>
                    <a:pt x="37948" y="53871"/>
                  </a:moveTo>
                  <a:lnTo>
                    <a:pt x="0" y="53871"/>
                  </a:lnTo>
                  <a:lnTo>
                    <a:pt x="0" y="0"/>
                  </a:lnTo>
                  <a:lnTo>
                    <a:pt x="37948" y="0"/>
                  </a:lnTo>
                  <a:lnTo>
                    <a:pt x="37948" y="53871"/>
                  </a:lnTo>
                  <a:close/>
                  <a:moveTo>
                    <a:pt x="13914" y="39928"/>
                  </a:moveTo>
                  <a:lnTo>
                    <a:pt x="23401" y="39928"/>
                  </a:lnTo>
                  <a:lnTo>
                    <a:pt x="23401" y="14577"/>
                  </a:lnTo>
                  <a:lnTo>
                    <a:pt x="13914" y="14577"/>
                  </a:lnTo>
                  <a:lnTo>
                    <a:pt x="13914" y="3992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5" name="Google Shape;7005;p45"/>
            <p:cNvSpPr/>
            <p:nvPr/>
          </p:nvSpPr>
          <p:spPr>
            <a:xfrm>
              <a:off x="6183124" y="2428510"/>
              <a:ext cx="37947" cy="53871"/>
            </a:xfrm>
            <a:custGeom>
              <a:avLst/>
              <a:gdLst/>
              <a:ahLst/>
              <a:cxnLst/>
              <a:rect l="l" t="t" r="r" b="b"/>
              <a:pathLst>
                <a:path w="37947" h="53871" extrusionOk="0">
                  <a:moveTo>
                    <a:pt x="37948" y="53871"/>
                  </a:moveTo>
                  <a:lnTo>
                    <a:pt x="0" y="53871"/>
                  </a:lnTo>
                  <a:lnTo>
                    <a:pt x="0" y="0"/>
                  </a:lnTo>
                  <a:lnTo>
                    <a:pt x="37948" y="0"/>
                  </a:lnTo>
                  <a:lnTo>
                    <a:pt x="37948" y="53871"/>
                  </a:lnTo>
                  <a:close/>
                  <a:moveTo>
                    <a:pt x="13914" y="39928"/>
                  </a:moveTo>
                  <a:lnTo>
                    <a:pt x="23401" y="39928"/>
                  </a:lnTo>
                  <a:lnTo>
                    <a:pt x="23401" y="14577"/>
                  </a:lnTo>
                  <a:lnTo>
                    <a:pt x="13914" y="14577"/>
                  </a:lnTo>
                  <a:lnTo>
                    <a:pt x="13914" y="3992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6" name="Google Shape;7006;p45"/>
            <p:cNvSpPr/>
            <p:nvPr/>
          </p:nvSpPr>
          <p:spPr>
            <a:xfrm>
              <a:off x="6133160" y="2380977"/>
              <a:ext cx="37947" cy="101404"/>
            </a:xfrm>
            <a:custGeom>
              <a:avLst/>
              <a:gdLst/>
              <a:ahLst/>
              <a:cxnLst/>
              <a:rect l="l" t="t" r="r" b="b"/>
              <a:pathLst>
                <a:path w="37947" h="101404" extrusionOk="0">
                  <a:moveTo>
                    <a:pt x="37948" y="101405"/>
                  </a:moveTo>
                  <a:lnTo>
                    <a:pt x="0" y="101405"/>
                  </a:lnTo>
                  <a:lnTo>
                    <a:pt x="0" y="0"/>
                  </a:lnTo>
                  <a:lnTo>
                    <a:pt x="37948" y="0"/>
                  </a:lnTo>
                  <a:lnTo>
                    <a:pt x="37948" y="101405"/>
                  </a:lnTo>
                  <a:close/>
                  <a:moveTo>
                    <a:pt x="13914" y="87461"/>
                  </a:moveTo>
                  <a:lnTo>
                    <a:pt x="23401" y="87461"/>
                  </a:lnTo>
                  <a:lnTo>
                    <a:pt x="23401" y="14577"/>
                  </a:lnTo>
                  <a:lnTo>
                    <a:pt x="13914" y="14577"/>
                  </a:lnTo>
                  <a:lnTo>
                    <a:pt x="13914" y="8746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7007" name="Google Shape;7007;p45" descr="Configuration&#10;"/>
          <p:cNvGrpSpPr/>
          <p:nvPr/>
        </p:nvGrpSpPr>
        <p:grpSpPr>
          <a:xfrm>
            <a:off x="1679563" y="2420438"/>
            <a:ext cx="590149" cy="541436"/>
            <a:chOff x="8447481" y="4476571"/>
            <a:chExt cx="590149" cy="541436"/>
          </a:xfrm>
        </p:grpSpPr>
        <p:sp>
          <p:nvSpPr>
            <p:cNvPr id="7008" name="Google Shape;7008;p45"/>
            <p:cNvSpPr/>
            <p:nvPr/>
          </p:nvSpPr>
          <p:spPr>
            <a:xfrm>
              <a:off x="8898907" y="4518010"/>
              <a:ext cx="15899" cy="15874"/>
            </a:xfrm>
            <a:custGeom>
              <a:avLst/>
              <a:gdLst/>
              <a:ahLst/>
              <a:cxnLst/>
              <a:rect l="l" t="t" r="r" b="b"/>
              <a:pathLst>
                <a:path w="15899" h="15874" extrusionOk="0">
                  <a:moveTo>
                    <a:pt x="7677" y="15855"/>
                  </a:moveTo>
                  <a:cubicBezTo>
                    <a:pt x="3741" y="16148"/>
                    <a:pt x="313" y="13188"/>
                    <a:pt x="20" y="9244"/>
                  </a:cubicBezTo>
                  <a:cubicBezTo>
                    <a:pt x="-8" y="8871"/>
                    <a:pt x="-7" y="8496"/>
                    <a:pt x="24" y="8123"/>
                  </a:cubicBezTo>
                  <a:cubicBezTo>
                    <a:pt x="-261" y="3932"/>
                    <a:pt x="2898" y="303"/>
                    <a:pt x="7080" y="17"/>
                  </a:cubicBezTo>
                  <a:cubicBezTo>
                    <a:pt x="7384" y="-3"/>
                    <a:pt x="7689" y="-6"/>
                    <a:pt x="7993" y="10"/>
                  </a:cubicBezTo>
                  <a:cubicBezTo>
                    <a:pt x="12359" y="10"/>
                    <a:pt x="15899" y="3557"/>
                    <a:pt x="15899" y="7933"/>
                  </a:cubicBezTo>
                  <a:cubicBezTo>
                    <a:pt x="15899" y="12308"/>
                    <a:pt x="12359" y="15855"/>
                    <a:pt x="7993" y="158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9" name="Google Shape;7009;p45"/>
            <p:cNvSpPr/>
            <p:nvPr/>
          </p:nvSpPr>
          <p:spPr>
            <a:xfrm>
              <a:off x="8867284" y="4518010"/>
              <a:ext cx="15899" cy="15874"/>
            </a:xfrm>
            <a:custGeom>
              <a:avLst/>
              <a:gdLst/>
              <a:ahLst/>
              <a:cxnLst/>
              <a:rect l="l" t="t" r="r" b="b"/>
              <a:pathLst>
                <a:path w="15899" h="15874" extrusionOk="0">
                  <a:moveTo>
                    <a:pt x="7677" y="15855"/>
                  </a:moveTo>
                  <a:cubicBezTo>
                    <a:pt x="3741" y="16148"/>
                    <a:pt x="313" y="13188"/>
                    <a:pt x="20" y="9244"/>
                  </a:cubicBezTo>
                  <a:cubicBezTo>
                    <a:pt x="-8" y="8871"/>
                    <a:pt x="-7" y="8496"/>
                    <a:pt x="24" y="8123"/>
                  </a:cubicBezTo>
                  <a:cubicBezTo>
                    <a:pt x="-261" y="3932"/>
                    <a:pt x="2898" y="303"/>
                    <a:pt x="7080" y="17"/>
                  </a:cubicBezTo>
                  <a:cubicBezTo>
                    <a:pt x="7384" y="-3"/>
                    <a:pt x="7689" y="-6"/>
                    <a:pt x="7993" y="10"/>
                  </a:cubicBezTo>
                  <a:cubicBezTo>
                    <a:pt x="12359" y="10"/>
                    <a:pt x="15899" y="3557"/>
                    <a:pt x="15899" y="7933"/>
                  </a:cubicBezTo>
                  <a:cubicBezTo>
                    <a:pt x="15899" y="12308"/>
                    <a:pt x="12359" y="15855"/>
                    <a:pt x="7993" y="158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10" name="Google Shape;7010;p45"/>
            <p:cNvSpPr/>
            <p:nvPr/>
          </p:nvSpPr>
          <p:spPr>
            <a:xfrm>
              <a:off x="8835661" y="4518010"/>
              <a:ext cx="15899" cy="15874"/>
            </a:xfrm>
            <a:custGeom>
              <a:avLst/>
              <a:gdLst/>
              <a:ahLst/>
              <a:cxnLst/>
              <a:rect l="l" t="t" r="r" b="b"/>
              <a:pathLst>
                <a:path w="15899" h="15874" extrusionOk="0">
                  <a:moveTo>
                    <a:pt x="7677" y="15855"/>
                  </a:moveTo>
                  <a:cubicBezTo>
                    <a:pt x="3741" y="16148"/>
                    <a:pt x="313" y="13188"/>
                    <a:pt x="20" y="9244"/>
                  </a:cubicBezTo>
                  <a:cubicBezTo>
                    <a:pt x="-8" y="8871"/>
                    <a:pt x="-7" y="8496"/>
                    <a:pt x="24" y="8123"/>
                  </a:cubicBezTo>
                  <a:cubicBezTo>
                    <a:pt x="-261" y="3932"/>
                    <a:pt x="2898" y="303"/>
                    <a:pt x="7080" y="17"/>
                  </a:cubicBezTo>
                  <a:cubicBezTo>
                    <a:pt x="7384" y="-3"/>
                    <a:pt x="7689" y="-6"/>
                    <a:pt x="7993" y="10"/>
                  </a:cubicBezTo>
                  <a:cubicBezTo>
                    <a:pt x="12359" y="10"/>
                    <a:pt x="15899" y="3557"/>
                    <a:pt x="15899" y="7933"/>
                  </a:cubicBezTo>
                  <a:cubicBezTo>
                    <a:pt x="15899" y="12308"/>
                    <a:pt x="12359" y="15855"/>
                    <a:pt x="7993" y="158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11" name="Google Shape;7011;p45"/>
            <p:cNvSpPr/>
            <p:nvPr/>
          </p:nvSpPr>
          <p:spPr>
            <a:xfrm rot="-2646599">
              <a:off x="8561077" y="4709907"/>
              <a:ext cx="63878" cy="15844"/>
            </a:xfrm>
            <a:custGeom>
              <a:avLst/>
              <a:gdLst/>
              <a:ahLst/>
              <a:cxnLst/>
              <a:rect l="l" t="t" r="r" b="b"/>
              <a:pathLst>
                <a:path w="63878" h="15844" extrusionOk="0">
                  <a:moveTo>
                    <a:pt x="0" y="0"/>
                  </a:moveTo>
                  <a:lnTo>
                    <a:pt x="63878" y="0"/>
                  </a:lnTo>
                  <a:lnTo>
                    <a:pt x="63878" y="15844"/>
                  </a:lnTo>
                  <a:lnTo>
                    <a:pt x="0" y="15844"/>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12" name="Google Shape;7012;p45"/>
            <p:cNvSpPr/>
            <p:nvPr/>
          </p:nvSpPr>
          <p:spPr>
            <a:xfrm>
              <a:off x="8588773" y="4665437"/>
              <a:ext cx="58123" cy="57737"/>
            </a:xfrm>
            <a:custGeom>
              <a:avLst/>
              <a:gdLst/>
              <a:ahLst/>
              <a:cxnLst/>
              <a:rect l="l" t="t" r="r" b="b"/>
              <a:pathLst>
                <a:path w="58123" h="57737" extrusionOk="0">
                  <a:moveTo>
                    <a:pt x="41742" y="57737"/>
                  </a:moveTo>
                  <a:lnTo>
                    <a:pt x="58123" y="0"/>
                  </a:lnTo>
                  <a:lnTo>
                    <a:pt x="0" y="14640"/>
                  </a:lnTo>
                  <a:lnTo>
                    <a:pt x="41742" y="5773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13" name="Google Shape;7013;p45"/>
            <p:cNvSpPr/>
            <p:nvPr/>
          </p:nvSpPr>
          <p:spPr>
            <a:xfrm>
              <a:off x="8447481" y="4476571"/>
              <a:ext cx="506157" cy="380266"/>
            </a:xfrm>
            <a:custGeom>
              <a:avLst/>
              <a:gdLst/>
              <a:ahLst/>
              <a:cxnLst/>
              <a:rect l="l" t="t" r="r" b="b"/>
              <a:pathLst>
                <a:path w="506157" h="380266" extrusionOk="0">
                  <a:moveTo>
                    <a:pt x="0" y="0"/>
                  </a:moveTo>
                  <a:lnTo>
                    <a:pt x="0" y="380267"/>
                  </a:lnTo>
                  <a:lnTo>
                    <a:pt x="374480" y="380267"/>
                  </a:lnTo>
                  <a:lnTo>
                    <a:pt x="374480" y="364423"/>
                  </a:lnTo>
                  <a:lnTo>
                    <a:pt x="16001" y="364423"/>
                  </a:lnTo>
                  <a:lnTo>
                    <a:pt x="16001" y="15844"/>
                  </a:lnTo>
                  <a:lnTo>
                    <a:pt x="490346" y="15844"/>
                  </a:lnTo>
                  <a:lnTo>
                    <a:pt x="490346" y="84926"/>
                  </a:lnTo>
                  <a:lnTo>
                    <a:pt x="45031" y="84926"/>
                  </a:lnTo>
                  <a:lnTo>
                    <a:pt x="45031" y="100771"/>
                  </a:lnTo>
                  <a:lnTo>
                    <a:pt x="490346" y="100771"/>
                  </a:lnTo>
                  <a:lnTo>
                    <a:pt x="490346" y="261497"/>
                  </a:lnTo>
                  <a:cubicBezTo>
                    <a:pt x="495532" y="261497"/>
                    <a:pt x="500845" y="261497"/>
                    <a:pt x="506158" y="261497"/>
                  </a:cubicBezTo>
                  <a:lnTo>
                    <a:pt x="506158"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14" name="Google Shape;7014;p45"/>
            <p:cNvSpPr/>
            <p:nvPr/>
          </p:nvSpPr>
          <p:spPr>
            <a:xfrm>
              <a:off x="8847892" y="4764243"/>
              <a:ext cx="189738" cy="253764"/>
            </a:xfrm>
            <a:custGeom>
              <a:avLst/>
              <a:gdLst/>
              <a:ahLst/>
              <a:cxnLst/>
              <a:rect l="l" t="t" r="r" b="b"/>
              <a:pathLst>
                <a:path w="189738" h="253764" extrusionOk="0">
                  <a:moveTo>
                    <a:pt x="188979" y="37646"/>
                  </a:moveTo>
                  <a:cubicBezTo>
                    <a:pt x="189453" y="36172"/>
                    <a:pt x="189713" y="34633"/>
                    <a:pt x="189738" y="33083"/>
                  </a:cubicBezTo>
                  <a:cubicBezTo>
                    <a:pt x="189738" y="10331"/>
                    <a:pt x="140849" y="0"/>
                    <a:pt x="95502" y="0"/>
                  </a:cubicBezTo>
                  <a:cubicBezTo>
                    <a:pt x="50154" y="0"/>
                    <a:pt x="1202" y="10331"/>
                    <a:pt x="1202" y="33210"/>
                  </a:cubicBezTo>
                  <a:cubicBezTo>
                    <a:pt x="1202" y="56089"/>
                    <a:pt x="50091" y="66293"/>
                    <a:pt x="95502" y="66293"/>
                  </a:cubicBezTo>
                  <a:cubicBezTo>
                    <a:pt x="124531" y="66293"/>
                    <a:pt x="155016" y="61984"/>
                    <a:pt x="173168" y="52984"/>
                  </a:cubicBezTo>
                  <a:lnTo>
                    <a:pt x="173168" y="95193"/>
                  </a:lnTo>
                  <a:cubicBezTo>
                    <a:pt x="166084" y="101531"/>
                    <a:pt x="138193" y="111165"/>
                    <a:pt x="94300" y="111165"/>
                  </a:cubicBezTo>
                  <a:cubicBezTo>
                    <a:pt x="42691" y="111165"/>
                    <a:pt x="17013" y="98489"/>
                    <a:pt x="16001" y="93926"/>
                  </a:cubicBezTo>
                  <a:lnTo>
                    <a:pt x="16001" y="74279"/>
                  </a:lnTo>
                  <a:cubicBezTo>
                    <a:pt x="9763" y="72537"/>
                    <a:pt x="4189" y="68960"/>
                    <a:pt x="0" y="64012"/>
                  </a:cubicBezTo>
                  <a:lnTo>
                    <a:pt x="0" y="93926"/>
                  </a:lnTo>
                  <a:cubicBezTo>
                    <a:pt x="0" y="116679"/>
                    <a:pt x="48889" y="127009"/>
                    <a:pt x="94300" y="127009"/>
                  </a:cubicBezTo>
                  <a:cubicBezTo>
                    <a:pt x="119598" y="127009"/>
                    <a:pt x="152992" y="123206"/>
                    <a:pt x="173168" y="113573"/>
                  </a:cubicBezTo>
                  <a:lnTo>
                    <a:pt x="173168" y="160409"/>
                  </a:lnTo>
                  <a:cubicBezTo>
                    <a:pt x="166084" y="166747"/>
                    <a:pt x="138193" y="176317"/>
                    <a:pt x="94300" y="176317"/>
                  </a:cubicBezTo>
                  <a:cubicBezTo>
                    <a:pt x="42691" y="176317"/>
                    <a:pt x="17013" y="163642"/>
                    <a:pt x="16001" y="159142"/>
                  </a:cubicBezTo>
                  <a:lnTo>
                    <a:pt x="16001" y="137213"/>
                  </a:lnTo>
                  <a:cubicBezTo>
                    <a:pt x="9783" y="135601"/>
                    <a:pt x="4201" y="132131"/>
                    <a:pt x="0" y="127263"/>
                  </a:cubicBezTo>
                  <a:lnTo>
                    <a:pt x="0" y="158952"/>
                  </a:lnTo>
                  <a:cubicBezTo>
                    <a:pt x="0" y="181641"/>
                    <a:pt x="48889" y="192035"/>
                    <a:pt x="94300" y="192035"/>
                  </a:cubicBezTo>
                  <a:cubicBezTo>
                    <a:pt x="119598" y="192035"/>
                    <a:pt x="152992" y="188169"/>
                    <a:pt x="173168" y="178599"/>
                  </a:cubicBezTo>
                  <a:lnTo>
                    <a:pt x="173168" y="219414"/>
                  </a:lnTo>
                  <a:lnTo>
                    <a:pt x="173168" y="219414"/>
                  </a:lnTo>
                  <a:cubicBezTo>
                    <a:pt x="171839" y="226322"/>
                    <a:pt x="144391" y="237603"/>
                    <a:pt x="94553" y="237603"/>
                  </a:cubicBezTo>
                  <a:cubicBezTo>
                    <a:pt x="42944" y="237603"/>
                    <a:pt x="17266" y="224928"/>
                    <a:pt x="16254" y="220365"/>
                  </a:cubicBezTo>
                  <a:lnTo>
                    <a:pt x="16254" y="200971"/>
                  </a:lnTo>
                  <a:cubicBezTo>
                    <a:pt x="9997" y="199647"/>
                    <a:pt x="4311" y="196389"/>
                    <a:pt x="0" y="191655"/>
                  </a:cubicBezTo>
                  <a:lnTo>
                    <a:pt x="0" y="220682"/>
                  </a:lnTo>
                  <a:cubicBezTo>
                    <a:pt x="0" y="243434"/>
                    <a:pt x="48889" y="253765"/>
                    <a:pt x="94300" y="253765"/>
                  </a:cubicBezTo>
                  <a:cubicBezTo>
                    <a:pt x="123456" y="253765"/>
                    <a:pt x="163238" y="248695"/>
                    <a:pt x="181263" y="235639"/>
                  </a:cubicBezTo>
                  <a:cubicBezTo>
                    <a:pt x="184236" y="233484"/>
                    <a:pt x="189928" y="227463"/>
                    <a:pt x="188979" y="224041"/>
                  </a:cubicBezTo>
                  <a:close/>
                  <a:moveTo>
                    <a:pt x="95502" y="50322"/>
                  </a:moveTo>
                  <a:cubicBezTo>
                    <a:pt x="43956" y="50322"/>
                    <a:pt x="18152" y="37646"/>
                    <a:pt x="17013" y="33147"/>
                  </a:cubicBezTo>
                  <a:cubicBezTo>
                    <a:pt x="18152" y="28393"/>
                    <a:pt x="43956" y="15844"/>
                    <a:pt x="95502" y="15844"/>
                  </a:cubicBezTo>
                  <a:cubicBezTo>
                    <a:pt x="147047" y="15844"/>
                    <a:pt x="172535" y="28520"/>
                    <a:pt x="173863" y="33083"/>
                  </a:cubicBezTo>
                  <a:cubicBezTo>
                    <a:pt x="172535" y="37900"/>
                    <a:pt x="146731" y="50322"/>
                    <a:pt x="95502" y="5032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837"/>
                                        </p:tgtEl>
                                        <p:attrNameLst>
                                          <p:attrName>style.visibility</p:attrName>
                                        </p:attrNameLst>
                                      </p:cBhvr>
                                      <p:to>
                                        <p:strVal val="visible"/>
                                      </p:to>
                                    </p:set>
                                    <p:animEffect transition="in" filter="fade">
                                      <p:cBhvr>
                                        <p:cTn id="7" dur="500"/>
                                        <p:tgtEl>
                                          <p:spTgt spid="6837"/>
                                        </p:tgtEl>
                                      </p:cBhvr>
                                    </p:animEffect>
                                  </p:childTnLst>
                                </p:cTn>
                              </p:par>
                              <p:par>
                                <p:cTn id="8" presetID="10" presetClass="entr" presetSubtype="0" fill="hold" nodeType="withEffect">
                                  <p:stCondLst>
                                    <p:cond delay="0"/>
                                  </p:stCondLst>
                                  <p:childTnLst>
                                    <p:set>
                                      <p:cBhvr>
                                        <p:cTn id="9" dur="1" fill="hold">
                                          <p:stCondLst>
                                            <p:cond delay="0"/>
                                          </p:stCondLst>
                                        </p:cTn>
                                        <p:tgtEl>
                                          <p:spTgt spid="6823"/>
                                        </p:tgtEl>
                                        <p:attrNameLst>
                                          <p:attrName>style.visibility</p:attrName>
                                        </p:attrNameLst>
                                      </p:cBhvr>
                                      <p:to>
                                        <p:strVal val="visible"/>
                                      </p:to>
                                    </p:set>
                                    <p:animEffect transition="in" filter="fade">
                                      <p:cBhvr>
                                        <p:cTn id="10" dur="500"/>
                                        <p:tgtEl>
                                          <p:spTgt spid="6823"/>
                                        </p:tgtEl>
                                      </p:cBhvr>
                                    </p:animEffect>
                                  </p:childTnLst>
                                </p:cTn>
                              </p:par>
                              <p:par>
                                <p:cTn id="11" presetID="10" presetClass="entr" presetSubtype="0" fill="hold" nodeType="withEffect">
                                  <p:stCondLst>
                                    <p:cond delay="0"/>
                                  </p:stCondLst>
                                  <p:childTnLst>
                                    <p:set>
                                      <p:cBhvr>
                                        <p:cTn id="12" dur="1" fill="hold">
                                          <p:stCondLst>
                                            <p:cond delay="0"/>
                                          </p:stCondLst>
                                        </p:cTn>
                                        <p:tgtEl>
                                          <p:spTgt spid="6803"/>
                                        </p:tgtEl>
                                        <p:attrNameLst>
                                          <p:attrName>style.visibility</p:attrName>
                                        </p:attrNameLst>
                                      </p:cBhvr>
                                      <p:to>
                                        <p:strVal val="visible"/>
                                      </p:to>
                                    </p:set>
                                    <p:animEffect transition="in" filter="fade">
                                      <p:cBhvr>
                                        <p:cTn id="13" dur="500"/>
                                        <p:tgtEl>
                                          <p:spTgt spid="6803"/>
                                        </p:tgtEl>
                                      </p:cBhvr>
                                    </p:animEffect>
                                  </p:childTnLst>
                                </p:cTn>
                              </p:par>
                              <p:par>
                                <p:cTn id="14" presetID="10" presetClass="entr" presetSubtype="0" fill="hold" nodeType="withEffect">
                                  <p:stCondLst>
                                    <p:cond delay="0"/>
                                  </p:stCondLst>
                                  <p:childTnLst>
                                    <p:set>
                                      <p:cBhvr>
                                        <p:cTn id="15" dur="1" fill="hold">
                                          <p:stCondLst>
                                            <p:cond delay="0"/>
                                          </p:stCondLst>
                                        </p:cTn>
                                        <p:tgtEl>
                                          <p:spTgt spid="6796"/>
                                        </p:tgtEl>
                                        <p:attrNameLst>
                                          <p:attrName>style.visibility</p:attrName>
                                        </p:attrNameLst>
                                      </p:cBhvr>
                                      <p:to>
                                        <p:strVal val="visible"/>
                                      </p:to>
                                    </p:set>
                                    <p:animEffect transition="in" filter="fade">
                                      <p:cBhvr>
                                        <p:cTn id="16" dur="500"/>
                                        <p:tgtEl>
                                          <p:spTgt spid="6796"/>
                                        </p:tgtEl>
                                      </p:cBhvr>
                                    </p:animEffect>
                                  </p:childTnLst>
                                </p:cTn>
                              </p:par>
                              <p:par>
                                <p:cTn id="17" presetID="10" presetClass="entr" presetSubtype="0" fill="hold" nodeType="withEffect">
                                  <p:stCondLst>
                                    <p:cond delay="0"/>
                                  </p:stCondLst>
                                  <p:childTnLst>
                                    <p:set>
                                      <p:cBhvr>
                                        <p:cTn id="18" dur="1" fill="hold">
                                          <p:stCondLst>
                                            <p:cond delay="0"/>
                                          </p:stCondLst>
                                        </p:cTn>
                                        <p:tgtEl>
                                          <p:spTgt spid="6802"/>
                                        </p:tgtEl>
                                        <p:attrNameLst>
                                          <p:attrName>style.visibility</p:attrName>
                                        </p:attrNameLst>
                                      </p:cBhvr>
                                      <p:to>
                                        <p:strVal val="visible"/>
                                      </p:to>
                                    </p:set>
                                    <p:animEffect transition="in" filter="fade">
                                      <p:cBhvr>
                                        <p:cTn id="19" dur="500"/>
                                        <p:tgtEl>
                                          <p:spTgt spid="6802"/>
                                        </p:tgtEl>
                                      </p:cBhvr>
                                    </p:animEffect>
                                  </p:childTnLst>
                                </p:cTn>
                              </p:par>
                              <p:par>
                                <p:cTn id="20" presetID="10" presetClass="entr" presetSubtype="0" fill="hold" nodeType="withEffect">
                                  <p:stCondLst>
                                    <p:cond delay="0"/>
                                  </p:stCondLst>
                                  <p:childTnLst>
                                    <p:set>
                                      <p:cBhvr>
                                        <p:cTn id="21" dur="1" fill="hold">
                                          <p:stCondLst>
                                            <p:cond delay="0"/>
                                          </p:stCondLst>
                                        </p:cTn>
                                        <p:tgtEl>
                                          <p:spTgt spid="6801"/>
                                        </p:tgtEl>
                                        <p:attrNameLst>
                                          <p:attrName>style.visibility</p:attrName>
                                        </p:attrNameLst>
                                      </p:cBhvr>
                                      <p:to>
                                        <p:strVal val="visible"/>
                                      </p:to>
                                    </p:set>
                                    <p:animEffect transition="in" filter="fade">
                                      <p:cBhvr>
                                        <p:cTn id="22" dur="500"/>
                                        <p:tgtEl>
                                          <p:spTgt spid="6801"/>
                                        </p:tgtEl>
                                      </p:cBhvr>
                                    </p:animEffect>
                                  </p:childTnLst>
                                </p:cTn>
                              </p:par>
                              <p:par>
                                <p:cTn id="23" presetID="10" presetClass="entr" presetSubtype="0" fill="hold" nodeType="withEffect">
                                  <p:stCondLst>
                                    <p:cond delay="0"/>
                                  </p:stCondLst>
                                  <p:childTnLst>
                                    <p:set>
                                      <p:cBhvr>
                                        <p:cTn id="24" dur="1" fill="hold">
                                          <p:stCondLst>
                                            <p:cond delay="0"/>
                                          </p:stCondLst>
                                        </p:cTn>
                                        <p:tgtEl>
                                          <p:spTgt spid="6853"/>
                                        </p:tgtEl>
                                        <p:attrNameLst>
                                          <p:attrName>style.visibility</p:attrName>
                                        </p:attrNameLst>
                                      </p:cBhvr>
                                      <p:to>
                                        <p:strVal val="visible"/>
                                      </p:to>
                                    </p:set>
                                    <p:animEffect transition="in" filter="fade">
                                      <p:cBhvr>
                                        <p:cTn id="25" dur="500"/>
                                        <p:tgtEl>
                                          <p:spTgt spid="6853"/>
                                        </p:tgtEl>
                                      </p:cBhvr>
                                    </p:animEffect>
                                  </p:childTnLst>
                                </p:cTn>
                              </p:par>
                              <p:par>
                                <p:cTn id="26" presetID="10" presetClass="entr" presetSubtype="0" fill="hold" nodeType="withEffect">
                                  <p:stCondLst>
                                    <p:cond delay="0"/>
                                  </p:stCondLst>
                                  <p:childTnLst>
                                    <p:set>
                                      <p:cBhvr>
                                        <p:cTn id="27" dur="1" fill="hold">
                                          <p:stCondLst>
                                            <p:cond delay="0"/>
                                          </p:stCondLst>
                                        </p:cTn>
                                        <p:tgtEl>
                                          <p:spTgt spid="6892"/>
                                        </p:tgtEl>
                                        <p:attrNameLst>
                                          <p:attrName>style.visibility</p:attrName>
                                        </p:attrNameLst>
                                      </p:cBhvr>
                                      <p:to>
                                        <p:strVal val="visible"/>
                                      </p:to>
                                    </p:set>
                                    <p:animEffect transition="in" filter="fade">
                                      <p:cBhvr>
                                        <p:cTn id="28" dur="500"/>
                                        <p:tgtEl>
                                          <p:spTgt spid="6892"/>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6792"/>
                                        </p:tgtEl>
                                        <p:attrNameLst>
                                          <p:attrName>style.visibility</p:attrName>
                                        </p:attrNameLst>
                                      </p:cBhvr>
                                      <p:to>
                                        <p:strVal val="visible"/>
                                      </p:to>
                                    </p:set>
                                    <p:animEffect transition="in" filter="fade">
                                      <p:cBhvr>
                                        <p:cTn id="32" dur="500"/>
                                        <p:tgtEl>
                                          <p:spTgt spid="6792"/>
                                        </p:tgtEl>
                                      </p:cBhvr>
                                    </p:animEffect>
                                  </p:childTnLst>
                                </p:cTn>
                              </p:par>
                              <p:par>
                                <p:cTn id="33" presetID="10" presetClass="entr" presetSubtype="0" fill="hold" nodeType="withEffect">
                                  <p:stCondLst>
                                    <p:cond delay="0"/>
                                  </p:stCondLst>
                                  <p:childTnLst>
                                    <p:set>
                                      <p:cBhvr>
                                        <p:cTn id="34" dur="1" fill="hold">
                                          <p:stCondLst>
                                            <p:cond delay="0"/>
                                          </p:stCondLst>
                                        </p:cTn>
                                        <p:tgtEl>
                                          <p:spTgt spid="6877"/>
                                        </p:tgtEl>
                                        <p:attrNameLst>
                                          <p:attrName>style.visibility</p:attrName>
                                        </p:attrNameLst>
                                      </p:cBhvr>
                                      <p:to>
                                        <p:strVal val="visible"/>
                                      </p:to>
                                    </p:set>
                                    <p:animEffect transition="in" filter="fade">
                                      <p:cBhvr>
                                        <p:cTn id="35" dur="500"/>
                                        <p:tgtEl>
                                          <p:spTgt spid="6877"/>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6927"/>
                                        </p:tgtEl>
                                        <p:attrNameLst>
                                          <p:attrName>style.visibility</p:attrName>
                                        </p:attrNameLst>
                                      </p:cBhvr>
                                      <p:to>
                                        <p:strVal val="visible"/>
                                      </p:to>
                                    </p:set>
                                    <p:animEffect transition="in" filter="fade">
                                      <p:cBhvr>
                                        <p:cTn id="39" dur="500"/>
                                        <p:tgtEl>
                                          <p:spTgt spid="6927"/>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6926"/>
                                        </p:tgtEl>
                                        <p:attrNameLst>
                                          <p:attrName>style.visibility</p:attrName>
                                        </p:attrNameLst>
                                      </p:cBhvr>
                                      <p:to>
                                        <p:strVal val="visible"/>
                                      </p:to>
                                    </p:set>
                                    <p:animEffect transition="in" filter="fade">
                                      <p:cBhvr>
                                        <p:cTn id="43" dur="500"/>
                                        <p:tgtEl>
                                          <p:spTgt spid="6926"/>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6898"/>
                                        </p:tgtEl>
                                        <p:attrNameLst>
                                          <p:attrName>style.visibility</p:attrName>
                                        </p:attrNameLst>
                                      </p:cBhvr>
                                      <p:to>
                                        <p:strVal val="visible"/>
                                      </p:to>
                                    </p:set>
                                    <p:animEffect transition="in" filter="fade">
                                      <p:cBhvr>
                                        <p:cTn id="47" dur="500"/>
                                        <p:tgtEl>
                                          <p:spTgt spid="6898"/>
                                        </p:tgtEl>
                                      </p:cBhvr>
                                    </p:animEffect>
                                  </p:childTnLst>
                                </p:cTn>
                              </p:par>
                            </p:childTnLst>
                          </p:cTn>
                        </p:par>
                        <p:par>
                          <p:cTn id="48" fill="hold">
                            <p:stCondLst>
                              <p:cond delay="2500"/>
                            </p:stCondLst>
                            <p:childTnLst>
                              <p:par>
                                <p:cTn id="49" presetID="10" presetClass="entr" presetSubtype="0" fill="hold" nodeType="afterEffect">
                                  <p:stCondLst>
                                    <p:cond delay="250"/>
                                  </p:stCondLst>
                                  <p:childTnLst>
                                    <p:set>
                                      <p:cBhvr>
                                        <p:cTn id="50" dur="1" fill="hold">
                                          <p:stCondLst>
                                            <p:cond delay="0"/>
                                          </p:stCondLst>
                                        </p:cTn>
                                        <p:tgtEl>
                                          <p:spTgt spid="7007"/>
                                        </p:tgtEl>
                                        <p:attrNameLst>
                                          <p:attrName>style.visibility</p:attrName>
                                        </p:attrNameLst>
                                      </p:cBhvr>
                                      <p:to>
                                        <p:strVal val="visible"/>
                                      </p:to>
                                    </p:set>
                                    <p:animEffect transition="in" filter="fade">
                                      <p:cBhvr>
                                        <p:cTn id="51" dur="500"/>
                                        <p:tgtEl>
                                          <p:spTgt spid="7007"/>
                                        </p:tgtEl>
                                      </p:cBhvr>
                                    </p:animEffect>
                                  </p:childTnLst>
                                </p:cTn>
                              </p:par>
                              <p:par>
                                <p:cTn id="52" presetID="10" presetClass="entr" presetSubtype="0" fill="hold" nodeType="withEffect">
                                  <p:stCondLst>
                                    <p:cond delay="250"/>
                                  </p:stCondLst>
                                  <p:childTnLst>
                                    <p:set>
                                      <p:cBhvr>
                                        <p:cTn id="53" dur="1" fill="hold">
                                          <p:stCondLst>
                                            <p:cond delay="0"/>
                                          </p:stCondLst>
                                        </p:cTn>
                                        <p:tgtEl>
                                          <p:spTgt spid="6906"/>
                                        </p:tgtEl>
                                        <p:attrNameLst>
                                          <p:attrName>style.visibility</p:attrName>
                                        </p:attrNameLst>
                                      </p:cBhvr>
                                      <p:to>
                                        <p:strVal val="visible"/>
                                      </p:to>
                                    </p:set>
                                    <p:animEffect transition="in" filter="fade">
                                      <p:cBhvr>
                                        <p:cTn id="54" dur="500"/>
                                        <p:tgtEl>
                                          <p:spTgt spid="6906"/>
                                        </p:tgtEl>
                                      </p:cBhvr>
                                    </p:animEffect>
                                  </p:childTnLst>
                                </p:cTn>
                              </p:par>
                            </p:childTnLst>
                          </p:cTn>
                        </p:par>
                        <p:par>
                          <p:cTn id="55" fill="hold">
                            <p:stCondLst>
                              <p:cond delay="3000"/>
                            </p:stCondLst>
                            <p:childTnLst>
                              <p:par>
                                <p:cTn id="56" presetID="10" presetClass="entr" presetSubtype="0" fill="hold" nodeType="afterEffect">
                                  <p:stCondLst>
                                    <p:cond delay="500"/>
                                  </p:stCondLst>
                                  <p:childTnLst>
                                    <p:set>
                                      <p:cBhvr>
                                        <p:cTn id="57" dur="1" fill="hold">
                                          <p:stCondLst>
                                            <p:cond delay="0"/>
                                          </p:stCondLst>
                                        </p:cTn>
                                        <p:tgtEl>
                                          <p:spTgt spid="6917"/>
                                        </p:tgtEl>
                                        <p:attrNameLst>
                                          <p:attrName>style.visibility</p:attrName>
                                        </p:attrNameLst>
                                      </p:cBhvr>
                                      <p:to>
                                        <p:strVal val="visible"/>
                                      </p:to>
                                    </p:set>
                                    <p:animEffect transition="in" filter="fade">
                                      <p:cBhvr>
                                        <p:cTn id="58" dur="500"/>
                                        <p:tgtEl>
                                          <p:spTgt spid="6917"/>
                                        </p:tgtEl>
                                      </p:cBhvr>
                                    </p:animEffect>
                                  </p:childTnLst>
                                </p:cTn>
                              </p:par>
                            </p:childTnLst>
                          </p:cTn>
                        </p:par>
                        <p:par>
                          <p:cTn id="59" fill="hold">
                            <p:stCondLst>
                              <p:cond delay="3500"/>
                            </p:stCondLst>
                            <p:childTnLst>
                              <p:par>
                                <p:cTn id="60" presetID="10" presetClass="entr" presetSubtype="0" fill="hold" nodeType="afterEffect">
                                  <p:stCondLst>
                                    <p:cond delay="250"/>
                                  </p:stCondLst>
                                  <p:childTnLst>
                                    <p:set>
                                      <p:cBhvr>
                                        <p:cTn id="61" dur="1" fill="hold">
                                          <p:stCondLst>
                                            <p:cond delay="0"/>
                                          </p:stCondLst>
                                        </p:cTn>
                                        <p:tgtEl>
                                          <p:spTgt spid="6970"/>
                                        </p:tgtEl>
                                        <p:attrNameLst>
                                          <p:attrName>style.visibility</p:attrName>
                                        </p:attrNameLst>
                                      </p:cBhvr>
                                      <p:to>
                                        <p:strVal val="visible"/>
                                      </p:to>
                                    </p:set>
                                    <p:animEffect transition="in" filter="fade">
                                      <p:cBhvr>
                                        <p:cTn id="62" dur="500"/>
                                        <p:tgtEl>
                                          <p:spTgt spid="6970"/>
                                        </p:tgtEl>
                                      </p:cBhvr>
                                    </p:animEffect>
                                  </p:childTnLst>
                                </p:cTn>
                              </p:par>
                              <p:par>
                                <p:cTn id="63" presetID="10" presetClass="entr" presetSubtype="0" fill="hold" nodeType="withEffect">
                                  <p:stCondLst>
                                    <p:cond delay="250"/>
                                  </p:stCondLst>
                                  <p:childTnLst>
                                    <p:set>
                                      <p:cBhvr>
                                        <p:cTn id="64" dur="1" fill="hold">
                                          <p:stCondLst>
                                            <p:cond delay="0"/>
                                          </p:stCondLst>
                                        </p:cTn>
                                        <p:tgtEl>
                                          <p:spTgt spid="6916"/>
                                        </p:tgtEl>
                                        <p:attrNameLst>
                                          <p:attrName>style.visibility</p:attrName>
                                        </p:attrNameLst>
                                      </p:cBhvr>
                                      <p:to>
                                        <p:strVal val="visible"/>
                                      </p:to>
                                    </p:set>
                                    <p:animEffect transition="in" filter="fade">
                                      <p:cBhvr>
                                        <p:cTn id="65" dur="500"/>
                                        <p:tgtEl>
                                          <p:spTgt spid="6916"/>
                                        </p:tgtEl>
                                      </p:cBhvr>
                                    </p:animEffect>
                                  </p:childTnLst>
                                </p:cTn>
                              </p:par>
                            </p:childTnLst>
                          </p:cTn>
                        </p:par>
                        <p:par>
                          <p:cTn id="66" fill="hold">
                            <p:stCondLst>
                              <p:cond delay="4000"/>
                            </p:stCondLst>
                            <p:childTnLst>
                              <p:par>
                                <p:cTn id="67" presetID="10" presetClass="entr" presetSubtype="0" fill="hold" nodeType="afterEffect">
                                  <p:stCondLst>
                                    <p:cond delay="500"/>
                                  </p:stCondLst>
                                  <p:childTnLst>
                                    <p:set>
                                      <p:cBhvr>
                                        <p:cTn id="68" dur="1" fill="hold">
                                          <p:stCondLst>
                                            <p:cond delay="0"/>
                                          </p:stCondLst>
                                        </p:cTn>
                                        <p:tgtEl>
                                          <p:spTgt spid="6907"/>
                                        </p:tgtEl>
                                        <p:attrNameLst>
                                          <p:attrName>style.visibility</p:attrName>
                                        </p:attrNameLst>
                                      </p:cBhvr>
                                      <p:to>
                                        <p:strVal val="visible"/>
                                      </p:to>
                                    </p:set>
                                    <p:animEffect transition="in" filter="fade">
                                      <p:cBhvr>
                                        <p:cTn id="69" dur="500"/>
                                        <p:tgtEl>
                                          <p:spTgt spid="6907"/>
                                        </p:tgtEl>
                                      </p:cBhvr>
                                    </p:animEffect>
                                  </p:childTnLst>
                                </p:cTn>
                              </p:par>
                            </p:childTnLst>
                          </p:cTn>
                        </p:par>
                        <p:par>
                          <p:cTn id="70" fill="hold">
                            <p:stCondLst>
                              <p:cond delay="4500"/>
                            </p:stCondLst>
                            <p:childTnLst>
                              <p:par>
                                <p:cTn id="71" presetID="10" presetClass="entr" presetSubtype="0" fill="hold" nodeType="afterEffect">
                                  <p:stCondLst>
                                    <p:cond delay="250"/>
                                  </p:stCondLst>
                                  <p:childTnLst>
                                    <p:set>
                                      <p:cBhvr>
                                        <p:cTn id="72" dur="1" fill="hold">
                                          <p:stCondLst>
                                            <p:cond delay="0"/>
                                          </p:stCondLst>
                                        </p:cTn>
                                        <p:tgtEl>
                                          <p:spTgt spid="6928"/>
                                        </p:tgtEl>
                                        <p:attrNameLst>
                                          <p:attrName>style.visibility</p:attrName>
                                        </p:attrNameLst>
                                      </p:cBhvr>
                                      <p:to>
                                        <p:strVal val="visible"/>
                                      </p:to>
                                    </p:set>
                                    <p:animEffect transition="in" filter="fade">
                                      <p:cBhvr>
                                        <p:cTn id="73" dur="500"/>
                                        <p:tgtEl>
                                          <p:spTgt spid="6928"/>
                                        </p:tgtEl>
                                      </p:cBhvr>
                                    </p:animEffect>
                                  </p:childTnLst>
                                </p:cTn>
                              </p:par>
                              <p:par>
                                <p:cTn id="74" presetID="10" presetClass="entr" presetSubtype="0" fill="hold" nodeType="withEffect">
                                  <p:stCondLst>
                                    <p:cond delay="250"/>
                                  </p:stCondLst>
                                  <p:childTnLst>
                                    <p:set>
                                      <p:cBhvr>
                                        <p:cTn id="75" dur="1" fill="hold">
                                          <p:stCondLst>
                                            <p:cond delay="0"/>
                                          </p:stCondLst>
                                        </p:cTn>
                                        <p:tgtEl>
                                          <p:spTgt spid="6915"/>
                                        </p:tgtEl>
                                        <p:attrNameLst>
                                          <p:attrName>style.visibility</p:attrName>
                                        </p:attrNameLst>
                                      </p:cBhvr>
                                      <p:to>
                                        <p:strVal val="visible"/>
                                      </p:to>
                                    </p:set>
                                    <p:animEffect transition="in" filter="fade">
                                      <p:cBhvr>
                                        <p:cTn id="76" dur="500"/>
                                        <p:tgtEl>
                                          <p:spTgt spid="6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019"/>
        <p:cNvGrpSpPr/>
        <p:nvPr/>
      </p:nvGrpSpPr>
      <p:grpSpPr>
        <a:xfrm>
          <a:off x="0" y="0"/>
          <a:ext cx="0" cy="0"/>
          <a:chOff x="0" y="0"/>
          <a:chExt cx="0" cy="0"/>
        </a:xfrm>
      </p:grpSpPr>
      <p:sp>
        <p:nvSpPr>
          <p:cNvPr id="7020" name="Google Shape;7020;p46"/>
          <p:cNvSpPr/>
          <p:nvPr/>
        </p:nvSpPr>
        <p:spPr>
          <a:xfrm>
            <a:off x="568519" y="1596278"/>
            <a:ext cx="7184004" cy="45720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021" name="Google Shape;7021;p4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Improve Performance and Reduce Downtime for VCF</a:t>
            </a:r>
            <a:endParaRPr/>
          </a:p>
        </p:txBody>
      </p:sp>
      <p:sp>
        <p:nvSpPr>
          <p:cNvPr id="7022" name="Google Shape;7022;p46"/>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799"/>
              <a:buNone/>
            </a:pPr>
            <a:r>
              <a:rPr lang="en-US" sz="1999">
                <a:solidFill>
                  <a:srgbClr val="1B1E35"/>
                </a:solidFill>
              </a:rPr>
              <a:t>Integrated Infrastructure Operations: Logs</a:t>
            </a:r>
            <a:endParaRPr sz="1200">
              <a:solidFill>
                <a:srgbClr val="1B1E35"/>
              </a:solidFill>
            </a:endParaRPr>
          </a:p>
          <a:p>
            <a:pPr marL="0" lvl="0" indent="0" algn="l" rtl="0">
              <a:lnSpc>
                <a:spcPct val="100000"/>
              </a:lnSpc>
              <a:spcBef>
                <a:spcPts val="1200"/>
              </a:spcBef>
              <a:spcAft>
                <a:spcPts val="0"/>
              </a:spcAft>
              <a:buSzPts val="1800"/>
              <a:buNone/>
            </a:pPr>
            <a:endParaRPr/>
          </a:p>
        </p:txBody>
      </p:sp>
      <p:sp>
        <p:nvSpPr>
          <p:cNvPr id="7023" name="Google Shape;7023;p46"/>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137119" lvl="0" indent="0" algn="l" rtl="0">
              <a:lnSpc>
                <a:spcPct val="100000"/>
              </a:lnSpc>
              <a:spcBef>
                <a:spcPts val="0"/>
              </a:spcBef>
              <a:spcAft>
                <a:spcPts val="0"/>
              </a:spcAft>
              <a:buSzPts val="1440"/>
              <a:buNone/>
            </a:pPr>
            <a:r>
              <a:rPr lang="en-US" sz="1600"/>
              <a:t>Analyze logs with powerful queries and visualization charts</a:t>
            </a:r>
            <a:endParaRPr/>
          </a:p>
          <a:p>
            <a:pPr marL="137119" lvl="0" indent="0" algn="l" rtl="0">
              <a:lnSpc>
                <a:spcPct val="100000"/>
              </a:lnSpc>
              <a:spcBef>
                <a:spcPts val="0"/>
              </a:spcBef>
              <a:spcAft>
                <a:spcPts val="0"/>
              </a:spcAft>
              <a:buSzPts val="1440"/>
              <a:buNone/>
            </a:pPr>
            <a:endParaRPr/>
          </a:p>
          <a:p>
            <a:pPr marL="137119" lvl="0" indent="0" algn="l" rtl="0">
              <a:lnSpc>
                <a:spcPct val="100000"/>
              </a:lnSpc>
              <a:spcBef>
                <a:spcPts val="0"/>
              </a:spcBef>
              <a:spcAft>
                <a:spcPts val="0"/>
              </a:spcAft>
              <a:buSzPts val="1440"/>
              <a:buNone/>
            </a:pPr>
            <a:r>
              <a:rPr lang="en-US" sz="1600"/>
              <a:t>Accelerated troubleshooting with easy access to logs</a:t>
            </a:r>
            <a:endParaRPr/>
          </a:p>
          <a:p>
            <a:pPr marL="137119" lvl="0" indent="0" algn="l" rtl="0">
              <a:lnSpc>
                <a:spcPct val="100000"/>
              </a:lnSpc>
              <a:spcBef>
                <a:spcPts val="0"/>
              </a:spcBef>
              <a:spcAft>
                <a:spcPts val="0"/>
              </a:spcAft>
              <a:buSzPts val="1440"/>
              <a:buNone/>
            </a:pPr>
            <a:endParaRPr/>
          </a:p>
          <a:p>
            <a:pPr marL="137119" lvl="0" indent="0" algn="l" rtl="0">
              <a:lnSpc>
                <a:spcPct val="100000"/>
              </a:lnSpc>
              <a:spcBef>
                <a:spcPts val="0"/>
              </a:spcBef>
              <a:spcAft>
                <a:spcPts val="0"/>
              </a:spcAft>
              <a:buSzPts val="1440"/>
              <a:buNone/>
            </a:pPr>
            <a:r>
              <a:rPr lang="en-US" sz="1600"/>
              <a:t>Enhanced Log Analysis widget for creating Log-based dashboards</a:t>
            </a:r>
            <a:endParaRPr/>
          </a:p>
          <a:p>
            <a:pPr marL="137119" lvl="0" indent="0" algn="l" rtl="0">
              <a:lnSpc>
                <a:spcPct val="100000"/>
              </a:lnSpc>
              <a:spcBef>
                <a:spcPts val="0"/>
              </a:spcBef>
              <a:spcAft>
                <a:spcPts val="0"/>
              </a:spcAft>
              <a:buSzPts val="1440"/>
              <a:buNone/>
            </a:pPr>
            <a:endParaRPr/>
          </a:p>
          <a:p>
            <a:pPr marL="137119" lvl="0" indent="0" algn="l" rtl="0">
              <a:lnSpc>
                <a:spcPct val="100000"/>
              </a:lnSpc>
              <a:spcBef>
                <a:spcPts val="0"/>
              </a:spcBef>
              <a:spcAft>
                <a:spcPts val="0"/>
              </a:spcAft>
              <a:buSzPts val="1440"/>
              <a:buNone/>
            </a:pPr>
            <a:r>
              <a:rPr lang="en-US" sz="1600"/>
              <a:t>Trigger alerts based on log events and visualize through charts</a:t>
            </a:r>
            <a:endParaRPr/>
          </a:p>
          <a:p>
            <a:pPr marL="137119" lvl="0" indent="0" algn="l" rtl="0">
              <a:lnSpc>
                <a:spcPct val="100000"/>
              </a:lnSpc>
              <a:spcBef>
                <a:spcPts val="0"/>
              </a:spcBef>
              <a:spcAft>
                <a:spcPts val="0"/>
              </a:spcAft>
              <a:buSzPts val="1440"/>
              <a:buNone/>
            </a:pPr>
            <a:endParaRPr/>
          </a:p>
          <a:p>
            <a:pPr marL="137119" lvl="0" indent="0" algn="l" rtl="0">
              <a:lnSpc>
                <a:spcPct val="100000"/>
              </a:lnSpc>
              <a:spcBef>
                <a:spcPts val="0"/>
              </a:spcBef>
              <a:spcAft>
                <a:spcPts val="0"/>
              </a:spcAft>
              <a:buSzPts val="1440"/>
              <a:buNone/>
            </a:pPr>
            <a:r>
              <a:rPr lang="en-US" sz="1600"/>
              <a:t>Compare Logs to identify anomalies; issue resolution with a side-by-side comparison</a:t>
            </a:r>
            <a:endParaRPr/>
          </a:p>
          <a:p>
            <a:pPr marL="137119" lvl="0" indent="0" algn="l" rtl="0">
              <a:lnSpc>
                <a:spcPct val="100000"/>
              </a:lnSpc>
              <a:spcBef>
                <a:spcPts val="0"/>
              </a:spcBef>
              <a:spcAft>
                <a:spcPts val="0"/>
              </a:spcAft>
              <a:buSzPts val="1440"/>
              <a:buNone/>
            </a:pPr>
            <a:endParaRPr/>
          </a:p>
          <a:p>
            <a:pPr marL="137119" lvl="0" indent="0" algn="l" rtl="0">
              <a:lnSpc>
                <a:spcPct val="100000"/>
              </a:lnSpc>
              <a:spcBef>
                <a:spcPts val="0"/>
              </a:spcBef>
              <a:spcAft>
                <a:spcPts val="0"/>
              </a:spcAft>
              <a:buSzPts val="1440"/>
              <a:buNone/>
            </a:pPr>
            <a:r>
              <a:rPr lang="en-US" sz="1600"/>
              <a:t>Collect Logs and Events from all VCF Components</a:t>
            </a:r>
            <a:endParaRPr/>
          </a:p>
          <a:p>
            <a:pPr marL="137119" lvl="0" indent="0" algn="l" rtl="0">
              <a:lnSpc>
                <a:spcPct val="100000"/>
              </a:lnSpc>
              <a:spcBef>
                <a:spcPts val="0"/>
              </a:spcBef>
              <a:spcAft>
                <a:spcPts val="0"/>
              </a:spcAft>
              <a:buSzPts val="1440"/>
              <a:buNone/>
            </a:pPr>
            <a:endParaRPr/>
          </a:p>
          <a:p>
            <a:pPr marL="0" lvl="0" indent="0" algn="l" rtl="0">
              <a:lnSpc>
                <a:spcPct val="100000"/>
              </a:lnSpc>
              <a:spcBef>
                <a:spcPts val="0"/>
              </a:spcBef>
              <a:spcAft>
                <a:spcPts val="0"/>
              </a:spcAft>
              <a:buSzPts val="1440"/>
              <a:buNone/>
            </a:pPr>
            <a:endParaRPr/>
          </a:p>
        </p:txBody>
      </p:sp>
      <p:pic>
        <p:nvPicPr>
          <p:cNvPr id="7024" name="Google Shape;7024;p46" descr="A screenshot of a computer&#10;&#10;AI-generated content may be incorrect."/>
          <p:cNvPicPr preferRelativeResize="0"/>
          <p:nvPr/>
        </p:nvPicPr>
        <p:blipFill rotWithShape="1">
          <a:blip r:embed="rId3">
            <a:alphaModFix/>
          </a:blip>
          <a:srcRect/>
          <a:stretch/>
        </p:blipFill>
        <p:spPr>
          <a:xfrm>
            <a:off x="652359" y="1706694"/>
            <a:ext cx="6987490" cy="4367180"/>
          </a:xfrm>
          <a:prstGeom prst="rect">
            <a:avLst/>
          </a:prstGeom>
          <a:noFill/>
          <a:ln>
            <a:noFill/>
          </a:ln>
        </p:spPr>
      </p:pic>
      <p:pic>
        <p:nvPicPr>
          <p:cNvPr id="7025" name="Google Shape;7025;p46" descr="A screenshot of a computer&#10;&#10;AI-generated content may be incorrect."/>
          <p:cNvPicPr preferRelativeResize="0"/>
          <p:nvPr/>
        </p:nvPicPr>
        <p:blipFill rotWithShape="1">
          <a:blip r:embed="rId4">
            <a:alphaModFix/>
          </a:blip>
          <a:srcRect/>
          <a:stretch/>
        </p:blipFill>
        <p:spPr>
          <a:xfrm>
            <a:off x="652360" y="1706694"/>
            <a:ext cx="6999090" cy="4346098"/>
          </a:xfrm>
          <a:prstGeom prst="rect">
            <a:avLst/>
          </a:prstGeom>
          <a:noFill/>
          <a:ln>
            <a:noFill/>
          </a:ln>
        </p:spPr>
      </p:pic>
      <p:pic>
        <p:nvPicPr>
          <p:cNvPr id="7026" name="Google Shape;7026;p46"/>
          <p:cNvPicPr preferRelativeResize="0"/>
          <p:nvPr/>
        </p:nvPicPr>
        <p:blipFill rotWithShape="1">
          <a:blip r:embed="rId5">
            <a:alphaModFix/>
          </a:blip>
          <a:srcRect l="-280" r="279"/>
          <a:stretch/>
        </p:blipFill>
        <p:spPr>
          <a:xfrm>
            <a:off x="640758" y="1706694"/>
            <a:ext cx="6987490" cy="4367180"/>
          </a:xfrm>
          <a:prstGeom prst="rect">
            <a:avLst/>
          </a:prstGeom>
          <a:noFill/>
          <a:ln>
            <a:noFill/>
          </a:ln>
          <a:effectLst>
            <a:outerShdw blurRad="57150" dist="19050" dir="5400000" algn="bl" rotWithShape="0">
              <a:srgbClr val="000000">
                <a:alpha val="49019"/>
              </a:srgbClr>
            </a:outerShdw>
          </a:effectLst>
        </p:spPr>
      </p:pic>
      <p:pic>
        <p:nvPicPr>
          <p:cNvPr id="7027" name="Google Shape;7027;p46"/>
          <p:cNvPicPr preferRelativeResize="0"/>
          <p:nvPr/>
        </p:nvPicPr>
        <p:blipFill rotWithShape="1">
          <a:blip r:embed="rId6">
            <a:alphaModFix/>
          </a:blip>
          <a:srcRect t="-339" b="5580"/>
          <a:stretch/>
        </p:blipFill>
        <p:spPr>
          <a:xfrm>
            <a:off x="658157" y="1706694"/>
            <a:ext cx="6975891" cy="4409346"/>
          </a:xfrm>
          <a:prstGeom prst="rect">
            <a:avLst/>
          </a:prstGeom>
          <a:noFill/>
          <a:ln>
            <a:noFill/>
          </a:ln>
          <a:effectLst>
            <a:outerShdw blurRad="57150" dist="19050" dir="5400000" algn="bl" rotWithShape="0">
              <a:srgbClr val="000000">
                <a:alpha val="49019"/>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25"/>
                                        </p:tgtEl>
                                        <p:attrNameLst>
                                          <p:attrName>style.visibility</p:attrName>
                                        </p:attrNameLst>
                                      </p:cBhvr>
                                      <p:to>
                                        <p:strVal val="visible"/>
                                      </p:to>
                                    </p:set>
                                    <p:animEffect transition="in" filter="fade">
                                      <p:cBhvr>
                                        <p:cTn id="7" dur="500"/>
                                        <p:tgtEl>
                                          <p:spTgt spid="70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26"/>
                                        </p:tgtEl>
                                        <p:attrNameLst>
                                          <p:attrName>style.visibility</p:attrName>
                                        </p:attrNameLst>
                                      </p:cBhvr>
                                      <p:to>
                                        <p:strVal val="visible"/>
                                      </p:to>
                                    </p:set>
                                    <p:animEffect transition="in" filter="fade">
                                      <p:cBhvr>
                                        <p:cTn id="12" dur="500"/>
                                        <p:tgtEl>
                                          <p:spTgt spid="70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027"/>
                                        </p:tgtEl>
                                        <p:attrNameLst>
                                          <p:attrName>style.visibility</p:attrName>
                                        </p:attrNameLst>
                                      </p:cBhvr>
                                      <p:to>
                                        <p:strVal val="visible"/>
                                      </p:to>
                                    </p:set>
                                    <p:animEffect transition="in" filter="fade">
                                      <p:cBhvr>
                                        <p:cTn id="17" dur="500"/>
                                        <p:tgtEl>
                                          <p:spTgt spid="7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032"/>
        <p:cNvGrpSpPr/>
        <p:nvPr/>
      </p:nvGrpSpPr>
      <p:grpSpPr>
        <a:xfrm>
          <a:off x="0" y="0"/>
          <a:ext cx="0" cy="0"/>
          <a:chOff x="0" y="0"/>
          <a:chExt cx="0" cy="0"/>
        </a:xfrm>
      </p:grpSpPr>
      <p:sp>
        <p:nvSpPr>
          <p:cNvPr id="7033" name="Google Shape;7033;p4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Discover and Address Known Issues Impacting VCF Software</a:t>
            </a:r>
            <a:endParaRPr/>
          </a:p>
        </p:txBody>
      </p:sp>
      <p:sp>
        <p:nvSpPr>
          <p:cNvPr id="7034" name="Google Shape;7034;p4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solidFill>
                  <a:srgbClr val="1B1E35"/>
                </a:solidFill>
              </a:rPr>
              <a:t>Health and Diagnostic: Findings, Health Status &amp; Log Assist</a:t>
            </a:r>
            <a:endParaRPr sz="1200">
              <a:solidFill>
                <a:srgbClr val="1B1E35"/>
              </a:solidFill>
            </a:endParaRPr>
          </a:p>
          <a:p>
            <a:pPr marL="0" lvl="0" indent="0" algn="l" rtl="0">
              <a:lnSpc>
                <a:spcPct val="100000"/>
              </a:lnSpc>
              <a:spcBef>
                <a:spcPts val="1200"/>
              </a:spcBef>
              <a:spcAft>
                <a:spcPts val="0"/>
              </a:spcAft>
              <a:buSzPts val="1800"/>
              <a:buNone/>
            </a:pPr>
            <a:endParaRPr/>
          </a:p>
        </p:txBody>
      </p:sp>
      <p:sp>
        <p:nvSpPr>
          <p:cNvPr id="7035" name="Google Shape;7035;p47"/>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0" lvl="0" indent="0" algn="l" rtl="0">
              <a:lnSpc>
                <a:spcPct val="100000"/>
              </a:lnSpc>
              <a:spcBef>
                <a:spcPts val="0"/>
              </a:spcBef>
              <a:spcAft>
                <a:spcPts val="0"/>
              </a:spcAft>
              <a:buSzPts val="1440"/>
              <a:buNone/>
            </a:pPr>
            <a:r>
              <a:rPr lang="en-US" sz="1600" dirty="0"/>
              <a:t>Faster issue detection &amp; resolution</a:t>
            </a:r>
            <a:endParaRPr dirty="0"/>
          </a:p>
          <a:p>
            <a:pPr marL="0" lvl="0" indent="0" algn="l" rtl="0">
              <a:lnSpc>
                <a:spcPct val="100000"/>
              </a:lnSpc>
              <a:spcBef>
                <a:spcPts val="1200"/>
              </a:spcBef>
              <a:spcAft>
                <a:spcPts val="0"/>
              </a:spcAft>
              <a:buSzPts val="1440"/>
              <a:buNone/>
            </a:pPr>
            <a:r>
              <a:rPr lang="en-US" sz="1600" dirty="0"/>
              <a:t>Less reliance and fewer support requests</a:t>
            </a:r>
            <a:endParaRPr dirty="0"/>
          </a:p>
          <a:p>
            <a:pPr marL="0" lvl="0" indent="0" algn="l" rtl="0">
              <a:lnSpc>
                <a:spcPct val="100000"/>
              </a:lnSpc>
              <a:spcBef>
                <a:spcPts val="1200"/>
              </a:spcBef>
              <a:spcAft>
                <a:spcPts val="0"/>
              </a:spcAft>
              <a:buSzPts val="1440"/>
              <a:buNone/>
            </a:pPr>
            <a:r>
              <a:rPr lang="en-US" sz="1600" dirty="0"/>
              <a:t>Reduced turnaround time for issue resolution</a:t>
            </a:r>
            <a:endParaRPr sz="1600" dirty="0">
              <a:solidFill>
                <a:srgbClr val="000000"/>
              </a:solidFill>
              <a:latin typeface="Arial"/>
              <a:ea typeface="Arial"/>
              <a:cs typeface="Arial"/>
              <a:sym typeface="Arial"/>
            </a:endParaRPr>
          </a:p>
          <a:p>
            <a:pPr marL="0" lvl="0" indent="0" algn="l" rtl="0">
              <a:lnSpc>
                <a:spcPct val="100000"/>
              </a:lnSpc>
              <a:spcBef>
                <a:spcPts val="1200"/>
              </a:spcBef>
              <a:spcAft>
                <a:spcPts val="0"/>
              </a:spcAft>
              <a:buSzPts val="1440"/>
              <a:buNone/>
            </a:pPr>
            <a:r>
              <a:rPr lang="en-US" sz="1600" dirty="0"/>
              <a:t>Single console to diagnose known issues impacting VCF Health</a:t>
            </a:r>
            <a:endParaRPr dirty="0"/>
          </a:p>
          <a:p>
            <a:pPr marL="0" lvl="0" indent="0" algn="l" rtl="0">
              <a:lnSpc>
                <a:spcPct val="100000"/>
              </a:lnSpc>
              <a:spcBef>
                <a:spcPts val="1200"/>
              </a:spcBef>
              <a:spcAft>
                <a:spcPts val="0"/>
              </a:spcAft>
              <a:buSzPts val="1440"/>
              <a:buNone/>
            </a:pPr>
            <a:r>
              <a:rPr lang="en-US" sz="1600" dirty="0"/>
              <a:t>Understand impacted components with curated remediation steps</a:t>
            </a:r>
            <a:endParaRPr dirty="0"/>
          </a:p>
          <a:p>
            <a:pPr marL="0" lvl="0" indent="0" algn="l" rtl="0">
              <a:lnSpc>
                <a:spcPct val="100000"/>
              </a:lnSpc>
              <a:spcBef>
                <a:spcPts val="1200"/>
              </a:spcBef>
              <a:spcAft>
                <a:spcPts val="0"/>
              </a:spcAft>
              <a:buSzPts val="1440"/>
              <a:buNone/>
            </a:pPr>
            <a:r>
              <a:rPr lang="en-US" sz="1600" dirty="0"/>
              <a:t>View security risks </a:t>
            </a:r>
            <a:r>
              <a:rPr lang="en-US" dirty="0"/>
              <a:t>(</a:t>
            </a:r>
            <a:r>
              <a:rPr lang="en-US" sz="1600" dirty="0"/>
              <a:t>CVE &amp;VMSA)</a:t>
            </a:r>
            <a:endParaRPr dirty="0"/>
          </a:p>
          <a:p>
            <a:pPr marL="0" lvl="0" indent="0" algn="l" rtl="0">
              <a:lnSpc>
                <a:spcPct val="100000"/>
              </a:lnSpc>
              <a:spcBef>
                <a:spcPts val="1200"/>
              </a:spcBef>
              <a:spcAft>
                <a:spcPts val="0"/>
              </a:spcAft>
              <a:buSzPts val="1440"/>
              <a:buNone/>
            </a:pPr>
            <a:r>
              <a:rPr lang="en-US" sz="1600" dirty="0"/>
              <a:t>Generate and attach log bundles for VCF components</a:t>
            </a:r>
            <a:endParaRPr dirty="0"/>
          </a:p>
          <a:p>
            <a:pPr marL="0" lvl="0" indent="0" algn="l" rtl="0">
              <a:lnSpc>
                <a:spcPct val="100000"/>
              </a:lnSpc>
              <a:spcBef>
                <a:spcPts val="1200"/>
              </a:spcBef>
              <a:spcAft>
                <a:spcPts val="0"/>
              </a:spcAft>
              <a:buSzPts val="1440"/>
              <a:buNone/>
            </a:pPr>
            <a:endParaRPr dirty="0"/>
          </a:p>
        </p:txBody>
      </p:sp>
      <p:sp>
        <p:nvSpPr>
          <p:cNvPr id="7036" name="Google Shape;7036;p47"/>
          <p:cNvSpPr txBox="1"/>
          <p:nvPr/>
        </p:nvSpPr>
        <p:spPr>
          <a:xfrm>
            <a:off x="796338" y="1693442"/>
            <a:ext cx="7074349" cy="4370663"/>
          </a:xfrm>
          <a:prstGeom prst="rect">
            <a:avLst/>
          </a:prstGeom>
          <a:noFill/>
          <a:ln>
            <a:noFill/>
          </a:ln>
        </p:spPr>
        <p:txBody>
          <a:bodyPr spcFirstLastPara="1" wrap="square" lIns="594025" tIns="1370875" rIns="456950" bIns="456950" anchor="t" anchorCtr="0">
            <a:noAutofit/>
          </a:bodyPr>
          <a:lstStyle/>
          <a:p>
            <a:pPr marL="0" marR="0" lvl="0" indent="-114300" algn="l" rtl="0">
              <a:lnSpc>
                <a:spcPct val="100000"/>
              </a:lnSpc>
              <a:spcBef>
                <a:spcPts val="0"/>
              </a:spcBef>
              <a:spcAft>
                <a:spcPts val="1200"/>
              </a:spcAft>
              <a:buClr>
                <a:srgbClr val="666666"/>
              </a:buClr>
              <a:buSzPts val="1800"/>
              <a:buFont typeface="Arial"/>
              <a:buChar char="​"/>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p:txBody>
      </p:sp>
      <p:pic>
        <p:nvPicPr>
          <p:cNvPr id="7037" name="Google Shape;7037;p47"/>
          <p:cNvPicPr preferRelativeResize="0"/>
          <p:nvPr/>
        </p:nvPicPr>
        <p:blipFill rotWithShape="1">
          <a:blip r:embed="rId3">
            <a:alphaModFix/>
          </a:blip>
          <a:srcRect/>
          <a:stretch/>
        </p:blipFill>
        <p:spPr>
          <a:xfrm>
            <a:off x="703449" y="1693441"/>
            <a:ext cx="6203454" cy="4304157"/>
          </a:xfrm>
          <a:prstGeom prst="rect">
            <a:avLst/>
          </a:prstGeom>
          <a:noFill/>
          <a:ln>
            <a:noFill/>
          </a:ln>
        </p:spPr>
      </p:pic>
      <p:pic>
        <p:nvPicPr>
          <p:cNvPr id="7038" name="Google Shape;7038;p47"/>
          <p:cNvPicPr preferRelativeResize="0"/>
          <p:nvPr/>
        </p:nvPicPr>
        <p:blipFill rotWithShape="1">
          <a:blip r:embed="rId4">
            <a:alphaModFix/>
          </a:blip>
          <a:srcRect/>
          <a:stretch/>
        </p:blipFill>
        <p:spPr>
          <a:xfrm>
            <a:off x="703448" y="1688738"/>
            <a:ext cx="6945665" cy="3572540"/>
          </a:xfrm>
          <a:prstGeom prst="rect">
            <a:avLst/>
          </a:prstGeom>
          <a:noFill/>
          <a:ln w="9525" cap="flat" cmpd="sng">
            <a:solidFill>
              <a:schemeClr val="lt1"/>
            </a:solidFill>
            <a:prstDash val="solid"/>
            <a:round/>
            <a:headEnd type="none" w="sm" len="sm"/>
            <a:tailEnd type="none" w="sm" len="sm"/>
          </a:ln>
        </p:spPr>
      </p:pic>
      <p:pic>
        <p:nvPicPr>
          <p:cNvPr id="7039" name="Google Shape;7039;p47"/>
          <p:cNvPicPr preferRelativeResize="0"/>
          <p:nvPr/>
        </p:nvPicPr>
        <p:blipFill rotWithShape="1">
          <a:blip r:embed="rId5">
            <a:alphaModFix/>
          </a:blip>
          <a:srcRect/>
          <a:stretch/>
        </p:blipFill>
        <p:spPr>
          <a:xfrm>
            <a:off x="652970" y="1686317"/>
            <a:ext cx="6996143" cy="4326527"/>
          </a:xfrm>
          <a:prstGeom prst="rect">
            <a:avLst/>
          </a:prstGeom>
          <a:noFill/>
          <a:ln>
            <a:noFill/>
          </a:ln>
        </p:spPr>
      </p:pic>
      <p:sp>
        <p:nvSpPr>
          <p:cNvPr id="7040" name="Google Shape;7040;p47"/>
          <p:cNvSpPr/>
          <p:nvPr/>
        </p:nvSpPr>
        <p:spPr>
          <a:xfrm>
            <a:off x="568519" y="1596278"/>
            <a:ext cx="7184004" cy="4572000"/>
          </a:xfrm>
          <a:prstGeom prst="roundRect">
            <a:avLst>
              <a:gd name="adj" fmla="val 2356"/>
            </a:avLst>
          </a:prstGeom>
          <a:no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38"/>
                                        </p:tgtEl>
                                        <p:attrNameLst>
                                          <p:attrName>style.visibility</p:attrName>
                                        </p:attrNameLst>
                                      </p:cBhvr>
                                      <p:to>
                                        <p:strVal val="visible"/>
                                      </p:to>
                                    </p:set>
                                    <p:animEffect transition="in" filter="fade">
                                      <p:cBhvr>
                                        <p:cTn id="7" dur="500"/>
                                        <p:tgtEl>
                                          <p:spTgt spid="70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0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045"/>
        <p:cNvGrpSpPr/>
        <p:nvPr/>
      </p:nvGrpSpPr>
      <p:grpSpPr>
        <a:xfrm>
          <a:off x="0" y="0"/>
          <a:ext cx="0" cy="0"/>
          <a:chOff x="0" y="0"/>
          <a:chExt cx="0" cy="0"/>
        </a:xfrm>
      </p:grpSpPr>
      <p:sp>
        <p:nvSpPr>
          <p:cNvPr id="7046" name="Google Shape;7046;p4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Easily Generate Accurate Bills for Tenants</a:t>
            </a:r>
            <a:endParaRPr/>
          </a:p>
        </p:txBody>
      </p:sp>
      <p:sp>
        <p:nvSpPr>
          <p:cNvPr id="7047" name="Google Shape;7047;p48"/>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FinOps Chargeback</a:t>
            </a:r>
            <a:endParaRPr/>
          </a:p>
        </p:txBody>
      </p:sp>
      <p:sp>
        <p:nvSpPr>
          <p:cNvPr id="7048" name="Google Shape;7048;p48"/>
          <p:cNvSpPr txBox="1">
            <a:spLocks noGrp="1"/>
          </p:cNvSpPr>
          <p:nvPr>
            <p:ph type="body" idx="3"/>
          </p:nvPr>
        </p:nvSpPr>
        <p:spPr>
          <a:xfrm>
            <a:off x="0" y="1600201"/>
            <a:ext cx="5893593" cy="4572000"/>
          </a:xfrm>
          <a:prstGeom prst="rect">
            <a:avLst/>
          </a:prstGeom>
          <a:solidFill>
            <a:srgbClr val="F4F8FA"/>
          </a:solidFill>
          <a:ln>
            <a:noFill/>
          </a:ln>
        </p:spPr>
        <p:txBody>
          <a:bodyPr spcFirstLastPara="1" wrap="square" lIns="594350" tIns="457200" rIns="457200" bIns="457200" anchor="t" anchorCtr="0">
            <a:noAutofit/>
          </a:bodyPr>
          <a:lstStyle/>
          <a:p>
            <a:pPr marL="0" lvl="0" indent="0" algn="l" rtl="0">
              <a:lnSpc>
                <a:spcPct val="100000"/>
              </a:lnSpc>
              <a:spcBef>
                <a:spcPts val="0"/>
              </a:spcBef>
              <a:spcAft>
                <a:spcPts val="0"/>
              </a:spcAft>
              <a:buSzPts val="1620"/>
              <a:buNone/>
            </a:pPr>
            <a:r>
              <a:rPr lang="en-US" dirty="0">
                <a:solidFill>
                  <a:schemeClr val="accent2"/>
                </a:solidFill>
              </a:rPr>
              <a:t>Define pricing on various metering options</a:t>
            </a:r>
            <a:endParaRPr dirty="0"/>
          </a:p>
          <a:p>
            <a:pPr marL="0" lvl="0" indent="0" algn="l" rtl="0">
              <a:lnSpc>
                <a:spcPct val="100000"/>
              </a:lnSpc>
              <a:spcBef>
                <a:spcPts val="1200"/>
              </a:spcBef>
              <a:spcAft>
                <a:spcPts val="0"/>
              </a:spcAft>
              <a:buSzPts val="1620"/>
              <a:buNone/>
            </a:pPr>
            <a:r>
              <a:rPr lang="en-US" dirty="0">
                <a:solidFill>
                  <a:schemeClr val="accent2"/>
                </a:solidFill>
              </a:rPr>
              <a:t>Easy on-demand and scheduled generation of bills per tenant</a:t>
            </a:r>
            <a:endParaRPr dirty="0"/>
          </a:p>
          <a:p>
            <a:pPr marL="0" lvl="0" indent="0" algn="l" rtl="0">
              <a:lnSpc>
                <a:spcPct val="100000"/>
              </a:lnSpc>
              <a:spcBef>
                <a:spcPts val="1200"/>
              </a:spcBef>
              <a:spcAft>
                <a:spcPts val="0"/>
              </a:spcAft>
              <a:buSzPts val="1620"/>
              <a:buNone/>
            </a:pPr>
            <a:r>
              <a:rPr lang="en-US" dirty="0">
                <a:solidFill>
                  <a:schemeClr val="accent2"/>
                </a:solidFill>
              </a:rPr>
              <a:t>Bills are visible to tenant administrator on the Automation Console</a:t>
            </a:r>
            <a:endParaRPr dirty="0"/>
          </a:p>
          <a:p>
            <a:pPr marL="0" lvl="0" indent="0" algn="l" rtl="0">
              <a:lnSpc>
                <a:spcPct val="100000"/>
              </a:lnSpc>
              <a:spcBef>
                <a:spcPts val="1200"/>
              </a:spcBef>
              <a:spcAft>
                <a:spcPts val="0"/>
              </a:spcAft>
              <a:buSzPts val="1620"/>
              <a:buNone/>
            </a:pPr>
            <a:r>
              <a:rPr lang="en-US" dirty="0">
                <a:solidFill>
                  <a:schemeClr val="accent2"/>
                </a:solidFill>
              </a:rPr>
              <a:t>Charge tenants for the infrastructure based on compute, storage, fixed costs, tags, metadata</a:t>
            </a:r>
            <a:endParaRPr dirty="0"/>
          </a:p>
          <a:p>
            <a:pPr marL="0" lvl="0" indent="0" algn="l" rtl="0">
              <a:lnSpc>
                <a:spcPct val="100000"/>
              </a:lnSpc>
              <a:spcBef>
                <a:spcPts val="1200"/>
              </a:spcBef>
              <a:spcAft>
                <a:spcPts val="0"/>
              </a:spcAft>
              <a:buSzPts val="1620"/>
              <a:buNone/>
            </a:pPr>
            <a:r>
              <a:rPr lang="en-US" dirty="0">
                <a:solidFill>
                  <a:schemeClr val="accent2"/>
                </a:solidFill>
              </a:rPr>
              <a:t>View and download bills with details on breakdown of charges</a:t>
            </a:r>
            <a:endParaRPr dirty="0"/>
          </a:p>
          <a:p>
            <a:pPr marL="0" lvl="0" indent="0" algn="l" rtl="0">
              <a:lnSpc>
                <a:spcPct val="100000"/>
              </a:lnSpc>
              <a:spcBef>
                <a:spcPts val="1200"/>
              </a:spcBef>
              <a:spcAft>
                <a:spcPts val="0"/>
              </a:spcAft>
              <a:buSzPts val="1620"/>
              <a:buNone/>
            </a:pPr>
            <a:r>
              <a:rPr lang="en-US" dirty="0">
                <a:solidFill>
                  <a:schemeClr val="accent2"/>
                </a:solidFill>
              </a:rPr>
              <a:t>Rate cards based on org and region combination</a:t>
            </a:r>
            <a:endParaRPr dirty="0"/>
          </a:p>
          <a:p>
            <a:pPr marL="0" lvl="0" indent="0" algn="l" rtl="0">
              <a:lnSpc>
                <a:spcPct val="100000"/>
              </a:lnSpc>
              <a:spcBef>
                <a:spcPts val="1200"/>
              </a:spcBef>
              <a:spcAft>
                <a:spcPts val="0"/>
              </a:spcAft>
              <a:buSzPts val="1620"/>
              <a:buNone/>
            </a:pPr>
            <a:endParaRPr dirty="0"/>
          </a:p>
        </p:txBody>
      </p:sp>
      <p:sp>
        <p:nvSpPr>
          <p:cNvPr id="7049" name="Google Shape;7049;p48"/>
          <p:cNvSpPr/>
          <p:nvPr/>
        </p:nvSpPr>
        <p:spPr>
          <a:xfrm>
            <a:off x="5509331" y="1596278"/>
            <a:ext cx="6047434" cy="45720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7050" name="Google Shape;7050;p48"/>
          <p:cNvGrpSpPr/>
          <p:nvPr/>
        </p:nvGrpSpPr>
        <p:grpSpPr>
          <a:xfrm>
            <a:off x="5604539" y="1666401"/>
            <a:ext cx="5870494" cy="4426929"/>
            <a:chOff x="663727" y="1666401"/>
            <a:chExt cx="5870494" cy="4426929"/>
          </a:xfrm>
        </p:grpSpPr>
        <p:pic>
          <p:nvPicPr>
            <p:cNvPr id="7051" name="Google Shape;7051;p48"/>
            <p:cNvPicPr preferRelativeResize="0"/>
            <p:nvPr/>
          </p:nvPicPr>
          <p:blipFill rotWithShape="1">
            <a:blip r:embed="rId3">
              <a:alphaModFix/>
            </a:blip>
            <a:srcRect/>
            <a:stretch/>
          </p:blipFill>
          <p:spPr>
            <a:xfrm>
              <a:off x="663727" y="1666401"/>
              <a:ext cx="5870494" cy="4426929"/>
            </a:xfrm>
            <a:prstGeom prst="rect">
              <a:avLst/>
            </a:prstGeom>
            <a:noFill/>
            <a:ln>
              <a:noFill/>
            </a:ln>
          </p:spPr>
        </p:pic>
        <p:pic>
          <p:nvPicPr>
            <p:cNvPr id="7052" name="Google Shape;7052;p48"/>
            <p:cNvPicPr preferRelativeResize="0"/>
            <p:nvPr/>
          </p:nvPicPr>
          <p:blipFill rotWithShape="1">
            <a:blip r:embed="rId4">
              <a:alphaModFix/>
            </a:blip>
            <a:srcRect/>
            <a:stretch/>
          </p:blipFill>
          <p:spPr>
            <a:xfrm>
              <a:off x="1004311" y="2012769"/>
              <a:ext cx="5529910" cy="4063942"/>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057"/>
        <p:cNvGrpSpPr/>
        <p:nvPr/>
      </p:nvGrpSpPr>
      <p:grpSpPr>
        <a:xfrm>
          <a:off x="0" y="0"/>
          <a:ext cx="0" cy="0"/>
          <a:chOff x="0" y="0"/>
          <a:chExt cx="0" cy="0"/>
        </a:xfrm>
      </p:grpSpPr>
      <p:sp>
        <p:nvSpPr>
          <p:cNvPr id="7058" name="Google Shape;7058;p49"/>
          <p:cNvSpPr/>
          <p:nvPr/>
        </p:nvSpPr>
        <p:spPr>
          <a:xfrm>
            <a:off x="568519" y="1596278"/>
            <a:ext cx="7568316" cy="4572000"/>
          </a:xfrm>
          <a:prstGeom prst="roundRect">
            <a:avLst>
              <a:gd name="adj" fmla="val 2356"/>
            </a:avLst>
          </a:prstGeom>
          <a:solidFill>
            <a:schemeClr val="lt1"/>
          </a:solidFill>
          <a:ln w="12700" cap="flat" cmpd="sng">
            <a:solidFill>
              <a:srgbClr val="777777"/>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059" name="Google Shape;7059;p4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t>End-to-end Process: Plan, Schedule and Migrate Workloads at Scale</a:t>
            </a:r>
            <a:endParaRPr dirty="0"/>
          </a:p>
        </p:txBody>
      </p:sp>
      <p:sp>
        <p:nvSpPr>
          <p:cNvPr id="7060" name="Google Shape;7060;p4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799"/>
              <a:buNone/>
            </a:pPr>
            <a:r>
              <a:rPr lang="en-US" sz="1999">
                <a:solidFill>
                  <a:srgbClr val="1B1E35"/>
                </a:solidFill>
              </a:rPr>
              <a:t>Workload Migration Planning</a:t>
            </a:r>
            <a:endParaRPr sz="1200">
              <a:solidFill>
                <a:srgbClr val="000000"/>
              </a:solidFill>
            </a:endParaRPr>
          </a:p>
          <a:p>
            <a:pPr marL="0" lvl="0" indent="0" algn="l" rtl="0">
              <a:lnSpc>
                <a:spcPct val="100000"/>
              </a:lnSpc>
              <a:spcBef>
                <a:spcPts val="1200"/>
              </a:spcBef>
              <a:spcAft>
                <a:spcPts val="0"/>
              </a:spcAft>
              <a:buSzPts val="1800"/>
              <a:buNone/>
            </a:pPr>
            <a:endParaRPr/>
          </a:p>
        </p:txBody>
      </p:sp>
      <p:sp>
        <p:nvSpPr>
          <p:cNvPr id="7061" name="Google Shape;7061;p49"/>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p>
            <a:pPr marL="137119" lvl="0" indent="0" algn="l" rtl="0">
              <a:lnSpc>
                <a:spcPct val="100000"/>
              </a:lnSpc>
              <a:spcBef>
                <a:spcPts val="0"/>
              </a:spcBef>
              <a:spcAft>
                <a:spcPts val="0"/>
              </a:spcAft>
              <a:buSzPts val="1440"/>
              <a:buNone/>
            </a:pPr>
            <a:r>
              <a:rPr lang="en-US" sz="1600" dirty="0"/>
              <a:t>Define Scope using Applications or Members of Applications</a:t>
            </a:r>
            <a:endParaRPr dirty="0"/>
          </a:p>
          <a:p>
            <a:pPr marL="137119" lvl="0" indent="0" algn="l" rtl="0">
              <a:lnSpc>
                <a:spcPct val="100000"/>
              </a:lnSpc>
              <a:spcBef>
                <a:spcPts val="1200"/>
              </a:spcBef>
              <a:spcAft>
                <a:spcPts val="0"/>
              </a:spcAft>
              <a:buSzPts val="1440"/>
              <a:buNone/>
            </a:pPr>
            <a:r>
              <a:rPr lang="en-US" sz="1600" dirty="0"/>
              <a:t>Discover Application &amp; Network Dependencies</a:t>
            </a:r>
            <a:endParaRPr dirty="0"/>
          </a:p>
          <a:p>
            <a:pPr marL="137119" lvl="0" indent="0" algn="l" rtl="0">
              <a:lnSpc>
                <a:spcPct val="100000"/>
              </a:lnSpc>
              <a:spcBef>
                <a:spcPts val="1200"/>
              </a:spcBef>
              <a:spcAft>
                <a:spcPts val="0"/>
              </a:spcAft>
              <a:buSzPts val="1440"/>
              <a:buNone/>
            </a:pPr>
            <a:r>
              <a:rPr lang="en-US" sz="1600" dirty="0"/>
              <a:t>Create Migration Waves</a:t>
            </a:r>
            <a:endParaRPr dirty="0"/>
          </a:p>
          <a:p>
            <a:pPr marL="137119" lvl="0" indent="0" algn="l" rtl="0">
              <a:lnSpc>
                <a:spcPct val="100000"/>
              </a:lnSpc>
              <a:spcBef>
                <a:spcPts val="1200"/>
              </a:spcBef>
              <a:spcAft>
                <a:spcPts val="0"/>
              </a:spcAft>
              <a:buSzPts val="1440"/>
              <a:buNone/>
            </a:pPr>
            <a:r>
              <a:rPr lang="en-US" sz="1600" dirty="0"/>
              <a:t>Overview of Resource Consumption</a:t>
            </a:r>
            <a:endParaRPr dirty="0"/>
          </a:p>
          <a:p>
            <a:pPr marL="137119" lvl="0" indent="0" algn="l" rtl="0">
              <a:lnSpc>
                <a:spcPct val="100000"/>
              </a:lnSpc>
              <a:spcBef>
                <a:spcPts val="1200"/>
              </a:spcBef>
              <a:spcAft>
                <a:spcPts val="0"/>
              </a:spcAft>
              <a:buSzPts val="1440"/>
              <a:buNone/>
            </a:pPr>
            <a:r>
              <a:rPr lang="en-US" sz="1600" dirty="0"/>
              <a:t>Create Mobility Groups and Commit to HCX for Migration</a:t>
            </a:r>
            <a:endParaRPr dirty="0"/>
          </a:p>
          <a:p>
            <a:pPr marL="137119" lvl="0" indent="0" algn="l" rtl="0">
              <a:lnSpc>
                <a:spcPct val="100000"/>
              </a:lnSpc>
              <a:spcBef>
                <a:spcPts val="1200"/>
              </a:spcBef>
              <a:spcAft>
                <a:spcPts val="0"/>
              </a:spcAft>
              <a:buSzPts val="1440"/>
              <a:buNone/>
            </a:pPr>
            <a:r>
              <a:rPr lang="en-US" sz="1600" dirty="0"/>
              <a:t>Supported Scenarios On-prem; vSphere only: Migration from Non-VCF vSphere/vCenter to VCF (M&amp;A, DC consolidation)</a:t>
            </a:r>
            <a:endParaRPr dirty="0"/>
          </a:p>
          <a:p>
            <a:pPr marL="0" lvl="0" indent="0" algn="l" rtl="0">
              <a:lnSpc>
                <a:spcPct val="100000"/>
              </a:lnSpc>
              <a:spcBef>
                <a:spcPts val="1200"/>
              </a:spcBef>
              <a:spcAft>
                <a:spcPts val="0"/>
              </a:spcAft>
              <a:buSzPts val="1440"/>
              <a:buNone/>
            </a:pPr>
            <a:endParaRPr dirty="0"/>
          </a:p>
        </p:txBody>
      </p:sp>
      <p:sp>
        <p:nvSpPr>
          <p:cNvPr id="7062" name="Google Shape;7062;p49"/>
          <p:cNvSpPr txBox="1"/>
          <p:nvPr/>
        </p:nvSpPr>
        <p:spPr>
          <a:xfrm>
            <a:off x="608012" y="1600677"/>
            <a:ext cx="7398303" cy="4570809"/>
          </a:xfrm>
          <a:prstGeom prst="rect">
            <a:avLst/>
          </a:prstGeom>
          <a:noFill/>
          <a:ln>
            <a:noFill/>
          </a:ln>
        </p:spPr>
        <p:txBody>
          <a:bodyPr spcFirstLastPara="1" wrap="square" lIns="594000" tIns="1370850" rIns="456950" bIns="456950" anchor="t" anchorCtr="0">
            <a:noAutofit/>
          </a:bodyPr>
          <a:lstStyle/>
          <a:p>
            <a:pPr marL="457063" marR="0" lvl="0" indent="-291378" algn="ctr" rtl="0">
              <a:lnSpc>
                <a:spcPct val="100000"/>
              </a:lnSpc>
              <a:spcBef>
                <a:spcPts val="1200"/>
              </a:spcBef>
              <a:spcAft>
                <a:spcPts val="0"/>
              </a:spcAft>
              <a:buClr>
                <a:srgbClr val="666666"/>
              </a:buClr>
              <a:buSzPts val="990"/>
              <a:buFont typeface="Arial"/>
              <a:buChar char="​"/>
            </a:pPr>
            <a:r>
              <a:rPr lang="en-US" sz="2000">
                <a:solidFill>
                  <a:schemeClr val="dk1"/>
                </a:solidFill>
                <a:latin typeface="Arial"/>
                <a:ea typeface="Arial"/>
                <a:cs typeface="Arial"/>
                <a:sym typeface="Arial"/>
              </a:rPr>
              <a:t> </a:t>
            </a:r>
            <a:endParaRPr/>
          </a:p>
        </p:txBody>
      </p:sp>
      <p:pic>
        <p:nvPicPr>
          <p:cNvPr id="7063" name="Google Shape;7063;p49" descr="A screenshot of a computer&#10;&#10;AI-generated content may be incorrect."/>
          <p:cNvPicPr preferRelativeResize="0"/>
          <p:nvPr/>
        </p:nvPicPr>
        <p:blipFill rotWithShape="1">
          <a:blip r:embed="rId3">
            <a:alphaModFix/>
          </a:blip>
          <a:srcRect l="4425"/>
          <a:stretch/>
        </p:blipFill>
        <p:spPr>
          <a:xfrm>
            <a:off x="621264" y="1653550"/>
            <a:ext cx="7426506" cy="417243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VMware">
      <a:dk1>
        <a:srgbClr val="717074"/>
      </a:dk1>
      <a:lt1>
        <a:srgbClr val="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TaxCatchAll xmlns="78c16552-cbf3-4f1f-97ed-388b5d2a083d"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Props1.xml><?xml version="1.0" encoding="utf-8"?>
<ds:datastoreItem xmlns:ds="http://schemas.openxmlformats.org/officeDocument/2006/customXml" ds:itemID="{E5426934-646C-4CFF-915D-760274B6D84B}"/>
</file>

<file path=customXml/itemProps2.xml><?xml version="1.0" encoding="utf-8"?>
<ds:datastoreItem xmlns:ds="http://schemas.openxmlformats.org/officeDocument/2006/customXml" ds:itemID="{2D4FA185-CA8E-447F-93D0-85FF41288EAB}"/>
</file>

<file path=customXml/itemProps3.xml><?xml version="1.0" encoding="utf-8"?>
<ds:datastoreItem xmlns:ds="http://schemas.openxmlformats.org/officeDocument/2006/customXml" ds:itemID="{C92FEC08-A057-4507-BC55-9A75DE6EA3DE}"/>
</file>

<file path=docProps/app.xml><?xml version="1.0" encoding="utf-8"?>
<Properties xmlns="http://schemas.openxmlformats.org/officeDocument/2006/extended-properties" xmlns:vt="http://schemas.openxmlformats.org/officeDocument/2006/docPropsVTypes">
  <TotalTime>173</TotalTime>
  <Words>20737</Words>
  <Application>Microsoft Macintosh PowerPoint</Application>
  <PresentationFormat>Custom</PresentationFormat>
  <Paragraphs>1992</Paragraphs>
  <Slides>49</Slides>
  <Notes>49</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49</vt:i4>
      </vt:variant>
    </vt:vector>
  </HeadingPairs>
  <TitlesOfParts>
    <vt:vector size="61" baseType="lpstr">
      <vt:lpstr>Arial</vt:lpstr>
      <vt:lpstr>Helvetica Neue</vt:lpstr>
      <vt:lpstr>Times New Roman</vt:lpstr>
      <vt:lpstr>Open Sans</vt:lpstr>
      <vt:lpstr>Roboto</vt:lpstr>
      <vt:lpstr>Calibri</vt:lpstr>
      <vt:lpstr>Quattrocento Sans</vt:lpstr>
      <vt:lpstr>Metropolis</vt:lpstr>
      <vt:lpstr>Arial Rounded</vt:lpstr>
      <vt:lpstr>NTR</vt:lpstr>
      <vt:lpstr>Aptos</vt:lpstr>
      <vt:lpstr>VMware 2025 Light</vt:lpstr>
      <vt:lpstr>About This Presentation</vt:lpstr>
      <vt:lpstr>VMware Cloud Foundation 9.0</vt:lpstr>
      <vt:lpstr>PowerPoint Presentation</vt:lpstr>
      <vt:lpstr>What’s New in VMware Cloud Foundation 9</vt:lpstr>
      <vt:lpstr>Deployment Pathways to Suit a Variety of Use Cases</vt:lpstr>
      <vt:lpstr>Unified Installer Streamlines Deployment</vt:lpstr>
      <vt:lpstr>Flexible Deployment Workflows</vt:lpstr>
      <vt:lpstr>Deployment Pathways to Suit a Variety of Use Cases</vt:lpstr>
      <vt:lpstr>Centralize Management of External vCenter Deployments</vt:lpstr>
      <vt:lpstr>Easily Scale Private Cloud Infrastructure</vt:lpstr>
      <vt:lpstr>SDDC Infrastructure </vt:lpstr>
      <vt:lpstr>Build Clusters Your Way</vt:lpstr>
      <vt:lpstr>Scale Memory Capacity with Lower TCO</vt:lpstr>
      <vt:lpstr>Improved Visibility of GPU Resources</vt:lpstr>
      <vt:lpstr>Increased Uptime for AI/ML Workloads</vt:lpstr>
      <vt:lpstr>Improved Capacity Planning of GPU Resources</vt:lpstr>
      <vt:lpstr>Patch vSphere Clusters Faster and Less Disruptively</vt:lpstr>
      <vt:lpstr>Virtualized Hardware Innovations</vt:lpstr>
      <vt:lpstr>SDDC Infrastructure </vt:lpstr>
      <vt:lpstr>Additional Space Efficiency Reducing Cost Per TB</vt:lpstr>
      <vt:lpstr>Faster Performance and Reduced Network Traffic </vt:lpstr>
      <vt:lpstr>Improved Scalability with vSAN File Services in vSAN ESA</vt:lpstr>
      <vt:lpstr>Improved Flexibility, Operations and Uptime for Stretched Clusters</vt:lpstr>
      <vt:lpstr>SDDC Infrastructure </vt:lpstr>
      <vt:lpstr>Simple Networking with Virtual Private Clouds (VPCs)</vt:lpstr>
      <vt:lpstr>Consume VPCs in vCenter and VCF Automation</vt:lpstr>
      <vt:lpstr>Easily Deploy NSX Edges</vt:lpstr>
      <vt:lpstr>Independent Connectivity Options for Each Tier</vt:lpstr>
      <vt:lpstr>External Connectivity with Centralized Services</vt:lpstr>
      <vt:lpstr>External Connectivity without NSX Edges</vt:lpstr>
      <vt:lpstr>High Performance Switching out of the box</vt:lpstr>
      <vt:lpstr>Fleet Management </vt:lpstr>
      <vt:lpstr>Unified Operations Experience</vt:lpstr>
      <vt:lpstr>Simplified Lifecyle for VCF Management Components</vt:lpstr>
      <vt:lpstr>Nondisruptive Upgrades to VCF 9</vt:lpstr>
      <vt:lpstr>Single Sign-On for Administrator Access Across VCF</vt:lpstr>
      <vt:lpstr>Centralized Certificate Management</vt:lpstr>
      <vt:lpstr>Centralized Password Management</vt:lpstr>
      <vt:lpstr>Easily Monitor and Address Configuration Differences</vt:lpstr>
      <vt:lpstr>Manage, Identify and Organize Resources</vt:lpstr>
      <vt:lpstr>VCF Download Tool for Disconnected Sites</vt:lpstr>
      <vt:lpstr>Private Cloud Operations </vt:lpstr>
      <vt:lpstr>Private Cloud Operations</vt:lpstr>
      <vt:lpstr>Improve Performance and Reduce Downtime for VCF</vt:lpstr>
      <vt:lpstr>Improve Performance and Reduce Downtime for VCF</vt:lpstr>
      <vt:lpstr>Improve Performance and Reduce Downtime for VCF</vt:lpstr>
      <vt:lpstr>Discover and Address Known Issues Impacting VCF Software</vt:lpstr>
      <vt:lpstr>Easily Generate Accurate Bills for Tenants</vt:lpstr>
      <vt:lpstr>End-to-end Process: Plan, Schedule and Migrate Workloads at Scale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Andrew Firth</dc:creator>
  <cp:lastModifiedBy>Jonathan McDonald</cp:lastModifiedBy>
  <cp:revision>11</cp:revision>
  <dcterms:created xsi:type="dcterms:W3CDTF">2025-05-08T02:40:33Z</dcterms:created>
  <dcterms:modified xsi:type="dcterms:W3CDTF">2025-05-29T11:08:19Z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MediaServiceImageTags">
    <vt:lpwstr/>
  </property>
</Properties>
</file>