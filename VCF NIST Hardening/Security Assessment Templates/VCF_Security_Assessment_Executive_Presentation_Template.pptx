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95" r:id="rId4"/>
  </p:sldMasterIdLst>
  <p:notesMasterIdLst>
    <p:notesMasterId r:id="rId36"/>
  </p:notesMasterIdLst>
  <p:handoutMasterIdLst>
    <p:handoutMasterId r:id="rId37"/>
  </p:handoutMasterIdLst>
  <p:sldIdLst>
    <p:sldId id="256" r:id="rId5"/>
    <p:sldId id="2026819555" r:id="rId6"/>
    <p:sldId id="258" r:id="rId7"/>
    <p:sldId id="259" r:id="rId8"/>
    <p:sldId id="260" r:id="rId9"/>
    <p:sldId id="2026819556" r:id="rId10"/>
    <p:sldId id="262" r:id="rId11"/>
    <p:sldId id="263" r:id="rId12"/>
    <p:sldId id="264" r:id="rId13"/>
    <p:sldId id="2026819557" r:id="rId14"/>
    <p:sldId id="2026819558" r:id="rId15"/>
    <p:sldId id="2026819559" r:id="rId16"/>
    <p:sldId id="2026819560" r:id="rId17"/>
    <p:sldId id="2026819561" r:id="rId18"/>
    <p:sldId id="2026819562" r:id="rId19"/>
    <p:sldId id="270" r:id="rId20"/>
    <p:sldId id="272" r:id="rId21"/>
    <p:sldId id="273" r:id="rId22"/>
    <p:sldId id="274" r:id="rId23"/>
    <p:sldId id="275" r:id="rId24"/>
    <p:sldId id="2026819563" r:id="rId25"/>
    <p:sldId id="277" r:id="rId26"/>
    <p:sldId id="2026819564" r:id="rId27"/>
    <p:sldId id="279" r:id="rId28"/>
    <p:sldId id="287" r:id="rId29"/>
    <p:sldId id="2026819565" r:id="rId30"/>
    <p:sldId id="286" r:id="rId31"/>
    <p:sldId id="2026819566" r:id="rId32"/>
    <p:sldId id="2026819567" r:id="rId33"/>
    <p:sldId id="282" r:id="rId34"/>
    <p:sldId id="283" r:id="rId35"/>
  </p:sldIdLst>
  <p:sldSz cx="12188825"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3" clrIdx="1"/>
  <p:cmAuthor id="3" name="Wendy Ouellette" initials="WO" lastIdx="1" clrIdx="2">
    <p:extLst>
      <p:ext uri="{19B8F6BF-5375-455C-9EA6-DF929625EA0E}">
        <p15:presenceInfo xmlns:p15="http://schemas.microsoft.com/office/powerpoint/2012/main" userId="S::wouellette@vmware.com::1423423b-46e9-448d-b172-f148f3fbf4f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999B"/>
    <a:srgbClr val="99999B"/>
    <a:srgbClr val="CC092F"/>
    <a:srgbClr val="E2E3E4"/>
    <a:srgbClr val="E68C28"/>
    <a:srgbClr val="FFFFFF"/>
    <a:srgbClr val="53565A"/>
    <a:srgbClr val="37FF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81366" autoAdjust="0"/>
  </p:normalViewPr>
  <p:slideViewPr>
    <p:cSldViewPr snapToGrid="0">
      <p:cViewPr varScale="1">
        <p:scale>
          <a:sx n="126" d="100"/>
          <a:sy n="126" d="100"/>
        </p:scale>
        <p:origin x="558" y="114"/>
      </p:cViewPr>
      <p:guideLst/>
    </p:cSldViewPr>
  </p:slid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119" d="100"/>
          <a:sy n="119" d="100"/>
        </p:scale>
        <p:origin x="4136" y="8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t>4/27/2026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t>‹#›</a:t>
            </a:fld>
            <a:endParaRPr lang="en-US" dirty="0"/>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n-l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n-lt"/>
              </a:defRPr>
            </a:lvl1pPr>
          </a:lstStyle>
          <a:p>
            <a:fld id="{3CB6F0DB-E055-41D0-9102-627A646E4242}" type="datetimeFigureOut">
              <a:rPr lang="en-US" smtClean="0"/>
              <a:pPr/>
              <a:t>4/27/2026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n-l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n-lt"/>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echdocs.broadcom.com/us/en/vmware-cis/live-recovery/site-recovery-manager/8-8/site-recovery-manager-security-8-8.html"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techdocs.broadcom.com/us/en/vmware-cis/live-recovery/live-site-recovery/9-0/security.html"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7"/>
        <p:cNvGrpSpPr/>
        <p:nvPr/>
      </p:nvGrpSpPr>
      <p:grpSpPr>
        <a:xfrm>
          <a:off x="0" y="0"/>
          <a:ext cx="0" cy="0"/>
          <a:chOff x="0" y="0"/>
          <a:chExt cx="0" cy="0"/>
        </a:xfrm>
      </p:grpSpPr>
      <p:sp>
        <p:nvSpPr>
          <p:cNvPr id="2728" name="Google Shape;2728;p1:notes"/>
          <p:cNvSpPr txBox="1">
            <a:spLocks noGrp="1"/>
          </p:cNvSpPr>
          <p:nvPr>
            <p:ph type="body" idx="1"/>
          </p:nvPr>
        </p:nvSpPr>
        <p:spPr>
          <a:xfrm>
            <a:off x="457200" y="3810000"/>
            <a:ext cx="5943600" cy="487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2729" name="Google Shape;2729;p1: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2"/>
        <p:cNvGrpSpPr/>
        <p:nvPr/>
      </p:nvGrpSpPr>
      <p:grpSpPr>
        <a:xfrm>
          <a:off x="0" y="0"/>
          <a:ext cx="0" cy="0"/>
          <a:chOff x="0" y="0"/>
          <a:chExt cx="0" cy="0"/>
        </a:xfrm>
      </p:grpSpPr>
      <p:sp>
        <p:nvSpPr>
          <p:cNvPr id="2743" name="Google Shape;2743;p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4" name="Google Shape;2744;p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2745" name="Google Shape;2745;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8"/>
        <p:cNvGrpSpPr/>
        <p:nvPr/>
      </p:nvGrpSpPr>
      <p:grpSpPr>
        <a:xfrm>
          <a:off x="0" y="0"/>
          <a:ext cx="0" cy="0"/>
          <a:chOff x="0" y="0"/>
          <a:chExt cx="0" cy="0"/>
        </a:xfrm>
      </p:grpSpPr>
      <p:sp>
        <p:nvSpPr>
          <p:cNvPr id="2749" name="Google Shape;2749;p4: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0" name="Google Shape;2750;p4: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2751" name="Google Shape;275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6"/>
        <p:cNvGrpSpPr/>
        <p:nvPr/>
      </p:nvGrpSpPr>
      <p:grpSpPr>
        <a:xfrm>
          <a:off x="0" y="0"/>
          <a:ext cx="0" cy="0"/>
          <a:chOff x="0" y="0"/>
          <a:chExt cx="0" cy="0"/>
        </a:xfrm>
      </p:grpSpPr>
      <p:sp>
        <p:nvSpPr>
          <p:cNvPr id="2757" name="Google Shape;275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2758" name="Google Shape;2758;p5:notes"/>
          <p:cNvSpPr>
            <a:spLocks noGrp="1" noRot="1" noChangeAspect="1"/>
          </p:cNvSpPr>
          <p:nvPr>
            <p:ph type="sldImg" idx="2"/>
          </p:nvPr>
        </p:nvSpPr>
        <p:spPr>
          <a:xfrm>
            <a:off x="-176213" y="514350"/>
            <a:ext cx="6905626" cy="38862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59" name="Google Shape;2759;p5:notes"/>
          <p:cNvSpPr txBox="1">
            <a:spLocks noGrp="1"/>
          </p:cNvSpPr>
          <p:nvPr>
            <p:ph type="body" idx="1"/>
          </p:nvPr>
        </p:nvSpPr>
        <p:spPr>
          <a:xfrm>
            <a:off x="597998" y="4572002"/>
            <a:ext cx="5954674" cy="4114488"/>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4"/>
        <p:cNvGrpSpPr/>
        <p:nvPr/>
      </p:nvGrpSpPr>
      <p:grpSpPr>
        <a:xfrm>
          <a:off x="0" y="0"/>
          <a:ext cx="0" cy="0"/>
          <a:chOff x="0" y="0"/>
          <a:chExt cx="0" cy="0"/>
        </a:xfrm>
      </p:grpSpPr>
      <p:sp>
        <p:nvSpPr>
          <p:cNvPr id="2775" name="Google Shape;2775;g34fc6d1a61e_1_392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6" name="Google Shape;2776;g34fc6d1a61e_1_392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777" name="Google Shape;2777;g34fc6d1a61e_1_39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2"/>
        <p:cNvGrpSpPr/>
        <p:nvPr/>
      </p:nvGrpSpPr>
      <p:grpSpPr>
        <a:xfrm>
          <a:off x="0" y="0"/>
          <a:ext cx="0" cy="0"/>
          <a:chOff x="0" y="0"/>
          <a:chExt cx="0" cy="0"/>
        </a:xfrm>
      </p:grpSpPr>
      <p:sp>
        <p:nvSpPr>
          <p:cNvPr id="2783" name="Google Shape;2783;g34fc6d1a61e_1_1961:notes"/>
          <p:cNvSpPr>
            <a:spLocks noGrp="1" noRot="1" noChangeAspect="1"/>
          </p:cNvSpPr>
          <p:nvPr>
            <p:ph type="sldImg" idx="2"/>
          </p:nvPr>
        </p:nvSpPr>
        <p:spPr>
          <a:xfrm>
            <a:off x="381000" y="685800"/>
            <a:ext cx="6096000" cy="34305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4" name="Google Shape;2784;g34fc6d1a61e_1_1961:notes"/>
          <p:cNvSpPr txBox="1">
            <a:spLocks noGrp="1"/>
          </p:cNvSpPr>
          <p:nvPr>
            <p:ph type="body" idx="1"/>
          </p:nvPr>
        </p:nvSpPr>
        <p:spPr>
          <a:xfrm>
            <a:off x="685801" y="4343400"/>
            <a:ext cx="5486400" cy="411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785" name="Google Shape;2785;g34fc6d1a61e_1_1961:notes"/>
          <p:cNvSpPr txBox="1">
            <a:spLocks noGrp="1"/>
          </p:cNvSpPr>
          <p:nvPr>
            <p:ph type="sldNum" idx="12"/>
          </p:nvPr>
        </p:nvSpPr>
        <p:spPr>
          <a:xfrm>
            <a:off x="3884614" y="8685214"/>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1"/>
        <p:cNvGrpSpPr/>
        <p:nvPr/>
      </p:nvGrpSpPr>
      <p:grpSpPr>
        <a:xfrm>
          <a:off x="0" y="0"/>
          <a:ext cx="0" cy="0"/>
          <a:chOff x="0" y="0"/>
          <a:chExt cx="0" cy="0"/>
        </a:xfrm>
      </p:grpSpPr>
      <p:sp>
        <p:nvSpPr>
          <p:cNvPr id="2802" name="Google Shape;2802;p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3" name="Google Shape;2803;p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2804" name="Google Shape;2804;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specific products that have been scoped for upgrade and to be confirmed</a:t>
            </a:r>
          </a:p>
          <a:p>
            <a:r>
              <a:rPr lang="en-US" dirty="0"/>
              <a:t>Important to know as we need to use the correct STIG controls for the version and products we need to audit</a:t>
            </a:r>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13</a:t>
            </a:fld>
            <a:endParaRPr lang="en-US" dirty="0"/>
          </a:p>
        </p:txBody>
      </p:sp>
    </p:spTree>
    <p:extLst>
      <p:ext uri="{BB962C8B-B14F-4D97-AF65-F5344CB8AC3E}">
        <p14:creationId xmlns:p14="http://schemas.microsoft.com/office/powerpoint/2010/main" val="1600755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7BA90-2EF8-9983-1126-B15B221023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90601-4684-15B3-0B2A-73BB4EC24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E026A-8534-85C6-41F4-34A915622A8E}"/>
              </a:ext>
            </a:extLst>
          </p:cNvPr>
          <p:cNvSpPr>
            <a:spLocks noGrp="1"/>
          </p:cNvSpPr>
          <p:nvPr>
            <p:ph type="body" idx="1"/>
          </p:nvPr>
        </p:nvSpPr>
        <p:spPr/>
        <p:txBody>
          <a:bodyPr/>
          <a:lstStyle/>
          <a:p>
            <a:r>
              <a:rPr lang="en-US" dirty="0"/>
              <a:t>These are the specific products that have been scoped for upgrade and to be confirmed</a:t>
            </a:r>
          </a:p>
          <a:p>
            <a:r>
              <a:rPr lang="en-US" dirty="0"/>
              <a:t>Need to know the scope of the environment we are auditing.</a:t>
            </a:r>
          </a:p>
          <a:p>
            <a:endParaRPr lang="en-US" dirty="0"/>
          </a:p>
          <a:p>
            <a:r>
              <a:rPr lang="en-US" dirty="0"/>
              <a:t>NOTE: Current estimates place analysis of an audited scan is about 2 days. Doesn't matter if it is a vCenter, Cluster or a product.</a:t>
            </a:r>
          </a:p>
          <a:p>
            <a:r>
              <a:rPr lang="en-US" dirty="0"/>
              <a:t>1 day to review and understand the Scan results and add them into the workbooks</a:t>
            </a:r>
          </a:p>
          <a:p>
            <a:r>
              <a:rPr lang="en-US" dirty="0"/>
              <a:t>1 day to discuss the results with customer and accept, mitigate or delve into further</a:t>
            </a:r>
          </a:p>
          <a:p>
            <a:endParaRPr lang="en-US" dirty="0"/>
          </a:p>
          <a:p>
            <a:r>
              <a:rPr lang="en-US" dirty="0"/>
              <a:t>Auditing an environment like this takes about 2 – three days dependent on customer proficiency and if you have prepared the relevant scripts beforehand for them.</a:t>
            </a:r>
          </a:p>
        </p:txBody>
      </p:sp>
      <p:sp>
        <p:nvSpPr>
          <p:cNvPr id="4" name="Slide Number Placeholder 3">
            <a:extLst>
              <a:ext uri="{FF2B5EF4-FFF2-40B4-BE49-F238E27FC236}">
                <a16:creationId xmlns:a16="http://schemas.microsoft.com/office/drawing/2014/main" id="{84952F6C-996F-BC6E-B649-0528E55A1DA3}"/>
              </a:ext>
            </a:extLst>
          </p:cNvPr>
          <p:cNvSpPr>
            <a:spLocks noGrp="1"/>
          </p:cNvSpPr>
          <p:nvPr>
            <p:ph type="sldNum" sz="quarter" idx="5"/>
          </p:nvPr>
        </p:nvSpPr>
        <p:spPr/>
        <p:txBody>
          <a:bodyPr/>
          <a:lstStyle/>
          <a:p>
            <a:fld id="{9F4FBC3A-A12C-40F9-BB8D-BC30C7901396}" type="slidenum">
              <a:rPr lang="en-US" smtClean="0"/>
              <a:pPr/>
              <a:t>14</a:t>
            </a:fld>
            <a:endParaRPr lang="en-US" dirty="0"/>
          </a:p>
        </p:txBody>
      </p:sp>
    </p:spTree>
    <p:extLst>
      <p:ext uri="{BB962C8B-B14F-4D97-AF65-F5344CB8AC3E}">
        <p14:creationId xmlns:p14="http://schemas.microsoft.com/office/powerpoint/2010/main" val="1858958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C3B10-EEF5-5141-2E1A-1EA3C92AC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97605-70D7-0C2A-79A6-B6038DF094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EE2D46-F68A-0D16-63FC-B70D78051490}"/>
              </a:ext>
            </a:extLst>
          </p:cNvPr>
          <p:cNvSpPr>
            <a:spLocks noGrp="1"/>
          </p:cNvSpPr>
          <p:nvPr>
            <p:ph type="body" idx="1"/>
          </p:nvPr>
        </p:nvSpPr>
        <p:spPr/>
        <p:txBody>
          <a:bodyPr/>
          <a:lstStyle/>
          <a:p>
            <a:r>
              <a:rPr lang="en-US" dirty="0"/>
              <a:t>These are the specific products that have been scoped for upgrade and to be confirmed</a:t>
            </a:r>
          </a:p>
          <a:p>
            <a:r>
              <a:rPr lang="en-US" dirty="0"/>
              <a:t>Need to know the scope of the environment we are auditing.</a:t>
            </a:r>
          </a:p>
          <a:p>
            <a:endParaRPr lang="en-US" dirty="0"/>
          </a:p>
          <a:p>
            <a:r>
              <a:rPr lang="en-US" dirty="0"/>
              <a:t>NOTE: Current estimates place analysis of an audited scan is about 2 days. Doesn't matter if it is a vCenter, Cluster or a product.</a:t>
            </a:r>
          </a:p>
          <a:p>
            <a:r>
              <a:rPr lang="en-US" dirty="0"/>
              <a:t>1 day to review and understand the Scan results and add them into the workbooks</a:t>
            </a:r>
          </a:p>
          <a:p>
            <a:r>
              <a:rPr lang="en-US" dirty="0"/>
              <a:t>1 day to discuss the results with customer and accept, mitigate or delve into further</a:t>
            </a:r>
          </a:p>
          <a:p>
            <a:endParaRPr lang="en-US" dirty="0"/>
          </a:p>
          <a:p>
            <a:r>
              <a:rPr lang="en-US" dirty="0"/>
              <a:t>Auditing an environment like this takes about 2 – three days dependent on customer proficiency and if you have prepared the relevant scripts beforehand for them.</a:t>
            </a:r>
          </a:p>
          <a:p>
            <a:endParaRPr lang="en-US" dirty="0"/>
          </a:p>
          <a:p>
            <a:r>
              <a:rPr lang="en-US" dirty="0"/>
              <a:t>Virtual machines may be grouped together. Usually, they don’t vary greatly across and environment, but clusters may dictate specific configurations depending on purpose</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5C8C1A9-6871-8AAC-E244-658A885D042D}"/>
              </a:ext>
            </a:extLst>
          </p:cNvPr>
          <p:cNvSpPr>
            <a:spLocks noGrp="1"/>
          </p:cNvSpPr>
          <p:nvPr>
            <p:ph type="sldNum" sz="quarter" idx="5"/>
          </p:nvPr>
        </p:nvSpPr>
        <p:spPr/>
        <p:txBody>
          <a:bodyPr/>
          <a:lstStyle/>
          <a:p>
            <a:fld id="{9F4FBC3A-A12C-40F9-BB8D-BC30C7901396}" type="slidenum">
              <a:rPr lang="en-US" smtClean="0"/>
              <a:pPr/>
              <a:t>15</a:t>
            </a:fld>
            <a:endParaRPr lang="en-US" dirty="0"/>
          </a:p>
        </p:txBody>
      </p:sp>
    </p:spTree>
    <p:extLst>
      <p:ext uri="{BB962C8B-B14F-4D97-AF65-F5344CB8AC3E}">
        <p14:creationId xmlns:p14="http://schemas.microsoft.com/office/powerpoint/2010/main" val="2630866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7"/>
        <p:cNvGrpSpPr/>
        <p:nvPr/>
      </p:nvGrpSpPr>
      <p:grpSpPr>
        <a:xfrm>
          <a:off x="0" y="0"/>
          <a:ext cx="0" cy="0"/>
          <a:chOff x="0" y="0"/>
          <a:chExt cx="0" cy="0"/>
        </a:xfrm>
      </p:grpSpPr>
      <p:sp>
        <p:nvSpPr>
          <p:cNvPr id="2848" name="Google Shape;2848;p13: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9" name="Google Shape;2849;p13: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dirty="0"/>
              <a:t>It's nice to know what we are letting ourselves in for</a:t>
            </a:r>
          </a:p>
          <a:p>
            <a:pPr marL="0" lvl="0" indent="0" algn="l" rtl="0">
              <a:spcBef>
                <a:spcPts val="0"/>
              </a:spcBef>
              <a:spcAft>
                <a:spcPts val="0"/>
              </a:spcAft>
              <a:buNone/>
            </a:pPr>
            <a:endParaRPr dirty="0"/>
          </a:p>
        </p:txBody>
      </p:sp>
      <p:sp>
        <p:nvSpPr>
          <p:cNvPr id="2850" name="Google Shape;2850;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3"/>
        <p:cNvGrpSpPr/>
        <p:nvPr/>
      </p:nvGrpSpPr>
      <p:grpSpPr>
        <a:xfrm>
          <a:off x="0" y="0"/>
          <a:ext cx="0" cy="0"/>
          <a:chOff x="0" y="0"/>
          <a:chExt cx="0" cy="0"/>
        </a:xfrm>
      </p:grpSpPr>
      <p:sp>
        <p:nvSpPr>
          <p:cNvPr id="2904" name="Google Shape;2904;p15:notes"/>
          <p:cNvSpPr txBox="1">
            <a:spLocks noGrp="1"/>
          </p:cNvSpPr>
          <p:nvPr>
            <p:ph type="body" idx="1"/>
          </p:nvPr>
        </p:nvSpPr>
        <p:spPr>
          <a:xfrm>
            <a:off x="457200" y="3810000"/>
            <a:ext cx="5943600" cy="487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905" name="Google Shape;2905;p15: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8"/>
        <p:cNvGrpSpPr/>
        <p:nvPr/>
      </p:nvGrpSpPr>
      <p:grpSpPr>
        <a:xfrm>
          <a:off x="0" y="0"/>
          <a:ext cx="0" cy="0"/>
          <a:chOff x="0" y="0"/>
          <a:chExt cx="0" cy="0"/>
        </a:xfrm>
      </p:grpSpPr>
      <p:sp>
        <p:nvSpPr>
          <p:cNvPr id="2909" name="Google Shape;2909;p1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0" name="Google Shape;2910;p16: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a:t>https://www.sentinelone.com/cybersecurity-101/cloud-security/security-posture-assessment/</a:t>
            </a:r>
            <a:endParaRPr/>
          </a:p>
          <a:p>
            <a:pPr marL="0" lvl="0" indent="0" algn="l" rtl="0">
              <a:spcBef>
                <a:spcPts val="0"/>
              </a:spcBef>
              <a:spcAft>
                <a:spcPts val="0"/>
              </a:spcAft>
              <a:buNone/>
            </a:pPr>
            <a:r>
              <a:rPr lang="en-US" u="sng">
                <a:solidFill>
                  <a:schemeClr val="hlink"/>
                </a:solidFill>
                <a:hlinkClick r:id="rId3"/>
              </a:rPr>
              <a:t>https://techdocs.broadcom.com/us/en/vmware-cis/live-recovery/site-recovery-manager/8-8/site-recovery-manager-security-8-8.html</a:t>
            </a:r>
            <a:br>
              <a:rPr lang="en-US"/>
            </a:br>
            <a:r>
              <a:rPr lang="en-US" u="sng">
                <a:solidFill>
                  <a:schemeClr val="hlink"/>
                </a:solidFill>
                <a:hlinkClick r:id="rId4"/>
              </a:rPr>
              <a:t>https://techdocs.broadcom.com/us/en/vmware-cis/live-recovery/live-site-recovery/9-0/security.html</a:t>
            </a:r>
            <a:endParaRPr/>
          </a:p>
          <a:p>
            <a:pPr marL="0" lvl="0" indent="0" algn="l" rtl="0">
              <a:spcBef>
                <a:spcPts val="0"/>
              </a:spcBef>
              <a:spcAft>
                <a:spcPts val="0"/>
              </a:spcAft>
              <a:buNone/>
            </a:pPr>
            <a:r>
              <a:rPr lang="en-US"/>
              <a:t>https://knowledge.broadcom.com/external/article?legacyId=94398</a:t>
            </a:r>
            <a:endParaRPr/>
          </a:p>
          <a:p>
            <a:pPr marL="0" marR="0" lvl="0" indent="0" algn="l" rtl="0">
              <a:lnSpc>
                <a:spcPct val="100000"/>
              </a:lnSpc>
              <a:spcBef>
                <a:spcPts val="0"/>
              </a:spcBef>
              <a:spcAft>
                <a:spcPts val="0"/>
              </a:spcAft>
              <a:buClr>
                <a:schemeClr val="dk1"/>
              </a:buClr>
              <a:buSzPts val="1200"/>
              <a:buFont typeface="Arial"/>
              <a:buNone/>
            </a:pPr>
            <a:r>
              <a:rPr lang="en-US"/>
              <a:t>https://techdocs.broadcom.com/us/en/vmware-cis/skyline/health-diagnostics/4-0-7.html</a:t>
            </a:r>
            <a:endParaRPr/>
          </a:p>
          <a:p>
            <a:pPr marL="0" lvl="0" indent="0" algn="l" rtl="0">
              <a:spcBef>
                <a:spcPts val="0"/>
              </a:spcBef>
              <a:spcAft>
                <a:spcPts val="0"/>
              </a:spcAft>
              <a:buNone/>
            </a:pPr>
            <a:endParaRPr/>
          </a:p>
        </p:txBody>
      </p:sp>
      <p:sp>
        <p:nvSpPr>
          <p:cNvPr id="2911" name="Google Shape;2911;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6"/>
        <p:cNvGrpSpPr/>
        <p:nvPr/>
      </p:nvGrpSpPr>
      <p:grpSpPr>
        <a:xfrm>
          <a:off x="0" y="0"/>
          <a:ext cx="0" cy="0"/>
          <a:chOff x="0" y="0"/>
          <a:chExt cx="0" cy="0"/>
        </a:xfrm>
      </p:grpSpPr>
      <p:sp>
        <p:nvSpPr>
          <p:cNvPr id="2917" name="Google Shape;2917;p17: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8" name="Google Shape;2918;p17: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dirty="0"/>
              <a:t>https://nvd.nist.gov/vuln</a:t>
            </a:r>
            <a:endParaRPr dirty="0"/>
          </a:p>
          <a:p>
            <a:pPr marL="0" lvl="0" indent="0" algn="l" rtl="0">
              <a:spcBef>
                <a:spcPts val="0"/>
              </a:spcBef>
              <a:spcAft>
                <a:spcPts val="0"/>
              </a:spcAft>
              <a:buNone/>
            </a:pPr>
            <a:r>
              <a:rPr lang="en-US" dirty="0"/>
              <a:t>https://www.cve.org/ProgramOrganization/CNAs</a:t>
            </a:r>
            <a:endParaRPr dirty="0"/>
          </a:p>
          <a:p>
            <a:pPr marL="0" lvl="0" indent="0" algn="l" rtl="0">
              <a:spcBef>
                <a:spcPts val="0"/>
              </a:spcBef>
              <a:spcAft>
                <a:spcPts val="0"/>
              </a:spcAft>
              <a:buNone/>
            </a:pPr>
            <a:r>
              <a:rPr lang="en-US" dirty="0"/>
              <a:t>https://techdocs.broadcom.com/us/en/vmware-cis/vcf/vvs/1-0/site-protection-and-disaster-recovery-for-vmware-cloud-foundation.html</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INTERNAL VPN required</a:t>
            </a:r>
            <a:endParaRPr dirty="0"/>
          </a:p>
          <a:p>
            <a:pPr marL="0" lvl="0" indent="0" algn="l" rtl="0">
              <a:spcBef>
                <a:spcPts val="0"/>
              </a:spcBef>
              <a:spcAft>
                <a:spcPts val="0"/>
              </a:spcAft>
              <a:buNone/>
            </a:pPr>
            <a:r>
              <a:rPr lang="en-US" dirty="0"/>
              <a:t>https://vmw-confluence.broadcom.net/display/VSRC/VMSA+%28Confidential%29+Pre-announce</a:t>
            </a: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dirty="0"/>
          </a:p>
        </p:txBody>
      </p:sp>
      <p:sp>
        <p:nvSpPr>
          <p:cNvPr id="2919" name="Google Shape;2919;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4"/>
        <p:cNvGrpSpPr/>
        <p:nvPr/>
      </p:nvGrpSpPr>
      <p:grpSpPr>
        <a:xfrm>
          <a:off x="0" y="0"/>
          <a:ext cx="0" cy="0"/>
          <a:chOff x="0" y="0"/>
          <a:chExt cx="0" cy="0"/>
        </a:xfrm>
      </p:grpSpPr>
      <p:sp>
        <p:nvSpPr>
          <p:cNvPr id="2925" name="Google Shape;2925;p18: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6" name="Google Shape;2926;p18: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a:t>https://nvd.nist.gov/vuln</a:t>
            </a:r>
            <a:endParaRPr/>
          </a:p>
          <a:p>
            <a:pPr marL="0" lvl="0" indent="0" algn="l" rtl="0">
              <a:spcBef>
                <a:spcPts val="0"/>
              </a:spcBef>
              <a:spcAft>
                <a:spcPts val="0"/>
              </a:spcAft>
              <a:buNone/>
            </a:pPr>
            <a:r>
              <a:rPr lang="en-US"/>
              <a:t>https://www.cve.org/ProgramOrganization/CNAs</a:t>
            </a:r>
            <a:endParaRPr/>
          </a:p>
          <a:p>
            <a:pPr marL="0" lvl="0" indent="0" algn="l" rtl="0">
              <a:spcBef>
                <a:spcPts val="0"/>
              </a:spcBef>
              <a:spcAft>
                <a:spcPts val="0"/>
              </a:spcAft>
              <a:buNone/>
            </a:pPr>
            <a:endParaRPr/>
          </a:p>
          <a:p>
            <a:pPr marL="0" lvl="0" indent="0" algn="l" rtl="0">
              <a:spcBef>
                <a:spcPts val="0"/>
              </a:spcBef>
              <a:spcAft>
                <a:spcPts val="0"/>
              </a:spcAft>
              <a:buNone/>
            </a:pPr>
            <a:r>
              <a:rPr lang="en-US"/>
              <a:t>INTERNAL VPN required</a:t>
            </a:r>
            <a:endParaRPr/>
          </a:p>
          <a:p>
            <a:pPr marL="0" lvl="0" indent="0" algn="l" rtl="0">
              <a:spcBef>
                <a:spcPts val="0"/>
              </a:spcBef>
              <a:spcAft>
                <a:spcPts val="0"/>
              </a:spcAft>
              <a:buNone/>
            </a:pPr>
            <a:r>
              <a:rPr lang="en-US"/>
              <a:t>https://vmw-confluence.broadcom.net/display/VSRC/VMSA+%28Confidential%29+Pre-announce</a:t>
            </a:r>
            <a:endParaRPr b="1"/>
          </a:p>
          <a:p>
            <a:pPr marL="0" lvl="0" indent="0" algn="l" rtl="0">
              <a:spcBef>
                <a:spcPts val="0"/>
              </a:spcBef>
              <a:spcAft>
                <a:spcPts val="0"/>
              </a:spcAft>
              <a:buNone/>
            </a:pPr>
            <a:endParaRPr b="1"/>
          </a:p>
          <a:p>
            <a:pPr marL="0" lvl="0" indent="0" algn="l" rtl="0">
              <a:spcBef>
                <a:spcPts val="0"/>
              </a:spcBef>
              <a:spcAft>
                <a:spcPts val="0"/>
              </a:spcAft>
              <a:buNone/>
            </a:pPr>
            <a:endParaRPr/>
          </a:p>
        </p:txBody>
      </p:sp>
      <p:sp>
        <p:nvSpPr>
          <p:cNvPr id="2927" name="Google Shape;2927;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0" indent="0">
              <a:buNone/>
            </a:pPr>
            <a:r>
              <a:rPr lang="en-US" sz="1400" b="1" dirty="0">
                <a:solidFill>
                  <a:schemeClr val="accent2"/>
                </a:solidFill>
              </a:rPr>
              <a:t>In-Scope Products</a:t>
            </a:r>
          </a:p>
          <a:p>
            <a:pPr marL="171450" indent="-171450">
              <a:spcBef>
                <a:spcPts val="600"/>
              </a:spcBef>
              <a:buFont typeface="Arial" panose="020B0604020202020204" pitchFamily="34" charset="0"/>
              <a:buChar char="•"/>
            </a:pPr>
            <a:r>
              <a:rPr lang="en-US" sz="1200" dirty="0">
                <a:solidFill>
                  <a:schemeClr val="accent4"/>
                </a:solidFill>
              </a:rPr>
              <a:t>The service evaluates the current state configuration of the following vSphere components:</a:t>
            </a:r>
          </a:p>
          <a:p>
            <a:pPr marL="742950" lvl="1" indent="-285750">
              <a:lnSpc>
                <a:spcPct val="130000"/>
              </a:lnSpc>
              <a:buFont typeface="Arial" panose="020B0604020202020204" pitchFamily="34" charset="0"/>
              <a:buChar char="•"/>
            </a:pPr>
            <a:r>
              <a:rPr lang="en-US" sz="1200" dirty="0">
                <a:solidFill>
                  <a:schemeClr val="tx2"/>
                </a:solidFill>
              </a:rPr>
              <a:t>478 </a:t>
            </a:r>
            <a:r>
              <a:rPr lang="en-US" sz="1200" dirty="0" err="1">
                <a:solidFill>
                  <a:schemeClr val="tx2"/>
                </a:solidFill>
              </a:rPr>
              <a:t>ESXi</a:t>
            </a:r>
            <a:endParaRPr lang="en-US" sz="1200" dirty="0">
              <a:solidFill>
                <a:schemeClr val="tx2"/>
              </a:solidFill>
            </a:endParaRPr>
          </a:p>
          <a:p>
            <a:pPr marL="742950" lvl="1" indent="-285750">
              <a:lnSpc>
                <a:spcPct val="130000"/>
              </a:lnSpc>
              <a:buFont typeface="Arial" panose="020B0604020202020204" pitchFamily="34" charset="0"/>
              <a:buChar char="•"/>
            </a:pPr>
            <a:r>
              <a:rPr lang="en-US" sz="1200" dirty="0">
                <a:solidFill>
                  <a:schemeClr val="tx2"/>
                </a:solidFill>
              </a:rPr>
              <a:t>3260 Virtual Machines</a:t>
            </a:r>
          </a:p>
          <a:p>
            <a:pPr marL="742950" lvl="1" indent="-285750">
              <a:lnSpc>
                <a:spcPct val="130000"/>
              </a:lnSpc>
              <a:buFont typeface="Arial" panose="020B0604020202020204" pitchFamily="34" charset="0"/>
              <a:buChar char="•"/>
            </a:pPr>
            <a:r>
              <a:rPr lang="en-US" sz="1200" dirty="0">
                <a:solidFill>
                  <a:schemeClr val="tx2"/>
                </a:solidFill>
              </a:rPr>
              <a:t>2 vCenter</a:t>
            </a:r>
          </a:p>
          <a:p>
            <a:pPr marL="171450" lvl="0" indent="-171450">
              <a:spcBef>
                <a:spcPts val="600"/>
              </a:spcBef>
              <a:buFont typeface="Arial" panose="020B0604020202020204" pitchFamily="34" charset="0"/>
              <a:buChar char="•"/>
            </a:pPr>
            <a:r>
              <a:rPr lang="en-US" sz="1200" dirty="0">
                <a:solidFill>
                  <a:schemeClr val="accent4"/>
                </a:solidFill>
              </a:rPr>
              <a:t>The level of effort is based on the quantity of each of these components that the customer wants assessed. </a:t>
            </a:r>
          </a:p>
          <a:p>
            <a:endParaRPr lang="en-US" dirty="0"/>
          </a:p>
          <a:p>
            <a:pPr marL="0" indent="0">
              <a:buNone/>
            </a:pPr>
            <a:r>
              <a:rPr lang="en-US" sz="1400" b="1" dirty="0">
                <a:solidFill>
                  <a:schemeClr val="accent2"/>
                </a:solidFill>
              </a:rPr>
              <a:t>Frameworks and Configurations</a:t>
            </a:r>
          </a:p>
          <a:p>
            <a:pPr marL="0" indent="0">
              <a:buNone/>
            </a:pPr>
            <a:r>
              <a:rPr lang="en-US" b="0" i="0" u="none" dirty="0"/>
              <a:t>1. </a:t>
            </a:r>
            <a:r>
              <a:rPr lang="en-US" b="0" i="1" u="sng" dirty="0"/>
              <a:t>Configurations</a:t>
            </a:r>
            <a:endParaRPr lang="en-US" b="0" i="0" u="none" dirty="0"/>
          </a:p>
          <a:p>
            <a:pPr marL="171450" indent="-171450">
              <a:spcBef>
                <a:spcPts val="600"/>
              </a:spcBef>
              <a:buFont typeface="Arial" panose="020B0604020202020204" pitchFamily="34" charset="0"/>
              <a:buChar char="•"/>
            </a:pPr>
            <a:r>
              <a:rPr lang="en-US" sz="1200" dirty="0">
                <a:solidFill>
                  <a:schemeClr val="accent4"/>
                </a:solidFill>
              </a:rPr>
              <a:t>The service reviews 79 individual security configurations that are further mapped into the vSphere components highlighted above.</a:t>
            </a:r>
          </a:p>
          <a:p>
            <a:pPr marL="628650" lvl="1" indent="-171450">
              <a:spcBef>
                <a:spcPts val="600"/>
              </a:spcBef>
              <a:buFont typeface="Arial" panose="020B0604020202020204" pitchFamily="34" charset="0"/>
              <a:buChar char="•"/>
            </a:pPr>
            <a:r>
              <a:rPr lang="en-US" sz="1200" dirty="0">
                <a:solidFill>
                  <a:schemeClr val="accent4"/>
                </a:solidFill>
              </a:rPr>
              <a:t>The service will review: 5 vCenter configurations, 51 </a:t>
            </a:r>
            <a:r>
              <a:rPr lang="en-US" sz="1200" dirty="0" err="1">
                <a:solidFill>
                  <a:schemeClr val="accent4"/>
                </a:solidFill>
              </a:rPr>
              <a:t>ESXi</a:t>
            </a:r>
            <a:r>
              <a:rPr lang="en-US" sz="1200" dirty="0">
                <a:solidFill>
                  <a:schemeClr val="accent4"/>
                </a:solidFill>
              </a:rPr>
              <a:t> configurations and 23 Virtual Machine configurations.</a:t>
            </a:r>
          </a:p>
          <a:p>
            <a:pPr marL="628650" lvl="1" indent="-171450">
              <a:spcBef>
                <a:spcPts val="600"/>
              </a:spcBef>
              <a:buFont typeface="Arial" panose="020B0604020202020204" pitchFamily="34" charset="0"/>
              <a:buChar char="•"/>
            </a:pPr>
            <a:endParaRPr lang="en-US" sz="1200" dirty="0">
              <a:solidFill>
                <a:schemeClr val="accent4"/>
              </a:solidFill>
            </a:endParaRPr>
          </a:p>
          <a:p>
            <a:pPr marL="0" indent="0">
              <a:buNone/>
            </a:pPr>
            <a:r>
              <a:rPr lang="en-US" b="0" i="0" u="none" dirty="0"/>
              <a:t>2. </a:t>
            </a:r>
            <a:r>
              <a:rPr lang="en-US" b="0" i="1" u="sng" dirty="0"/>
              <a:t>Frameworks</a:t>
            </a:r>
            <a:endParaRPr lang="en-US" b="0" i="0" u="none" dirty="0"/>
          </a:p>
          <a:p>
            <a:pPr marL="171450" indent="-171450">
              <a:spcBef>
                <a:spcPts val="600"/>
              </a:spcBef>
              <a:buFont typeface="Arial" panose="020B0604020202020204" pitchFamily="34" charset="0"/>
              <a:buChar char="•"/>
            </a:pPr>
            <a:r>
              <a:rPr lang="en-US" sz="1200" dirty="0">
                <a:solidFill>
                  <a:schemeClr val="accent4"/>
                </a:solidFill>
              </a:rPr>
              <a:t>Each configuration is mapped to NIST 800-53, NIST 800-171/CMMC, PCI DDS 3.2.1 and ISO 27001:2013.</a:t>
            </a:r>
          </a:p>
          <a:p>
            <a:pPr marL="171450" indent="-171450">
              <a:spcBef>
                <a:spcPts val="600"/>
              </a:spcBef>
              <a:buFont typeface="Arial" panose="020B0604020202020204" pitchFamily="34" charset="0"/>
              <a:buChar char="•"/>
            </a:pPr>
            <a:r>
              <a:rPr lang="en-US" sz="1200" dirty="0">
                <a:solidFill>
                  <a:schemeClr val="accent4"/>
                </a:solidFill>
              </a:rPr>
              <a:t>In the beginning of an engagement, there is a “Security Strategy Workshop” where the consultant will discuss with the customer which framework or frameworks the customer wants their configurations to be evaluated against. Based on this decision, the configurations are evaluated based on the “recommended value” as specified by the framework.</a:t>
            </a:r>
          </a:p>
          <a:p>
            <a:pPr marL="171450" indent="-171450">
              <a:spcBef>
                <a:spcPts val="600"/>
              </a:spcBef>
              <a:buFont typeface="Arial" panose="020B0604020202020204" pitchFamily="34" charset="0"/>
              <a:buChar char="•"/>
            </a:pPr>
            <a:endParaRPr lang="en-US" sz="1200" dirty="0">
              <a:solidFill>
                <a:schemeClr val="accent4"/>
              </a:solidFill>
            </a:endParaRPr>
          </a:p>
          <a:p>
            <a:pPr marL="0" indent="0">
              <a:buNone/>
            </a:pPr>
            <a:r>
              <a:rPr lang="en-US" sz="1400" b="1" dirty="0">
                <a:solidFill>
                  <a:schemeClr val="accent2"/>
                </a:solidFill>
              </a:rPr>
              <a:t>Scoring Methodology</a:t>
            </a:r>
          </a:p>
          <a:p>
            <a:pPr marL="171450" indent="-171450">
              <a:spcBef>
                <a:spcPts val="600"/>
              </a:spcBef>
              <a:buFont typeface="Arial" panose="020B0604020202020204" pitchFamily="34" charset="0"/>
              <a:buChar char="•"/>
            </a:pPr>
            <a:r>
              <a:rPr lang="en-US" sz="1200" dirty="0">
                <a:solidFill>
                  <a:schemeClr val="accent4"/>
                </a:solidFill>
              </a:rPr>
              <a:t>In-scope vCenter Servers, </a:t>
            </a:r>
            <a:r>
              <a:rPr lang="en-US" sz="1200" dirty="0" err="1">
                <a:solidFill>
                  <a:schemeClr val="accent4"/>
                </a:solidFill>
              </a:rPr>
              <a:t>ESXi</a:t>
            </a:r>
            <a:r>
              <a:rPr lang="en-US" sz="1200" dirty="0">
                <a:solidFill>
                  <a:schemeClr val="accent4"/>
                </a:solidFill>
              </a:rPr>
              <a:t> Hosts and VM’s are then evaluated for each relevant configuration to the “recommended value” as previously outlined. If configurations meet or exceed the “recommended value” they will return a result of True. If they DO NOT meet the “recommended value” they will return a result of False. Based on this methodology a “percent compliant” score is provided for each configuration as relevant to each in-scope component. </a:t>
            </a:r>
          </a:p>
          <a:p>
            <a:pPr marL="171450" indent="-171450">
              <a:spcBef>
                <a:spcPts val="600"/>
              </a:spcBef>
              <a:buFont typeface="Arial" panose="020B0604020202020204" pitchFamily="34" charset="0"/>
              <a:buChar char="•"/>
            </a:pPr>
            <a:r>
              <a:rPr lang="en-US" sz="1200" dirty="0">
                <a:solidFill>
                  <a:schemeClr val="accent4"/>
                </a:solidFill>
              </a:rPr>
              <a:t>Example: We want to ensure that secure boot is enabled on </a:t>
            </a:r>
            <a:r>
              <a:rPr lang="en-US" sz="1200" dirty="0" err="1">
                <a:solidFill>
                  <a:schemeClr val="accent4"/>
                </a:solidFill>
              </a:rPr>
              <a:t>ESXi</a:t>
            </a:r>
            <a:r>
              <a:rPr lang="en-US" sz="1200" dirty="0">
                <a:solidFill>
                  <a:schemeClr val="accent4"/>
                </a:solidFill>
              </a:rPr>
              <a:t> hosts, we will scan all host to assess if the secure boot value is set to “Enabled”. All hosts set to “Enabled” would return a result of True, all hosts that don’t would return a value of False. If out of 100 hosts in the environment we have 75 that are True and 25 that are False, the result of the evaluation of this configuration would be 75% compliant.</a:t>
            </a:r>
          </a:p>
          <a:p>
            <a:pPr marL="171450" indent="-171450">
              <a:spcBef>
                <a:spcPts val="600"/>
              </a:spcBef>
              <a:buFont typeface="Arial" panose="020B0604020202020204" pitchFamily="34" charset="0"/>
              <a:buChar char="•"/>
            </a:pPr>
            <a:r>
              <a:rPr lang="en-US" sz="1200" dirty="0">
                <a:solidFill>
                  <a:schemeClr val="accent4"/>
                </a:solidFill>
              </a:rPr>
              <a:t>VMware would then provide a recommendation to remediate the 25 remaining hosts that are not compliant taking into account environment specific restraints based on conversations with the customer. </a:t>
            </a:r>
          </a:p>
          <a:p>
            <a:pPr marL="171450" indent="-171450">
              <a:spcBef>
                <a:spcPts val="600"/>
              </a:spcBef>
              <a:buFont typeface="Arial" panose="020B0604020202020204" pitchFamily="34" charset="0"/>
              <a:buChar char="•"/>
            </a:pPr>
            <a:endParaRPr lang="en-US" sz="1200" dirty="0">
              <a:solidFill>
                <a:schemeClr val="accent4"/>
              </a:solidFill>
            </a:endParaRPr>
          </a:p>
          <a:p>
            <a:pPr marL="0" indent="0">
              <a:buNone/>
            </a:pPr>
            <a:r>
              <a:rPr lang="en-US" sz="1400" b="1" dirty="0">
                <a:solidFill>
                  <a:schemeClr val="accent2"/>
                </a:solidFill>
              </a:rPr>
              <a:t>Roadmap</a:t>
            </a:r>
          </a:p>
          <a:p>
            <a:pPr marL="171450" indent="-171450">
              <a:spcBef>
                <a:spcPts val="600"/>
              </a:spcBef>
              <a:buFont typeface="Arial" panose="020B0604020202020204" pitchFamily="34" charset="0"/>
              <a:buChar char="•"/>
            </a:pPr>
            <a:r>
              <a:rPr lang="en-US" sz="1200" dirty="0">
                <a:solidFill>
                  <a:schemeClr val="accent4"/>
                </a:solidFill>
              </a:rPr>
              <a:t>During the Findings Presentation VMware will provide a roadmap to assist the customer in prioritizing remediation activities. The VMware consultant will take into account risk, industry, effort, the customer environment, etc. when prioritizing remediation activities. Recommendations will be prioritized into the following categories:</a:t>
            </a:r>
          </a:p>
          <a:p>
            <a:pPr marL="628650" lvl="1" indent="-171450">
              <a:spcBef>
                <a:spcPts val="600"/>
              </a:spcBef>
              <a:buFont typeface="Arial" panose="020B0604020202020204" pitchFamily="34" charset="0"/>
              <a:buChar char="•"/>
            </a:pPr>
            <a:r>
              <a:rPr lang="en-US" sz="1200" dirty="0">
                <a:solidFill>
                  <a:schemeClr val="accent4"/>
                </a:solidFill>
              </a:rPr>
              <a:t>Short-Term - Items of higher severity that are required to be addressed in the next 60 days. </a:t>
            </a:r>
          </a:p>
          <a:p>
            <a:pPr marL="628650" lvl="1" indent="-171450">
              <a:spcBef>
                <a:spcPts val="600"/>
              </a:spcBef>
              <a:buFont typeface="Arial" panose="020B0604020202020204" pitchFamily="34" charset="0"/>
              <a:buChar char="•"/>
            </a:pPr>
            <a:r>
              <a:rPr lang="en-US" sz="1200" dirty="0">
                <a:solidFill>
                  <a:schemeClr val="accent4"/>
                </a:solidFill>
              </a:rPr>
              <a:t>Medium-Term - Items of potential concern, that are recommended to be addressed in the next 3 – 6 months</a:t>
            </a:r>
          </a:p>
          <a:p>
            <a:pPr marL="628650" marR="0" lvl="1"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200" dirty="0">
                <a:solidFill>
                  <a:schemeClr val="accent4"/>
                </a:solidFill>
              </a:rPr>
              <a:t>Long-Term - </a:t>
            </a:r>
            <a:r>
              <a:rPr lang="en-US" sz="1200" dirty="0">
                <a:solidFill>
                  <a:schemeClr val="bg2">
                    <a:lumMod val="10000"/>
                  </a:schemeClr>
                </a:solidFill>
                <a:effectLst/>
                <a:latin typeface="Metropolis" panose="00000500000000000000" pitchFamily="2" charset="0"/>
                <a:ea typeface="Times New Roman" panose="02020603050405020304" pitchFamily="18" charset="0"/>
                <a:cs typeface="Times New Roman" panose="02020603050405020304" pitchFamily="18" charset="0"/>
              </a:rPr>
              <a:t>Items that are deviation from best practices, recommended to be addressed in the next year</a:t>
            </a:r>
          </a:p>
        </p:txBody>
      </p:sp>
      <p:sp>
        <p:nvSpPr>
          <p:cNvPr id="4" name="Slide Number Placeholder 3"/>
          <p:cNvSpPr>
            <a:spLocks noGrp="1"/>
          </p:cNvSpPr>
          <p:nvPr>
            <p:ph type="sldNum" sz="quarter" idx="5"/>
          </p:nvPr>
        </p:nvSpPr>
        <p:spPr/>
        <p:txBody>
          <a:bodyPr/>
          <a:lstStyle/>
          <a:p>
            <a:fld id="{9F4FBC3A-A12C-40F9-BB8D-BC30C7901396}" type="slidenum">
              <a:rPr lang="en-US" smtClean="0"/>
              <a:pPr/>
              <a:t>21</a:t>
            </a:fld>
            <a:endParaRPr lang="en-US" dirty="0"/>
          </a:p>
        </p:txBody>
      </p:sp>
    </p:spTree>
    <p:extLst>
      <p:ext uri="{BB962C8B-B14F-4D97-AF65-F5344CB8AC3E}">
        <p14:creationId xmlns:p14="http://schemas.microsoft.com/office/powerpoint/2010/main" val="1300214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2"/>
        <p:cNvGrpSpPr/>
        <p:nvPr/>
      </p:nvGrpSpPr>
      <p:grpSpPr>
        <a:xfrm>
          <a:off x="0" y="0"/>
          <a:ext cx="0" cy="0"/>
          <a:chOff x="0" y="0"/>
          <a:chExt cx="0" cy="0"/>
        </a:xfrm>
      </p:grpSpPr>
      <p:sp>
        <p:nvSpPr>
          <p:cNvPr id="3033" name="Google Shape;3033;p20: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4" name="Google Shape;3034;p20: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Send OVA to Security Team – This is the STIG Appliance created by the VMware Security Team</a:t>
            </a:r>
            <a:endParaRPr/>
          </a:p>
          <a:p>
            <a:pPr marL="0" marR="0" lvl="0" indent="0" algn="l" rtl="0">
              <a:lnSpc>
                <a:spcPct val="100000"/>
              </a:lnSpc>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a:p>
            <a:pPr marL="0" lvl="0" indent="0" algn="l" rtl="0">
              <a:spcBef>
                <a:spcPts val="0"/>
              </a:spcBef>
              <a:spcAft>
                <a:spcPts val="0"/>
              </a:spcAft>
              <a:buNone/>
            </a:pPr>
            <a:endParaRPr/>
          </a:p>
        </p:txBody>
      </p:sp>
      <p:sp>
        <p:nvSpPr>
          <p:cNvPr id="3035" name="Google Shape;3035;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latin typeface="Arial"/>
                <a:ea typeface="Arial"/>
                <a:cs typeface="Arial"/>
                <a:sym typeface="Arial"/>
              </a:rPr>
              <a:t>22</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Detailed report - VCF_Security_Verification_Workbook_v2.xlsx, Raw JSON, CKL, HTML files from the STIG TOOL. </a:t>
            </a:r>
          </a:p>
          <a:p>
            <a:pPr marL="0" lvl="0" indent="0" algn="l" rtl="0">
              <a:spcBef>
                <a:spcPts val="0"/>
              </a:spcBef>
              <a:spcAft>
                <a:spcPts val="0"/>
              </a:spcAft>
              <a:buNone/>
            </a:pPr>
            <a:r>
              <a:rPr lang="en-US" dirty="0"/>
              <a:t>technical best practices – See Archived Content</a:t>
            </a:r>
          </a:p>
          <a:p>
            <a:pPr marL="0" lvl="0" indent="0" algn="l" rtl="0">
              <a:spcBef>
                <a:spcPts val="0"/>
              </a:spcBef>
              <a:spcAft>
                <a:spcPts val="0"/>
              </a:spcAft>
              <a:buNone/>
            </a:pPr>
            <a:r>
              <a:rPr lang="en-US" dirty="0"/>
              <a:t>Supplemental Excel Workbook - VCF_Security_Configuration_Workbook_v2.xlsx</a:t>
            </a:r>
          </a:p>
          <a:p>
            <a:pPr marL="0" lvl="0" indent="0" algn="l" rtl="0">
              <a:spcBef>
                <a:spcPts val="0"/>
              </a:spcBef>
              <a:spcAft>
                <a:spcPts val="0"/>
              </a:spcAft>
              <a:buNone/>
            </a:pPr>
            <a:r>
              <a:rPr lang="en-US" sz="1200" dirty="0"/>
              <a:t>Consolidated presentation – Kims’ format - 20250331 - Health Assessment.pptx</a:t>
            </a:r>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23</a:t>
            </a:fld>
            <a:endParaRPr lang="en-US" dirty="0"/>
          </a:p>
        </p:txBody>
      </p:sp>
    </p:spTree>
    <p:extLst>
      <p:ext uri="{BB962C8B-B14F-4D97-AF65-F5344CB8AC3E}">
        <p14:creationId xmlns:p14="http://schemas.microsoft.com/office/powerpoint/2010/main" val="3880791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3"/>
        <p:cNvGrpSpPr/>
        <p:nvPr/>
      </p:nvGrpSpPr>
      <p:grpSpPr>
        <a:xfrm>
          <a:off x="0" y="0"/>
          <a:ext cx="0" cy="0"/>
          <a:chOff x="0" y="0"/>
          <a:chExt cx="0" cy="0"/>
        </a:xfrm>
      </p:grpSpPr>
      <p:sp>
        <p:nvSpPr>
          <p:cNvPr id="3084" name="Google Shape;3084;p22: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5" name="Google Shape;3085;p22: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endParaRPr/>
          </a:p>
        </p:txBody>
      </p:sp>
      <p:sp>
        <p:nvSpPr>
          <p:cNvPr id="3086" name="Google Shape;3086;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4">
          <a:extLst>
            <a:ext uri="{FF2B5EF4-FFF2-40B4-BE49-F238E27FC236}">
              <a16:creationId xmlns:a16="http://schemas.microsoft.com/office/drawing/2014/main" id="{55287E57-A028-2787-6B1A-B3F96128DC69}"/>
            </a:ext>
          </a:extLst>
        </p:cNvPr>
        <p:cNvGrpSpPr/>
        <p:nvPr/>
      </p:nvGrpSpPr>
      <p:grpSpPr>
        <a:xfrm>
          <a:off x="0" y="0"/>
          <a:ext cx="0" cy="0"/>
          <a:chOff x="0" y="0"/>
          <a:chExt cx="0" cy="0"/>
        </a:xfrm>
      </p:grpSpPr>
      <p:sp>
        <p:nvSpPr>
          <p:cNvPr id="2775" name="Google Shape;2775;g34fc6d1a61e_1_3923:notes">
            <a:extLst>
              <a:ext uri="{FF2B5EF4-FFF2-40B4-BE49-F238E27FC236}">
                <a16:creationId xmlns:a16="http://schemas.microsoft.com/office/drawing/2014/main" id="{A6F193F7-C53B-6618-35F2-838E87918B26}"/>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6" name="Google Shape;2776;g34fc6d1a61e_1_3923:notes">
            <a:extLst>
              <a:ext uri="{FF2B5EF4-FFF2-40B4-BE49-F238E27FC236}">
                <a16:creationId xmlns:a16="http://schemas.microsoft.com/office/drawing/2014/main" id="{0F130A28-4735-3225-04DD-703A3DFC12A8}"/>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dirty="0"/>
          </a:p>
        </p:txBody>
      </p:sp>
      <p:sp>
        <p:nvSpPr>
          <p:cNvPr id="2777" name="Google Shape;2777;g34fc6d1a61e_1_3923:notes">
            <a:extLst>
              <a:ext uri="{FF2B5EF4-FFF2-40B4-BE49-F238E27FC236}">
                <a16:creationId xmlns:a16="http://schemas.microsoft.com/office/drawing/2014/main" id="{67E130B3-54C3-8301-8CC4-7BBDB5354F3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38498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pPr marL="0" lvl="0" indent="0" algn="l" rtl="0">
              <a:lnSpc>
                <a:spcPct val="100000"/>
              </a:lnSpc>
              <a:spcBef>
                <a:spcPts val="0"/>
              </a:spcBef>
              <a:spcAft>
                <a:spcPts val="0"/>
              </a:spcAft>
              <a:buSzPts val="1400"/>
              <a:buNone/>
            </a:pPr>
            <a:r>
              <a:rPr lang="en-AU" dirty="0"/>
              <a:t>SoW Estimates:</a:t>
            </a:r>
            <a:endParaRPr lang="en-AU" sz="1200" b="0" i="0" u="none" strike="noStrike" cap="none" dirty="0">
              <a:solidFill>
                <a:schemeClr val="dk1"/>
              </a:solidFill>
              <a:effectLst/>
              <a:latin typeface="+mn-lt"/>
              <a:cs typeface="Arial"/>
              <a:sym typeface="Arial"/>
            </a:endParaRPr>
          </a:p>
          <a:p>
            <a:pPr marL="0" lvl="0" indent="0" algn="l" rtl="0">
              <a:lnSpc>
                <a:spcPct val="100000"/>
              </a:lnSpc>
              <a:spcBef>
                <a:spcPts val="0"/>
              </a:spcBef>
              <a:spcAft>
                <a:spcPts val="0"/>
              </a:spcAft>
              <a:buSzPts val="1400"/>
              <a:buNone/>
            </a:pPr>
            <a:r>
              <a:rPr lang="en-US" sz="1200" b="1" i="1" u="none" strike="noStrike" cap="none" dirty="0">
                <a:solidFill>
                  <a:schemeClr val="dk1"/>
                </a:solidFill>
                <a:effectLst/>
                <a:latin typeface="+mn-lt"/>
                <a:ea typeface="Arial"/>
                <a:cs typeface="Arial"/>
                <a:sym typeface="Arial"/>
              </a:rPr>
              <a:t>Base Estimate</a:t>
            </a:r>
          </a:p>
          <a:p>
            <a:pPr marL="0" lvl="0" indent="0" algn="l" rtl="0">
              <a:lnSpc>
                <a:spcPct val="100000"/>
              </a:lnSpc>
              <a:spcBef>
                <a:spcPts val="0"/>
              </a:spcBef>
              <a:spcAft>
                <a:spcPts val="0"/>
              </a:spcAft>
              <a:buSzPts val="1400"/>
              <a:buNone/>
            </a:pPr>
            <a:r>
              <a:rPr lang="en-US" sz="1200" b="0" i="1" u="none" strike="noStrike" cap="none" dirty="0">
                <a:solidFill>
                  <a:schemeClr val="dk1"/>
                </a:solidFill>
                <a:effectLst/>
                <a:latin typeface="+mn-lt"/>
                <a:ea typeface="Arial"/>
                <a:cs typeface="Arial"/>
                <a:sym typeface="Arial"/>
              </a:rPr>
              <a:t>2 days - tool installation, </a:t>
            </a:r>
            <a:r>
              <a:rPr lang="en-US" dirty="0"/>
              <a:t>configuration KT</a:t>
            </a:r>
            <a:endParaRPr lang="en-US" sz="1200" b="0" i="1" u="none" strike="noStrike" cap="none" dirty="0">
              <a:solidFill>
                <a:schemeClr val="dk1"/>
              </a:solidFill>
              <a:effectLst/>
              <a:latin typeface="+mn-lt"/>
              <a:ea typeface="Arial"/>
              <a:cs typeface="Arial"/>
              <a:sym typeface="Arial"/>
            </a:endParaRPr>
          </a:p>
          <a:p>
            <a:pPr marL="0" lvl="0" indent="0" algn="l" rtl="0">
              <a:lnSpc>
                <a:spcPct val="100000"/>
              </a:lnSpc>
              <a:spcBef>
                <a:spcPts val="0"/>
              </a:spcBef>
              <a:spcAft>
                <a:spcPts val="0"/>
              </a:spcAft>
              <a:buSzPts val="1400"/>
              <a:buNone/>
            </a:pPr>
            <a:r>
              <a:rPr lang="en-US" sz="1200" b="0" i="1" u="none" strike="noStrike" cap="none" dirty="0">
                <a:solidFill>
                  <a:schemeClr val="dk1"/>
                </a:solidFill>
                <a:effectLst/>
                <a:latin typeface="+mn-lt"/>
                <a:ea typeface="Arial"/>
                <a:cs typeface="Arial"/>
                <a:sym typeface="Arial"/>
              </a:rPr>
              <a:t>2 days to prepare and run the audits across all systems</a:t>
            </a:r>
            <a:endParaRPr lang="en-US" sz="1200" b="0" i="0" u="none" strike="noStrike" cap="none" dirty="0">
              <a:solidFill>
                <a:schemeClr val="dk1"/>
              </a:solidFill>
              <a:effectLst/>
              <a:latin typeface="+mn-lt"/>
              <a:ea typeface="Arial"/>
              <a:cs typeface="Arial"/>
              <a:sym typeface="Arial"/>
            </a:endParaRPr>
          </a:p>
          <a:p>
            <a:pPr marL="0" lvl="0" indent="0" algn="l" rtl="0">
              <a:lnSpc>
                <a:spcPct val="100000"/>
              </a:lnSpc>
              <a:spcBef>
                <a:spcPts val="0"/>
              </a:spcBef>
              <a:spcAft>
                <a:spcPts val="0"/>
              </a:spcAft>
              <a:buSzPts val="1400"/>
              <a:buNone/>
            </a:pPr>
            <a:endParaRPr lang="en-AU" dirty="0"/>
          </a:p>
          <a:p>
            <a:pPr marL="0" lvl="0" indent="0" algn="l" rtl="0">
              <a:lnSpc>
                <a:spcPct val="100000"/>
              </a:lnSpc>
              <a:spcBef>
                <a:spcPts val="0"/>
              </a:spcBef>
              <a:spcAft>
                <a:spcPts val="0"/>
              </a:spcAft>
              <a:buSzPts val="1400"/>
              <a:buNone/>
            </a:pPr>
            <a:r>
              <a:rPr lang="en-AU" b="1" dirty="0"/>
              <a:t>Variable Estimated 1</a:t>
            </a:r>
          </a:p>
          <a:p>
            <a:pPr marL="0" lvl="0" indent="0" algn="l" rtl="0">
              <a:lnSpc>
                <a:spcPct val="100000"/>
              </a:lnSpc>
              <a:spcBef>
                <a:spcPts val="0"/>
              </a:spcBef>
              <a:spcAft>
                <a:spcPts val="0"/>
              </a:spcAft>
              <a:buSzPts val="1400"/>
              <a:buNone/>
            </a:pPr>
            <a:r>
              <a:rPr lang="en-US" sz="1200" dirty="0">
                <a:solidFill>
                  <a:schemeClr val="accent2"/>
                </a:solidFill>
                <a:latin typeface="Montserrat"/>
                <a:ea typeface="Montserrat"/>
                <a:cs typeface="Montserrat"/>
                <a:sym typeface="Montserrat"/>
              </a:rPr>
              <a:t>Example 1:</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1" u="none" strike="noStrike" cap="none" dirty="0">
                <a:solidFill>
                  <a:schemeClr val="dk1"/>
                </a:solidFill>
                <a:effectLst/>
                <a:latin typeface="+mn-lt"/>
                <a:ea typeface="Montserrat"/>
                <a:cs typeface="Arial"/>
                <a:sym typeface="Montserrat"/>
              </a:rPr>
              <a:t>&lt;CUSTOMER&gt; </a:t>
            </a:r>
            <a:r>
              <a:rPr lang="en-AU" sz="1200" b="0" i="1" u="none" strike="noStrike" cap="none" dirty="0">
                <a:solidFill>
                  <a:schemeClr val="dk1"/>
                </a:solidFill>
                <a:effectLst/>
                <a:latin typeface="+mn-lt"/>
                <a:cs typeface="Arial"/>
                <a:sym typeface="Arial"/>
              </a:rPr>
              <a:t>numbers: 7 </a:t>
            </a:r>
            <a:r>
              <a:rPr lang="en-AU" sz="1200" b="0" i="1" u="none" strike="noStrike" cap="none" dirty="0" err="1">
                <a:solidFill>
                  <a:schemeClr val="dk1"/>
                </a:solidFill>
                <a:effectLst/>
                <a:latin typeface="+mn-lt"/>
                <a:cs typeface="Arial"/>
                <a:sym typeface="Arial"/>
              </a:rPr>
              <a:t>vCs</a:t>
            </a:r>
            <a:r>
              <a:rPr lang="en-AU" sz="1200" b="0" i="1" u="none" strike="noStrike" cap="none" dirty="0">
                <a:solidFill>
                  <a:schemeClr val="dk1"/>
                </a:solidFill>
                <a:effectLst/>
                <a:latin typeface="+mn-lt"/>
                <a:cs typeface="Arial"/>
                <a:sym typeface="Arial"/>
              </a:rPr>
              <a:t> (</a:t>
            </a:r>
            <a:r>
              <a:rPr lang="en-AU" dirty="0"/>
              <a:t>vSphere 7u3(x2)/8u2(x2)/8u3(x3))</a:t>
            </a:r>
            <a:r>
              <a:rPr lang="en-AU" sz="1200" b="0" i="1" u="none" strike="noStrike" cap="none" dirty="0">
                <a:solidFill>
                  <a:schemeClr val="dk1"/>
                </a:solidFill>
                <a:effectLst/>
                <a:latin typeface="+mn-lt"/>
                <a:cs typeface="Arial"/>
                <a:sym typeface="Arial"/>
              </a:rPr>
              <a:t>, 10 Clusters, 2961 VMs, 2xSRM, 1x </a:t>
            </a:r>
            <a:r>
              <a:rPr lang="en-AU" sz="1200" b="0" i="1" u="none" strike="noStrike" cap="none" dirty="0" err="1">
                <a:solidFill>
                  <a:schemeClr val="dk1"/>
                </a:solidFill>
                <a:effectLst/>
                <a:latin typeface="+mn-lt"/>
                <a:cs typeface="Arial"/>
                <a:sym typeface="Arial"/>
              </a:rPr>
              <a:t>vROps</a:t>
            </a:r>
            <a:r>
              <a:rPr lang="en-AU" sz="1200" b="0" i="1" u="none" strike="noStrike" cap="none" dirty="0">
                <a:solidFill>
                  <a:schemeClr val="dk1"/>
                </a:solidFill>
                <a:effectLst/>
                <a:latin typeface="+mn-lt"/>
                <a:cs typeface="Arial"/>
                <a:sym typeface="Arial"/>
              </a:rPr>
              <a:t> cluster</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1" u="none" strike="noStrike" cap="none" dirty="0">
                <a:solidFill>
                  <a:schemeClr val="dk1"/>
                </a:solidFill>
                <a:effectLst/>
                <a:latin typeface="+mn-lt"/>
                <a:cs typeface="Arial"/>
                <a:sym typeface="Arial"/>
              </a:rPr>
              <a:t>So if we were to review all the audit results the total will be around 14 + 20 + 14 + 4 + 2 ~ 54 Days for just reviewing the data and discussion with </a:t>
            </a:r>
            <a:r>
              <a:rPr lang="en-US" sz="1200" b="0" i="1" u="none" strike="noStrike" cap="none" dirty="0">
                <a:solidFill>
                  <a:schemeClr val="dk1"/>
                </a:solidFill>
                <a:effectLst/>
                <a:latin typeface="+mn-lt"/>
                <a:ea typeface="Montserrat"/>
                <a:cs typeface="Arial"/>
                <a:sym typeface="Montserrat"/>
              </a:rPr>
              <a:t>&lt;CUSTOMER&gt; </a:t>
            </a:r>
            <a:r>
              <a:rPr lang="en-US" sz="1200" b="0" i="1" u="none" strike="noStrike" cap="none" dirty="0">
                <a:solidFill>
                  <a:schemeClr val="dk1"/>
                </a:solidFill>
                <a:effectLst/>
                <a:latin typeface="+mn-lt"/>
                <a:cs typeface="Arial"/>
                <a:sym typeface="Arial"/>
              </a:rPr>
              <a:t>.</a:t>
            </a:r>
            <a:br>
              <a:rPr lang="en-US" sz="1200" b="0" i="1" u="none" strike="noStrike" cap="none" dirty="0">
                <a:solidFill>
                  <a:schemeClr val="dk1"/>
                </a:solidFill>
                <a:effectLst/>
                <a:latin typeface="+mn-lt"/>
                <a:cs typeface="Arial"/>
                <a:sym typeface="Arial"/>
              </a:rPr>
            </a:br>
            <a:r>
              <a:rPr lang="en-US" sz="1200" b="0" i="1" u="none" strike="noStrike" cap="none" dirty="0">
                <a:solidFill>
                  <a:schemeClr val="dk1"/>
                </a:solidFill>
                <a:effectLst/>
                <a:latin typeface="+mn-lt"/>
                <a:cs typeface="Arial"/>
                <a:sym typeface="Arial"/>
              </a:rPr>
              <a:t>If we were to review a limited scope, 1 x </a:t>
            </a:r>
            <a:r>
              <a:rPr lang="en-US" sz="1200" b="0" i="1" u="none" strike="noStrike" cap="none" dirty="0" err="1">
                <a:solidFill>
                  <a:schemeClr val="dk1"/>
                </a:solidFill>
                <a:effectLst/>
                <a:latin typeface="+mn-lt"/>
                <a:cs typeface="Arial"/>
                <a:sym typeface="Arial"/>
              </a:rPr>
              <a:t>vC</a:t>
            </a:r>
            <a:r>
              <a:rPr lang="en-US" sz="1200" b="0" i="1" u="none" strike="noStrike" cap="none" dirty="0">
                <a:solidFill>
                  <a:schemeClr val="dk1"/>
                </a:solidFill>
                <a:effectLst/>
                <a:latin typeface="+mn-lt"/>
                <a:cs typeface="Arial"/>
                <a:sym typeface="Arial"/>
              </a:rPr>
              <a:t> from each vSphere version (6 days), 1 Cluster from each vSphere version (6 days), 1 set of VMs from each of the </a:t>
            </a:r>
            <a:r>
              <a:rPr lang="en-US" sz="1200" b="0" i="1" u="none" strike="noStrike" cap="none" dirty="0" err="1">
                <a:solidFill>
                  <a:schemeClr val="dk1"/>
                </a:solidFill>
                <a:effectLst/>
                <a:latin typeface="+mn-lt"/>
                <a:cs typeface="Arial"/>
                <a:sym typeface="Arial"/>
              </a:rPr>
              <a:t>vCenters</a:t>
            </a:r>
            <a:r>
              <a:rPr lang="en-US" sz="1200" b="0" i="1" u="none" strike="noStrike" cap="none" dirty="0">
                <a:solidFill>
                  <a:schemeClr val="dk1"/>
                </a:solidFill>
                <a:effectLst/>
                <a:latin typeface="+mn-lt"/>
                <a:cs typeface="Arial"/>
                <a:sym typeface="Arial"/>
              </a:rPr>
              <a:t> (6 days), 1 SRM Appliance (2 days), 1 </a:t>
            </a:r>
            <a:r>
              <a:rPr lang="en-US" sz="1200" b="0" i="1" u="none" strike="noStrike" cap="none" dirty="0" err="1">
                <a:solidFill>
                  <a:schemeClr val="dk1"/>
                </a:solidFill>
                <a:effectLst/>
                <a:latin typeface="+mn-lt"/>
                <a:cs typeface="Arial"/>
                <a:sym typeface="Arial"/>
              </a:rPr>
              <a:t>vROps</a:t>
            </a:r>
            <a:r>
              <a:rPr lang="en-US" sz="1200" b="0" i="1" u="none" strike="noStrike" cap="none" dirty="0">
                <a:solidFill>
                  <a:schemeClr val="dk1"/>
                </a:solidFill>
                <a:effectLst/>
                <a:latin typeface="+mn-lt"/>
                <a:cs typeface="Arial"/>
                <a:sym typeface="Arial"/>
              </a:rPr>
              <a:t> Cluster (2 days) then that total will be about 22 Days.</a:t>
            </a:r>
            <a:br>
              <a:rPr lang="en-US" dirty="0"/>
            </a:br>
            <a:endParaRPr lang="en-US" dirty="0"/>
          </a:p>
          <a:p>
            <a:pPr marL="0" lvl="0" indent="0" algn="l" rtl="0">
              <a:lnSpc>
                <a:spcPct val="100000"/>
              </a:lnSpc>
              <a:spcBef>
                <a:spcPts val="0"/>
              </a:spcBef>
              <a:spcAft>
                <a:spcPts val="0"/>
              </a:spcAft>
              <a:buSzPts val="1400"/>
              <a:buNone/>
            </a:pPr>
            <a:r>
              <a:rPr lang="en-US" dirty="0"/>
              <a:t>Example 2:</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1" u="none" strike="noStrike" cap="none" dirty="0">
                <a:solidFill>
                  <a:schemeClr val="dk1"/>
                </a:solidFill>
                <a:effectLst/>
                <a:latin typeface="+mn-lt"/>
                <a:ea typeface="Montserrat"/>
                <a:cs typeface="Arial"/>
                <a:sym typeface="Montserrat"/>
              </a:rPr>
              <a:t>&lt;CUSTOMER&gt; </a:t>
            </a:r>
            <a:r>
              <a:rPr lang="en-AU" sz="1200" b="0" i="1" u="none" strike="noStrike" cap="none" dirty="0">
                <a:solidFill>
                  <a:schemeClr val="dk1"/>
                </a:solidFill>
                <a:effectLst/>
                <a:latin typeface="+mn-lt"/>
                <a:cs typeface="Arial"/>
                <a:sym typeface="Arial"/>
              </a:rPr>
              <a:t>numbers: 1 </a:t>
            </a:r>
            <a:r>
              <a:rPr lang="en-AU" sz="1200" b="0" i="1" u="none" strike="noStrike" cap="none" dirty="0" err="1">
                <a:solidFill>
                  <a:schemeClr val="dk1"/>
                </a:solidFill>
                <a:effectLst/>
                <a:latin typeface="+mn-lt"/>
                <a:cs typeface="Arial"/>
                <a:sym typeface="Arial"/>
              </a:rPr>
              <a:t>vCs</a:t>
            </a:r>
            <a:r>
              <a:rPr lang="en-AU" sz="1200" b="0" i="1" u="none" strike="noStrike" cap="none" dirty="0">
                <a:solidFill>
                  <a:schemeClr val="dk1"/>
                </a:solidFill>
                <a:effectLst/>
                <a:latin typeface="+mn-lt"/>
                <a:cs typeface="Arial"/>
                <a:sym typeface="Arial"/>
              </a:rPr>
              <a:t>, 1 Clusters, 1000 VMs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1" u="none" strike="noStrike" cap="none" dirty="0">
                <a:solidFill>
                  <a:schemeClr val="dk1"/>
                </a:solidFill>
                <a:effectLst/>
                <a:latin typeface="+mn-lt"/>
                <a:ea typeface="Arial"/>
                <a:cs typeface="Arial"/>
                <a:sym typeface="Arial"/>
              </a:rPr>
              <a:t>2 days per audit report output to </a:t>
            </a:r>
            <a:r>
              <a:rPr lang="en-US" sz="1200" b="0" i="1" u="none" strike="noStrike" cap="none" dirty="0" err="1">
                <a:solidFill>
                  <a:schemeClr val="dk1"/>
                </a:solidFill>
                <a:effectLst/>
                <a:latin typeface="+mn-lt"/>
                <a:ea typeface="Arial"/>
                <a:cs typeface="Arial"/>
                <a:sym typeface="Arial"/>
              </a:rPr>
              <a:t>analyse</a:t>
            </a:r>
            <a:r>
              <a:rPr lang="en-US" sz="1200" b="0" i="1" u="none" strike="noStrike" cap="none" dirty="0">
                <a:solidFill>
                  <a:schemeClr val="dk1"/>
                </a:solidFill>
                <a:effectLst/>
                <a:latin typeface="+mn-lt"/>
                <a:ea typeface="Arial"/>
                <a:cs typeface="Arial"/>
                <a:sym typeface="Arial"/>
              </a:rPr>
              <a:t> and discuss findings - the university will need to define which environments we should include in the reporting stage.    Note that any Aria Product audit is the same - 2 days, Audit of VM’s - the &lt;CUSTOMER&gt; has a moderate number of VMs about 1000 so they can be covered in 1 audit report - 2 days.  So, an example could be:  e.g. 1 vCenter audit + 1 Cluster audit + 1 VM audit = 6 days.</a:t>
            </a:r>
            <a:endParaRPr lang="en-US" sz="1200" b="0" i="0" u="none" strike="noStrike" cap="none" dirty="0">
              <a:solidFill>
                <a:schemeClr val="dk1"/>
              </a:solidFill>
              <a:effectLst/>
              <a:latin typeface="+mn-lt"/>
              <a:ea typeface="Arial"/>
              <a:cs typeface="Arial"/>
              <a:sym typeface="Arial"/>
            </a:endParaRP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NOTE: Aria Automation has 4 separate audit components, but 2 days should suffice</a:t>
            </a:r>
          </a:p>
          <a:p>
            <a:pPr marL="0" lvl="0" indent="0" algn="l" rtl="0">
              <a:lnSpc>
                <a:spcPct val="100000"/>
              </a:lnSpc>
              <a:spcBef>
                <a:spcPts val="0"/>
              </a:spcBef>
              <a:spcAft>
                <a:spcPts val="0"/>
              </a:spcAft>
              <a:buSzPts val="14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U" b="1" dirty="0"/>
              <a:t>Variable Estimated 2</a:t>
            </a:r>
            <a:endParaRPr lang="en-US" b="1"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4 days - Report Generation and Presentation. This also depends upon if any translation and interpretation from the NIST 800-53 Control set into other customer controls like ISM, CIS or Essential 8. Translation to another control set may take about 5 additional days.</a:t>
            </a:r>
          </a:p>
          <a:p>
            <a:pPr marL="0" lvl="0" indent="0" algn="l" rtl="0">
              <a:lnSpc>
                <a:spcPct val="100000"/>
              </a:lnSpc>
              <a:spcBef>
                <a:spcPts val="0"/>
              </a:spcBef>
              <a:spcAft>
                <a:spcPts val="0"/>
              </a:spcAft>
              <a:buSzPts val="14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U" b="1" dirty="0"/>
              <a:t>Variable Estimated 3</a:t>
            </a:r>
            <a:endParaRPr lang="en-US" b="1"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This time is for remediation and is unknown, because that depends on customer change control process, testing and validation processes and any breakages from changes.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b="1" dirty="0"/>
              <a:t>Customer Email breakdown if requested.</a:t>
            </a:r>
          </a:p>
          <a:p>
            <a:pPr marL="0" lvl="0" indent="0" algn="l" rtl="0">
              <a:lnSpc>
                <a:spcPct val="100000"/>
              </a:lnSpc>
              <a:spcBef>
                <a:spcPts val="0"/>
              </a:spcBef>
              <a:spcAft>
                <a:spcPts val="0"/>
              </a:spcAft>
              <a:buSzPts val="1400"/>
              <a:buNone/>
            </a:pPr>
            <a:endParaRPr lang="en-US" b="1" dirty="0"/>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Hi &lt;CUSTOMER NAME&gt;,</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Please bear in mind that this is a rough estimate only and it will depend upon what is determined to be in scope for the analysis piece and there may be some time savings depending on what is determined in scope. </a:t>
            </a:r>
          </a:p>
          <a:p>
            <a:pPr marL="0" lvl="0" indent="0" algn="l" rtl="0">
              <a:lnSpc>
                <a:spcPct val="100000"/>
              </a:lnSpc>
              <a:spcBef>
                <a:spcPts val="0"/>
              </a:spcBef>
              <a:spcAft>
                <a:spcPts val="0"/>
              </a:spcAft>
              <a:buSzPts val="1400"/>
              <a:buNone/>
            </a:pPr>
            <a:r>
              <a:rPr lang="en-US" b="0" dirty="0"/>
              <a:t>Do note that the STIG tool assesses the environment against the NIST 800-53 control set for VMWare products only.</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Initial and Audit Phase</a:t>
            </a:r>
          </a:p>
          <a:p>
            <a:pPr marL="0" lvl="0" indent="0" algn="l" rtl="0">
              <a:lnSpc>
                <a:spcPct val="100000"/>
              </a:lnSpc>
              <a:spcBef>
                <a:spcPts val="0"/>
              </a:spcBef>
              <a:spcAft>
                <a:spcPts val="0"/>
              </a:spcAft>
              <a:buSzPts val="1400"/>
              <a:buNone/>
            </a:pPr>
            <a:r>
              <a:rPr lang="en-US" b="0" dirty="0"/>
              <a:t>1 - 2 days - tool installation, configuration KT, Discuss Scope for discussion. Resources for the initial workshop here should include members from the operational teams such as virtualization and security. </a:t>
            </a:r>
          </a:p>
          <a:p>
            <a:pPr marL="0" lvl="0" indent="0" algn="l" rtl="0">
              <a:lnSpc>
                <a:spcPct val="100000"/>
              </a:lnSpc>
              <a:spcBef>
                <a:spcPts val="0"/>
              </a:spcBef>
              <a:spcAft>
                <a:spcPts val="0"/>
              </a:spcAft>
              <a:buSzPts val="1400"/>
              <a:buNone/>
            </a:pPr>
            <a:r>
              <a:rPr lang="en-US" b="0" dirty="0"/>
              <a:t>1 - 2 days to prepare and run the audits across all systems. Even though the scope may be limited from the initial workshop, we would prepare the commands used and audit everything, that is known, to provide a point in time status for your team to go back and review once they have been through a few of the upcoming discussions on the audit output. This &lt;CUSTOMER&gt; resource must have the authority and access to the credentials to run the audits. Ideally this is where we train the &lt;CUSTOMER&gt; resource to understand how to construct and execute the assessments themselves. This is actually a required outcome as patching could reset some of the configurations back to defaults and the systems should be reassessed for deviation from the discussed &lt;CUSTOMER&gt; norms in the analysis phase. </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Analysis Phase:</a:t>
            </a:r>
          </a:p>
          <a:p>
            <a:pPr marL="0" lvl="0" indent="0" algn="l" rtl="0">
              <a:lnSpc>
                <a:spcPct val="100000"/>
              </a:lnSpc>
              <a:spcBef>
                <a:spcPts val="0"/>
              </a:spcBef>
              <a:spcAft>
                <a:spcPts val="0"/>
              </a:spcAft>
              <a:buSzPts val="1400"/>
              <a:buNone/>
            </a:pPr>
            <a:r>
              <a:rPr lang="en-US" b="0" dirty="0"/>
              <a:t>Known &lt;CUSTOMER&gt; numbers: 1 </a:t>
            </a:r>
            <a:r>
              <a:rPr lang="en-US" b="0" dirty="0" err="1"/>
              <a:t>vCs</a:t>
            </a:r>
            <a:r>
              <a:rPr lang="en-US" b="0" dirty="0"/>
              <a:t>, 7 Clusters, 1119 VMs, 1x </a:t>
            </a:r>
            <a:r>
              <a:rPr lang="en-US" b="0" dirty="0" err="1"/>
              <a:t>vROps</a:t>
            </a:r>
            <a:r>
              <a:rPr lang="en-US" b="0" dirty="0"/>
              <a:t>, 1 x </a:t>
            </a:r>
            <a:r>
              <a:rPr lang="en-US" b="0" dirty="0" err="1"/>
              <a:t>vRLCM</a:t>
            </a:r>
            <a:r>
              <a:rPr lang="en-US" b="0" dirty="0"/>
              <a:t>, 1 x </a:t>
            </a:r>
            <a:r>
              <a:rPr lang="en-US" b="0" dirty="0" err="1"/>
              <a:t>vIDM</a:t>
            </a:r>
            <a:r>
              <a:rPr lang="en-US" b="0" dirty="0"/>
              <a:t>, 1 x </a:t>
            </a:r>
            <a:r>
              <a:rPr lang="en-US" b="0" dirty="0" err="1"/>
              <a:t>vRA</a:t>
            </a:r>
            <a:r>
              <a:rPr lang="en-US" b="0" dirty="0"/>
              <a:t>, 1 x </a:t>
            </a:r>
            <a:r>
              <a:rPr lang="en-US" b="0" dirty="0" err="1"/>
              <a:t>vRLI</a:t>
            </a:r>
            <a:r>
              <a:rPr lang="en-US" b="0" dirty="0"/>
              <a:t>, 1 x </a:t>
            </a:r>
            <a:r>
              <a:rPr lang="en-US" b="0" dirty="0" err="1"/>
              <a:t>vRNI</a:t>
            </a:r>
            <a:r>
              <a:rPr lang="en-US" b="0" dirty="0"/>
              <a:t>, 1 x NSX. Each of these may take up to 2 days each to review the generated data, prepare the workbooks and discuss with your operational staff.</a:t>
            </a:r>
          </a:p>
          <a:p>
            <a:pPr marL="0" lvl="0" indent="0" algn="l" rtl="0">
              <a:lnSpc>
                <a:spcPct val="100000"/>
              </a:lnSpc>
              <a:spcBef>
                <a:spcPts val="0"/>
              </a:spcBef>
              <a:spcAft>
                <a:spcPts val="0"/>
              </a:spcAft>
              <a:buSzPts val="1400"/>
              <a:buNone/>
            </a:pPr>
            <a:r>
              <a:rPr lang="en-US" b="0" dirty="0"/>
              <a:t>So if we were to review all the individual audit results the total will be around 2 (</a:t>
            </a:r>
            <a:r>
              <a:rPr lang="en-US" b="0" dirty="0" err="1"/>
              <a:t>vC</a:t>
            </a:r>
            <a:r>
              <a:rPr lang="en-US" b="0" dirty="0"/>
              <a:t>) + 14 (CLU) + 2 (VM) + 2 (</a:t>
            </a:r>
            <a:r>
              <a:rPr lang="en-US" b="0" dirty="0" err="1"/>
              <a:t>vROps</a:t>
            </a:r>
            <a:r>
              <a:rPr lang="en-US" b="0" dirty="0"/>
              <a:t>) + 2 (</a:t>
            </a:r>
            <a:r>
              <a:rPr lang="en-US" b="0" dirty="0" err="1"/>
              <a:t>vRLCM</a:t>
            </a:r>
            <a:r>
              <a:rPr lang="en-US" b="0" dirty="0"/>
              <a:t>) + 2 (</a:t>
            </a:r>
            <a:r>
              <a:rPr lang="en-US" b="0" dirty="0" err="1"/>
              <a:t>vIDM</a:t>
            </a:r>
            <a:r>
              <a:rPr lang="en-US" b="0" dirty="0"/>
              <a:t>) + 2 (</a:t>
            </a:r>
            <a:r>
              <a:rPr lang="en-US" b="0" dirty="0" err="1"/>
              <a:t>vRA</a:t>
            </a:r>
            <a:r>
              <a:rPr lang="en-US" b="0" dirty="0"/>
              <a:t>) + 2 (</a:t>
            </a:r>
            <a:r>
              <a:rPr lang="en-US" b="0" dirty="0" err="1"/>
              <a:t>vRLI</a:t>
            </a:r>
            <a:r>
              <a:rPr lang="en-US" b="0" dirty="0"/>
              <a:t>) + 2 (</a:t>
            </a:r>
            <a:r>
              <a:rPr lang="en-US" b="0" dirty="0" err="1"/>
              <a:t>vRNI</a:t>
            </a:r>
            <a:r>
              <a:rPr lang="en-US" b="0" dirty="0"/>
              <a:t>) + 2 (NSX) ~ 32 Days for just reviewing the data and discussion.</a:t>
            </a:r>
          </a:p>
          <a:p>
            <a:pPr marL="0" lvl="0" indent="0" algn="l" rtl="0">
              <a:lnSpc>
                <a:spcPct val="100000"/>
              </a:lnSpc>
              <a:spcBef>
                <a:spcPts val="0"/>
              </a:spcBef>
              <a:spcAft>
                <a:spcPts val="0"/>
              </a:spcAft>
              <a:buSzPts val="1400"/>
              <a:buNone/>
            </a:pPr>
            <a:r>
              <a:rPr lang="en-US" b="0" dirty="0"/>
              <a:t>If we were to review a limited recommended scope,  2 (</a:t>
            </a:r>
            <a:r>
              <a:rPr lang="en-US" b="0" dirty="0" err="1"/>
              <a:t>vC</a:t>
            </a:r>
            <a:r>
              <a:rPr lang="en-US" b="0" dirty="0"/>
              <a:t>) + 2 (CLU) + 2 (VM) + 2 (</a:t>
            </a:r>
            <a:r>
              <a:rPr lang="en-US" b="0" dirty="0" err="1"/>
              <a:t>vROps</a:t>
            </a:r>
            <a:r>
              <a:rPr lang="en-US" b="0" dirty="0"/>
              <a:t>) + 2 (</a:t>
            </a:r>
            <a:r>
              <a:rPr lang="en-US" b="0" dirty="0" err="1"/>
              <a:t>vRLCM</a:t>
            </a:r>
            <a:r>
              <a:rPr lang="en-US" b="0" dirty="0"/>
              <a:t>) + 2 (</a:t>
            </a:r>
            <a:r>
              <a:rPr lang="en-US" b="0" dirty="0" err="1"/>
              <a:t>vIDM</a:t>
            </a:r>
            <a:r>
              <a:rPr lang="en-US" b="0" dirty="0"/>
              <a:t>) + 2 (</a:t>
            </a:r>
            <a:r>
              <a:rPr lang="en-US" b="0" dirty="0" err="1"/>
              <a:t>vRA</a:t>
            </a:r>
            <a:r>
              <a:rPr lang="en-US" b="0" dirty="0"/>
              <a:t>) + 2 (</a:t>
            </a:r>
            <a:r>
              <a:rPr lang="en-US" b="0" dirty="0" err="1"/>
              <a:t>vRLI</a:t>
            </a:r>
            <a:r>
              <a:rPr lang="en-US" b="0" dirty="0"/>
              <a:t>) + 2 (</a:t>
            </a:r>
            <a:r>
              <a:rPr lang="en-US" b="0" dirty="0" err="1"/>
              <a:t>vRNI</a:t>
            </a:r>
            <a:r>
              <a:rPr lang="en-US" b="0" dirty="0"/>
              <a:t>) + 2 (NSX) ~ 20 Days. </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This is where we will require a significant resource and time requirement from QUT as we will be discussing each of the controls to determine relevance for &lt;CUSTOMER&gt;. </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NOTE: Aria Automation (</a:t>
            </a:r>
            <a:r>
              <a:rPr lang="en-US" b="0" dirty="0" err="1"/>
              <a:t>vRA</a:t>
            </a:r>
            <a:r>
              <a:rPr lang="en-US" b="0" dirty="0"/>
              <a:t>) has 4 separate audit components, but 2 days should suffice</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Reporting Phase</a:t>
            </a:r>
          </a:p>
          <a:p>
            <a:pPr marL="0" lvl="0" indent="0" algn="l" rtl="0">
              <a:lnSpc>
                <a:spcPct val="100000"/>
              </a:lnSpc>
              <a:spcBef>
                <a:spcPts val="0"/>
              </a:spcBef>
              <a:spcAft>
                <a:spcPts val="0"/>
              </a:spcAft>
              <a:buSzPts val="1400"/>
              <a:buNone/>
            </a:pPr>
            <a:r>
              <a:rPr lang="en-US" b="0" dirty="0"/>
              <a:t>For the report generation and presentation this will take up to 4-5 days, however this also depends upon if any translation and interpretation from the NIST 800-53 Control set into other &lt;CUSTOMER&gt; controls like ISM, CIS or Essential 8 are required. Translation to another control set may take up to an additional 5 days. We provide a point in time report and workbook based upon the above phases. When a draft report is ready &lt;CUSTOMER&gt; operational staff will be taken through the content it before a final report is released.</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b="0" dirty="0"/>
              <a:t>Total engagement time will vary from between 27days to potentially up to 46 days depending on the scope and required controls defined in the initial workshops. </a:t>
            </a:r>
          </a:p>
          <a:p>
            <a:pPr marL="0" lvl="0" indent="0" algn="l" rtl="0">
              <a:lnSpc>
                <a:spcPct val="100000"/>
              </a:lnSpc>
              <a:spcBef>
                <a:spcPts val="0"/>
              </a:spcBef>
              <a:spcAft>
                <a:spcPts val="0"/>
              </a:spcAft>
              <a:buSzPts val="1400"/>
              <a:buNone/>
            </a:pPr>
            <a:endParaRPr lang="en-US" b="0" dirty="0"/>
          </a:p>
          <a:p>
            <a:pPr marL="0" lvl="0" indent="0" algn="l" rtl="0">
              <a:lnSpc>
                <a:spcPct val="100000"/>
              </a:lnSpc>
              <a:spcBef>
                <a:spcPts val="0"/>
              </a:spcBef>
              <a:spcAft>
                <a:spcPts val="0"/>
              </a:spcAft>
              <a:buSzPts val="1400"/>
              <a:buNone/>
            </a:pPr>
            <a:r>
              <a:rPr lang="en-US" dirty="0"/>
              <a:t>Regards,</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&lt;CONSULTANT&gt;</a:t>
            </a:r>
            <a:br>
              <a:rPr lang="en-US" dirty="0"/>
            </a:br>
            <a:endParaRPr lang="en-US" dirty="0"/>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endParaRPr lang="en-US" dirty="0"/>
          </a:p>
          <a:p>
            <a:endParaRPr lang="en-US" dirty="0"/>
          </a:p>
        </p:txBody>
      </p:sp>
      <p:sp>
        <p:nvSpPr>
          <p:cNvPr id="4" name="Slide Number Placeholder 3"/>
          <p:cNvSpPr>
            <a:spLocks noGrp="1"/>
          </p:cNvSpPr>
          <p:nvPr>
            <p:ph type="sldNum" sz="quarter" idx="5"/>
          </p:nvPr>
        </p:nvSpPr>
        <p:spPr/>
        <p:txBody>
          <a:bodyPr/>
          <a:lstStyle/>
          <a:p>
            <a:fld id="{9F4FBC3A-A12C-40F9-BB8D-BC30C7901396}" type="slidenum">
              <a:rPr lang="en-US" smtClean="0"/>
              <a:pPr/>
              <a:t>26</a:t>
            </a:fld>
            <a:endParaRPr lang="en-US" dirty="0"/>
          </a:p>
        </p:txBody>
      </p:sp>
    </p:spTree>
    <p:extLst>
      <p:ext uri="{BB962C8B-B14F-4D97-AF65-F5344CB8AC3E}">
        <p14:creationId xmlns:p14="http://schemas.microsoft.com/office/powerpoint/2010/main" val="4176702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9">
          <a:extLst>
            <a:ext uri="{FF2B5EF4-FFF2-40B4-BE49-F238E27FC236}">
              <a16:creationId xmlns:a16="http://schemas.microsoft.com/office/drawing/2014/main" id="{B21B9B26-7466-B744-CF86-32FCC2E22496}"/>
            </a:ext>
          </a:extLst>
        </p:cNvPr>
        <p:cNvGrpSpPr/>
        <p:nvPr/>
      </p:nvGrpSpPr>
      <p:grpSpPr>
        <a:xfrm>
          <a:off x="0" y="0"/>
          <a:ext cx="0" cy="0"/>
          <a:chOff x="0" y="0"/>
          <a:chExt cx="0" cy="0"/>
        </a:xfrm>
      </p:grpSpPr>
      <p:sp>
        <p:nvSpPr>
          <p:cNvPr id="3090" name="Google Shape;3090;p23:notes">
            <a:extLst>
              <a:ext uri="{FF2B5EF4-FFF2-40B4-BE49-F238E27FC236}">
                <a16:creationId xmlns:a16="http://schemas.microsoft.com/office/drawing/2014/main" id="{040BADCB-D9E9-D2A6-0938-7C4A4CE72B31}"/>
              </a:ext>
            </a:extLst>
          </p:cNvPr>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1" name="Google Shape;3091;p23:notes">
            <a:extLst>
              <a:ext uri="{FF2B5EF4-FFF2-40B4-BE49-F238E27FC236}">
                <a16:creationId xmlns:a16="http://schemas.microsoft.com/office/drawing/2014/main" id="{F8A43760-35B9-8E97-9E73-BC821E0251E2}"/>
              </a:ext>
            </a:extLst>
          </p:cNvPr>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rmAutofit/>
          </a:bodyPr>
          <a:lstStyle/>
          <a:p>
            <a:pPr marL="0" lvl="0" indent="0" algn="l" rtl="0">
              <a:spcBef>
                <a:spcPts val="0"/>
              </a:spcBef>
              <a:spcAft>
                <a:spcPts val="0"/>
              </a:spcAft>
              <a:buNone/>
            </a:pPr>
            <a:r>
              <a:rPr lang="en-US"/>
              <a:t>This is a Heimdal Chart</a:t>
            </a:r>
            <a:endParaRPr/>
          </a:p>
          <a:p>
            <a:pPr marL="0" lvl="0" indent="0" algn="l" rtl="0">
              <a:spcBef>
                <a:spcPts val="0"/>
              </a:spcBef>
              <a:spcAft>
                <a:spcPts val="0"/>
              </a:spcAft>
              <a:buNone/>
            </a:pPr>
            <a:r>
              <a:rPr lang="en-US"/>
              <a:t>https://github.com/mitre/heimdall2</a:t>
            </a:r>
            <a:endParaRPr/>
          </a:p>
        </p:txBody>
      </p:sp>
      <p:sp>
        <p:nvSpPr>
          <p:cNvPr id="3092" name="Google Shape;3092;p23:notes">
            <a:extLst>
              <a:ext uri="{FF2B5EF4-FFF2-40B4-BE49-F238E27FC236}">
                <a16:creationId xmlns:a16="http://schemas.microsoft.com/office/drawing/2014/main" id="{2DA911F1-0A36-1966-BE83-DC17B06DBB6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104169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4"/>
        <p:cNvGrpSpPr/>
        <p:nvPr/>
      </p:nvGrpSpPr>
      <p:grpSpPr>
        <a:xfrm>
          <a:off x="0" y="0"/>
          <a:ext cx="0" cy="0"/>
          <a:chOff x="0" y="0"/>
          <a:chExt cx="0" cy="0"/>
        </a:xfrm>
      </p:grpSpPr>
      <p:sp>
        <p:nvSpPr>
          <p:cNvPr id="3115" name="Google Shape;3115;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400">
                <a:solidFill>
                  <a:srgbClr val="000000"/>
                </a:solidFill>
                <a:latin typeface="Times New Roman"/>
                <a:ea typeface="Times New Roman"/>
                <a:cs typeface="Times New Roman"/>
                <a:sym typeface="Times New Roman"/>
              </a:rPr>
              <a:t>30</a:t>
            </a:fld>
            <a:endParaRPr sz="1400">
              <a:solidFill>
                <a:srgbClr val="000000"/>
              </a:solidFill>
              <a:latin typeface="Times New Roman"/>
              <a:ea typeface="Times New Roman"/>
              <a:cs typeface="Times New Roman"/>
              <a:sym typeface="Times New Roman"/>
            </a:endParaRPr>
          </a:p>
        </p:txBody>
      </p:sp>
      <p:sp>
        <p:nvSpPr>
          <p:cNvPr id="3116" name="Google Shape;3116;p25:notes"/>
          <p:cNvSpPr>
            <a:spLocks noGrp="1" noRot="1" noChangeAspect="1"/>
          </p:cNvSpPr>
          <p:nvPr>
            <p:ph type="sldImg" idx="2"/>
          </p:nvPr>
        </p:nvSpPr>
        <p:spPr>
          <a:xfrm>
            <a:off x="381000" y="693738"/>
            <a:ext cx="6096000" cy="34305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117" name="Google Shape;3117;p25:notes"/>
          <p:cNvSpPr txBox="1">
            <a:spLocks noGrp="1"/>
          </p:cNvSpPr>
          <p:nvPr>
            <p:ph type="body" idx="1"/>
          </p:nvPr>
        </p:nvSpPr>
        <p:spPr>
          <a:xfrm>
            <a:off x="686577" y="4343206"/>
            <a:ext cx="5486400" cy="4116751"/>
          </a:xfrm>
          <a:prstGeom prst="rect">
            <a:avLst/>
          </a:prstGeom>
          <a:noFill/>
          <a:ln>
            <a:noFill/>
          </a:ln>
        </p:spPr>
        <p:txBody>
          <a:bodyPr spcFirstLastPara="1" wrap="square" lIns="0" tIns="0" rIns="0" bIns="0" anchor="ctr" anchorCtr="0">
            <a:norm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2"/>
        <p:cNvGrpSpPr/>
        <p:nvPr/>
      </p:nvGrpSpPr>
      <p:grpSpPr>
        <a:xfrm>
          <a:off x="0" y="0"/>
          <a:ext cx="0" cy="0"/>
          <a:chOff x="0" y="0"/>
          <a:chExt cx="0" cy="0"/>
        </a:xfrm>
      </p:grpSpPr>
      <p:sp>
        <p:nvSpPr>
          <p:cNvPr id="3123" name="Google Shape;3123;p26:notes"/>
          <p:cNvSpPr txBox="1">
            <a:spLocks noGrp="1"/>
          </p:cNvSpPr>
          <p:nvPr>
            <p:ph type="body" idx="1"/>
          </p:nvPr>
        </p:nvSpPr>
        <p:spPr>
          <a:xfrm>
            <a:off x="457200" y="3810000"/>
            <a:ext cx="5943600" cy="48768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24" name="Google Shape;3124;p26:notes"/>
          <p:cNvSpPr>
            <a:spLocks noGrp="1" noRot="1" noChangeAspect="1"/>
          </p:cNvSpPr>
          <p:nvPr>
            <p:ph type="sldImg" idx="2"/>
          </p:nvPr>
        </p:nvSpPr>
        <p:spPr>
          <a:xfrm>
            <a:off x="788988" y="609600"/>
            <a:ext cx="5280025" cy="2971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23008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66460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7495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801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6725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2462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2198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userDrawn="1"/>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userDrawn="1"/>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userDrawn="1"/>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1929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72992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39694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03344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Statement 2 - Leaf " preserve="1" userDrawn="1">
  <p:cSld name="Big Statement - Customer Story">
    <p:spTree>
      <p:nvGrpSpPr>
        <p:cNvPr id="1" name="Shape 1569"/>
        <p:cNvGrpSpPr/>
        <p:nvPr/>
      </p:nvGrpSpPr>
      <p:grpSpPr>
        <a:xfrm>
          <a:off x="0" y="0"/>
          <a:ext cx="0" cy="0"/>
          <a:chOff x="0" y="0"/>
          <a:chExt cx="0" cy="0"/>
        </a:xfrm>
      </p:grpSpPr>
      <p:sp>
        <p:nvSpPr>
          <p:cNvPr id="1570" name="Google Shape;1570;p93"/>
          <p:cNvSpPr/>
          <p:nvPr userDrawn="1"/>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166222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userDrawn="1"/>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userDrawn="1"/>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787000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99347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402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3878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0491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7359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271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44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188059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64695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13626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1876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45080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72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6302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8995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3593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4582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7429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270682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76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28199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34703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02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13995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85643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99656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358493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100038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85378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21344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98740080"/>
      </p:ext>
    </p:extLst>
  </p:cSld>
  <p:clrMap bg1="lt1" tx1="dk1" bg2="lt2" tx2="dk2" accent1="accent1" accent2="accent2" accent3="accent3" accent4="accent4" accent5="accent5" accent6="accent6" hlink="hlink" folHlink="folHlink"/>
  <p:sldLayoutIdLst>
    <p:sldLayoutId id="2147484196" r:id="rId1"/>
    <p:sldLayoutId id="2147484197" r:id="rId2"/>
    <p:sldLayoutId id="2147484198" r:id="rId3"/>
    <p:sldLayoutId id="2147484199" r:id="rId4"/>
    <p:sldLayoutId id="2147484200" r:id="rId5"/>
    <p:sldLayoutId id="2147484201" r:id="rId6"/>
    <p:sldLayoutId id="2147484202" r:id="rId7"/>
    <p:sldLayoutId id="2147484203" r:id="rId8"/>
    <p:sldLayoutId id="2147484204" r:id="rId9"/>
    <p:sldLayoutId id="2147484205" r:id="rId10"/>
    <p:sldLayoutId id="2147484206" r:id="rId11"/>
    <p:sldLayoutId id="2147484238" r:id="rId12"/>
    <p:sldLayoutId id="2147484207" r:id="rId13"/>
    <p:sldLayoutId id="2147484208" r:id="rId14"/>
    <p:sldLayoutId id="2147484209" r:id="rId15"/>
    <p:sldLayoutId id="2147484210" r:id="rId16"/>
    <p:sldLayoutId id="2147484211" r:id="rId17"/>
    <p:sldLayoutId id="2147484212" r:id="rId18"/>
    <p:sldLayoutId id="2147484213" r:id="rId19"/>
    <p:sldLayoutId id="2147484214" r:id="rId20"/>
    <p:sldLayoutId id="2147484215" r:id="rId21"/>
    <p:sldLayoutId id="2147484216" r:id="rId22"/>
    <p:sldLayoutId id="2147484217" r:id="rId23"/>
    <p:sldLayoutId id="2147484218" r:id="rId24"/>
    <p:sldLayoutId id="2147484219" r:id="rId25"/>
    <p:sldLayoutId id="2147484220" r:id="rId26"/>
    <p:sldLayoutId id="2147484221" r:id="rId27"/>
    <p:sldLayoutId id="2147484222" r:id="rId28"/>
    <p:sldLayoutId id="2147484223" r:id="rId29"/>
    <p:sldLayoutId id="2147484224" r:id="rId30"/>
    <p:sldLayoutId id="2147484225" r:id="rId31"/>
    <p:sldLayoutId id="2147484226" r:id="rId32"/>
    <p:sldLayoutId id="2147484227" r:id="rId33"/>
    <p:sldLayoutId id="2147484228" r:id="rId34"/>
    <p:sldLayoutId id="2147484229" r:id="rId35"/>
    <p:sldLayoutId id="2147484230" r:id="rId36"/>
    <p:sldLayoutId id="2147484231" r:id="rId37"/>
    <p:sldLayoutId id="2147484232" r:id="rId38"/>
    <p:sldLayoutId id="2147484233" r:id="rId39"/>
    <p:sldLayoutId id="2147484234" r:id="rId40"/>
    <p:sldLayoutId id="2147484235" r:id="rId41"/>
    <p:sldLayoutId id="2147484236" r:id="rId42"/>
    <p:sldLayoutId id="2147484237"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vmware.github.io/dod-compliance-and-automation/" TargetMode="External"/><Relationship Id="rId2" Type="http://schemas.openxmlformats.org/officeDocument/2006/relationships/notesSlide" Target="../notesSlides/notesSlide13.xml"/><Relationship Id="rId1" Type="http://schemas.openxmlformats.org/officeDocument/2006/relationships/slideLayout" Target="../slideLayouts/slideLayout16.xml"/><Relationship Id="rId5" Type="http://schemas.openxmlformats.org/officeDocument/2006/relationships/hyperlink" Target="https://techdocs.broadcom.com/us/en/vmware-cis/skyline/health-diagnostics/4-0-7.html" TargetMode="External"/><Relationship Id="rId4" Type="http://schemas.openxmlformats.org/officeDocument/2006/relationships/hyperlink" Target="https://www.vmware.com/docs/vmw-stig-program-overview"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knowledge.broadcom.com/external/article?legacyId=94398" TargetMode="External"/><Relationship Id="rId2" Type="http://schemas.openxmlformats.org/officeDocument/2006/relationships/notesSlide" Target="../notesSlides/notesSlide14.xml"/><Relationship Id="rId1" Type="http://schemas.openxmlformats.org/officeDocument/2006/relationships/slideLayout" Target="../slideLayouts/slideLayout16.xml"/><Relationship Id="rId5" Type="http://schemas.openxmlformats.org/officeDocument/2006/relationships/hyperlink" Target="https://techdocs.broadcom.com/us/en/vmware-cis/live-recovery/live-site-recovery/9-0/security/site-recovery-manager-security-reference/best-practices-for-securing-the-site-recovery-manager-server.html" TargetMode="External"/><Relationship Id="rId4" Type="http://schemas.openxmlformats.org/officeDocument/2006/relationships/hyperlink" Target="https://techdocs.broadcom.com/us/en/vmware-cis/vcf/vvs/1-0/site-protection-and-disaster-recovery-for-vmware-cloud-foundation/appendix-default-password-policy-settings-for-site-protection-and-disaster-recovery.html"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broadcom.com/support/vmware-security-advisories" TargetMode="External"/><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hyperlink" Target="https://www.broadcom.com/support/vmware-services/security-response"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30"/>
        <p:cNvGrpSpPr/>
        <p:nvPr/>
      </p:nvGrpSpPr>
      <p:grpSpPr>
        <a:xfrm>
          <a:off x="0" y="0"/>
          <a:ext cx="0" cy="0"/>
          <a:chOff x="0" y="0"/>
          <a:chExt cx="0" cy="0"/>
        </a:xfrm>
      </p:grpSpPr>
      <p:sp>
        <p:nvSpPr>
          <p:cNvPr id="2731" name="Google Shape;2731;p1"/>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4000"/>
              <a:buFont typeface="Arial"/>
              <a:buNone/>
            </a:pPr>
            <a:r>
              <a:rPr lang="en-US" dirty="0"/>
              <a:t>VCF Security Assessment</a:t>
            </a:r>
            <a:endParaRPr dirty="0"/>
          </a:p>
        </p:txBody>
      </p:sp>
      <p:sp>
        <p:nvSpPr>
          <p:cNvPr id="2732" name="Google Shape;2732;p1"/>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160"/>
              <a:buNone/>
            </a:pPr>
            <a:r>
              <a:rPr lang="en-US" dirty="0"/>
              <a:t>Executive Presentation</a:t>
            </a:r>
            <a:endParaRPr dirty="0"/>
          </a:p>
        </p:txBody>
      </p:sp>
      <p:sp>
        <p:nvSpPr>
          <p:cNvPr id="2733" name="Google Shape;2733;p1"/>
          <p:cNvSpPr txBox="1">
            <a:spLocks noGrp="1"/>
          </p:cNvSpPr>
          <p:nvPr>
            <p:ph type="body" sz="quarter" idx="11"/>
          </p:nvPr>
        </p:nvSpPr>
        <p:spPr>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666666"/>
              </a:buClr>
              <a:buSzPts val="1440"/>
              <a:buFont typeface="Arial"/>
              <a:buNone/>
            </a:pPr>
            <a:r>
              <a:rPr lang="en-US" dirty="0"/>
              <a:t>Consultant</a:t>
            </a:r>
            <a:endParaRPr dirty="0"/>
          </a:p>
        </p:txBody>
      </p:sp>
      <p:sp>
        <p:nvSpPr>
          <p:cNvPr id="2734" name="Google Shape;2734;p1"/>
          <p:cNvSpPr txBox="1">
            <a:spLocks noGrp="1"/>
          </p:cNvSpPr>
          <p:nvPr>
            <p:ph type="body" sz="quarter" idx="12"/>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40"/>
              <a:buNone/>
            </a:pPr>
            <a:r>
              <a:rPr lang="en-US" dirty="0"/>
              <a:t>Position / PSO, Broadcom</a:t>
            </a:r>
            <a:endParaRPr dirty="0"/>
          </a:p>
        </p:txBody>
      </p:sp>
      <p:sp>
        <p:nvSpPr>
          <p:cNvPr id="2735" name="Google Shape;2735;p1"/>
          <p:cNvSpPr txBox="1">
            <a:spLocks noGrp="1"/>
          </p:cNvSpPr>
          <p:nvPr>
            <p:ph type="body" sz="quarter" idx="14"/>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260"/>
              <a:buNone/>
            </a:pPr>
            <a:r>
              <a:rPr lang="en-US" dirty="0"/>
              <a:t>Date</a:t>
            </a:r>
            <a:endParaRPr dirty="0"/>
          </a:p>
        </p:txBody>
      </p:sp>
      <p:sp>
        <p:nvSpPr>
          <p:cNvPr id="3" name="Rectangle 2">
            <a:extLst>
              <a:ext uri="{FF2B5EF4-FFF2-40B4-BE49-F238E27FC236}">
                <a16:creationId xmlns:a16="http://schemas.microsoft.com/office/drawing/2014/main" id="{483238A5-1293-72B4-075F-F7F992A95098}"/>
              </a:ext>
            </a:extLst>
          </p:cNvPr>
          <p:cNvSpPr/>
          <p:nvPr/>
        </p:nvSpPr>
        <p:spPr>
          <a:xfrm>
            <a:off x="4160017" y="4197142"/>
            <a:ext cx="1059828" cy="895884"/>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Add Customer Logo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2FD3F6-3759-487D-3E0D-C876F0FA1E16}"/>
              </a:ext>
            </a:extLst>
          </p:cNvPr>
          <p:cNvSpPr>
            <a:spLocks noGrp="1"/>
          </p:cNvSpPr>
          <p:nvPr>
            <p:ph type="body" sz="quarter" idx="24"/>
          </p:nvPr>
        </p:nvSpPr>
        <p:spPr>
          <a:xfrm>
            <a:off x="609600" y="1267608"/>
            <a:ext cx="1939925" cy="492443"/>
          </a:xfrm>
        </p:spPr>
        <p:txBody>
          <a:bodyPr/>
          <a:lstStyle/>
          <a:p>
            <a:r>
              <a:rPr lang="en-US" dirty="0"/>
              <a:t>Agenda</a:t>
            </a:r>
          </a:p>
        </p:txBody>
      </p:sp>
      <p:sp>
        <p:nvSpPr>
          <p:cNvPr id="8" name="Text Placeholder 7">
            <a:extLst>
              <a:ext uri="{FF2B5EF4-FFF2-40B4-BE49-F238E27FC236}">
                <a16:creationId xmlns:a16="http://schemas.microsoft.com/office/drawing/2014/main" id="{AF080BC5-FE10-8E92-4184-5F6AAF51F5B2}"/>
              </a:ext>
            </a:extLst>
          </p:cNvPr>
          <p:cNvSpPr>
            <a:spLocks noGrp="1"/>
          </p:cNvSpPr>
          <p:nvPr>
            <p:ph type="body" sz="quarter" idx="25"/>
          </p:nvPr>
        </p:nvSpPr>
        <p:spPr/>
        <p:txBody>
          <a:bodyPr/>
          <a:lstStyle/>
          <a:p>
            <a:r>
              <a:rPr lang="en-US" dirty="0"/>
              <a:t>Introductions</a:t>
            </a:r>
          </a:p>
          <a:p>
            <a:r>
              <a:rPr lang="en-US" dirty="0"/>
              <a:t>Solution Overview</a:t>
            </a:r>
          </a:p>
          <a:p>
            <a:r>
              <a:rPr lang="en-US" dirty="0"/>
              <a:t>Assessment Summary</a:t>
            </a:r>
          </a:p>
          <a:p>
            <a:r>
              <a:rPr lang="en-US" dirty="0"/>
              <a:t>High-Level Recommendations</a:t>
            </a:r>
          </a:p>
          <a:p>
            <a:r>
              <a:rPr lang="en-US" dirty="0"/>
              <a:t>Detailed Findings</a:t>
            </a:r>
          </a:p>
          <a:p>
            <a:r>
              <a:rPr lang="en-US" dirty="0"/>
              <a:t>Recommendation Timeline</a:t>
            </a:r>
          </a:p>
        </p:txBody>
      </p:sp>
    </p:spTree>
    <p:extLst>
      <p:ext uri="{BB962C8B-B14F-4D97-AF65-F5344CB8AC3E}">
        <p14:creationId xmlns:p14="http://schemas.microsoft.com/office/powerpoint/2010/main" val="1089724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46"/>
        <p:cNvGrpSpPr/>
        <p:nvPr/>
      </p:nvGrpSpPr>
      <p:grpSpPr>
        <a:xfrm>
          <a:off x="0" y="0"/>
          <a:ext cx="0" cy="0"/>
          <a:chOff x="0" y="0"/>
          <a:chExt cx="0" cy="0"/>
        </a:xfrm>
      </p:grpSpPr>
      <p:sp>
        <p:nvSpPr>
          <p:cNvPr id="2747" name="Google Shape;2747;p3"/>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Introductions</a:t>
            </a:r>
            <a:endParaRPr/>
          </a:p>
        </p:txBody>
      </p:sp>
      <p:sp>
        <p:nvSpPr>
          <p:cNvPr id="2" name="Subtitle 1">
            <a:extLst>
              <a:ext uri="{FF2B5EF4-FFF2-40B4-BE49-F238E27FC236}">
                <a16:creationId xmlns:a16="http://schemas.microsoft.com/office/drawing/2014/main" id="{53F900BE-A98A-EB38-C07E-903EC94CFE82}"/>
              </a:ext>
            </a:extLst>
          </p:cNvPr>
          <p:cNvSpPr>
            <a:spLocks noGrp="1"/>
          </p:cNvSpPr>
          <p:nvPr>
            <p:ph type="subTitle" idx="10"/>
          </p:nvPr>
        </p:nvSpPr>
        <p:spPr/>
        <p:txBody>
          <a:bodyPr/>
          <a:lstStyle/>
          <a:p>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52"/>
        <p:cNvGrpSpPr/>
        <p:nvPr/>
      </p:nvGrpSpPr>
      <p:grpSpPr>
        <a:xfrm>
          <a:off x="0" y="0"/>
          <a:ext cx="0" cy="0"/>
          <a:chOff x="0" y="0"/>
          <a:chExt cx="0" cy="0"/>
        </a:xfrm>
      </p:grpSpPr>
      <p:sp>
        <p:nvSpPr>
          <p:cNvPr id="2754" name="Google Shape;2754;p4"/>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dk1"/>
              </a:buClr>
              <a:buSzPts val="2800"/>
              <a:buFont typeface="Arial"/>
              <a:buNone/>
            </a:pPr>
            <a:r>
              <a:rPr lang="en-US"/>
              <a:t>Introductions</a:t>
            </a:r>
            <a:endParaRPr/>
          </a:p>
        </p:txBody>
      </p:sp>
      <p:sp>
        <p:nvSpPr>
          <p:cNvPr id="4" name="Subtitle 3">
            <a:extLst>
              <a:ext uri="{FF2B5EF4-FFF2-40B4-BE49-F238E27FC236}">
                <a16:creationId xmlns:a16="http://schemas.microsoft.com/office/drawing/2014/main" id="{00FC5B33-3528-D383-9085-9D4CA3967A75}"/>
              </a:ext>
            </a:extLst>
          </p:cNvPr>
          <p:cNvSpPr>
            <a:spLocks noGrp="1"/>
          </p:cNvSpPr>
          <p:nvPr>
            <p:ph type="subTitle" idx="10"/>
          </p:nvPr>
        </p:nvSpPr>
        <p:spPr/>
        <p:txBody>
          <a:bodyPr/>
          <a:lstStyle/>
          <a:p>
            <a:endParaRPr lang="en-US" dirty="0"/>
          </a:p>
        </p:txBody>
      </p:sp>
      <p:sp>
        <p:nvSpPr>
          <p:cNvPr id="3" name="Content Placeholder 2">
            <a:extLst>
              <a:ext uri="{FF2B5EF4-FFF2-40B4-BE49-F238E27FC236}">
                <a16:creationId xmlns:a16="http://schemas.microsoft.com/office/drawing/2014/main" id="{2635A4B2-160D-9CC0-6266-8A01B349DEC9}"/>
              </a:ext>
            </a:extLst>
          </p:cNvPr>
          <p:cNvSpPr>
            <a:spLocks noGrp="1"/>
          </p:cNvSpPr>
          <p:nvPr>
            <p:ph sz="quarter" idx="14"/>
          </p:nvPr>
        </p:nvSpPr>
        <p:spPr/>
        <p:txBody>
          <a:bodyPr/>
          <a:lstStyle/>
          <a:p>
            <a:r>
              <a:rPr lang="en-US" dirty="0"/>
              <a:t>Participant introductions</a:t>
            </a:r>
          </a:p>
          <a:p>
            <a:pPr lvl="1"/>
            <a:r>
              <a:rPr lang="en-US" dirty="0"/>
              <a:t>What experience do you have?</a:t>
            </a:r>
          </a:p>
          <a:p>
            <a:pPr lvl="1"/>
            <a:r>
              <a:rPr lang="en-US" dirty="0"/>
              <a:t>Why are you attending this workshop?</a:t>
            </a:r>
          </a:p>
          <a:p>
            <a:pPr lvl="1"/>
            <a:r>
              <a:rPr lang="en-US" dirty="0"/>
              <a:t>What do you expect to achieve?</a:t>
            </a:r>
          </a:p>
          <a:p>
            <a:endParaRPr lang="en-US" dirty="0"/>
          </a:p>
        </p:txBody>
      </p:sp>
      <p:sp>
        <p:nvSpPr>
          <p:cNvPr id="2" name="Rectangle 1">
            <a:extLst>
              <a:ext uri="{FF2B5EF4-FFF2-40B4-BE49-F238E27FC236}">
                <a16:creationId xmlns:a16="http://schemas.microsoft.com/office/drawing/2014/main" id="{79E36899-3B09-C1D0-ED4F-0BB01E8EA4BC}"/>
              </a:ext>
            </a:extLst>
          </p:cNvPr>
          <p:cNvSpPr/>
          <p:nvPr/>
        </p:nvSpPr>
        <p:spPr>
          <a:xfrm>
            <a:off x="10234520" y="81472"/>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as needed</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60"/>
        <p:cNvGrpSpPr/>
        <p:nvPr/>
      </p:nvGrpSpPr>
      <p:grpSpPr>
        <a:xfrm>
          <a:off x="0" y="0"/>
          <a:ext cx="0" cy="0"/>
          <a:chOff x="0" y="0"/>
          <a:chExt cx="0" cy="0"/>
        </a:xfrm>
      </p:grpSpPr>
      <p:sp>
        <p:nvSpPr>
          <p:cNvPr id="2762" name="Google Shape;2762;p5"/>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dk1"/>
              </a:buClr>
              <a:buSzPts val="2800"/>
              <a:buFont typeface="Arial"/>
              <a:buNone/>
            </a:pPr>
            <a:r>
              <a:rPr lang="en-US"/>
              <a:t>Roles and Responsibilities</a:t>
            </a:r>
            <a:endParaRPr/>
          </a:p>
        </p:txBody>
      </p:sp>
      <p:sp>
        <p:nvSpPr>
          <p:cNvPr id="3" name="Subtitle 2">
            <a:extLst>
              <a:ext uri="{FF2B5EF4-FFF2-40B4-BE49-F238E27FC236}">
                <a16:creationId xmlns:a16="http://schemas.microsoft.com/office/drawing/2014/main" id="{B1A9F831-55B6-3482-C9D2-A337BA773687}"/>
              </a:ext>
            </a:extLst>
          </p:cNvPr>
          <p:cNvSpPr>
            <a:spLocks noGrp="1"/>
          </p:cNvSpPr>
          <p:nvPr>
            <p:ph type="subTitle" idx="10"/>
          </p:nvPr>
        </p:nvSpPr>
        <p:spPr/>
        <p:txBody>
          <a:bodyPr/>
          <a:lstStyle/>
          <a:p>
            <a:endParaRPr lang="en-US" dirty="0"/>
          </a:p>
        </p:txBody>
      </p:sp>
      <p:sp>
        <p:nvSpPr>
          <p:cNvPr id="4" name="Content Placeholder 3">
            <a:extLst>
              <a:ext uri="{FF2B5EF4-FFF2-40B4-BE49-F238E27FC236}">
                <a16:creationId xmlns:a16="http://schemas.microsoft.com/office/drawing/2014/main" id="{DAAB6648-A00F-FBE6-1BFD-1452354C7CAB}"/>
              </a:ext>
            </a:extLst>
          </p:cNvPr>
          <p:cNvSpPr>
            <a:spLocks noGrp="1"/>
          </p:cNvSpPr>
          <p:nvPr>
            <p:ph sz="quarter" idx="14"/>
          </p:nvPr>
        </p:nvSpPr>
        <p:spPr/>
        <p:txBody>
          <a:bodyPr/>
          <a:lstStyle/>
          <a:p>
            <a:r>
              <a:rPr lang="en-US" dirty="0"/>
              <a:t>Project management</a:t>
            </a:r>
          </a:p>
          <a:p>
            <a:pPr lvl="1"/>
            <a:r>
              <a:rPr lang="en-US" dirty="0"/>
              <a:t>&lt;Broadcom PM&gt;, VMware Project manager and the VMware point-of-contact for the project</a:t>
            </a:r>
          </a:p>
          <a:p>
            <a:r>
              <a:rPr lang="en-US" dirty="0"/>
              <a:t>Client Services Consultants responsible for Account management and Scoping</a:t>
            </a:r>
          </a:p>
          <a:p>
            <a:pPr lvl="1"/>
            <a:r>
              <a:rPr lang="en-US" dirty="0"/>
              <a:t>&lt;SALES TEAM&gt;</a:t>
            </a:r>
          </a:p>
          <a:p>
            <a:r>
              <a:rPr lang="en-US" dirty="0"/>
              <a:t>Client Services Consultants who will lead the knowledge transfer workshop, requirements gathering, design sessions, and deliver the engagement documents</a:t>
            </a:r>
          </a:p>
          <a:p>
            <a:pPr lvl="1"/>
            <a:r>
              <a:rPr lang="en-US" dirty="0"/>
              <a:t>&lt;CONSULTANTS&gt;</a:t>
            </a:r>
          </a:p>
          <a:p>
            <a:endParaRPr lang="en-US" dirty="0"/>
          </a:p>
        </p:txBody>
      </p:sp>
      <p:sp>
        <p:nvSpPr>
          <p:cNvPr id="2" name="Rectangle 1">
            <a:extLst>
              <a:ext uri="{FF2B5EF4-FFF2-40B4-BE49-F238E27FC236}">
                <a16:creationId xmlns:a16="http://schemas.microsoft.com/office/drawing/2014/main" id="{93DF1FAF-1F2E-7D5B-B15F-814381664459}"/>
              </a:ext>
            </a:extLst>
          </p:cNvPr>
          <p:cNvSpPr/>
          <p:nvPr/>
        </p:nvSpPr>
        <p:spPr>
          <a:xfrm>
            <a:off x="10234520" y="81472"/>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engagement specifics</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895F87-CC95-B22E-C8D2-D9E2C29690AB}"/>
              </a:ext>
            </a:extLst>
          </p:cNvPr>
          <p:cNvSpPr>
            <a:spLocks noGrp="1"/>
          </p:cNvSpPr>
          <p:nvPr>
            <p:ph type="title"/>
          </p:nvPr>
        </p:nvSpPr>
        <p:spPr/>
        <p:txBody>
          <a:bodyPr/>
          <a:lstStyle/>
          <a:p>
            <a:r>
              <a:rPr lang="en-US" dirty="0"/>
              <a:t>Key Stakeholders and Subject Matter Experts</a:t>
            </a:r>
          </a:p>
        </p:txBody>
      </p:sp>
      <p:sp>
        <p:nvSpPr>
          <p:cNvPr id="5" name="Subtitle 4">
            <a:extLst>
              <a:ext uri="{FF2B5EF4-FFF2-40B4-BE49-F238E27FC236}">
                <a16:creationId xmlns:a16="http://schemas.microsoft.com/office/drawing/2014/main" id="{B194E8FC-A08F-854C-2D4B-58C8A2D373D3}"/>
              </a:ext>
            </a:extLst>
          </p:cNvPr>
          <p:cNvSpPr>
            <a:spLocks noGrp="1"/>
          </p:cNvSpPr>
          <p:nvPr>
            <p:ph type="subTitle" idx="10"/>
          </p:nvPr>
        </p:nvSpPr>
        <p:spPr/>
        <p:txBody>
          <a:bodyPr/>
          <a:lstStyle/>
          <a:p>
            <a:r>
              <a:rPr lang="en-US" dirty="0"/>
              <a:t>Solution Set Required Customer Stakeholders</a:t>
            </a:r>
          </a:p>
        </p:txBody>
      </p:sp>
      <p:graphicFrame>
        <p:nvGraphicFramePr>
          <p:cNvPr id="7" name="Content Placeholder 6">
            <a:extLst>
              <a:ext uri="{FF2B5EF4-FFF2-40B4-BE49-F238E27FC236}">
                <a16:creationId xmlns:a16="http://schemas.microsoft.com/office/drawing/2014/main" id="{216F5A95-0C51-D948-160C-D7EBB978D7F9}"/>
              </a:ext>
            </a:extLst>
          </p:cNvPr>
          <p:cNvGraphicFramePr>
            <a:graphicFrameLocks noGrp="1"/>
          </p:cNvGraphicFramePr>
          <p:nvPr>
            <p:ph sz="quarter" idx="14"/>
            <p:extLst>
              <p:ext uri="{D42A27DB-BD31-4B8C-83A1-F6EECF244321}">
                <p14:modId xmlns:p14="http://schemas.microsoft.com/office/powerpoint/2010/main" val="2790756281"/>
              </p:ext>
            </p:extLst>
          </p:nvPr>
        </p:nvGraphicFramePr>
        <p:xfrm>
          <a:off x="615950" y="1600200"/>
          <a:ext cx="10972800" cy="3606800"/>
        </p:xfrm>
        <a:graphic>
          <a:graphicData uri="http://schemas.openxmlformats.org/drawingml/2006/table">
            <a:tbl>
              <a:tblPr firstRow="1" bandRow="1">
                <a:tableStyleId>{85BE263C-DBD7-4A20-BB59-AAB30ACAA65A}</a:tableStyleId>
              </a:tblPr>
              <a:tblGrid>
                <a:gridCol w="2743200">
                  <a:extLst>
                    <a:ext uri="{9D8B030D-6E8A-4147-A177-3AD203B41FA5}">
                      <a16:colId xmlns:a16="http://schemas.microsoft.com/office/drawing/2014/main" val="808379837"/>
                    </a:ext>
                  </a:extLst>
                </a:gridCol>
                <a:gridCol w="2743200">
                  <a:extLst>
                    <a:ext uri="{9D8B030D-6E8A-4147-A177-3AD203B41FA5}">
                      <a16:colId xmlns:a16="http://schemas.microsoft.com/office/drawing/2014/main" val="2039399754"/>
                    </a:ext>
                  </a:extLst>
                </a:gridCol>
                <a:gridCol w="2743200">
                  <a:extLst>
                    <a:ext uri="{9D8B030D-6E8A-4147-A177-3AD203B41FA5}">
                      <a16:colId xmlns:a16="http://schemas.microsoft.com/office/drawing/2014/main" val="919185427"/>
                    </a:ext>
                  </a:extLst>
                </a:gridCol>
                <a:gridCol w="2743200">
                  <a:extLst>
                    <a:ext uri="{9D8B030D-6E8A-4147-A177-3AD203B41FA5}">
                      <a16:colId xmlns:a16="http://schemas.microsoft.com/office/drawing/2014/main" val="2503973338"/>
                    </a:ext>
                  </a:extLst>
                </a:gridCol>
              </a:tblGrid>
              <a:tr h="370840">
                <a:tc>
                  <a:txBody>
                    <a:bodyPr/>
                    <a:lstStyle/>
                    <a:p>
                      <a:r>
                        <a:rPr lang="en-US" dirty="0"/>
                        <a:t>Stakeholder Title</a:t>
                      </a:r>
                    </a:p>
                  </a:txBody>
                  <a:tcPr/>
                </a:tc>
                <a:tc>
                  <a:txBody>
                    <a:bodyPr/>
                    <a:lstStyle/>
                    <a:p>
                      <a:r>
                        <a:rPr lang="en-US" dirty="0"/>
                        <a:t>Name</a:t>
                      </a:r>
                    </a:p>
                  </a:txBody>
                  <a:tcPr/>
                </a:tc>
                <a:tc>
                  <a:txBody>
                    <a:bodyPr/>
                    <a:lstStyle/>
                    <a:p>
                      <a:r>
                        <a:rPr lang="en-US" dirty="0"/>
                        <a:t>Phone</a:t>
                      </a:r>
                    </a:p>
                  </a:txBody>
                  <a:tcPr/>
                </a:tc>
                <a:tc>
                  <a:txBody>
                    <a:bodyPr/>
                    <a:lstStyle/>
                    <a:p>
                      <a:r>
                        <a:rPr lang="en-US" dirty="0"/>
                        <a:t>Email</a:t>
                      </a:r>
                    </a:p>
                  </a:txBody>
                  <a:tcPr/>
                </a:tc>
                <a:extLst>
                  <a:ext uri="{0D108BD9-81ED-4DB2-BD59-A6C34878D82A}">
                    <a16:rowId xmlns:a16="http://schemas.microsoft.com/office/drawing/2014/main" val="125951706"/>
                  </a:ext>
                </a:extLst>
              </a:tr>
              <a:tr h="370840">
                <a:tc>
                  <a:txBody>
                    <a:bodyPr/>
                    <a:lstStyle/>
                    <a:p>
                      <a:r>
                        <a:rPr lang="en-US" dirty="0"/>
                        <a:t>Engagement Sponsor</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82181070"/>
                  </a:ext>
                </a:extLst>
              </a:tr>
              <a:tr h="370840">
                <a:tc>
                  <a:txBody>
                    <a:bodyPr/>
                    <a:lstStyle/>
                    <a:p>
                      <a:r>
                        <a:rPr lang="en-US" dirty="0"/>
                        <a:t>VMware operations team lead</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74756108"/>
                  </a:ext>
                </a:extLst>
              </a:tr>
              <a:tr h="370840">
                <a:tc>
                  <a:txBody>
                    <a:bodyPr/>
                    <a:lstStyle/>
                    <a:p>
                      <a:r>
                        <a:rPr lang="en-US" dirty="0"/>
                        <a:t>VMware operations team</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56227042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31195903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5587066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2780938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54351441"/>
                  </a:ext>
                </a:extLst>
              </a:tr>
              <a:tr h="370840">
                <a:tc>
                  <a:txBody>
                    <a:bodyPr/>
                    <a:lstStyle/>
                    <a:p>
                      <a:r>
                        <a:rPr lang="en-US" dirty="0"/>
                        <a:t>Security Team</a:t>
                      </a:r>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838460320"/>
                  </a:ext>
                </a:extLst>
              </a:tr>
            </a:tbl>
          </a:graphicData>
        </a:graphic>
      </p:graphicFrame>
      <p:sp>
        <p:nvSpPr>
          <p:cNvPr id="8" name="Google Shape;2773;p6">
            <a:extLst>
              <a:ext uri="{FF2B5EF4-FFF2-40B4-BE49-F238E27FC236}">
                <a16:creationId xmlns:a16="http://schemas.microsoft.com/office/drawing/2014/main" id="{08903B2E-8083-457C-B630-C8EC5A88D574}"/>
              </a:ext>
            </a:extLst>
          </p:cNvPr>
          <p:cNvSpPr txBox="1"/>
          <p:nvPr/>
        </p:nvSpPr>
        <p:spPr>
          <a:xfrm>
            <a:off x="615950" y="5347946"/>
            <a:ext cx="10964863" cy="720197"/>
          </a:xfrm>
          <a:prstGeom prst="rect">
            <a:avLst/>
          </a:prstGeom>
          <a:noFill/>
          <a:ln>
            <a:noFill/>
          </a:ln>
        </p:spPr>
        <p:txBody>
          <a:bodyPr spcFirstLastPara="1" wrap="square" lIns="0" tIns="0" rIns="0" bIns="0" anchor="t" anchorCtr="0">
            <a:spAutoFit/>
          </a:bodyPr>
          <a:lstStyle/>
          <a:p>
            <a:pPr marL="285750" marR="0" lvl="0" indent="-285750" algn="l" rtl="0">
              <a:lnSpc>
                <a:spcPct val="130000"/>
              </a:lnSpc>
              <a:spcBef>
                <a:spcPts val="0"/>
              </a:spcBef>
              <a:spcAft>
                <a:spcPts val="0"/>
              </a:spcAft>
              <a:buFont typeface="Arial" panose="020B0604020202020204" pitchFamily="34" charset="0"/>
              <a:buChar char="•"/>
            </a:pPr>
            <a:r>
              <a:rPr lang="en-US" sz="1800" dirty="0">
                <a:solidFill>
                  <a:schemeClr val="dk2"/>
                </a:solidFill>
                <a:ea typeface="Arial"/>
                <a:cs typeface="Arial"/>
                <a:sym typeface="Arial"/>
              </a:rPr>
              <a:t>&lt;CUSTOMER MEMBER&gt; has been designated as the Team member to assist with the assessment</a:t>
            </a:r>
          </a:p>
          <a:p>
            <a:pPr marL="285750" marR="0" lvl="0" indent="-285750" algn="l" rtl="0">
              <a:lnSpc>
                <a:spcPct val="130000"/>
              </a:lnSpc>
              <a:spcBef>
                <a:spcPts val="0"/>
              </a:spcBef>
              <a:spcAft>
                <a:spcPts val="0"/>
              </a:spcAft>
              <a:buFont typeface="Arial" panose="020B0604020202020204" pitchFamily="34" charset="0"/>
              <a:buChar char="•"/>
            </a:pPr>
            <a:r>
              <a:rPr lang="en-US" sz="1800" dirty="0">
                <a:solidFill>
                  <a:schemeClr val="dk2"/>
                </a:solidFill>
              </a:rPr>
              <a:t>The Security Team needs to be involved in the review of the findings</a:t>
            </a:r>
            <a:endParaRPr sz="1800" dirty="0">
              <a:solidFill>
                <a:schemeClr val="dk2"/>
              </a:solidFill>
              <a:ea typeface="Arial"/>
              <a:cs typeface="Arial"/>
              <a:sym typeface="Arial"/>
            </a:endParaRPr>
          </a:p>
        </p:txBody>
      </p:sp>
      <p:sp>
        <p:nvSpPr>
          <p:cNvPr id="9" name="Rectangle 8">
            <a:extLst>
              <a:ext uri="{FF2B5EF4-FFF2-40B4-BE49-F238E27FC236}">
                <a16:creationId xmlns:a16="http://schemas.microsoft.com/office/drawing/2014/main" id="{4E5EBC36-6B4D-42C9-779F-78062EFF2CE2}"/>
              </a:ext>
            </a:extLst>
          </p:cNvPr>
          <p:cNvSpPr/>
          <p:nvPr/>
        </p:nvSpPr>
        <p:spPr>
          <a:xfrm>
            <a:off x="10234520" y="7551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engagement specifics</a:t>
            </a:r>
          </a:p>
        </p:txBody>
      </p:sp>
    </p:spTree>
    <p:extLst>
      <p:ext uri="{BB962C8B-B14F-4D97-AF65-F5344CB8AC3E}">
        <p14:creationId xmlns:p14="http://schemas.microsoft.com/office/powerpoint/2010/main" val="168268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8"/>
        <p:cNvGrpSpPr/>
        <p:nvPr/>
      </p:nvGrpSpPr>
      <p:grpSpPr>
        <a:xfrm>
          <a:off x="0" y="0"/>
          <a:ext cx="0" cy="0"/>
          <a:chOff x="0" y="0"/>
          <a:chExt cx="0" cy="0"/>
        </a:xfrm>
      </p:grpSpPr>
      <p:sp>
        <p:nvSpPr>
          <p:cNvPr id="2780" name="Google Shape;2780;g34fc6d1a61e_1_3923"/>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dk1"/>
              </a:buClr>
              <a:buSzPts val="2800"/>
              <a:buFont typeface="Arial"/>
              <a:buNone/>
            </a:pPr>
            <a:r>
              <a:rPr lang="en-US"/>
              <a:t>Project goals and objectives</a:t>
            </a:r>
            <a:endParaRPr/>
          </a:p>
        </p:txBody>
      </p:sp>
      <p:sp>
        <p:nvSpPr>
          <p:cNvPr id="3" name="Subtitle 2">
            <a:extLst>
              <a:ext uri="{FF2B5EF4-FFF2-40B4-BE49-F238E27FC236}">
                <a16:creationId xmlns:a16="http://schemas.microsoft.com/office/drawing/2014/main" id="{F83D63B5-A226-9405-D6C6-2FB4C69C9F62}"/>
              </a:ext>
            </a:extLst>
          </p:cNvPr>
          <p:cNvSpPr>
            <a:spLocks noGrp="1"/>
          </p:cNvSpPr>
          <p:nvPr>
            <p:ph type="subTitle" idx="10"/>
          </p:nvPr>
        </p:nvSpPr>
        <p:spPr/>
        <p:txBody>
          <a:bodyPr/>
          <a:lstStyle/>
          <a:p>
            <a:endParaRPr lang="en-US" dirty="0"/>
          </a:p>
        </p:txBody>
      </p:sp>
      <p:sp>
        <p:nvSpPr>
          <p:cNvPr id="5" name="Content Placeholder 4">
            <a:extLst>
              <a:ext uri="{FF2B5EF4-FFF2-40B4-BE49-F238E27FC236}">
                <a16:creationId xmlns:a16="http://schemas.microsoft.com/office/drawing/2014/main" id="{86F80EBD-E0EE-1BDD-049E-7FC01DE01182}"/>
              </a:ext>
            </a:extLst>
          </p:cNvPr>
          <p:cNvSpPr>
            <a:spLocks noGrp="1"/>
          </p:cNvSpPr>
          <p:nvPr>
            <p:ph sz="quarter" idx="14"/>
          </p:nvPr>
        </p:nvSpPr>
        <p:spPr/>
        <p:txBody>
          <a:bodyPr/>
          <a:lstStyle/>
          <a:p>
            <a:r>
              <a:rPr lang="en-US" dirty="0"/>
              <a:t>Project direction</a:t>
            </a:r>
          </a:p>
          <a:p>
            <a:pPr lvl="1"/>
            <a:r>
              <a:rPr lang="en-US" dirty="0"/>
              <a:t>&lt;ENGAGEMENT LENGTH&gt; Time and Materials Engagement</a:t>
            </a:r>
          </a:p>
          <a:p>
            <a:r>
              <a:rPr lang="en-US" dirty="0"/>
              <a:t>Timeline</a:t>
            </a:r>
          </a:p>
          <a:p>
            <a:pPr lvl="1"/>
            <a:r>
              <a:rPr lang="en-US" dirty="0"/>
              <a:t>Initial 2 week full time engagement</a:t>
            </a:r>
          </a:p>
          <a:p>
            <a:pPr lvl="1"/>
            <a:r>
              <a:rPr lang="en-US" dirty="0"/>
              <a:t>Week (TBC) for &lt;CUSTOMER&gt; Team to assess draft report and findings - for discussion</a:t>
            </a:r>
          </a:p>
          <a:p>
            <a:pPr lvl="1"/>
            <a:r>
              <a:rPr lang="en-US" dirty="0"/>
              <a:t>Last five days allocated to review feedback and adjust reporting in executive presentation.</a:t>
            </a:r>
          </a:p>
        </p:txBody>
      </p:sp>
      <p:sp>
        <p:nvSpPr>
          <p:cNvPr id="4" name="Rectangle 3">
            <a:extLst>
              <a:ext uri="{FF2B5EF4-FFF2-40B4-BE49-F238E27FC236}">
                <a16:creationId xmlns:a16="http://schemas.microsoft.com/office/drawing/2014/main" id="{E1D7967E-8DAE-24AB-66BF-AE5D7E3FD4F1}"/>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engagement specifics</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86"/>
        <p:cNvGrpSpPr/>
        <p:nvPr/>
      </p:nvGrpSpPr>
      <p:grpSpPr>
        <a:xfrm>
          <a:off x="0" y="0"/>
          <a:ext cx="0" cy="0"/>
          <a:chOff x="0" y="0"/>
          <a:chExt cx="0" cy="0"/>
        </a:xfrm>
      </p:grpSpPr>
      <p:sp>
        <p:nvSpPr>
          <p:cNvPr id="2" name="Rectangle 1">
            <a:extLst>
              <a:ext uri="{FF2B5EF4-FFF2-40B4-BE49-F238E27FC236}">
                <a16:creationId xmlns:a16="http://schemas.microsoft.com/office/drawing/2014/main" id="{45FB6347-94E7-65B7-8E0A-1060B694A2B3}"/>
              </a:ext>
            </a:extLst>
          </p:cNvPr>
          <p:cNvSpPr/>
          <p:nvPr/>
        </p:nvSpPr>
        <p:spPr>
          <a:xfrm>
            <a:off x="10234520" y="81472"/>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engagement specific timeline</a:t>
            </a:r>
          </a:p>
        </p:txBody>
      </p:sp>
      <p:sp>
        <p:nvSpPr>
          <p:cNvPr id="3" name="Title 2">
            <a:extLst>
              <a:ext uri="{FF2B5EF4-FFF2-40B4-BE49-F238E27FC236}">
                <a16:creationId xmlns:a16="http://schemas.microsoft.com/office/drawing/2014/main" id="{843A1140-49CF-EE84-8345-274206E0A27D}"/>
              </a:ext>
            </a:extLst>
          </p:cNvPr>
          <p:cNvSpPr>
            <a:spLocks noGrp="1"/>
          </p:cNvSpPr>
          <p:nvPr>
            <p:ph type="title"/>
          </p:nvPr>
        </p:nvSpPr>
        <p:spPr/>
        <p:txBody>
          <a:bodyPr/>
          <a:lstStyle/>
          <a:p>
            <a:r>
              <a:rPr lang="en-US" dirty="0">
                <a:solidFill>
                  <a:srgbClr val="005C8A"/>
                </a:solidFill>
              </a:rPr>
              <a:t>Engagement Entitlement - &lt;customer&gt; Delivery Update</a:t>
            </a:r>
            <a:endParaRPr lang="en-US" dirty="0"/>
          </a:p>
        </p:txBody>
      </p:sp>
      <p:sp>
        <p:nvSpPr>
          <p:cNvPr id="4" name="Subtitle 3">
            <a:extLst>
              <a:ext uri="{FF2B5EF4-FFF2-40B4-BE49-F238E27FC236}">
                <a16:creationId xmlns:a16="http://schemas.microsoft.com/office/drawing/2014/main" id="{84007B4D-00E1-DDD9-62BB-65396665D65B}"/>
              </a:ext>
            </a:extLst>
          </p:cNvPr>
          <p:cNvSpPr>
            <a:spLocks noGrp="1"/>
          </p:cNvSpPr>
          <p:nvPr>
            <p:ph type="subTitle" idx="10"/>
          </p:nvPr>
        </p:nvSpPr>
        <p:spPr/>
        <p:txBody>
          <a:bodyPr/>
          <a:lstStyle/>
          <a:p>
            <a:r>
              <a:rPr lang="en-US" dirty="0"/>
              <a:t>Engagement Timeline</a:t>
            </a:r>
          </a:p>
        </p:txBody>
      </p:sp>
      <p:sp>
        <p:nvSpPr>
          <p:cNvPr id="5" name="Content Placeholder 4">
            <a:extLst>
              <a:ext uri="{FF2B5EF4-FFF2-40B4-BE49-F238E27FC236}">
                <a16:creationId xmlns:a16="http://schemas.microsoft.com/office/drawing/2014/main" id="{4C3BA79E-A463-16FD-EF29-87CBFF3E3600}"/>
              </a:ext>
            </a:extLst>
          </p:cNvPr>
          <p:cNvSpPr>
            <a:spLocks noGrp="1"/>
          </p:cNvSpPr>
          <p:nvPr>
            <p:ph sz="quarter" idx="14"/>
          </p:nvPr>
        </p:nvSpPr>
        <p:spPr/>
        <p:txBody>
          <a:bodyPr/>
          <a:lstStyle/>
          <a:p>
            <a:endParaRPr lang="en-US" dirty="0"/>
          </a:p>
        </p:txBody>
      </p:sp>
      <p:graphicFrame>
        <p:nvGraphicFramePr>
          <p:cNvPr id="6" name="Google Shape;2787;g34fc6d1a61e_1_1961"/>
          <p:cNvGraphicFramePr/>
          <p:nvPr>
            <p:extLst>
              <p:ext uri="{D42A27DB-BD31-4B8C-83A1-F6EECF244321}">
                <p14:modId xmlns:p14="http://schemas.microsoft.com/office/powerpoint/2010/main" val="593564239"/>
              </p:ext>
            </p:extLst>
          </p:nvPr>
        </p:nvGraphicFramePr>
        <p:xfrm>
          <a:off x="616505" y="2229303"/>
          <a:ext cx="10451800" cy="3232855"/>
        </p:xfrm>
        <a:graphic>
          <a:graphicData uri="http://schemas.openxmlformats.org/drawingml/2006/table">
            <a:tbl>
              <a:tblPr>
                <a:noFill/>
              </a:tblPr>
              <a:tblGrid>
                <a:gridCol w="2612950">
                  <a:extLst>
                    <a:ext uri="{9D8B030D-6E8A-4147-A177-3AD203B41FA5}">
                      <a16:colId xmlns:a16="http://schemas.microsoft.com/office/drawing/2014/main" val="20000"/>
                    </a:ext>
                  </a:extLst>
                </a:gridCol>
                <a:gridCol w="2612950">
                  <a:extLst>
                    <a:ext uri="{9D8B030D-6E8A-4147-A177-3AD203B41FA5}">
                      <a16:colId xmlns:a16="http://schemas.microsoft.com/office/drawing/2014/main" val="20001"/>
                    </a:ext>
                  </a:extLst>
                </a:gridCol>
                <a:gridCol w="2612950">
                  <a:extLst>
                    <a:ext uri="{9D8B030D-6E8A-4147-A177-3AD203B41FA5}">
                      <a16:colId xmlns:a16="http://schemas.microsoft.com/office/drawing/2014/main" val="20002"/>
                    </a:ext>
                  </a:extLst>
                </a:gridCol>
                <a:gridCol w="2612950">
                  <a:extLst>
                    <a:ext uri="{9D8B030D-6E8A-4147-A177-3AD203B41FA5}">
                      <a16:colId xmlns:a16="http://schemas.microsoft.com/office/drawing/2014/main" val="20003"/>
                    </a:ext>
                  </a:extLst>
                </a:gridCol>
              </a:tblGrid>
              <a:tr h="267375">
                <a:tc>
                  <a:txBody>
                    <a:bodyPr/>
                    <a:lstStyle/>
                    <a:p>
                      <a:pPr marL="0" marR="0" lvl="0" indent="0" algn="ctr" rtl="0">
                        <a:lnSpc>
                          <a:spcPct val="100000"/>
                        </a:lnSpc>
                        <a:spcBef>
                          <a:spcPts val="0"/>
                        </a:spcBef>
                        <a:spcAft>
                          <a:spcPts val="0"/>
                        </a:spcAft>
                        <a:buClr>
                          <a:srgbClr val="000000"/>
                        </a:buClr>
                        <a:buSzPts val="1400"/>
                        <a:buFont typeface="Arial"/>
                        <a:buNone/>
                      </a:pPr>
                      <a:r>
                        <a:rPr lang="en-US" sz="1200" b="1" u="none" strike="noStrike" cap="none" dirty="0">
                          <a:solidFill>
                            <a:srgbClr val="FFFFFF"/>
                          </a:solidFill>
                        </a:rPr>
                        <a:t>   </a:t>
                      </a:r>
                      <a:r>
                        <a:rPr lang="en-US" sz="1200" b="1" dirty="0">
                          <a:solidFill>
                            <a:srgbClr val="FFFFFF"/>
                          </a:solidFill>
                        </a:rPr>
                        <a:t>Week 1 (28/4)</a:t>
                      </a:r>
                      <a:r>
                        <a:rPr lang="en-US" sz="1200" b="1" u="none" strike="noStrike" cap="none" dirty="0">
                          <a:solidFill>
                            <a:srgbClr val="FFFFFF"/>
                          </a:solidFill>
                        </a:rPr>
                        <a:t>                </a:t>
                      </a:r>
                      <a:endParaRPr sz="1200" u="none" strike="noStrike" cap="none" dirty="0"/>
                    </a:p>
                  </a:txBody>
                  <a:tcPr marL="45725" marR="45725"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5C8A"/>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200" b="1">
                          <a:solidFill>
                            <a:srgbClr val="FFFFFF"/>
                          </a:solidFill>
                        </a:rPr>
                        <a:t>Week 2 (5/5)</a:t>
                      </a:r>
                      <a:endParaRPr sz="1200" b="1">
                        <a:solidFill>
                          <a:srgbClr val="FFFFFF"/>
                        </a:solidFill>
                      </a:endParaRPr>
                    </a:p>
                  </a:txBody>
                  <a:tcPr marL="45725" marR="45725"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5C8A"/>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200" b="1">
                          <a:solidFill>
                            <a:srgbClr val="FFFFFF"/>
                          </a:solidFill>
                        </a:rPr>
                        <a:t>Week 3 (12/5)</a:t>
                      </a:r>
                      <a:endParaRPr sz="1200" b="1">
                        <a:solidFill>
                          <a:srgbClr val="FFFFFF"/>
                        </a:solidFill>
                      </a:endParaRPr>
                    </a:p>
                  </a:txBody>
                  <a:tcPr marL="45725" marR="45725"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5C8A"/>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200" b="1">
                          <a:solidFill>
                            <a:srgbClr val="FFFFFF"/>
                          </a:solidFill>
                        </a:rPr>
                        <a:t>Week 4 (19/5)</a:t>
                      </a:r>
                      <a:endParaRPr sz="1200" b="1">
                        <a:solidFill>
                          <a:srgbClr val="FFFFFF"/>
                        </a:solidFill>
                      </a:endParaRPr>
                    </a:p>
                  </a:txBody>
                  <a:tcPr marL="45725" marR="45725"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05C8A"/>
                    </a:solidFill>
                  </a:tcPr>
                </a:tc>
                <a:extLst>
                  <a:ext uri="{0D108BD9-81ED-4DB2-BD59-A6C34878D82A}">
                    <a16:rowId xmlns:a16="http://schemas.microsoft.com/office/drawing/2014/main" val="10000"/>
                  </a:ext>
                </a:extLst>
              </a:tr>
              <a:tr h="29585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0F0F0"/>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0F0F0"/>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0F0F0"/>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0F0F0"/>
                    </a:solidFill>
                  </a:tcPr>
                </a:tc>
                <a:extLst>
                  <a:ext uri="{0D108BD9-81ED-4DB2-BD59-A6C34878D82A}">
                    <a16:rowId xmlns:a16="http://schemas.microsoft.com/office/drawing/2014/main" val="10001"/>
                  </a:ext>
                </a:extLst>
              </a:tr>
            </a:tbl>
          </a:graphicData>
        </a:graphic>
      </p:graphicFrame>
      <p:sp>
        <p:nvSpPr>
          <p:cNvPr id="7" name="Google Shape;2788;g34fc6d1a61e_1_1961"/>
          <p:cNvSpPr/>
          <p:nvPr/>
        </p:nvSpPr>
        <p:spPr>
          <a:xfrm>
            <a:off x="5609612" y="4021243"/>
            <a:ext cx="261300" cy="255300"/>
          </a:xfrm>
          <a:prstGeom prst="diamond">
            <a:avLst/>
          </a:prstGeom>
          <a:solidFill>
            <a:srgbClr val="61A30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 name="Google Shape;2789;g34fc6d1a61e_1_1961"/>
          <p:cNvSpPr txBox="1"/>
          <p:nvPr/>
        </p:nvSpPr>
        <p:spPr>
          <a:xfrm>
            <a:off x="5793687" y="3979543"/>
            <a:ext cx="1422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000">
                <a:solidFill>
                  <a:schemeClr val="dk1"/>
                </a:solidFill>
              </a:rPr>
              <a:t>Draft report available</a:t>
            </a:r>
            <a:endParaRPr sz="1000">
              <a:solidFill>
                <a:schemeClr val="dk1"/>
              </a:solidFill>
            </a:endParaRPr>
          </a:p>
        </p:txBody>
      </p:sp>
      <p:sp>
        <p:nvSpPr>
          <p:cNvPr id="9" name="Google Shape;2791;g34fc6d1a61e_1_1961"/>
          <p:cNvSpPr/>
          <p:nvPr/>
        </p:nvSpPr>
        <p:spPr>
          <a:xfrm>
            <a:off x="1881386" y="3644629"/>
            <a:ext cx="2870700" cy="221700"/>
          </a:xfrm>
          <a:prstGeom prst="homePlate">
            <a:avLst>
              <a:gd name="adj" fmla="val 50000"/>
            </a:avLst>
          </a:prstGeom>
          <a:solidFill>
            <a:schemeClr val="accent5"/>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1000">
                <a:solidFill>
                  <a:schemeClr val="lt1"/>
                </a:solidFill>
              </a:rPr>
              <a:t>Analysis</a:t>
            </a:r>
            <a:endParaRPr sz="1000" b="0" i="0" u="none" strike="noStrike" cap="none">
              <a:solidFill>
                <a:schemeClr val="lt1"/>
              </a:solidFill>
              <a:latin typeface="Arial"/>
              <a:ea typeface="Arial"/>
              <a:cs typeface="Arial"/>
              <a:sym typeface="Arial"/>
            </a:endParaRPr>
          </a:p>
        </p:txBody>
      </p:sp>
      <p:sp>
        <p:nvSpPr>
          <p:cNvPr id="10" name="Google Shape;2792;g34fc6d1a61e_1_1961"/>
          <p:cNvSpPr/>
          <p:nvPr/>
        </p:nvSpPr>
        <p:spPr>
          <a:xfrm>
            <a:off x="764948" y="3240854"/>
            <a:ext cx="2912400" cy="221700"/>
          </a:xfrm>
          <a:prstGeom prst="homePlate">
            <a:avLst>
              <a:gd name="adj" fmla="val 50000"/>
            </a:avLst>
          </a:prstGeom>
          <a:solidFill>
            <a:srgbClr val="888888"/>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1000">
                <a:solidFill>
                  <a:schemeClr val="lt1"/>
                </a:solidFill>
              </a:rPr>
              <a:t>Data gathering</a:t>
            </a:r>
            <a:endParaRPr sz="1000" b="0" i="0" u="none" strike="noStrike" cap="none">
              <a:solidFill>
                <a:schemeClr val="lt1"/>
              </a:solidFill>
              <a:latin typeface="Arial"/>
              <a:ea typeface="Arial"/>
              <a:cs typeface="Arial"/>
              <a:sym typeface="Arial"/>
            </a:endParaRPr>
          </a:p>
        </p:txBody>
      </p:sp>
      <p:sp>
        <p:nvSpPr>
          <p:cNvPr id="11" name="Google Shape;2793;g34fc6d1a61e_1_1961"/>
          <p:cNvSpPr/>
          <p:nvPr/>
        </p:nvSpPr>
        <p:spPr>
          <a:xfrm>
            <a:off x="5842414" y="4320154"/>
            <a:ext cx="2580300" cy="221700"/>
          </a:xfrm>
          <a:prstGeom prst="homePlate">
            <a:avLst>
              <a:gd name="adj" fmla="val 50000"/>
            </a:avLst>
          </a:prstGeom>
          <a:solidFill>
            <a:srgbClr val="0091DA"/>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1000">
                <a:solidFill>
                  <a:schemeClr val="lt1"/>
                </a:solidFill>
              </a:rPr>
              <a:t>Review and provide feedback</a:t>
            </a:r>
            <a:endParaRPr sz="1000" b="0" i="0" u="none" strike="noStrike" cap="none">
              <a:solidFill>
                <a:schemeClr val="lt1"/>
              </a:solidFill>
              <a:latin typeface="Arial"/>
              <a:ea typeface="Arial"/>
              <a:cs typeface="Arial"/>
              <a:sym typeface="Arial"/>
            </a:endParaRPr>
          </a:p>
        </p:txBody>
      </p:sp>
      <p:cxnSp>
        <p:nvCxnSpPr>
          <p:cNvPr id="12" name="Google Shape;2794;g34fc6d1a61e_1_1961"/>
          <p:cNvCxnSpPr/>
          <p:nvPr/>
        </p:nvCxnSpPr>
        <p:spPr>
          <a:xfrm flipH="1">
            <a:off x="817537" y="2596729"/>
            <a:ext cx="3900" cy="337500"/>
          </a:xfrm>
          <a:prstGeom prst="straightConnector1">
            <a:avLst/>
          </a:prstGeom>
          <a:noFill/>
          <a:ln w="9525" cap="flat" cmpd="sng">
            <a:solidFill>
              <a:schemeClr val="dk2"/>
            </a:solidFill>
            <a:prstDash val="dot"/>
            <a:round/>
            <a:headEnd type="none" w="med" len="med"/>
            <a:tailEnd type="triangle" w="med" len="med"/>
          </a:ln>
        </p:spPr>
      </p:cxnSp>
      <p:sp>
        <p:nvSpPr>
          <p:cNvPr id="13" name="Google Shape;2795;g34fc6d1a61e_1_1961"/>
          <p:cNvSpPr/>
          <p:nvPr/>
        </p:nvSpPr>
        <p:spPr>
          <a:xfrm>
            <a:off x="678937" y="2914379"/>
            <a:ext cx="261300" cy="255300"/>
          </a:xfrm>
          <a:prstGeom prst="diamond">
            <a:avLst/>
          </a:prstGeom>
          <a:solidFill>
            <a:srgbClr val="61A30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 name="Google Shape;2796;g34fc6d1a61e_1_1961"/>
          <p:cNvSpPr/>
          <p:nvPr/>
        </p:nvSpPr>
        <p:spPr>
          <a:xfrm>
            <a:off x="4040712" y="4040479"/>
            <a:ext cx="1584300" cy="221700"/>
          </a:xfrm>
          <a:prstGeom prst="homePlate">
            <a:avLst>
              <a:gd name="adj" fmla="val 50000"/>
            </a:avLst>
          </a:prstGeom>
          <a:solidFill>
            <a:schemeClr val="accent5"/>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1000">
                <a:solidFill>
                  <a:schemeClr val="lt1"/>
                </a:solidFill>
              </a:rPr>
              <a:t>Report preparation</a:t>
            </a:r>
            <a:endParaRPr sz="1000" b="0" i="0" u="none" strike="noStrike" cap="none">
              <a:solidFill>
                <a:schemeClr val="lt1"/>
              </a:solidFill>
              <a:latin typeface="Arial"/>
              <a:ea typeface="Arial"/>
              <a:cs typeface="Arial"/>
              <a:sym typeface="Arial"/>
            </a:endParaRPr>
          </a:p>
        </p:txBody>
      </p:sp>
      <p:sp>
        <p:nvSpPr>
          <p:cNvPr id="15" name="Google Shape;2797;g34fc6d1a61e_1_1961"/>
          <p:cNvSpPr txBox="1"/>
          <p:nvPr/>
        </p:nvSpPr>
        <p:spPr>
          <a:xfrm>
            <a:off x="710612" y="2872679"/>
            <a:ext cx="14223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000">
                <a:solidFill>
                  <a:schemeClr val="dk1"/>
                </a:solidFill>
              </a:rPr>
              <a:t>Kick-off meeting</a:t>
            </a:r>
            <a:endParaRPr sz="1000">
              <a:solidFill>
                <a:schemeClr val="dk1"/>
              </a:solidFill>
            </a:endParaRPr>
          </a:p>
        </p:txBody>
      </p:sp>
      <p:sp>
        <p:nvSpPr>
          <p:cNvPr id="16" name="Google Shape;2798;g34fc6d1a61e_1_1961"/>
          <p:cNvSpPr/>
          <p:nvPr/>
        </p:nvSpPr>
        <p:spPr>
          <a:xfrm>
            <a:off x="10807012" y="4520054"/>
            <a:ext cx="261300" cy="255300"/>
          </a:xfrm>
          <a:prstGeom prst="diamond">
            <a:avLst/>
          </a:prstGeom>
          <a:solidFill>
            <a:srgbClr val="61A30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 name="Google Shape;2799;g34fc6d1a61e_1_1961"/>
          <p:cNvSpPr txBox="1"/>
          <p:nvPr/>
        </p:nvSpPr>
        <p:spPr>
          <a:xfrm>
            <a:off x="10734512" y="4463629"/>
            <a:ext cx="14223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000">
                <a:solidFill>
                  <a:schemeClr val="dk1"/>
                </a:solidFill>
              </a:rPr>
              <a:t>Final report presentation</a:t>
            </a:r>
            <a:endParaRPr sz="1000">
              <a:solidFill>
                <a:schemeClr val="dk1"/>
              </a:solidFill>
            </a:endParaRPr>
          </a:p>
        </p:txBody>
      </p:sp>
      <p:sp>
        <p:nvSpPr>
          <p:cNvPr id="18" name="Google Shape;2800;g34fc6d1a61e_1_1961"/>
          <p:cNvSpPr/>
          <p:nvPr/>
        </p:nvSpPr>
        <p:spPr>
          <a:xfrm>
            <a:off x="8422712" y="4541854"/>
            <a:ext cx="2388000" cy="221700"/>
          </a:xfrm>
          <a:prstGeom prst="homePlate">
            <a:avLst>
              <a:gd name="adj" fmla="val 50000"/>
            </a:avLst>
          </a:prstGeom>
          <a:solidFill>
            <a:schemeClr val="accent5"/>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1000">
                <a:solidFill>
                  <a:schemeClr val="lt1"/>
                </a:solidFill>
              </a:rPr>
              <a:t>Report updates</a:t>
            </a:r>
            <a:endParaRPr sz="1000" b="0" i="0" u="none" strike="noStrike"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05"/>
        <p:cNvGrpSpPr/>
        <p:nvPr/>
      </p:nvGrpSpPr>
      <p:grpSpPr>
        <a:xfrm>
          <a:off x="0" y="0"/>
          <a:ext cx="0" cy="0"/>
          <a:chOff x="0" y="0"/>
          <a:chExt cx="0" cy="0"/>
        </a:xfrm>
      </p:grpSpPr>
      <p:sp>
        <p:nvSpPr>
          <p:cNvPr id="2806" name="Google Shape;2806;p7"/>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Solution Overview</a:t>
            </a:r>
            <a:endParaRPr/>
          </a:p>
        </p:txBody>
      </p:sp>
      <p:sp>
        <p:nvSpPr>
          <p:cNvPr id="2" name="Subtitle 1">
            <a:extLst>
              <a:ext uri="{FF2B5EF4-FFF2-40B4-BE49-F238E27FC236}">
                <a16:creationId xmlns:a16="http://schemas.microsoft.com/office/drawing/2014/main" id="{69A2DEEC-AD9D-616C-7404-200274FE17FF}"/>
              </a:ext>
            </a:extLst>
          </p:cNvPr>
          <p:cNvSpPr>
            <a:spLocks noGrp="1"/>
          </p:cNvSpPr>
          <p:nvPr>
            <p:ph type="subTitle" idx="10"/>
          </p:nvPr>
        </p:nvSpPr>
        <p:spPr/>
        <p:txBody>
          <a:bodyPr/>
          <a:lstStyle/>
          <a:p>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91197C-C2E9-6402-DC77-619F11B8A2F1}"/>
              </a:ext>
            </a:extLst>
          </p:cNvPr>
          <p:cNvSpPr>
            <a:spLocks noGrp="1"/>
          </p:cNvSpPr>
          <p:nvPr>
            <p:ph type="title"/>
          </p:nvPr>
        </p:nvSpPr>
        <p:spPr/>
        <p:txBody>
          <a:bodyPr/>
          <a:lstStyle/>
          <a:p>
            <a:r>
              <a:rPr lang="en-US" dirty="0"/>
              <a:t>Solution Set Scope</a:t>
            </a:r>
          </a:p>
        </p:txBody>
      </p:sp>
      <p:sp>
        <p:nvSpPr>
          <p:cNvPr id="5" name="Subtitle 4">
            <a:extLst>
              <a:ext uri="{FF2B5EF4-FFF2-40B4-BE49-F238E27FC236}">
                <a16:creationId xmlns:a16="http://schemas.microsoft.com/office/drawing/2014/main" id="{E8952221-433F-FE36-3795-7A11C1E8E9E5}"/>
              </a:ext>
            </a:extLst>
          </p:cNvPr>
          <p:cNvSpPr>
            <a:spLocks noGrp="1"/>
          </p:cNvSpPr>
          <p:nvPr>
            <p:ph type="subTitle" idx="10"/>
          </p:nvPr>
        </p:nvSpPr>
        <p:spPr/>
        <p:txBody>
          <a:bodyPr/>
          <a:lstStyle/>
          <a:p>
            <a:r>
              <a:rPr lang="en-US" dirty="0"/>
              <a:t>The table below lists the scope of the engagement in the context of the VMware journey model. These are the IT Capabilities that have been determined as the focus for this engagement.</a:t>
            </a:r>
          </a:p>
        </p:txBody>
      </p:sp>
      <p:graphicFrame>
        <p:nvGraphicFramePr>
          <p:cNvPr id="7" name="Content Placeholder 6">
            <a:extLst>
              <a:ext uri="{FF2B5EF4-FFF2-40B4-BE49-F238E27FC236}">
                <a16:creationId xmlns:a16="http://schemas.microsoft.com/office/drawing/2014/main" id="{B9AEED02-CA77-142F-9B87-64D24C3D940F}"/>
              </a:ext>
            </a:extLst>
          </p:cNvPr>
          <p:cNvGraphicFramePr>
            <a:graphicFrameLocks noGrp="1"/>
          </p:cNvGraphicFramePr>
          <p:nvPr>
            <p:ph sz="quarter" idx="14"/>
            <p:extLst>
              <p:ext uri="{D42A27DB-BD31-4B8C-83A1-F6EECF244321}">
                <p14:modId xmlns:p14="http://schemas.microsoft.com/office/powerpoint/2010/main" val="1833175039"/>
              </p:ext>
            </p:extLst>
          </p:nvPr>
        </p:nvGraphicFramePr>
        <p:xfrm>
          <a:off x="615950" y="1600200"/>
          <a:ext cx="10972800" cy="1483360"/>
        </p:xfrm>
        <a:graphic>
          <a:graphicData uri="http://schemas.openxmlformats.org/drawingml/2006/table">
            <a:tbl>
              <a:tblPr firstRow="1" bandRow="1">
                <a:tableStyleId>{85BE263C-DBD7-4A20-BB59-AAB30ACAA65A}</a:tableStyleId>
              </a:tblPr>
              <a:tblGrid>
                <a:gridCol w="10972800">
                  <a:extLst>
                    <a:ext uri="{9D8B030D-6E8A-4147-A177-3AD203B41FA5}">
                      <a16:colId xmlns:a16="http://schemas.microsoft.com/office/drawing/2014/main" val="2353068096"/>
                    </a:ext>
                  </a:extLst>
                </a:gridCol>
              </a:tblGrid>
              <a:tr h="370840">
                <a:tc>
                  <a:txBody>
                    <a:bodyPr/>
                    <a:lstStyle/>
                    <a:p>
                      <a:pPr marL="0" marR="0" lvl="0" indent="0" algn="l" rtl="0">
                        <a:spcBef>
                          <a:spcPts val="0"/>
                        </a:spcBef>
                        <a:spcAft>
                          <a:spcPts val="0"/>
                        </a:spcAft>
                        <a:buNone/>
                      </a:pPr>
                      <a:r>
                        <a:rPr lang="en-US" sz="1800" dirty="0"/>
                        <a:t>IT Capabilities in Scope</a:t>
                      </a:r>
                      <a:endParaRPr sz="1800" dirty="0">
                        <a:solidFill>
                          <a:srgbClr val="FF0000"/>
                        </a:solidFill>
                      </a:endParaRPr>
                    </a:p>
                  </a:txBody>
                  <a:tcPr marL="91450" marR="91450" marT="45725" marB="45725"/>
                </a:tc>
                <a:extLst>
                  <a:ext uri="{0D108BD9-81ED-4DB2-BD59-A6C34878D82A}">
                    <a16:rowId xmlns:a16="http://schemas.microsoft.com/office/drawing/2014/main" val="4072186733"/>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cs typeface="Arial"/>
                          <a:sym typeface="Arial"/>
                        </a:rPr>
                        <a:t>Evaluation of Security Controls</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016385356"/>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Assess for current security posture</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30849051"/>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Compliance with Regulatory Controls</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1700269305"/>
                  </a:ext>
                </a:extLst>
              </a:tr>
            </a:tbl>
          </a:graphicData>
        </a:graphic>
      </p:graphicFrame>
      <p:sp>
        <p:nvSpPr>
          <p:cNvPr id="8" name="Rectangle 7">
            <a:extLst>
              <a:ext uri="{FF2B5EF4-FFF2-40B4-BE49-F238E27FC236}">
                <a16:creationId xmlns:a16="http://schemas.microsoft.com/office/drawing/2014/main" id="{1F3409C8-0809-9807-FE52-C537018E2A2E}"/>
              </a:ext>
            </a:extLst>
          </p:cNvPr>
          <p:cNvSpPr/>
          <p:nvPr/>
        </p:nvSpPr>
        <p:spPr>
          <a:xfrm>
            <a:off x="10234520" y="83820"/>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as needed</a:t>
            </a:r>
          </a:p>
        </p:txBody>
      </p:sp>
    </p:spTree>
    <p:extLst>
      <p:ext uri="{BB962C8B-B14F-4D97-AF65-F5344CB8AC3E}">
        <p14:creationId xmlns:p14="http://schemas.microsoft.com/office/powerpoint/2010/main" val="2896546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E14E4-4D30-C07B-FC23-DBFA9C52679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028454-9C1C-A824-15E2-57B0505B8E96}"/>
              </a:ext>
            </a:extLst>
          </p:cNvPr>
          <p:cNvSpPr>
            <a:spLocks noGrp="1"/>
          </p:cNvSpPr>
          <p:nvPr>
            <p:ph type="title"/>
          </p:nvPr>
        </p:nvSpPr>
        <p:spPr/>
        <p:txBody>
          <a:bodyPr/>
          <a:lstStyle/>
          <a:p>
            <a:r>
              <a:rPr lang="en-US" dirty="0"/>
              <a:t>Solution Set Scope</a:t>
            </a:r>
          </a:p>
        </p:txBody>
      </p:sp>
      <p:sp>
        <p:nvSpPr>
          <p:cNvPr id="5" name="Subtitle 4">
            <a:extLst>
              <a:ext uri="{FF2B5EF4-FFF2-40B4-BE49-F238E27FC236}">
                <a16:creationId xmlns:a16="http://schemas.microsoft.com/office/drawing/2014/main" id="{3B95D2DA-3F92-B2DB-0FB2-0B2F8A635FE1}"/>
              </a:ext>
            </a:extLst>
          </p:cNvPr>
          <p:cNvSpPr>
            <a:spLocks noGrp="1"/>
          </p:cNvSpPr>
          <p:nvPr>
            <p:ph type="subTitle" idx="10"/>
          </p:nvPr>
        </p:nvSpPr>
        <p:spPr/>
        <p:txBody>
          <a:bodyPr/>
          <a:lstStyle/>
          <a:p>
            <a:r>
              <a:rPr lang="en-US" dirty="0"/>
              <a:t>The table below lists the scope of the engagement in the context of the VMware journey model. These are the IT Problems that have been determined as the focus for this engagement.</a:t>
            </a:r>
          </a:p>
        </p:txBody>
      </p:sp>
      <p:graphicFrame>
        <p:nvGraphicFramePr>
          <p:cNvPr id="7" name="Content Placeholder 6">
            <a:extLst>
              <a:ext uri="{FF2B5EF4-FFF2-40B4-BE49-F238E27FC236}">
                <a16:creationId xmlns:a16="http://schemas.microsoft.com/office/drawing/2014/main" id="{CAD98897-3771-C684-C5C0-F412EAA54A64}"/>
              </a:ext>
            </a:extLst>
          </p:cNvPr>
          <p:cNvGraphicFramePr>
            <a:graphicFrameLocks noGrp="1"/>
          </p:cNvGraphicFramePr>
          <p:nvPr>
            <p:ph sz="quarter" idx="14"/>
          </p:nvPr>
        </p:nvGraphicFramePr>
        <p:xfrm>
          <a:off x="615950" y="1600200"/>
          <a:ext cx="10972800" cy="2062490"/>
        </p:xfrm>
        <a:graphic>
          <a:graphicData uri="http://schemas.openxmlformats.org/drawingml/2006/table">
            <a:tbl>
              <a:tblPr firstRow="1" bandRow="1">
                <a:tableStyleId>{85BE263C-DBD7-4A20-BB59-AAB30ACAA65A}</a:tableStyleId>
              </a:tblPr>
              <a:tblGrid>
                <a:gridCol w="10972800">
                  <a:extLst>
                    <a:ext uri="{9D8B030D-6E8A-4147-A177-3AD203B41FA5}">
                      <a16:colId xmlns:a16="http://schemas.microsoft.com/office/drawing/2014/main" val="2353068096"/>
                    </a:ext>
                  </a:extLst>
                </a:gridCol>
              </a:tblGrid>
              <a:tr h="370840">
                <a:tc>
                  <a:txBody>
                    <a:bodyPr/>
                    <a:lstStyle/>
                    <a:p>
                      <a:pPr marL="0" marR="0" lvl="0" indent="0" algn="l" rtl="0">
                        <a:spcBef>
                          <a:spcPts val="0"/>
                        </a:spcBef>
                        <a:spcAft>
                          <a:spcPts val="0"/>
                        </a:spcAft>
                        <a:buNone/>
                      </a:pPr>
                      <a:r>
                        <a:rPr lang="en-US" sz="1800" dirty="0"/>
                        <a:t>IT Problems in Scope</a:t>
                      </a:r>
                      <a:endParaRPr sz="1800" dirty="0"/>
                    </a:p>
                  </a:txBody>
                  <a:tcPr marL="91450" marR="91450" marT="45725" marB="45725"/>
                </a:tc>
                <a:extLst>
                  <a:ext uri="{0D108BD9-81ED-4DB2-BD59-A6C34878D82A}">
                    <a16:rowId xmlns:a16="http://schemas.microsoft.com/office/drawing/2014/main" val="4072186733"/>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Unknown security compliance status of the &lt;NAMED PRODUCT STACK IN SCOPE&gt;</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016385356"/>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Identify current security posture and identify gaps</a:t>
                      </a:r>
                      <a:endParaRPr sz="1600" b="0" i="0" u="none" strike="noStrike" cap="none" dirty="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230849051"/>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Developing a recommendations report containing </a:t>
                      </a:r>
                      <a:r>
                        <a:rPr lang="en-US" sz="1600" b="0" i="0" u="none" strike="noStrike" cap="none" dirty="0" err="1">
                          <a:solidFill>
                            <a:schemeClr val="dk1"/>
                          </a:solidFill>
                          <a:latin typeface="Arial"/>
                          <a:ea typeface="Arial"/>
                          <a:cs typeface="Arial"/>
                          <a:sym typeface="Arial"/>
                        </a:rPr>
                        <a:t>categorised</a:t>
                      </a:r>
                      <a:r>
                        <a:rPr lang="en-US" sz="1600" b="0" i="0" u="none" strike="noStrike" cap="none" dirty="0">
                          <a:solidFill>
                            <a:schemeClr val="dk1"/>
                          </a:solidFill>
                          <a:latin typeface="Arial"/>
                          <a:ea typeface="Arial"/>
                          <a:cs typeface="Arial"/>
                          <a:sym typeface="Arial"/>
                        </a:rPr>
                        <a:t> hardening guidance and findings from the current</a:t>
                      </a:r>
                      <a:endParaRPr sz="1600" b="0" i="0" u="none" strike="noStrike" cap="none" dirty="0">
                        <a:solidFill>
                          <a:schemeClr val="dk1"/>
                        </a:solidFill>
                        <a:latin typeface="Arial"/>
                        <a:cs typeface="Arial"/>
                        <a:sym typeface="Arial"/>
                      </a:endParaRPr>
                    </a:p>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state assessment</a:t>
                      </a:r>
                      <a:endParaRPr sz="1600" b="0" i="0" u="none" strike="noStrike" cap="none" dirty="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700269305"/>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Produce a high-level roadmap for remediation</a:t>
                      </a:r>
                      <a:endParaRPr sz="1600" b="0" i="0" u="none" strike="noStrike" cap="none" dirty="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610032612"/>
                  </a:ext>
                </a:extLst>
              </a:tr>
            </a:tbl>
          </a:graphicData>
        </a:graphic>
      </p:graphicFrame>
      <p:sp>
        <p:nvSpPr>
          <p:cNvPr id="8" name="Rectangle 7">
            <a:extLst>
              <a:ext uri="{FF2B5EF4-FFF2-40B4-BE49-F238E27FC236}">
                <a16:creationId xmlns:a16="http://schemas.microsoft.com/office/drawing/2014/main" id="{821036A2-1FAF-1F85-3172-80A87EE24952}"/>
              </a:ext>
            </a:extLst>
          </p:cNvPr>
          <p:cNvSpPr/>
          <p:nvPr/>
        </p:nvSpPr>
        <p:spPr>
          <a:xfrm>
            <a:off x="10234520" y="83820"/>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as needed</a:t>
            </a:r>
          </a:p>
        </p:txBody>
      </p:sp>
    </p:spTree>
    <p:extLst>
      <p:ext uri="{BB962C8B-B14F-4D97-AF65-F5344CB8AC3E}">
        <p14:creationId xmlns:p14="http://schemas.microsoft.com/office/powerpoint/2010/main" val="13432464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B441-08F3-E4C8-3C51-3077EE7FB0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D87B20-4A49-81AE-09DD-98BD443B3242}"/>
              </a:ext>
            </a:extLst>
          </p:cNvPr>
          <p:cNvSpPr>
            <a:spLocks noGrp="1"/>
          </p:cNvSpPr>
          <p:nvPr>
            <p:ph type="title"/>
          </p:nvPr>
        </p:nvSpPr>
        <p:spPr/>
        <p:txBody>
          <a:bodyPr/>
          <a:lstStyle/>
          <a:p>
            <a:r>
              <a:rPr lang="fr-FR" dirty="0"/>
              <a:t>Solution Set Scope - Solution </a:t>
            </a:r>
            <a:r>
              <a:rPr lang="fr-FR" dirty="0" err="1"/>
              <a:t>Elements</a:t>
            </a:r>
            <a:endParaRPr lang="en-US" dirty="0"/>
          </a:p>
        </p:txBody>
      </p:sp>
      <p:sp>
        <p:nvSpPr>
          <p:cNvPr id="5" name="Subtitle 4">
            <a:extLst>
              <a:ext uri="{FF2B5EF4-FFF2-40B4-BE49-F238E27FC236}">
                <a16:creationId xmlns:a16="http://schemas.microsoft.com/office/drawing/2014/main" id="{5434B6D4-3181-FE94-FEFD-800B41147A7C}"/>
              </a:ext>
            </a:extLst>
          </p:cNvPr>
          <p:cNvSpPr>
            <a:spLocks noGrp="1"/>
          </p:cNvSpPr>
          <p:nvPr>
            <p:ph type="subTitle" idx="10"/>
          </p:nvPr>
        </p:nvSpPr>
        <p:spPr/>
        <p:txBody>
          <a:bodyPr/>
          <a:lstStyle/>
          <a:p>
            <a:r>
              <a:rPr lang="en-US" dirty="0"/>
              <a:t>The table below lists the scope of the engagement in the context of the VMware journey model. These are the Solution Elements that have been determined as the focus for this engagement</a:t>
            </a:r>
          </a:p>
        </p:txBody>
      </p:sp>
      <p:graphicFrame>
        <p:nvGraphicFramePr>
          <p:cNvPr id="7" name="Content Placeholder 6">
            <a:extLst>
              <a:ext uri="{FF2B5EF4-FFF2-40B4-BE49-F238E27FC236}">
                <a16:creationId xmlns:a16="http://schemas.microsoft.com/office/drawing/2014/main" id="{B5C48860-3CEB-EB86-A288-D1D426597ED8}"/>
              </a:ext>
            </a:extLst>
          </p:cNvPr>
          <p:cNvGraphicFramePr>
            <a:graphicFrameLocks noGrp="1"/>
          </p:cNvGraphicFramePr>
          <p:nvPr>
            <p:ph sz="quarter" idx="14"/>
            <p:extLst>
              <p:ext uri="{D42A27DB-BD31-4B8C-83A1-F6EECF244321}">
                <p14:modId xmlns:p14="http://schemas.microsoft.com/office/powerpoint/2010/main" val="3327698870"/>
              </p:ext>
            </p:extLst>
          </p:nvPr>
        </p:nvGraphicFramePr>
        <p:xfrm>
          <a:off x="615950" y="1600200"/>
          <a:ext cx="10972800" cy="2225040"/>
        </p:xfrm>
        <a:graphic>
          <a:graphicData uri="http://schemas.openxmlformats.org/drawingml/2006/table">
            <a:tbl>
              <a:tblPr firstRow="1" bandRow="1">
                <a:tableStyleId>{85BE263C-DBD7-4A20-BB59-AAB30ACAA65A}</a:tableStyleId>
              </a:tblPr>
              <a:tblGrid>
                <a:gridCol w="5486400">
                  <a:extLst>
                    <a:ext uri="{9D8B030D-6E8A-4147-A177-3AD203B41FA5}">
                      <a16:colId xmlns:a16="http://schemas.microsoft.com/office/drawing/2014/main" val="2353068096"/>
                    </a:ext>
                  </a:extLst>
                </a:gridCol>
                <a:gridCol w="5486400">
                  <a:extLst>
                    <a:ext uri="{9D8B030D-6E8A-4147-A177-3AD203B41FA5}">
                      <a16:colId xmlns:a16="http://schemas.microsoft.com/office/drawing/2014/main" val="1444793381"/>
                    </a:ext>
                  </a:extLst>
                </a:gridCol>
              </a:tblGrid>
              <a:tr h="370840">
                <a:tc>
                  <a:txBody>
                    <a:bodyPr/>
                    <a:lstStyle/>
                    <a:p>
                      <a:pPr marL="0" marR="0" lvl="0" indent="0" algn="l" rtl="0">
                        <a:spcBef>
                          <a:spcPts val="0"/>
                        </a:spcBef>
                        <a:spcAft>
                          <a:spcPts val="0"/>
                        </a:spcAft>
                        <a:buNone/>
                      </a:pPr>
                      <a:r>
                        <a:rPr lang="en-US" sz="1800" dirty="0"/>
                        <a:t>Solution Element</a:t>
                      </a:r>
                      <a:endParaRPr sz="1800" dirty="0">
                        <a:solidFill>
                          <a:srgbClr val="FF0000"/>
                        </a:solidFill>
                      </a:endParaRPr>
                    </a:p>
                  </a:txBody>
                  <a:tcPr marL="91450" marR="91450" marT="45725" marB="45725"/>
                </a:tc>
                <a:tc>
                  <a:txBody>
                    <a:bodyPr/>
                    <a:lstStyle/>
                    <a:p>
                      <a:pPr marL="0" marR="0" lvl="0" indent="0" algn="l" rtl="0">
                        <a:spcBef>
                          <a:spcPts val="0"/>
                        </a:spcBef>
                        <a:spcAft>
                          <a:spcPts val="0"/>
                        </a:spcAft>
                        <a:buNone/>
                      </a:pPr>
                      <a:r>
                        <a:rPr lang="en-US" sz="1800"/>
                        <a:t>Product or Process Related</a:t>
                      </a:r>
                      <a:endParaRPr sz="1800"/>
                    </a:p>
                  </a:txBody>
                  <a:tcPr marL="91450" marR="91450" marT="45725" marB="45725"/>
                </a:tc>
                <a:extLst>
                  <a:ext uri="{0D108BD9-81ED-4DB2-BD59-A6C34878D82A}">
                    <a16:rowId xmlns:a16="http://schemas.microsoft.com/office/drawing/2014/main" val="4072186733"/>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Assessment of vSphere</a:t>
                      </a:r>
                      <a:endParaRPr sz="1600" b="0" i="0" u="none" strike="noStrike" cap="none" dirty="0">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vCenter, ESXi an Virtual Machine configurations</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016385356"/>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Assessment of Aria Suite</a:t>
                      </a:r>
                      <a:endParaRPr sz="1600" b="0" i="0" u="none" strike="noStrike" cap="none" dirty="0">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Aria Operations Manager </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30849051"/>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a:solidFill>
                            <a:schemeClr val="dk1"/>
                          </a:solidFill>
                          <a:latin typeface="Arial"/>
                          <a:ea typeface="Arial"/>
                          <a:cs typeface="Arial"/>
                          <a:sym typeface="Arial"/>
                        </a:rPr>
                        <a:t>Assessment of VLR</a:t>
                      </a: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VMware Site Recovery Manager</a:t>
                      </a:r>
                      <a:endParaRPr sz="1600" b="0" i="0" u="none" strike="noStrike" cap="none" dirty="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700269305"/>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a:solidFill>
                            <a:schemeClr val="dk1"/>
                          </a:solidFill>
                          <a:latin typeface="Arial"/>
                          <a:ea typeface="Arial"/>
                          <a:cs typeface="Arial"/>
                          <a:sym typeface="Arial"/>
                        </a:rPr>
                        <a:t>Industry</a:t>
                      </a:r>
                      <a:endParaRPr sz="1600" b="0" i="0" u="none" strike="noStrike" cap="none">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Government, Health Sector</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1610032612"/>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a:solidFill>
                            <a:schemeClr val="dk1"/>
                          </a:solidFill>
                          <a:latin typeface="Arial"/>
                          <a:ea typeface="Arial"/>
                          <a:cs typeface="Arial"/>
                          <a:sym typeface="Arial"/>
                        </a:rPr>
                        <a:t>Applicable Controls</a:t>
                      </a:r>
                      <a:endParaRPr sz="1600" b="0" i="0" u="none" strike="noStrike" cap="none">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ISM, NIST, HIPAA</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611895721"/>
                  </a:ext>
                </a:extLst>
              </a:tr>
            </a:tbl>
          </a:graphicData>
        </a:graphic>
      </p:graphicFrame>
      <p:sp>
        <p:nvSpPr>
          <p:cNvPr id="8" name="Rectangle 7">
            <a:extLst>
              <a:ext uri="{FF2B5EF4-FFF2-40B4-BE49-F238E27FC236}">
                <a16:creationId xmlns:a16="http://schemas.microsoft.com/office/drawing/2014/main" id="{1B0F4046-674F-E852-DB46-3D380E8BBEA4}"/>
              </a:ext>
            </a:extLst>
          </p:cNvPr>
          <p:cNvSpPr/>
          <p:nvPr/>
        </p:nvSpPr>
        <p:spPr>
          <a:xfrm>
            <a:off x="10234520" y="83820"/>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as needed</a:t>
            </a:r>
          </a:p>
        </p:txBody>
      </p:sp>
    </p:spTree>
    <p:extLst>
      <p:ext uri="{BB962C8B-B14F-4D97-AF65-F5344CB8AC3E}">
        <p14:creationId xmlns:p14="http://schemas.microsoft.com/office/powerpoint/2010/main" val="39500593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C1A9D-4617-6381-4811-D62979497C0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D1B515-21F2-D5DB-E602-081A8BD6CB63}"/>
              </a:ext>
            </a:extLst>
          </p:cNvPr>
          <p:cNvSpPr>
            <a:spLocks noGrp="1"/>
          </p:cNvSpPr>
          <p:nvPr>
            <p:ph type="title"/>
          </p:nvPr>
        </p:nvSpPr>
        <p:spPr/>
        <p:txBody>
          <a:bodyPr/>
          <a:lstStyle/>
          <a:p>
            <a:r>
              <a:rPr lang="fr-FR" dirty="0"/>
              <a:t>VMware Solution</a:t>
            </a:r>
            <a:endParaRPr lang="en-US" dirty="0"/>
          </a:p>
        </p:txBody>
      </p:sp>
      <p:sp>
        <p:nvSpPr>
          <p:cNvPr id="5" name="Subtitle 4">
            <a:extLst>
              <a:ext uri="{FF2B5EF4-FFF2-40B4-BE49-F238E27FC236}">
                <a16:creationId xmlns:a16="http://schemas.microsoft.com/office/drawing/2014/main" id="{D267DA5E-9F01-3376-5BC9-8DD62F59BBAA}"/>
              </a:ext>
            </a:extLst>
          </p:cNvPr>
          <p:cNvSpPr>
            <a:spLocks noGrp="1"/>
          </p:cNvSpPr>
          <p:nvPr>
            <p:ph type="subTitle" idx="10"/>
          </p:nvPr>
        </p:nvSpPr>
        <p:spPr/>
        <p:txBody>
          <a:bodyPr/>
          <a:lstStyle/>
          <a:p>
            <a:r>
              <a:rPr lang="en-US" dirty="0"/>
              <a:t>In Scope Parameters for Assessment - Production</a:t>
            </a:r>
          </a:p>
        </p:txBody>
      </p:sp>
      <p:graphicFrame>
        <p:nvGraphicFramePr>
          <p:cNvPr id="7" name="Content Placeholder 6">
            <a:extLst>
              <a:ext uri="{FF2B5EF4-FFF2-40B4-BE49-F238E27FC236}">
                <a16:creationId xmlns:a16="http://schemas.microsoft.com/office/drawing/2014/main" id="{86D724E4-2F40-E074-7E40-C79359B82499}"/>
              </a:ext>
            </a:extLst>
          </p:cNvPr>
          <p:cNvGraphicFramePr>
            <a:graphicFrameLocks noGrp="1"/>
          </p:cNvGraphicFramePr>
          <p:nvPr>
            <p:ph sz="quarter" idx="14"/>
            <p:extLst>
              <p:ext uri="{D42A27DB-BD31-4B8C-83A1-F6EECF244321}">
                <p14:modId xmlns:p14="http://schemas.microsoft.com/office/powerpoint/2010/main" val="2826330416"/>
              </p:ext>
            </p:extLst>
          </p:nvPr>
        </p:nvGraphicFramePr>
        <p:xfrm>
          <a:off x="615950" y="1600200"/>
          <a:ext cx="10972800" cy="1854200"/>
        </p:xfrm>
        <a:graphic>
          <a:graphicData uri="http://schemas.openxmlformats.org/drawingml/2006/table">
            <a:tbl>
              <a:tblPr firstRow="1" bandRow="1">
                <a:tableStyleId>{85BE263C-DBD7-4A20-BB59-AAB30ACAA65A}</a:tableStyleId>
              </a:tblPr>
              <a:tblGrid>
                <a:gridCol w="5486400">
                  <a:extLst>
                    <a:ext uri="{9D8B030D-6E8A-4147-A177-3AD203B41FA5}">
                      <a16:colId xmlns:a16="http://schemas.microsoft.com/office/drawing/2014/main" val="2353068096"/>
                    </a:ext>
                  </a:extLst>
                </a:gridCol>
                <a:gridCol w="5486400">
                  <a:extLst>
                    <a:ext uri="{9D8B030D-6E8A-4147-A177-3AD203B41FA5}">
                      <a16:colId xmlns:a16="http://schemas.microsoft.com/office/drawing/2014/main" val="1444793381"/>
                    </a:ext>
                  </a:extLst>
                </a:gridCol>
              </a:tblGrid>
              <a:tr h="370840">
                <a:tc>
                  <a:txBody>
                    <a:bodyPr/>
                    <a:lstStyle/>
                    <a:p>
                      <a:pPr marL="0" marR="0" lvl="0" indent="0" algn="l" rtl="0">
                        <a:spcBef>
                          <a:spcPts val="0"/>
                        </a:spcBef>
                        <a:spcAft>
                          <a:spcPts val="0"/>
                        </a:spcAft>
                        <a:buNone/>
                      </a:pPr>
                      <a:r>
                        <a:rPr lang="en-US" sz="1800" dirty="0"/>
                        <a:t>Component</a:t>
                      </a:r>
                      <a:endParaRPr dirty="0"/>
                    </a:p>
                  </a:txBody>
                  <a:tcPr marL="91450" marR="91450" marT="45725" marB="45725"/>
                </a:tc>
                <a:tc>
                  <a:txBody>
                    <a:bodyPr/>
                    <a:lstStyle/>
                    <a:p>
                      <a:pPr marL="0" marR="0" lvl="0" indent="0" algn="l" rtl="0">
                        <a:spcBef>
                          <a:spcPts val="0"/>
                        </a:spcBef>
                        <a:spcAft>
                          <a:spcPts val="0"/>
                        </a:spcAft>
                        <a:buNone/>
                      </a:pPr>
                      <a:r>
                        <a:rPr lang="en-US" sz="1800"/>
                        <a:t>Version</a:t>
                      </a:r>
                      <a:endParaRPr/>
                    </a:p>
                  </a:txBody>
                  <a:tcPr marL="91450" marR="91450" marT="45725" marB="45725"/>
                </a:tc>
                <a:extLst>
                  <a:ext uri="{0D108BD9-81ED-4DB2-BD59-A6C34878D82A}">
                    <a16:rowId xmlns:a16="http://schemas.microsoft.com/office/drawing/2014/main" val="4072186733"/>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vCenter Server</a:t>
                      </a:r>
                      <a:endParaRPr sz="1600" b="0" i="0" u="none" strike="noStrike" cap="none" dirty="0">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8.0 Update 3d (8.0.3.00400 (Build 24322831))</a:t>
                      </a:r>
                      <a:endParaRPr sz="1600" b="0" i="0" u="none" strike="noStrike" cap="none" dirty="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2016385356"/>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err="1">
                          <a:solidFill>
                            <a:schemeClr val="dk1"/>
                          </a:solidFill>
                          <a:latin typeface="Arial"/>
                          <a:ea typeface="Arial"/>
                          <a:cs typeface="Arial"/>
                          <a:sym typeface="Arial"/>
                        </a:rPr>
                        <a:t>ESXi</a:t>
                      </a:r>
                      <a:endParaRPr sz="1600" b="0" i="0" u="none" strike="noStrike" cap="none" dirty="0">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8.0 Update 3d (8.0.3,24585383)</a:t>
                      </a:r>
                      <a:endParaRPr sz="1600" b="0" i="0" u="none" strike="noStrike" cap="none" dirty="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230849051"/>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chemeClr val="dk1"/>
                          </a:solidFill>
                          <a:latin typeface="Arial"/>
                          <a:ea typeface="Arial"/>
                          <a:cs typeface="Arial"/>
                          <a:sym typeface="Arial"/>
                        </a:rPr>
                        <a:t>Aria Operations</a:t>
                      </a: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8.18.#</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1700269305"/>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chemeClr val="dk1"/>
                          </a:solidFill>
                          <a:latin typeface="Arial"/>
                          <a:ea typeface="Arial"/>
                          <a:cs typeface="Arial"/>
                          <a:sym typeface="Arial"/>
                        </a:rPr>
                        <a:t>Site Recovery Manager Instances</a:t>
                      </a:r>
                      <a:endParaRPr sz="1600" b="0" i="0" u="none" strike="noStrike" cap="none">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9.0.2.8602</a:t>
                      </a:r>
                      <a:endParaRPr sz="1600" b="0" i="0" u="none" strike="noStrike" cap="none" dirty="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610032612"/>
                  </a:ext>
                </a:extLst>
              </a:tr>
            </a:tbl>
          </a:graphicData>
        </a:graphic>
      </p:graphicFrame>
      <p:sp>
        <p:nvSpPr>
          <p:cNvPr id="8" name="Rectangle 7">
            <a:extLst>
              <a:ext uri="{FF2B5EF4-FFF2-40B4-BE49-F238E27FC236}">
                <a16:creationId xmlns:a16="http://schemas.microsoft.com/office/drawing/2014/main" id="{C9126083-307E-2806-1792-57E58C97650C}"/>
              </a:ext>
            </a:extLst>
          </p:cNvPr>
          <p:cNvSpPr/>
          <p:nvPr/>
        </p:nvSpPr>
        <p:spPr>
          <a:xfrm>
            <a:off x="10234520" y="83820"/>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customer environment specifics</a:t>
            </a:r>
          </a:p>
        </p:txBody>
      </p:sp>
    </p:spTree>
    <p:extLst>
      <p:ext uri="{BB962C8B-B14F-4D97-AF65-F5344CB8AC3E}">
        <p14:creationId xmlns:p14="http://schemas.microsoft.com/office/powerpoint/2010/main" val="7058142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E2C5A-2EC8-B6A6-9CE9-F23A1EA1A2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1F43E7-D65D-2E79-740B-DC1998DCA7E3}"/>
              </a:ext>
            </a:extLst>
          </p:cNvPr>
          <p:cNvSpPr>
            <a:spLocks noGrp="1"/>
          </p:cNvSpPr>
          <p:nvPr>
            <p:ph type="title"/>
          </p:nvPr>
        </p:nvSpPr>
        <p:spPr/>
        <p:txBody>
          <a:bodyPr/>
          <a:lstStyle/>
          <a:p>
            <a:r>
              <a:rPr lang="fr-FR" dirty="0"/>
              <a:t>VMware Solution</a:t>
            </a:r>
            <a:endParaRPr lang="en-US" dirty="0"/>
          </a:p>
        </p:txBody>
      </p:sp>
      <p:sp>
        <p:nvSpPr>
          <p:cNvPr id="5" name="Subtitle 4">
            <a:extLst>
              <a:ext uri="{FF2B5EF4-FFF2-40B4-BE49-F238E27FC236}">
                <a16:creationId xmlns:a16="http://schemas.microsoft.com/office/drawing/2014/main" id="{30DC1AB5-502A-FA99-05B9-46E6B2A13B04}"/>
              </a:ext>
            </a:extLst>
          </p:cNvPr>
          <p:cNvSpPr>
            <a:spLocks noGrp="1"/>
          </p:cNvSpPr>
          <p:nvPr>
            <p:ph type="subTitle" idx="10"/>
          </p:nvPr>
        </p:nvSpPr>
        <p:spPr/>
        <p:txBody>
          <a:bodyPr/>
          <a:lstStyle/>
          <a:p>
            <a:r>
              <a:rPr lang="en-US" dirty="0"/>
              <a:t>Environment for Assessment - Production</a:t>
            </a:r>
          </a:p>
        </p:txBody>
      </p:sp>
      <p:graphicFrame>
        <p:nvGraphicFramePr>
          <p:cNvPr id="7" name="Content Placeholder 6">
            <a:extLst>
              <a:ext uri="{FF2B5EF4-FFF2-40B4-BE49-F238E27FC236}">
                <a16:creationId xmlns:a16="http://schemas.microsoft.com/office/drawing/2014/main" id="{0B17B40A-E1E7-B291-8852-D15FC8C88B4D}"/>
              </a:ext>
            </a:extLst>
          </p:cNvPr>
          <p:cNvGraphicFramePr>
            <a:graphicFrameLocks noGrp="1"/>
          </p:cNvGraphicFramePr>
          <p:nvPr>
            <p:ph sz="quarter" idx="14"/>
            <p:extLst>
              <p:ext uri="{D42A27DB-BD31-4B8C-83A1-F6EECF244321}">
                <p14:modId xmlns:p14="http://schemas.microsoft.com/office/powerpoint/2010/main" val="3506635318"/>
              </p:ext>
            </p:extLst>
          </p:nvPr>
        </p:nvGraphicFramePr>
        <p:xfrm>
          <a:off x="615950" y="1600200"/>
          <a:ext cx="10972800" cy="4150400"/>
        </p:xfrm>
        <a:graphic>
          <a:graphicData uri="http://schemas.openxmlformats.org/drawingml/2006/table">
            <a:tbl>
              <a:tblPr firstRow="1" bandRow="1">
                <a:tableStyleId>{85BE263C-DBD7-4A20-BB59-AAB30ACAA65A}</a:tableStyleId>
              </a:tblPr>
              <a:tblGrid>
                <a:gridCol w="5486400">
                  <a:extLst>
                    <a:ext uri="{9D8B030D-6E8A-4147-A177-3AD203B41FA5}">
                      <a16:colId xmlns:a16="http://schemas.microsoft.com/office/drawing/2014/main" val="2353068096"/>
                    </a:ext>
                  </a:extLst>
                </a:gridCol>
                <a:gridCol w="5486400">
                  <a:extLst>
                    <a:ext uri="{9D8B030D-6E8A-4147-A177-3AD203B41FA5}">
                      <a16:colId xmlns:a16="http://schemas.microsoft.com/office/drawing/2014/main" val="1444793381"/>
                    </a:ext>
                  </a:extLst>
                </a:gridCol>
              </a:tblGrid>
              <a:tr h="370840">
                <a:tc>
                  <a:txBody>
                    <a:bodyPr/>
                    <a:lstStyle/>
                    <a:p>
                      <a:pPr marL="0" marR="0" lvl="0" indent="0" algn="l" rtl="0">
                        <a:spcBef>
                          <a:spcPts val="0"/>
                        </a:spcBef>
                        <a:spcAft>
                          <a:spcPts val="0"/>
                        </a:spcAft>
                        <a:buNone/>
                      </a:pPr>
                      <a:r>
                        <a:rPr lang="en-US" sz="1800" dirty="0"/>
                        <a:t>Component</a:t>
                      </a:r>
                      <a:endParaRPr dirty="0"/>
                    </a:p>
                  </a:txBody>
                  <a:tcPr marL="91450" marR="91450" marT="45725" marB="45725"/>
                </a:tc>
                <a:tc>
                  <a:txBody>
                    <a:bodyPr/>
                    <a:lstStyle/>
                    <a:p>
                      <a:pPr marL="0" marR="0" lvl="0" indent="0" algn="l" rtl="0">
                        <a:spcBef>
                          <a:spcPts val="0"/>
                        </a:spcBef>
                        <a:spcAft>
                          <a:spcPts val="0"/>
                        </a:spcAft>
                        <a:buNone/>
                      </a:pPr>
                      <a:r>
                        <a:rPr lang="en-US" sz="1800"/>
                        <a:t>Specification</a:t>
                      </a:r>
                      <a:endParaRPr/>
                    </a:p>
                  </a:txBody>
                  <a:tcPr marL="91450" marR="91450" marT="45725" marB="45725"/>
                </a:tc>
                <a:extLst>
                  <a:ext uri="{0D108BD9-81ED-4DB2-BD59-A6C34878D82A}">
                    <a16:rowId xmlns:a16="http://schemas.microsoft.com/office/drawing/2014/main" val="4072186733"/>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vCenter Servers</a:t>
                      </a:r>
                      <a:endParaRPr sz="1600" b="0" i="0" u="none" strike="noStrike" cap="none" dirty="0">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ea typeface="Arial"/>
                          <a:cs typeface="Arial"/>
                          <a:sym typeface="Arial"/>
                        </a:rPr>
                        <a:t>Up to two (2)</a:t>
                      </a: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DC1 – 1</a:t>
                      </a:r>
                      <a:endParaRPr lang="en-US" sz="1600" b="0" i="0" u="none" strike="noStrike" cap="none" dirty="0">
                        <a:solidFill>
                          <a:schemeClr val="dk1"/>
                        </a:solidFill>
                        <a:latin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DC2 – 1</a:t>
                      </a:r>
                      <a:endParaRPr lang="en-US"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016385356"/>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chemeClr val="dk1"/>
                          </a:solidFill>
                          <a:latin typeface="Arial"/>
                          <a:ea typeface="Arial"/>
                          <a:cs typeface="Arial"/>
                          <a:sym typeface="Arial"/>
                        </a:rPr>
                        <a:t>vSphere DataCenters</a:t>
                      </a:r>
                      <a:endParaRPr sz="1600" b="0" i="0" u="none" strike="noStrike" cap="none">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Up to four (4)</a:t>
                      </a: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DC1 – 3</a:t>
                      </a:r>
                      <a:endParaRPr lang="en-US" sz="1600" b="0" i="0" u="none" strike="noStrike" cap="none" dirty="0">
                        <a:solidFill>
                          <a:schemeClr val="dk1"/>
                        </a:solidFill>
                        <a:latin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DC2 – 1</a:t>
                      </a:r>
                      <a:endParaRPr lang="en-US"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30849051"/>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vSphere Clusters</a:t>
                      </a:r>
                      <a:endParaRPr sz="1600" b="0" i="0" u="none" strike="noStrike" cap="none" dirty="0">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Up to twenty-three (23)</a:t>
                      </a:r>
                      <a:endParaRPr sz="16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DC1 – 18</a:t>
                      </a:r>
                      <a:endParaRPr sz="1600" b="0" i="0" u="none" strike="noStrike" cap="none" dirty="0">
                        <a:solidFill>
                          <a:schemeClr val="dk1"/>
                        </a:solidFill>
                        <a:latin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DC2 – 5</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1700269305"/>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ESXi</a:t>
                      </a:r>
                      <a:endParaRPr sz="1600" b="0" i="0" u="none" strike="noStrike" cap="none" dirty="0">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Up to one hundred &amp; thirty (130)</a:t>
                      </a:r>
                      <a:endParaRPr sz="1600" b="0" i="0" u="none" strike="noStrike" cap="none" dirty="0">
                        <a:solidFill>
                          <a:schemeClr val="dk1"/>
                        </a:solidFill>
                        <a:latin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Datacenter 1 – 48</a:t>
                      </a: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Datacenter 2</a:t>
                      </a:r>
                      <a:r>
                        <a:rPr lang="en-US" sz="1600" b="0" i="0" u="none" strike="noStrike" cap="none" dirty="0">
                          <a:solidFill>
                            <a:schemeClr val="dk1"/>
                          </a:solidFill>
                          <a:latin typeface="Arial"/>
                          <a:cs typeface="Arial"/>
                          <a:sym typeface="Arial"/>
                        </a:rPr>
                        <a:t> – 6</a:t>
                      </a: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Datacenter 3</a:t>
                      </a:r>
                      <a:r>
                        <a:rPr lang="en-US" sz="1600" b="0" i="0" u="none" strike="noStrike" cap="none" dirty="0">
                          <a:solidFill>
                            <a:schemeClr val="dk1"/>
                          </a:solidFill>
                          <a:latin typeface="Arial"/>
                          <a:cs typeface="Arial"/>
                          <a:sym typeface="Arial"/>
                        </a:rPr>
                        <a:t> –  31</a:t>
                      </a:r>
                      <a:endParaRPr sz="1600" b="0" i="0" u="none" strike="noStrike" cap="none" dirty="0">
                        <a:solidFill>
                          <a:schemeClr val="dk1"/>
                        </a:solidFill>
                        <a:latin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Datacenter 4 – 45</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1610032612"/>
                  </a:ext>
                </a:extLst>
              </a:tr>
            </a:tbl>
          </a:graphicData>
        </a:graphic>
      </p:graphicFrame>
      <p:sp>
        <p:nvSpPr>
          <p:cNvPr id="8" name="Rectangle 7">
            <a:extLst>
              <a:ext uri="{FF2B5EF4-FFF2-40B4-BE49-F238E27FC236}">
                <a16:creationId xmlns:a16="http://schemas.microsoft.com/office/drawing/2014/main" id="{EA6A482E-108E-6D7D-A8F2-04D2BD495490}"/>
              </a:ext>
            </a:extLst>
          </p:cNvPr>
          <p:cNvSpPr/>
          <p:nvPr/>
        </p:nvSpPr>
        <p:spPr>
          <a:xfrm>
            <a:off x="10242140" y="83820"/>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customer environment specifics</a:t>
            </a:r>
          </a:p>
        </p:txBody>
      </p:sp>
    </p:spTree>
    <p:extLst>
      <p:ext uri="{BB962C8B-B14F-4D97-AF65-F5344CB8AC3E}">
        <p14:creationId xmlns:p14="http://schemas.microsoft.com/office/powerpoint/2010/main" val="21413524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B31B5-1665-118F-0F69-88EBFC9E1BB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01462F-B089-BFD1-B68D-A398CDD78A3E}"/>
              </a:ext>
            </a:extLst>
          </p:cNvPr>
          <p:cNvSpPr>
            <a:spLocks noGrp="1"/>
          </p:cNvSpPr>
          <p:nvPr>
            <p:ph type="title"/>
          </p:nvPr>
        </p:nvSpPr>
        <p:spPr/>
        <p:txBody>
          <a:bodyPr/>
          <a:lstStyle/>
          <a:p>
            <a:r>
              <a:rPr lang="fr-FR" dirty="0"/>
              <a:t>VMware Solution</a:t>
            </a:r>
            <a:endParaRPr lang="en-US" dirty="0"/>
          </a:p>
        </p:txBody>
      </p:sp>
      <p:sp>
        <p:nvSpPr>
          <p:cNvPr id="5" name="Subtitle 4">
            <a:extLst>
              <a:ext uri="{FF2B5EF4-FFF2-40B4-BE49-F238E27FC236}">
                <a16:creationId xmlns:a16="http://schemas.microsoft.com/office/drawing/2014/main" id="{A6D644B6-022E-5AF8-2C8E-DF0B310F2296}"/>
              </a:ext>
            </a:extLst>
          </p:cNvPr>
          <p:cNvSpPr>
            <a:spLocks noGrp="1"/>
          </p:cNvSpPr>
          <p:nvPr>
            <p:ph type="subTitle" idx="10"/>
          </p:nvPr>
        </p:nvSpPr>
        <p:spPr/>
        <p:txBody>
          <a:bodyPr/>
          <a:lstStyle/>
          <a:p>
            <a:r>
              <a:rPr lang="en-US" dirty="0"/>
              <a:t>Environment for Assessment - Production</a:t>
            </a:r>
          </a:p>
        </p:txBody>
      </p:sp>
      <p:graphicFrame>
        <p:nvGraphicFramePr>
          <p:cNvPr id="7" name="Content Placeholder 6">
            <a:extLst>
              <a:ext uri="{FF2B5EF4-FFF2-40B4-BE49-F238E27FC236}">
                <a16:creationId xmlns:a16="http://schemas.microsoft.com/office/drawing/2014/main" id="{9DD8F561-17A8-FDA7-83BD-9C4C7858D180}"/>
              </a:ext>
            </a:extLst>
          </p:cNvPr>
          <p:cNvGraphicFramePr>
            <a:graphicFrameLocks noGrp="1"/>
          </p:cNvGraphicFramePr>
          <p:nvPr>
            <p:ph sz="quarter" idx="14"/>
            <p:extLst>
              <p:ext uri="{D42A27DB-BD31-4B8C-83A1-F6EECF244321}">
                <p14:modId xmlns:p14="http://schemas.microsoft.com/office/powerpoint/2010/main" val="1899655966"/>
              </p:ext>
            </p:extLst>
          </p:nvPr>
        </p:nvGraphicFramePr>
        <p:xfrm>
          <a:off x="615950" y="1600200"/>
          <a:ext cx="10972800" cy="2722910"/>
        </p:xfrm>
        <a:graphic>
          <a:graphicData uri="http://schemas.openxmlformats.org/drawingml/2006/table">
            <a:tbl>
              <a:tblPr firstRow="1" bandRow="1">
                <a:tableStyleId>{85BE263C-DBD7-4A20-BB59-AAB30ACAA65A}</a:tableStyleId>
              </a:tblPr>
              <a:tblGrid>
                <a:gridCol w="5486400">
                  <a:extLst>
                    <a:ext uri="{9D8B030D-6E8A-4147-A177-3AD203B41FA5}">
                      <a16:colId xmlns:a16="http://schemas.microsoft.com/office/drawing/2014/main" val="2353068096"/>
                    </a:ext>
                  </a:extLst>
                </a:gridCol>
                <a:gridCol w="5486400">
                  <a:extLst>
                    <a:ext uri="{9D8B030D-6E8A-4147-A177-3AD203B41FA5}">
                      <a16:colId xmlns:a16="http://schemas.microsoft.com/office/drawing/2014/main" val="1444793381"/>
                    </a:ext>
                  </a:extLst>
                </a:gridCol>
              </a:tblGrid>
              <a:tr h="370840">
                <a:tc>
                  <a:txBody>
                    <a:bodyPr/>
                    <a:lstStyle/>
                    <a:p>
                      <a:pPr marL="0" marR="0" lvl="0" indent="0" algn="l" rtl="0">
                        <a:spcBef>
                          <a:spcPts val="0"/>
                        </a:spcBef>
                        <a:spcAft>
                          <a:spcPts val="0"/>
                        </a:spcAft>
                        <a:buNone/>
                      </a:pPr>
                      <a:r>
                        <a:rPr lang="en-US" sz="1800" dirty="0"/>
                        <a:t>Component</a:t>
                      </a:r>
                      <a:endParaRPr dirty="0"/>
                    </a:p>
                  </a:txBody>
                  <a:tcPr marL="91450" marR="91450" marT="45725" marB="45725"/>
                </a:tc>
                <a:tc>
                  <a:txBody>
                    <a:bodyPr/>
                    <a:lstStyle/>
                    <a:p>
                      <a:pPr marL="0" marR="0" lvl="0" indent="0" algn="l" rtl="0">
                        <a:spcBef>
                          <a:spcPts val="0"/>
                        </a:spcBef>
                        <a:spcAft>
                          <a:spcPts val="0"/>
                        </a:spcAft>
                        <a:buNone/>
                      </a:pPr>
                      <a:r>
                        <a:rPr lang="en-US" sz="1800"/>
                        <a:t>Specification</a:t>
                      </a:r>
                      <a:endParaRPr/>
                    </a:p>
                  </a:txBody>
                  <a:tcPr marL="91450" marR="91450" marT="45725" marB="45725"/>
                </a:tc>
                <a:extLst>
                  <a:ext uri="{0D108BD9-81ED-4DB2-BD59-A6C34878D82A}">
                    <a16:rowId xmlns:a16="http://schemas.microsoft.com/office/drawing/2014/main" val="4072186733"/>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Aria Operations Cluster/Node</a:t>
                      </a:r>
                      <a:endParaRPr sz="1600" b="0" i="0" u="none" strike="noStrike" cap="none" dirty="0">
                        <a:solidFill>
                          <a:schemeClr val="dk1"/>
                        </a:solidFill>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Up to one (1)</a:t>
                      </a:r>
                      <a:endParaRPr sz="1600" b="0" i="0" u="none" strike="noStrike" cap="none" dirty="0">
                        <a:solidFill>
                          <a:schemeClr val="dk1"/>
                        </a:solidFill>
                        <a:latin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 Located in DC1</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016385356"/>
                  </a:ext>
                </a:extLst>
              </a:tr>
              <a:tr h="370840">
                <a:tc>
                  <a:txBody>
                    <a:bodyPr/>
                    <a:lstStyle/>
                    <a:p>
                      <a:pPr marL="0" marR="0" lvl="0" indent="0" algn="l" rtl="0">
                        <a:lnSpc>
                          <a:spcPct val="100000"/>
                        </a:lnSpc>
                        <a:spcBef>
                          <a:spcPts val="0"/>
                        </a:spcBef>
                        <a:spcAft>
                          <a:spcPts val="0"/>
                        </a:spcAft>
                        <a:buClr>
                          <a:srgbClr val="000000"/>
                        </a:buClr>
                        <a:buFont typeface="Arial"/>
                        <a:buNone/>
                      </a:pPr>
                      <a:r>
                        <a:rPr lang="en-US" sz="1600" b="0" i="0" u="none" strike="noStrike" cap="none" dirty="0">
                          <a:solidFill>
                            <a:schemeClr val="dk1"/>
                          </a:solidFill>
                          <a:latin typeface="Arial"/>
                          <a:cs typeface="Arial"/>
                          <a:sym typeface="Arial"/>
                        </a:rPr>
                        <a:t>Aria Operations Cloud Proxies</a:t>
                      </a:r>
                      <a:endParaRPr sz="1600" b="0" i="0" u="none" strike="noStrike" cap="none" dirty="0">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AU" sz="1600" b="0" i="0" u="none" strike="noStrike" cap="none" dirty="0">
                          <a:solidFill>
                            <a:schemeClr val="dk1"/>
                          </a:solidFill>
                          <a:latin typeface="Arial"/>
                          <a:cs typeface="Arial"/>
                          <a:sym typeface="Arial"/>
                        </a:rPr>
                        <a:t>None</a:t>
                      </a:r>
                      <a:endParaRPr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230849051"/>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Site Recovery Manager Instances</a:t>
                      </a:r>
                      <a:endParaRPr sz="1600" b="0" i="0" u="none" strike="noStrike" cap="none" dirty="0">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Up to two (2)</a:t>
                      </a:r>
                    </a:p>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lang="en-US" sz="1600" b="0" i="0" u="none" strike="noStrike" cap="none" dirty="0">
                          <a:solidFill>
                            <a:schemeClr val="dk1"/>
                          </a:solidFill>
                          <a:latin typeface="Arial"/>
                          <a:ea typeface="Arial"/>
                          <a:cs typeface="Arial"/>
                          <a:sym typeface="Arial"/>
                        </a:rPr>
                        <a:t>- Located in DC1 and DC2</a:t>
                      </a:r>
                      <a:endParaRPr lang="en-US"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1700269305"/>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0" i="0" u="none" strike="noStrike" cap="none">
                          <a:solidFill>
                            <a:schemeClr val="dk1"/>
                          </a:solidFill>
                          <a:latin typeface="Arial"/>
                          <a:ea typeface="Arial"/>
                          <a:cs typeface="Arial"/>
                          <a:sym typeface="Arial"/>
                        </a:rPr>
                        <a:t>Virtual Machines</a:t>
                      </a:r>
                      <a:endParaRPr sz="1600" b="0" i="0" u="none" strike="noStrike" cap="none">
                        <a:solidFill>
                          <a:schemeClr val="dk1"/>
                        </a:solidFill>
                        <a:latin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AU" sz="1600" b="0" i="0" u="none" strike="noStrike" cap="none" dirty="0">
                          <a:solidFill>
                            <a:schemeClr val="dk1"/>
                          </a:solidFill>
                          <a:latin typeface="Arial"/>
                          <a:ea typeface="Arial"/>
                          <a:cs typeface="Arial"/>
                          <a:sym typeface="Arial"/>
                        </a:rPr>
                        <a:t>Up to 2458</a:t>
                      </a: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DC1 – 1577</a:t>
                      </a:r>
                      <a:endParaRPr lang="en-US" sz="1600" b="0" i="0" u="none" strike="noStrike" cap="none" dirty="0">
                        <a:solidFill>
                          <a:schemeClr val="dk1"/>
                        </a:solidFill>
                        <a:latin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Arial"/>
                          <a:ea typeface="Arial"/>
                          <a:cs typeface="Arial"/>
                          <a:sym typeface="Arial"/>
                        </a:rPr>
                        <a:t>DC2 – 881</a:t>
                      </a:r>
                      <a:endParaRPr lang="en-US" sz="1600" b="0" i="0" u="none" strike="noStrike" cap="none" dirty="0">
                        <a:solidFill>
                          <a:schemeClr val="dk1"/>
                        </a:solidFill>
                        <a:latin typeface="Arial"/>
                        <a:cs typeface="Arial"/>
                        <a:sym typeface="Arial"/>
                      </a:endParaRPr>
                    </a:p>
                  </a:txBody>
                  <a:tcPr marL="91450" marR="91450" marT="45725" marB="45725"/>
                </a:tc>
                <a:extLst>
                  <a:ext uri="{0D108BD9-81ED-4DB2-BD59-A6C34878D82A}">
                    <a16:rowId xmlns:a16="http://schemas.microsoft.com/office/drawing/2014/main" val="1610032612"/>
                  </a:ext>
                </a:extLst>
              </a:tr>
            </a:tbl>
          </a:graphicData>
        </a:graphic>
      </p:graphicFrame>
      <p:sp>
        <p:nvSpPr>
          <p:cNvPr id="8" name="Rectangle 7">
            <a:extLst>
              <a:ext uri="{FF2B5EF4-FFF2-40B4-BE49-F238E27FC236}">
                <a16:creationId xmlns:a16="http://schemas.microsoft.com/office/drawing/2014/main" id="{F5A9A84E-39BB-A604-3B69-7634EA152BB6}"/>
              </a:ext>
            </a:extLst>
          </p:cNvPr>
          <p:cNvSpPr/>
          <p:nvPr/>
        </p:nvSpPr>
        <p:spPr>
          <a:xfrm>
            <a:off x="10234520" y="83820"/>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customer environment specifics</a:t>
            </a:r>
          </a:p>
        </p:txBody>
      </p:sp>
    </p:spTree>
    <p:extLst>
      <p:ext uri="{BB962C8B-B14F-4D97-AF65-F5344CB8AC3E}">
        <p14:creationId xmlns:p14="http://schemas.microsoft.com/office/powerpoint/2010/main" val="27668861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51"/>
        <p:cNvGrpSpPr/>
        <p:nvPr/>
      </p:nvGrpSpPr>
      <p:grpSpPr>
        <a:xfrm>
          <a:off x="0" y="0"/>
          <a:ext cx="0" cy="0"/>
          <a:chOff x="0" y="0"/>
          <a:chExt cx="0" cy="0"/>
        </a:xfrm>
      </p:grpSpPr>
      <p:sp>
        <p:nvSpPr>
          <p:cNvPr id="2853" name="Google Shape;2853;p13"/>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VMware Solution</a:t>
            </a:r>
            <a:endParaRPr/>
          </a:p>
        </p:txBody>
      </p:sp>
      <p:sp>
        <p:nvSpPr>
          <p:cNvPr id="2852" name="Google Shape;2852;p13"/>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Production Environment</a:t>
            </a:r>
            <a:endParaRPr/>
          </a:p>
        </p:txBody>
      </p:sp>
      <p:sp>
        <p:nvSpPr>
          <p:cNvPr id="2856" name="Google Shape;2856;p13"/>
          <p:cNvSpPr/>
          <p:nvPr/>
        </p:nvSpPr>
        <p:spPr>
          <a:xfrm>
            <a:off x="3475680" y="1374638"/>
            <a:ext cx="1154097" cy="736847"/>
          </a:xfrm>
          <a:prstGeom prst="rect">
            <a:avLst/>
          </a:prstGeom>
          <a:solidFill>
            <a:schemeClr val="lt1"/>
          </a:solidFill>
          <a:ln w="508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ea typeface="Arial"/>
                <a:cs typeface="Arial"/>
                <a:sym typeface="Arial"/>
              </a:rPr>
              <a:t>VC-DC1</a:t>
            </a:r>
            <a:endParaRPr sz="1200">
              <a:solidFill>
                <a:schemeClr val="dk2"/>
              </a:solidFill>
              <a:ea typeface="Arial"/>
              <a:cs typeface="Arial"/>
              <a:sym typeface="Arial"/>
            </a:endParaRPr>
          </a:p>
        </p:txBody>
      </p:sp>
      <p:cxnSp>
        <p:nvCxnSpPr>
          <p:cNvPr id="2860" name="Google Shape;2860;p13"/>
          <p:cNvCxnSpPr>
            <a:cxnSpLocks/>
            <a:stCxn id="2856" idx="2"/>
            <a:endCxn id="26" idx="0"/>
          </p:cNvCxnSpPr>
          <p:nvPr/>
        </p:nvCxnSpPr>
        <p:spPr>
          <a:xfrm flipH="1">
            <a:off x="1915938" y="2111485"/>
            <a:ext cx="2136791" cy="399901"/>
          </a:xfrm>
          <a:prstGeom prst="straightConnector1">
            <a:avLst/>
          </a:prstGeom>
          <a:noFill/>
          <a:ln w="25400" cap="flat" cmpd="sng">
            <a:solidFill>
              <a:schemeClr val="accent2"/>
            </a:solidFill>
            <a:prstDash val="solid"/>
            <a:miter lim="800000"/>
            <a:headEnd type="none" w="sm" len="sm"/>
            <a:tailEnd type="triangle" w="med" len="med"/>
          </a:ln>
        </p:spPr>
      </p:cxnSp>
      <p:sp>
        <p:nvSpPr>
          <p:cNvPr id="2866" name="Google Shape;2866;p13"/>
          <p:cNvSpPr/>
          <p:nvPr/>
        </p:nvSpPr>
        <p:spPr>
          <a:xfrm>
            <a:off x="9811781" y="1374639"/>
            <a:ext cx="1154097" cy="736847"/>
          </a:xfrm>
          <a:prstGeom prst="rect">
            <a:avLst/>
          </a:prstGeom>
          <a:solidFill>
            <a:schemeClr val="lt1"/>
          </a:solidFill>
          <a:ln w="508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000000"/>
                </a:solidFill>
                <a:ea typeface="Arial"/>
                <a:cs typeface="Arial"/>
                <a:sym typeface="Arial"/>
              </a:rPr>
              <a:t>VC-DC2</a:t>
            </a:r>
            <a:endParaRPr/>
          </a:p>
        </p:txBody>
      </p:sp>
      <p:cxnSp>
        <p:nvCxnSpPr>
          <p:cNvPr id="2868" name="Google Shape;2868;p13"/>
          <p:cNvCxnSpPr>
            <a:cxnSpLocks/>
            <a:stCxn id="2866" idx="2"/>
            <a:endCxn id="2846" idx="0"/>
          </p:cNvCxnSpPr>
          <p:nvPr/>
        </p:nvCxnSpPr>
        <p:spPr>
          <a:xfrm>
            <a:off x="10388830" y="2111486"/>
            <a:ext cx="0" cy="399900"/>
          </a:xfrm>
          <a:prstGeom prst="straightConnector1">
            <a:avLst/>
          </a:prstGeom>
          <a:noFill/>
          <a:ln w="25400" cap="flat" cmpd="sng">
            <a:solidFill>
              <a:schemeClr val="accent2"/>
            </a:solidFill>
            <a:prstDash val="solid"/>
            <a:miter lim="800000"/>
            <a:headEnd type="none" w="sm" len="sm"/>
            <a:tailEnd type="triangle" w="med" len="med"/>
          </a:ln>
        </p:spPr>
      </p:cxnSp>
      <p:cxnSp>
        <p:nvCxnSpPr>
          <p:cNvPr id="2872" name="Google Shape;2872;p13"/>
          <p:cNvCxnSpPr>
            <a:stCxn id="2856" idx="3"/>
            <a:endCxn id="2866" idx="1"/>
          </p:cNvCxnSpPr>
          <p:nvPr/>
        </p:nvCxnSpPr>
        <p:spPr>
          <a:xfrm>
            <a:off x="4629777" y="1743062"/>
            <a:ext cx="5182004" cy="1"/>
          </a:xfrm>
          <a:prstGeom prst="straightConnector1">
            <a:avLst/>
          </a:prstGeom>
          <a:noFill/>
          <a:ln w="25400" cap="flat" cmpd="sng">
            <a:solidFill>
              <a:schemeClr val="accent2"/>
            </a:solidFill>
            <a:prstDash val="solid"/>
            <a:miter lim="800000"/>
            <a:headEnd type="triangle" w="med" len="med"/>
            <a:tailEnd type="triangle" w="med" len="med"/>
          </a:ln>
        </p:spPr>
      </p:cxnSp>
      <p:grpSp>
        <p:nvGrpSpPr>
          <p:cNvPr id="2873" name="Google Shape;2873;p13"/>
          <p:cNvGrpSpPr/>
          <p:nvPr/>
        </p:nvGrpSpPr>
        <p:grpSpPr>
          <a:xfrm>
            <a:off x="6986868" y="1492261"/>
            <a:ext cx="467822" cy="871193"/>
            <a:chOff x="8162088" y="3781276"/>
            <a:chExt cx="467822" cy="871193"/>
          </a:xfrm>
        </p:grpSpPr>
        <p:pic>
          <p:nvPicPr>
            <p:cNvPr id="2874" name="Google Shape;2874;p13"/>
            <p:cNvPicPr preferRelativeResize="0"/>
            <p:nvPr/>
          </p:nvPicPr>
          <p:blipFill rotWithShape="1">
            <a:blip r:embed="rId3">
              <a:alphaModFix/>
            </a:blip>
            <a:srcRect/>
            <a:stretch/>
          </p:blipFill>
          <p:spPr>
            <a:xfrm>
              <a:off x="8162088" y="3781276"/>
              <a:ext cx="467822" cy="515629"/>
            </a:xfrm>
            <a:prstGeom prst="rect">
              <a:avLst/>
            </a:prstGeom>
            <a:noFill/>
            <a:ln>
              <a:noFill/>
            </a:ln>
          </p:spPr>
        </p:pic>
        <p:sp>
          <p:nvSpPr>
            <p:cNvPr id="2875" name="Google Shape;2875;p13"/>
            <p:cNvSpPr txBox="1"/>
            <p:nvPr/>
          </p:nvSpPr>
          <p:spPr>
            <a:xfrm>
              <a:off x="8162761" y="4344692"/>
              <a:ext cx="466474" cy="30777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a:solidFill>
                    <a:srgbClr val="000000"/>
                  </a:solidFill>
                  <a:ea typeface="Arial"/>
                  <a:cs typeface="Arial"/>
                  <a:sym typeface="Arial"/>
                </a:rPr>
                <a:t>SRM Pair</a:t>
              </a:r>
              <a:endParaRPr/>
            </a:p>
          </p:txBody>
        </p:sp>
      </p:grpSp>
      <p:sp>
        <p:nvSpPr>
          <p:cNvPr id="23" name="Google Shape;2854;p13">
            <a:extLst>
              <a:ext uri="{FF2B5EF4-FFF2-40B4-BE49-F238E27FC236}">
                <a16:creationId xmlns:a16="http://schemas.microsoft.com/office/drawing/2014/main" id="{3F0C0FFF-9732-D335-FA38-B868E5B981A5}"/>
              </a:ext>
            </a:extLst>
          </p:cNvPr>
          <p:cNvSpPr/>
          <p:nvPr/>
        </p:nvSpPr>
        <p:spPr>
          <a:xfrm>
            <a:off x="645898" y="3450765"/>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Cluster1</a:t>
            </a:r>
          </a:p>
          <a:p>
            <a:pPr marL="0" marR="0" lvl="0" indent="0" algn="ctr" rtl="0">
              <a:spcBef>
                <a:spcPts val="0"/>
              </a:spcBef>
              <a:spcAft>
                <a:spcPts val="0"/>
              </a:spcAft>
              <a:buNone/>
            </a:pPr>
            <a:r>
              <a:rPr lang="en-US" sz="1000" dirty="0">
                <a:solidFill>
                  <a:schemeClr val="lt1"/>
                </a:solidFill>
                <a:ea typeface="Arial"/>
                <a:cs typeface="Arial"/>
                <a:sym typeface="Arial"/>
              </a:rPr>
              <a:t>1 host</a:t>
            </a:r>
            <a:endParaRPr sz="1000" dirty="0"/>
          </a:p>
        </p:txBody>
      </p:sp>
      <p:sp>
        <p:nvSpPr>
          <p:cNvPr id="24" name="Google Shape;2855;p13">
            <a:extLst>
              <a:ext uri="{FF2B5EF4-FFF2-40B4-BE49-F238E27FC236}">
                <a16:creationId xmlns:a16="http://schemas.microsoft.com/office/drawing/2014/main" id="{6D019DBE-1249-9C9E-66C3-DC8A5736CFC0}"/>
              </a:ext>
            </a:extLst>
          </p:cNvPr>
          <p:cNvSpPr/>
          <p:nvPr/>
        </p:nvSpPr>
        <p:spPr>
          <a:xfrm>
            <a:off x="645898" y="3996733"/>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Cluster2</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rPr>
              <a:t>1</a:t>
            </a:r>
            <a:r>
              <a:rPr lang="en-US" sz="1000" dirty="0">
                <a:solidFill>
                  <a:schemeClr val="lt1"/>
                </a:solidFill>
                <a:ea typeface="Arial"/>
                <a:cs typeface="Arial"/>
                <a:sym typeface="Arial"/>
              </a:rPr>
              <a:t> host</a:t>
            </a:r>
            <a:endParaRPr sz="1000" dirty="0"/>
          </a:p>
        </p:txBody>
      </p:sp>
      <p:grpSp>
        <p:nvGrpSpPr>
          <p:cNvPr id="25" name="Google Shape;2857;p13">
            <a:extLst>
              <a:ext uri="{FF2B5EF4-FFF2-40B4-BE49-F238E27FC236}">
                <a16:creationId xmlns:a16="http://schemas.microsoft.com/office/drawing/2014/main" id="{06FF8A28-42E1-C7AE-49C6-C5C44B2769F4}"/>
              </a:ext>
            </a:extLst>
          </p:cNvPr>
          <p:cNvGrpSpPr/>
          <p:nvPr/>
        </p:nvGrpSpPr>
        <p:grpSpPr>
          <a:xfrm>
            <a:off x="1289092" y="2511386"/>
            <a:ext cx="1199946" cy="662511"/>
            <a:chOff x="1468913" y="1257134"/>
            <a:chExt cx="1199946" cy="662511"/>
          </a:xfrm>
        </p:grpSpPr>
        <p:pic>
          <p:nvPicPr>
            <p:cNvPr id="26" name="Google Shape;2858;p13">
              <a:extLst>
                <a:ext uri="{FF2B5EF4-FFF2-40B4-BE49-F238E27FC236}">
                  <a16:creationId xmlns:a16="http://schemas.microsoft.com/office/drawing/2014/main" id="{45D09216-4FB5-D2AB-FFDE-2F8D0732C812}"/>
                </a:ext>
              </a:extLst>
            </p:cNvPr>
            <p:cNvPicPr preferRelativeResize="0"/>
            <p:nvPr/>
          </p:nvPicPr>
          <p:blipFill rotWithShape="1">
            <a:blip r:embed="rId4">
              <a:alphaModFix/>
            </a:blip>
            <a:srcRect/>
            <a:stretch/>
          </p:blipFill>
          <p:spPr>
            <a:xfrm>
              <a:off x="1841447" y="1257134"/>
              <a:ext cx="508623" cy="508623"/>
            </a:xfrm>
            <a:prstGeom prst="rect">
              <a:avLst/>
            </a:prstGeom>
            <a:noFill/>
            <a:ln>
              <a:noFill/>
            </a:ln>
          </p:spPr>
        </p:pic>
        <p:sp>
          <p:nvSpPr>
            <p:cNvPr id="27" name="Google Shape;2859;p13">
              <a:extLst>
                <a:ext uri="{FF2B5EF4-FFF2-40B4-BE49-F238E27FC236}">
                  <a16:creationId xmlns:a16="http://schemas.microsoft.com/office/drawing/2014/main" id="{07F2F271-015A-6066-4013-C7065581CCA6}"/>
                </a:ext>
              </a:extLst>
            </p:cNvPr>
            <p:cNvSpPr txBox="1"/>
            <p:nvPr/>
          </p:nvSpPr>
          <p:spPr>
            <a:xfrm>
              <a:off x="1468913" y="1765757"/>
              <a:ext cx="1199946"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dirty="0">
                  <a:solidFill>
                    <a:srgbClr val="000000"/>
                  </a:solidFill>
                  <a:ea typeface="Arial"/>
                  <a:cs typeface="Arial"/>
                  <a:sym typeface="Arial"/>
                </a:rPr>
                <a:t>Datacentre1</a:t>
              </a:r>
              <a:endParaRPr dirty="0"/>
            </a:p>
          </p:txBody>
        </p:sp>
      </p:grpSp>
      <p:cxnSp>
        <p:nvCxnSpPr>
          <p:cNvPr id="28" name="Google Shape;2861;p13">
            <a:extLst>
              <a:ext uri="{FF2B5EF4-FFF2-40B4-BE49-F238E27FC236}">
                <a16:creationId xmlns:a16="http://schemas.microsoft.com/office/drawing/2014/main" id="{B1728524-B33F-9F67-CC05-87B9CFCD91F3}"/>
              </a:ext>
            </a:extLst>
          </p:cNvPr>
          <p:cNvCxnSpPr>
            <a:cxnSpLocks/>
            <a:stCxn id="27" idx="2"/>
            <a:endCxn id="23" idx="1"/>
          </p:cNvCxnSpPr>
          <p:nvPr/>
        </p:nvCxnSpPr>
        <p:spPr>
          <a:xfrm rot="5400000">
            <a:off x="1010141" y="2809655"/>
            <a:ext cx="514683" cy="1243167"/>
          </a:xfrm>
          <a:prstGeom prst="bentConnector4">
            <a:avLst>
              <a:gd name="adj1" fmla="val 25972"/>
              <a:gd name="adj2" fmla="val 118389"/>
            </a:avLst>
          </a:prstGeom>
          <a:noFill/>
          <a:ln w="25400" cap="flat" cmpd="sng">
            <a:solidFill>
              <a:schemeClr val="accent2"/>
            </a:solidFill>
            <a:prstDash val="solid"/>
            <a:miter lim="800000"/>
            <a:headEnd type="none" w="sm" len="sm"/>
            <a:tailEnd type="triangle" w="med" len="med"/>
          </a:ln>
        </p:spPr>
      </p:cxnSp>
      <p:cxnSp>
        <p:nvCxnSpPr>
          <p:cNvPr id="29" name="Google Shape;2862;p13">
            <a:extLst>
              <a:ext uri="{FF2B5EF4-FFF2-40B4-BE49-F238E27FC236}">
                <a16:creationId xmlns:a16="http://schemas.microsoft.com/office/drawing/2014/main" id="{0BD59180-3DD9-B4FF-357E-5D71D03BEC63}"/>
              </a:ext>
            </a:extLst>
          </p:cNvPr>
          <p:cNvCxnSpPr>
            <a:cxnSpLocks/>
            <a:stCxn id="27" idx="2"/>
            <a:endCxn id="24" idx="1"/>
          </p:cNvCxnSpPr>
          <p:nvPr/>
        </p:nvCxnSpPr>
        <p:spPr>
          <a:xfrm rot="5400000">
            <a:off x="737157" y="3082639"/>
            <a:ext cx="1060651" cy="1243167"/>
          </a:xfrm>
          <a:prstGeom prst="bentConnector4">
            <a:avLst>
              <a:gd name="adj1" fmla="val 13091"/>
              <a:gd name="adj2" fmla="val 118389"/>
            </a:avLst>
          </a:prstGeom>
          <a:noFill/>
          <a:ln w="25400" cap="flat" cmpd="sng">
            <a:solidFill>
              <a:schemeClr val="accent2"/>
            </a:solidFill>
            <a:prstDash val="solid"/>
            <a:miter lim="800000"/>
            <a:headEnd type="none" w="sm" len="sm"/>
            <a:tailEnd type="triangle" w="med" len="med"/>
          </a:ln>
        </p:spPr>
      </p:cxnSp>
      <p:sp>
        <p:nvSpPr>
          <p:cNvPr id="48" name="Google Shape;2854;p13">
            <a:extLst>
              <a:ext uri="{FF2B5EF4-FFF2-40B4-BE49-F238E27FC236}">
                <a16:creationId xmlns:a16="http://schemas.microsoft.com/office/drawing/2014/main" id="{54BAC04C-CC24-CFE1-F3B2-ADEAAB842546}"/>
              </a:ext>
            </a:extLst>
          </p:cNvPr>
          <p:cNvSpPr/>
          <p:nvPr/>
        </p:nvSpPr>
        <p:spPr>
          <a:xfrm>
            <a:off x="645898" y="4542701"/>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Cluster3</a:t>
            </a:r>
          </a:p>
          <a:p>
            <a:pPr marL="0" marR="0" lvl="0" indent="0" algn="ctr" rtl="0">
              <a:spcBef>
                <a:spcPts val="0"/>
              </a:spcBef>
              <a:spcAft>
                <a:spcPts val="0"/>
              </a:spcAft>
              <a:buNone/>
            </a:pPr>
            <a:r>
              <a:rPr lang="en-AU" sz="1000" dirty="0">
                <a:solidFill>
                  <a:schemeClr val="lt1"/>
                </a:solidFill>
              </a:rPr>
              <a:t>5</a:t>
            </a:r>
            <a:r>
              <a:rPr lang="en-US" sz="1000" dirty="0">
                <a:solidFill>
                  <a:schemeClr val="lt1"/>
                </a:solidFill>
                <a:ea typeface="Arial"/>
                <a:cs typeface="Arial"/>
                <a:sym typeface="Arial"/>
              </a:rPr>
              <a:t> host</a:t>
            </a:r>
            <a:endParaRPr sz="1000" dirty="0"/>
          </a:p>
        </p:txBody>
      </p:sp>
      <p:sp>
        <p:nvSpPr>
          <p:cNvPr id="49" name="Google Shape;2855;p13">
            <a:extLst>
              <a:ext uri="{FF2B5EF4-FFF2-40B4-BE49-F238E27FC236}">
                <a16:creationId xmlns:a16="http://schemas.microsoft.com/office/drawing/2014/main" id="{6408A3E6-A922-9B6A-7E36-F30616B38679}"/>
              </a:ext>
            </a:extLst>
          </p:cNvPr>
          <p:cNvSpPr/>
          <p:nvPr/>
        </p:nvSpPr>
        <p:spPr>
          <a:xfrm>
            <a:off x="645898" y="5088669"/>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Cluster4</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32 host</a:t>
            </a:r>
            <a:endParaRPr sz="1000" dirty="0"/>
          </a:p>
        </p:txBody>
      </p:sp>
      <p:sp>
        <p:nvSpPr>
          <p:cNvPr id="50" name="Google Shape;2854;p13">
            <a:extLst>
              <a:ext uri="{FF2B5EF4-FFF2-40B4-BE49-F238E27FC236}">
                <a16:creationId xmlns:a16="http://schemas.microsoft.com/office/drawing/2014/main" id="{BB9B4BCF-ECFC-F2B2-5381-E5375D34D7E7}"/>
              </a:ext>
            </a:extLst>
          </p:cNvPr>
          <p:cNvSpPr/>
          <p:nvPr/>
        </p:nvSpPr>
        <p:spPr>
          <a:xfrm>
            <a:off x="645898" y="5666488"/>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Cluster5</a:t>
            </a:r>
          </a:p>
          <a:p>
            <a:pPr marL="0" marR="0" lvl="0" indent="0" algn="ctr" rtl="0">
              <a:spcBef>
                <a:spcPts val="0"/>
              </a:spcBef>
              <a:spcAft>
                <a:spcPts val="0"/>
              </a:spcAft>
              <a:buNone/>
            </a:pPr>
            <a:r>
              <a:rPr lang="en-US" sz="1000" dirty="0">
                <a:solidFill>
                  <a:schemeClr val="lt1"/>
                </a:solidFill>
              </a:rPr>
              <a:t>6</a:t>
            </a:r>
            <a:r>
              <a:rPr lang="en-US" sz="1000" dirty="0">
                <a:solidFill>
                  <a:schemeClr val="lt1"/>
                </a:solidFill>
                <a:ea typeface="Arial"/>
                <a:cs typeface="Arial"/>
                <a:sym typeface="Arial"/>
              </a:rPr>
              <a:t> host</a:t>
            </a:r>
            <a:endParaRPr sz="1000" dirty="0"/>
          </a:p>
        </p:txBody>
      </p:sp>
      <p:sp>
        <p:nvSpPr>
          <p:cNvPr id="51" name="Google Shape;2855;p13">
            <a:extLst>
              <a:ext uri="{FF2B5EF4-FFF2-40B4-BE49-F238E27FC236}">
                <a16:creationId xmlns:a16="http://schemas.microsoft.com/office/drawing/2014/main" id="{7958A6A2-B335-95C2-E30E-BE66B7974DD0}"/>
              </a:ext>
            </a:extLst>
          </p:cNvPr>
          <p:cNvSpPr/>
          <p:nvPr/>
        </p:nvSpPr>
        <p:spPr>
          <a:xfrm>
            <a:off x="1911990" y="3450765"/>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Cluster6</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3 host</a:t>
            </a:r>
            <a:endParaRPr sz="1000" dirty="0"/>
          </a:p>
        </p:txBody>
      </p:sp>
      <p:cxnSp>
        <p:nvCxnSpPr>
          <p:cNvPr id="56" name="Google Shape;2862;p13">
            <a:extLst>
              <a:ext uri="{FF2B5EF4-FFF2-40B4-BE49-F238E27FC236}">
                <a16:creationId xmlns:a16="http://schemas.microsoft.com/office/drawing/2014/main" id="{339A3612-CD54-1A43-0A06-53EE5CD17C66}"/>
              </a:ext>
            </a:extLst>
          </p:cNvPr>
          <p:cNvCxnSpPr>
            <a:cxnSpLocks/>
            <a:stCxn id="27" idx="2"/>
            <a:endCxn id="48" idx="1"/>
          </p:cNvCxnSpPr>
          <p:nvPr/>
        </p:nvCxnSpPr>
        <p:spPr>
          <a:xfrm rot="5400000">
            <a:off x="464173" y="3355623"/>
            <a:ext cx="1606619" cy="1243167"/>
          </a:xfrm>
          <a:prstGeom prst="bentConnector4">
            <a:avLst>
              <a:gd name="adj1" fmla="val 8122"/>
              <a:gd name="adj2" fmla="val 118389"/>
            </a:avLst>
          </a:prstGeom>
          <a:noFill/>
          <a:ln w="25400" cap="flat" cmpd="sng">
            <a:solidFill>
              <a:schemeClr val="accent2"/>
            </a:solidFill>
            <a:prstDash val="solid"/>
            <a:miter lim="800000"/>
            <a:headEnd type="none" w="sm" len="sm"/>
            <a:tailEnd type="triangle" w="med" len="med"/>
          </a:ln>
        </p:spPr>
      </p:cxnSp>
      <p:cxnSp>
        <p:nvCxnSpPr>
          <p:cNvPr id="59" name="Google Shape;2862;p13">
            <a:extLst>
              <a:ext uri="{FF2B5EF4-FFF2-40B4-BE49-F238E27FC236}">
                <a16:creationId xmlns:a16="http://schemas.microsoft.com/office/drawing/2014/main" id="{090600F8-6C60-EF33-548E-C0C733CF85CB}"/>
              </a:ext>
            </a:extLst>
          </p:cNvPr>
          <p:cNvCxnSpPr>
            <a:cxnSpLocks/>
            <a:stCxn id="27" idx="2"/>
            <a:endCxn id="49" idx="1"/>
          </p:cNvCxnSpPr>
          <p:nvPr/>
        </p:nvCxnSpPr>
        <p:spPr>
          <a:xfrm rot="5400000">
            <a:off x="191189" y="3628607"/>
            <a:ext cx="2152587" cy="1243167"/>
          </a:xfrm>
          <a:prstGeom prst="bentConnector4">
            <a:avLst>
              <a:gd name="adj1" fmla="val 6081"/>
              <a:gd name="adj2" fmla="val 118389"/>
            </a:avLst>
          </a:prstGeom>
          <a:noFill/>
          <a:ln w="25400" cap="flat" cmpd="sng">
            <a:solidFill>
              <a:schemeClr val="accent2"/>
            </a:solidFill>
            <a:prstDash val="solid"/>
            <a:miter lim="800000"/>
            <a:headEnd type="none" w="sm" len="sm"/>
            <a:tailEnd type="triangle" w="med" len="med"/>
          </a:ln>
        </p:spPr>
      </p:cxnSp>
      <p:cxnSp>
        <p:nvCxnSpPr>
          <p:cNvPr id="62" name="Google Shape;2862;p13">
            <a:extLst>
              <a:ext uri="{FF2B5EF4-FFF2-40B4-BE49-F238E27FC236}">
                <a16:creationId xmlns:a16="http://schemas.microsoft.com/office/drawing/2014/main" id="{9E55CAF7-100B-8661-8264-165AAB3D57D2}"/>
              </a:ext>
            </a:extLst>
          </p:cNvPr>
          <p:cNvCxnSpPr>
            <a:cxnSpLocks/>
            <a:stCxn id="27" idx="2"/>
            <a:endCxn id="50" idx="1"/>
          </p:cNvCxnSpPr>
          <p:nvPr/>
        </p:nvCxnSpPr>
        <p:spPr>
          <a:xfrm rot="5400000">
            <a:off x="-97721" y="3917517"/>
            <a:ext cx="2730406" cy="1243167"/>
          </a:xfrm>
          <a:prstGeom prst="bentConnector4">
            <a:avLst>
              <a:gd name="adj1" fmla="val 4924"/>
              <a:gd name="adj2" fmla="val 118389"/>
            </a:avLst>
          </a:prstGeom>
          <a:noFill/>
          <a:ln w="25400" cap="flat" cmpd="sng">
            <a:solidFill>
              <a:schemeClr val="accent2"/>
            </a:solidFill>
            <a:prstDash val="solid"/>
            <a:miter lim="800000"/>
            <a:headEnd type="none" w="sm" len="sm"/>
            <a:tailEnd type="triangle" w="med" len="med"/>
          </a:ln>
        </p:spPr>
      </p:cxnSp>
      <p:cxnSp>
        <p:nvCxnSpPr>
          <p:cNvPr id="2818" name="Google Shape;2862;p13">
            <a:extLst>
              <a:ext uri="{FF2B5EF4-FFF2-40B4-BE49-F238E27FC236}">
                <a16:creationId xmlns:a16="http://schemas.microsoft.com/office/drawing/2014/main" id="{FEA2949C-9FBA-2A58-194E-21CC564CEED4}"/>
              </a:ext>
            </a:extLst>
          </p:cNvPr>
          <p:cNvCxnSpPr>
            <a:cxnSpLocks/>
            <a:stCxn id="27" idx="2"/>
            <a:endCxn id="51" idx="0"/>
          </p:cNvCxnSpPr>
          <p:nvPr/>
        </p:nvCxnSpPr>
        <p:spPr>
          <a:xfrm rot="16200000" flipH="1">
            <a:off x="2050618" y="3012344"/>
            <a:ext cx="276868" cy="599974"/>
          </a:xfrm>
          <a:prstGeom prst="bentConnector3">
            <a:avLst>
              <a:gd name="adj1" fmla="val 50000"/>
            </a:avLst>
          </a:prstGeom>
          <a:noFill/>
          <a:ln w="25400" cap="flat" cmpd="sng">
            <a:solidFill>
              <a:schemeClr val="accent2"/>
            </a:solidFill>
            <a:prstDash val="solid"/>
            <a:miter lim="800000"/>
            <a:headEnd type="none" w="sm" len="sm"/>
            <a:tailEnd type="triangle" w="med" len="med"/>
          </a:ln>
        </p:spPr>
      </p:cxnSp>
      <p:sp>
        <p:nvSpPr>
          <p:cNvPr id="2827" name="Google Shape;2854;p13">
            <a:extLst>
              <a:ext uri="{FF2B5EF4-FFF2-40B4-BE49-F238E27FC236}">
                <a16:creationId xmlns:a16="http://schemas.microsoft.com/office/drawing/2014/main" id="{D4189A1B-F538-4949-B776-C408CCAC24C5}"/>
              </a:ext>
            </a:extLst>
          </p:cNvPr>
          <p:cNvSpPr/>
          <p:nvPr/>
        </p:nvSpPr>
        <p:spPr>
          <a:xfrm>
            <a:off x="3450904" y="3450765"/>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Cluster1</a:t>
            </a:r>
          </a:p>
          <a:p>
            <a:pPr marL="0" marR="0" lvl="0" indent="0" algn="ctr" rtl="0">
              <a:spcBef>
                <a:spcPts val="0"/>
              </a:spcBef>
              <a:spcAft>
                <a:spcPts val="0"/>
              </a:spcAft>
              <a:buNone/>
            </a:pPr>
            <a:r>
              <a:rPr lang="en-US" sz="1000" dirty="0">
                <a:solidFill>
                  <a:schemeClr val="lt1"/>
                </a:solidFill>
                <a:ea typeface="Arial"/>
                <a:cs typeface="Arial"/>
                <a:sym typeface="Arial"/>
              </a:rPr>
              <a:t>1 host</a:t>
            </a:r>
            <a:endParaRPr sz="1000" dirty="0"/>
          </a:p>
        </p:txBody>
      </p:sp>
      <p:sp>
        <p:nvSpPr>
          <p:cNvPr id="2828" name="Google Shape;2855;p13">
            <a:extLst>
              <a:ext uri="{FF2B5EF4-FFF2-40B4-BE49-F238E27FC236}">
                <a16:creationId xmlns:a16="http://schemas.microsoft.com/office/drawing/2014/main" id="{50AEA885-2542-91B9-205E-1AB114086DDC}"/>
              </a:ext>
            </a:extLst>
          </p:cNvPr>
          <p:cNvSpPr/>
          <p:nvPr/>
        </p:nvSpPr>
        <p:spPr>
          <a:xfrm>
            <a:off x="3450904" y="3996733"/>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Cluster2</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rPr>
              <a:t>1</a:t>
            </a:r>
            <a:r>
              <a:rPr lang="en-US" sz="1000" dirty="0">
                <a:solidFill>
                  <a:schemeClr val="lt1"/>
                </a:solidFill>
                <a:ea typeface="Arial"/>
                <a:cs typeface="Arial"/>
                <a:sym typeface="Arial"/>
              </a:rPr>
              <a:t> host</a:t>
            </a:r>
            <a:endParaRPr sz="1000" dirty="0"/>
          </a:p>
        </p:txBody>
      </p:sp>
      <p:grpSp>
        <p:nvGrpSpPr>
          <p:cNvPr id="2829" name="Google Shape;2857;p13">
            <a:extLst>
              <a:ext uri="{FF2B5EF4-FFF2-40B4-BE49-F238E27FC236}">
                <a16:creationId xmlns:a16="http://schemas.microsoft.com/office/drawing/2014/main" id="{BE288E04-6A1C-7175-2541-C49715BA1427}"/>
              </a:ext>
            </a:extLst>
          </p:cNvPr>
          <p:cNvGrpSpPr/>
          <p:nvPr/>
        </p:nvGrpSpPr>
        <p:grpSpPr>
          <a:xfrm>
            <a:off x="3425883" y="2511386"/>
            <a:ext cx="1199946" cy="662511"/>
            <a:chOff x="1468913" y="1257134"/>
            <a:chExt cx="1199946" cy="662511"/>
          </a:xfrm>
        </p:grpSpPr>
        <p:pic>
          <p:nvPicPr>
            <p:cNvPr id="2830" name="Google Shape;2858;p13">
              <a:extLst>
                <a:ext uri="{FF2B5EF4-FFF2-40B4-BE49-F238E27FC236}">
                  <a16:creationId xmlns:a16="http://schemas.microsoft.com/office/drawing/2014/main" id="{0AC4A351-E932-2509-8953-11E35B6EB13C}"/>
                </a:ext>
              </a:extLst>
            </p:cNvPr>
            <p:cNvPicPr preferRelativeResize="0"/>
            <p:nvPr/>
          </p:nvPicPr>
          <p:blipFill rotWithShape="1">
            <a:blip r:embed="rId4">
              <a:alphaModFix/>
            </a:blip>
            <a:srcRect/>
            <a:stretch/>
          </p:blipFill>
          <p:spPr>
            <a:xfrm>
              <a:off x="1841447" y="1257134"/>
              <a:ext cx="508623" cy="508623"/>
            </a:xfrm>
            <a:prstGeom prst="rect">
              <a:avLst/>
            </a:prstGeom>
            <a:noFill/>
            <a:ln>
              <a:noFill/>
            </a:ln>
          </p:spPr>
        </p:pic>
        <p:sp>
          <p:nvSpPr>
            <p:cNvPr id="2831" name="Google Shape;2859;p13">
              <a:extLst>
                <a:ext uri="{FF2B5EF4-FFF2-40B4-BE49-F238E27FC236}">
                  <a16:creationId xmlns:a16="http://schemas.microsoft.com/office/drawing/2014/main" id="{5BA566C1-5DF9-A854-CAE2-A23BF107FF08}"/>
                </a:ext>
              </a:extLst>
            </p:cNvPr>
            <p:cNvSpPr txBox="1"/>
            <p:nvPr/>
          </p:nvSpPr>
          <p:spPr>
            <a:xfrm>
              <a:off x="1468913" y="1765757"/>
              <a:ext cx="1199946"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dirty="0">
                  <a:solidFill>
                    <a:srgbClr val="000000"/>
                  </a:solidFill>
                  <a:ea typeface="Arial"/>
                  <a:cs typeface="Arial"/>
                  <a:sym typeface="Arial"/>
                </a:rPr>
                <a:t>Datacentre2</a:t>
              </a:r>
              <a:endParaRPr dirty="0"/>
            </a:p>
          </p:txBody>
        </p:sp>
      </p:grpSp>
      <p:cxnSp>
        <p:nvCxnSpPr>
          <p:cNvPr id="2832" name="Google Shape;2861;p13">
            <a:extLst>
              <a:ext uri="{FF2B5EF4-FFF2-40B4-BE49-F238E27FC236}">
                <a16:creationId xmlns:a16="http://schemas.microsoft.com/office/drawing/2014/main" id="{04039FD1-E103-22AE-C0ED-DD6C860FFF86}"/>
              </a:ext>
            </a:extLst>
          </p:cNvPr>
          <p:cNvCxnSpPr>
            <a:cxnSpLocks/>
            <a:stCxn id="2831" idx="2"/>
            <a:endCxn id="2827" idx="1"/>
          </p:cNvCxnSpPr>
          <p:nvPr/>
        </p:nvCxnSpPr>
        <p:spPr>
          <a:xfrm rot="5400000">
            <a:off x="3481039" y="3143762"/>
            <a:ext cx="514683" cy="574952"/>
          </a:xfrm>
          <a:prstGeom prst="bentConnector4">
            <a:avLst>
              <a:gd name="adj1" fmla="val 26897"/>
              <a:gd name="adj2" fmla="val 139760"/>
            </a:avLst>
          </a:prstGeom>
          <a:noFill/>
          <a:ln w="25400" cap="flat" cmpd="sng">
            <a:solidFill>
              <a:schemeClr val="accent2"/>
            </a:solidFill>
            <a:prstDash val="solid"/>
            <a:miter lim="800000"/>
            <a:headEnd type="none" w="sm" len="sm"/>
            <a:tailEnd type="triangle" w="med" len="med"/>
          </a:ln>
        </p:spPr>
      </p:cxnSp>
      <p:cxnSp>
        <p:nvCxnSpPr>
          <p:cNvPr id="2833" name="Google Shape;2862;p13">
            <a:extLst>
              <a:ext uri="{FF2B5EF4-FFF2-40B4-BE49-F238E27FC236}">
                <a16:creationId xmlns:a16="http://schemas.microsoft.com/office/drawing/2014/main" id="{15735C6D-0C0A-2262-09FD-E79567B25FAB}"/>
              </a:ext>
            </a:extLst>
          </p:cNvPr>
          <p:cNvCxnSpPr>
            <a:cxnSpLocks/>
            <a:stCxn id="2831" idx="2"/>
            <a:endCxn id="2828" idx="1"/>
          </p:cNvCxnSpPr>
          <p:nvPr/>
        </p:nvCxnSpPr>
        <p:spPr>
          <a:xfrm rot="5400000">
            <a:off x="3208055" y="3416746"/>
            <a:ext cx="1060651" cy="574952"/>
          </a:xfrm>
          <a:prstGeom prst="bentConnector4">
            <a:avLst>
              <a:gd name="adj1" fmla="val 13091"/>
              <a:gd name="adj2" fmla="val 139760"/>
            </a:avLst>
          </a:prstGeom>
          <a:noFill/>
          <a:ln w="25400" cap="flat" cmpd="sng">
            <a:solidFill>
              <a:schemeClr val="accent2"/>
            </a:solidFill>
            <a:prstDash val="solid"/>
            <a:miter lim="800000"/>
            <a:headEnd type="none" w="sm" len="sm"/>
            <a:tailEnd type="triangle" w="med" len="med"/>
          </a:ln>
        </p:spPr>
      </p:cxnSp>
      <p:sp>
        <p:nvSpPr>
          <p:cNvPr id="2843" name="Google Shape;2854;p13">
            <a:extLst>
              <a:ext uri="{FF2B5EF4-FFF2-40B4-BE49-F238E27FC236}">
                <a16:creationId xmlns:a16="http://schemas.microsoft.com/office/drawing/2014/main" id="{F1EDB360-96BA-E1D6-9C79-29A63162A333}"/>
              </a:ext>
            </a:extLst>
          </p:cNvPr>
          <p:cNvSpPr/>
          <p:nvPr/>
        </p:nvSpPr>
        <p:spPr>
          <a:xfrm>
            <a:off x="9795800" y="3450765"/>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Cluster1</a:t>
            </a:r>
            <a:endParaRPr sz="1000" dirty="0"/>
          </a:p>
          <a:p>
            <a:pPr marL="0" marR="0" lvl="0" indent="0" algn="ctr" rtl="0">
              <a:spcBef>
                <a:spcPts val="600"/>
              </a:spcBef>
              <a:spcAft>
                <a:spcPts val="0"/>
              </a:spcAft>
              <a:buNone/>
            </a:pPr>
            <a:r>
              <a:rPr lang="en-US" sz="1000" dirty="0">
                <a:solidFill>
                  <a:schemeClr val="lt1"/>
                </a:solidFill>
                <a:ea typeface="Arial"/>
                <a:cs typeface="Arial"/>
                <a:sym typeface="Arial"/>
              </a:rPr>
              <a:t>2 hosts</a:t>
            </a:r>
            <a:endParaRPr sz="1000" dirty="0"/>
          </a:p>
        </p:txBody>
      </p:sp>
      <p:sp>
        <p:nvSpPr>
          <p:cNvPr id="2844" name="Google Shape;2855;p13">
            <a:extLst>
              <a:ext uri="{FF2B5EF4-FFF2-40B4-BE49-F238E27FC236}">
                <a16:creationId xmlns:a16="http://schemas.microsoft.com/office/drawing/2014/main" id="{61DE8E97-96BD-CE94-DCD3-0F8930E5E2EF}"/>
              </a:ext>
            </a:extLst>
          </p:cNvPr>
          <p:cNvSpPr/>
          <p:nvPr/>
        </p:nvSpPr>
        <p:spPr>
          <a:xfrm>
            <a:off x="9795800" y="3996733"/>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Cluster2</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5 hosts</a:t>
            </a:r>
            <a:endParaRPr sz="1000" dirty="0"/>
          </a:p>
        </p:txBody>
      </p:sp>
      <p:grpSp>
        <p:nvGrpSpPr>
          <p:cNvPr id="2845" name="Google Shape;2857;p13">
            <a:extLst>
              <a:ext uri="{FF2B5EF4-FFF2-40B4-BE49-F238E27FC236}">
                <a16:creationId xmlns:a16="http://schemas.microsoft.com/office/drawing/2014/main" id="{B879013D-D276-7127-EEC8-F8DB9319EDB4}"/>
              </a:ext>
            </a:extLst>
          </p:cNvPr>
          <p:cNvGrpSpPr/>
          <p:nvPr/>
        </p:nvGrpSpPr>
        <p:grpSpPr>
          <a:xfrm>
            <a:off x="9761984" y="2511386"/>
            <a:ext cx="1199946" cy="662511"/>
            <a:chOff x="1468913" y="1257134"/>
            <a:chExt cx="1199946" cy="662511"/>
          </a:xfrm>
        </p:grpSpPr>
        <p:pic>
          <p:nvPicPr>
            <p:cNvPr id="2846" name="Google Shape;2858;p13">
              <a:extLst>
                <a:ext uri="{FF2B5EF4-FFF2-40B4-BE49-F238E27FC236}">
                  <a16:creationId xmlns:a16="http://schemas.microsoft.com/office/drawing/2014/main" id="{81396ABB-7917-54B3-E79B-BBA219D838A4}"/>
                </a:ext>
              </a:extLst>
            </p:cNvPr>
            <p:cNvPicPr preferRelativeResize="0"/>
            <p:nvPr/>
          </p:nvPicPr>
          <p:blipFill rotWithShape="1">
            <a:blip r:embed="rId4">
              <a:alphaModFix/>
            </a:blip>
            <a:srcRect/>
            <a:stretch/>
          </p:blipFill>
          <p:spPr>
            <a:xfrm>
              <a:off x="1841447" y="1257134"/>
              <a:ext cx="508623" cy="508623"/>
            </a:xfrm>
            <a:prstGeom prst="rect">
              <a:avLst/>
            </a:prstGeom>
            <a:noFill/>
            <a:ln>
              <a:noFill/>
            </a:ln>
          </p:spPr>
        </p:pic>
        <p:sp>
          <p:nvSpPr>
            <p:cNvPr id="2847" name="Google Shape;2859;p13">
              <a:extLst>
                <a:ext uri="{FF2B5EF4-FFF2-40B4-BE49-F238E27FC236}">
                  <a16:creationId xmlns:a16="http://schemas.microsoft.com/office/drawing/2014/main" id="{01AD1354-1492-85C4-7EC7-F2BDA11E69A4}"/>
                </a:ext>
              </a:extLst>
            </p:cNvPr>
            <p:cNvSpPr txBox="1"/>
            <p:nvPr/>
          </p:nvSpPr>
          <p:spPr>
            <a:xfrm>
              <a:off x="1468913" y="1765757"/>
              <a:ext cx="1199946"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dirty="0">
                  <a:solidFill>
                    <a:srgbClr val="000000"/>
                  </a:solidFill>
                  <a:ea typeface="Arial"/>
                  <a:cs typeface="Arial"/>
                  <a:sym typeface="Arial"/>
                </a:rPr>
                <a:t>Datacentre4</a:t>
              </a:r>
              <a:endParaRPr dirty="0"/>
            </a:p>
          </p:txBody>
        </p:sp>
      </p:grpSp>
      <p:cxnSp>
        <p:nvCxnSpPr>
          <p:cNvPr id="2848" name="Google Shape;2861;p13">
            <a:extLst>
              <a:ext uri="{FF2B5EF4-FFF2-40B4-BE49-F238E27FC236}">
                <a16:creationId xmlns:a16="http://schemas.microsoft.com/office/drawing/2014/main" id="{6C65802F-370D-D6AF-1083-05986A062E9D}"/>
              </a:ext>
            </a:extLst>
          </p:cNvPr>
          <p:cNvCxnSpPr>
            <a:cxnSpLocks/>
            <a:stCxn id="2847" idx="2"/>
            <a:endCxn id="2843" idx="1"/>
          </p:cNvCxnSpPr>
          <p:nvPr/>
        </p:nvCxnSpPr>
        <p:spPr>
          <a:xfrm rot="5400000">
            <a:off x="9821538" y="3148160"/>
            <a:ext cx="514683" cy="566157"/>
          </a:xfrm>
          <a:prstGeom prst="bentConnector4">
            <a:avLst>
              <a:gd name="adj1" fmla="val 26897"/>
              <a:gd name="adj2" fmla="val 140377"/>
            </a:avLst>
          </a:prstGeom>
          <a:noFill/>
          <a:ln w="25400" cap="flat" cmpd="sng">
            <a:solidFill>
              <a:schemeClr val="accent2"/>
            </a:solidFill>
            <a:prstDash val="solid"/>
            <a:miter lim="800000"/>
            <a:headEnd type="none" w="sm" len="sm"/>
            <a:tailEnd type="triangle" w="med" len="med"/>
          </a:ln>
        </p:spPr>
      </p:cxnSp>
      <p:cxnSp>
        <p:nvCxnSpPr>
          <p:cNvPr id="2849" name="Google Shape;2862;p13">
            <a:extLst>
              <a:ext uri="{FF2B5EF4-FFF2-40B4-BE49-F238E27FC236}">
                <a16:creationId xmlns:a16="http://schemas.microsoft.com/office/drawing/2014/main" id="{0321E7FD-6000-CED6-6939-081EC6943731}"/>
              </a:ext>
            </a:extLst>
          </p:cNvPr>
          <p:cNvCxnSpPr>
            <a:cxnSpLocks/>
            <a:stCxn id="2847" idx="2"/>
            <a:endCxn id="2844" idx="1"/>
          </p:cNvCxnSpPr>
          <p:nvPr/>
        </p:nvCxnSpPr>
        <p:spPr>
          <a:xfrm rot="5400000">
            <a:off x="9548554" y="3421144"/>
            <a:ext cx="1060651" cy="566157"/>
          </a:xfrm>
          <a:prstGeom prst="bentConnector4">
            <a:avLst>
              <a:gd name="adj1" fmla="val 13091"/>
              <a:gd name="adj2" fmla="val 140377"/>
            </a:avLst>
          </a:prstGeom>
          <a:noFill/>
          <a:ln w="25400" cap="flat" cmpd="sng">
            <a:solidFill>
              <a:schemeClr val="accent2"/>
            </a:solidFill>
            <a:prstDash val="solid"/>
            <a:miter lim="800000"/>
            <a:headEnd type="none" w="sm" len="sm"/>
            <a:tailEnd type="triangle" w="med" len="med"/>
          </a:ln>
        </p:spPr>
      </p:cxnSp>
      <p:sp>
        <p:nvSpPr>
          <p:cNvPr id="2850" name="Google Shape;2854;p13">
            <a:extLst>
              <a:ext uri="{FF2B5EF4-FFF2-40B4-BE49-F238E27FC236}">
                <a16:creationId xmlns:a16="http://schemas.microsoft.com/office/drawing/2014/main" id="{9B47E8EA-7A49-3019-B198-3AD92907A00A}"/>
              </a:ext>
            </a:extLst>
          </p:cNvPr>
          <p:cNvSpPr/>
          <p:nvPr/>
        </p:nvSpPr>
        <p:spPr>
          <a:xfrm>
            <a:off x="9795800" y="4542701"/>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Cluster3</a:t>
            </a:r>
          </a:p>
          <a:p>
            <a:pPr marL="0" marR="0" lvl="0" indent="0" algn="ctr" rtl="0">
              <a:spcBef>
                <a:spcPts val="0"/>
              </a:spcBef>
              <a:spcAft>
                <a:spcPts val="0"/>
              </a:spcAft>
              <a:buNone/>
            </a:pPr>
            <a:r>
              <a:rPr lang="en-AU" sz="1000" dirty="0">
                <a:solidFill>
                  <a:schemeClr val="lt1"/>
                </a:solidFill>
                <a:ea typeface="Arial"/>
                <a:cs typeface="Arial"/>
                <a:sym typeface="Arial"/>
              </a:rPr>
              <a:t>29</a:t>
            </a:r>
            <a:r>
              <a:rPr lang="en-US" sz="1000" dirty="0">
                <a:solidFill>
                  <a:schemeClr val="lt1"/>
                </a:solidFill>
                <a:ea typeface="Arial"/>
                <a:cs typeface="Arial"/>
                <a:sym typeface="Arial"/>
              </a:rPr>
              <a:t> hosts</a:t>
            </a:r>
            <a:endParaRPr sz="1000" dirty="0"/>
          </a:p>
        </p:txBody>
      </p:sp>
      <p:sp>
        <p:nvSpPr>
          <p:cNvPr id="2851" name="Google Shape;2855;p13">
            <a:extLst>
              <a:ext uri="{FF2B5EF4-FFF2-40B4-BE49-F238E27FC236}">
                <a16:creationId xmlns:a16="http://schemas.microsoft.com/office/drawing/2014/main" id="{F141AC39-4793-A933-4571-D013D63320E3}"/>
              </a:ext>
            </a:extLst>
          </p:cNvPr>
          <p:cNvSpPr/>
          <p:nvPr/>
        </p:nvSpPr>
        <p:spPr>
          <a:xfrm>
            <a:off x="9795800" y="5088669"/>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Cluster4</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rPr>
              <a:t>6</a:t>
            </a:r>
            <a:r>
              <a:rPr lang="en-US" sz="1000" dirty="0">
                <a:solidFill>
                  <a:schemeClr val="lt1"/>
                </a:solidFill>
                <a:ea typeface="Arial"/>
                <a:cs typeface="Arial"/>
                <a:sym typeface="Arial"/>
              </a:rPr>
              <a:t> hosts</a:t>
            </a:r>
            <a:endParaRPr sz="1000" dirty="0"/>
          </a:p>
        </p:txBody>
      </p:sp>
      <p:sp>
        <p:nvSpPr>
          <p:cNvPr id="2876" name="Google Shape;2854;p13">
            <a:extLst>
              <a:ext uri="{FF2B5EF4-FFF2-40B4-BE49-F238E27FC236}">
                <a16:creationId xmlns:a16="http://schemas.microsoft.com/office/drawing/2014/main" id="{A901C2BD-558D-7F40-A659-333B9500B8F9}"/>
              </a:ext>
            </a:extLst>
          </p:cNvPr>
          <p:cNvSpPr/>
          <p:nvPr/>
        </p:nvSpPr>
        <p:spPr>
          <a:xfrm>
            <a:off x="9795800" y="5666488"/>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Cluster5</a:t>
            </a:r>
            <a:endParaRPr sz="1000" dirty="0"/>
          </a:p>
          <a:p>
            <a:pPr marL="0" marR="0" lvl="0" indent="0" algn="ctr" rtl="0">
              <a:spcBef>
                <a:spcPts val="600"/>
              </a:spcBef>
              <a:spcAft>
                <a:spcPts val="0"/>
              </a:spcAft>
              <a:buNone/>
            </a:pPr>
            <a:r>
              <a:rPr lang="en-US" sz="1000" dirty="0">
                <a:solidFill>
                  <a:schemeClr val="lt1"/>
                </a:solidFill>
                <a:ea typeface="Arial"/>
                <a:cs typeface="Arial"/>
                <a:sym typeface="Arial"/>
              </a:rPr>
              <a:t>3 hosts</a:t>
            </a:r>
            <a:endParaRPr sz="1000" dirty="0"/>
          </a:p>
        </p:txBody>
      </p:sp>
      <p:cxnSp>
        <p:nvCxnSpPr>
          <p:cNvPr id="2878" name="Google Shape;2862;p13">
            <a:extLst>
              <a:ext uri="{FF2B5EF4-FFF2-40B4-BE49-F238E27FC236}">
                <a16:creationId xmlns:a16="http://schemas.microsoft.com/office/drawing/2014/main" id="{423CE59B-5EF3-B580-A8EA-3B48934E9E3C}"/>
              </a:ext>
            </a:extLst>
          </p:cNvPr>
          <p:cNvCxnSpPr>
            <a:cxnSpLocks/>
            <a:stCxn id="2847" idx="2"/>
            <a:endCxn id="2850" idx="1"/>
          </p:cNvCxnSpPr>
          <p:nvPr/>
        </p:nvCxnSpPr>
        <p:spPr>
          <a:xfrm rot="5400000">
            <a:off x="9275570" y="3694128"/>
            <a:ext cx="1606619" cy="566157"/>
          </a:xfrm>
          <a:prstGeom prst="bentConnector4">
            <a:avLst>
              <a:gd name="adj1" fmla="val 9216"/>
              <a:gd name="adj2" fmla="val 140377"/>
            </a:avLst>
          </a:prstGeom>
          <a:noFill/>
          <a:ln w="25400" cap="flat" cmpd="sng">
            <a:solidFill>
              <a:schemeClr val="accent2"/>
            </a:solidFill>
            <a:prstDash val="solid"/>
            <a:miter lim="800000"/>
            <a:headEnd type="none" w="sm" len="sm"/>
            <a:tailEnd type="triangle" w="med" len="med"/>
          </a:ln>
        </p:spPr>
      </p:cxnSp>
      <p:cxnSp>
        <p:nvCxnSpPr>
          <p:cNvPr id="2879" name="Google Shape;2862;p13">
            <a:extLst>
              <a:ext uri="{FF2B5EF4-FFF2-40B4-BE49-F238E27FC236}">
                <a16:creationId xmlns:a16="http://schemas.microsoft.com/office/drawing/2014/main" id="{1A9FB2BB-DE5B-21C6-A54B-6FF7F258EBE5}"/>
              </a:ext>
            </a:extLst>
          </p:cNvPr>
          <p:cNvCxnSpPr>
            <a:cxnSpLocks/>
            <a:stCxn id="2847" idx="2"/>
            <a:endCxn id="2851" idx="1"/>
          </p:cNvCxnSpPr>
          <p:nvPr/>
        </p:nvCxnSpPr>
        <p:spPr>
          <a:xfrm rot="5400000">
            <a:off x="9002586" y="3967112"/>
            <a:ext cx="2152587" cy="566157"/>
          </a:xfrm>
          <a:prstGeom prst="bentConnector4">
            <a:avLst>
              <a:gd name="adj1" fmla="val 6081"/>
              <a:gd name="adj2" fmla="val 140377"/>
            </a:avLst>
          </a:prstGeom>
          <a:noFill/>
          <a:ln w="25400" cap="flat" cmpd="sng">
            <a:solidFill>
              <a:schemeClr val="accent2"/>
            </a:solidFill>
            <a:prstDash val="solid"/>
            <a:miter lim="800000"/>
            <a:headEnd type="none" w="sm" len="sm"/>
            <a:tailEnd type="triangle" w="med" len="med"/>
          </a:ln>
        </p:spPr>
      </p:cxnSp>
      <p:cxnSp>
        <p:nvCxnSpPr>
          <p:cNvPr id="2880" name="Google Shape;2862;p13">
            <a:extLst>
              <a:ext uri="{FF2B5EF4-FFF2-40B4-BE49-F238E27FC236}">
                <a16:creationId xmlns:a16="http://schemas.microsoft.com/office/drawing/2014/main" id="{BA6EB5A9-45F9-E727-505B-973144750FAC}"/>
              </a:ext>
            </a:extLst>
          </p:cNvPr>
          <p:cNvCxnSpPr>
            <a:cxnSpLocks/>
            <a:stCxn id="2847" idx="2"/>
            <a:endCxn id="2876" idx="1"/>
          </p:cNvCxnSpPr>
          <p:nvPr/>
        </p:nvCxnSpPr>
        <p:spPr>
          <a:xfrm rot="5400000">
            <a:off x="8713676" y="4256022"/>
            <a:ext cx="2730406" cy="566157"/>
          </a:xfrm>
          <a:prstGeom prst="bentConnector4">
            <a:avLst>
              <a:gd name="adj1" fmla="val 5071"/>
              <a:gd name="adj2" fmla="val 140377"/>
            </a:avLst>
          </a:prstGeom>
          <a:noFill/>
          <a:ln w="25400" cap="flat" cmpd="sng">
            <a:solidFill>
              <a:schemeClr val="accent2"/>
            </a:solidFill>
            <a:prstDash val="solid"/>
            <a:miter lim="800000"/>
            <a:headEnd type="none" w="sm" len="sm"/>
            <a:tailEnd type="triangle" w="med" len="med"/>
          </a:ln>
        </p:spPr>
      </p:cxnSp>
      <p:sp>
        <p:nvSpPr>
          <p:cNvPr id="2891" name="Google Shape;2854;p13">
            <a:extLst>
              <a:ext uri="{FF2B5EF4-FFF2-40B4-BE49-F238E27FC236}">
                <a16:creationId xmlns:a16="http://schemas.microsoft.com/office/drawing/2014/main" id="{CFEA4167-77A7-182D-692E-5BFDB4C59954}"/>
              </a:ext>
            </a:extLst>
          </p:cNvPr>
          <p:cNvSpPr/>
          <p:nvPr/>
        </p:nvSpPr>
        <p:spPr>
          <a:xfrm>
            <a:off x="5012742" y="3450765"/>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Cluster1</a:t>
            </a:r>
          </a:p>
          <a:p>
            <a:pPr marL="0" marR="0" lvl="0" indent="0" algn="ctr" rtl="0">
              <a:spcBef>
                <a:spcPts val="0"/>
              </a:spcBef>
              <a:spcAft>
                <a:spcPts val="0"/>
              </a:spcAft>
              <a:buNone/>
            </a:pPr>
            <a:r>
              <a:rPr lang="en-US" sz="1000" dirty="0">
                <a:solidFill>
                  <a:schemeClr val="lt1"/>
                </a:solidFill>
              </a:rPr>
              <a:t>3</a:t>
            </a:r>
            <a:r>
              <a:rPr lang="en-US" sz="1000" dirty="0">
                <a:solidFill>
                  <a:schemeClr val="lt1"/>
                </a:solidFill>
                <a:ea typeface="Arial"/>
                <a:cs typeface="Arial"/>
                <a:sym typeface="Arial"/>
              </a:rPr>
              <a:t> hosts</a:t>
            </a:r>
            <a:endParaRPr sz="1000" dirty="0"/>
          </a:p>
        </p:txBody>
      </p:sp>
      <p:sp>
        <p:nvSpPr>
          <p:cNvPr id="2892" name="Google Shape;2855;p13">
            <a:extLst>
              <a:ext uri="{FF2B5EF4-FFF2-40B4-BE49-F238E27FC236}">
                <a16:creationId xmlns:a16="http://schemas.microsoft.com/office/drawing/2014/main" id="{259C84C7-65B9-8BAF-18D7-24E77FB92444}"/>
              </a:ext>
            </a:extLst>
          </p:cNvPr>
          <p:cNvSpPr/>
          <p:nvPr/>
        </p:nvSpPr>
        <p:spPr>
          <a:xfrm>
            <a:off x="5012742" y="3996733"/>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Cluster2</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3 hosts</a:t>
            </a:r>
            <a:endParaRPr sz="1000" dirty="0"/>
          </a:p>
        </p:txBody>
      </p:sp>
      <p:grpSp>
        <p:nvGrpSpPr>
          <p:cNvPr id="2893" name="Google Shape;2857;p13">
            <a:extLst>
              <a:ext uri="{FF2B5EF4-FFF2-40B4-BE49-F238E27FC236}">
                <a16:creationId xmlns:a16="http://schemas.microsoft.com/office/drawing/2014/main" id="{5F4A186C-BBBF-1D5D-2744-DD133A38266F}"/>
              </a:ext>
            </a:extLst>
          </p:cNvPr>
          <p:cNvGrpSpPr/>
          <p:nvPr/>
        </p:nvGrpSpPr>
        <p:grpSpPr>
          <a:xfrm>
            <a:off x="5655936" y="2511386"/>
            <a:ext cx="1199946" cy="662511"/>
            <a:chOff x="1468913" y="1257134"/>
            <a:chExt cx="1199946" cy="662511"/>
          </a:xfrm>
        </p:grpSpPr>
        <p:pic>
          <p:nvPicPr>
            <p:cNvPr id="2894" name="Google Shape;2858;p13">
              <a:extLst>
                <a:ext uri="{FF2B5EF4-FFF2-40B4-BE49-F238E27FC236}">
                  <a16:creationId xmlns:a16="http://schemas.microsoft.com/office/drawing/2014/main" id="{1DF1FC90-4DAF-56BB-D519-5EB5D8C07FE7}"/>
                </a:ext>
              </a:extLst>
            </p:cNvPr>
            <p:cNvPicPr preferRelativeResize="0"/>
            <p:nvPr/>
          </p:nvPicPr>
          <p:blipFill rotWithShape="1">
            <a:blip r:embed="rId4">
              <a:alphaModFix/>
            </a:blip>
            <a:srcRect/>
            <a:stretch/>
          </p:blipFill>
          <p:spPr>
            <a:xfrm>
              <a:off x="1841447" y="1257134"/>
              <a:ext cx="508623" cy="508623"/>
            </a:xfrm>
            <a:prstGeom prst="rect">
              <a:avLst/>
            </a:prstGeom>
            <a:noFill/>
            <a:ln>
              <a:noFill/>
            </a:ln>
          </p:spPr>
        </p:pic>
        <p:sp>
          <p:nvSpPr>
            <p:cNvPr id="2895" name="Google Shape;2859;p13">
              <a:extLst>
                <a:ext uri="{FF2B5EF4-FFF2-40B4-BE49-F238E27FC236}">
                  <a16:creationId xmlns:a16="http://schemas.microsoft.com/office/drawing/2014/main" id="{89F30582-B483-A8C1-4616-439AF7BA10E8}"/>
                </a:ext>
              </a:extLst>
            </p:cNvPr>
            <p:cNvSpPr txBox="1"/>
            <p:nvPr/>
          </p:nvSpPr>
          <p:spPr>
            <a:xfrm>
              <a:off x="1468913" y="1765757"/>
              <a:ext cx="1199946" cy="15388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0" dirty="0">
                  <a:solidFill>
                    <a:srgbClr val="000000"/>
                  </a:solidFill>
                  <a:ea typeface="Arial"/>
                  <a:cs typeface="Arial"/>
                  <a:sym typeface="Arial"/>
                </a:rPr>
                <a:t>Datacentre3</a:t>
              </a:r>
              <a:endParaRPr dirty="0"/>
            </a:p>
          </p:txBody>
        </p:sp>
      </p:grpSp>
      <p:cxnSp>
        <p:nvCxnSpPr>
          <p:cNvPr id="2896" name="Google Shape;2861;p13">
            <a:extLst>
              <a:ext uri="{FF2B5EF4-FFF2-40B4-BE49-F238E27FC236}">
                <a16:creationId xmlns:a16="http://schemas.microsoft.com/office/drawing/2014/main" id="{AB36C6D8-71C4-4F73-B6C8-8908474E2A99}"/>
              </a:ext>
            </a:extLst>
          </p:cNvPr>
          <p:cNvCxnSpPr>
            <a:cxnSpLocks/>
            <a:stCxn id="2895" idx="2"/>
            <a:endCxn id="2891" idx="1"/>
          </p:cNvCxnSpPr>
          <p:nvPr/>
        </p:nvCxnSpPr>
        <p:spPr>
          <a:xfrm rot="5400000">
            <a:off x="5376985" y="2809655"/>
            <a:ext cx="514683" cy="1243167"/>
          </a:xfrm>
          <a:prstGeom prst="bentConnector4">
            <a:avLst>
              <a:gd name="adj1" fmla="val 25972"/>
              <a:gd name="adj2" fmla="val 118389"/>
            </a:avLst>
          </a:prstGeom>
          <a:noFill/>
          <a:ln w="25400" cap="flat" cmpd="sng">
            <a:solidFill>
              <a:schemeClr val="accent2"/>
            </a:solidFill>
            <a:prstDash val="solid"/>
            <a:miter lim="800000"/>
            <a:headEnd type="none" w="sm" len="sm"/>
            <a:tailEnd type="triangle" w="med" len="med"/>
          </a:ln>
        </p:spPr>
      </p:cxnSp>
      <p:cxnSp>
        <p:nvCxnSpPr>
          <p:cNvPr id="2897" name="Google Shape;2862;p13">
            <a:extLst>
              <a:ext uri="{FF2B5EF4-FFF2-40B4-BE49-F238E27FC236}">
                <a16:creationId xmlns:a16="http://schemas.microsoft.com/office/drawing/2014/main" id="{FA0A6D20-8931-3A0E-4926-B95A7E02DBA3}"/>
              </a:ext>
            </a:extLst>
          </p:cNvPr>
          <p:cNvCxnSpPr>
            <a:cxnSpLocks/>
            <a:stCxn id="2895" idx="2"/>
            <a:endCxn id="2892" idx="1"/>
          </p:cNvCxnSpPr>
          <p:nvPr/>
        </p:nvCxnSpPr>
        <p:spPr>
          <a:xfrm rot="5400000">
            <a:off x="5104001" y="3082639"/>
            <a:ext cx="1060651" cy="1243167"/>
          </a:xfrm>
          <a:prstGeom prst="bentConnector4">
            <a:avLst>
              <a:gd name="adj1" fmla="val 13091"/>
              <a:gd name="adj2" fmla="val 118389"/>
            </a:avLst>
          </a:prstGeom>
          <a:noFill/>
          <a:ln w="25400" cap="flat" cmpd="sng">
            <a:solidFill>
              <a:schemeClr val="accent2"/>
            </a:solidFill>
            <a:prstDash val="solid"/>
            <a:miter lim="800000"/>
            <a:headEnd type="none" w="sm" len="sm"/>
            <a:tailEnd type="triangle" w="med" len="med"/>
          </a:ln>
        </p:spPr>
      </p:cxnSp>
      <p:sp>
        <p:nvSpPr>
          <p:cNvPr id="2898" name="Google Shape;2854;p13">
            <a:extLst>
              <a:ext uri="{FF2B5EF4-FFF2-40B4-BE49-F238E27FC236}">
                <a16:creationId xmlns:a16="http://schemas.microsoft.com/office/drawing/2014/main" id="{E8E1ABC8-9B9E-1E3A-57C2-9294AF63DB42}"/>
              </a:ext>
            </a:extLst>
          </p:cNvPr>
          <p:cNvSpPr/>
          <p:nvPr/>
        </p:nvSpPr>
        <p:spPr>
          <a:xfrm>
            <a:off x="5012742" y="4542701"/>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Cluster3</a:t>
            </a:r>
          </a:p>
          <a:p>
            <a:pPr marL="0" marR="0" lvl="0" indent="0" algn="ctr" rtl="0">
              <a:spcBef>
                <a:spcPts val="0"/>
              </a:spcBef>
              <a:spcAft>
                <a:spcPts val="0"/>
              </a:spcAft>
              <a:buNone/>
            </a:pPr>
            <a:r>
              <a:rPr lang="en-US" sz="1000" dirty="0">
                <a:solidFill>
                  <a:schemeClr val="lt1"/>
                </a:solidFill>
                <a:ea typeface="Arial"/>
                <a:cs typeface="Arial"/>
                <a:sym typeface="Arial"/>
              </a:rPr>
              <a:t>3 hosts</a:t>
            </a:r>
            <a:endParaRPr sz="1000" dirty="0"/>
          </a:p>
        </p:txBody>
      </p:sp>
      <p:sp>
        <p:nvSpPr>
          <p:cNvPr id="2899" name="Google Shape;2855;p13">
            <a:extLst>
              <a:ext uri="{FF2B5EF4-FFF2-40B4-BE49-F238E27FC236}">
                <a16:creationId xmlns:a16="http://schemas.microsoft.com/office/drawing/2014/main" id="{1ACE7EED-19E0-215A-8C00-D69E4E1A7873}"/>
              </a:ext>
            </a:extLst>
          </p:cNvPr>
          <p:cNvSpPr/>
          <p:nvPr/>
        </p:nvSpPr>
        <p:spPr>
          <a:xfrm>
            <a:off x="5012742" y="5088669"/>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Cluster4</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3 hosts</a:t>
            </a:r>
            <a:endParaRPr sz="1000" dirty="0"/>
          </a:p>
        </p:txBody>
      </p:sp>
      <p:sp>
        <p:nvSpPr>
          <p:cNvPr id="2900" name="Google Shape;2854;p13">
            <a:extLst>
              <a:ext uri="{FF2B5EF4-FFF2-40B4-BE49-F238E27FC236}">
                <a16:creationId xmlns:a16="http://schemas.microsoft.com/office/drawing/2014/main" id="{864F5F9E-2DA2-BC68-6A8F-0CA68A768B42}"/>
              </a:ext>
            </a:extLst>
          </p:cNvPr>
          <p:cNvSpPr/>
          <p:nvPr/>
        </p:nvSpPr>
        <p:spPr>
          <a:xfrm>
            <a:off x="5012742" y="5666488"/>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Cluster5</a:t>
            </a:r>
          </a:p>
          <a:p>
            <a:pPr marL="0" marR="0" lvl="0" indent="0" algn="ctr" rtl="0">
              <a:spcBef>
                <a:spcPts val="0"/>
              </a:spcBef>
              <a:spcAft>
                <a:spcPts val="0"/>
              </a:spcAft>
              <a:buNone/>
            </a:pPr>
            <a:r>
              <a:rPr lang="en-US" sz="1000" dirty="0">
                <a:solidFill>
                  <a:schemeClr val="lt1"/>
                </a:solidFill>
                <a:ea typeface="Arial"/>
                <a:cs typeface="Arial"/>
                <a:sym typeface="Arial"/>
              </a:rPr>
              <a:t>3 hosts</a:t>
            </a:r>
            <a:endParaRPr sz="1000" dirty="0"/>
          </a:p>
        </p:txBody>
      </p:sp>
      <p:sp>
        <p:nvSpPr>
          <p:cNvPr id="2901" name="Google Shape;2855;p13">
            <a:extLst>
              <a:ext uri="{FF2B5EF4-FFF2-40B4-BE49-F238E27FC236}">
                <a16:creationId xmlns:a16="http://schemas.microsoft.com/office/drawing/2014/main" id="{0DA5CAE8-D1A2-79A6-FE6E-3D41128FF405}"/>
              </a:ext>
            </a:extLst>
          </p:cNvPr>
          <p:cNvSpPr/>
          <p:nvPr/>
        </p:nvSpPr>
        <p:spPr>
          <a:xfrm>
            <a:off x="6278834" y="3450765"/>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Cluster6 </a:t>
            </a:r>
          </a:p>
          <a:p>
            <a:pPr marL="0" marR="0" lvl="0" indent="0" algn="ctr" rtl="0">
              <a:spcBef>
                <a:spcPts val="0"/>
              </a:spcBef>
              <a:spcAft>
                <a:spcPts val="0"/>
              </a:spcAft>
              <a:buNone/>
            </a:pPr>
            <a:r>
              <a:rPr lang="en-US" sz="1000" dirty="0">
                <a:solidFill>
                  <a:schemeClr val="lt1"/>
                </a:solidFill>
              </a:rPr>
              <a:t>4</a:t>
            </a:r>
            <a:r>
              <a:rPr lang="en-US" sz="1000" dirty="0">
                <a:solidFill>
                  <a:schemeClr val="lt1"/>
                </a:solidFill>
                <a:ea typeface="Arial"/>
                <a:cs typeface="Arial"/>
                <a:sym typeface="Arial"/>
              </a:rPr>
              <a:t> hosts</a:t>
            </a:r>
            <a:endParaRPr sz="1000" dirty="0"/>
          </a:p>
        </p:txBody>
      </p:sp>
      <p:cxnSp>
        <p:nvCxnSpPr>
          <p:cNvPr id="2902" name="Google Shape;2862;p13">
            <a:extLst>
              <a:ext uri="{FF2B5EF4-FFF2-40B4-BE49-F238E27FC236}">
                <a16:creationId xmlns:a16="http://schemas.microsoft.com/office/drawing/2014/main" id="{39D0D23C-92A1-DEA7-DEE7-E49BDD15D0AB}"/>
              </a:ext>
            </a:extLst>
          </p:cNvPr>
          <p:cNvCxnSpPr>
            <a:cxnSpLocks/>
            <a:stCxn id="2895" idx="2"/>
            <a:endCxn id="2898" idx="1"/>
          </p:cNvCxnSpPr>
          <p:nvPr/>
        </p:nvCxnSpPr>
        <p:spPr>
          <a:xfrm rot="5400000">
            <a:off x="4831017" y="3355623"/>
            <a:ext cx="1606619" cy="1243167"/>
          </a:xfrm>
          <a:prstGeom prst="bentConnector4">
            <a:avLst>
              <a:gd name="adj1" fmla="val 8122"/>
              <a:gd name="adj2" fmla="val 118389"/>
            </a:avLst>
          </a:prstGeom>
          <a:noFill/>
          <a:ln w="25400" cap="flat" cmpd="sng">
            <a:solidFill>
              <a:schemeClr val="accent2"/>
            </a:solidFill>
            <a:prstDash val="solid"/>
            <a:miter lim="800000"/>
            <a:headEnd type="none" w="sm" len="sm"/>
            <a:tailEnd type="triangle" w="med" len="med"/>
          </a:ln>
        </p:spPr>
      </p:cxnSp>
      <p:cxnSp>
        <p:nvCxnSpPr>
          <p:cNvPr id="2903" name="Google Shape;2862;p13">
            <a:extLst>
              <a:ext uri="{FF2B5EF4-FFF2-40B4-BE49-F238E27FC236}">
                <a16:creationId xmlns:a16="http://schemas.microsoft.com/office/drawing/2014/main" id="{CC5D8E8C-6DCB-B07F-0EEB-3DB870B88CC2}"/>
              </a:ext>
            </a:extLst>
          </p:cNvPr>
          <p:cNvCxnSpPr>
            <a:cxnSpLocks/>
            <a:stCxn id="2895" idx="2"/>
            <a:endCxn id="2899" idx="1"/>
          </p:cNvCxnSpPr>
          <p:nvPr/>
        </p:nvCxnSpPr>
        <p:spPr>
          <a:xfrm rot="5400000">
            <a:off x="4558033" y="3628607"/>
            <a:ext cx="2152587" cy="1243167"/>
          </a:xfrm>
          <a:prstGeom prst="bentConnector4">
            <a:avLst>
              <a:gd name="adj1" fmla="val 6081"/>
              <a:gd name="adj2" fmla="val 118389"/>
            </a:avLst>
          </a:prstGeom>
          <a:noFill/>
          <a:ln w="25400" cap="flat" cmpd="sng">
            <a:solidFill>
              <a:schemeClr val="accent2"/>
            </a:solidFill>
            <a:prstDash val="solid"/>
            <a:miter lim="800000"/>
            <a:headEnd type="none" w="sm" len="sm"/>
            <a:tailEnd type="triangle" w="med" len="med"/>
          </a:ln>
        </p:spPr>
      </p:cxnSp>
      <p:cxnSp>
        <p:nvCxnSpPr>
          <p:cNvPr id="2904" name="Google Shape;2862;p13">
            <a:extLst>
              <a:ext uri="{FF2B5EF4-FFF2-40B4-BE49-F238E27FC236}">
                <a16:creationId xmlns:a16="http://schemas.microsoft.com/office/drawing/2014/main" id="{67320E34-2701-B06D-3B1F-CE216D9E2DB6}"/>
              </a:ext>
            </a:extLst>
          </p:cNvPr>
          <p:cNvCxnSpPr>
            <a:cxnSpLocks/>
            <a:stCxn id="2895" idx="2"/>
            <a:endCxn id="2900" idx="1"/>
          </p:cNvCxnSpPr>
          <p:nvPr/>
        </p:nvCxnSpPr>
        <p:spPr>
          <a:xfrm rot="5400000">
            <a:off x="4269123" y="3917517"/>
            <a:ext cx="2730406" cy="1243167"/>
          </a:xfrm>
          <a:prstGeom prst="bentConnector4">
            <a:avLst>
              <a:gd name="adj1" fmla="val 4924"/>
              <a:gd name="adj2" fmla="val 118389"/>
            </a:avLst>
          </a:prstGeom>
          <a:noFill/>
          <a:ln w="25400" cap="flat" cmpd="sng">
            <a:solidFill>
              <a:schemeClr val="accent2"/>
            </a:solidFill>
            <a:prstDash val="solid"/>
            <a:miter lim="800000"/>
            <a:headEnd type="none" w="sm" len="sm"/>
            <a:tailEnd type="triangle" w="med" len="med"/>
          </a:ln>
        </p:spPr>
      </p:cxnSp>
      <p:cxnSp>
        <p:nvCxnSpPr>
          <p:cNvPr id="2905" name="Google Shape;2862;p13">
            <a:extLst>
              <a:ext uri="{FF2B5EF4-FFF2-40B4-BE49-F238E27FC236}">
                <a16:creationId xmlns:a16="http://schemas.microsoft.com/office/drawing/2014/main" id="{BAC0E24D-4147-9246-54AE-ECCC9A279F2D}"/>
              </a:ext>
            </a:extLst>
          </p:cNvPr>
          <p:cNvCxnSpPr>
            <a:cxnSpLocks/>
            <a:stCxn id="2895" idx="2"/>
            <a:endCxn id="2901" idx="3"/>
          </p:cNvCxnSpPr>
          <p:nvPr/>
        </p:nvCxnSpPr>
        <p:spPr>
          <a:xfrm rot="16200000" flipH="1">
            <a:off x="6587079" y="2842727"/>
            <a:ext cx="514683" cy="1177022"/>
          </a:xfrm>
          <a:prstGeom prst="bentConnector4">
            <a:avLst>
              <a:gd name="adj1" fmla="val 26897"/>
              <a:gd name="adj2" fmla="val 119422"/>
            </a:avLst>
          </a:prstGeom>
          <a:noFill/>
          <a:ln w="25400" cap="flat" cmpd="sng">
            <a:solidFill>
              <a:schemeClr val="accent2"/>
            </a:solidFill>
            <a:prstDash val="solid"/>
            <a:miter lim="800000"/>
            <a:headEnd type="none" w="sm" len="sm"/>
            <a:tailEnd type="triangle" w="med" len="med"/>
          </a:ln>
        </p:spPr>
      </p:cxnSp>
      <p:sp>
        <p:nvSpPr>
          <p:cNvPr id="2907" name="Google Shape;2855;p13">
            <a:extLst>
              <a:ext uri="{FF2B5EF4-FFF2-40B4-BE49-F238E27FC236}">
                <a16:creationId xmlns:a16="http://schemas.microsoft.com/office/drawing/2014/main" id="{33B78054-2466-E33F-F927-9CE3A8FEDACB}"/>
              </a:ext>
            </a:extLst>
          </p:cNvPr>
          <p:cNvSpPr/>
          <p:nvPr/>
        </p:nvSpPr>
        <p:spPr>
          <a:xfrm>
            <a:off x="6278834" y="3996733"/>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Cluster7</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3 hosts</a:t>
            </a:r>
            <a:endParaRPr sz="1000" dirty="0"/>
          </a:p>
        </p:txBody>
      </p:sp>
      <p:cxnSp>
        <p:nvCxnSpPr>
          <p:cNvPr id="2908" name="Google Shape;2862;p13">
            <a:extLst>
              <a:ext uri="{FF2B5EF4-FFF2-40B4-BE49-F238E27FC236}">
                <a16:creationId xmlns:a16="http://schemas.microsoft.com/office/drawing/2014/main" id="{DF385FD6-E52B-9ED4-6628-CF71BC3C915F}"/>
              </a:ext>
            </a:extLst>
          </p:cNvPr>
          <p:cNvCxnSpPr>
            <a:cxnSpLocks/>
            <a:stCxn id="2895" idx="2"/>
            <a:endCxn id="2907" idx="3"/>
          </p:cNvCxnSpPr>
          <p:nvPr/>
        </p:nvCxnSpPr>
        <p:spPr>
          <a:xfrm rot="16200000" flipH="1">
            <a:off x="6314095" y="3115711"/>
            <a:ext cx="1060651" cy="1177022"/>
          </a:xfrm>
          <a:prstGeom prst="bentConnector4">
            <a:avLst>
              <a:gd name="adj1" fmla="val 13091"/>
              <a:gd name="adj2" fmla="val 119422"/>
            </a:avLst>
          </a:prstGeom>
          <a:noFill/>
          <a:ln w="25400" cap="flat" cmpd="sng">
            <a:solidFill>
              <a:schemeClr val="accent2"/>
            </a:solidFill>
            <a:prstDash val="solid"/>
            <a:miter lim="800000"/>
            <a:headEnd type="none" w="sm" len="sm"/>
            <a:tailEnd type="triangle" w="med" len="med"/>
          </a:ln>
        </p:spPr>
      </p:cxnSp>
      <p:sp>
        <p:nvSpPr>
          <p:cNvPr id="2909" name="Google Shape;2855;p13">
            <a:extLst>
              <a:ext uri="{FF2B5EF4-FFF2-40B4-BE49-F238E27FC236}">
                <a16:creationId xmlns:a16="http://schemas.microsoft.com/office/drawing/2014/main" id="{7CFC3671-10A3-50B5-2398-9C8015815A41}"/>
              </a:ext>
            </a:extLst>
          </p:cNvPr>
          <p:cNvSpPr/>
          <p:nvPr/>
        </p:nvSpPr>
        <p:spPr>
          <a:xfrm>
            <a:off x="6276715" y="4543541"/>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Cluster8</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3 hosts</a:t>
            </a:r>
            <a:endParaRPr sz="1000" dirty="0"/>
          </a:p>
        </p:txBody>
      </p:sp>
      <p:cxnSp>
        <p:nvCxnSpPr>
          <p:cNvPr id="2910" name="Google Shape;2862;p13">
            <a:extLst>
              <a:ext uri="{FF2B5EF4-FFF2-40B4-BE49-F238E27FC236}">
                <a16:creationId xmlns:a16="http://schemas.microsoft.com/office/drawing/2014/main" id="{9434EBEE-ECE1-8B53-CCDF-0F45F5A352AC}"/>
              </a:ext>
            </a:extLst>
          </p:cNvPr>
          <p:cNvCxnSpPr>
            <a:cxnSpLocks/>
            <a:stCxn id="2895" idx="2"/>
            <a:endCxn id="2909" idx="3"/>
          </p:cNvCxnSpPr>
          <p:nvPr/>
        </p:nvCxnSpPr>
        <p:spPr>
          <a:xfrm rot="16200000" flipH="1">
            <a:off x="6039631" y="3390174"/>
            <a:ext cx="1607459" cy="1174903"/>
          </a:xfrm>
          <a:prstGeom prst="bentConnector4">
            <a:avLst>
              <a:gd name="adj1" fmla="val 8144"/>
              <a:gd name="adj2" fmla="val 119457"/>
            </a:avLst>
          </a:prstGeom>
          <a:noFill/>
          <a:ln w="25400" cap="flat" cmpd="sng">
            <a:solidFill>
              <a:schemeClr val="accent2"/>
            </a:solidFill>
            <a:prstDash val="solid"/>
            <a:miter lim="800000"/>
            <a:headEnd type="none" w="sm" len="sm"/>
            <a:tailEnd type="triangle" w="med" len="med"/>
          </a:ln>
        </p:spPr>
      </p:cxnSp>
      <p:sp>
        <p:nvSpPr>
          <p:cNvPr id="2911" name="Google Shape;2855;p13">
            <a:extLst>
              <a:ext uri="{FF2B5EF4-FFF2-40B4-BE49-F238E27FC236}">
                <a16:creationId xmlns:a16="http://schemas.microsoft.com/office/drawing/2014/main" id="{DA084E0E-4F20-2A18-A8B7-7BC135378E78}"/>
              </a:ext>
            </a:extLst>
          </p:cNvPr>
          <p:cNvSpPr/>
          <p:nvPr/>
        </p:nvSpPr>
        <p:spPr>
          <a:xfrm>
            <a:off x="6283247" y="5088669"/>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Cluster9</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3 hosts</a:t>
            </a:r>
            <a:endParaRPr sz="1000" dirty="0"/>
          </a:p>
        </p:txBody>
      </p:sp>
      <p:cxnSp>
        <p:nvCxnSpPr>
          <p:cNvPr id="2912" name="Google Shape;2862;p13">
            <a:extLst>
              <a:ext uri="{FF2B5EF4-FFF2-40B4-BE49-F238E27FC236}">
                <a16:creationId xmlns:a16="http://schemas.microsoft.com/office/drawing/2014/main" id="{594205B9-9484-A909-0A01-CAFD27886613}"/>
              </a:ext>
            </a:extLst>
          </p:cNvPr>
          <p:cNvCxnSpPr>
            <a:cxnSpLocks/>
            <a:stCxn id="2895" idx="2"/>
            <a:endCxn id="2911" idx="3"/>
          </p:cNvCxnSpPr>
          <p:nvPr/>
        </p:nvCxnSpPr>
        <p:spPr>
          <a:xfrm rot="16200000" flipH="1">
            <a:off x="5770333" y="3659472"/>
            <a:ext cx="2152587" cy="1181435"/>
          </a:xfrm>
          <a:prstGeom prst="bentConnector4">
            <a:avLst>
              <a:gd name="adj1" fmla="val 6490"/>
              <a:gd name="adj2" fmla="val 119349"/>
            </a:avLst>
          </a:prstGeom>
          <a:noFill/>
          <a:ln w="25400" cap="flat" cmpd="sng">
            <a:solidFill>
              <a:schemeClr val="accent2"/>
            </a:solidFill>
            <a:prstDash val="solid"/>
            <a:miter lim="800000"/>
            <a:headEnd type="none" w="sm" len="sm"/>
            <a:tailEnd type="triangle" w="med" len="med"/>
          </a:ln>
        </p:spPr>
      </p:cxnSp>
      <p:sp>
        <p:nvSpPr>
          <p:cNvPr id="2913" name="Google Shape;2855;p13">
            <a:extLst>
              <a:ext uri="{FF2B5EF4-FFF2-40B4-BE49-F238E27FC236}">
                <a16:creationId xmlns:a16="http://schemas.microsoft.com/office/drawing/2014/main" id="{7843622E-CDB3-8757-9383-B7C91A8DFE82}"/>
              </a:ext>
            </a:extLst>
          </p:cNvPr>
          <p:cNvSpPr/>
          <p:nvPr/>
        </p:nvSpPr>
        <p:spPr>
          <a:xfrm>
            <a:off x="6283247" y="5666488"/>
            <a:ext cx="1154097" cy="47563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1000" dirty="0">
                <a:solidFill>
                  <a:schemeClr val="lt1"/>
                </a:solidFill>
                <a:ea typeface="Arial"/>
                <a:cs typeface="Arial"/>
                <a:sym typeface="Arial"/>
              </a:rPr>
              <a:t>Cluster10</a:t>
            </a:r>
            <a:endParaRPr lang="en-US" sz="1000" dirty="0">
              <a:solidFill>
                <a:schemeClr val="lt1"/>
              </a:solidFill>
              <a:ea typeface="Arial"/>
              <a:cs typeface="Arial"/>
              <a:sym typeface="Arial"/>
            </a:endParaRPr>
          </a:p>
          <a:p>
            <a:pPr marL="0" marR="0" lvl="0" indent="0" algn="ctr" rtl="0">
              <a:spcBef>
                <a:spcPts val="0"/>
              </a:spcBef>
              <a:spcAft>
                <a:spcPts val="0"/>
              </a:spcAft>
              <a:buNone/>
            </a:pPr>
            <a:r>
              <a:rPr lang="en-US" sz="1000" dirty="0">
                <a:solidFill>
                  <a:schemeClr val="lt1"/>
                </a:solidFill>
                <a:ea typeface="Arial"/>
                <a:cs typeface="Arial"/>
                <a:sym typeface="Arial"/>
              </a:rPr>
              <a:t>3 hosts</a:t>
            </a:r>
            <a:endParaRPr sz="1000" dirty="0"/>
          </a:p>
        </p:txBody>
      </p:sp>
      <p:cxnSp>
        <p:nvCxnSpPr>
          <p:cNvPr id="2914" name="Google Shape;2862;p13">
            <a:extLst>
              <a:ext uri="{FF2B5EF4-FFF2-40B4-BE49-F238E27FC236}">
                <a16:creationId xmlns:a16="http://schemas.microsoft.com/office/drawing/2014/main" id="{6060FB9C-5B23-8396-50B9-014FFBDF9D70}"/>
              </a:ext>
            </a:extLst>
          </p:cNvPr>
          <p:cNvCxnSpPr>
            <a:cxnSpLocks/>
            <a:stCxn id="2895" idx="2"/>
            <a:endCxn id="2913" idx="3"/>
          </p:cNvCxnSpPr>
          <p:nvPr/>
        </p:nvCxnSpPr>
        <p:spPr>
          <a:xfrm rot="16200000" flipH="1">
            <a:off x="5481423" y="3948382"/>
            <a:ext cx="2730406" cy="1181435"/>
          </a:xfrm>
          <a:prstGeom prst="bentConnector4">
            <a:avLst>
              <a:gd name="adj1" fmla="val 5071"/>
              <a:gd name="adj2" fmla="val 119349"/>
            </a:avLst>
          </a:prstGeom>
          <a:noFill/>
          <a:ln w="25400" cap="flat" cmpd="sng">
            <a:solidFill>
              <a:schemeClr val="accent2"/>
            </a:solidFill>
            <a:prstDash val="solid"/>
            <a:miter lim="800000"/>
            <a:headEnd type="none" w="sm" len="sm"/>
            <a:tailEnd type="triangle" w="med" len="med"/>
          </a:ln>
        </p:spPr>
      </p:cxnSp>
      <p:cxnSp>
        <p:nvCxnSpPr>
          <p:cNvPr id="2924" name="Google Shape;2860;p13">
            <a:extLst>
              <a:ext uri="{FF2B5EF4-FFF2-40B4-BE49-F238E27FC236}">
                <a16:creationId xmlns:a16="http://schemas.microsoft.com/office/drawing/2014/main" id="{BE766928-3ABA-2E65-6D5A-1D1BCD426BD7}"/>
              </a:ext>
            </a:extLst>
          </p:cNvPr>
          <p:cNvCxnSpPr>
            <a:cxnSpLocks/>
            <a:stCxn id="2856" idx="2"/>
            <a:endCxn id="2894" idx="0"/>
          </p:cNvCxnSpPr>
          <p:nvPr/>
        </p:nvCxnSpPr>
        <p:spPr>
          <a:xfrm>
            <a:off x="4052729" y="2111485"/>
            <a:ext cx="2230053" cy="399901"/>
          </a:xfrm>
          <a:prstGeom prst="straightConnector1">
            <a:avLst/>
          </a:prstGeom>
          <a:noFill/>
          <a:ln w="25400" cap="flat" cmpd="sng">
            <a:solidFill>
              <a:schemeClr val="accent2"/>
            </a:solidFill>
            <a:prstDash val="solid"/>
            <a:miter lim="800000"/>
            <a:headEnd type="none" w="sm" len="sm"/>
            <a:tailEnd type="triangle" w="med" len="med"/>
          </a:ln>
        </p:spPr>
      </p:cxnSp>
      <p:cxnSp>
        <p:nvCxnSpPr>
          <p:cNvPr id="2927" name="Google Shape;2860;p13">
            <a:extLst>
              <a:ext uri="{FF2B5EF4-FFF2-40B4-BE49-F238E27FC236}">
                <a16:creationId xmlns:a16="http://schemas.microsoft.com/office/drawing/2014/main" id="{771189BA-545A-BEE0-1CD0-77D34D9F35C4}"/>
              </a:ext>
            </a:extLst>
          </p:cNvPr>
          <p:cNvCxnSpPr>
            <a:cxnSpLocks/>
            <a:stCxn id="2856" idx="2"/>
            <a:endCxn id="2830" idx="0"/>
          </p:cNvCxnSpPr>
          <p:nvPr/>
        </p:nvCxnSpPr>
        <p:spPr>
          <a:xfrm>
            <a:off x="4052729" y="2111485"/>
            <a:ext cx="0" cy="399901"/>
          </a:xfrm>
          <a:prstGeom prst="straightConnector1">
            <a:avLst/>
          </a:prstGeom>
          <a:noFill/>
          <a:ln w="25400" cap="flat" cmpd="sng">
            <a:solidFill>
              <a:schemeClr val="accent2"/>
            </a:solidFill>
            <a:prstDash val="solid"/>
            <a:miter lim="800000"/>
            <a:headEnd type="none" w="sm" len="sm"/>
            <a:tailEnd type="triangle" w="med" len="med"/>
          </a:ln>
        </p:spPr>
      </p:cxnSp>
      <p:sp>
        <p:nvSpPr>
          <p:cNvPr id="3" name="Rectangle 2">
            <a:extLst>
              <a:ext uri="{FF2B5EF4-FFF2-40B4-BE49-F238E27FC236}">
                <a16:creationId xmlns:a16="http://schemas.microsoft.com/office/drawing/2014/main" id="{D1C13329-D955-79DF-2E94-498B89EE246B}"/>
              </a:ext>
            </a:extLst>
          </p:cNvPr>
          <p:cNvSpPr/>
          <p:nvPr/>
        </p:nvSpPr>
        <p:spPr>
          <a:xfrm>
            <a:off x="10234520" y="83820"/>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customer environment specifics</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6"/>
        <p:cNvGrpSpPr/>
        <p:nvPr/>
      </p:nvGrpSpPr>
      <p:grpSpPr>
        <a:xfrm>
          <a:off x="0" y="0"/>
          <a:ext cx="0" cy="0"/>
          <a:chOff x="0" y="0"/>
          <a:chExt cx="0" cy="0"/>
        </a:xfrm>
      </p:grpSpPr>
      <p:sp>
        <p:nvSpPr>
          <p:cNvPr id="2907" name="Google Shape;2907;p15"/>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Assessment Summary</a:t>
            </a:r>
            <a:endParaRPr/>
          </a:p>
        </p:txBody>
      </p:sp>
      <p:sp>
        <p:nvSpPr>
          <p:cNvPr id="2" name="Subtitle 1">
            <a:extLst>
              <a:ext uri="{FF2B5EF4-FFF2-40B4-BE49-F238E27FC236}">
                <a16:creationId xmlns:a16="http://schemas.microsoft.com/office/drawing/2014/main" id="{F55C2440-B796-3BB2-F063-C0A5C6B5DAC6}"/>
              </a:ext>
            </a:extLst>
          </p:cNvPr>
          <p:cNvSpPr>
            <a:spLocks noGrp="1"/>
          </p:cNvSpPr>
          <p:nvPr>
            <p:ph type="subTitle" idx="10"/>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2"/>
        <p:cNvGrpSpPr/>
        <p:nvPr/>
      </p:nvGrpSpPr>
      <p:grpSpPr>
        <a:xfrm>
          <a:off x="0" y="0"/>
          <a:ext cx="0" cy="0"/>
          <a:chOff x="0" y="0"/>
          <a:chExt cx="0" cy="0"/>
        </a:xfrm>
      </p:grpSpPr>
      <p:sp>
        <p:nvSpPr>
          <p:cNvPr id="2913" name="Google Shape;2913;p16"/>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Assessment Summary</a:t>
            </a:r>
            <a:endParaRPr/>
          </a:p>
        </p:txBody>
      </p:sp>
      <p:sp>
        <p:nvSpPr>
          <p:cNvPr id="2914" name="Google Shape;2914;p16"/>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Overview</a:t>
            </a:r>
            <a:endParaRPr dirty="0"/>
          </a:p>
        </p:txBody>
      </p:sp>
      <p:sp>
        <p:nvSpPr>
          <p:cNvPr id="2915" name="Google Shape;2915;p16"/>
          <p:cNvSpPr txBox="1">
            <a:spLocks noGrp="1"/>
          </p:cNvSpPr>
          <p:nvPr>
            <p:ph sz="quarter" idx="14"/>
          </p:nvPr>
        </p:nvSpPr>
        <p:spPr>
          <a:prstGeom prst="rect">
            <a:avLst/>
          </a:prstGeom>
          <a:noFill/>
          <a:ln>
            <a:noFill/>
          </a:ln>
        </p:spPr>
        <p:txBody>
          <a:bodyPr spcFirstLastPara="1" wrap="square" lIns="0" tIns="0" rIns="0" bIns="0" anchor="t" anchorCtr="0">
            <a:noAutofit/>
          </a:bodyPr>
          <a:lstStyle/>
          <a:p>
            <a:pPr lvl="0" algn="l" rtl="0">
              <a:lnSpc>
                <a:spcPct val="100000"/>
              </a:lnSpc>
              <a:spcBef>
                <a:spcPts val="0"/>
              </a:spcBef>
              <a:spcAft>
                <a:spcPts val="0"/>
              </a:spcAft>
              <a:buSzPts val="1800"/>
              <a:buNone/>
            </a:pPr>
            <a:r>
              <a:rPr lang="en-US" dirty="0"/>
              <a:t>This engagement is only intended to provide an assessment of the environment using the NIST SP 800-53 Security Controls as the baseline and as documented on the main page of </a:t>
            </a:r>
            <a:r>
              <a:rPr lang="en-US" u="sng" dirty="0">
                <a:solidFill>
                  <a:schemeClr val="hlink"/>
                </a:solidFill>
                <a:hlinkClick r:id="rId3"/>
              </a:rPr>
              <a:t>https://vmware.github.io/dod-compliance-and-automation/</a:t>
            </a:r>
            <a:r>
              <a:rPr lang="en-US" dirty="0"/>
              <a:t>. </a:t>
            </a:r>
            <a:endParaRPr dirty="0"/>
          </a:p>
          <a:p>
            <a:pPr lvl="0" algn="l" rtl="0">
              <a:lnSpc>
                <a:spcPct val="100000"/>
              </a:lnSpc>
              <a:spcBef>
                <a:spcPts val="1200"/>
              </a:spcBef>
              <a:spcAft>
                <a:spcPts val="0"/>
              </a:spcAft>
              <a:buSzPts val="1800"/>
              <a:buNone/>
            </a:pPr>
            <a:r>
              <a:rPr lang="en-US" dirty="0"/>
              <a:t>The VMware Security Technical Implementation Guide (STIG) Program (</a:t>
            </a:r>
            <a:r>
              <a:rPr lang="en-US" u="sng" dirty="0">
                <a:solidFill>
                  <a:schemeClr val="hlink"/>
                </a:solidFill>
                <a:hlinkClick r:id="rId4"/>
              </a:rPr>
              <a:t>https://www.vmware.com/docs/vmw-stig-program-overview</a:t>
            </a:r>
            <a:r>
              <a:rPr lang="en-US" dirty="0"/>
              <a:t>) provides an overview of the STIGs that have been developed from Security Reference Guides (SRG) as documented by DISA (U.S. Defense Information Systems Agency) which are non-product specific requirements and used to mitigate common security vulnerabilities encountered across information technology systems and applications. </a:t>
            </a:r>
            <a:endParaRPr dirty="0"/>
          </a:p>
          <a:p>
            <a:pPr lvl="0" algn="l" rtl="0">
              <a:lnSpc>
                <a:spcPct val="100000"/>
              </a:lnSpc>
              <a:spcBef>
                <a:spcPts val="1200"/>
              </a:spcBef>
              <a:spcAft>
                <a:spcPts val="0"/>
              </a:spcAft>
              <a:buSzPts val="1800"/>
              <a:buNone/>
            </a:pPr>
            <a:r>
              <a:rPr lang="en-US" dirty="0"/>
              <a:t>This is </a:t>
            </a:r>
            <a:r>
              <a:rPr lang="en-US" b="1" u="sng" dirty="0"/>
              <a:t>not</a:t>
            </a:r>
            <a:r>
              <a:rPr lang="en-US" dirty="0"/>
              <a:t> a vulnerability assessment or a penetration style test engagement. </a:t>
            </a:r>
            <a:endParaRPr dirty="0"/>
          </a:p>
          <a:p>
            <a:pPr lvl="0" algn="l" rtl="0">
              <a:lnSpc>
                <a:spcPct val="100000"/>
              </a:lnSpc>
              <a:spcBef>
                <a:spcPts val="1200"/>
              </a:spcBef>
              <a:spcAft>
                <a:spcPts val="0"/>
              </a:spcAft>
              <a:buSzPts val="1800"/>
              <a:buNone/>
            </a:pPr>
            <a:r>
              <a:rPr lang="en-US" dirty="0"/>
              <a:t>Use the Skyline Health Diagnostic tool (</a:t>
            </a:r>
            <a:r>
              <a:rPr lang="en-US" u="sng" dirty="0">
                <a:solidFill>
                  <a:schemeClr val="hlink"/>
                </a:solidFill>
                <a:hlinkClick r:id="rId5"/>
              </a:rPr>
              <a:t>https://techdocs.broadcom.com/us/en/vmware-cis/skyline/health-diagnostics/4-0-7.html</a:t>
            </a:r>
            <a:r>
              <a:rPr lang="en-US" dirty="0"/>
              <a:t>) from VMware to scan vSphere environments and provide a set of VMware Security Advisories and their resolutions reports.</a:t>
            </a:r>
            <a:endParaRPr dirty="0"/>
          </a:p>
          <a:p>
            <a:pPr marL="0" lvl="0" indent="0" algn="l" rtl="0">
              <a:lnSpc>
                <a:spcPct val="100000"/>
              </a:lnSpc>
              <a:spcBef>
                <a:spcPts val="1200"/>
              </a:spcBef>
              <a:spcAft>
                <a:spcPts val="0"/>
              </a:spcAft>
              <a:buSzPts val="1800"/>
              <a:buNone/>
            </a:pPr>
            <a:endParaRPr dirty="0"/>
          </a:p>
          <a:p>
            <a:pPr marL="0" lvl="0" indent="0" algn="l" rtl="0">
              <a:lnSpc>
                <a:spcPct val="100000"/>
              </a:lnSpc>
              <a:spcBef>
                <a:spcPts val="1200"/>
              </a:spcBef>
              <a:spcAft>
                <a:spcPts val="0"/>
              </a:spcAft>
              <a:buSzPts val="1800"/>
              <a:buNone/>
            </a:pPr>
            <a:endParaRPr dirty="0"/>
          </a:p>
          <a:p>
            <a:pPr marL="0" lvl="0" indent="0" algn="l" rtl="0">
              <a:lnSpc>
                <a:spcPct val="100000"/>
              </a:lnSpc>
              <a:spcBef>
                <a:spcPts val="1200"/>
              </a:spcBef>
              <a:spcAft>
                <a:spcPts val="0"/>
              </a:spcAft>
              <a:buSzPts val="1800"/>
              <a:buNone/>
            </a:pPr>
            <a:endParaRPr dirty="0"/>
          </a:p>
        </p:txBody>
      </p:sp>
      <p:sp>
        <p:nvSpPr>
          <p:cNvPr id="2" name="Rectangle 1">
            <a:extLst>
              <a:ext uri="{FF2B5EF4-FFF2-40B4-BE49-F238E27FC236}">
                <a16:creationId xmlns:a16="http://schemas.microsoft.com/office/drawing/2014/main" id="{F7EAC663-A23C-3303-841D-76C0B455679F}"/>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as needed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0"/>
        <p:cNvGrpSpPr/>
        <p:nvPr/>
      </p:nvGrpSpPr>
      <p:grpSpPr>
        <a:xfrm>
          <a:off x="0" y="0"/>
          <a:ext cx="0" cy="0"/>
          <a:chOff x="0" y="0"/>
          <a:chExt cx="0" cy="0"/>
        </a:xfrm>
      </p:grpSpPr>
      <p:sp>
        <p:nvSpPr>
          <p:cNvPr id="2921" name="Google Shape;2921;p17"/>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Assessment Summary</a:t>
            </a:r>
            <a:endParaRPr/>
          </a:p>
        </p:txBody>
      </p:sp>
      <p:sp>
        <p:nvSpPr>
          <p:cNvPr id="2922" name="Google Shape;2922;p17"/>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a:t>Overview – Cont.</a:t>
            </a:r>
            <a:endParaRPr/>
          </a:p>
        </p:txBody>
      </p:sp>
      <p:sp>
        <p:nvSpPr>
          <p:cNvPr id="2923" name="Google Shape;2923;p17"/>
          <p:cNvSpPr txBox="1">
            <a:spLocks noGrp="1"/>
          </p:cNvSpPr>
          <p:nvPr>
            <p:ph sz="quarter" idx="14"/>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More information about the support of VMware STIGs can be found here: </a:t>
            </a:r>
            <a:r>
              <a:rPr lang="en-US" u="sng" dirty="0">
                <a:solidFill>
                  <a:schemeClr val="hlink"/>
                </a:solidFill>
                <a:hlinkClick r:id="rId3"/>
              </a:rPr>
              <a:t>https://knowledge.broadcom.com/external/article?legacyId=94398</a:t>
            </a:r>
            <a:endParaRPr dirty="0"/>
          </a:p>
          <a:p>
            <a:pPr marL="0" lvl="0" indent="0" algn="l" rtl="0">
              <a:lnSpc>
                <a:spcPct val="100000"/>
              </a:lnSpc>
              <a:spcBef>
                <a:spcPts val="1200"/>
              </a:spcBef>
              <a:spcAft>
                <a:spcPts val="0"/>
              </a:spcAft>
              <a:buSzPts val="1800"/>
              <a:buNone/>
            </a:pPr>
            <a:r>
              <a:rPr lang="en-US" dirty="0"/>
              <a:t>NOTE: VMware Live Site Recovery does not have a STIG or SRG developed for it, nor will the Skyline Health Diagnostic produce a CVE Report. This product may need to be reviewed manually.</a:t>
            </a:r>
            <a:endParaRPr dirty="0"/>
          </a:p>
          <a:p>
            <a:pPr marL="0" lvl="0" indent="0" algn="l" rtl="0">
              <a:lnSpc>
                <a:spcPct val="100000"/>
              </a:lnSpc>
              <a:spcBef>
                <a:spcPts val="1200"/>
              </a:spcBef>
              <a:spcAft>
                <a:spcPts val="0"/>
              </a:spcAft>
              <a:buSzPts val="1800"/>
              <a:buNone/>
            </a:pPr>
            <a:r>
              <a:rPr lang="en-US" dirty="0"/>
              <a:t>References:</a:t>
            </a:r>
            <a:endParaRPr dirty="0"/>
          </a:p>
          <a:p>
            <a:pPr marL="457200" lvl="1" indent="0">
              <a:buSzPts val="1800"/>
              <a:buNone/>
            </a:pPr>
            <a:r>
              <a:rPr lang="en-US" u="sng" dirty="0">
                <a:solidFill>
                  <a:schemeClr val="hlink"/>
                </a:solidFill>
                <a:hlinkClick r:id="rId4"/>
              </a:rPr>
              <a:t>https://techdocs.broadcom.com/us/en/vmware-cis/vcf/vvs/1-0/site-protection-and-disaster-recovery-for-vmware-cloud-foundation/appendix-default-password-policy-settings-for-site-protection-and-disaster-recovery.html</a:t>
            </a:r>
            <a:endParaRPr dirty="0"/>
          </a:p>
          <a:p>
            <a:pPr marL="457200" lvl="1" indent="0">
              <a:buSzPts val="1800"/>
              <a:buNone/>
            </a:pPr>
            <a:r>
              <a:rPr lang="en-US" u="sng" dirty="0">
                <a:solidFill>
                  <a:schemeClr val="hlink"/>
                </a:solidFill>
                <a:hlinkClick r:id="rId5"/>
              </a:rPr>
              <a:t>https://techdocs.broadcom.com/us/en/vmware-cis/live-recovery/live-site-recovery/9-0/security/site-recovery-manager-security-reference/best-practices-for-securing-the-site-recovery-manager-server.html</a:t>
            </a:r>
            <a:endParaRPr dirty="0"/>
          </a:p>
          <a:p>
            <a:pPr marL="0" lvl="0" indent="0" algn="l" rtl="0">
              <a:lnSpc>
                <a:spcPct val="100000"/>
              </a:lnSpc>
              <a:spcBef>
                <a:spcPts val="1200"/>
              </a:spcBef>
              <a:spcAft>
                <a:spcPts val="0"/>
              </a:spcAft>
              <a:buSzPts val="1800"/>
              <a:buNone/>
            </a:pPr>
            <a:endParaRPr dirty="0"/>
          </a:p>
        </p:txBody>
      </p:sp>
      <p:sp>
        <p:nvSpPr>
          <p:cNvPr id="4" name="Rectangle 3">
            <a:extLst>
              <a:ext uri="{FF2B5EF4-FFF2-40B4-BE49-F238E27FC236}">
                <a16:creationId xmlns:a16="http://schemas.microsoft.com/office/drawing/2014/main" id="{A3BACC78-EF1D-C538-3D55-D4B855EB1120}"/>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as needed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28"/>
        <p:cNvGrpSpPr/>
        <p:nvPr/>
      </p:nvGrpSpPr>
      <p:grpSpPr>
        <a:xfrm>
          <a:off x="0" y="0"/>
          <a:ext cx="0" cy="0"/>
          <a:chOff x="0" y="0"/>
          <a:chExt cx="0" cy="0"/>
        </a:xfrm>
      </p:grpSpPr>
      <p:sp>
        <p:nvSpPr>
          <p:cNvPr id="2929" name="Google Shape;2929;p18"/>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Assessment Summary</a:t>
            </a:r>
            <a:endParaRPr/>
          </a:p>
        </p:txBody>
      </p:sp>
      <p:sp>
        <p:nvSpPr>
          <p:cNvPr id="2930" name="Google Shape;2930;p18"/>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Overview – Cont.</a:t>
            </a:r>
            <a:endParaRPr dirty="0"/>
          </a:p>
        </p:txBody>
      </p:sp>
      <p:sp>
        <p:nvSpPr>
          <p:cNvPr id="2931" name="Google Shape;2931;p18"/>
          <p:cNvSpPr txBox="1">
            <a:spLocks noGrp="1"/>
          </p:cNvSpPr>
          <p:nvPr>
            <p:ph sz="quarter" idx="14"/>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This is a living document and new content will be added or updated when it becomes available.</a:t>
            </a:r>
            <a:endParaRPr dirty="0"/>
          </a:p>
          <a:p>
            <a:pPr marL="0" lvl="0" indent="0" algn="l" rtl="0">
              <a:lnSpc>
                <a:spcPct val="100000"/>
              </a:lnSpc>
              <a:spcBef>
                <a:spcPts val="1200"/>
              </a:spcBef>
              <a:spcAft>
                <a:spcPts val="0"/>
              </a:spcAft>
              <a:buSzPts val="1800"/>
              <a:buNone/>
            </a:pPr>
            <a:endParaRPr dirty="0"/>
          </a:p>
          <a:p>
            <a:pPr marL="0" lvl="0" indent="0" algn="l" rtl="0">
              <a:lnSpc>
                <a:spcPct val="100000"/>
              </a:lnSpc>
              <a:spcBef>
                <a:spcPts val="1200"/>
              </a:spcBef>
              <a:spcAft>
                <a:spcPts val="0"/>
              </a:spcAft>
              <a:buSzPts val="1800"/>
              <a:buNone/>
            </a:pPr>
            <a:r>
              <a:rPr lang="en-US" dirty="0"/>
              <a:t>Additional Links</a:t>
            </a:r>
            <a:endParaRPr dirty="0"/>
          </a:p>
          <a:p>
            <a:pPr marL="0" lvl="0" indent="0" algn="l" rtl="0">
              <a:lnSpc>
                <a:spcPct val="100000"/>
              </a:lnSpc>
              <a:spcBef>
                <a:spcPts val="1200"/>
              </a:spcBef>
              <a:spcAft>
                <a:spcPts val="0"/>
              </a:spcAft>
              <a:buSzPts val="1800"/>
              <a:buNone/>
            </a:pPr>
            <a:r>
              <a:rPr lang="en-US" b="0" i="0" dirty="0">
                <a:solidFill>
                  <a:srgbClr val="272B30"/>
                </a:solidFill>
                <a:latin typeface="Arial"/>
                <a:ea typeface="Arial"/>
                <a:cs typeface="Arial"/>
                <a:sym typeface="Arial"/>
              </a:rPr>
              <a:t>VMware Security Advisories</a:t>
            </a:r>
            <a:br>
              <a:rPr lang="en-US" dirty="0"/>
            </a:br>
            <a:r>
              <a:rPr lang="en-US" u="sng" dirty="0">
                <a:solidFill>
                  <a:schemeClr val="hlink"/>
                </a:solidFill>
                <a:hlinkClick r:id="rId3"/>
              </a:rPr>
              <a:t>https://www.broadcom.com/support/vmware-security-advisories</a:t>
            </a:r>
            <a:endParaRPr dirty="0"/>
          </a:p>
          <a:p>
            <a:pPr marL="0" lvl="0" indent="0" algn="l" rtl="0">
              <a:lnSpc>
                <a:spcPct val="100000"/>
              </a:lnSpc>
              <a:spcBef>
                <a:spcPts val="1200"/>
              </a:spcBef>
              <a:spcAft>
                <a:spcPts val="0"/>
              </a:spcAft>
              <a:buSzPts val="1800"/>
              <a:buNone/>
            </a:pPr>
            <a:r>
              <a:rPr lang="en-US" b="0" i="0" dirty="0">
                <a:solidFill>
                  <a:srgbClr val="272B30"/>
                </a:solidFill>
                <a:latin typeface="Arial"/>
                <a:ea typeface="Arial"/>
                <a:cs typeface="Arial"/>
                <a:sym typeface="Arial"/>
              </a:rPr>
              <a:t>VMware External Vulnerability Response and Remediation Policy</a:t>
            </a:r>
            <a:br>
              <a:rPr lang="en-US" dirty="0"/>
            </a:br>
            <a:r>
              <a:rPr lang="en-US" u="sng" dirty="0">
                <a:solidFill>
                  <a:schemeClr val="hlink"/>
                </a:solidFill>
                <a:hlinkClick r:id="rId4"/>
              </a:rPr>
              <a:t>https://www.broadcom.com/support/vmware-services/security-response</a:t>
            </a:r>
            <a:endParaRPr dirty="0"/>
          </a:p>
          <a:p>
            <a:pPr marL="0" lvl="0" indent="0" algn="l" rtl="0">
              <a:lnSpc>
                <a:spcPct val="100000"/>
              </a:lnSpc>
              <a:spcBef>
                <a:spcPts val="1200"/>
              </a:spcBef>
              <a:spcAft>
                <a:spcPts val="0"/>
              </a:spcAft>
              <a:buSzPts val="1800"/>
              <a:buNone/>
            </a:pPr>
            <a:endParaRPr dirty="0"/>
          </a:p>
          <a:p>
            <a:pPr marL="0" lvl="0" indent="0" algn="l" rtl="0">
              <a:lnSpc>
                <a:spcPct val="100000"/>
              </a:lnSpc>
              <a:spcBef>
                <a:spcPts val="1200"/>
              </a:spcBef>
              <a:spcAft>
                <a:spcPts val="0"/>
              </a:spcAft>
              <a:buSzPts val="1800"/>
              <a:buNone/>
            </a:pPr>
            <a:endParaRPr dirty="0"/>
          </a:p>
          <a:p>
            <a:pPr marL="0" lvl="0" indent="0" algn="l" rtl="0">
              <a:lnSpc>
                <a:spcPct val="100000"/>
              </a:lnSpc>
              <a:spcBef>
                <a:spcPts val="1200"/>
              </a:spcBef>
              <a:spcAft>
                <a:spcPts val="0"/>
              </a:spcAft>
              <a:buSzPts val="1800"/>
              <a:buNone/>
            </a:pPr>
            <a:endParaRPr dirty="0"/>
          </a:p>
          <a:p>
            <a:pPr marL="0" lvl="0" indent="0" algn="l" rtl="0">
              <a:lnSpc>
                <a:spcPct val="100000"/>
              </a:lnSpc>
              <a:spcBef>
                <a:spcPts val="1200"/>
              </a:spcBef>
              <a:spcAft>
                <a:spcPts val="0"/>
              </a:spcAft>
              <a:buSzPts val="1800"/>
              <a:buNone/>
            </a:pPr>
            <a:endParaRPr dirty="0"/>
          </a:p>
          <a:p>
            <a:pPr marL="0" lvl="0" indent="0" algn="l" rtl="0">
              <a:lnSpc>
                <a:spcPct val="100000"/>
              </a:lnSpc>
              <a:spcBef>
                <a:spcPts val="1200"/>
              </a:spcBef>
              <a:spcAft>
                <a:spcPts val="0"/>
              </a:spcAft>
              <a:buSzPts val="1800"/>
              <a:buNone/>
            </a:pPr>
            <a:endParaRPr dirty="0"/>
          </a:p>
          <a:p>
            <a:pPr marL="0" lvl="0" indent="0" algn="l" rtl="0">
              <a:lnSpc>
                <a:spcPct val="100000"/>
              </a:lnSpc>
              <a:spcBef>
                <a:spcPts val="1200"/>
              </a:spcBef>
              <a:spcAft>
                <a:spcPts val="0"/>
              </a:spcAft>
              <a:buSzPts val="1800"/>
              <a:buNone/>
            </a:pPr>
            <a:endParaRPr dirty="0"/>
          </a:p>
        </p:txBody>
      </p:sp>
      <p:sp>
        <p:nvSpPr>
          <p:cNvPr id="3" name="Rectangle 2">
            <a:extLst>
              <a:ext uri="{FF2B5EF4-FFF2-40B4-BE49-F238E27FC236}">
                <a16:creationId xmlns:a16="http://schemas.microsoft.com/office/drawing/2014/main" id="{E2AC1FC7-63FF-1452-9EAB-04263DFDD8A0}"/>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as needed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FC5BB-7D1B-6563-EC47-D5081D7E11A8}"/>
              </a:ext>
            </a:extLst>
          </p:cNvPr>
          <p:cNvSpPr>
            <a:spLocks noGrp="1"/>
          </p:cNvSpPr>
          <p:nvPr>
            <p:ph type="title"/>
          </p:nvPr>
        </p:nvSpPr>
        <p:spPr/>
        <p:txBody>
          <a:bodyPr/>
          <a:lstStyle/>
          <a:p>
            <a:r>
              <a:rPr lang="en-US" dirty="0"/>
              <a:t>VCF 9.x Security Configuration Assessment Overview</a:t>
            </a:r>
          </a:p>
        </p:txBody>
      </p:sp>
      <p:sp>
        <p:nvSpPr>
          <p:cNvPr id="3" name="Subtitle 2">
            <a:extLst>
              <a:ext uri="{FF2B5EF4-FFF2-40B4-BE49-F238E27FC236}">
                <a16:creationId xmlns:a16="http://schemas.microsoft.com/office/drawing/2014/main" id="{0B7B2EA1-9225-EDF0-FAEC-14B00D1BB28E}"/>
              </a:ext>
            </a:extLst>
          </p:cNvPr>
          <p:cNvSpPr>
            <a:spLocks noGrp="1"/>
          </p:cNvSpPr>
          <p:nvPr>
            <p:ph type="subTitle" idx="10"/>
          </p:nvPr>
        </p:nvSpPr>
        <p:spPr/>
        <p:txBody>
          <a:bodyPr/>
          <a:lstStyle/>
          <a:p>
            <a:r>
              <a:rPr lang="en-US" dirty="0"/>
              <a:t>Service Overview</a:t>
            </a:r>
          </a:p>
        </p:txBody>
      </p:sp>
      <p:sp>
        <p:nvSpPr>
          <p:cNvPr id="5" name="Rectangle 4">
            <a:extLst>
              <a:ext uri="{FF2B5EF4-FFF2-40B4-BE49-F238E27FC236}">
                <a16:creationId xmlns:a16="http://schemas.microsoft.com/office/drawing/2014/main" id="{A617B561-119C-E173-F623-53D2477109A1}"/>
              </a:ext>
            </a:extLst>
          </p:cNvPr>
          <p:cNvSpPr/>
          <p:nvPr/>
        </p:nvSpPr>
        <p:spPr>
          <a:xfrm>
            <a:off x="5643304" y="3907079"/>
            <a:ext cx="6334818" cy="2468282"/>
          </a:xfrm>
          <a:prstGeom prst="rect">
            <a:avLst/>
          </a:prstGeom>
          <a:solidFill>
            <a:srgbClr val="F2F2F2">
              <a:alpha val="85098"/>
            </a:srgbClr>
          </a:solidFill>
          <a:ln w="9525"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Metropolis"/>
              <a:ea typeface="+mn-ea"/>
              <a:cs typeface="+mn-cs"/>
            </a:endParaRPr>
          </a:p>
        </p:txBody>
      </p:sp>
      <p:sp>
        <p:nvSpPr>
          <p:cNvPr id="6" name="Rectangle 5">
            <a:extLst>
              <a:ext uri="{FF2B5EF4-FFF2-40B4-BE49-F238E27FC236}">
                <a16:creationId xmlns:a16="http://schemas.microsoft.com/office/drawing/2014/main" id="{7C9E01FF-EBD1-7F68-ECED-236BB7BE9009}"/>
              </a:ext>
            </a:extLst>
          </p:cNvPr>
          <p:cNvSpPr/>
          <p:nvPr/>
        </p:nvSpPr>
        <p:spPr>
          <a:xfrm>
            <a:off x="5648842" y="1417876"/>
            <a:ext cx="6329279" cy="2239776"/>
          </a:xfrm>
          <a:prstGeom prst="rect">
            <a:avLst/>
          </a:prstGeom>
          <a:solidFill>
            <a:srgbClr val="F2F2F2">
              <a:alpha val="85098"/>
            </a:srgbClr>
          </a:solidFill>
          <a:ln w="9525"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Metropolis"/>
              <a:ea typeface="+mn-ea"/>
              <a:cs typeface="+mn-cs"/>
            </a:endParaRPr>
          </a:p>
        </p:txBody>
      </p:sp>
      <p:sp>
        <p:nvSpPr>
          <p:cNvPr id="7" name="Rectangle 6">
            <a:extLst>
              <a:ext uri="{FF2B5EF4-FFF2-40B4-BE49-F238E27FC236}">
                <a16:creationId xmlns:a16="http://schemas.microsoft.com/office/drawing/2014/main" id="{FF29445D-6FAF-BE05-6792-5903304FBADE}"/>
              </a:ext>
            </a:extLst>
          </p:cNvPr>
          <p:cNvSpPr/>
          <p:nvPr/>
        </p:nvSpPr>
        <p:spPr>
          <a:xfrm>
            <a:off x="141894" y="1181368"/>
            <a:ext cx="5484133" cy="236508"/>
          </a:xfrm>
          <a:prstGeom prst="rect">
            <a:avLst/>
          </a:prstGeom>
          <a:solidFill>
            <a:srgbClr val="7F35B2">
              <a:lumMod val="75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Metropolis"/>
                <a:ea typeface="+mn-ea"/>
                <a:cs typeface="+mn-cs"/>
              </a:rPr>
              <a:t>Scope</a:t>
            </a:r>
            <a:endParaRPr kumimoji="0" sz="1800" b="1" i="0" u="none" strike="noStrike" kern="0" cap="none" spc="0" normalizeH="0" baseline="0" noProof="0">
              <a:ln>
                <a:noFill/>
              </a:ln>
              <a:solidFill>
                <a:srgbClr val="FFFFFF"/>
              </a:solidFill>
              <a:effectLst/>
              <a:uLnTx/>
              <a:uFillTx/>
              <a:latin typeface="Metropolis"/>
              <a:ea typeface="+mn-ea"/>
              <a:cs typeface="+mn-cs"/>
            </a:endParaRPr>
          </a:p>
        </p:txBody>
      </p:sp>
      <p:sp>
        <p:nvSpPr>
          <p:cNvPr id="8" name="TextBox 7">
            <a:extLst>
              <a:ext uri="{FF2B5EF4-FFF2-40B4-BE49-F238E27FC236}">
                <a16:creationId xmlns:a16="http://schemas.microsoft.com/office/drawing/2014/main" id="{13D0F41B-BA15-6A04-52E7-BBE294F134AF}"/>
              </a:ext>
            </a:extLst>
          </p:cNvPr>
          <p:cNvSpPr txBox="1"/>
          <p:nvPr/>
        </p:nvSpPr>
        <p:spPr>
          <a:xfrm>
            <a:off x="5564864" y="3702459"/>
            <a:ext cx="3163841" cy="2243431"/>
          </a:xfrm>
          <a:prstGeom prst="rect">
            <a:avLst/>
          </a:prstGeom>
        </p:spPr>
        <p:txBody>
          <a:bodyPr vert="horz" lIns="0" tIns="0" rIns="0" bIns="0" rtlCol="0">
            <a:normAutofit/>
          </a:bodyPr>
          <a:lstStyle>
            <a:defPPr>
              <a:defRPr lang="en-US"/>
            </a:defPPr>
            <a:lvl1pPr indent="0">
              <a:lnSpc>
                <a:spcPct val="90000"/>
              </a:lnSpc>
              <a:spcBef>
                <a:spcPts val="1200"/>
              </a:spcBef>
              <a:buClr>
                <a:schemeClr val="tx1">
                  <a:lumMod val="60000"/>
                  <a:lumOff val="40000"/>
                </a:schemeClr>
              </a:buClr>
              <a:buSzPct val="90000"/>
              <a:buFont typeface="Arial" panose="020B0604020202020204" pitchFamily="34" charset="0"/>
              <a:buNone/>
              <a:defRPr sz="1100"/>
            </a:lvl1pPr>
            <a:lvl2pPr marL="502920" indent="-228600">
              <a:lnSpc>
                <a:spcPct val="90000"/>
              </a:lnSpc>
              <a:spcBef>
                <a:spcPts val="800"/>
              </a:spcBef>
              <a:buClr>
                <a:schemeClr val="tx1">
                  <a:lumMod val="60000"/>
                  <a:lumOff val="40000"/>
                </a:schemeClr>
              </a:buClr>
              <a:buSzPct val="90000"/>
              <a:buFont typeface="Arial" panose="020B0604020202020204" pitchFamily="34" charset="0"/>
              <a:buChar char="–"/>
            </a:lvl2pPr>
            <a:lvl3pPr marL="731520" indent="-182880">
              <a:lnSpc>
                <a:spcPct val="90000"/>
              </a:lnSpc>
              <a:spcBef>
                <a:spcPts val="600"/>
              </a:spcBef>
              <a:buClr>
                <a:schemeClr val="tx1">
                  <a:lumMod val="60000"/>
                  <a:lumOff val="40000"/>
                </a:schemeClr>
              </a:buClr>
              <a:buSzPct val="90000"/>
              <a:buFont typeface="Arial" panose="020B0604020202020204" pitchFamily="34" charset="0"/>
              <a:buChar char="•"/>
              <a:defRPr sz="1600"/>
            </a:lvl3pPr>
            <a:lvl4pPr marL="960120" indent="-182880">
              <a:lnSpc>
                <a:spcPct val="90000"/>
              </a:lnSpc>
              <a:spcBef>
                <a:spcPts val="600"/>
              </a:spcBef>
              <a:buClr>
                <a:schemeClr val="tx1">
                  <a:lumMod val="60000"/>
                  <a:lumOff val="40000"/>
                </a:schemeClr>
              </a:buClr>
              <a:buSzPct val="90000"/>
              <a:buFont typeface="Arial" panose="020B0604020202020204" pitchFamily="34" charset="0"/>
              <a:buChar char="–"/>
              <a:defRPr sz="1400"/>
            </a:lvl4pPr>
            <a:lvl5pPr marL="1188720" indent="-182880">
              <a:lnSpc>
                <a:spcPct val="90000"/>
              </a:lnSpc>
              <a:spcBef>
                <a:spcPts val="600"/>
              </a:spcBef>
              <a:buClr>
                <a:schemeClr val="tx1">
                  <a:lumMod val="60000"/>
                  <a:lumOff val="40000"/>
                </a:schemeClr>
              </a:buClr>
              <a:buSzPct val="90000"/>
              <a:buFont typeface="Arial" panose="020B0604020202020204" pitchFamily="34" charset="0"/>
              <a:buChar char="•"/>
              <a:defRPr sz="1400"/>
            </a:lvl5pPr>
            <a:lvl6pPr marL="1417320" indent="-182880">
              <a:lnSpc>
                <a:spcPct val="90000"/>
              </a:lnSpc>
              <a:spcBef>
                <a:spcPts val="600"/>
              </a:spcBef>
              <a:buClr>
                <a:schemeClr val="tx1">
                  <a:lumMod val="60000"/>
                  <a:lumOff val="40000"/>
                </a:schemeClr>
              </a:buClr>
              <a:buSzPct val="90000"/>
              <a:buFont typeface="Calibri" panose="020F0502020204030204" pitchFamily="34" charset="0"/>
              <a:buChar char="–"/>
              <a:defRPr sz="1400"/>
            </a:lvl6pPr>
            <a:lvl7pPr marL="1645920" indent="-182880">
              <a:lnSpc>
                <a:spcPct val="90000"/>
              </a:lnSpc>
              <a:spcBef>
                <a:spcPts val="600"/>
              </a:spcBef>
              <a:buClr>
                <a:schemeClr val="tx1">
                  <a:lumMod val="60000"/>
                  <a:lumOff val="40000"/>
                </a:schemeClr>
              </a:buClr>
              <a:buSzPct val="90000"/>
              <a:buFont typeface="Arial" panose="020B0604020202020204" pitchFamily="34" charset="0"/>
              <a:buChar char="•"/>
              <a:defRPr sz="1400"/>
            </a:lvl7pPr>
            <a:lvl8pPr marL="1874520" indent="-182880">
              <a:lnSpc>
                <a:spcPct val="90000"/>
              </a:lnSpc>
              <a:spcBef>
                <a:spcPts val="600"/>
              </a:spcBef>
              <a:buClr>
                <a:schemeClr val="tx1">
                  <a:lumMod val="60000"/>
                  <a:lumOff val="40000"/>
                </a:schemeClr>
              </a:buClr>
              <a:buSzPct val="90000"/>
              <a:buFont typeface="Calibri" panose="020F0502020204030204" pitchFamily="34" charset="0"/>
              <a:buChar char="–"/>
              <a:defRPr sz="1400"/>
            </a:lvl8pPr>
            <a:lvl9pPr marL="2103120" indent="-182880">
              <a:lnSpc>
                <a:spcPct val="90000"/>
              </a:lnSpc>
              <a:spcBef>
                <a:spcPts val="600"/>
              </a:spcBef>
              <a:buClr>
                <a:schemeClr val="tx1">
                  <a:lumMod val="60000"/>
                  <a:lumOff val="40000"/>
                </a:schemeClr>
              </a:buClr>
              <a:buSzPct val="90000"/>
              <a:buFont typeface="Arial" panose="020B0604020202020204" pitchFamily="34" charset="0"/>
              <a:buChar char="•"/>
              <a:defRPr sz="1400"/>
            </a:lvl9pPr>
          </a:lstStyle>
          <a:p>
            <a:pPr marL="0" marR="0" lvl="0" indent="0" defTabSz="914400" eaLnBrk="1" fontAlgn="auto" latinLnBrk="0" hangingPunct="1">
              <a:lnSpc>
                <a:spcPct val="90000"/>
              </a:lnSpc>
              <a:spcBef>
                <a:spcPts val="1200"/>
              </a:spcBef>
              <a:spcAft>
                <a:spcPts val="0"/>
              </a:spcAft>
              <a:buClr>
                <a:srgbClr val="717074">
                  <a:lumMod val="60000"/>
                  <a:lumOff val="40000"/>
                </a:srgbClr>
              </a:buClr>
              <a:buSzPct val="90000"/>
              <a:buFont typeface="Arial" panose="020B0604020202020204" pitchFamily="34" charset="0"/>
              <a:buNone/>
              <a:tabLst/>
              <a:defRPr/>
            </a:pPr>
            <a:endParaRPr kumimoji="0" lang="en-US" sz="1100" b="0" i="0" u="none" strike="noStrike" kern="0" cap="none" spc="0" normalizeH="0" baseline="0" noProof="0">
              <a:ln>
                <a:noFill/>
              </a:ln>
              <a:solidFill>
                <a:srgbClr val="717074"/>
              </a:solidFill>
              <a:effectLst/>
              <a:uLnTx/>
              <a:uFillTx/>
            </a:endParaRPr>
          </a:p>
        </p:txBody>
      </p:sp>
      <p:sp>
        <p:nvSpPr>
          <p:cNvPr id="9" name="Rectangle 8">
            <a:extLst>
              <a:ext uri="{FF2B5EF4-FFF2-40B4-BE49-F238E27FC236}">
                <a16:creationId xmlns:a16="http://schemas.microsoft.com/office/drawing/2014/main" id="{68AEC7E9-C114-667C-E449-16E1735E211A}"/>
              </a:ext>
            </a:extLst>
          </p:cNvPr>
          <p:cNvSpPr/>
          <p:nvPr/>
        </p:nvSpPr>
        <p:spPr>
          <a:xfrm>
            <a:off x="5643303" y="3657652"/>
            <a:ext cx="6355815" cy="236508"/>
          </a:xfrm>
          <a:prstGeom prst="rect">
            <a:avLst/>
          </a:prstGeom>
          <a:solidFill>
            <a:srgbClr val="717074"/>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Metropolis"/>
                <a:ea typeface="+mn-ea"/>
                <a:cs typeface="+mn-cs"/>
              </a:rPr>
              <a:t>Assessment Methodology</a:t>
            </a:r>
            <a:endParaRPr kumimoji="0" sz="1800" b="1" i="0" u="none" strike="noStrike" kern="0" cap="none" spc="0" normalizeH="0" baseline="0" noProof="0" dirty="0">
              <a:ln>
                <a:noFill/>
              </a:ln>
              <a:solidFill>
                <a:srgbClr val="FFFFFF"/>
              </a:solidFill>
              <a:effectLst/>
              <a:uLnTx/>
              <a:uFillTx/>
              <a:latin typeface="Metropolis"/>
              <a:ea typeface="+mn-ea"/>
              <a:cs typeface="+mn-cs"/>
            </a:endParaRPr>
          </a:p>
        </p:txBody>
      </p:sp>
      <p:sp>
        <p:nvSpPr>
          <p:cNvPr id="10" name="Rectangle 9">
            <a:extLst>
              <a:ext uri="{FF2B5EF4-FFF2-40B4-BE49-F238E27FC236}">
                <a16:creationId xmlns:a16="http://schemas.microsoft.com/office/drawing/2014/main" id="{6AA31AA6-97CD-F1F9-601F-E64C5892D37A}"/>
              </a:ext>
            </a:extLst>
          </p:cNvPr>
          <p:cNvSpPr/>
          <p:nvPr/>
        </p:nvSpPr>
        <p:spPr>
          <a:xfrm>
            <a:off x="5643304" y="1181368"/>
            <a:ext cx="6355814" cy="236508"/>
          </a:xfrm>
          <a:prstGeom prst="rect">
            <a:avLst/>
          </a:prstGeom>
          <a:solidFill>
            <a:srgbClr val="717074"/>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Metropolis"/>
                <a:ea typeface="+mn-ea"/>
                <a:cs typeface="+mn-cs"/>
              </a:rPr>
              <a:t>Scoring Methodology</a:t>
            </a:r>
            <a:endParaRPr kumimoji="0" sz="1800" b="1" i="0" u="none" strike="noStrike" kern="0" cap="none" spc="0" normalizeH="0" baseline="0" noProof="0">
              <a:ln>
                <a:noFill/>
              </a:ln>
              <a:solidFill>
                <a:srgbClr val="FFFFFF"/>
              </a:solidFill>
              <a:effectLst/>
              <a:uLnTx/>
              <a:uFillTx/>
              <a:latin typeface="Metropolis"/>
              <a:ea typeface="+mn-ea"/>
              <a:cs typeface="+mn-cs"/>
            </a:endParaRPr>
          </a:p>
        </p:txBody>
      </p:sp>
      <p:grpSp>
        <p:nvGrpSpPr>
          <p:cNvPr id="11" name="Group 10">
            <a:extLst>
              <a:ext uri="{FF2B5EF4-FFF2-40B4-BE49-F238E27FC236}">
                <a16:creationId xmlns:a16="http://schemas.microsoft.com/office/drawing/2014/main" id="{EF5CFE67-CBE2-338E-C808-EDE06582DC57}"/>
              </a:ext>
            </a:extLst>
          </p:cNvPr>
          <p:cNvGrpSpPr/>
          <p:nvPr/>
        </p:nvGrpSpPr>
        <p:grpSpPr>
          <a:xfrm>
            <a:off x="701218" y="1758342"/>
            <a:ext cx="922360" cy="1044756"/>
            <a:chOff x="183140" y="1734332"/>
            <a:chExt cx="2064677" cy="2283641"/>
          </a:xfrm>
        </p:grpSpPr>
        <p:sp>
          <p:nvSpPr>
            <p:cNvPr id="12" name="Oval 11">
              <a:extLst>
                <a:ext uri="{FF2B5EF4-FFF2-40B4-BE49-F238E27FC236}">
                  <a16:creationId xmlns:a16="http://schemas.microsoft.com/office/drawing/2014/main" id="{06562760-A2F2-264D-8A2C-44E1AC41D0B1}"/>
                </a:ext>
              </a:extLst>
            </p:cNvPr>
            <p:cNvSpPr/>
            <p:nvPr/>
          </p:nvSpPr>
          <p:spPr>
            <a:xfrm>
              <a:off x="300999" y="1734332"/>
              <a:ext cx="1828959" cy="1828959"/>
            </a:xfrm>
            <a:prstGeom prst="ellipse">
              <a:avLst/>
            </a:prstGeom>
            <a:solidFill>
              <a:srgbClr val="78BE20"/>
            </a:solidFill>
            <a:ln w="25400" cap="flat" cmpd="sng" algn="ctr">
              <a:solidFill>
                <a:srgbClr val="78BE20">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latin typeface="Metropolis"/>
                <a:ea typeface="+mn-ea"/>
                <a:cs typeface="+mn-cs"/>
              </a:endParaRPr>
            </a:p>
          </p:txBody>
        </p:sp>
        <p:pic>
          <p:nvPicPr>
            <p:cNvPr id="13" name="Graphic 12">
              <a:extLst>
                <a:ext uri="{FF2B5EF4-FFF2-40B4-BE49-F238E27FC236}">
                  <a16:creationId xmlns:a16="http://schemas.microsoft.com/office/drawing/2014/main" id="{E8A3E1C8-BDCE-E7BA-ED4E-DE71B74FBC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9487" y="2137705"/>
              <a:ext cx="971983" cy="971983"/>
            </a:xfrm>
            <a:prstGeom prst="rect">
              <a:avLst/>
            </a:prstGeom>
          </p:spPr>
        </p:pic>
        <p:sp>
          <p:nvSpPr>
            <p:cNvPr id="14" name="Text Placeholder 37">
              <a:extLst>
                <a:ext uri="{FF2B5EF4-FFF2-40B4-BE49-F238E27FC236}">
                  <a16:creationId xmlns:a16="http://schemas.microsoft.com/office/drawing/2014/main" id="{FF41892F-C7FC-64D1-5CC0-96009D563E99}"/>
                </a:ext>
              </a:extLst>
            </p:cNvPr>
            <p:cNvSpPr txBox="1">
              <a:spLocks/>
            </p:cNvSpPr>
            <p:nvPr/>
          </p:nvSpPr>
          <p:spPr>
            <a:xfrm>
              <a:off x="183140" y="3644951"/>
              <a:ext cx="2064677" cy="373022"/>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kumimoji="0" lang="en-GB" sz="1100" b="0" i="0" u="none" strike="noStrike" kern="1200" cap="none" spc="0" normalizeH="0" baseline="0" noProof="0" dirty="0">
                  <a:ln>
                    <a:noFill/>
                  </a:ln>
                  <a:solidFill>
                    <a:srgbClr val="3F3F3F"/>
                  </a:solidFill>
                  <a:effectLst/>
                  <a:uLnTx/>
                  <a:uFillTx/>
                  <a:latin typeface="Metropolis"/>
                  <a:ea typeface="+mn-ea"/>
                  <a:cs typeface="+mn-cs"/>
                </a:rPr>
                <a:t>vCenter Server</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grpSp>
      <p:grpSp>
        <p:nvGrpSpPr>
          <p:cNvPr id="15" name="Group 14">
            <a:extLst>
              <a:ext uri="{FF2B5EF4-FFF2-40B4-BE49-F238E27FC236}">
                <a16:creationId xmlns:a16="http://schemas.microsoft.com/office/drawing/2014/main" id="{E603EF57-D2BF-EF4A-362C-D6C0054B11EB}"/>
              </a:ext>
            </a:extLst>
          </p:cNvPr>
          <p:cNvGrpSpPr/>
          <p:nvPr/>
        </p:nvGrpSpPr>
        <p:grpSpPr>
          <a:xfrm>
            <a:off x="2339067" y="1758342"/>
            <a:ext cx="817058" cy="1017895"/>
            <a:chOff x="2676305" y="1734332"/>
            <a:chExt cx="1828959" cy="2224928"/>
          </a:xfrm>
        </p:grpSpPr>
        <p:sp>
          <p:nvSpPr>
            <p:cNvPr id="16" name="Oval 15">
              <a:extLst>
                <a:ext uri="{FF2B5EF4-FFF2-40B4-BE49-F238E27FC236}">
                  <a16:creationId xmlns:a16="http://schemas.microsoft.com/office/drawing/2014/main" id="{19C75B86-2D20-D5B2-CDCE-435FF252C19B}"/>
                </a:ext>
              </a:extLst>
            </p:cNvPr>
            <p:cNvSpPr/>
            <p:nvPr/>
          </p:nvSpPr>
          <p:spPr>
            <a:xfrm>
              <a:off x="2676305" y="1734332"/>
              <a:ext cx="1828959" cy="1828959"/>
            </a:xfrm>
            <a:prstGeom prst="ellipse">
              <a:avLst/>
            </a:prstGeom>
            <a:solidFill>
              <a:srgbClr val="7F35B2"/>
            </a:solidFill>
            <a:ln w="25400" cap="flat" cmpd="sng" algn="ctr">
              <a:solidFill>
                <a:srgbClr val="7F35B2">
                  <a:shade val="50000"/>
                </a:srgbClr>
              </a:solidFill>
              <a:prstDash val="solid"/>
            </a:ln>
            <a:effectLst/>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latin typeface="Metropolis"/>
                <a:ea typeface="+mn-ea"/>
                <a:cs typeface="+mn-cs"/>
              </a:endParaRPr>
            </a:p>
          </p:txBody>
        </p:sp>
        <p:sp>
          <p:nvSpPr>
            <p:cNvPr id="17" name="Text Placeholder 9">
              <a:extLst>
                <a:ext uri="{FF2B5EF4-FFF2-40B4-BE49-F238E27FC236}">
                  <a16:creationId xmlns:a16="http://schemas.microsoft.com/office/drawing/2014/main" id="{BFA117BD-DDF6-3C5A-D320-B87527F19EA4}"/>
                </a:ext>
              </a:extLst>
            </p:cNvPr>
            <p:cNvSpPr txBox="1">
              <a:spLocks/>
            </p:cNvSpPr>
            <p:nvPr/>
          </p:nvSpPr>
          <p:spPr>
            <a:xfrm>
              <a:off x="2873796" y="3667688"/>
              <a:ext cx="1544500" cy="291572"/>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kumimoji="0" lang="en-GB" sz="1100" b="0" i="0" u="none" strike="noStrike" kern="1200" cap="none" spc="0" normalizeH="0" baseline="0" noProof="0" dirty="0">
                  <a:ln>
                    <a:noFill/>
                  </a:ln>
                  <a:solidFill>
                    <a:srgbClr val="3F3F3F"/>
                  </a:solidFill>
                  <a:effectLst/>
                  <a:uLnTx/>
                  <a:uFillTx/>
                  <a:latin typeface="Metropolis"/>
                  <a:ea typeface="+mn-ea"/>
                  <a:cs typeface="+mn-cs"/>
                </a:rPr>
                <a:t>ESX Hosts</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pic>
          <p:nvPicPr>
            <p:cNvPr id="18" name="Graphic 17">
              <a:extLst>
                <a:ext uri="{FF2B5EF4-FFF2-40B4-BE49-F238E27FC236}">
                  <a16:creationId xmlns:a16="http://schemas.microsoft.com/office/drawing/2014/main" id="{1E01378B-334E-6B1A-E622-C7F75ED45C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35534" y="2482721"/>
              <a:ext cx="1310501" cy="348762"/>
            </a:xfrm>
            <a:prstGeom prst="rect">
              <a:avLst/>
            </a:prstGeom>
          </p:spPr>
        </p:pic>
      </p:grpSp>
      <p:grpSp>
        <p:nvGrpSpPr>
          <p:cNvPr id="19" name="Group 18">
            <a:extLst>
              <a:ext uri="{FF2B5EF4-FFF2-40B4-BE49-F238E27FC236}">
                <a16:creationId xmlns:a16="http://schemas.microsoft.com/office/drawing/2014/main" id="{CB4C5B32-E3EA-469F-0A9F-9BCF5222E2C4}"/>
              </a:ext>
            </a:extLst>
          </p:cNvPr>
          <p:cNvGrpSpPr/>
          <p:nvPr/>
        </p:nvGrpSpPr>
        <p:grpSpPr>
          <a:xfrm>
            <a:off x="3951834" y="1758342"/>
            <a:ext cx="977539" cy="1063177"/>
            <a:chOff x="4951732" y="1746683"/>
            <a:chExt cx="2188194" cy="2323907"/>
          </a:xfrm>
        </p:grpSpPr>
        <p:sp>
          <p:nvSpPr>
            <p:cNvPr id="20" name="Oval 19">
              <a:extLst>
                <a:ext uri="{FF2B5EF4-FFF2-40B4-BE49-F238E27FC236}">
                  <a16:creationId xmlns:a16="http://schemas.microsoft.com/office/drawing/2014/main" id="{9B485F07-7E4C-B379-ABB2-79BA22403A19}"/>
                </a:ext>
              </a:extLst>
            </p:cNvPr>
            <p:cNvSpPr/>
            <p:nvPr/>
          </p:nvSpPr>
          <p:spPr>
            <a:xfrm>
              <a:off x="5077974" y="1746683"/>
              <a:ext cx="1828959" cy="1828959"/>
            </a:xfrm>
            <a:prstGeom prst="ellipse">
              <a:avLst/>
            </a:prstGeom>
            <a:solidFill>
              <a:srgbClr val="459B36"/>
            </a:solidFill>
            <a:ln w="25400" cap="flat" cmpd="sng" algn="ctr">
              <a:solidFill>
                <a:srgbClr val="459B36">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latin typeface="Metropolis"/>
                <a:ea typeface="+mn-ea"/>
                <a:cs typeface="+mn-cs"/>
              </a:endParaRPr>
            </a:p>
          </p:txBody>
        </p:sp>
        <p:sp>
          <p:nvSpPr>
            <p:cNvPr id="21" name="Text Placeholder 35">
              <a:extLst>
                <a:ext uri="{FF2B5EF4-FFF2-40B4-BE49-F238E27FC236}">
                  <a16:creationId xmlns:a16="http://schemas.microsoft.com/office/drawing/2014/main" id="{AD751C2B-8ECD-E4E3-E8D9-D5FD1AD105D0}"/>
                </a:ext>
              </a:extLst>
            </p:cNvPr>
            <p:cNvSpPr txBox="1">
              <a:spLocks/>
            </p:cNvSpPr>
            <p:nvPr/>
          </p:nvSpPr>
          <p:spPr>
            <a:xfrm>
              <a:off x="4951732" y="3717752"/>
              <a:ext cx="2188194" cy="352838"/>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kumimoji="0" lang="en-GB" sz="1100" b="0" i="0" u="none" strike="noStrike" kern="1200" cap="none" spc="0" normalizeH="0" baseline="0" noProof="0" dirty="0">
                  <a:ln>
                    <a:noFill/>
                  </a:ln>
                  <a:solidFill>
                    <a:srgbClr val="3F3F3F"/>
                  </a:solidFill>
                  <a:effectLst/>
                  <a:uLnTx/>
                  <a:uFillTx/>
                  <a:latin typeface="Metropolis"/>
                  <a:ea typeface="+mn-ea"/>
                  <a:cs typeface="+mn-cs"/>
                </a:rPr>
                <a:t>SDDC Manager</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grpSp>
      <p:grpSp>
        <p:nvGrpSpPr>
          <p:cNvPr id="22" name="Group 21">
            <a:extLst>
              <a:ext uri="{FF2B5EF4-FFF2-40B4-BE49-F238E27FC236}">
                <a16:creationId xmlns:a16="http://schemas.microsoft.com/office/drawing/2014/main" id="{846358F8-61E2-01DB-7178-7C0FAE5E80B8}"/>
              </a:ext>
            </a:extLst>
          </p:cNvPr>
          <p:cNvGrpSpPr/>
          <p:nvPr/>
        </p:nvGrpSpPr>
        <p:grpSpPr>
          <a:xfrm>
            <a:off x="6154097" y="1621035"/>
            <a:ext cx="2220674" cy="769630"/>
            <a:chOff x="2104499" y="2155043"/>
            <a:chExt cx="1837990" cy="1764471"/>
          </a:xfrm>
        </p:grpSpPr>
        <p:sp>
          <p:nvSpPr>
            <p:cNvPr id="23" name="Rectangle 22">
              <a:extLst>
                <a:ext uri="{FF2B5EF4-FFF2-40B4-BE49-F238E27FC236}">
                  <a16:creationId xmlns:a16="http://schemas.microsoft.com/office/drawing/2014/main" id="{0890EAA7-620A-47B1-D213-5B8645ED8364}"/>
                </a:ext>
              </a:extLst>
            </p:cNvPr>
            <p:cNvSpPr/>
            <p:nvPr/>
          </p:nvSpPr>
          <p:spPr>
            <a:xfrm>
              <a:off x="2104499" y="2715630"/>
              <a:ext cx="1837990" cy="1203884"/>
            </a:xfrm>
            <a:prstGeom prst="rect">
              <a:avLst/>
            </a:prstGeom>
            <a:gradFill rotWithShape="1">
              <a:gsLst>
                <a:gs pos="0">
                  <a:srgbClr val="717074">
                    <a:tint val="50000"/>
                    <a:satMod val="300000"/>
                  </a:srgbClr>
                </a:gs>
                <a:gs pos="35000">
                  <a:srgbClr val="717074">
                    <a:tint val="37000"/>
                    <a:satMod val="300000"/>
                  </a:srgbClr>
                </a:gs>
                <a:gs pos="100000">
                  <a:srgbClr val="717074">
                    <a:tint val="15000"/>
                    <a:satMod val="350000"/>
                  </a:srgbClr>
                </a:gs>
              </a:gsLst>
              <a:lin ang="16200000" scaled="1"/>
            </a:gradFill>
            <a:ln w="9525" cap="flat" cmpd="sng" algn="ctr">
              <a:solidFill>
                <a:srgbClr val="717074">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3F3F3F"/>
                  </a:solidFill>
                  <a:effectLst/>
                  <a:uLnTx/>
                  <a:uFillTx/>
                  <a:latin typeface="Metropolis"/>
                  <a:ea typeface="+mn-ea"/>
                  <a:cs typeface="+mn-cs"/>
                </a:rPr>
                <a:t>Configurations that MEET the “recommended value” requirements</a:t>
              </a:r>
            </a:p>
          </p:txBody>
        </p:sp>
        <p:sp>
          <p:nvSpPr>
            <p:cNvPr id="24" name="Rectangle 23">
              <a:extLst>
                <a:ext uri="{FF2B5EF4-FFF2-40B4-BE49-F238E27FC236}">
                  <a16:creationId xmlns:a16="http://schemas.microsoft.com/office/drawing/2014/main" id="{68559B90-32BC-01D7-86AB-270D4A0B2CA2}"/>
                </a:ext>
              </a:extLst>
            </p:cNvPr>
            <p:cNvSpPr/>
            <p:nvPr/>
          </p:nvSpPr>
          <p:spPr>
            <a:xfrm>
              <a:off x="2104499" y="2155043"/>
              <a:ext cx="1837990" cy="560588"/>
            </a:xfrm>
            <a:prstGeom prst="rect">
              <a:avLst/>
            </a:prstGeom>
            <a:solidFill>
              <a:srgbClr val="459B36"/>
            </a:solidFill>
            <a:ln w="25400" cap="flat" cmpd="sng" algn="ctr">
              <a:solidFill>
                <a:srgbClr val="459B36">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400" b="1" i="0" u="none" strike="noStrike" kern="0" cap="none" spc="0" normalizeH="0" baseline="0" noProof="0">
                  <a:ln>
                    <a:noFill/>
                  </a:ln>
                  <a:solidFill>
                    <a:srgbClr val="FFFFFF"/>
                  </a:solidFill>
                  <a:effectLst/>
                  <a:uLnTx/>
                  <a:uFillTx/>
                  <a:latin typeface="Metropolis"/>
                  <a:ea typeface="+mn-ea"/>
                  <a:cs typeface="+mn-cs"/>
                </a:rPr>
                <a:t>True</a:t>
              </a:r>
              <a:endParaRPr kumimoji="0" lang="en-US" sz="1200" b="1" i="0" u="none" strike="noStrike" kern="0" cap="none" spc="0" normalizeH="0" baseline="0" noProof="0">
                <a:ln>
                  <a:noFill/>
                </a:ln>
                <a:solidFill>
                  <a:srgbClr val="FFFFFF"/>
                </a:solidFill>
                <a:effectLst/>
                <a:uLnTx/>
                <a:uFillTx/>
                <a:latin typeface="Metropolis"/>
                <a:ea typeface="+mn-ea"/>
                <a:cs typeface="+mn-cs"/>
              </a:endParaRPr>
            </a:p>
          </p:txBody>
        </p:sp>
      </p:grpSp>
      <p:grpSp>
        <p:nvGrpSpPr>
          <p:cNvPr id="25" name="Group 24">
            <a:extLst>
              <a:ext uri="{FF2B5EF4-FFF2-40B4-BE49-F238E27FC236}">
                <a16:creationId xmlns:a16="http://schemas.microsoft.com/office/drawing/2014/main" id="{67897127-DEF7-0E6B-1A3E-2FFF2D126263}"/>
              </a:ext>
            </a:extLst>
          </p:cNvPr>
          <p:cNvGrpSpPr/>
          <p:nvPr/>
        </p:nvGrpSpPr>
        <p:grpSpPr>
          <a:xfrm>
            <a:off x="9397581" y="1621035"/>
            <a:ext cx="2220674" cy="769630"/>
            <a:chOff x="2104499" y="2155043"/>
            <a:chExt cx="1837990" cy="1764471"/>
          </a:xfrm>
        </p:grpSpPr>
        <p:sp>
          <p:nvSpPr>
            <p:cNvPr id="26" name="Rectangle 25">
              <a:extLst>
                <a:ext uri="{FF2B5EF4-FFF2-40B4-BE49-F238E27FC236}">
                  <a16:creationId xmlns:a16="http://schemas.microsoft.com/office/drawing/2014/main" id="{76939340-F1BF-9B5F-9AFC-6E9AA2457767}"/>
                </a:ext>
              </a:extLst>
            </p:cNvPr>
            <p:cNvSpPr/>
            <p:nvPr/>
          </p:nvSpPr>
          <p:spPr>
            <a:xfrm>
              <a:off x="2104499" y="2715630"/>
              <a:ext cx="1837990" cy="1203884"/>
            </a:xfrm>
            <a:prstGeom prst="rect">
              <a:avLst/>
            </a:prstGeom>
            <a:gradFill rotWithShape="1">
              <a:gsLst>
                <a:gs pos="0">
                  <a:srgbClr val="717074">
                    <a:tint val="50000"/>
                    <a:satMod val="300000"/>
                  </a:srgbClr>
                </a:gs>
                <a:gs pos="35000">
                  <a:srgbClr val="717074">
                    <a:tint val="37000"/>
                    <a:satMod val="300000"/>
                  </a:srgbClr>
                </a:gs>
                <a:gs pos="100000">
                  <a:srgbClr val="717074">
                    <a:tint val="15000"/>
                    <a:satMod val="350000"/>
                  </a:srgbClr>
                </a:gs>
              </a:gsLst>
              <a:lin ang="16200000" scaled="1"/>
            </a:gradFill>
            <a:ln w="9525" cap="flat" cmpd="sng" algn="ctr">
              <a:solidFill>
                <a:srgbClr val="717074">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3F3F3F"/>
                  </a:solidFill>
                  <a:effectLst/>
                  <a:uLnTx/>
                  <a:uFillTx/>
                  <a:latin typeface="Metropolis"/>
                  <a:ea typeface="+mn-ea"/>
                  <a:cs typeface="+mn-cs"/>
                </a:rPr>
                <a:t>Configurations that DO NOT meet “recommended value” requirements</a:t>
              </a:r>
            </a:p>
          </p:txBody>
        </p:sp>
        <p:sp>
          <p:nvSpPr>
            <p:cNvPr id="27" name="Rectangle 26">
              <a:extLst>
                <a:ext uri="{FF2B5EF4-FFF2-40B4-BE49-F238E27FC236}">
                  <a16:creationId xmlns:a16="http://schemas.microsoft.com/office/drawing/2014/main" id="{E879A50B-096E-D02E-071A-62A2FA13FEE9}"/>
                </a:ext>
              </a:extLst>
            </p:cNvPr>
            <p:cNvSpPr/>
            <p:nvPr/>
          </p:nvSpPr>
          <p:spPr>
            <a:xfrm>
              <a:off x="2104499" y="2155043"/>
              <a:ext cx="1837990" cy="560587"/>
            </a:xfrm>
            <a:prstGeom prst="rect">
              <a:avLst/>
            </a:prstGeom>
            <a:solidFill>
              <a:srgbClr val="C00000"/>
            </a:solidFill>
            <a:ln w="25400" cap="flat" cmpd="sng" algn="ctr">
              <a:solidFill>
                <a:srgbClr val="7F35B2">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1400" b="1" i="0" u="none" strike="noStrike" kern="0" cap="none" spc="0" normalizeH="0" baseline="0" noProof="0">
                  <a:ln>
                    <a:noFill/>
                  </a:ln>
                  <a:solidFill>
                    <a:srgbClr val="FFFFFF"/>
                  </a:solidFill>
                  <a:effectLst/>
                  <a:uLnTx/>
                  <a:uFillTx/>
                  <a:latin typeface="Metropolis"/>
                  <a:ea typeface="+mn-ea"/>
                  <a:cs typeface="+mn-cs"/>
                </a:rPr>
                <a:t>False</a:t>
              </a:r>
              <a:endParaRPr kumimoji="0" lang="en-US" sz="1200" b="1" i="0" u="none" strike="noStrike" kern="0" cap="none" spc="0" normalizeH="0" baseline="0" noProof="0">
                <a:ln>
                  <a:noFill/>
                </a:ln>
                <a:solidFill>
                  <a:srgbClr val="FFFFFF"/>
                </a:solidFill>
                <a:effectLst/>
                <a:uLnTx/>
                <a:uFillTx/>
                <a:latin typeface="Metropolis"/>
                <a:ea typeface="+mn-ea"/>
                <a:cs typeface="+mn-cs"/>
              </a:endParaRPr>
            </a:p>
          </p:txBody>
        </p:sp>
      </p:grpSp>
      <p:grpSp>
        <p:nvGrpSpPr>
          <p:cNvPr id="28" name="Group 27">
            <a:extLst>
              <a:ext uri="{FF2B5EF4-FFF2-40B4-BE49-F238E27FC236}">
                <a16:creationId xmlns:a16="http://schemas.microsoft.com/office/drawing/2014/main" id="{F156B0D4-1733-D037-04BD-9846A3453C74}"/>
              </a:ext>
            </a:extLst>
          </p:cNvPr>
          <p:cNvGrpSpPr/>
          <p:nvPr/>
        </p:nvGrpSpPr>
        <p:grpSpPr>
          <a:xfrm>
            <a:off x="8371527" y="2528668"/>
            <a:ext cx="1026055" cy="1019032"/>
            <a:chOff x="8312147" y="2549228"/>
            <a:chExt cx="1026055" cy="1019032"/>
          </a:xfrm>
        </p:grpSpPr>
        <p:grpSp>
          <p:nvGrpSpPr>
            <p:cNvPr id="29" name="Group 28">
              <a:extLst>
                <a:ext uri="{FF2B5EF4-FFF2-40B4-BE49-F238E27FC236}">
                  <a16:creationId xmlns:a16="http://schemas.microsoft.com/office/drawing/2014/main" id="{C074BCC7-1644-872C-2812-29CE8BAB2AB8}"/>
                </a:ext>
              </a:extLst>
            </p:cNvPr>
            <p:cNvGrpSpPr/>
            <p:nvPr/>
          </p:nvGrpSpPr>
          <p:grpSpPr>
            <a:xfrm>
              <a:off x="8312147" y="2549228"/>
              <a:ext cx="1026055" cy="1019032"/>
              <a:chOff x="8381111" y="2636039"/>
              <a:chExt cx="952080" cy="891991"/>
            </a:xfrm>
          </p:grpSpPr>
          <p:sp>
            <p:nvSpPr>
              <p:cNvPr id="31" name="Circle: Hollow 30">
                <a:extLst>
                  <a:ext uri="{FF2B5EF4-FFF2-40B4-BE49-F238E27FC236}">
                    <a16:creationId xmlns:a16="http://schemas.microsoft.com/office/drawing/2014/main" id="{48C139EF-A5B3-5313-8F48-7C182096DEF7}"/>
                  </a:ext>
                </a:extLst>
              </p:cNvPr>
              <p:cNvSpPr/>
              <p:nvPr/>
            </p:nvSpPr>
            <p:spPr>
              <a:xfrm>
                <a:off x="8381111" y="2636039"/>
                <a:ext cx="952079" cy="871454"/>
              </a:xfrm>
              <a:prstGeom prst="donut">
                <a:avLst>
                  <a:gd name="adj" fmla="val 19152"/>
                </a:avLst>
              </a:prstGeom>
              <a:solidFill>
                <a:srgbClr val="C00000"/>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etropolis"/>
                  <a:ea typeface="+mn-ea"/>
                  <a:cs typeface="+mn-cs"/>
                </a:endParaRPr>
              </a:p>
            </p:txBody>
          </p:sp>
          <p:sp>
            <p:nvSpPr>
              <p:cNvPr id="32" name="Partial Circle 31">
                <a:extLst>
                  <a:ext uri="{FF2B5EF4-FFF2-40B4-BE49-F238E27FC236}">
                    <a16:creationId xmlns:a16="http://schemas.microsoft.com/office/drawing/2014/main" id="{032150A3-FA59-8646-DEA1-413C26836353}"/>
                  </a:ext>
                </a:extLst>
              </p:cNvPr>
              <p:cNvSpPr/>
              <p:nvPr/>
            </p:nvSpPr>
            <p:spPr>
              <a:xfrm>
                <a:off x="8381112" y="2636039"/>
                <a:ext cx="952079" cy="891991"/>
              </a:xfrm>
              <a:prstGeom prst="pie">
                <a:avLst>
                  <a:gd name="adj1" fmla="val 815011"/>
                  <a:gd name="adj2" fmla="val 16200000"/>
                </a:avLst>
              </a:prstGeom>
              <a:solidFill>
                <a:srgbClr val="459B36"/>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etropolis"/>
                  <a:ea typeface="+mn-ea"/>
                  <a:cs typeface="+mn-cs"/>
                </a:endParaRPr>
              </a:p>
            </p:txBody>
          </p:sp>
          <p:sp>
            <p:nvSpPr>
              <p:cNvPr id="33" name="Oval 32">
                <a:extLst>
                  <a:ext uri="{FF2B5EF4-FFF2-40B4-BE49-F238E27FC236}">
                    <a16:creationId xmlns:a16="http://schemas.microsoft.com/office/drawing/2014/main" id="{518C0249-7709-8BB4-6DBC-286F35FBC2D7}"/>
                  </a:ext>
                </a:extLst>
              </p:cNvPr>
              <p:cNvSpPr/>
              <p:nvPr/>
            </p:nvSpPr>
            <p:spPr>
              <a:xfrm>
                <a:off x="8537464" y="2778838"/>
                <a:ext cx="639373" cy="583164"/>
              </a:xfrm>
              <a:prstGeom prst="ellipse">
                <a:avLst/>
              </a:prstGeom>
              <a:solidFill>
                <a:srgbClr val="FFFFFF"/>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etropolis"/>
                  <a:ea typeface="+mn-ea"/>
                  <a:cs typeface="+mn-cs"/>
                </a:endParaRPr>
              </a:p>
            </p:txBody>
          </p:sp>
        </p:grpSp>
        <p:sp>
          <p:nvSpPr>
            <p:cNvPr id="30" name="TextBox 29">
              <a:extLst>
                <a:ext uri="{FF2B5EF4-FFF2-40B4-BE49-F238E27FC236}">
                  <a16:creationId xmlns:a16="http://schemas.microsoft.com/office/drawing/2014/main" id="{3D8F2015-8845-3B1F-0AEF-097CF544B695}"/>
                </a:ext>
              </a:extLst>
            </p:cNvPr>
            <p:cNvSpPr txBox="1"/>
            <p:nvPr/>
          </p:nvSpPr>
          <p:spPr>
            <a:xfrm>
              <a:off x="8498964" y="2846362"/>
              <a:ext cx="652423" cy="323165"/>
            </a:xfrm>
            <a:prstGeom prst="rect">
              <a:avLst/>
            </a:prstGeom>
            <a:noFill/>
          </p:spPr>
          <p:txBody>
            <a:bodyPr wrap="non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F3F3F"/>
                  </a:solidFill>
                  <a:effectLst/>
                  <a:uLnTx/>
                  <a:uFillTx/>
                </a:rPr>
                <a:t>Percent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3F3F3F"/>
                  </a:solidFill>
                  <a:effectLst/>
                  <a:uLnTx/>
                  <a:uFillTx/>
                </a:rPr>
                <a:t>Compliant</a:t>
              </a:r>
            </a:p>
          </p:txBody>
        </p:sp>
      </p:grpSp>
      <p:sp>
        <p:nvSpPr>
          <p:cNvPr id="34" name="Arrow: Bent 33">
            <a:extLst>
              <a:ext uri="{FF2B5EF4-FFF2-40B4-BE49-F238E27FC236}">
                <a16:creationId xmlns:a16="http://schemas.microsoft.com/office/drawing/2014/main" id="{DCC8616F-32AA-F6BD-AE62-ED047EE16587}"/>
              </a:ext>
            </a:extLst>
          </p:cNvPr>
          <p:cNvSpPr/>
          <p:nvPr/>
        </p:nvSpPr>
        <p:spPr>
          <a:xfrm rot="10800000">
            <a:off x="9591762" y="2519491"/>
            <a:ext cx="1026055" cy="600938"/>
          </a:xfrm>
          <a:prstGeom prst="bentArrow">
            <a:avLst/>
          </a:prstGeom>
          <a:solidFill>
            <a:srgbClr val="C00000"/>
          </a:solidFill>
          <a:ln w="9525" cap="flat" cmpd="sng" algn="ctr">
            <a:solidFill>
              <a:srgbClr val="3F3F3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etropolis"/>
              <a:ea typeface="+mn-ea"/>
              <a:cs typeface="+mn-cs"/>
            </a:endParaRPr>
          </a:p>
        </p:txBody>
      </p:sp>
      <p:sp>
        <p:nvSpPr>
          <p:cNvPr id="35" name="Arrow: Bent 34">
            <a:extLst>
              <a:ext uri="{FF2B5EF4-FFF2-40B4-BE49-F238E27FC236}">
                <a16:creationId xmlns:a16="http://schemas.microsoft.com/office/drawing/2014/main" id="{901AB02C-30B4-499E-5043-A6A56F680EAF}"/>
              </a:ext>
            </a:extLst>
          </p:cNvPr>
          <p:cNvSpPr/>
          <p:nvPr/>
        </p:nvSpPr>
        <p:spPr>
          <a:xfrm rot="10800000" flipH="1">
            <a:off x="7147657" y="2518065"/>
            <a:ext cx="1026055" cy="600938"/>
          </a:xfrm>
          <a:prstGeom prst="bentArrow">
            <a:avLst/>
          </a:prstGeom>
          <a:solidFill>
            <a:srgbClr val="459B36"/>
          </a:solidFill>
          <a:ln w="9525" cap="flat" cmpd="sng" algn="ctr">
            <a:solidFill>
              <a:srgbClr val="3F3F3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Metropolis"/>
              <a:ea typeface="+mn-ea"/>
              <a:cs typeface="+mn-cs"/>
            </a:endParaRPr>
          </a:p>
        </p:txBody>
      </p:sp>
      <p:sp>
        <p:nvSpPr>
          <p:cNvPr id="36" name="TextBox 127">
            <a:extLst>
              <a:ext uri="{FF2B5EF4-FFF2-40B4-BE49-F238E27FC236}">
                <a16:creationId xmlns:a16="http://schemas.microsoft.com/office/drawing/2014/main" id="{0B2B2E85-C546-D925-69EE-CD917DAF584B}"/>
              </a:ext>
            </a:extLst>
          </p:cNvPr>
          <p:cNvSpPr txBox="1"/>
          <p:nvPr/>
        </p:nvSpPr>
        <p:spPr>
          <a:xfrm>
            <a:off x="5669063" y="3965540"/>
            <a:ext cx="2865119" cy="3231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F35B2"/>
                </a:solidFill>
                <a:effectLst/>
                <a:uLnTx/>
                <a:uFillTx/>
                <a:latin typeface="Metropolis"/>
                <a:ea typeface="+mn-ea"/>
                <a:cs typeface="+mn-cs"/>
              </a:rPr>
              <a:t>Technical Analysis</a:t>
            </a:r>
          </a:p>
        </p:txBody>
      </p:sp>
      <p:sp>
        <p:nvSpPr>
          <p:cNvPr id="37" name="TextBox 134">
            <a:extLst>
              <a:ext uri="{FF2B5EF4-FFF2-40B4-BE49-F238E27FC236}">
                <a16:creationId xmlns:a16="http://schemas.microsoft.com/office/drawing/2014/main" id="{C7F85C99-B9D4-C696-C73D-356989651A33}"/>
              </a:ext>
            </a:extLst>
          </p:cNvPr>
          <p:cNvSpPr txBox="1"/>
          <p:nvPr/>
        </p:nvSpPr>
        <p:spPr>
          <a:xfrm>
            <a:off x="8545819" y="3965540"/>
            <a:ext cx="3377334" cy="3231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7F35B2"/>
                </a:solidFill>
                <a:effectLst/>
                <a:uLnTx/>
                <a:uFillTx/>
                <a:latin typeface="Metropolis"/>
                <a:ea typeface="+mn-ea"/>
                <a:cs typeface="+mn-cs"/>
              </a:rPr>
              <a:t>Security Frameworks</a:t>
            </a:r>
          </a:p>
        </p:txBody>
      </p:sp>
      <p:sp>
        <p:nvSpPr>
          <p:cNvPr id="38" name="Content Placeholder 20">
            <a:extLst>
              <a:ext uri="{FF2B5EF4-FFF2-40B4-BE49-F238E27FC236}">
                <a16:creationId xmlns:a16="http://schemas.microsoft.com/office/drawing/2014/main" id="{90F167EE-6C2C-A3A2-E5EB-28F9817A20AF}"/>
              </a:ext>
            </a:extLst>
          </p:cNvPr>
          <p:cNvSpPr txBox="1">
            <a:spLocks/>
          </p:cNvSpPr>
          <p:nvPr/>
        </p:nvSpPr>
        <p:spPr>
          <a:xfrm>
            <a:off x="5761163" y="4282329"/>
            <a:ext cx="2773020" cy="2164112"/>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Review VCF Security Design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Review current state technical security configurations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Perform gap analysis to VMware best practices and industry security frameworks</a:t>
            </a:r>
          </a:p>
        </p:txBody>
      </p:sp>
      <p:grpSp>
        <p:nvGrpSpPr>
          <p:cNvPr id="39" name="Group 38">
            <a:extLst>
              <a:ext uri="{FF2B5EF4-FFF2-40B4-BE49-F238E27FC236}">
                <a16:creationId xmlns:a16="http://schemas.microsoft.com/office/drawing/2014/main" id="{D34E5A6D-F49B-212A-7C22-A4075249FF38}"/>
              </a:ext>
            </a:extLst>
          </p:cNvPr>
          <p:cNvGrpSpPr/>
          <p:nvPr/>
        </p:nvGrpSpPr>
        <p:grpSpPr>
          <a:xfrm>
            <a:off x="701218" y="3242604"/>
            <a:ext cx="922360" cy="1070252"/>
            <a:chOff x="183140" y="1734332"/>
            <a:chExt cx="2064677" cy="2339370"/>
          </a:xfrm>
        </p:grpSpPr>
        <p:sp>
          <p:nvSpPr>
            <p:cNvPr id="40" name="Oval 39">
              <a:extLst>
                <a:ext uri="{FF2B5EF4-FFF2-40B4-BE49-F238E27FC236}">
                  <a16:creationId xmlns:a16="http://schemas.microsoft.com/office/drawing/2014/main" id="{5D4DE6E6-3955-E2B8-6E54-A5D613E4A8B1}"/>
                </a:ext>
              </a:extLst>
            </p:cNvPr>
            <p:cNvSpPr/>
            <p:nvPr/>
          </p:nvSpPr>
          <p:spPr>
            <a:xfrm>
              <a:off x="301000" y="1734332"/>
              <a:ext cx="1828959" cy="1828959"/>
            </a:xfrm>
            <a:prstGeom prst="ellipse">
              <a:avLst/>
            </a:prstGeom>
            <a:solidFill>
              <a:schemeClr val="accent6"/>
            </a:solidFill>
            <a:ln w="25400" cap="flat" cmpd="sng" algn="ctr">
              <a:solidFill>
                <a:schemeClr val="accent6">
                  <a:lumMod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latin typeface="Metropolis"/>
                <a:ea typeface="+mn-ea"/>
                <a:cs typeface="+mn-cs"/>
              </a:endParaRPr>
            </a:p>
          </p:txBody>
        </p:sp>
        <p:sp>
          <p:nvSpPr>
            <p:cNvPr id="41" name="Text Placeholder 37">
              <a:extLst>
                <a:ext uri="{FF2B5EF4-FFF2-40B4-BE49-F238E27FC236}">
                  <a16:creationId xmlns:a16="http://schemas.microsoft.com/office/drawing/2014/main" id="{69D3AA5F-D76E-70B7-13F5-2199B293986E}"/>
                </a:ext>
              </a:extLst>
            </p:cNvPr>
            <p:cNvSpPr txBox="1">
              <a:spLocks/>
            </p:cNvSpPr>
            <p:nvPr/>
          </p:nvSpPr>
          <p:spPr>
            <a:xfrm>
              <a:off x="183140" y="3700680"/>
              <a:ext cx="2064677" cy="373022"/>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kumimoji="0" lang="en-GB" sz="1100" b="0" i="0" u="none" strike="noStrike" kern="1200" cap="none" spc="0" normalizeH="0" baseline="0" noProof="0" dirty="0">
                  <a:ln>
                    <a:noFill/>
                  </a:ln>
                  <a:solidFill>
                    <a:srgbClr val="3F3F3F"/>
                  </a:solidFill>
                  <a:effectLst/>
                  <a:uLnTx/>
                  <a:uFillTx/>
                  <a:latin typeface="Metropolis"/>
                  <a:ea typeface="+mn-ea"/>
                  <a:cs typeface="+mn-cs"/>
                </a:rPr>
                <a:t>NSX</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grpSp>
      <p:sp>
        <p:nvSpPr>
          <p:cNvPr id="42" name="Oval 41">
            <a:extLst>
              <a:ext uri="{FF2B5EF4-FFF2-40B4-BE49-F238E27FC236}">
                <a16:creationId xmlns:a16="http://schemas.microsoft.com/office/drawing/2014/main" id="{51095C64-43DA-F41F-D10B-FBBD25A4EFF3}"/>
              </a:ext>
            </a:extLst>
          </p:cNvPr>
          <p:cNvSpPr/>
          <p:nvPr/>
        </p:nvSpPr>
        <p:spPr>
          <a:xfrm>
            <a:off x="753869" y="4665503"/>
            <a:ext cx="817057" cy="836740"/>
          </a:xfrm>
          <a:prstGeom prst="ellipse">
            <a:avLst/>
          </a:prstGeom>
          <a:solidFill>
            <a:schemeClr val="bg2">
              <a:lumMod val="50000"/>
              <a:lumOff val="50000"/>
            </a:schemeClr>
          </a:solidFill>
          <a:ln w="25400" cap="flat" cmpd="sng" algn="ctr">
            <a:solidFill>
              <a:schemeClr val="tx2">
                <a:lumMod val="75000"/>
                <a:lumOff val="25000"/>
              </a:schemeClr>
            </a:solidFill>
            <a:prstDash val="solid"/>
          </a:ln>
          <a:effectLst/>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latin typeface="Metropolis"/>
              <a:ea typeface="+mn-ea"/>
              <a:cs typeface="+mn-cs"/>
            </a:endParaRPr>
          </a:p>
        </p:txBody>
      </p:sp>
      <p:sp>
        <p:nvSpPr>
          <p:cNvPr id="43" name="Text Placeholder 9">
            <a:extLst>
              <a:ext uri="{FF2B5EF4-FFF2-40B4-BE49-F238E27FC236}">
                <a16:creationId xmlns:a16="http://schemas.microsoft.com/office/drawing/2014/main" id="{B2095DEF-BBBB-DA15-583B-475DFBC50E03}"/>
              </a:ext>
            </a:extLst>
          </p:cNvPr>
          <p:cNvSpPr txBox="1">
            <a:spLocks/>
          </p:cNvSpPr>
          <p:nvPr/>
        </p:nvSpPr>
        <p:spPr>
          <a:xfrm>
            <a:off x="673629" y="5550006"/>
            <a:ext cx="977538" cy="68034"/>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kumimoji="0" lang="en-GB" sz="1100" b="0" i="0" u="none" strike="noStrike" kern="1200" cap="none" spc="0" normalizeH="0" baseline="0" noProof="0" dirty="0">
                <a:ln>
                  <a:noFill/>
                </a:ln>
                <a:solidFill>
                  <a:srgbClr val="3F3F3F"/>
                </a:solidFill>
                <a:effectLst/>
                <a:uLnTx/>
                <a:uFillTx/>
                <a:latin typeface="Metropolis"/>
                <a:ea typeface="+mn-ea"/>
                <a:cs typeface="+mn-cs"/>
              </a:rPr>
              <a:t>VCF Operations for Logs</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sp>
        <p:nvSpPr>
          <p:cNvPr id="44" name="Oval 43">
            <a:extLst>
              <a:ext uri="{FF2B5EF4-FFF2-40B4-BE49-F238E27FC236}">
                <a16:creationId xmlns:a16="http://schemas.microsoft.com/office/drawing/2014/main" id="{EA65035F-2C3A-3E52-165E-56ABABCD2D96}"/>
              </a:ext>
            </a:extLst>
          </p:cNvPr>
          <p:cNvSpPr/>
          <p:nvPr/>
        </p:nvSpPr>
        <p:spPr>
          <a:xfrm>
            <a:off x="4032074" y="4665503"/>
            <a:ext cx="817057" cy="836740"/>
          </a:xfrm>
          <a:prstGeom prst="ellipse">
            <a:avLst/>
          </a:prstGeom>
          <a:solidFill>
            <a:schemeClr val="bg2">
              <a:lumMod val="75000"/>
              <a:lumOff val="25000"/>
            </a:schemeClr>
          </a:solidFill>
          <a:ln w="25400" cap="flat" cmpd="sng" algn="ctr">
            <a:solidFill>
              <a:schemeClr val="tx2">
                <a:lumMod val="90000"/>
                <a:lumOff val="10000"/>
              </a:schemeClr>
            </a:solidFill>
            <a:prstDash val="solid"/>
          </a:ln>
          <a:effectLst/>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latin typeface="Metropolis"/>
              <a:ea typeface="+mn-ea"/>
              <a:cs typeface="+mn-cs"/>
            </a:endParaRPr>
          </a:p>
        </p:txBody>
      </p:sp>
      <p:sp>
        <p:nvSpPr>
          <p:cNvPr id="45" name="Text Placeholder 9">
            <a:extLst>
              <a:ext uri="{FF2B5EF4-FFF2-40B4-BE49-F238E27FC236}">
                <a16:creationId xmlns:a16="http://schemas.microsoft.com/office/drawing/2014/main" id="{EBA0DFF0-9B93-C932-69FA-C3C83219B3E7}"/>
              </a:ext>
            </a:extLst>
          </p:cNvPr>
          <p:cNvSpPr txBox="1">
            <a:spLocks/>
          </p:cNvSpPr>
          <p:nvPr/>
        </p:nvSpPr>
        <p:spPr>
          <a:xfrm>
            <a:off x="3878001" y="5550006"/>
            <a:ext cx="1112535" cy="68034"/>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kumimoji="0" lang="en-GB" sz="1100" b="0" i="0" u="none" strike="noStrike" kern="1200" cap="none" spc="0" normalizeH="0" baseline="0" noProof="0" dirty="0">
                <a:ln>
                  <a:noFill/>
                </a:ln>
                <a:solidFill>
                  <a:srgbClr val="3F3F3F"/>
                </a:solidFill>
                <a:effectLst/>
                <a:uLnTx/>
                <a:uFillTx/>
                <a:latin typeface="Metropolis"/>
                <a:ea typeface="+mn-ea"/>
                <a:cs typeface="+mn-cs"/>
              </a:rPr>
              <a:t>VCF Operations Fleet Management</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grpSp>
        <p:nvGrpSpPr>
          <p:cNvPr id="46" name="Group 45">
            <a:extLst>
              <a:ext uri="{FF2B5EF4-FFF2-40B4-BE49-F238E27FC236}">
                <a16:creationId xmlns:a16="http://schemas.microsoft.com/office/drawing/2014/main" id="{C7653B9A-CC87-9CA0-88FB-04E8F59534F5}"/>
              </a:ext>
            </a:extLst>
          </p:cNvPr>
          <p:cNvGrpSpPr/>
          <p:nvPr/>
        </p:nvGrpSpPr>
        <p:grpSpPr>
          <a:xfrm>
            <a:off x="2309015" y="3242604"/>
            <a:ext cx="977538" cy="952537"/>
            <a:chOff x="2309015" y="3242604"/>
            <a:chExt cx="977538" cy="952537"/>
          </a:xfrm>
        </p:grpSpPr>
        <p:sp>
          <p:nvSpPr>
            <p:cNvPr id="47" name="Oval 46">
              <a:extLst>
                <a:ext uri="{FF2B5EF4-FFF2-40B4-BE49-F238E27FC236}">
                  <a16:creationId xmlns:a16="http://schemas.microsoft.com/office/drawing/2014/main" id="{D640F242-2071-8A40-873A-79EE864E0DF2}"/>
                </a:ext>
              </a:extLst>
            </p:cNvPr>
            <p:cNvSpPr/>
            <p:nvPr/>
          </p:nvSpPr>
          <p:spPr>
            <a:xfrm>
              <a:off x="2389255" y="3242604"/>
              <a:ext cx="817057" cy="836740"/>
            </a:xfrm>
            <a:prstGeom prst="ellipse">
              <a:avLst/>
            </a:prstGeom>
            <a:solidFill>
              <a:schemeClr val="accent1"/>
            </a:solidFill>
            <a:ln w="25400" cap="flat" cmpd="sng" algn="ctr">
              <a:solidFill>
                <a:schemeClr val="accent1">
                  <a:lumMod val="75000"/>
                </a:schemeClr>
              </a:solidFill>
              <a:prstDash val="solid"/>
            </a:ln>
            <a:effectLst/>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FFFFFF"/>
                </a:solidFill>
                <a:effectLst/>
                <a:uLnTx/>
                <a:uFillTx/>
                <a:latin typeface="Metropolis"/>
                <a:ea typeface="+mn-ea"/>
                <a:cs typeface="+mn-cs"/>
              </a:endParaRPr>
            </a:p>
          </p:txBody>
        </p:sp>
        <p:sp>
          <p:nvSpPr>
            <p:cNvPr id="48" name="Text Placeholder 9">
              <a:extLst>
                <a:ext uri="{FF2B5EF4-FFF2-40B4-BE49-F238E27FC236}">
                  <a16:creationId xmlns:a16="http://schemas.microsoft.com/office/drawing/2014/main" id="{87550BDC-9B4A-37FD-1428-4017396A8057}"/>
                </a:ext>
              </a:extLst>
            </p:cNvPr>
            <p:cNvSpPr txBox="1">
              <a:spLocks/>
            </p:cNvSpPr>
            <p:nvPr/>
          </p:nvSpPr>
          <p:spPr>
            <a:xfrm>
              <a:off x="2309015" y="4127107"/>
              <a:ext cx="977538" cy="68034"/>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kumimoji="0" lang="en-GB" sz="1100" b="0" i="0" u="none" strike="noStrike" kern="1200" cap="none" spc="0" normalizeH="0" baseline="0" noProof="0" dirty="0">
                  <a:ln>
                    <a:noFill/>
                  </a:ln>
                  <a:solidFill>
                    <a:srgbClr val="3F3F3F"/>
                  </a:solidFill>
                  <a:effectLst/>
                  <a:uLnTx/>
                  <a:uFillTx/>
                  <a:latin typeface="Metropolis"/>
                  <a:ea typeface="+mn-ea"/>
                  <a:cs typeface="+mn-cs"/>
                </a:rPr>
                <a:t>VCF Automation</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grpSp>
          <p:nvGrpSpPr>
            <p:cNvPr id="49" name="Group 48" descr="Automation">
              <a:extLst>
                <a:ext uri="{FF2B5EF4-FFF2-40B4-BE49-F238E27FC236}">
                  <a16:creationId xmlns:a16="http://schemas.microsoft.com/office/drawing/2014/main" id="{B5E5F9DC-F085-FA80-A79F-4837CB2EB758}"/>
                </a:ext>
              </a:extLst>
            </p:cNvPr>
            <p:cNvGrpSpPr/>
            <p:nvPr/>
          </p:nvGrpSpPr>
          <p:grpSpPr>
            <a:xfrm>
              <a:off x="2568346" y="3422187"/>
              <a:ext cx="458874" cy="477574"/>
              <a:chOff x="531730" y="723307"/>
              <a:chExt cx="600773" cy="600837"/>
            </a:xfrm>
            <a:solidFill>
              <a:schemeClr val="bg1"/>
            </a:solidFill>
          </p:grpSpPr>
          <p:sp>
            <p:nvSpPr>
              <p:cNvPr id="50" name="Picture Placeholder 74">
                <a:extLst>
                  <a:ext uri="{FF2B5EF4-FFF2-40B4-BE49-F238E27FC236}">
                    <a16:creationId xmlns:a16="http://schemas.microsoft.com/office/drawing/2014/main" id="{E7510208-657D-72E1-C24E-D1DE9E7F0571}"/>
                  </a:ext>
                </a:extLst>
              </p:cNvPr>
              <p:cNvSpPr/>
              <p:nvPr/>
            </p:nvSpPr>
            <p:spPr>
              <a:xfrm>
                <a:off x="658159" y="849799"/>
                <a:ext cx="347853" cy="347853"/>
              </a:xfrm>
              <a:custGeom>
                <a:avLst/>
                <a:gdLst>
                  <a:gd name="connsiteX0" fmla="*/ 173927 w 347853"/>
                  <a:gd name="connsiteY0" fmla="*/ 347853 h 347853"/>
                  <a:gd name="connsiteX1" fmla="*/ 166021 w 347853"/>
                  <a:gd name="connsiteY1" fmla="*/ 339947 h 347853"/>
                  <a:gd name="connsiteX2" fmla="*/ 173927 w 347853"/>
                  <a:gd name="connsiteY2" fmla="*/ 332042 h 347853"/>
                  <a:gd name="connsiteX3" fmla="*/ 332042 w 347853"/>
                  <a:gd name="connsiteY3" fmla="*/ 173927 h 347853"/>
                  <a:gd name="connsiteX4" fmla="*/ 173927 w 347853"/>
                  <a:gd name="connsiteY4" fmla="*/ 15812 h 347853"/>
                  <a:gd name="connsiteX5" fmla="*/ 15812 w 347853"/>
                  <a:gd name="connsiteY5" fmla="*/ 173927 h 347853"/>
                  <a:gd name="connsiteX6" fmla="*/ 7906 w 347853"/>
                  <a:gd name="connsiteY6" fmla="*/ 181832 h 347853"/>
                  <a:gd name="connsiteX7" fmla="*/ 0 w 347853"/>
                  <a:gd name="connsiteY7" fmla="*/ 173927 h 347853"/>
                  <a:gd name="connsiteX8" fmla="*/ 173927 w 347853"/>
                  <a:gd name="connsiteY8" fmla="*/ 0 h 347853"/>
                  <a:gd name="connsiteX9" fmla="*/ 347853 w 347853"/>
                  <a:gd name="connsiteY9" fmla="*/ 173927 h 347853"/>
                  <a:gd name="connsiteX10" fmla="*/ 173927 w 347853"/>
                  <a:gd name="connsiteY10" fmla="*/ 347853 h 34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7853" h="347853">
                    <a:moveTo>
                      <a:pt x="173927" y="347853"/>
                    </a:moveTo>
                    <a:cubicBezTo>
                      <a:pt x="169560" y="347853"/>
                      <a:pt x="166021" y="344314"/>
                      <a:pt x="166021" y="339947"/>
                    </a:cubicBezTo>
                    <a:cubicBezTo>
                      <a:pt x="166021" y="335581"/>
                      <a:pt x="169560" y="332042"/>
                      <a:pt x="173927" y="332042"/>
                    </a:cubicBezTo>
                    <a:cubicBezTo>
                      <a:pt x="261251" y="332042"/>
                      <a:pt x="332042" y="261251"/>
                      <a:pt x="332042" y="173927"/>
                    </a:cubicBezTo>
                    <a:cubicBezTo>
                      <a:pt x="332042" y="86602"/>
                      <a:pt x="261251" y="15812"/>
                      <a:pt x="173927" y="15812"/>
                    </a:cubicBezTo>
                    <a:cubicBezTo>
                      <a:pt x="86602" y="15812"/>
                      <a:pt x="15812" y="86602"/>
                      <a:pt x="15812" y="173927"/>
                    </a:cubicBezTo>
                    <a:cubicBezTo>
                      <a:pt x="15812" y="178293"/>
                      <a:pt x="12272" y="181832"/>
                      <a:pt x="7906" y="181832"/>
                    </a:cubicBezTo>
                    <a:cubicBezTo>
                      <a:pt x="3539" y="181832"/>
                      <a:pt x="0" y="178293"/>
                      <a:pt x="0" y="173927"/>
                    </a:cubicBezTo>
                    <a:cubicBezTo>
                      <a:pt x="0" y="77870"/>
                      <a:pt x="77870" y="0"/>
                      <a:pt x="173927" y="0"/>
                    </a:cubicBezTo>
                    <a:cubicBezTo>
                      <a:pt x="269983" y="0"/>
                      <a:pt x="347853" y="77870"/>
                      <a:pt x="347853" y="173927"/>
                    </a:cubicBezTo>
                    <a:cubicBezTo>
                      <a:pt x="347853" y="269983"/>
                      <a:pt x="269983" y="347853"/>
                      <a:pt x="173927" y="347853"/>
                    </a:cubicBezTo>
                    <a:close/>
                  </a:path>
                </a:pathLst>
              </a:custGeom>
              <a:grpFill/>
              <a:ln w="6271" cap="flat">
                <a:noFill/>
                <a:prstDash val="solid"/>
                <a:miter/>
              </a:ln>
            </p:spPr>
            <p:txBody>
              <a:bodyPr rtlCol="0" anchor="ctr"/>
              <a:lstStyle/>
              <a:p>
                <a:endParaRPr lang="en-US"/>
              </a:p>
            </p:txBody>
          </p:sp>
          <p:sp>
            <p:nvSpPr>
              <p:cNvPr id="51" name="Picture Placeholder 74">
                <a:extLst>
                  <a:ext uri="{FF2B5EF4-FFF2-40B4-BE49-F238E27FC236}">
                    <a16:creationId xmlns:a16="http://schemas.microsoft.com/office/drawing/2014/main" id="{D9392122-8C01-6363-CDBF-6064958A7876}"/>
                  </a:ext>
                </a:extLst>
              </p:cNvPr>
              <p:cNvSpPr/>
              <p:nvPr/>
            </p:nvSpPr>
            <p:spPr>
              <a:xfrm>
                <a:off x="531730" y="723307"/>
                <a:ext cx="600773" cy="600837"/>
              </a:xfrm>
              <a:custGeom>
                <a:avLst/>
                <a:gdLst>
                  <a:gd name="connsiteX0" fmla="*/ 348928 w 600773"/>
                  <a:gd name="connsiteY0" fmla="*/ 600837 h 600837"/>
                  <a:gd name="connsiteX1" fmla="*/ 248873 w 600773"/>
                  <a:gd name="connsiteY1" fmla="*/ 600837 h 600837"/>
                  <a:gd name="connsiteX2" fmla="*/ 246723 w 600773"/>
                  <a:gd name="connsiteY2" fmla="*/ 596347 h 600837"/>
                  <a:gd name="connsiteX3" fmla="*/ 237109 w 600773"/>
                  <a:gd name="connsiteY3" fmla="*/ 565293 h 600837"/>
                  <a:gd name="connsiteX4" fmla="*/ 230342 w 600773"/>
                  <a:gd name="connsiteY4" fmla="*/ 539615 h 600837"/>
                  <a:gd name="connsiteX5" fmla="*/ 179745 w 600773"/>
                  <a:gd name="connsiteY5" fmla="*/ 517036 h 600837"/>
                  <a:gd name="connsiteX6" fmla="*/ 156913 w 600773"/>
                  <a:gd name="connsiteY6" fmla="*/ 528673 h 600837"/>
                  <a:gd name="connsiteX7" fmla="*/ 130160 w 600773"/>
                  <a:gd name="connsiteY7" fmla="*/ 543852 h 600837"/>
                  <a:gd name="connsiteX8" fmla="*/ 126239 w 600773"/>
                  <a:gd name="connsiteY8" fmla="*/ 545560 h 600837"/>
                  <a:gd name="connsiteX9" fmla="*/ 122444 w 600773"/>
                  <a:gd name="connsiteY9" fmla="*/ 543410 h 600837"/>
                  <a:gd name="connsiteX10" fmla="*/ 55720 w 600773"/>
                  <a:gd name="connsiteY10" fmla="*/ 480164 h 600837"/>
                  <a:gd name="connsiteX11" fmla="*/ 52557 w 600773"/>
                  <a:gd name="connsiteY11" fmla="*/ 476875 h 600837"/>
                  <a:gd name="connsiteX12" fmla="*/ 53759 w 600773"/>
                  <a:gd name="connsiteY12" fmla="*/ 472511 h 600837"/>
                  <a:gd name="connsiteX13" fmla="*/ 80955 w 600773"/>
                  <a:gd name="connsiteY13" fmla="*/ 420459 h 600837"/>
                  <a:gd name="connsiteX14" fmla="*/ 69760 w 600773"/>
                  <a:gd name="connsiteY14" fmla="*/ 395161 h 600837"/>
                  <a:gd name="connsiteX15" fmla="*/ 60526 w 600773"/>
                  <a:gd name="connsiteY15" fmla="*/ 366321 h 600837"/>
                  <a:gd name="connsiteX16" fmla="*/ 34912 w 600773"/>
                  <a:gd name="connsiteY16" fmla="*/ 360502 h 600837"/>
                  <a:gd name="connsiteX17" fmla="*/ 6325 w 600773"/>
                  <a:gd name="connsiteY17" fmla="*/ 352849 h 600837"/>
                  <a:gd name="connsiteX18" fmla="*/ 0 w 600773"/>
                  <a:gd name="connsiteY18" fmla="*/ 351585 h 600837"/>
                  <a:gd name="connsiteX19" fmla="*/ 0 w 600773"/>
                  <a:gd name="connsiteY19" fmla="*/ 246153 h 600837"/>
                  <a:gd name="connsiteX20" fmla="*/ 6325 w 600773"/>
                  <a:gd name="connsiteY20" fmla="*/ 244699 h 600837"/>
                  <a:gd name="connsiteX21" fmla="*/ 33773 w 600773"/>
                  <a:gd name="connsiteY21" fmla="*/ 237109 h 600837"/>
                  <a:gd name="connsiteX22" fmla="*/ 59514 w 600773"/>
                  <a:gd name="connsiteY22" fmla="*/ 230785 h 600837"/>
                  <a:gd name="connsiteX23" fmla="*/ 70962 w 600773"/>
                  <a:gd name="connsiteY23" fmla="*/ 205170 h 600837"/>
                  <a:gd name="connsiteX24" fmla="*/ 83611 w 600773"/>
                  <a:gd name="connsiteY24" fmla="*/ 178860 h 600837"/>
                  <a:gd name="connsiteX25" fmla="*/ 55720 w 600773"/>
                  <a:gd name="connsiteY25" fmla="*/ 133892 h 600837"/>
                  <a:gd name="connsiteX26" fmla="*/ 51609 w 600773"/>
                  <a:gd name="connsiteY26" fmla="*/ 129275 h 600837"/>
                  <a:gd name="connsiteX27" fmla="*/ 55151 w 600773"/>
                  <a:gd name="connsiteY27" fmla="*/ 124152 h 600837"/>
                  <a:gd name="connsiteX28" fmla="*/ 121306 w 600773"/>
                  <a:gd name="connsiteY28" fmla="*/ 55656 h 600837"/>
                  <a:gd name="connsiteX29" fmla="*/ 125290 w 600773"/>
                  <a:gd name="connsiteY29" fmla="*/ 51798 h 600837"/>
                  <a:gd name="connsiteX30" fmla="*/ 130287 w 600773"/>
                  <a:gd name="connsiteY30" fmla="*/ 54265 h 600837"/>
                  <a:gd name="connsiteX31" fmla="*/ 181516 w 600773"/>
                  <a:gd name="connsiteY31" fmla="*/ 83295 h 600837"/>
                  <a:gd name="connsiteX32" fmla="*/ 233315 w 600773"/>
                  <a:gd name="connsiteY32" fmla="*/ 63056 h 600837"/>
                  <a:gd name="connsiteX33" fmla="*/ 240525 w 600773"/>
                  <a:gd name="connsiteY33" fmla="*/ 36430 h 600837"/>
                  <a:gd name="connsiteX34" fmla="*/ 249252 w 600773"/>
                  <a:gd name="connsiteY34" fmla="*/ 5566 h 600837"/>
                  <a:gd name="connsiteX35" fmla="*/ 250960 w 600773"/>
                  <a:gd name="connsiteY35" fmla="*/ 0 h 600837"/>
                  <a:gd name="connsiteX36" fmla="*/ 352154 w 600773"/>
                  <a:gd name="connsiteY36" fmla="*/ 0 h 600837"/>
                  <a:gd name="connsiteX37" fmla="*/ 354178 w 600773"/>
                  <a:gd name="connsiteY37" fmla="*/ 4933 h 600837"/>
                  <a:gd name="connsiteX38" fmla="*/ 370748 w 600773"/>
                  <a:gd name="connsiteY38" fmla="*/ 61285 h 600837"/>
                  <a:gd name="connsiteX39" fmla="*/ 396046 w 600773"/>
                  <a:gd name="connsiteY39" fmla="*/ 71089 h 600837"/>
                  <a:gd name="connsiteX40" fmla="*/ 422104 w 600773"/>
                  <a:gd name="connsiteY40" fmla="*/ 83738 h 600837"/>
                  <a:gd name="connsiteX41" fmla="*/ 443860 w 600773"/>
                  <a:gd name="connsiteY41" fmla="*/ 72417 h 600837"/>
                  <a:gd name="connsiteX42" fmla="*/ 471309 w 600773"/>
                  <a:gd name="connsiteY42" fmla="*/ 57048 h 600837"/>
                  <a:gd name="connsiteX43" fmla="*/ 475041 w 600773"/>
                  <a:gd name="connsiteY43" fmla="*/ 55467 h 600837"/>
                  <a:gd name="connsiteX44" fmla="*/ 478519 w 600773"/>
                  <a:gd name="connsiteY44" fmla="*/ 57554 h 600837"/>
                  <a:gd name="connsiteX45" fmla="*/ 514633 w 600773"/>
                  <a:gd name="connsiteY45" fmla="*/ 89177 h 600837"/>
                  <a:gd name="connsiteX46" fmla="*/ 546951 w 600773"/>
                  <a:gd name="connsiteY46" fmla="*/ 120231 h 600837"/>
                  <a:gd name="connsiteX47" fmla="*/ 552138 w 600773"/>
                  <a:gd name="connsiteY47" fmla="*/ 124342 h 600837"/>
                  <a:gd name="connsiteX48" fmla="*/ 548975 w 600773"/>
                  <a:gd name="connsiteY48" fmla="*/ 130160 h 600837"/>
                  <a:gd name="connsiteX49" fmla="*/ 519629 w 600773"/>
                  <a:gd name="connsiteY49" fmla="*/ 180757 h 600837"/>
                  <a:gd name="connsiteX50" fmla="*/ 538603 w 600773"/>
                  <a:gd name="connsiteY50" fmla="*/ 233884 h 600837"/>
                  <a:gd name="connsiteX51" fmla="*/ 566052 w 600773"/>
                  <a:gd name="connsiteY51" fmla="*/ 240208 h 600837"/>
                  <a:gd name="connsiteX52" fmla="*/ 594449 w 600773"/>
                  <a:gd name="connsiteY52" fmla="*/ 247798 h 600837"/>
                  <a:gd name="connsiteX53" fmla="*/ 600774 w 600773"/>
                  <a:gd name="connsiteY53" fmla="*/ 249063 h 600837"/>
                  <a:gd name="connsiteX54" fmla="*/ 600774 w 600773"/>
                  <a:gd name="connsiteY54" fmla="*/ 354431 h 600837"/>
                  <a:gd name="connsiteX55" fmla="*/ 594449 w 600773"/>
                  <a:gd name="connsiteY55" fmla="*/ 355822 h 600837"/>
                  <a:gd name="connsiteX56" fmla="*/ 567000 w 600773"/>
                  <a:gd name="connsiteY56" fmla="*/ 363475 h 600837"/>
                  <a:gd name="connsiteX57" fmla="*/ 541070 w 600773"/>
                  <a:gd name="connsiteY57" fmla="*/ 369799 h 600837"/>
                  <a:gd name="connsiteX58" fmla="*/ 530318 w 600773"/>
                  <a:gd name="connsiteY58" fmla="*/ 395541 h 600837"/>
                  <a:gd name="connsiteX59" fmla="*/ 517669 w 600773"/>
                  <a:gd name="connsiteY59" fmla="*/ 421977 h 600837"/>
                  <a:gd name="connsiteX60" fmla="*/ 530318 w 600773"/>
                  <a:gd name="connsiteY60" fmla="*/ 443481 h 600837"/>
                  <a:gd name="connsiteX61" fmla="*/ 545434 w 600773"/>
                  <a:gd name="connsiteY61" fmla="*/ 467514 h 600837"/>
                  <a:gd name="connsiteX62" fmla="*/ 548975 w 600773"/>
                  <a:gd name="connsiteY62" fmla="*/ 472068 h 600837"/>
                  <a:gd name="connsiteX63" fmla="*/ 545687 w 600773"/>
                  <a:gd name="connsiteY63" fmla="*/ 476875 h 600837"/>
                  <a:gd name="connsiteX64" fmla="*/ 479911 w 600773"/>
                  <a:gd name="connsiteY64" fmla="*/ 545307 h 600837"/>
                  <a:gd name="connsiteX65" fmla="*/ 475989 w 600773"/>
                  <a:gd name="connsiteY65" fmla="*/ 549165 h 600837"/>
                  <a:gd name="connsiteX66" fmla="*/ 470993 w 600773"/>
                  <a:gd name="connsiteY66" fmla="*/ 546825 h 600837"/>
                  <a:gd name="connsiteX67" fmla="*/ 420396 w 600773"/>
                  <a:gd name="connsiteY67" fmla="*/ 517985 h 600837"/>
                  <a:gd name="connsiteX68" fmla="*/ 369357 w 600773"/>
                  <a:gd name="connsiteY68" fmla="*/ 538160 h 600837"/>
                  <a:gd name="connsiteX69" fmla="*/ 361261 w 600773"/>
                  <a:gd name="connsiteY69" fmla="*/ 563459 h 600837"/>
                  <a:gd name="connsiteX70" fmla="*/ 351142 w 600773"/>
                  <a:gd name="connsiteY70" fmla="*/ 596663 h 600837"/>
                  <a:gd name="connsiteX71" fmla="*/ 259056 w 600773"/>
                  <a:gd name="connsiteY71" fmla="*/ 585026 h 600837"/>
                  <a:gd name="connsiteX72" fmla="*/ 338809 w 600773"/>
                  <a:gd name="connsiteY72" fmla="*/ 585026 h 600837"/>
                  <a:gd name="connsiteX73" fmla="*/ 345766 w 600773"/>
                  <a:gd name="connsiteY73" fmla="*/ 559727 h 600837"/>
                  <a:gd name="connsiteX74" fmla="*/ 357403 w 600773"/>
                  <a:gd name="connsiteY74" fmla="*/ 526776 h 600837"/>
                  <a:gd name="connsiteX75" fmla="*/ 359301 w 600773"/>
                  <a:gd name="connsiteY75" fmla="*/ 523803 h 600837"/>
                  <a:gd name="connsiteX76" fmla="*/ 362779 w 600773"/>
                  <a:gd name="connsiteY76" fmla="*/ 523171 h 600837"/>
                  <a:gd name="connsiteX77" fmla="*/ 416791 w 600773"/>
                  <a:gd name="connsiteY77" fmla="*/ 501667 h 600837"/>
                  <a:gd name="connsiteX78" fmla="*/ 421092 w 600773"/>
                  <a:gd name="connsiteY78" fmla="*/ 499137 h 600837"/>
                  <a:gd name="connsiteX79" fmla="*/ 425203 w 600773"/>
                  <a:gd name="connsiteY79" fmla="*/ 501920 h 600837"/>
                  <a:gd name="connsiteX80" fmla="*/ 473143 w 600773"/>
                  <a:gd name="connsiteY80" fmla="*/ 529938 h 600837"/>
                  <a:gd name="connsiteX81" fmla="*/ 529559 w 600773"/>
                  <a:gd name="connsiteY81" fmla="*/ 472005 h 600837"/>
                  <a:gd name="connsiteX82" fmla="*/ 516910 w 600773"/>
                  <a:gd name="connsiteY82" fmla="*/ 451197 h 600837"/>
                  <a:gd name="connsiteX83" fmla="*/ 501920 w 600773"/>
                  <a:gd name="connsiteY83" fmla="*/ 425393 h 600837"/>
                  <a:gd name="connsiteX84" fmla="*/ 498631 w 600773"/>
                  <a:gd name="connsiteY84" fmla="*/ 420206 h 600837"/>
                  <a:gd name="connsiteX85" fmla="*/ 502869 w 600773"/>
                  <a:gd name="connsiteY85" fmla="*/ 415716 h 600837"/>
                  <a:gd name="connsiteX86" fmla="*/ 516340 w 600773"/>
                  <a:gd name="connsiteY86" fmla="*/ 389912 h 600837"/>
                  <a:gd name="connsiteX87" fmla="*/ 530128 w 600773"/>
                  <a:gd name="connsiteY87" fmla="*/ 358289 h 600837"/>
                  <a:gd name="connsiteX88" fmla="*/ 532089 w 600773"/>
                  <a:gd name="connsiteY88" fmla="*/ 355126 h 600837"/>
                  <a:gd name="connsiteX89" fmla="*/ 535820 w 600773"/>
                  <a:gd name="connsiteY89" fmla="*/ 354620 h 600837"/>
                  <a:gd name="connsiteX90" fmla="*/ 563395 w 600773"/>
                  <a:gd name="connsiteY90" fmla="*/ 348296 h 600837"/>
                  <a:gd name="connsiteX91" fmla="*/ 585531 w 600773"/>
                  <a:gd name="connsiteY91" fmla="*/ 341971 h 600837"/>
                  <a:gd name="connsiteX92" fmla="*/ 585531 w 600773"/>
                  <a:gd name="connsiteY92" fmla="*/ 261838 h 600837"/>
                  <a:gd name="connsiteX93" fmla="*/ 562130 w 600773"/>
                  <a:gd name="connsiteY93" fmla="*/ 255514 h 600837"/>
                  <a:gd name="connsiteX94" fmla="*/ 535757 w 600773"/>
                  <a:gd name="connsiteY94" fmla="*/ 249189 h 600837"/>
                  <a:gd name="connsiteX95" fmla="*/ 504134 w 600773"/>
                  <a:gd name="connsiteY95" fmla="*/ 182022 h 600837"/>
                  <a:gd name="connsiteX96" fmla="*/ 502806 w 600773"/>
                  <a:gd name="connsiteY96" fmla="*/ 178290 h 600837"/>
                  <a:gd name="connsiteX97" fmla="*/ 505019 w 600773"/>
                  <a:gd name="connsiteY97" fmla="*/ 175002 h 600837"/>
                  <a:gd name="connsiteX98" fmla="*/ 532721 w 600773"/>
                  <a:gd name="connsiteY98" fmla="*/ 127883 h 600837"/>
                  <a:gd name="connsiteX99" fmla="*/ 503881 w 600773"/>
                  <a:gd name="connsiteY99" fmla="*/ 99739 h 600837"/>
                  <a:gd name="connsiteX100" fmla="*/ 474472 w 600773"/>
                  <a:gd name="connsiteY100" fmla="*/ 73049 h 600837"/>
                  <a:gd name="connsiteX101" fmla="*/ 453031 w 600773"/>
                  <a:gd name="connsiteY101" fmla="*/ 85698 h 600837"/>
                  <a:gd name="connsiteX102" fmla="*/ 422547 w 600773"/>
                  <a:gd name="connsiteY102" fmla="*/ 99992 h 600837"/>
                  <a:gd name="connsiteX103" fmla="*/ 418752 w 600773"/>
                  <a:gd name="connsiteY103" fmla="*/ 101004 h 600837"/>
                  <a:gd name="connsiteX104" fmla="*/ 416222 w 600773"/>
                  <a:gd name="connsiteY104" fmla="*/ 98601 h 600837"/>
                  <a:gd name="connsiteX105" fmla="*/ 390924 w 600773"/>
                  <a:gd name="connsiteY105" fmla="*/ 85951 h 600837"/>
                  <a:gd name="connsiteX106" fmla="*/ 361261 w 600773"/>
                  <a:gd name="connsiteY106" fmla="*/ 74314 h 600837"/>
                  <a:gd name="connsiteX107" fmla="*/ 357846 w 600773"/>
                  <a:gd name="connsiteY107" fmla="*/ 72733 h 600837"/>
                  <a:gd name="connsiteX108" fmla="*/ 356454 w 600773"/>
                  <a:gd name="connsiteY108" fmla="*/ 69065 h 600837"/>
                  <a:gd name="connsiteX109" fmla="*/ 341339 w 600773"/>
                  <a:gd name="connsiteY109" fmla="*/ 15812 h 600837"/>
                  <a:gd name="connsiteX110" fmla="*/ 262597 w 600773"/>
                  <a:gd name="connsiteY110" fmla="*/ 15812 h 600837"/>
                  <a:gd name="connsiteX111" fmla="*/ 255767 w 600773"/>
                  <a:gd name="connsiteY111" fmla="*/ 40477 h 600837"/>
                  <a:gd name="connsiteX112" fmla="*/ 247039 w 600773"/>
                  <a:gd name="connsiteY112" fmla="*/ 72100 h 600837"/>
                  <a:gd name="connsiteX113" fmla="*/ 245395 w 600773"/>
                  <a:gd name="connsiteY113" fmla="*/ 77413 h 600837"/>
                  <a:gd name="connsiteX114" fmla="*/ 239892 w 600773"/>
                  <a:gd name="connsiteY114" fmla="*/ 77413 h 600837"/>
                  <a:gd name="connsiteX115" fmla="*/ 183603 w 600773"/>
                  <a:gd name="connsiteY115" fmla="*/ 99233 h 600837"/>
                  <a:gd name="connsiteX116" fmla="*/ 179429 w 600773"/>
                  <a:gd name="connsiteY116" fmla="*/ 101067 h 600837"/>
                  <a:gd name="connsiteX117" fmla="*/ 175887 w 600773"/>
                  <a:gd name="connsiteY117" fmla="*/ 98664 h 600837"/>
                  <a:gd name="connsiteX118" fmla="*/ 128453 w 600773"/>
                  <a:gd name="connsiteY118" fmla="*/ 70899 h 600837"/>
                  <a:gd name="connsiteX119" fmla="*/ 71847 w 600773"/>
                  <a:gd name="connsiteY119" fmla="*/ 128642 h 600837"/>
                  <a:gd name="connsiteX120" fmla="*/ 99992 w 600773"/>
                  <a:gd name="connsiteY120" fmla="*/ 175950 h 600837"/>
                  <a:gd name="connsiteX121" fmla="*/ 102269 w 600773"/>
                  <a:gd name="connsiteY121" fmla="*/ 180188 h 600837"/>
                  <a:gd name="connsiteX122" fmla="*/ 99549 w 600773"/>
                  <a:gd name="connsiteY122" fmla="*/ 184172 h 600837"/>
                  <a:gd name="connsiteX123" fmla="*/ 85572 w 600773"/>
                  <a:gd name="connsiteY123" fmla="*/ 211684 h 600837"/>
                  <a:gd name="connsiteX124" fmla="*/ 71658 w 600773"/>
                  <a:gd name="connsiteY124" fmla="*/ 242232 h 600837"/>
                  <a:gd name="connsiteX125" fmla="*/ 69760 w 600773"/>
                  <a:gd name="connsiteY125" fmla="*/ 245711 h 600837"/>
                  <a:gd name="connsiteX126" fmla="*/ 65839 w 600773"/>
                  <a:gd name="connsiteY126" fmla="*/ 246217 h 600837"/>
                  <a:gd name="connsiteX127" fmla="*/ 38264 w 600773"/>
                  <a:gd name="connsiteY127" fmla="*/ 252541 h 600837"/>
                  <a:gd name="connsiteX128" fmla="*/ 16064 w 600773"/>
                  <a:gd name="connsiteY128" fmla="*/ 258866 h 600837"/>
                  <a:gd name="connsiteX129" fmla="*/ 16064 w 600773"/>
                  <a:gd name="connsiteY129" fmla="*/ 338999 h 600837"/>
                  <a:gd name="connsiteX130" fmla="*/ 39529 w 600773"/>
                  <a:gd name="connsiteY130" fmla="*/ 345323 h 600837"/>
                  <a:gd name="connsiteX131" fmla="*/ 68622 w 600773"/>
                  <a:gd name="connsiteY131" fmla="*/ 351648 h 600837"/>
                  <a:gd name="connsiteX132" fmla="*/ 74567 w 600773"/>
                  <a:gd name="connsiteY132" fmla="*/ 352407 h 600837"/>
                  <a:gd name="connsiteX133" fmla="*/ 75452 w 600773"/>
                  <a:gd name="connsiteY133" fmla="*/ 358352 h 600837"/>
                  <a:gd name="connsiteX134" fmla="*/ 84750 w 600773"/>
                  <a:gd name="connsiteY134" fmla="*/ 388583 h 600837"/>
                  <a:gd name="connsiteX135" fmla="*/ 97399 w 600773"/>
                  <a:gd name="connsiteY135" fmla="*/ 418625 h 600837"/>
                  <a:gd name="connsiteX136" fmla="*/ 98537 w 600773"/>
                  <a:gd name="connsiteY136" fmla="*/ 421977 h 600837"/>
                  <a:gd name="connsiteX137" fmla="*/ 96766 w 600773"/>
                  <a:gd name="connsiteY137" fmla="*/ 425076 h 600837"/>
                  <a:gd name="connsiteX138" fmla="*/ 70836 w 600773"/>
                  <a:gd name="connsiteY138" fmla="*/ 472637 h 600837"/>
                  <a:gd name="connsiteX139" fmla="*/ 127757 w 600773"/>
                  <a:gd name="connsiteY139" fmla="*/ 527345 h 600837"/>
                  <a:gd name="connsiteX140" fmla="*/ 148628 w 600773"/>
                  <a:gd name="connsiteY140" fmla="*/ 515139 h 600837"/>
                  <a:gd name="connsiteX141" fmla="*/ 178354 w 600773"/>
                  <a:gd name="connsiteY141" fmla="*/ 500845 h 600837"/>
                  <a:gd name="connsiteX142" fmla="*/ 181959 w 600773"/>
                  <a:gd name="connsiteY142" fmla="*/ 499770 h 600837"/>
                  <a:gd name="connsiteX143" fmla="*/ 185058 w 600773"/>
                  <a:gd name="connsiteY143" fmla="*/ 501857 h 600837"/>
                  <a:gd name="connsiteX144" fmla="*/ 240019 w 600773"/>
                  <a:gd name="connsiteY144" fmla="*/ 526460 h 600837"/>
                  <a:gd name="connsiteX145" fmla="*/ 243054 w 600773"/>
                  <a:gd name="connsiteY145" fmla="*/ 527788 h 600837"/>
                  <a:gd name="connsiteX146" fmla="*/ 244193 w 600773"/>
                  <a:gd name="connsiteY146" fmla="*/ 530887 h 600837"/>
                  <a:gd name="connsiteX147" fmla="*/ 252731 w 600773"/>
                  <a:gd name="connsiteY147" fmla="*/ 561688 h 600837"/>
                  <a:gd name="connsiteX148" fmla="*/ 259056 w 600773"/>
                  <a:gd name="connsiteY148" fmla="*/ 585026 h 600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0773" h="600837">
                    <a:moveTo>
                      <a:pt x="348928" y="600837"/>
                    </a:moveTo>
                    <a:lnTo>
                      <a:pt x="248873" y="600837"/>
                    </a:lnTo>
                    <a:lnTo>
                      <a:pt x="246723" y="596347"/>
                    </a:lnTo>
                    <a:cubicBezTo>
                      <a:pt x="242433" y="586360"/>
                      <a:pt x="239211" y="575956"/>
                      <a:pt x="237109" y="565293"/>
                    </a:cubicBezTo>
                    <a:cubicBezTo>
                      <a:pt x="234453" y="553909"/>
                      <a:pt x="232176" y="545244"/>
                      <a:pt x="230342" y="539615"/>
                    </a:cubicBezTo>
                    <a:cubicBezTo>
                      <a:pt x="197454" y="525132"/>
                      <a:pt x="184931" y="519439"/>
                      <a:pt x="179745" y="517036"/>
                    </a:cubicBezTo>
                    <a:cubicBezTo>
                      <a:pt x="171774" y="520163"/>
                      <a:pt x="164127" y="524061"/>
                      <a:pt x="156913" y="528673"/>
                    </a:cubicBezTo>
                    <a:cubicBezTo>
                      <a:pt x="148304" y="534259"/>
                      <a:pt x="139371" y="539328"/>
                      <a:pt x="130160" y="543852"/>
                    </a:cubicBezTo>
                    <a:lnTo>
                      <a:pt x="126239" y="545560"/>
                    </a:lnTo>
                    <a:lnTo>
                      <a:pt x="122444" y="543410"/>
                    </a:lnTo>
                    <a:cubicBezTo>
                      <a:pt x="113969" y="537718"/>
                      <a:pt x="92213" y="517099"/>
                      <a:pt x="55720" y="480164"/>
                    </a:cubicBezTo>
                    <a:lnTo>
                      <a:pt x="52557" y="476875"/>
                    </a:lnTo>
                    <a:lnTo>
                      <a:pt x="53759" y="472511"/>
                    </a:lnTo>
                    <a:cubicBezTo>
                      <a:pt x="54898" y="468337"/>
                      <a:pt x="59009" y="458407"/>
                      <a:pt x="80955" y="420459"/>
                    </a:cubicBezTo>
                    <a:cubicBezTo>
                      <a:pt x="79374" y="416601"/>
                      <a:pt x="76148" y="409138"/>
                      <a:pt x="69760" y="395161"/>
                    </a:cubicBezTo>
                    <a:cubicBezTo>
                      <a:pt x="65687" y="385895"/>
                      <a:pt x="62593" y="376230"/>
                      <a:pt x="60526" y="366321"/>
                    </a:cubicBezTo>
                    <a:cubicBezTo>
                      <a:pt x="53190" y="365056"/>
                      <a:pt x="44588" y="363095"/>
                      <a:pt x="34912" y="360502"/>
                    </a:cubicBezTo>
                    <a:cubicBezTo>
                      <a:pt x="21061" y="356454"/>
                      <a:pt x="11511" y="354178"/>
                      <a:pt x="6325" y="352849"/>
                    </a:cubicBezTo>
                    <a:lnTo>
                      <a:pt x="0" y="351585"/>
                    </a:lnTo>
                    <a:lnTo>
                      <a:pt x="0" y="246153"/>
                    </a:lnTo>
                    <a:lnTo>
                      <a:pt x="6325" y="244699"/>
                    </a:lnTo>
                    <a:cubicBezTo>
                      <a:pt x="10752" y="243687"/>
                      <a:pt x="19733" y="241220"/>
                      <a:pt x="33773" y="237109"/>
                    </a:cubicBezTo>
                    <a:cubicBezTo>
                      <a:pt x="42224" y="234503"/>
                      <a:pt x="50819" y="232391"/>
                      <a:pt x="59514" y="230785"/>
                    </a:cubicBezTo>
                    <a:cubicBezTo>
                      <a:pt x="62171" y="225535"/>
                      <a:pt x="65839" y="216934"/>
                      <a:pt x="70962" y="205170"/>
                    </a:cubicBezTo>
                    <a:cubicBezTo>
                      <a:pt x="74537" y="196106"/>
                      <a:pt x="78765" y="187313"/>
                      <a:pt x="83611" y="178860"/>
                    </a:cubicBezTo>
                    <a:cubicBezTo>
                      <a:pt x="67800" y="150020"/>
                      <a:pt x="59704" y="138635"/>
                      <a:pt x="55720" y="133892"/>
                    </a:cubicBezTo>
                    <a:lnTo>
                      <a:pt x="51609" y="129275"/>
                    </a:lnTo>
                    <a:lnTo>
                      <a:pt x="55151" y="124152"/>
                    </a:lnTo>
                    <a:cubicBezTo>
                      <a:pt x="60969" y="115803"/>
                      <a:pt x="82599" y="93351"/>
                      <a:pt x="121306" y="55656"/>
                    </a:cubicBezTo>
                    <a:lnTo>
                      <a:pt x="125290" y="51798"/>
                    </a:lnTo>
                    <a:lnTo>
                      <a:pt x="130287" y="54265"/>
                    </a:lnTo>
                    <a:cubicBezTo>
                      <a:pt x="148100" y="62579"/>
                      <a:pt x="165230" y="72286"/>
                      <a:pt x="181516" y="83295"/>
                    </a:cubicBezTo>
                    <a:cubicBezTo>
                      <a:pt x="198335" y="75456"/>
                      <a:pt x="215637" y="68697"/>
                      <a:pt x="233315" y="63056"/>
                    </a:cubicBezTo>
                    <a:cubicBezTo>
                      <a:pt x="234516" y="58692"/>
                      <a:pt x="236730" y="50787"/>
                      <a:pt x="240525" y="36430"/>
                    </a:cubicBezTo>
                    <a:cubicBezTo>
                      <a:pt x="243813" y="23780"/>
                      <a:pt x="246849" y="13535"/>
                      <a:pt x="249252" y="5566"/>
                    </a:cubicBezTo>
                    <a:lnTo>
                      <a:pt x="250960" y="0"/>
                    </a:lnTo>
                    <a:lnTo>
                      <a:pt x="352154" y="0"/>
                    </a:lnTo>
                    <a:lnTo>
                      <a:pt x="354178" y="4933"/>
                    </a:lnTo>
                    <a:cubicBezTo>
                      <a:pt x="357466" y="13155"/>
                      <a:pt x="362906" y="31560"/>
                      <a:pt x="370748" y="61285"/>
                    </a:cubicBezTo>
                    <a:cubicBezTo>
                      <a:pt x="374733" y="62930"/>
                      <a:pt x="382196" y="65902"/>
                      <a:pt x="396046" y="71089"/>
                    </a:cubicBezTo>
                    <a:cubicBezTo>
                      <a:pt x="405168" y="74339"/>
                      <a:pt x="413907" y="78581"/>
                      <a:pt x="422104" y="83738"/>
                    </a:cubicBezTo>
                    <a:cubicBezTo>
                      <a:pt x="429774" y="80828"/>
                      <a:pt x="437076" y="77029"/>
                      <a:pt x="443860" y="72417"/>
                    </a:cubicBezTo>
                    <a:cubicBezTo>
                      <a:pt x="452652" y="66680"/>
                      <a:pt x="461823" y="61545"/>
                      <a:pt x="471309" y="57048"/>
                    </a:cubicBezTo>
                    <a:lnTo>
                      <a:pt x="475041" y="55467"/>
                    </a:lnTo>
                    <a:lnTo>
                      <a:pt x="478519" y="57554"/>
                    </a:lnTo>
                    <a:cubicBezTo>
                      <a:pt x="491900" y="66456"/>
                      <a:pt x="504043" y="77089"/>
                      <a:pt x="514633" y="89177"/>
                    </a:cubicBezTo>
                    <a:cubicBezTo>
                      <a:pt x="524848" y="100093"/>
                      <a:pt x="535636" y="110459"/>
                      <a:pt x="546951" y="120231"/>
                    </a:cubicBezTo>
                    <a:lnTo>
                      <a:pt x="552138" y="124342"/>
                    </a:lnTo>
                    <a:lnTo>
                      <a:pt x="548975" y="130160"/>
                    </a:lnTo>
                    <a:cubicBezTo>
                      <a:pt x="536326" y="153055"/>
                      <a:pt x="526966" y="169752"/>
                      <a:pt x="519629" y="180757"/>
                    </a:cubicBezTo>
                    <a:cubicBezTo>
                      <a:pt x="531140" y="213835"/>
                      <a:pt x="536326" y="228002"/>
                      <a:pt x="538603" y="233884"/>
                    </a:cubicBezTo>
                    <a:cubicBezTo>
                      <a:pt x="547898" y="235304"/>
                      <a:pt x="557071" y="237418"/>
                      <a:pt x="566052" y="240208"/>
                    </a:cubicBezTo>
                    <a:cubicBezTo>
                      <a:pt x="579713" y="244193"/>
                      <a:pt x="589326" y="246533"/>
                      <a:pt x="594449" y="247798"/>
                    </a:cubicBezTo>
                    <a:lnTo>
                      <a:pt x="600774" y="249063"/>
                    </a:lnTo>
                    <a:lnTo>
                      <a:pt x="600774" y="354431"/>
                    </a:lnTo>
                    <a:lnTo>
                      <a:pt x="594449" y="355822"/>
                    </a:lnTo>
                    <a:cubicBezTo>
                      <a:pt x="591224" y="356581"/>
                      <a:pt x="583824" y="358542"/>
                      <a:pt x="567000" y="363475"/>
                    </a:cubicBezTo>
                    <a:cubicBezTo>
                      <a:pt x="558481" y="366068"/>
                      <a:pt x="549825" y="368180"/>
                      <a:pt x="541070" y="369799"/>
                    </a:cubicBezTo>
                    <a:cubicBezTo>
                      <a:pt x="537042" y="378188"/>
                      <a:pt x="533453" y="386780"/>
                      <a:pt x="530318" y="395541"/>
                    </a:cubicBezTo>
                    <a:cubicBezTo>
                      <a:pt x="527320" y="404886"/>
                      <a:pt x="523064" y="413779"/>
                      <a:pt x="517669" y="421977"/>
                    </a:cubicBezTo>
                    <a:cubicBezTo>
                      <a:pt x="520388" y="426594"/>
                      <a:pt x="524562" y="433804"/>
                      <a:pt x="530318" y="443481"/>
                    </a:cubicBezTo>
                    <a:cubicBezTo>
                      <a:pt x="534778" y="451841"/>
                      <a:pt x="539829" y="459873"/>
                      <a:pt x="545434" y="467514"/>
                    </a:cubicBezTo>
                    <a:lnTo>
                      <a:pt x="548975" y="472068"/>
                    </a:lnTo>
                    <a:lnTo>
                      <a:pt x="545687" y="476875"/>
                    </a:lnTo>
                    <a:cubicBezTo>
                      <a:pt x="539868" y="485223"/>
                      <a:pt x="518364" y="507612"/>
                      <a:pt x="479911" y="545307"/>
                    </a:cubicBezTo>
                    <a:lnTo>
                      <a:pt x="475989" y="549165"/>
                    </a:lnTo>
                    <a:lnTo>
                      <a:pt x="470993" y="546825"/>
                    </a:lnTo>
                    <a:cubicBezTo>
                      <a:pt x="453461" y="538432"/>
                      <a:pt x="436552" y="528794"/>
                      <a:pt x="420396" y="517985"/>
                    </a:cubicBezTo>
                    <a:cubicBezTo>
                      <a:pt x="404480" y="527209"/>
                      <a:pt x="387278" y="534009"/>
                      <a:pt x="369357" y="538160"/>
                    </a:cubicBezTo>
                    <a:cubicBezTo>
                      <a:pt x="365738" y="546270"/>
                      <a:pt x="363024" y="554756"/>
                      <a:pt x="361261" y="563459"/>
                    </a:cubicBezTo>
                    <a:cubicBezTo>
                      <a:pt x="359082" y="574856"/>
                      <a:pt x="355690" y="585987"/>
                      <a:pt x="351142" y="596663"/>
                    </a:cubicBezTo>
                    <a:close/>
                    <a:moveTo>
                      <a:pt x="259056" y="585026"/>
                    </a:moveTo>
                    <a:lnTo>
                      <a:pt x="338809" y="585026"/>
                    </a:lnTo>
                    <a:cubicBezTo>
                      <a:pt x="341634" y="576740"/>
                      <a:pt x="343957" y="568291"/>
                      <a:pt x="345766" y="559727"/>
                    </a:cubicBezTo>
                    <a:cubicBezTo>
                      <a:pt x="347926" y="548210"/>
                      <a:pt x="351851" y="537095"/>
                      <a:pt x="357403" y="526776"/>
                    </a:cubicBezTo>
                    <a:lnTo>
                      <a:pt x="359301" y="523803"/>
                    </a:lnTo>
                    <a:lnTo>
                      <a:pt x="362779" y="523171"/>
                    </a:lnTo>
                    <a:cubicBezTo>
                      <a:pt x="381877" y="519133"/>
                      <a:pt x="400144" y="511861"/>
                      <a:pt x="416791" y="501667"/>
                    </a:cubicBezTo>
                    <a:lnTo>
                      <a:pt x="421092" y="499137"/>
                    </a:lnTo>
                    <a:lnTo>
                      <a:pt x="425203" y="501920"/>
                    </a:lnTo>
                    <a:cubicBezTo>
                      <a:pt x="440490" y="512398"/>
                      <a:pt x="456512" y="521761"/>
                      <a:pt x="473143" y="529938"/>
                    </a:cubicBezTo>
                    <a:cubicBezTo>
                      <a:pt x="507612" y="496038"/>
                      <a:pt x="523044" y="479721"/>
                      <a:pt x="529559" y="472005"/>
                    </a:cubicBezTo>
                    <a:cubicBezTo>
                      <a:pt x="525638" y="466376"/>
                      <a:pt x="521274" y="459356"/>
                      <a:pt x="516910" y="451197"/>
                    </a:cubicBezTo>
                    <a:cubicBezTo>
                      <a:pt x="506853" y="433615"/>
                      <a:pt x="503185" y="427480"/>
                      <a:pt x="501920" y="425393"/>
                    </a:cubicBezTo>
                    <a:lnTo>
                      <a:pt x="498631" y="420206"/>
                    </a:lnTo>
                    <a:lnTo>
                      <a:pt x="502869" y="415716"/>
                    </a:lnTo>
                    <a:cubicBezTo>
                      <a:pt x="509006" y="408080"/>
                      <a:pt x="513583" y="399312"/>
                      <a:pt x="516340" y="389912"/>
                    </a:cubicBezTo>
                    <a:cubicBezTo>
                      <a:pt x="520091" y="379022"/>
                      <a:pt x="524702" y="368448"/>
                      <a:pt x="530128" y="358289"/>
                    </a:cubicBezTo>
                    <a:lnTo>
                      <a:pt x="532089" y="355126"/>
                    </a:lnTo>
                    <a:lnTo>
                      <a:pt x="535820" y="354620"/>
                    </a:lnTo>
                    <a:cubicBezTo>
                      <a:pt x="545145" y="353140"/>
                      <a:pt x="554358" y="351027"/>
                      <a:pt x="563395" y="348296"/>
                    </a:cubicBezTo>
                    <a:cubicBezTo>
                      <a:pt x="572756" y="345513"/>
                      <a:pt x="580219" y="343426"/>
                      <a:pt x="585531" y="341971"/>
                    </a:cubicBezTo>
                    <a:lnTo>
                      <a:pt x="585531" y="261838"/>
                    </a:lnTo>
                    <a:cubicBezTo>
                      <a:pt x="579839" y="260447"/>
                      <a:pt x="572123" y="258297"/>
                      <a:pt x="562130" y="255514"/>
                    </a:cubicBezTo>
                    <a:cubicBezTo>
                      <a:pt x="553523" y="252704"/>
                      <a:pt x="544703" y="250590"/>
                      <a:pt x="535757" y="249189"/>
                    </a:cubicBezTo>
                    <a:cubicBezTo>
                      <a:pt x="527978" y="251087"/>
                      <a:pt x="527851" y="250897"/>
                      <a:pt x="504134" y="182022"/>
                    </a:cubicBezTo>
                    <a:lnTo>
                      <a:pt x="502806" y="178290"/>
                    </a:lnTo>
                    <a:lnTo>
                      <a:pt x="505019" y="175002"/>
                    </a:lnTo>
                    <a:cubicBezTo>
                      <a:pt x="511344" y="165325"/>
                      <a:pt x="520957" y="149703"/>
                      <a:pt x="532721" y="127883"/>
                    </a:cubicBezTo>
                    <a:cubicBezTo>
                      <a:pt x="525764" y="121559"/>
                      <a:pt x="516214" y="112451"/>
                      <a:pt x="503881" y="99739"/>
                    </a:cubicBezTo>
                    <a:cubicBezTo>
                      <a:pt x="495063" y="89814"/>
                      <a:pt x="485203" y="80866"/>
                      <a:pt x="474472" y="73049"/>
                    </a:cubicBezTo>
                    <a:cubicBezTo>
                      <a:pt x="469538" y="75516"/>
                      <a:pt x="462328" y="79690"/>
                      <a:pt x="453031" y="85698"/>
                    </a:cubicBezTo>
                    <a:cubicBezTo>
                      <a:pt x="443673" y="92016"/>
                      <a:pt x="433388" y="96838"/>
                      <a:pt x="422547" y="99992"/>
                    </a:cubicBezTo>
                    <a:lnTo>
                      <a:pt x="418752" y="101004"/>
                    </a:lnTo>
                    <a:lnTo>
                      <a:pt x="416222" y="98601"/>
                    </a:lnTo>
                    <a:cubicBezTo>
                      <a:pt x="408397" y="93265"/>
                      <a:pt x="399887" y="89010"/>
                      <a:pt x="390924" y="85951"/>
                    </a:cubicBezTo>
                    <a:cubicBezTo>
                      <a:pt x="374733" y="79627"/>
                      <a:pt x="365056" y="76022"/>
                      <a:pt x="361261" y="74314"/>
                    </a:cubicBezTo>
                    <a:lnTo>
                      <a:pt x="357846" y="72733"/>
                    </a:lnTo>
                    <a:lnTo>
                      <a:pt x="356454" y="69065"/>
                    </a:lnTo>
                    <a:cubicBezTo>
                      <a:pt x="349750" y="43450"/>
                      <a:pt x="344691" y="25551"/>
                      <a:pt x="341339" y="15812"/>
                    </a:cubicBezTo>
                    <a:lnTo>
                      <a:pt x="262597" y="15812"/>
                    </a:lnTo>
                    <a:cubicBezTo>
                      <a:pt x="260574" y="22642"/>
                      <a:pt x="258233" y="30927"/>
                      <a:pt x="255767" y="40477"/>
                    </a:cubicBezTo>
                    <a:cubicBezTo>
                      <a:pt x="252605" y="52368"/>
                      <a:pt x="248494" y="67483"/>
                      <a:pt x="247039" y="72100"/>
                    </a:cubicBezTo>
                    <a:lnTo>
                      <a:pt x="245395" y="77413"/>
                    </a:lnTo>
                    <a:lnTo>
                      <a:pt x="239892" y="77413"/>
                    </a:lnTo>
                    <a:cubicBezTo>
                      <a:pt x="238184" y="77413"/>
                      <a:pt x="229077" y="79374"/>
                      <a:pt x="183603" y="99233"/>
                    </a:cubicBezTo>
                    <a:lnTo>
                      <a:pt x="179429" y="101067"/>
                    </a:lnTo>
                    <a:lnTo>
                      <a:pt x="175887" y="98664"/>
                    </a:lnTo>
                    <a:cubicBezTo>
                      <a:pt x="160909" y="88053"/>
                      <a:pt x="145038" y="78763"/>
                      <a:pt x="128453" y="70899"/>
                    </a:cubicBezTo>
                    <a:cubicBezTo>
                      <a:pt x="94047" y="104546"/>
                      <a:pt x="78552" y="120863"/>
                      <a:pt x="71847" y="128642"/>
                    </a:cubicBezTo>
                    <a:cubicBezTo>
                      <a:pt x="82260" y="143775"/>
                      <a:pt x="91662" y="159579"/>
                      <a:pt x="99992" y="175950"/>
                    </a:cubicBezTo>
                    <a:lnTo>
                      <a:pt x="102269" y="180188"/>
                    </a:lnTo>
                    <a:lnTo>
                      <a:pt x="99549" y="184172"/>
                    </a:lnTo>
                    <a:cubicBezTo>
                      <a:pt x="93979" y="192851"/>
                      <a:pt x="89296" y="202068"/>
                      <a:pt x="85572" y="211684"/>
                    </a:cubicBezTo>
                    <a:cubicBezTo>
                      <a:pt x="79247" y="227116"/>
                      <a:pt x="74504" y="236983"/>
                      <a:pt x="71658" y="242232"/>
                    </a:cubicBezTo>
                    <a:lnTo>
                      <a:pt x="69760" y="245711"/>
                    </a:lnTo>
                    <a:lnTo>
                      <a:pt x="65839" y="246217"/>
                    </a:lnTo>
                    <a:cubicBezTo>
                      <a:pt x="56507" y="247659"/>
                      <a:pt x="47292" y="249773"/>
                      <a:pt x="38264" y="252541"/>
                    </a:cubicBezTo>
                    <a:cubicBezTo>
                      <a:pt x="28650" y="255324"/>
                      <a:pt x="21314" y="257411"/>
                      <a:pt x="16064" y="258866"/>
                    </a:cubicBezTo>
                    <a:lnTo>
                      <a:pt x="16064" y="338999"/>
                    </a:lnTo>
                    <a:cubicBezTo>
                      <a:pt x="21820" y="340390"/>
                      <a:pt x="29536" y="342540"/>
                      <a:pt x="39529" y="345323"/>
                    </a:cubicBezTo>
                    <a:cubicBezTo>
                      <a:pt x="49083" y="348043"/>
                      <a:pt x="58800" y="350156"/>
                      <a:pt x="68622" y="351648"/>
                    </a:cubicBezTo>
                    <a:lnTo>
                      <a:pt x="74567" y="352407"/>
                    </a:lnTo>
                    <a:lnTo>
                      <a:pt x="75452" y="358352"/>
                    </a:lnTo>
                    <a:cubicBezTo>
                      <a:pt x="77200" y="368796"/>
                      <a:pt x="80327" y="378962"/>
                      <a:pt x="84750" y="388583"/>
                    </a:cubicBezTo>
                    <a:cubicBezTo>
                      <a:pt x="94679" y="410593"/>
                      <a:pt x="96893" y="416222"/>
                      <a:pt x="97399" y="418625"/>
                    </a:cubicBezTo>
                    <a:lnTo>
                      <a:pt x="98537" y="421977"/>
                    </a:lnTo>
                    <a:lnTo>
                      <a:pt x="96766" y="425076"/>
                    </a:lnTo>
                    <a:cubicBezTo>
                      <a:pt x="80259" y="453411"/>
                      <a:pt x="73555" y="466566"/>
                      <a:pt x="70836" y="472637"/>
                    </a:cubicBezTo>
                    <a:cubicBezTo>
                      <a:pt x="104672" y="506980"/>
                      <a:pt x="120420" y="521527"/>
                      <a:pt x="127757" y="527345"/>
                    </a:cubicBezTo>
                    <a:cubicBezTo>
                      <a:pt x="132627" y="524815"/>
                      <a:pt x="139584" y="521021"/>
                      <a:pt x="148628" y="515139"/>
                    </a:cubicBezTo>
                    <a:cubicBezTo>
                      <a:pt x="157902" y="509154"/>
                      <a:pt x="167888" y="504351"/>
                      <a:pt x="178354" y="500845"/>
                    </a:cubicBezTo>
                    <a:lnTo>
                      <a:pt x="181959" y="499770"/>
                    </a:lnTo>
                    <a:lnTo>
                      <a:pt x="185058" y="501857"/>
                    </a:lnTo>
                    <a:cubicBezTo>
                      <a:pt x="186196" y="502489"/>
                      <a:pt x="195240" y="506727"/>
                      <a:pt x="240019" y="526460"/>
                    </a:cubicBezTo>
                    <a:lnTo>
                      <a:pt x="243054" y="527788"/>
                    </a:lnTo>
                    <a:lnTo>
                      <a:pt x="244193" y="530887"/>
                    </a:lnTo>
                    <a:cubicBezTo>
                      <a:pt x="247661" y="540971"/>
                      <a:pt x="250512" y="551258"/>
                      <a:pt x="252731" y="561688"/>
                    </a:cubicBezTo>
                    <a:cubicBezTo>
                      <a:pt x="254324" y="569600"/>
                      <a:pt x="256437" y="577392"/>
                      <a:pt x="259056" y="585026"/>
                    </a:cubicBezTo>
                    <a:close/>
                  </a:path>
                </a:pathLst>
              </a:custGeom>
              <a:grpFill/>
              <a:ln w="6271" cap="flat">
                <a:noFill/>
                <a:prstDash val="solid"/>
                <a:miter/>
              </a:ln>
            </p:spPr>
            <p:txBody>
              <a:bodyPr rtlCol="0" anchor="ctr"/>
              <a:lstStyle/>
              <a:p>
                <a:endParaRPr lang="en-US"/>
              </a:p>
            </p:txBody>
          </p:sp>
        </p:grpSp>
      </p:grpSp>
      <p:grpSp>
        <p:nvGrpSpPr>
          <p:cNvPr id="52" name="Group 51">
            <a:extLst>
              <a:ext uri="{FF2B5EF4-FFF2-40B4-BE49-F238E27FC236}">
                <a16:creationId xmlns:a16="http://schemas.microsoft.com/office/drawing/2014/main" id="{3C3D124F-FC58-590A-B8AC-C5D2BD675287}"/>
              </a:ext>
            </a:extLst>
          </p:cNvPr>
          <p:cNvGrpSpPr/>
          <p:nvPr/>
        </p:nvGrpSpPr>
        <p:grpSpPr>
          <a:xfrm>
            <a:off x="3951834" y="3242604"/>
            <a:ext cx="977538" cy="952537"/>
            <a:chOff x="3951834" y="3242604"/>
            <a:chExt cx="977538" cy="952537"/>
          </a:xfrm>
        </p:grpSpPr>
        <p:sp>
          <p:nvSpPr>
            <p:cNvPr id="53" name="Oval 52">
              <a:extLst>
                <a:ext uri="{FF2B5EF4-FFF2-40B4-BE49-F238E27FC236}">
                  <a16:creationId xmlns:a16="http://schemas.microsoft.com/office/drawing/2014/main" id="{EF32CCC4-30BA-AA65-EA1F-FF07F8508CEC}"/>
                </a:ext>
              </a:extLst>
            </p:cNvPr>
            <p:cNvSpPr/>
            <p:nvPr/>
          </p:nvSpPr>
          <p:spPr>
            <a:xfrm>
              <a:off x="4032074" y="3242604"/>
              <a:ext cx="817057" cy="836740"/>
            </a:xfrm>
            <a:prstGeom prst="ellipse">
              <a:avLst/>
            </a:prstGeom>
            <a:solidFill>
              <a:schemeClr val="accent3"/>
            </a:solidFill>
            <a:ln w="25400" cap="flat" cmpd="sng" algn="ctr">
              <a:solidFill>
                <a:schemeClr val="accent3">
                  <a:lumMod val="75000"/>
                </a:schemeClr>
              </a:solidFill>
              <a:prstDash val="solid"/>
            </a:ln>
            <a:effectLst/>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srgbClr val="FFFFFF"/>
                </a:solidFill>
                <a:effectLst/>
                <a:uLnTx/>
                <a:uFillTx/>
                <a:latin typeface="Metropolis"/>
                <a:ea typeface="+mn-ea"/>
                <a:cs typeface="+mn-cs"/>
              </a:endParaRPr>
            </a:p>
          </p:txBody>
        </p:sp>
        <p:sp>
          <p:nvSpPr>
            <p:cNvPr id="54" name="Text Placeholder 9">
              <a:extLst>
                <a:ext uri="{FF2B5EF4-FFF2-40B4-BE49-F238E27FC236}">
                  <a16:creationId xmlns:a16="http://schemas.microsoft.com/office/drawing/2014/main" id="{E6F5E188-E5AB-53C7-E5E2-BCC36A31E86E}"/>
                </a:ext>
              </a:extLst>
            </p:cNvPr>
            <p:cNvSpPr txBox="1">
              <a:spLocks/>
            </p:cNvSpPr>
            <p:nvPr/>
          </p:nvSpPr>
          <p:spPr>
            <a:xfrm>
              <a:off x="3951834" y="4127107"/>
              <a:ext cx="977538" cy="68034"/>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lang="en-GB" sz="1100" dirty="0">
                  <a:solidFill>
                    <a:srgbClr val="3F3F3F"/>
                  </a:solidFill>
                  <a:latin typeface="Metropolis"/>
                </a:rPr>
                <a:t>VCF</a:t>
              </a:r>
              <a:r>
                <a:rPr kumimoji="0" lang="en-GB" sz="1100" b="0" i="0" u="none" strike="noStrike" kern="1200" cap="none" spc="0" normalizeH="0" baseline="0" noProof="0" dirty="0">
                  <a:ln>
                    <a:noFill/>
                  </a:ln>
                  <a:solidFill>
                    <a:srgbClr val="3F3F3F"/>
                  </a:solidFill>
                  <a:effectLst/>
                  <a:uLnTx/>
                  <a:uFillTx/>
                  <a:latin typeface="Metropolis"/>
                  <a:ea typeface="+mn-ea"/>
                  <a:cs typeface="+mn-cs"/>
                </a:rPr>
                <a:t> Operations</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grpSp>
          <p:nvGrpSpPr>
            <p:cNvPr id="55" name="Picture Placeholder 97" descr="Operations">
              <a:extLst>
                <a:ext uri="{FF2B5EF4-FFF2-40B4-BE49-F238E27FC236}">
                  <a16:creationId xmlns:a16="http://schemas.microsoft.com/office/drawing/2014/main" id="{32D1957F-4A97-9CAE-A811-8E844DE3ADBF}"/>
                </a:ext>
              </a:extLst>
            </p:cNvPr>
            <p:cNvGrpSpPr/>
            <p:nvPr/>
          </p:nvGrpSpPr>
          <p:grpSpPr>
            <a:xfrm>
              <a:off x="4193308" y="3411518"/>
              <a:ext cx="494588" cy="498913"/>
              <a:chOff x="7125981" y="3179818"/>
              <a:chExt cx="600637" cy="599168"/>
            </a:xfrm>
            <a:solidFill>
              <a:schemeClr val="bg1"/>
            </a:solidFill>
          </p:grpSpPr>
          <p:sp>
            <p:nvSpPr>
              <p:cNvPr id="56" name="Picture Placeholder 97">
                <a:extLst>
                  <a:ext uri="{FF2B5EF4-FFF2-40B4-BE49-F238E27FC236}">
                    <a16:creationId xmlns:a16="http://schemas.microsoft.com/office/drawing/2014/main" id="{078B4C91-9514-9F3C-AD6F-DCD4FD01BA89}"/>
                  </a:ext>
                </a:extLst>
              </p:cNvPr>
              <p:cNvSpPr/>
              <p:nvPr/>
            </p:nvSpPr>
            <p:spPr>
              <a:xfrm>
                <a:off x="7276406" y="3329940"/>
                <a:ext cx="292196" cy="292196"/>
              </a:xfrm>
              <a:custGeom>
                <a:avLst/>
                <a:gdLst>
                  <a:gd name="connsiteX0" fmla="*/ 146098 w 292196"/>
                  <a:gd name="connsiteY0" fmla="*/ 292197 h 292196"/>
                  <a:gd name="connsiteX1" fmla="*/ 0 w 292196"/>
                  <a:gd name="connsiteY1" fmla="*/ 146098 h 292196"/>
                  <a:gd name="connsiteX2" fmla="*/ 146098 w 292196"/>
                  <a:gd name="connsiteY2" fmla="*/ 0 h 292196"/>
                  <a:gd name="connsiteX3" fmla="*/ 292197 w 292196"/>
                  <a:gd name="connsiteY3" fmla="*/ 146098 h 292196"/>
                  <a:gd name="connsiteX4" fmla="*/ 146098 w 292196"/>
                  <a:gd name="connsiteY4" fmla="*/ 292197 h 292196"/>
                  <a:gd name="connsiteX5" fmla="*/ 146098 w 292196"/>
                  <a:gd name="connsiteY5" fmla="*/ 15812 h 292196"/>
                  <a:gd name="connsiteX6" fmla="*/ 15812 w 292196"/>
                  <a:gd name="connsiteY6" fmla="*/ 146098 h 292196"/>
                  <a:gd name="connsiteX7" fmla="*/ 146098 w 292196"/>
                  <a:gd name="connsiteY7" fmla="*/ 276385 h 292196"/>
                  <a:gd name="connsiteX8" fmla="*/ 276385 w 292196"/>
                  <a:gd name="connsiteY8" fmla="*/ 146098 h 292196"/>
                  <a:gd name="connsiteX9" fmla="*/ 146098 w 292196"/>
                  <a:gd name="connsiteY9" fmla="*/ 15812 h 29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2196" h="292196">
                    <a:moveTo>
                      <a:pt x="146098" y="292197"/>
                    </a:moveTo>
                    <a:cubicBezTo>
                      <a:pt x="65776" y="292197"/>
                      <a:pt x="0" y="226421"/>
                      <a:pt x="0" y="146098"/>
                    </a:cubicBezTo>
                    <a:cubicBezTo>
                      <a:pt x="0" y="65776"/>
                      <a:pt x="65776" y="0"/>
                      <a:pt x="146098" y="0"/>
                    </a:cubicBezTo>
                    <a:cubicBezTo>
                      <a:pt x="226421" y="0"/>
                      <a:pt x="292197" y="65776"/>
                      <a:pt x="292197" y="146098"/>
                    </a:cubicBezTo>
                    <a:cubicBezTo>
                      <a:pt x="292197" y="226421"/>
                      <a:pt x="226421" y="292197"/>
                      <a:pt x="146098" y="292197"/>
                    </a:cubicBezTo>
                    <a:close/>
                    <a:moveTo>
                      <a:pt x="146098" y="15812"/>
                    </a:moveTo>
                    <a:cubicBezTo>
                      <a:pt x="73998" y="15812"/>
                      <a:pt x="15812" y="74630"/>
                      <a:pt x="15812" y="146098"/>
                    </a:cubicBezTo>
                    <a:cubicBezTo>
                      <a:pt x="15812" y="217566"/>
                      <a:pt x="73998" y="276385"/>
                      <a:pt x="146098" y="276385"/>
                    </a:cubicBezTo>
                    <a:cubicBezTo>
                      <a:pt x="218199" y="276385"/>
                      <a:pt x="276385" y="218199"/>
                      <a:pt x="276385" y="146098"/>
                    </a:cubicBezTo>
                    <a:cubicBezTo>
                      <a:pt x="276385" y="73998"/>
                      <a:pt x="218199" y="15812"/>
                      <a:pt x="146098" y="15812"/>
                    </a:cubicBezTo>
                    <a:close/>
                  </a:path>
                </a:pathLst>
              </a:custGeom>
              <a:grpFill/>
              <a:ln w="6271" cap="flat">
                <a:noFill/>
                <a:prstDash val="solid"/>
                <a:miter/>
              </a:ln>
            </p:spPr>
            <p:txBody>
              <a:bodyPr rtlCol="0" anchor="ctr"/>
              <a:lstStyle/>
              <a:p>
                <a:endParaRPr lang="en-US"/>
              </a:p>
            </p:txBody>
          </p:sp>
          <p:grpSp>
            <p:nvGrpSpPr>
              <p:cNvPr id="57" name="Picture Placeholder 97">
                <a:extLst>
                  <a:ext uri="{FF2B5EF4-FFF2-40B4-BE49-F238E27FC236}">
                    <a16:creationId xmlns:a16="http://schemas.microsoft.com/office/drawing/2014/main" id="{1CCD99BF-3CCB-1FB6-0648-5F83741EE0DC}"/>
                  </a:ext>
                </a:extLst>
              </p:cNvPr>
              <p:cNvGrpSpPr/>
              <p:nvPr/>
            </p:nvGrpSpPr>
            <p:grpSpPr>
              <a:xfrm>
                <a:off x="7511149" y="3563353"/>
                <a:ext cx="215469" cy="215633"/>
                <a:chOff x="7511149" y="3563353"/>
                <a:chExt cx="215469" cy="215633"/>
              </a:xfrm>
              <a:grpFill/>
            </p:grpSpPr>
            <p:sp>
              <p:nvSpPr>
                <p:cNvPr id="78" name="Picture Placeholder 97">
                  <a:extLst>
                    <a:ext uri="{FF2B5EF4-FFF2-40B4-BE49-F238E27FC236}">
                      <a16:creationId xmlns:a16="http://schemas.microsoft.com/office/drawing/2014/main" id="{5830E1F5-2D13-EE72-2C75-A96FFEA8871B}"/>
                    </a:ext>
                  </a:extLst>
                </p:cNvPr>
                <p:cNvSpPr/>
                <p:nvPr/>
              </p:nvSpPr>
              <p:spPr>
                <a:xfrm>
                  <a:off x="7511149" y="3563353"/>
                  <a:ext cx="215469" cy="215633"/>
                </a:xfrm>
                <a:custGeom>
                  <a:avLst/>
                  <a:gdLst>
                    <a:gd name="connsiteX0" fmla="*/ 107418 w 215469"/>
                    <a:gd name="connsiteY0" fmla="*/ 215634 h 215633"/>
                    <a:gd name="connsiteX1" fmla="*/ 61249 w 215469"/>
                    <a:gd name="connsiteY1" fmla="*/ 204882 h 215633"/>
                    <a:gd name="connsiteX2" fmla="*/ 6225 w 215469"/>
                    <a:gd name="connsiteY2" fmla="*/ 143533 h 215633"/>
                    <a:gd name="connsiteX3" fmla="*/ 10652 w 215469"/>
                    <a:gd name="connsiteY3" fmla="*/ 61313 h 215633"/>
                    <a:gd name="connsiteX4" fmla="*/ 154220 w 215469"/>
                    <a:gd name="connsiteY4" fmla="*/ 10717 h 215633"/>
                    <a:gd name="connsiteX5" fmla="*/ 209244 w 215469"/>
                    <a:gd name="connsiteY5" fmla="*/ 72065 h 215633"/>
                    <a:gd name="connsiteX6" fmla="*/ 204817 w 215469"/>
                    <a:gd name="connsiteY6" fmla="*/ 154285 h 215633"/>
                    <a:gd name="connsiteX7" fmla="*/ 204817 w 215469"/>
                    <a:gd name="connsiteY7" fmla="*/ 154285 h 215633"/>
                    <a:gd name="connsiteX8" fmla="*/ 107418 w 215469"/>
                    <a:gd name="connsiteY8" fmla="*/ 215634 h 215633"/>
                    <a:gd name="connsiteX9" fmla="*/ 108051 w 215469"/>
                    <a:gd name="connsiteY9" fmla="*/ 15776 h 215633"/>
                    <a:gd name="connsiteX10" fmla="*/ 24566 w 215469"/>
                    <a:gd name="connsiteY10" fmla="*/ 68270 h 215633"/>
                    <a:gd name="connsiteX11" fmla="*/ 20771 w 215469"/>
                    <a:gd name="connsiteY11" fmla="*/ 138474 h 215633"/>
                    <a:gd name="connsiteX12" fmla="*/ 68206 w 215469"/>
                    <a:gd name="connsiteY12" fmla="*/ 190968 h 215633"/>
                    <a:gd name="connsiteX13" fmla="*/ 190903 w 215469"/>
                    <a:gd name="connsiteY13" fmla="*/ 147328 h 215633"/>
                    <a:gd name="connsiteX14" fmla="*/ 190903 w 215469"/>
                    <a:gd name="connsiteY14" fmla="*/ 147328 h 215633"/>
                    <a:gd name="connsiteX15" fmla="*/ 194698 w 215469"/>
                    <a:gd name="connsiteY15" fmla="*/ 77125 h 215633"/>
                    <a:gd name="connsiteX16" fmla="*/ 147263 w 215469"/>
                    <a:gd name="connsiteY16" fmla="*/ 24631 h 215633"/>
                    <a:gd name="connsiteX17" fmla="*/ 108051 w 215469"/>
                    <a:gd name="connsiteY17" fmla="*/ 15776 h 215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5469" h="215633">
                      <a:moveTo>
                        <a:pt x="107418" y="215634"/>
                      </a:moveTo>
                      <a:cubicBezTo>
                        <a:pt x="91607" y="215634"/>
                        <a:pt x="75795" y="212471"/>
                        <a:pt x="61249" y="204882"/>
                      </a:cubicBezTo>
                      <a:cubicBezTo>
                        <a:pt x="35318" y="192233"/>
                        <a:pt x="15712" y="170729"/>
                        <a:pt x="6225" y="143533"/>
                      </a:cubicBezTo>
                      <a:cubicBezTo>
                        <a:pt x="-3262" y="116337"/>
                        <a:pt x="-1997" y="87244"/>
                        <a:pt x="10652" y="61313"/>
                      </a:cubicBezTo>
                      <a:cubicBezTo>
                        <a:pt x="35950" y="7554"/>
                        <a:pt x="100461" y="-15214"/>
                        <a:pt x="154220" y="10717"/>
                      </a:cubicBezTo>
                      <a:cubicBezTo>
                        <a:pt x="180151" y="23366"/>
                        <a:pt x="199758" y="44869"/>
                        <a:pt x="209244" y="72065"/>
                      </a:cubicBezTo>
                      <a:cubicBezTo>
                        <a:pt x="218731" y="99261"/>
                        <a:pt x="217466" y="128354"/>
                        <a:pt x="204817" y="154285"/>
                      </a:cubicBezTo>
                      <a:lnTo>
                        <a:pt x="204817" y="154285"/>
                      </a:lnTo>
                      <a:cubicBezTo>
                        <a:pt x="186476" y="192865"/>
                        <a:pt x="147896" y="215634"/>
                        <a:pt x="107418" y="215634"/>
                      </a:cubicBezTo>
                      <a:close/>
                      <a:moveTo>
                        <a:pt x="108051" y="15776"/>
                      </a:moveTo>
                      <a:cubicBezTo>
                        <a:pt x="73898" y="15776"/>
                        <a:pt x="40378" y="35383"/>
                        <a:pt x="24566" y="68270"/>
                      </a:cubicBezTo>
                      <a:cubicBezTo>
                        <a:pt x="13814" y="90407"/>
                        <a:pt x="12549" y="115705"/>
                        <a:pt x="20771" y="138474"/>
                      </a:cubicBezTo>
                      <a:cubicBezTo>
                        <a:pt x="28993" y="161875"/>
                        <a:pt x="45437" y="180216"/>
                        <a:pt x="68206" y="190968"/>
                      </a:cubicBezTo>
                      <a:cubicBezTo>
                        <a:pt x="113743" y="213104"/>
                        <a:pt x="168767" y="193498"/>
                        <a:pt x="190903" y="147328"/>
                      </a:cubicBezTo>
                      <a:lnTo>
                        <a:pt x="190903" y="147328"/>
                      </a:lnTo>
                      <a:cubicBezTo>
                        <a:pt x="201655" y="125192"/>
                        <a:pt x="202920" y="99893"/>
                        <a:pt x="194698" y="77125"/>
                      </a:cubicBezTo>
                      <a:cubicBezTo>
                        <a:pt x="186476" y="53724"/>
                        <a:pt x="170032" y="35383"/>
                        <a:pt x="147263" y="24631"/>
                      </a:cubicBezTo>
                      <a:cubicBezTo>
                        <a:pt x="134614" y="18939"/>
                        <a:pt x="121333" y="15776"/>
                        <a:pt x="108051" y="15776"/>
                      </a:cubicBezTo>
                      <a:close/>
                    </a:path>
                  </a:pathLst>
                </a:custGeom>
                <a:grpFill/>
                <a:ln w="6271" cap="flat">
                  <a:noFill/>
                  <a:prstDash val="solid"/>
                  <a:miter/>
                </a:ln>
              </p:spPr>
              <p:txBody>
                <a:bodyPr rtlCol="0" anchor="ctr"/>
                <a:lstStyle/>
                <a:p>
                  <a:endParaRPr lang="en-US"/>
                </a:p>
              </p:txBody>
            </p:sp>
            <p:sp>
              <p:nvSpPr>
                <p:cNvPr id="79" name="Picture Placeholder 97">
                  <a:extLst>
                    <a:ext uri="{FF2B5EF4-FFF2-40B4-BE49-F238E27FC236}">
                      <a16:creationId xmlns:a16="http://schemas.microsoft.com/office/drawing/2014/main" id="{F3B71578-FE70-51B4-E6AA-548AAA5DBF31}"/>
                    </a:ext>
                  </a:extLst>
                </p:cNvPr>
                <p:cNvSpPr/>
                <p:nvPr/>
              </p:nvSpPr>
              <p:spPr>
                <a:xfrm>
                  <a:off x="7555321" y="3608728"/>
                  <a:ext cx="111945" cy="65270"/>
                </a:xfrm>
                <a:custGeom>
                  <a:avLst/>
                  <a:gdLst>
                    <a:gd name="connsiteX0" fmla="*/ 60716 w 111945"/>
                    <a:gd name="connsiteY0" fmla="*/ 127 h 65270"/>
                    <a:gd name="connsiteX1" fmla="*/ 15179 w 111945"/>
                    <a:gd name="connsiteY1" fmla="*/ 24161 h 65270"/>
                    <a:gd name="connsiteX2" fmla="*/ 0 w 111945"/>
                    <a:gd name="connsiteY2" fmla="*/ 19101 h 65270"/>
                    <a:gd name="connsiteX3" fmla="*/ 10119 w 111945"/>
                    <a:gd name="connsiteY3" fmla="*/ 65271 h 65270"/>
                    <a:gd name="connsiteX4" fmla="*/ 44905 w 111945"/>
                    <a:gd name="connsiteY4" fmla="*/ 33648 h 65270"/>
                    <a:gd name="connsiteX5" fmla="*/ 31623 w 111945"/>
                    <a:gd name="connsiteY5" fmla="*/ 29853 h 65270"/>
                    <a:gd name="connsiteX6" fmla="*/ 61981 w 111945"/>
                    <a:gd name="connsiteY6" fmla="*/ 15939 h 65270"/>
                    <a:gd name="connsiteX7" fmla="*/ 99929 w 111945"/>
                    <a:gd name="connsiteY7" fmla="*/ 32383 h 65270"/>
                    <a:gd name="connsiteX8" fmla="*/ 111945 w 111945"/>
                    <a:gd name="connsiteY8" fmla="*/ 22263 h 65270"/>
                    <a:gd name="connsiteX9" fmla="*/ 60716 w 111945"/>
                    <a:gd name="connsiteY9" fmla="*/ 127 h 6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945" h="65270">
                      <a:moveTo>
                        <a:pt x="60716" y="127"/>
                      </a:moveTo>
                      <a:cubicBezTo>
                        <a:pt x="43007" y="1392"/>
                        <a:pt x="25931" y="10247"/>
                        <a:pt x="15179" y="24161"/>
                      </a:cubicBezTo>
                      <a:lnTo>
                        <a:pt x="0" y="19101"/>
                      </a:lnTo>
                      <a:lnTo>
                        <a:pt x="10119" y="65271"/>
                      </a:lnTo>
                      <a:lnTo>
                        <a:pt x="44905" y="33648"/>
                      </a:lnTo>
                      <a:lnTo>
                        <a:pt x="31623" y="29853"/>
                      </a:lnTo>
                      <a:cubicBezTo>
                        <a:pt x="39845" y="21631"/>
                        <a:pt x="50597" y="16571"/>
                        <a:pt x="61981" y="15939"/>
                      </a:cubicBezTo>
                      <a:cubicBezTo>
                        <a:pt x="76528" y="15306"/>
                        <a:pt x="90442" y="20998"/>
                        <a:pt x="99929" y="32383"/>
                      </a:cubicBezTo>
                      <a:lnTo>
                        <a:pt x="111945" y="22263"/>
                      </a:lnTo>
                      <a:cubicBezTo>
                        <a:pt x="98664" y="7084"/>
                        <a:pt x="80322" y="-1138"/>
                        <a:pt x="60716" y="127"/>
                      </a:cubicBezTo>
                      <a:close/>
                    </a:path>
                  </a:pathLst>
                </a:custGeom>
                <a:grpFill/>
                <a:ln w="6271" cap="flat">
                  <a:noFill/>
                  <a:prstDash val="solid"/>
                  <a:miter/>
                </a:ln>
              </p:spPr>
              <p:txBody>
                <a:bodyPr rtlCol="0" anchor="ctr"/>
                <a:lstStyle/>
                <a:p>
                  <a:endParaRPr lang="en-US"/>
                </a:p>
              </p:txBody>
            </p:sp>
            <p:sp>
              <p:nvSpPr>
                <p:cNvPr id="80" name="Picture Placeholder 97">
                  <a:extLst>
                    <a:ext uri="{FF2B5EF4-FFF2-40B4-BE49-F238E27FC236}">
                      <a16:creationId xmlns:a16="http://schemas.microsoft.com/office/drawing/2014/main" id="{3078F6F6-CBDC-6003-F0AA-9F79C1F87925}"/>
                    </a:ext>
                  </a:extLst>
                </p:cNvPr>
                <p:cNvSpPr/>
                <p:nvPr/>
              </p:nvSpPr>
              <p:spPr>
                <a:xfrm>
                  <a:off x="7572398" y="3667674"/>
                  <a:ext cx="111945" cy="65143"/>
                </a:xfrm>
                <a:custGeom>
                  <a:avLst/>
                  <a:gdLst>
                    <a:gd name="connsiteX0" fmla="*/ 111945 w 111945"/>
                    <a:gd name="connsiteY0" fmla="*/ 46170 h 65143"/>
                    <a:gd name="connsiteX1" fmla="*/ 101826 w 111945"/>
                    <a:gd name="connsiteY1" fmla="*/ 0 h 65143"/>
                    <a:gd name="connsiteX2" fmla="*/ 67041 w 111945"/>
                    <a:gd name="connsiteY2" fmla="*/ 31623 h 65143"/>
                    <a:gd name="connsiteX3" fmla="*/ 80322 w 111945"/>
                    <a:gd name="connsiteY3" fmla="*/ 36050 h 65143"/>
                    <a:gd name="connsiteX4" fmla="*/ 49964 w 111945"/>
                    <a:gd name="connsiteY4" fmla="*/ 49964 h 65143"/>
                    <a:gd name="connsiteX5" fmla="*/ 12017 w 111945"/>
                    <a:gd name="connsiteY5" fmla="*/ 33520 h 65143"/>
                    <a:gd name="connsiteX6" fmla="*/ 0 w 111945"/>
                    <a:gd name="connsiteY6" fmla="*/ 43640 h 65143"/>
                    <a:gd name="connsiteX7" fmla="*/ 47435 w 111945"/>
                    <a:gd name="connsiteY7" fmla="*/ 65143 h 65143"/>
                    <a:gd name="connsiteX8" fmla="*/ 51229 w 111945"/>
                    <a:gd name="connsiteY8" fmla="*/ 65143 h 65143"/>
                    <a:gd name="connsiteX9" fmla="*/ 96766 w 111945"/>
                    <a:gd name="connsiteY9" fmla="*/ 41110 h 65143"/>
                    <a:gd name="connsiteX10" fmla="*/ 111945 w 111945"/>
                    <a:gd name="connsiteY10" fmla="*/ 46170 h 6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945" h="65143">
                      <a:moveTo>
                        <a:pt x="111945" y="46170"/>
                      </a:moveTo>
                      <a:lnTo>
                        <a:pt x="101826" y="0"/>
                      </a:lnTo>
                      <a:lnTo>
                        <a:pt x="67041" y="31623"/>
                      </a:lnTo>
                      <a:lnTo>
                        <a:pt x="80322" y="36050"/>
                      </a:lnTo>
                      <a:cubicBezTo>
                        <a:pt x="72100" y="44272"/>
                        <a:pt x="61981" y="49332"/>
                        <a:pt x="49964" y="49964"/>
                      </a:cubicBezTo>
                      <a:cubicBezTo>
                        <a:pt x="35418" y="50597"/>
                        <a:pt x="21504" y="44905"/>
                        <a:pt x="12017" y="33520"/>
                      </a:cubicBezTo>
                      <a:lnTo>
                        <a:pt x="0" y="43640"/>
                      </a:lnTo>
                      <a:cubicBezTo>
                        <a:pt x="12017" y="57554"/>
                        <a:pt x="29093" y="65143"/>
                        <a:pt x="47435" y="65143"/>
                      </a:cubicBezTo>
                      <a:cubicBezTo>
                        <a:pt x="48699" y="65143"/>
                        <a:pt x="49964" y="65143"/>
                        <a:pt x="51229" y="65143"/>
                      </a:cubicBezTo>
                      <a:cubicBezTo>
                        <a:pt x="68938" y="63878"/>
                        <a:pt x="86015" y="55024"/>
                        <a:pt x="96766" y="41110"/>
                      </a:cubicBezTo>
                      <a:lnTo>
                        <a:pt x="111945" y="46170"/>
                      </a:lnTo>
                      <a:close/>
                    </a:path>
                  </a:pathLst>
                </a:custGeom>
                <a:grpFill/>
                <a:ln w="6271" cap="flat">
                  <a:noFill/>
                  <a:prstDash val="solid"/>
                  <a:miter/>
                </a:ln>
              </p:spPr>
              <p:txBody>
                <a:bodyPr rtlCol="0" anchor="ctr"/>
                <a:lstStyle/>
                <a:p>
                  <a:endParaRPr lang="en-US"/>
                </a:p>
              </p:txBody>
            </p:sp>
          </p:grpSp>
          <p:grpSp>
            <p:nvGrpSpPr>
              <p:cNvPr id="58" name="Picture Placeholder 97">
                <a:extLst>
                  <a:ext uri="{FF2B5EF4-FFF2-40B4-BE49-F238E27FC236}">
                    <a16:creationId xmlns:a16="http://schemas.microsoft.com/office/drawing/2014/main" id="{18691E56-5491-E5A6-190D-417797A3E26A}"/>
                  </a:ext>
                </a:extLst>
              </p:cNvPr>
              <p:cNvGrpSpPr/>
              <p:nvPr/>
            </p:nvGrpSpPr>
            <p:grpSpPr>
              <a:xfrm>
                <a:off x="7125981" y="3179818"/>
                <a:ext cx="212306" cy="211470"/>
                <a:chOff x="7125981" y="3179818"/>
                <a:chExt cx="212306" cy="211470"/>
              </a:xfrm>
              <a:grpFill/>
            </p:grpSpPr>
            <p:sp>
              <p:nvSpPr>
                <p:cNvPr id="75" name="Picture Placeholder 97">
                  <a:extLst>
                    <a:ext uri="{FF2B5EF4-FFF2-40B4-BE49-F238E27FC236}">
                      <a16:creationId xmlns:a16="http://schemas.microsoft.com/office/drawing/2014/main" id="{233C580B-B744-9861-270D-CCAE0E47F9C7}"/>
                    </a:ext>
                  </a:extLst>
                </p:cNvPr>
                <p:cNvSpPr/>
                <p:nvPr/>
              </p:nvSpPr>
              <p:spPr>
                <a:xfrm>
                  <a:off x="7125981" y="3179818"/>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201655 w 212306"/>
                    <a:gd name="connsiteY7" fmla="*/ 151387 h 211470"/>
                    <a:gd name="connsiteX8" fmla="*/ 106153 w 212306"/>
                    <a:gd name="connsiteY8" fmla="*/ 211471 h 211470"/>
                    <a:gd name="connsiteX9" fmla="*/ 106153 w 212306"/>
                    <a:gd name="connsiteY9" fmla="*/ 15408 h 211470"/>
                    <a:gd name="connsiteX10" fmla="*/ 24566 w 212306"/>
                    <a:gd name="connsiteY10" fmla="*/ 66637 h 211470"/>
                    <a:gd name="connsiteX11" fmla="*/ 20771 w 212306"/>
                    <a:gd name="connsiteY11" fmla="*/ 135576 h 211470"/>
                    <a:gd name="connsiteX12" fmla="*/ 66941 w 212306"/>
                    <a:gd name="connsiteY12" fmla="*/ 186805 h 211470"/>
                    <a:gd name="connsiteX13" fmla="*/ 187108 w 212306"/>
                    <a:gd name="connsiteY13" fmla="*/ 144430 h 211470"/>
                    <a:gd name="connsiteX14" fmla="*/ 187108 w 212306"/>
                    <a:gd name="connsiteY14" fmla="*/ 144430 h 211470"/>
                    <a:gd name="connsiteX15" fmla="*/ 190903 w 212306"/>
                    <a:gd name="connsiteY15" fmla="*/ 75492 h 211470"/>
                    <a:gd name="connsiteX16" fmla="*/ 144734 w 212306"/>
                    <a:gd name="connsiteY16" fmla="*/ 24263 h 211470"/>
                    <a:gd name="connsiteX17" fmla="*/ 106153 w 212306"/>
                    <a:gd name="connsiteY17"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2306"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lnTo>
                        <a:pt x="201655" y="151387"/>
                      </a:ln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6"/>
                        <a:pt x="66941" y="186805"/>
                      </a:cubicBezTo>
                      <a:cubicBezTo>
                        <a:pt x="111846" y="208309"/>
                        <a:pt x="165605" y="189335"/>
                        <a:pt x="187108" y="144430"/>
                      </a:cubicBezTo>
                      <a:lnTo>
                        <a:pt x="187108" y="144430"/>
                      </a:ln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endParaRPr lang="en-US"/>
                </a:p>
              </p:txBody>
            </p:sp>
            <p:sp>
              <p:nvSpPr>
                <p:cNvPr id="76" name="Picture Placeholder 97">
                  <a:extLst>
                    <a:ext uri="{FF2B5EF4-FFF2-40B4-BE49-F238E27FC236}">
                      <a16:creationId xmlns:a16="http://schemas.microsoft.com/office/drawing/2014/main" id="{0B1AAE89-D9FD-F309-2B7B-04DDDF92F7B0}"/>
                    </a:ext>
                  </a:extLst>
                </p:cNvPr>
                <p:cNvSpPr/>
                <p:nvPr/>
              </p:nvSpPr>
              <p:spPr>
                <a:xfrm>
                  <a:off x="7190511" y="3216730"/>
                  <a:ext cx="84246" cy="140406"/>
                </a:xfrm>
                <a:custGeom>
                  <a:avLst/>
                  <a:gdLst>
                    <a:gd name="connsiteX0" fmla="*/ 41623 w 84246"/>
                    <a:gd name="connsiteY0" fmla="*/ 140406 h 140406"/>
                    <a:gd name="connsiteX1" fmla="*/ 41623 w 84246"/>
                    <a:gd name="connsiteY1" fmla="*/ 140406 h 140406"/>
                    <a:gd name="connsiteX2" fmla="*/ 41623 w 84246"/>
                    <a:gd name="connsiteY2" fmla="*/ 140406 h 140406"/>
                    <a:gd name="connsiteX3" fmla="*/ 34666 w 84246"/>
                    <a:gd name="connsiteY3" fmla="*/ 126492 h 140406"/>
                    <a:gd name="connsiteX4" fmla="*/ 6205 w 84246"/>
                    <a:gd name="connsiteY4" fmla="*/ 69571 h 140406"/>
                    <a:gd name="connsiteX5" fmla="*/ 1146 w 84246"/>
                    <a:gd name="connsiteY5" fmla="*/ 55024 h 140406"/>
                    <a:gd name="connsiteX6" fmla="*/ 1778 w 84246"/>
                    <a:gd name="connsiteY6" fmla="*/ 30991 h 140406"/>
                    <a:gd name="connsiteX7" fmla="*/ 42256 w 84246"/>
                    <a:gd name="connsiteY7" fmla="*/ 0 h 140406"/>
                    <a:gd name="connsiteX8" fmla="*/ 82733 w 84246"/>
                    <a:gd name="connsiteY8" fmla="*/ 30991 h 140406"/>
                    <a:gd name="connsiteX9" fmla="*/ 83365 w 84246"/>
                    <a:gd name="connsiteY9" fmla="*/ 54392 h 140406"/>
                    <a:gd name="connsiteX10" fmla="*/ 83365 w 84246"/>
                    <a:gd name="connsiteY10" fmla="*/ 54392 h 140406"/>
                    <a:gd name="connsiteX11" fmla="*/ 78306 w 84246"/>
                    <a:gd name="connsiteY11" fmla="*/ 68938 h 140406"/>
                    <a:gd name="connsiteX12" fmla="*/ 41623 w 84246"/>
                    <a:gd name="connsiteY12" fmla="*/ 140406 h 140406"/>
                    <a:gd name="connsiteX13" fmla="*/ 41623 w 84246"/>
                    <a:gd name="connsiteY13" fmla="*/ 16444 h 140406"/>
                    <a:gd name="connsiteX14" fmla="*/ 16325 w 84246"/>
                    <a:gd name="connsiteY14" fmla="*/ 35418 h 140406"/>
                    <a:gd name="connsiteX15" fmla="*/ 16325 w 84246"/>
                    <a:gd name="connsiteY15" fmla="*/ 52494 h 140406"/>
                    <a:gd name="connsiteX16" fmla="*/ 20119 w 84246"/>
                    <a:gd name="connsiteY16" fmla="*/ 63246 h 140406"/>
                    <a:gd name="connsiteX17" fmla="*/ 41623 w 84246"/>
                    <a:gd name="connsiteY17" fmla="*/ 106253 h 140406"/>
                    <a:gd name="connsiteX18" fmla="*/ 63127 w 84246"/>
                    <a:gd name="connsiteY18" fmla="*/ 63246 h 140406"/>
                    <a:gd name="connsiteX19" fmla="*/ 66921 w 84246"/>
                    <a:gd name="connsiteY19" fmla="*/ 52494 h 140406"/>
                    <a:gd name="connsiteX20" fmla="*/ 66921 w 84246"/>
                    <a:gd name="connsiteY20" fmla="*/ 35418 h 140406"/>
                    <a:gd name="connsiteX21" fmla="*/ 41623 w 84246"/>
                    <a:gd name="connsiteY21" fmla="*/ 16444 h 14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4246" h="140406">
                      <a:moveTo>
                        <a:pt x="41623" y="140406"/>
                      </a:moveTo>
                      <a:lnTo>
                        <a:pt x="41623" y="140406"/>
                      </a:lnTo>
                      <a:lnTo>
                        <a:pt x="41623" y="140406"/>
                      </a:lnTo>
                      <a:lnTo>
                        <a:pt x="34666" y="126492"/>
                      </a:lnTo>
                      <a:lnTo>
                        <a:pt x="6205" y="69571"/>
                      </a:lnTo>
                      <a:cubicBezTo>
                        <a:pt x="3675" y="64511"/>
                        <a:pt x="1778" y="59451"/>
                        <a:pt x="1146" y="55024"/>
                      </a:cubicBezTo>
                      <a:cubicBezTo>
                        <a:pt x="-752" y="46802"/>
                        <a:pt x="-119" y="38580"/>
                        <a:pt x="1778" y="30991"/>
                      </a:cubicBezTo>
                      <a:cubicBezTo>
                        <a:pt x="6838" y="11384"/>
                        <a:pt x="20752" y="0"/>
                        <a:pt x="42256" y="0"/>
                      </a:cubicBezTo>
                      <a:cubicBezTo>
                        <a:pt x="63759" y="0"/>
                        <a:pt x="77673" y="10752"/>
                        <a:pt x="82733" y="30991"/>
                      </a:cubicBezTo>
                      <a:cubicBezTo>
                        <a:pt x="84630" y="38580"/>
                        <a:pt x="84630" y="46802"/>
                        <a:pt x="83365" y="54392"/>
                      </a:cubicBezTo>
                      <a:lnTo>
                        <a:pt x="83365" y="54392"/>
                      </a:lnTo>
                      <a:cubicBezTo>
                        <a:pt x="82101" y="58819"/>
                        <a:pt x="80836" y="63878"/>
                        <a:pt x="78306" y="68938"/>
                      </a:cubicBezTo>
                      <a:lnTo>
                        <a:pt x="41623" y="140406"/>
                      </a:lnTo>
                      <a:close/>
                      <a:moveTo>
                        <a:pt x="41623" y="16444"/>
                      </a:moveTo>
                      <a:cubicBezTo>
                        <a:pt x="27709" y="16444"/>
                        <a:pt x="19487" y="22136"/>
                        <a:pt x="16325" y="35418"/>
                      </a:cubicBezTo>
                      <a:cubicBezTo>
                        <a:pt x="15060" y="40477"/>
                        <a:pt x="15060" y="46802"/>
                        <a:pt x="16325" y="52494"/>
                      </a:cubicBezTo>
                      <a:cubicBezTo>
                        <a:pt x="16957" y="55656"/>
                        <a:pt x="18222" y="59451"/>
                        <a:pt x="20119" y="63246"/>
                      </a:cubicBezTo>
                      <a:lnTo>
                        <a:pt x="41623" y="106253"/>
                      </a:lnTo>
                      <a:lnTo>
                        <a:pt x="63127" y="63246"/>
                      </a:lnTo>
                      <a:cubicBezTo>
                        <a:pt x="65024" y="59451"/>
                        <a:pt x="66289" y="55656"/>
                        <a:pt x="66921" y="52494"/>
                      </a:cubicBezTo>
                      <a:cubicBezTo>
                        <a:pt x="68186" y="46802"/>
                        <a:pt x="68186" y="41110"/>
                        <a:pt x="66921" y="35418"/>
                      </a:cubicBezTo>
                      <a:cubicBezTo>
                        <a:pt x="63759" y="22136"/>
                        <a:pt x="55537" y="16444"/>
                        <a:pt x="41623" y="16444"/>
                      </a:cubicBezTo>
                      <a:close/>
                    </a:path>
                  </a:pathLst>
                </a:custGeom>
                <a:grpFill/>
                <a:ln w="6271" cap="flat">
                  <a:noFill/>
                  <a:prstDash val="solid"/>
                  <a:miter/>
                </a:ln>
              </p:spPr>
              <p:txBody>
                <a:bodyPr rtlCol="0" anchor="ctr"/>
                <a:lstStyle/>
                <a:p>
                  <a:endParaRPr lang="en-US"/>
                </a:p>
              </p:txBody>
            </p:sp>
            <p:sp>
              <p:nvSpPr>
                <p:cNvPr id="77" name="Picture Placeholder 97">
                  <a:extLst>
                    <a:ext uri="{FF2B5EF4-FFF2-40B4-BE49-F238E27FC236}">
                      <a16:creationId xmlns:a16="http://schemas.microsoft.com/office/drawing/2014/main" id="{65E642CB-1F91-61B9-2A99-E5752880B790}"/>
                    </a:ext>
                  </a:extLst>
                </p:cNvPr>
                <p:cNvSpPr/>
                <p:nvPr/>
              </p:nvSpPr>
              <p:spPr>
                <a:xfrm>
                  <a:off x="7218220" y="3247720"/>
                  <a:ext cx="27828" cy="27828"/>
                </a:xfrm>
                <a:custGeom>
                  <a:avLst/>
                  <a:gdLst>
                    <a:gd name="connsiteX0" fmla="*/ 27828 w 27828"/>
                    <a:gd name="connsiteY0" fmla="*/ 13914 h 27828"/>
                    <a:gd name="connsiteX1" fmla="*/ 13914 w 27828"/>
                    <a:gd name="connsiteY1" fmla="*/ 27828 h 27828"/>
                    <a:gd name="connsiteX2" fmla="*/ 0 w 27828"/>
                    <a:gd name="connsiteY2" fmla="*/ 13914 h 27828"/>
                    <a:gd name="connsiteX3" fmla="*/ 13914 w 27828"/>
                    <a:gd name="connsiteY3" fmla="*/ 0 h 27828"/>
                    <a:gd name="connsiteX4" fmla="*/ 27828 w 27828"/>
                    <a:gd name="connsiteY4" fmla="*/ 13914 h 27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28" h="27828">
                      <a:moveTo>
                        <a:pt x="27828" y="13914"/>
                      </a:moveTo>
                      <a:cubicBezTo>
                        <a:pt x="27828" y="21599"/>
                        <a:pt x="21599" y="27828"/>
                        <a:pt x="13914" y="27828"/>
                      </a:cubicBezTo>
                      <a:cubicBezTo>
                        <a:pt x="6230" y="27828"/>
                        <a:pt x="0" y="21599"/>
                        <a:pt x="0" y="13914"/>
                      </a:cubicBezTo>
                      <a:cubicBezTo>
                        <a:pt x="0" y="6230"/>
                        <a:pt x="6230" y="0"/>
                        <a:pt x="13914" y="0"/>
                      </a:cubicBezTo>
                      <a:cubicBezTo>
                        <a:pt x="21599" y="0"/>
                        <a:pt x="27828" y="6230"/>
                        <a:pt x="27828" y="13914"/>
                      </a:cubicBezTo>
                      <a:close/>
                    </a:path>
                  </a:pathLst>
                </a:custGeom>
                <a:grpFill/>
                <a:ln w="6271" cap="flat">
                  <a:noFill/>
                  <a:prstDash val="solid"/>
                  <a:miter/>
                </a:ln>
              </p:spPr>
              <p:txBody>
                <a:bodyPr rtlCol="0" anchor="ctr"/>
                <a:lstStyle/>
                <a:p>
                  <a:endParaRPr lang="en-US"/>
                </a:p>
              </p:txBody>
            </p:sp>
          </p:grpSp>
          <p:grpSp>
            <p:nvGrpSpPr>
              <p:cNvPr id="59" name="Picture Placeholder 97">
                <a:extLst>
                  <a:ext uri="{FF2B5EF4-FFF2-40B4-BE49-F238E27FC236}">
                    <a16:creationId xmlns:a16="http://schemas.microsoft.com/office/drawing/2014/main" id="{8FD8424D-487E-BD32-A0E3-9370B9292CC5}"/>
                  </a:ext>
                </a:extLst>
              </p:cNvPr>
              <p:cNvGrpSpPr/>
              <p:nvPr/>
            </p:nvGrpSpPr>
            <p:grpSpPr>
              <a:xfrm>
                <a:off x="7125981" y="3567516"/>
                <a:ext cx="212306" cy="211470"/>
                <a:chOff x="7125981" y="3567516"/>
                <a:chExt cx="212306" cy="211470"/>
              </a:xfrm>
              <a:grpFill/>
            </p:grpSpPr>
            <p:sp>
              <p:nvSpPr>
                <p:cNvPr id="70" name="Picture Placeholder 97">
                  <a:extLst>
                    <a:ext uri="{FF2B5EF4-FFF2-40B4-BE49-F238E27FC236}">
                      <a16:creationId xmlns:a16="http://schemas.microsoft.com/office/drawing/2014/main" id="{A66303D3-1F0C-8CB0-941B-4B1E526AA7E3}"/>
                    </a:ext>
                  </a:extLst>
                </p:cNvPr>
                <p:cNvSpPr/>
                <p:nvPr/>
              </p:nvSpPr>
              <p:spPr>
                <a:xfrm>
                  <a:off x="7125981" y="3567516"/>
                  <a:ext cx="212306" cy="211470"/>
                </a:xfrm>
                <a:custGeom>
                  <a:avLst/>
                  <a:gdLst>
                    <a:gd name="connsiteX0" fmla="*/ 106153 w 212306"/>
                    <a:gd name="connsiteY0" fmla="*/ 211471 h 211470"/>
                    <a:gd name="connsiteX1" fmla="*/ 60616 w 212306"/>
                    <a:gd name="connsiteY1" fmla="*/ 201351 h 211470"/>
                    <a:gd name="connsiteX2" fmla="*/ 6225 w 212306"/>
                    <a:gd name="connsiteY2" fmla="*/ 141268 h 211470"/>
                    <a:gd name="connsiteX3" fmla="*/ 10652 w 212306"/>
                    <a:gd name="connsiteY3" fmla="*/ 60313 h 211470"/>
                    <a:gd name="connsiteX4" fmla="*/ 151691 w 212306"/>
                    <a:gd name="connsiteY4" fmla="*/ 10349 h 211470"/>
                    <a:gd name="connsiteX5" fmla="*/ 206082 w 212306"/>
                    <a:gd name="connsiteY5" fmla="*/ 70432 h 211470"/>
                    <a:gd name="connsiteX6" fmla="*/ 201655 w 212306"/>
                    <a:gd name="connsiteY6" fmla="*/ 151387 h 211470"/>
                    <a:gd name="connsiteX7" fmla="*/ 106153 w 212306"/>
                    <a:gd name="connsiteY7" fmla="*/ 211471 h 211470"/>
                    <a:gd name="connsiteX8" fmla="*/ 106153 w 212306"/>
                    <a:gd name="connsiteY8" fmla="*/ 15408 h 211470"/>
                    <a:gd name="connsiteX9" fmla="*/ 24566 w 212306"/>
                    <a:gd name="connsiteY9" fmla="*/ 66637 h 211470"/>
                    <a:gd name="connsiteX10" fmla="*/ 20771 w 212306"/>
                    <a:gd name="connsiteY10" fmla="*/ 135576 h 211470"/>
                    <a:gd name="connsiteX11" fmla="*/ 66941 w 212306"/>
                    <a:gd name="connsiteY11" fmla="*/ 186805 h 211470"/>
                    <a:gd name="connsiteX12" fmla="*/ 187108 w 212306"/>
                    <a:gd name="connsiteY12" fmla="*/ 144430 h 211470"/>
                    <a:gd name="connsiteX13" fmla="*/ 190903 w 212306"/>
                    <a:gd name="connsiteY13" fmla="*/ 75492 h 211470"/>
                    <a:gd name="connsiteX14" fmla="*/ 144734 w 212306"/>
                    <a:gd name="connsiteY14" fmla="*/ 24263 h 211470"/>
                    <a:gd name="connsiteX15" fmla="*/ 106153 w 212306"/>
                    <a:gd name="connsiteY15"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306" h="211470">
                      <a:moveTo>
                        <a:pt x="106153" y="211471"/>
                      </a:moveTo>
                      <a:cubicBezTo>
                        <a:pt x="90974" y="211471"/>
                        <a:pt x="75163" y="208308"/>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314" y="189335"/>
                        <a:pt x="145366" y="211471"/>
                        <a:pt x="106153" y="211471"/>
                      </a:cubicBezTo>
                      <a:close/>
                      <a:moveTo>
                        <a:pt x="106153" y="15408"/>
                      </a:moveTo>
                      <a:cubicBezTo>
                        <a:pt x="72633" y="15408"/>
                        <a:pt x="39745" y="34382"/>
                        <a:pt x="24566" y="66637"/>
                      </a:cubicBezTo>
                      <a:cubicBezTo>
                        <a:pt x="14447" y="88141"/>
                        <a:pt x="13182" y="112807"/>
                        <a:pt x="20771" y="135576"/>
                      </a:cubicBezTo>
                      <a:cubicBezTo>
                        <a:pt x="28993" y="158344"/>
                        <a:pt x="45437" y="176685"/>
                        <a:pt x="66941" y="186805"/>
                      </a:cubicBezTo>
                      <a:cubicBezTo>
                        <a:pt x="111846" y="208308"/>
                        <a:pt x="165605" y="189335"/>
                        <a:pt x="187108" y="144430"/>
                      </a:cubicBezTo>
                      <a:cubicBezTo>
                        <a:pt x="197228" y="122926"/>
                        <a:pt x="198493" y="98260"/>
                        <a:pt x="190903" y="75492"/>
                      </a:cubicBezTo>
                      <a:cubicBezTo>
                        <a:pt x="182681" y="52723"/>
                        <a:pt x="166237" y="34382"/>
                        <a:pt x="144734" y="24263"/>
                      </a:cubicBezTo>
                      <a:cubicBezTo>
                        <a:pt x="132084" y="17938"/>
                        <a:pt x="119435" y="15408"/>
                        <a:pt x="106153" y="15408"/>
                      </a:cubicBezTo>
                      <a:close/>
                    </a:path>
                  </a:pathLst>
                </a:custGeom>
                <a:grpFill/>
                <a:ln w="6271" cap="flat">
                  <a:noFill/>
                  <a:prstDash val="solid"/>
                  <a:miter/>
                </a:ln>
              </p:spPr>
              <p:txBody>
                <a:bodyPr rtlCol="0" anchor="ctr"/>
                <a:lstStyle/>
                <a:p>
                  <a:endParaRPr lang="en-US"/>
                </a:p>
              </p:txBody>
            </p:sp>
            <p:sp>
              <p:nvSpPr>
                <p:cNvPr id="71" name="Picture Placeholder 97">
                  <a:extLst>
                    <a:ext uri="{FF2B5EF4-FFF2-40B4-BE49-F238E27FC236}">
                      <a16:creationId xmlns:a16="http://schemas.microsoft.com/office/drawing/2014/main" id="{1DFC4F87-2AA9-B53D-1247-2405FADA40A1}"/>
                    </a:ext>
                  </a:extLst>
                </p:cNvPr>
                <p:cNvSpPr/>
                <p:nvPr/>
              </p:nvSpPr>
              <p:spPr>
                <a:xfrm>
                  <a:off x="7183435" y="3612650"/>
                  <a:ext cx="97398" cy="36682"/>
                </a:xfrm>
                <a:custGeom>
                  <a:avLst/>
                  <a:gdLst>
                    <a:gd name="connsiteX0" fmla="*/ 48699 w 97398"/>
                    <a:gd name="connsiteY0" fmla="*/ 36683 h 36682"/>
                    <a:gd name="connsiteX1" fmla="*/ 0 w 97398"/>
                    <a:gd name="connsiteY1" fmla="*/ 18341 h 36682"/>
                    <a:gd name="connsiteX2" fmla="*/ 48699 w 97398"/>
                    <a:gd name="connsiteY2" fmla="*/ 0 h 36682"/>
                    <a:gd name="connsiteX3" fmla="*/ 97399 w 97398"/>
                    <a:gd name="connsiteY3" fmla="*/ 18341 h 36682"/>
                    <a:gd name="connsiteX4" fmla="*/ 48699 w 97398"/>
                    <a:gd name="connsiteY4" fmla="*/ 36683 h 36682"/>
                    <a:gd name="connsiteX5" fmla="*/ 22769 w 97398"/>
                    <a:gd name="connsiteY5" fmla="*/ 18341 h 36682"/>
                    <a:gd name="connsiteX6" fmla="*/ 48067 w 97398"/>
                    <a:gd name="connsiteY6" fmla="*/ 20871 h 36682"/>
                    <a:gd name="connsiteX7" fmla="*/ 73365 w 97398"/>
                    <a:gd name="connsiteY7" fmla="*/ 18341 h 36682"/>
                    <a:gd name="connsiteX8" fmla="*/ 48067 w 97398"/>
                    <a:gd name="connsiteY8" fmla="*/ 15812 h 36682"/>
                    <a:gd name="connsiteX9" fmla="*/ 22769 w 97398"/>
                    <a:gd name="connsiteY9" fmla="*/ 18341 h 36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98" h="36682">
                      <a:moveTo>
                        <a:pt x="48699" y="36683"/>
                      </a:moveTo>
                      <a:cubicBezTo>
                        <a:pt x="34153" y="36683"/>
                        <a:pt x="0" y="34785"/>
                        <a:pt x="0" y="18341"/>
                      </a:cubicBezTo>
                      <a:cubicBezTo>
                        <a:pt x="0" y="1897"/>
                        <a:pt x="34153" y="0"/>
                        <a:pt x="48699" y="0"/>
                      </a:cubicBezTo>
                      <a:cubicBezTo>
                        <a:pt x="63246" y="0"/>
                        <a:pt x="97399" y="1897"/>
                        <a:pt x="97399" y="18341"/>
                      </a:cubicBezTo>
                      <a:cubicBezTo>
                        <a:pt x="97399" y="34785"/>
                        <a:pt x="63246" y="36683"/>
                        <a:pt x="48699" y="36683"/>
                      </a:cubicBezTo>
                      <a:close/>
                      <a:moveTo>
                        <a:pt x="22769" y="18341"/>
                      </a:moveTo>
                      <a:cubicBezTo>
                        <a:pt x="28461" y="19606"/>
                        <a:pt x="37315" y="20871"/>
                        <a:pt x="48067" y="20871"/>
                      </a:cubicBezTo>
                      <a:cubicBezTo>
                        <a:pt x="58819" y="20871"/>
                        <a:pt x="67673" y="19606"/>
                        <a:pt x="73365" y="18341"/>
                      </a:cubicBezTo>
                      <a:cubicBezTo>
                        <a:pt x="67673" y="17076"/>
                        <a:pt x="58819" y="15812"/>
                        <a:pt x="48067" y="15812"/>
                      </a:cubicBezTo>
                      <a:cubicBezTo>
                        <a:pt x="37315" y="15812"/>
                        <a:pt x="29093" y="17076"/>
                        <a:pt x="22769" y="18341"/>
                      </a:cubicBezTo>
                      <a:close/>
                    </a:path>
                  </a:pathLst>
                </a:custGeom>
                <a:grpFill/>
                <a:ln w="6271" cap="flat">
                  <a:noFill/>
                  <a:prstDash val="solid"/>
                  <a:miter/>
                </a:ln>
              </p:spPr>
              <p:txBody>
                <a:bodyPr rtlCol="0" anchor="ctr"/>
                <a:lstStyle/>
                <a:p>
                  <a:endParaRPr lang="en-US"/>
                </a:p>
              </p:txBody>
            </p:sp>
            <p:sp>
              <p:nvSpPr>
                <p:cNvPr id="72" name="Picture Placeholder 97">
                  <a:extLst>
                    <a:ext uri="{FF2B5EF4-FFF2-40B4-BE49-F238E27FC236}">
                      <a16:creationId xmlns:a16="http://schemas.microsoft.com/office/drawing/2014/main" id="{3E5E750A-AC56-4F80-16A0-94B464E8FED1}"/>
                    </a:ext>
                  </a:extLst>
                </p:cNvPr>
                <p:cNvSpPr/>
                <p:nvPr/>
              </p:nvSpPr>
              <p:spPr>
                <a:xfrm>
                  <a:off x="7183435" y="3679690"/>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endParaRPr lang="en-US"/>
                </a:p>
              </p:txBody>
            </p:sp>
            <p:sp>
              <p:nvSpPr>
                <p:cNvPr id="73" name="Picture Placeholder 97">
                  <a:extLst>
                    <a:ext uri="{FF2B5EF4-FFF2-40B4-BE49-F238E27FC236}">
                      <a16:creationId xmlns:a16="http://schemas.microsoft.com/office/drawing/2014/main" id="{2ACFEDB6-F8B8-124E-A8FF-DA256C381DA1}"/>
                    </a:ext>
                  </a:extLst>
                </p:cNvPr>
                <p:cNvSpPr/>
                <p:nvPr/>
              </p:nvSpPr>
              <p:spPr>
                <a:xfrm>
                  <a:off x="7183435" y="3651862"/>
                  <a:ext cx="93604" cy="29725"/>
                </a:xfrm>
                <a:custGeom>
                  <a:avLst/>
                  <a:gdLst>
                    <a:gd name="connsiteX0" fmla="*/ 48699 w 93604"/>
                    <a:gd name="connsiteY0" fmla="*/ 29726 h 29725"/>
                    <a:gd name="connsiteX1" fmla="*/ 0 w 93604"/>
                    <a:gd name="connsiteY1" fmla="*/ 11384 h 29725"/>
                    <a:gd name="connsiteX2" fmla="*/ 0 w 93604"/>
                    <a:gd name="connsiteY2" fmla="*/ 0 h 29725"/>
                    <a:gd name="connsiteX3" fmla="*/ 15812 w 93604"/>
                    <a:gd name="connsiteY3" fmla="*/ 0 h 29725"/>
                    <a:gd name="connsiteX4" fmla="*/ 15812 w 93604"/>
                    <a:gd name="connsiteY4" fmla="*/ 8854 h 29725"/>
                    <a:gd name="connsiteX5" fmla="*/ 48699 w 93604"/>
                    <a:gd name="connsiteY5" fmla="*/ 13914 h 29725"/>
                    <a:gd name="connsiteX6" fmla="*/ 82852 w 93604"/>
                    <a:gd name="connsiteY6" fmla="*/ 7590 h 29725"/>
                    <a:gd name="connsiteX7" fmla="*/ 93604 w 93604"/>
                    <a:gd name="connsiteY7" fmla="*/ 18974 h 29725"/>
                    <a:gd name="connsiteX8" fmla="*/ 48699 w 93604"/>
                    <a:gd name="connsiteY8" fmla="*/ 29726 h 29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3604" h="29725">
                      <a:moveTo>
                        <a:pt x="48699" y="29726"/>
                      </a:moveTo>
                      <a:cubicBezTo>
                        <a:pt x="34153" y="29726"/>
                        <a:pt x="0" y="27828"/>
                        <a:pt x="0" y="11384"/>
                      </a:cubicBezTo>
                      <a:lnTo>
                        <a:pt x="0" y="0"/>
                      </a:lnTo>
                      <a:lnTo>
                        <a:pt x="15812" y="0"/>
                      </a:lnTo>
                      <a:lnTo>
                        <a:pt x="15812" y="8854"/>
                      </a:lnTo>
                      <a:cubicBezTo>
                        <a:pt x="19606" y="10752"/>
                        <a:pt x="30991" y="13914"/>
                        <a:pt x="48699" y="13914"/>
                      </a:cubicBezTo>
                      <a:cubicBezTo>
                        <a:pt x="68306" y="13914"/>
                        <a:pt x="80955" y="9487"/>
                        <a:pt x="82852" y="7590"/>
                      </a:cubicBezTo>
                      <a:lnTo>
                        <a:pt x="93604" y="18974"/>
                      </a:lnTo>
                      <a:cubicBezTo>
                        <a:pt x="86015" y="26563"/>
                        <a:pt x="64511" y="29726"/>
                        <a:pt x="48699" y="29726"/>
                      </a:cubicBezTo>
                      <a:close/>
                    </a:path>
                  </a:pathLst>
                </a:custGeom>
                <a:grpFill/>
                <a:ln w="6271" cap="flat">
                  <a:noFill/>
                  <a:prstDash val="solid"/>
                  <a:miter/>
                </a:ln>
              </p:spPr>
              <p:txBody>
                <a:bodyPr rtlCol="0" anchor="ctr"/>
                <a:lstStyle/>
                <a:p>
                  <a:endParaRPr lang="en-US"/>
                </a:p>
              </p:txBody>
            </p:sp>
            <p:sp>
              <p:nvSpPr>
                <p:cNvPr id="74" name="Picture Placeholder 97">
                  <a:extLst>
                    <a:ext uri="{FF2B5EF4-FFF2-40B4-BE49-F238E27FC236}">
                      <a16:creationId xmlns:a16="http://schemas.microsoft.com/office/drawing/2014/main" id="{32771C94-1518-32B4-5CF9-E13481721C1C}"/>
                    </a:ext>
                  </a:extLst>
                </p:cNvPr>
                <p:cNvSpPr/>
                <p:nvPr/>
              </p:nvSpPr>
              <p:spPr>
                <a:xfrm>
                  <a:off x="7183435" y="3630991"/>
                  <a:ext cx="97398" cy="108150"/>
                </a:xfrm>
                <a:custGeom>
                  <a:avLst/>
                  <a:gdLst>
                    <a:gd name="connsiteX0" fmla="*/ 48699 w 97398"/>
                    <a:gd name="connsiteY0" fmla="*/ 108151 h 108150"/>
                    <a:gd name="connsiteX1" fmla="*/ 0 w 97398"/>
                    <a:gd name="connsiteY1" fmla="*/ 89809 h 108150"/>
                    <a:gd name="connsiteX2" fmla="*/ 0 w 97398"/>
                    <a:gd name="connsiteY2" fmla="*/ 75895 h 108150"/>
                    <a:gd name="connsiteX3" fmla="*/ 15812 w 97398"/>
                    <a:gd name="connsiteY3" fmla="*/ 75895 h 108150"/>
                    <a:gd name="connsiteX4" fmla="*/ 15812 w 97398"/>
                    <a:gd name="connsiteY4" fmla="*/ 87279 h 108150"/>
                    <a:gd name="connsiteX5" fmla="*/ 48699 w 97398"/>
                    <a:gd name="connsiteY5" fmla="*/ 92339 h 108150"/>
                    <a:gd name="connsiteX6" fmla="*/ 81587 w 97398"/>
                    <a:gd name="connsiteY6" fmla="*/ 87279 h 108150"/>
                    <a:gd name="connsiteX7" fmla="*/ 81587 w 97398"/>
                    <a:gd name="connsiteY7" fmla="*/ 0 h 108150"/>
                    <a:gd name="connsiteX8" fmla="*/ 97399 w 97398"/>
                    <a:gd name="connsiteY8" fmla="*/ 0 h 108150"/>
                    <a:gd name="connsiteX9" fmla="*/ 97399 w 97398"/>
                    <a:gd name="connsiteY9" fmla="*/ 89809 h 108150"/>
                    <a:gd name="connsiteX10" fmla="*/ 48699 w 97398"/>
                    <a:gd name="connsiteY10" fmla="*/ 108151 h 10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398" h="108150">
                      <a:moveTo>
                        <a:pt x="48699" y="108151"/>
                      </a:moveTo>
                      <a:cubicBezTo>
                        <a:pt x="34153" y="108151"/>
                        <a:pt x="0" y="106253"/>
                        <a:pt x="0" y="89809"/>
                      </a:cubicBezTo>
                      <a:lnTo>
                        <a:pt x="0" y="75895"/>
                      </a:lnTo>
                      <a:lnTo>
                        <a:pt x="15812" y="75895"/>
                      </a:lnTo>
                      <a:lnTo>
                        <a:pt x="15812" y="87279"/>
                      </a:lnTo>
                      <a:cubicBezTo>
                        <a:pt x="19606" y="89177"/>
                        <a:pt x="30991" y="92339"/>
                        <a:pt x="48699" y="92339"/>
                      </a:cubicBezTo>
                      <a:cubicBezTo>
                        <a:pt x="66408" y="92339"/>
                        <a:pt x="77793" y="89809"/>
                        <a:pt x="81587" y="87279"/>
                      </a:cubicBezTo>
                      <a:lnTo>
                        <a:pt x="81587" y="0"/>
                      </a:lnTo>
                      <a:lnTo>
                        <a:pt x="97399" y="0"/>
                      </a:lnTo>
                      <a:lnTo>
                        <a:pt x="97399" y="89809"/>
                      </a:lnTo>
                      <a:cubicBezTo>
                        <a:pt x="96766" y="106253"/>
                        <a:pt x="63246" y="108151"/>
                        <a:pt x="48699" y="108151"/>
                      </a:cubicBezTo>
                      <a:close/>
                    </a:path>
                  </a:pathLst>
                </a:custGeom>
                <a:grpFill/>
                <a:ln w="6271" cap="flat">
                  <a:noFill/>
                  <a:prstDash val="solid"/>
                  <a:miter/>
                </a:ln>
              </p:spPr>
              <p:txBody>
                <a:bodyPr rtlCol="0" anchor="ctr"/>
                <a:lstStyle/>
                <a:p>
                  <a:endParaRPr lang="en-US"/>
                </a:p>
              </p:txBody>
            </p:sp>
          </p:grpSp>
          <p:sp>
            <p:nvSpPr>
              <p:cNvPr id="60" name="Picture Placeholder 97">
                <a:extLst>
                  <a:ext uri="{FF2B5EF4-FFF2-40B4-BE49-F238E27FC236}">
                    <a16:creationId xmlns:a16="http://schemas.microsoft.com/office/drawing/2014/main" id="{756A0B0E-0209-620E-2766-72FE9D3A394E}"/>
                  </a:ext>
                </a:extLst>
              </p:cNvPr>
              <p:cNvSpPr/>
              <p:nvPr/>
            </p:nvSpPr>
            <p:spPr>
              <a:xfrm rot="-2700000">
                <a:off x="7519807" y="3357569"/>
                <a:ext cx="30990" cy="15811"/>
              </a:xfrm>
              <a:custGeom>
                <a:avLst/>
                <a:gdLst>
                  <a:gd name="connsiteX0" fmla="*/ 0 w 30990"/>
                  <a:gd name="connsiteY0" fmla="*/ 0 h 15811"/>
                  <a:gd name="connsiteX1" fmla="*/ 30990 w 30990"/>
                  <a:gd name="connsiteY1" fmla="*/ 0 h 15811"/>
                  <a:gd name="connsiteX2" fmla="*/ 30990 w 30990"/>
                  <a:gd name="connsiteY2" fmla="*/ 15811 h 15811"/>
                  <a:gd name="connsiteX3" fmla="*/ 0 w 30990"/>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0990" h="15811">
                    <a:moveTo>
                      <a:pt x="0" y="0"/>
                    </a:moveTo>
                    <a:lnTo>
                      <a:pt x="30990" y="0"/>
                    </a:lnTo>
                    <a:lnTo>
                      <a:pt x="30990" y="15811"/>
                    </a:lnTo>
                    <a:lnTo>
                      <a:pt x="0" y="15811"/>
                    </a:lnTo>
                    <a:close/>
                  </a:path>
                </a:pathLst>
              </a:custGeom>
              <a:grpFill/>
              <a:ln w="6271" cap="flat">
                <a:noFill/>
                <a:prstDash val="solid"/>
                <a:miter/>
              </a:ln>
            </p:spPr>
            <p:txBody>
              <a:bodyPr rtlCol="0" anchor="ctr"/>
              <a:lstStyle/>
              <a:p>
                <a:endParaRPr lang="en-US"/>
              </a:p>
            </p:txBody>
          </p:sp>
          <p:sp>
            <p:nvSpPr>
              <p:cNvPr id="61" name="Picture Placeholder 97">
                <a:extLst>
                  <a:ext uri="{FF2B5EF4-FFF2-40B4-BE49-F238E27FC236}">
                    <a16:creationId xmlns:a16="http://schemas.microsoft.com/office/drawing/2014/main" id="{4E47973F-93B8-C647-5CF8-56531A12D772}"/>
                  </a:ext>
                </a:extLst>
              </p:cNvPr>
              <p:cNvSpPr/>
              <p:nvPr/>
            </p:nvSpPr>
            <p:spPr>
              <a:xfrm rot="-2700486">
                <a:off x="7297780" y="3577759"/>
                <a:ext cx="32887" cy="15811"/>
              </a:xfrm>
              <a:custGeom>
                <a:avLst/>
                <a:gdLst>
                  <a:gd name="connsiteX0" fmla="*/ 0 w 32887"/>
                  <a:gd name="connsiteY0" fmla="*/ 0 h 15811"/>
                  <a:gd name="connsiteX1" fmla="*/ 32888 w 32887"/>
                  <a:gd name="connsiteY1" fmla="*/ 0 h 15811"/>
                  <a:gd name="connsiteX2" fmla="*/ 32888 w 32887"/>
                  <a:gd name="connsiteY2" fmla="*/ 15811 h 15811"/>
                  <a:gd name="connsiteX3" fmla="*/ 0 w 32887"/>
                  <a:gd name="connsiteY3" fmla="*/ 15811 h 15811"/>
                </a:gdLst>
                <a:ahLst/>
                <a:cxnLst>
                  <a:cxn ang="0">
                    <a:pos x="connsiteX0" y="connsiteY0"/>
                  </a:cxn>
                  <a:cxn ang="0">
                    <a:pos x="connsiteX1" y="connsiteY1"/>
                  </a:cxn>
                  <a:cxn ang="0">
                    <a:pos x="connsiteX2" y="connsiteY2"/>
                  </a:cxn>
                  <a:cxn ang="0">
                    <a:pos x="connsiteX3" y="connsiteY3"/>
                  </a:cxn>
                </a:cxnLst>
                <a:rect l="l" t="t" r="r" b="b"/>
                <a:pathLst>
                  <a:path w="32887" h="15811">
                    <a:moveTo>
                      <a:pt x="0" y="0"/>
                    </a:moveTo>
                    <a:lnTo>
                      <a:pt x="32888" y="0"/>
                    </a:lnTo>
                    <a:lnTo>
                      <a:pt x="32888" y="15811"/>
                    </a:lnTo>
                    <a:lnTo>
                      <a:pt x="0" y="15811"/>
                    </a:lnTo>
                    <a:close/>
                  </a:path>
                </a:pathLst>
              </a:custGeom>
              <a:grpFill/>
              <a:ln w="6271" cap="flat">
                <a:noFill/>
                <a:prstDash val="solid"/>
                <a:miter/>
              </a:ln>
            </p:spPr>
            <p:txBody>
              <a:bodyPr rtlCol="0" anchor="ctr"/>
              <a:lstStyle/>
              <a:p>
                <a:endParaRPr lang="en-US"/>
              </a:p>
            </p:txBody>
          </p:sp>
          <p:sp>
            <p:nvSpPr>
              <p:cNvPr id="62" name="Picture Placeholder 97">
                <a:extLst>
                  <a:ext uri="{FF2B5EF4-FFF2-40B4-BE49-F238E27FC236}">
                    <a16:creationId xmlns:a16="http://schemas.microsoft.com/office/drawing/2014/main" id="{B876E82A-B74E-BDD1-8546-DCEA7E00A6E3}"/>
                  </a:ext>
                </a:extLst>
              </p:cNvPr>
              <p:cNvSpPr/>
              <p:nvPr/>
            </p:nvSpPr>
            <p:spPr>
              <a:xfrm rot="-2700000">
                <a:off x="7304779" y="3354826"/>
                <a:ext cx="15811" cy="30357"/>
              </a:xfrm>
              <a:custGeom>
                <a:avLst/>
                <a:gdLst>
                  <a:gd name="connsiteX0" fmla="*/ 0 w 15811"/>
                  <a:gd name="connsiteY0" fmla="*/ 0 h 30357"/>
                  <a:gd name="connsiteX1" fmla="*/ 15811 w 15811"/>
                  <a:gd name="connsiteY1" fmla="*/ 0 h 30357"/>
                  <a:gd name="connsiteX2" fmla="*/ 15811 w 15811"/>
                  <a:gd name="connsiteY2" fmla="*/ 30358 h 30357"/>
                  <a:gd name="connsiteX3" fmla="*/ 0 w 15811"/>
                  <a:gd name="connsiteY3" fmla="*/ 30358 h 30357"/>
                </a:gdLst>
                <a:ahLst/>
                <a:cxnLst>
                  <a:cxn ang="0">
                    <a:pos x="connsiteX0" y="connsiteY0"/>
                  </a:cxn>
                  <a:cxn ang="0">
                    <a:pos x="connsiteX1" y="connsiteY1"/>
                  </a:cxn>
                  <a:cxn ang="0">
                    <a:pos x="connsiteX2" y="connsiteY2"/>
                  </a:cxn>
                  <a:cxn ang="0">
                    <a:pos x="connsiteX3" y="connsiteY3"/>
                  </a:cxn>
                </a:cxnLst>
                <a:rect l="l" t="t" r="r" b="b"/>
                <a:pathLst>
                  <a:path w="15811" h="30357">
                    <a:moveTo>
                      <a:pt x="0" y="0"/>
                    </a:moveTo>
                    <a:lnTo>
                      <a:pt x="15811" y="0"/>
                    </a:lnTo>
                    <a:lnTo>
                      <a:pt x="15811" y="30358"/>
                    </a:lnTo>
                    <a:lnTo>
                      <a:pt x="0" y="30358"/>
                    </a:lnTo>
                    <a:close/>
                  </a:path>
                </a:pathLst>
              </a:custGeom>
              <a:grpFill/>
              <a:ln w="6271" cap="flat">
                <a:noFill/>
                <a:prstDash val="solid"/>
                <a:miter/>
              </a:ln>
            </p:spPr>
            <p:txBody>
              <a:bodyPr rtlCol="0" anchor="ctr"/>
              <a:lstStyle/>
              <a:p>
                <a:endParaRPr lang="en-US"/>
              </a:p>
            </p:txBody>
          </p:sp>
          <p:sp>
            <p:nvSpPr>
              <p:cNvPr id="63" name="Picture Placeholder 97">
                <a:extLst>
                  <a:ext uri="{FF2B5EF4-FFF2-40B4-BE49-F238E27FC236}">
                    <a16:creationId xmlns:a16="http://schemas.microsoft.com/office/drawing/2014/main" id="{FBBD1F9A-C92C-285D-C243-AE5D39A41864}"/>
                  </a:ext>
                </a:extLst>
              </p:cNvPr>
              <p:cNvSpPr/>
              <p:nvPr/>
            </p:nvSpPr>
            <p:spPr>
              <a:xfrm rot="-2700000">
                <a:off x="7523720" y="3570128"/>
                <a:ext cx="15811" cy="29092"/>
              </a:xfrm>
              <a:custGeom>
                <a:avLst/>
                <a:gdLst>
                  <a:gd name="connsiteX0" fmla="*/ 0 w 15811"/>
                  <a:gd name="connsiteY0" fmla="*/ 0 h 29092"/>
                  <a:gd name="connsiteX1" fmla="*/ 15811 w 15811"/>
                  <a:gd name="connsiteY1" fmla="*/ 0 h 29092"/>
                  <a:gd name="connsiteX2" fmla="*/ 15811 w 15811"/>
                  <a:gd name="connsiteY2" fmla="*/ 29093 h 29092"/>
                  <a:gd name="connsiteX3" fmla="*/ 0 w 15811"/>
                  <a:gd name="connsiteY3" fmla="*/ 29093 h 29092"/>
                </a:gdLst>
                <a:ahLst/>
                <a:cxnLst>
                  <a:cxn ang="0">
                    <a:pos x="connsiteX0" y="connsiteY0"/>
                  </a:cxn>
                  <a:cxn ang="0">
                    <a:pos x="connsiteX1" y="connsiteY1"/>
                  </a:cxn>
                  <a:cxn ang="0">
                    <a:pos x="connsiteX2" y="connsiteY2"/>
                  </a:cxn>
                  <a:cxn ang="0">
                    <a:pos x="connsiteX3" y="connsiteY3"/>
                  </a:cxn>
                </a:cxnLst>
                <a:rect l="l" t="t" r="r" b="b"/>
                <a:pathLst>
                  <a:path w="15811" h="29092">
                    <a:moveTo>
                      <a:pt x="0" y="0"/>
                    </a:moveTo>
                    <a:lnTo>
                      <a:pt x="15811" y="0"/>
                    </a:lnTo>
                    <a:lnTo>
                      <a:pt x="15811" y="29093"/>
                    </a:lnTo>
                    <a:lnTo>
                      <a:pt x="0" y="29093"/>
                    </a:lnTo>
                    <a:close/>
                  </a:path>
                </a:pathLst>
              </a:custGeom>
              <a:grpFill/>
              <a:ln w="6271" cap="flat">
                <a:noFill/>
                <a:prstDash val="solid"/>
                <a:miter/>
              </a:ln>
            </p:spPr>
            <p:txBody>
              <a:bodyPr rtlCol="0" anchor="ctr"/>
              <a:lstStyle/>
              <a:p>
                <a:endParaRPr lang="en-US"/>
              </a:p>
            </p:txBody>
          </p:sp>
          <p:sp>
            <p:nvSpPr>
              <p:cNvPr id="64" name="Picture Placeholder 97">
                <a:extLst>
                  <a:ext uri="{FF2B5EF4-FFF2-40B4-BE49-F238E27FC236}">
                    <a16:creationId xmlns:a16="http://schemas.microsoft.com/office/drawing/2014/main" id="{CA53B913-B3FD-6609-E225-D12150E98CBE}"/>
                  </a:ext>
                </a:extLst>
              </p:cNvPr>
              <p:cNvSpPr/>
              <p:nvPr/>
            </p:nvSpPr>
            <p:spPr>
              <a:xfrm>
                <a:off x="7332063" y="3384964"/>
                <a:ext cx="181516" cy="182780"/>
              </a:xfrm>
              <a:custGeom>
                <a:avLst/>
                <a:gdLst>
                  <a:gd name="connsiteX0" fmla="*/ 181516 w 181516"/>
                  <a:gd name="connsiteY0" fmla="*/ 106253 h 182780"/>
                  <a:gd name="connsiteX1" fmla="*/ 172662 w 181516"/>
                  <a:gd name="connsiteY1" fmla="*/ 108783 h 182780"/>
                  <a:gd name="connsiteX2" fmla="*/ 163807 w 181516"/>
                  <a:gd name="connsiteY2" fmla="*/ 110681 h 182780"/>
                  <a:gd name="connsiteX3" fmla="*/ 160012 w 181516"/>
                  <a:gd name="connsiteY3" fmla="*/ 120167 h 182780"/>
                  <a:gd name="connsiteX4" fmla="*/ 155585 w 181516"/>
                  <a:gd name="connsiteY4" fmla="*/ 129022 h 182780"/>
                  <a:gd name="connsiteX5" fmla="*/ 160012 w 181516"/>
                  <a:gd name="connsiteY5" fmla="*/ 137244 h 182780"/>
                  <a:gd name="connsiteX6" fmla="*/ 165072 w 181516"/>
                  <a:gd name="connsiteY6" fmla="*/ 144833 h 182780"/>
                  <a:gd name="connsiteX7" fmla="*/ 144833 w 181516"/>
                  <a:gd name="connsiteY7" fmla="*/ 165705 h 182780"/>
                  <a:gd name="connsiteX8" fmla="*/ 128389 w 181516"/>
                  <a:gd name="connsiteY8" fmla="*/ 156218 h 182780"/>
                  <a:gd name="connsiteX9" fmla="*/ 110681 w 181516"/>
                  <a:gd name="connsiteY9" fmla="*/ 163175 h 182780"/>
                  <a:gd name="connsiteX10" fmla="*/ 107518 w 181516"/>
                  <a:gd name="connsiteY10" fmla="*/ 172662 h 182780"/>
                  <a:gd name="connsiteX11" fmla="*/ 104356 w 181516"/>
                  <a:gd name="connsiteY11" fmla="*/ 182781 h 182780"/>
                  <a:gd name="connsiteX12" fmla="*/ 76528 w 181516"/>
                  <a:gd name="connsiteY12" fmla="*/ 182781 h 182780"/>
                  <a:gd name="connsiteX13" fmla="*/ 73998 w 181516"/>
                  <a:gd name="connsiteY13" fmla="*/ 173294 h 182780"/>
                  <a:gd name="connsiteX14" fmla="*/ 71468 w 181516"/>
                  <a:gd name="connsiteY14" fmla="*/ 163807 h 182780"/>
                  <a:gd name="connsiteX15" fmla="*/ 53759 w 181516"/>
                  <a:gd name="connsiteY15" fmla="*/ 155585 h 182780"/>
                  <a:gd name="connsiteX16" fmla="*/ 44905 w 181516"/>
                  <a:gd name="connsiteY16" fmla="*/ 160012 h 182780"/>
                  <a:gd name="connsiteX17" fmla="*/ 36683 w 181516"/>
                  <a:gd name="connsiteY17" fmla="*/ 164440 h 182780"/>
                  <a:gd name="connsiteX18" fmla="*/ 16444 w 181516"/>
                  <a:gd name="connsiteY18" fmla="*/ 144833 h 182780"/>
                  <a:gd name="connsiteX19" fmla="*/ 25298 w 181516"/>
                  <a:gd name="connsiteY19" fmla="*/ 128389 h 182780"/>
                  <a:gd name="connsiteX20" fmla="*/ 21504 w 181516"/>
                  <a:gd name="connsiteY20" fmla="*/ 118902 h 182780"/>
                  <a:gd name="connsiteX21" fmla="*/ 18341 w 181516"/>
                  <a:gd name="connsiteY21" fmla="*/ 108783 h 182780"/>
                  <a:gd name="connsiteX22" fmla="*/ 8854 w 181516"/>
                  <a:gd name="connsiteY22" fmla="*/ 106886 h 182780"/>
                  <a:gd name="connsiteX23" fmla="*/ 0 w 181516"/>
                  <a:gd name="connsiteY23" fmla="*/ 104356 h 182780"/>
                  <a:gd name="connsiteX24" fmla="*/ 0 w 181516"/>
                  <a:gd name="connsiteY24" fmla="*/ 76528 h 182780"/>
                  <a:gd name="connsiteX25" fmla="*/ 8854 w 181516"/>
                  <a:gd name="connsiteY25" fmla="*/ 73998 h 182780"/>
                  <a:gd name="connsiteX26" fmla="*/ 17709 w 181516"/>
                  <a:gd name="connsiteY26" fmla="*/ 72100 h 182780"/>
                  <a:gd name="connsiteX27" fmla="*/ 22136 w 181516"/>
                  <a:gd name="connsiteY27" fmla="*/ 62614 h 182780"/>
                  <a:gd name="connsiteX28" fmla="*/ 26563 w 181516"/>
                  <a:gd name="connsiteY28" fmla="*/ 53759 h 182780"/>
                  <a:gd name="connsiteX29" fmla="*/ 17076 w 181516"/>
                  <a:gd name="connsiteY29" fmla="*/ 37948 h 182780"/>
                  <a:gd name="connsiteX30" fmla="*/ 37315 w 181516"/>
                  <a:gd name="connsiteY30" fmla="*/ 17076 h 182780"/>
                  <a:gd name="connsiteX31" fmla="*/ 53759 w 181516"/>
                  <a:gd name="connsiteY31" fmla="*/ 26563 h 182780"/>
                  <a:gd name="connsiteX32" fmla="*/ 72100 w 181516"/>
                  <a:gd name="connsiteY32" fmla="*/ 19606 h 182780"/>
                  <a:gd name="connsiteX33" fmla="*/ 74630 w 181516"/>
                  <a:gd name="connsiteY33" fmla="*/ 9487 h 182780"/>
                  <a:gd name="connsiteX34" fmla="*/ 77160 w 181516"/>
                  <a:gd name="connsiteY34" fmla="*/ 0 h 182780"/>
                  <a:gd name="connsiteX35" fmla="*/ 104988 w 181516"/>
                  <a:gd name="connsiteY35" fmla="*/ 0 h 182780"/>
                  <a:gd name="connsiteX36" fmla="*/ 110048 w 181516"/>
                  <a:gd name="connsiteY36" fmla="*/ 18341 h 182780"/>
                  <a:gd name="connsiteX37" fmla="*/ 118903 w 181516"/>
                  <a:gd name="connsiteY37" fmla="*/ 22136 h 182780"/>
                  <a:gd name="connsiteX38" fmla="*/ 127757 w 181516"/>
                  <a:gd name="connsiteY38" fmla="*/ 26563 h 182780"/>
                  <a:gd name="connsiteX39" fmla="*/ 136611 w 181516"/>
                  <a:gd name="connsiteY39" fmla="*/ 22136 h 182780"/>
                  <a:gd name="connsiteX40" fmla="*/ 144833 w 181516"/>
                  <a:gd name="connsiteY40" fmla="*/ 17709 h 182780"/>
                  <a:gd name="connsiteX41" fmla="*/ 155585 w 181516"/>
                  <a:gd name="connsiteY41" fmla="*/ 27196 h 182780"/>
                  <a:gd name="connsiteX42" fmla="*/ 165705 w 181516"/>
                  <a:gd name="connsiteY42" fmla="*/ 37315 h 182780"/>
                  <a:gd name="connsiteX43" fmla="*/ 156218 w 181516"/>
                  <a:gd name="connsiteY43" fmla="*/ 53759 h 182780"/>
                  <a:gd name="connsiteX44" fmla="*/ 163175 w 181516"/>
                  <a:gd name="connsiteY44" fmla="*/ 72733 h 182780"/>
                  <a:gd name="connsiteX45" fmla="*/ 172662 w 181516"/>
                  <a:gd name="connsiteY45" fmla="*/ 74630 h 182780"/>
                  <a:gd name="connsiteX46" fmla="*/ 181516 w 181516"/>
                  <a:gd name="connsiteY46" fmla="*/ 77160 h 182780"/>
                  <a:gd name="connsiteX47" fmla="*/ 181516 w 181516"/>
                  <a:gd name="connsiteY47" fmla="*/ 106253 h 182780"/>
                  <a:gd name="connsiteX48" fmla="*/ 141039 w 181516"/>
                  <a:gd name="connsiteY48" fmla="*/ 118270 h 182780"/>
                  <a:gd name="connsiteX49" fmla="*/ 147996 w 181516"/>
                  <a:gd name="connsiteY49" fmla="*/ 86015 h 182780"/>
                  <a:gd name="connsiteX50" fmla="*/ 137244 w 181516"/>
                  <a:gd name="connsiteY50" fmla="*/ 58819 h 182780"/>
                  <a:gd name="connsiteX51" fmla="*/ 114475 w 181516"/>
                  <a:gd name="connsiteY51" fmla="*/ 40477 h 182780"/>
                  <a:gd name="connsiteX52" fmla="*/ 86015 w 181516"/>
                  <a:gd name="connsiteY52" fmla="*/ 34785 h 182780"/>
                  <a:gd name="connsiteX53" fmla="*/ 50597 w 181516"/>
                  <a:gd name="connsiteY53" fmla="*/ 49964 h 182780"/>
                  <a:gd name="connsiteX54" fmla="*/ 34785 w 181516"/>
                  <a:gd name="connsiteY54" fmla="*/ 80322 h 182780"/>
                  <a:gd name="connsiteX55" fmla="*/ 38580 w 181516"/>
                  <a:gd name="connsiteY55" fmla="*/ 114475 h 182780"/>
                  <a:gd name="connsiteX56" fmla="*/ 61981 w 181516"/>
                  <a:gd name="connsiteY56" fmla="*/ 140406 h 182780"/>
                  <a:gd name="connsiteX57" fmla="*/ 107518 w 181516"/>
                  <a:gd name="connsiteY57" fmla="*/ 144201 h 182780"/>
                  <a:gd name="connsiteX58" fmla="*/ 141039 w 181516"/>
                  <a:gd name="connsiteY58" fmla="*/ 118270 h 182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81516" h="182780">
                    <a:moveTo>
                      <a:pt x="181516" y="106253"/>
                    </a:moveTo>
                    <a:cubicBezTo>
                      <a:pt x="180251" y="106886"/>
                      <a:pt x="177089" y="107518"/>
                      <a:pt x="172662" y="108783"/>
                    </a:cubicBezTo>
                    <a:cubicBezTo>
                      <a:pt x="168867" y="110048"/>
                      <a:pt x="166337" y="110681"/>
                      <a:pt x="163807" y="110681"/>
                    </a:cubicBezTo>
                    <a:cubicBezTo>
                      <a:pt x="163175" y="111945"/>
                      <a:pt x="161277" y="115108"/>
                      <a:pt x="160012" y="120167"/>
                    </a:cubicBezTo>
                    <a:cubicBezTo>
                      <a:pt x="158747" y="124595"/>
                      <a:pt x="156850" y="127124"/>
                      <a:pt x="155585" y="129022"/>
                    </a:cubicBezTo>
                    <a:cubicBezTo>
                      <a:pt x="156218" y="129654"/>
                      <a:pt x="157483" y="132817"/>
                      <a:pt x="160012" y="137244"/>
                    </a:cubicBezTo>
                    <a:cubicBezTo>
                      <a:pt x="161910" y="140406"/>
                      <a:pt x="163807" y="142936"/>
                      <a:pt x="165072" y="144833"/>
                    </a:cubicBezTo>
                    <a:cubicBezTo>
                      <a:pt x="163175" y="147363"/>
                      <a:pt x="156850" y="154320"/>
                      <a:pt x="144833" y="165705"/>
                    </a:cubicBezTo>
                    <a:cubicBezTo>
                      <a:pt x="139141" y="163175"/>
                      <a:pt x="133449" y="160012"/>
                      <a:pt x="128389" y="156218"/>
                    </a:cubicBezTo>
                    <a:cubicBezTo>
                      <a:pt x="122065" y="160012"/>
                      <a:pt x="116373" y="161910"/>
                      <a:pt x="110681" y="163175"/>
                    </a:cubicBezTo>
                    <a:cubicBezTo>
                      <a:pt x="109416" y="165072"/>
                      <a:pt x="108151" y="168234"/>
                      <a:pt x="107518" y="172662"/>
                    </a:cubicBezTo>
                    <a:cubicBezTo>
                      <a:pt x="106253" y="177721"/>
                      <a:pt x="105621" y="180884"/>
                      <a:pt x="104356" y="182781"/>
                    </a:cubicBezTo>
                    <a:lnTo>
                      <a:pt x="76528" y="182781"/>
                    </a:lnTo>
                    <a:cubicBezTo>
                      <a:pt x="75895" y="180884"/>
                      <a:pt x="74630" y="177721"/>
                      <a:pt x="73998" y="173294"/>
                    </a:cubicBezTo>
                    <a:cubicBezTo>
                      <a:pt x="72733" y="168867"/>
                      <a:pt x="72100" y="165705"/>
                      <a:pt x="71468" y="163807"/>
                    </a:cubicBezTo>
                    <a:cubicBezTo>
                      <a:pt x="60084" y="158747"/>
                      <a:pt x="54392" y="156218"/>
                      <a:pt x="53759" y="155585"/>
                    </a:cubicBezTo>
                    <a:cubicBezTo>
                      <a:pt x="51229" y="156218"/>
                      <a:pt x="48699" y="157483"/>
                      <a:pt x="44905" y="160012"/>
                    </a:cubicBezTo>
                    <a:cubicBezTo>
                      <a:pt x="41110" y="162542"/>
                      <a:pt x="38580" y="163807"/>
                      <a:pt x="36683" y="164440"/>
                    </a:cubicBezTo>
                    <a:cubicBezTo>
                      <a:pt x="34153" y="162542"/>
                      <a:pt x="27196" y="156218"/>
                      <a:pt x="16444" y="144833"/>
                    </a:cubicBezTo>
                    <a:cubicBezTo>
                      <a:pt x="17076" y="142936"/>
                      <a:pt x="19606" y="137244"/>
                      <a:pt x="25298" y="128389"/>
                    </a:cubicBezTo>
                    <a:cubicBezTo>
                      <a:pt x="24666" y="127124"/>
                      <a:pt x="23401" y="124595"/>
                      <a:pt x="21504" y="118902"/>
                    </a:cubicBezTo>
                    <a:cubicBezTo>
                      <a:pt x="19606" y="115108"/>
                      <a:pt x="18974" y="111945"/>
                      <a:pt x="18341" y="108783"/>
                    </a:cubicBezTo>
                    <a:cubicBezTo>
                      <a:pt x="15812" y="108151"/>
                      <a:pt x="12649" y="107518"/>
                      <a:pt x="8854" y="106886"/>
                    </a:cubicBezTo>
                    <a:cubicBezTo>
                      <a:pt x="4427" y="105621"/>
                      <a:pt x="1265" y="104988"/>
                      <a:pt x="0" y="104356"/>
                    </a:cubicBezTo>
                    <a:lnTo>
                      <a:pt x="0" y="76528"/>
                    </a:lnTo>
                    <a:cubicBezTo>
                      <a:pt x="1265" y="75895"/>
                      <a:pt x="4427" y="75263"/>
                      <a:pt x="8854" y="73998"/>
                    </a:cubicBezTo>
                    <a:cubicBezTo>
                      <a:pt x="12649" y="72733"/>
                      <a:pt x="15179" y="72100"/>
                      <a:pt x="17709" y="72100"/>
                    </a:cubicBezTo>
                    <a:cubicBezTo>
                      <a:pt x="18341" y="70836"/>
                      <a:pt x="20239" y="67673"/>
                      <a:pt x="22136" y="62614"/>
                    </a:cubicBezTo>
                    <a:cubicBezTo>
                      <a:pt x="24034" y="58819"/>
                      <a:pt x="25298" y="55656"/>
                      <a:pt x="26563" y="53759"/>
                    </a:cubicBezTo>
                    <a:cubicBezTo>
                      <a:pt x="22136" y="45537"/>
                      <a:pt x="18974" y="39845"/>
                      <a:pt x="17076" y="37948"/>
                    </a:cubicBezTo>
                    <a:cubicBezTo>
                      <a:pt x="18974" y="35418"/>
                      <a:pt x="25298" y="28461"/>
                      <a:pt x="37315" y="17076"/>
                    </a:cubicBezTo>
                    <a:cubicBezTo>
                      <a:pt x="44905" y="20871"/>
                      <a:pt x="49964" y="24033"/>
                      <a:pt x="53759" y="26563"/>
                    </a:cubicBezTo>
                    <a:cubicBezTo>
                      <a:pt x="64511" y="22136"/>
                      <a:pt x="70203" y="19606"/>
                      <a:pt x="72100" y="19606"/>
                    </a:cubicBezTo>
                    <a:cubicBezTo>
                      <a:pt x="72733" y="18341"/>
                      <a:pt x="73365" y="15179"/>
                      <a:pt x="74630" y="9487"/>
                    </a:cubicBezTo>
                    <a:cubicBezTo>
                      <a:pt x="75895" y="5692"/>
                      <a:pt x="76528" y="2530"/>
                      <a:pt x="77160" y="0"/>
                    </a:cubicBezTo>
                    <a:lnTo>
                      <a:pt x="104988" y="0"/>
                    </a:lnTo>
                    <a:cubicBezTo>
                      <a:pt x="106253" y="2530"/>
                      <a:pt x="107518" y="8854"/>
                      <a:pt x="110048" y="18341"/>
                    </a:cubicBezTo>
                    <a:cubicBezTo>
                      <a:pt x="111313" y="18974"/>
                      <a:pt x="114475" y="20239"/>
                      <a:pt x="118903" y="22136"/>
                    </a:cubicBezTo>
                    <a:cubicBezTo>
                      <a:pt x="122697" y="23401"/>
                      <a:pt x="125860" y="25298"/>
                      <a:pt x="127757" y="26563"/>
                    </a:cubicBezTo>
                    <a:cubicBezTo>
                      <a:pt x="130287" y="25931"/>
                      <a:pt x="132817" y="24666"/>
                      <a:pt x="136611" y="22136"/>
                    </a:cubicBezTo>
                    <a:cubicBezTo>
                      <a:pt x="140406" y="19606"/>
                      <a:pt x="142936" y="18341"/>
                      <a:pt x="144833" y="17709"/>
                    </a:cubicBezTo>
                    <a:cubicBezTo>
                      <a:pt x="147996" y="19606"/>
                      <a:pt x="151790" y="22769"/>
                      <a:pt x="155585" y="27196"/>
                    </a:cubicBezTo>
                    <a:cubicBezTo>
                      <a:pt x="160645" y="32255"/>
                      <a:pt x="163807" y="35418"/>
                      <a:pt x="165705" y="37315"/>
                    </a:cubicBezTo>
                    <a:cubicBezTo>
                      <a:pt x="161277" y="44905"/>
                      <a:pt x="158115" y="50597"/>
                      <a:pt x="156218" y="53759"/>
                    </a:cubicBezTo>
                    <a:cubicBezTo>
                      <a:pt x="161277" y="67673"/>
                      <a:pt x="163175" y="73998"/>
                      <a:pt x="163175" y="72733"/>
                    </a:cubicBezTo>
                    <a:cubicBezTo>
                      <a:pt x="165705" y="72733"/>
                      <a:pt x="168867" y="73365"/>
                      <a:pt x="172662" y="74630"/>
                    </a:cubicBezTo>
                    <a:cubicBezTo>
                      <a:pt x="177089" y="75895"/>
                      <a:pt x="180251" y="76528"/>
                      <a:pt x="181516" y="77160"/>
                    </a:cubicBezTo>
                    <a:lnTo>
                      <a:pt x="181516" y="106253"/>
                    </a:lnTo>
                    <a:close/>
                    <a:moveTo>
                      <a:pt x="141039" y="118270"/>
                    </a:moveTo>
                    <a:cubicBezTo>
                      <a:pt x="146731" y="107518"/>
                      <a:pt x="149261" y="96766"/>
                      <a:pt x="147996" y="86015"/>
                    </a:cubicBezTo>
                    <a:cubicBezTo>
                      <a:pt x="147363" y="75895"/>
                      <a:pt x="143568" y="67041"/>
                      <a:pt x="137244" y="58819"/>
                    </a:cubicBezTo>
                    <a:cubicBezTo>
                      <a:pt x="131552" y="50597"/>
                      <a:pt x="123962" y="44905"/>
                      <a:pt x="114475" y="40477"/>
                    </a:cubicBezTo>
                    <a:cubicBezTo>
                      <a:pt x="104988" y="36050"/>
                      <a:pt x="95501" y="34153"/>
                      <a:pt x="86015" y="34785"/>
                    </a:cubicBezTo>
                    <a:cubicBezTo>
                      <a:pt x="71468" y="36050"/>
                      <a:pt x="60084" y="41110"/>
                      <a:pt x="50597" y="49964"/>
                    </a:cubicBezTo>
                    <a:cubicBezTo>
                      <a:pt x="42375" y="58186"/>
                      <a:pt x="36683" y="68306"/>
                      <a:pt x="34785" y="80322"/>
                    </a:cubicBezTo>
                    <a:cubicBezTo>
                      <a:pt x="32888" y="92339"/>
                      <a:pt x="34153" y="103723"/>
                      <a:pt x="38580" y="114475"/>
                    </a:cubicBezTo>
                    <a:cubicBezTo>
                      <a:pt x="43640" y="125860"/>
                      <a:pt x="51229" y="134714"/>
                      <a:pt x="61981" y="140406"/>
                    </a:cubicBezTo>
                    <a:cubicBezTo>
                      <a:pt x="75895" y="147996"/>
                      <a:pt x="91074" y="149261"/>
                      <a:pt x="107518" y="144201"/>
                    </a:cubicBezTo>
                    <a:cubicBezTo>
                      <a:pt x="123330" y="140406"/>
                      <a:pt x="134082" y="131552"/>
                      <a:pt x="141039" y="118270"/>
                    </a:cubicBezTo>
                    <a:close/>
                  </a:path>
                </a:pathLst>
              </a:custGeom>
              <a:grpFill/>
              <a:ln w="6271" cap="flat">
                <a:noFill/>
                <a:prstDash val="solid"/>
                <a:miter/>
              </a:ln>
            </p:spPr>
            <p:txBody>
              <a:bodyPr rtlCol="0" anchor="ctr"/>
              <a:lstStyle/>
              <a:p>
                <a:endParaRPr lang="en-US"/>
              </a:p>
            </p:txBody>
          </p:sp>
          <p:grpSp>
            <p:nvGrpSpPr>
              <p:cNvPr id="65" name="Picture Placeholder 97">
                <a:extLst>
                  <a:ext uri="{FF2B5EF4-FFF2-40B4-BE49-F238E27FC236}">
                    <a16:creationId xmlns:a16="http://schemas.microsoft.com/office/drawing/2014/main" id="{4472E558-B1F4-4368-85E1-C5AFF7024723}"/>
                  </a:ext>
                </a:extLst>
              </p:cNvPr>
              <p:cNvGrpSpPr/>
              <p:nvPr/>
            </p:nvGrpSpPr>
            <p:grpSpPr>
              <a:xfrm>
                <a:off x="7514311" y="3179818"/>
                <a:ext cx="212307" cy="211470"/>
                <a:chOff x="7514311" y="3179818"/>
                <a:chExt cx="212307" cy="211470"/>
              </a:xfrm>
              <a:grpFill/>
            </p:grpSpPr>
            <p:sp>
              <p:nvSpPr>
                <p:cNvPr id="66" name="Picture Placeholder 97">
                  <a:extLst>
                    <a:ext uri="{FF2B5EF4-FFF2-40B4-BE49-F238E27FC236}">
                      <a16:creationId xmlns:a16="http://schemas.microsoft.com/office/drawing/2014/main" id="{48EE9346-1DA9-73B8-72E1-F718E5661209}"/>
                    </a:ext>
                  </a:extLst>
                </p:cNvPr>
                <p:cNvSpPr/>
                <p:nvPr/>
              </p:nvSpPr>
              <p:spPr>
                <a:xfrm>
                  <a:off x="7514311" y="3179818"/>
                  <a:ext cx="212307" cy="211470"/>
                </a:xfrm>
                <a:custGeom>
                  <a:avLst/>
                  <a:gdLst>
                    <a:gd name="connsiteX0" fmla="*/ 106153 w 212307"/>
                    <a:gd name="connsiteY0" fmla="*/ 211471 h 211470"/>
                    <a:gd name="connsiteX1" fmla="*/ 60616 w 212307"/>
                    <a:gd name="connsiteY1" fmla="*/ 201351 h 211470"/>
                    <a:gd name="connsiteX2" fmla="*/ 6225 w 212307"/>
                    <a:gd name="connsiteY2" fmla="*/ 141268 h 211470"/>
                    <a:gd name="connsiteX3" fmla="*/ 10652 w 212307"/>
                    <a:gd name="connsiteY3" fmla="*/ 60313 h 211470"/>
                    <a:gd name="connsiteX4" fmla="*/ 151691 w 212307"/>
                    <a:gd name="connsiteY4" fmla="*/ 10349 h 211470"/>
                    <a:gd name="connsiteX5" fmla="*/ 206082 w 212307"/>
                    <a:gd name="connsiteY5" fmla="*/ 70432 h 211470"/>
                    <a:gd name="connsiteX6" fmla="*/ 201655 w 212307"/>
                    <a:gd name="connsiteY6" fmla="*/ 151387 h 211470"/>
                    <a:gd name="connsiteX7" fmla="*/ 106153 w 212307"/>
                    <a:gd name="connsiteY7" fmla="*/ 211471 h 211470"/>
                    <a:gd name="connsiteX8" fmla="*/ 106786 w 212307"/>
                    <a:gd name="connsiteY8" fmla="*/ 15408 h 211470"/>
                    <a:gd name="connsiteX9" fmla="*/ 25199 w 212307"/>
                    <a:gd name="connsiteY9" fmla="*/ 66637 h 211470"/>
                    <a:gd name="connsiteX10" fmla="*/ 21404 w 212307"/>
                    <a:gd name="connsiteY10" fmla="*/ 135576 h 211470"/>
                    <a:gd name="connsiteX11" fmla="*/ 67573 w 212307"/>
                    <a:gd name="connsiteY11" fmla="*/ 186805 h 211470"/>
                    <a:gd name="connsiteX12" fmla="*/ 187741 w 212307"/>
                    <a:gd name="connsiteY12" fmla="*/ 144430 h 211470"/>
                    <a:gd name="connsiteX13" fmla="*/ 187741 w 212307"/>
                    <a:gd name="connsiteY13" fmla="*/ 144430 h 211470"/>
                    <a:gd name="connsiteX14" fmla="*/ 191536 w 212307"/>
                    <a:gd name="connsiteY14" fmla="*/ 75492 h 211470"/>
                    <a:gd name="connsiteX15" fmla="*/ 145366 w 212307"/>
                    <a:gd name="connsiteY15" fmla="*/ 24263 h 211470"/>
                    <a:gd name="connsiteX16" fmla="*/ 106786 w 212307"/>
                    <a:gd name="connsiteY16" fmla="*/ 15408 h 21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307" h="211470">
                      <a:moveTo>
                        <a:pt x="106153" y="211471"/>
                      </a:moveTo>
                      <a:cubicBezTo>
                        <a:pt x="90974" y="211471"/>
                        <a:pt x="75163" y="208309"/>
                        <a:pt x="60616" y="201351"/>
                      </a:cubicBezTo>
                      <a:cubicBezTo>
                        <a:pt x="35318" y="189335"/>
                        <a:pt x="15712" y="167831"/>
                        <a:pt x="6225" y="141268"/>
                      </a:cubicBezTo>
                      <a:cubicBezTo>
                        <a:pt x="-3262" y="114704"/>
                        <a:pt x="-1997" y="85611"/>
                        <a:pt x="10652" y="60313"/>
                      </a:cubicBezTo>
                      <a:cubicBezTo>
                        <a:pt x="35950" y="7819"/>
                        <a:pt x="99196" y="-14950"/>
                        <a:pt x="151691" y="10349"/>
                      </a:cubicBezTo>
                      <a:cubicBezTo>
                        <a:pt x="176989" y="22365"/>
                        <a:pt x="196595" y="43869"/>
                        <a:pt x="206082" y="70432"/>
                      </a:cubicBezTo>
                      <a:cubicBezTo>
                        <a:pt x="215569" y="96996"/>
                        <a:pt x="214304" y="126089"/>
                        <a:pt x="201655" y="151387"/>
                      </a:cubicBezTo>
                      <a:cubicBezTo>
                        <a:pt x="183946" y="189335"/>
                        <a:pt x="145998" y="211471"/>
                        <a:pt x="106153" y="211471"/>
                      </a:cubicBezTo>
                      <a:close/>
                      <a:moveTo>
                        <a:pt x="106786" y="15408"/>
                      </a:moveTo>
                      <a:cubicBezTo>
                        <a:pt x="73266" y="15408"/>
                        <a:pt x="40378" y="34382"/>
                        <a:pt x="25199" y="66637"/>
                      </a:cubicBezTo>
                      <a:cubicBezTo>
                        <a:pt x="15079" y="88141"/>
                        <a:pt x="13814" y="112807"/>
                        <a:pt x="21404" y="135576"/>
                      </a:cubicBezTo>
                      <a:cubicBezTo>
                        <a:pt x="29626" y="158344"/>
                        <a:pt x="46070" y="176686"/>
                        <a:pt x="67573" y="186805"/>
                      </a:cubicBezTo>
                      <a:cubicBezTo>
                        <a:pt x="112478" y="208309"/>
                        <a:pt x="166237" y="189335"/>
                        <a:pt x="187741" y="144430"/>
                      </a:cubicBezTo>
                      <a:lnTo>
                        <a:pt x="187741" y="144430"/>
                      </a:lnTo>
                      <a:cubicBezTo>
                        <a:pt x="197860" y="122926"/>
                        <a:pt x="199125" y="98260"/>
                        <a:pt x="191536" y="75492"/>
                      </a:cubicBezTo>
                      <a:cubicBezTo>
                        <a:pt x="183314" y="52723"/>
                        <a:pt x="166870" y="34382"/>
                        <a:pt x="145366" y="24263"/>
                      </a:cubicBezTo>
                      <a:cubicBezTo>
                        <a:pt x="132717" y="17938"/>
                        <a:pt x="119435" y="15408"/>
                        <a:pt x="106786" y="15408"/>
                      </a:cubicBezTo>
                      <a:close/>
                    </a:path>
                  </a:pathLst>
                </a:custGeom>
                <a:grpFill/>
                <a:ln w="6271" cap="flat">
                  <a:noFill/>
                  <a:prstDash val="solid"/>
                  <a:miter/>
                </a:ln>
              </p:spPr>
              <p:txBody>
                <a:bodyPr rtlCol="0" anchor="ctr"/>
                <a:lstStyle/>
                <a:p>
                  <a:endParaRPr lang="en-US"/>
                </a:p>
              </p:txBody>
            </p:sp>
            <p:grpSp>
              <p:nvGrpSpPr>
                <p:cNvPr id="67" name="Picture Placeholder 97">
                  <a:extLst>
                    <a:ext uri="{FF2B5EF4-FFF2-40B4-BE49-F238E27FC236}">
                      <a16:creationId xmlns:a16="http://schemas.microsoft.com/office/drawing/2014/main" id="{A3DA86B4-5518-A80E-476D-90AC44BFCD34}"/>
                    </a:ext>
                  </a:extLst>
                </p:cNvPr>
                <p:cNvGrpSpPr/>
                <p:nvPr/>
              </p:nvGrpSpPr>
              <p:grpSpPr>
                <a:xfrm>
                  <a:off x="7584415" y="3223054"/>
                  <a:ext cx="72732" cy="123962"/>
                  <a:chOff x="7584415" y="3223054"/>
                  <a:chExt cx="72732" cy="123962"/>
                </a:xfrm>
                <a:grpFill/>
              </p:grpSpPr>
              <p:sp>
                <p:nvSpPr>
                  <p:cNvPr id="68" name="Picture Placeholder 97">
                    <a:extLst>
                      <a:ext uri="{FF2B5EF4-FFF2-40B4-BE49-F238E27FC236}">
                        <a16:creationId xmlns:a16="http://schemas.microsoft.com/office/drawing/2014/main" id="{80738BDD-BA25-5EB6-4C4B-3CB50B0A69DA}"/>
                      </a:ext>
                    </a:extLst>
                  </p:cNvPr>
                  <p:cNvSpPr/>
                  <p:nvPr/>
                </p:nvSpPr>
                <p:spPr>
                  <a:xfrm>
                    <a:off x="7584415" y="3281241"/>
                    <a:ext cx="72732" cy="65775"/>
                  </a:xfrm>
                  <a:custGeom>
                    <a:avLst/>
                    <a:gdLst>
                      <a:gd name="connsiteX0" fmla="*/ 35418 w 72732"/>
                      <a:gd name="connsiteY0" fmla="*/ 15812 h 65775"/>
                      <a:gd name="connsiteX1" fmla="*/ 56289 w 72732"/>
                      <a:gd name="connsiteY1" fmla="*/ 24666 h 65775"/>
                      <a:gd name="connsiteX2" fmla="*/ 56289 w 72732"/>
                      <a:gd name="connsiteY2" fmla="*/ 50597 h 65775"/>
                      <a:gd name="connsiteX3" fmla="*/ 15179 w 72732"/>
                      <a:gd name="connsiteY3" fmla="*/ 50597 h 65775"/>
                      <a:gd name="connsiteX4" fmla="*/ 15179 w 72732"/>
                      <a:gd name="connsiteY4" fmla="*/ 24033 h 65775"/>
                      <a:gd name="connsiteX5" fmla="*/ 35418 w 72732"/>
                      <a:gd name="connsiteY5" fmla="*/ 15812 h 65775"/>
                      <a:gd name="connsiteX6" fmla="*/ 35418 w 72732"/>
                      <a:gd name="connsiteY6" fmla="*/ 0 h 65775"/>
                      <a:gd name="connsiteX7" fmla="*/ 3162 w 72732"/>
                      <a:gd name="connsiteY7" fmla="*/ 13914 h 65775"/>
                      <a:gd name="connsiteX8" fmla="*/ 1265 w 72732"/>
                      <a:gd name="connsiteY8" fmla="*/ 16444 h 65775"/>
                      <a:gd name="connsiteX9" fmla="*/ 0 w 72732"/>
                      <a:gd name="connsiteY9" fmla="*/ 22136 h 65775"/>
                      <a:gd name="connsiteX10" fmla="*/ 0 w 72732"/>
                      <a:gd name="connsiteY10" fmla="*/ 58186 h 65775"/>
                      <a:gd name="connsiteX11" fmla="*/ 5692 w 72732"/>
                      <a:gd name="connsiteY11" fmla="*/ 65776 h 65775"/>
                      <a:gd name="connsiteX12" fmla="*/ 67041 w 72732"/>
                      <a:gd name="connsiteY12" fmla="*/ 65776 h 65775"/>
                      <a:gd name="connsiteX13" fmla="*/ 72733 w 72732"/>
                      <a:gd name="connsiteY13" fmla="*/ 58186 h 65775"/>
                      <a:gd name="connsiteX14" fmla="*/ 72733 w 72732"/>
                      <a:gd name="connsiteY14" fmla="*/ 22136 h 65775"/>
                      <a:gd name="connsiteX15" fmla="*/ 71468 w 72732"/>
                      <a:gd name="connsiteY15" fmla="*/ 17076 h 65775"/>
                      <a:gd name="connsiteX16" fmla="*/ 35418 w 72732"/>
                      <a:gd name="connsiteY16" fmla="*/ 0 h 65775"/>
                      <a:gd name="connsiteX17" fmla="*/ 35418 w 72732"/>
                      <a:gd name="connsiteY17" fmla="*/ 0 h 6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732" h="65775">
                        <a:moveTo>
                          <a:pt x="35418" y="15812"/>
                        </a:moveTo>
                        <a:cubicBezTo>
                          <a:pt x="43007" y="15812"/>
                          <a:pt x="50597" y="18974"/>
                          <a:pt x="56289" y="24666"/>
                        </a:cubicBezTo>
                        <a:lnTo>
                          <a:pt x="56289" y="50597"/>
                        </a:lnTo>
                        <a:lnTo>
                          <a:pt x="15179" y="50597"/>
                        </a:lnTo>
                        <a:lnTo>
                          <a:pt x="15179" y="24033"/>
                        </a:lnTo>
                        <a:cubicBezTo>
                          <a:pt x="21504" y="18341"/>
                          <a:pt x="28461" y="15812"/>
                          <a:pt x="35418" y="15812"/>
                        </a:cubicBezTo>
                        <a:moveTo>
                          <a:pt x="35418" y="0"/>
                        </a:moveTo>
                        <a:cubicBezTo>
                          <a:pt x="23401" y="0"/>
                          <a:pt x="12017" y="4427"/>
                          <a:pt x="3162" y="13914"/>
                        </a:cubicBezTo>
                        <a:cubicBezTo>
                          <a:pt x="2530" y="14547"/>
                          <a:pt x="1897" y="15812"/>
                          <a:pt x="1265" y="16444"/>
                        </a:cubicBezTo>
                        <a:cubicBezTo>
                          <a:pt x="632" y="17709"/>
                          <a:pt x="0" y="19606"/>
                          <a:pt x="0" y="22136"/>
                        </a:cubicBezTo>
                        <a:lnTo>
                          <a:pt x="0" y="58186"/>
                        </a:lnTo>
                        <a:cubicBezTo>
                          <a:pt x="0" y="62614"/>
                          <a:pt x="2530" y="65776"/>
                          <a:pt x="5692" y="65776"/>
                        </a:cubicBezTo>
                        <a:lnTo>
                          <a:pt x="67041" y="65776"/>
                        </a:lnTo>
                        <a:cubicBezTo>
                          <a:pt x="70203" y="65776"/>
                          <a:pt x="72733" y="61981"/>
                          <a:pt x="72733" y="58186"/>
                        </a:cubicBezTo>
                        <a:lnTo>
                          <a:pt x="72733" y="22136"/>
                        </a:lnTo>
                        <a:cubicBezTo>
                          <a:pt x="72733" y="20239"/>
                          <a:pt x="72100" y="18341"/>
                          <a:pt x="71468" y="17076"/>
                        </a:cubicBezTo>
                        <a:cubicBezTo>
                          <a:pt x="61349" y="5692"/>
                          <a:pt x="48699" y="0"/>
                          <a:pt x="35418" y="0"/>
                        </a:cubicBezTo>
                        <a:lnTo>
                          <a:pt x="35418" y="0"/>
                        </a:lnTo>
                        <a:close/>
                      </a:path>
                    </a:pathLst>
                  </a:custGeom>
                  <a:grpFill/>
                  <a:ln w="6271" cap="flat">
                    <a:noFill/>
                    <a:prstDash val="solid"/>
                    <a:miter/>
                  </a:ln>
                </p:spPr>
                <p:txBody>
                  <a:bodyPr rtlCol="0" anchor="ctr"/>
                  <a:lstStyle/>
                  <a:p>
                    <a:endParaRPr lang="en-US"/>
                  </a:p>
                </p:txBody>
              </p:sp>
              <p:sp>
                <p:nvSpPr>
                  <p:cNvPr id="69" name="Picture Placeholder 97">
                    <a:extLst>
                      <a:ext uri="{FF2B5EF4-FFF2-40B4-BE49-F238E27FC236}">
                        <a16:creationId xmlns:a16="http://schemas.microsoft.com/office/drawing/2014/main" id="{DD3F4DA9-8321-2BB2-843D-2E02E722718B}"/>
                      </a:ext>
                    </a:extLst>
                  </p:cNvPr>
                  <p:cNvSpPr/>
                  <p:nvPr/>
                </p:nvSpPr>
                <p:spPr>
                  <a:xfrm>
                    <a:off x="7592636" y="3223054"/>
                    <a:ext cx="51861" cy="51861"/>
                  </a:xfrm>
                  <a:custGeom>
                    <a:avLst/>
                    <a:gdLst>
                      <a:gd name="connsiteX0" fmla="*/ 25931 w 51861"/>
                      <a:gd name="connsiteY0" fmla="*/ 15812 h 51861"/>
                      <a:gd name="connsiteX1" fmla="*/ 36050 w 51861"/>
                      <a:gd name="connsiteY1" fmla="*/ 25931 h 51861"/>
                      <a:gd name="connsiteX2" fmla="*/ 25931 w 51861"/>
                      <a:gd name="connsiteY2" fmla="*/ 36050 h 51861"/>
                      <a:gd name="connsiteX3" fmla="*/ 15812 w 51861"/>
                      <a:gd name="connsiteY3" fmla="*/ 25931 h 51861"/>
                      <a:gd name="connsiteX4" fmla="*/ 25931 w 51861"/>
                      <a:gd name="connsiteY4" fmla="*/ 15812 h 51861"/>
                      <a:gd name="connsiteX5" fmla="*/ 25931 w 51861"/>
                      <a:gd name="connsiteY5" fmla="*/ 0 h 51861"/>
                      <a:gd name="connsiteX6" fmla="*/ 0 w 51861"/>
                      <a:gd name="connsiteY6" fmla="*/ 25931 h 51861"/>
                      <a:gd name="connsiteX7" fmla="*/ 25931 w 51861"/>
                      <a:gd name="connsiteY7" fmla="*/ 51862 h 51861"/>
                      <a:gd name="connsiteX8" fmla="*/ 51862 w 51861"/>
                      <a:gd name="connsiteY8" fmla="*/ 25931 h 51861"/>
                      <a:gd name="connsiteX9" fmla="*/ 25931 w 51861"/>
                      <a:gd name="connsiteY9" fmla="*/ 0 h 51861"/>
                      <a:gd name="connsiteX10" fmla="*/ 25931 w 51861"/>
                      <a:gd name="connsiteY10" fmla="*/ 0 h 51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861" h="51861">
                        <a:moveTo>
                          <a:pt x="25931" y="15812"/>
                        </a:moveTo>
                        <a:cubicBezTo>
                          <a:pt x="31623" y="15812"/>
                          <a:pt x="36050" y="20239"/>
                          <a:pt x="36050" y="25931"/>
                        </a:cubicBezTo>
                        <a:cubicBezTo>
                          <a:pt x="36050" y="31623"/>
                          <a:pt x="31623" y="36050"/>
                          <a:pt x="25931" y="36050"/>
                        </a:cubicBezTo>
                        <a:cubicBezTo>
                          <a:pt x="20239" y="36050"/>
                          <a:pt x="15812" y="31623"/>
                          <a:pt x="15812" y="25931"/>
                        </a:cubicBezTo>
                        <a:cubicBezTo>
                          <a:pt x="15812" y="20239"/>
                          <a:pt x="20239" y="15812"/>
                          <a:pt x="25931" y="15812"/>
                        </a:cubicBezTo>
                        <a:moveTo>
                          <a:pt x="25931" y="0"/>
                        </a:moveTo>
                        <a:cubicBezTo>
                          <a:pt x="11384" y="0"/>
                          <a:pt x="0" y="11384"/>
                          <a:pt x="0" y="25931"/>
                        </a:cubicBezTo>
                        <a:cubicBezTo>
                          <a:pt x="0" y="40477"/>
                          <a:pt x="11384" y="51862"/>
                          <a:pt x="25931" y="51862"/>
                        </a:cubicBezTo>
                        <a:cubicBezTo>
                          <a:pt x="40477" y="51862"/>
                          <a:pt x="51862" y="40477"/>
                          <a:pt x="51862" y="25931"/>
                        </a:cubicBezTo>
                        <a:cubicBezTo>
                          <a:pt x="51862" y="11384"/>
                          <a:pt x="40477" y="0"/>
                          <a:pt x="25931" y="0"/>
                        </a:cubicBezTo>
                        <a:lnTo>
                          <a:pt x="25931" y="0"/>
                        </a:lnTo>
                        <a:close/>
                      </a:path>
                    </a:pathLst>
                  </a:custGeom>
                  <a:grpFill/>
                  <a:ln w="6271" cap="flat">
                    <a:noFill/>
                    <a:prstDash val="solid"/>
                    <a:miter/>
                  </a:ln>
                </p:spPr>
                <p:txBody>
                  <a:bodyPr rtlCol="0" anchor="ctr"/>
                  <a:lstStyle/>
                  <a:p>
                    <a:endParaRPr lang="en-US"/>
                  </a:p>
                </p:txBody>
              </p:sp>
            </p:grpSp>
          </p:grpSp>
        </p:grpSp>
      </p:grpSp>
      <p:grpSp>
        <p:nvGrpSpPr>
          <p:cNvPr id="81" name="Group 80">
            <a:extLst>
              <a:ext uri="{FF2B5EF4-FFF2-40B4-BE49-F238E27FC236}">
                <a16:creationId xmlns:a16="http://schemas.microsoft.com/office/drawing/2014/main" id="{45F917F6-C032-66C1-E228-880DCADC17F5}"/>
              </a:ext>
            </a:extLst>
          </p:cNvPr>
          <p:cNvGrpSpPr/>
          <p:nvPr/>
        </p:nvGrpSpPr>
        <p:grpSpPr>
          <a:xfrm>
            <a:off x="2309015" y="4665503"/>
            <a:ext cx="977538" cy="952537"/>
            <a:chOff x="2309015" y="4665503"/>
            <a:chExt cx="977538" cy="952537"/>
          </a:xfrm>
        </p:grpSpPr>
        <p:sp>
          <p:nvSpPr>
            <p:cNvPr id="82" name="Oval 81">
              <a:extLst>
                <a:ext uri="{FF2B5EF4-FFF2-40B4-BE49-F238E27FC236}">
                  <a16:creationId xmlns:a16="http://schemas.microsoft.com/office/drawing/2014/main" id="{A05C5D66-42A1-E302-4FB8-050436B94628}"/>
                </a:ext>
              </a:extLst>
            </p:cNvPr>
            <p:cNvSpPr/>
            <p:nvPr/>
          </p:nvSpPr>
          <p:spPr>
            <a:xfrm>
              <a:off x="2389255" y="4665503"/>
              <a:ext cx="817057" cy="836740"/>
            </a:xfrm>
            <a:prstGeom prst="ellipse">
              <a:avLst/>
            </a:prstGeom>
            <a:solidFill>
              <a:schemeClr val="bg2">
                <a:lumMod val="50000"/>
              </a:schemeClr>
            </a:solidFill>
            <a:ln w="25400" cap="flat" cmpd="sng" algn="ctr">
              <a:solidFill>
                <a:schemeClr val="bg2">
                  <a:lumMod val="10000"/>
                </a:schemeClr>
              </a:solidFill>
              <a:prstDash val="solid"/>
            </a:ln>
            <a:effectLst/>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srgbClr val="FFFFFF"/>
                </a:solidFill>
                <a:effectLst/>
                <a:uLnTx/>
                <a:uFillTx/>
                <a:latin typeface="Metropolis"/>
                <a:ea typeface="+mn-ea"/>
                <a:cs typeface="+mn-cs"/>
              </a:endParaRPr>
            </a:p>
          </p:txBody>
        </p:sp>
        <p:sp>
          <p:nvSpPr>
            <p:cNvPr id="83" name="Text Placeholder 9">
              <a:extLst>
                <a:ext uri="{FF2B5EF4-FFF2-40B4-BE49-F238E27FC236}">
                  <a16:creationId xmlns:a16="http://schemas.microsoft.com/office/drawing/2014/main" id="{6DE8B15F-DAFE-6319-C03E-B7EA3789C286}"/>
                </a:ext>
              </a:extLst>
            </p:cNvPr>
            <p:cNvSpPr txBox="1">
              <a:spLocks/>
            </p:cNvSpPr>
            <p:nvPr/>
          </p:nvSpPr>
          <p:spPr>
            <a:xfrm>
              <a:off x="2309015" y="5550006"/>
              <a:ext cx="977538" cy="68034"/>
            </a:xfrm>
            <a:prstGeom prst="rect">
              <a:avLst/>
            </a:prstGeom>
          </p:spPr>
          <p:txBody>
            <a:bodyPr/>
            <a:lstStyle>
              <a:lvl1pPr mar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1200"/>
                </a:spcBef>
                <a:buClr>
                  <a:schemeClr val="tx1"/>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1200"/>
                </a:spcBef>
                <a:spcAft>
                  <a:spcPts val="0"/>
                </a:spcAft>
                <a:buClr>
                  <a:schemeClr val="tx1"/>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1200"/>
                </a:spcBef>
                <a:buClr>
                  <a:schemeClr val="tx1"/>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1200"/>
                </a:spcBef>
                <a:buClr>
                  <a:schemeClr val="tx1"/>
                </a:buClr>
                <a:buSzPct val="90000"/>
                <a:buFont typeface="Camphor Std" panose="020B0504030404020204" pitchFamily="34" charset="0"/>
                <a:buChar char="–"/>
                <a:tabLst/>
                <a:defRPr sz="1400" kern="1200">
                  <a:solidFill>
                    <a:schemeClr val="tx2"/>
                  </a:solidFill>
                  <a:latin typeface="+mn-lt"/>
                  <a:ea typeface="+mn-ea"/>
                  <a:cs typeface="+mn-cs"/>
                </a:defRPr>
              </a:lvl5pPr>
              <a:lvl6pPr marL="1258888" indent="-111125"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6pPr>
              <a:lvl7pPr marL="13795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7pPr>
              <a:lvl8pPr marL="1550988" indent="-120650" algn="l" defTabSz="914400" rtl="0" eaLnBrk="1" latinLnBrk="0" hangingPunct="1">
                <a:lnSpc>
                  <a:spcPct val="100000"/>
                </a:lnSpc>
                <a:spcBef>
                  <a:spcPts val="1200"/>
                </a:spcBef>
                <a:buClr>
                  <a:schemeClr val="tx1"/>
                </a:buClr>
                <a:buSzPct val="90000"/>
                <a:buFont typeface="Arial" panose="020B0604020202020204" pitchFamily="34" charset="0"/>
                <a:buChar char="•"/>
                <a:tabLst/>
                <a:defRPr sz="1400" kern="1200">
                  <a:solidFill>
                    <a:schemeClr val="tx2"/>
                  </a:solidFill>
                  <a:latin typeface="+mn-lt"/>
                  <a:ea typeface="+mn-ea"/>
                  <a:cs typeface="+mn-cs"/>
                </a:defRPr>
              </a:lvl8pPr>
              <a:lvl9pPr marL="1722438" indent="-120650" algn="l" defTabSz="914400" rtl="0" eaLnBrk="1" latinLnBrk="0" hangingPunct="1">
                <a:lnSpc>
                  <a:spcPct val="100000"/>
                </a:lnSpc>
                <a:spcBef>
                  <a:spcPts val="1200"/>
                </a:spcBef>
                <a:buClr>
                  <a:schemeClr val="tx1"/>
                </a:buClr>
                <a:buSzPct val="90000"/>
                <a:buFont typeface="System Font Regular"/>
                <a:buChar char="-"/>
                <a:tabLst/>
                <a:defRPr sz="1400" kern="1200">
                  <a:solidFill>
                    <a:schemeClr val="tx2"/>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
                  <a:srgbClr val="717074">
                    <a:lumMod val="60000"/>
                    <a:lumOff val="40000"/>
                  </a:srgbClr>
                </a:buClr>
                <a:buSzPct val="90000"/>
                <a:buFont typeface="Arial" panose="020B0604020202020204" pitchFamily="34" charset="0"/>
                <a:buChar char="​"/>
                <a:tabLst/>
                <a:defRPr/>
              </a:pPr>
              <a:r>
                <a:rPr kumimoji="0" lang="en-GB" sz="1100" b="0" i="0" u="none" strike="noStrike" kern="1200" cap="none" spc="0" normalizeH="0" baseline="0" noProof="0" dirty="0">
                  <a:ln>
                    <a:noFill/>
                  </a:ln>
                  <a:solidFill>
                    <a:srgbClr val="3F3F3F"/>
                  </a:solidFill>
                  <a:effectLst/>
                  <a:uLnTx/>
                  <a:uFillTx/>
                  <a:latin typeface="Metropolis"/>
                  <a:ea typeface="+mn-ea"/>
                  <a:cs typeface="+mn-cs"/>
                </a:rPr>
                <a:t>VCF Operations for Networks</a:t>
              </a:r>
              <a:endParaRPr kumimoji="0" lang="pl-PL" sz="1100" b="0" i="0" u="none" strike="noStrike" kern="1200" cap="none" spc="0" normalizeH="0" baseline="0" noProof="0" dirty="0">
                <a:ln>
                  <a:noFill/>
                </a:ln>
                <a:solidFill>
                  <a:srgbClr val="3F3F3F"/>
                </a:solidFill>
                <a:effectLst/>
                <a:uLnTx/>
                <a:uFillTx/>
                <a:latin typeface="Metropolis"/>
                <a:ea typeface="+mn-ea"/>
                <a:cs typeface="+mn-cs"/>
              </a:endParaRPr>
            </a:p>
          </p:txBody>
        </p:sp>
        <p:grpSp>
          <p:nvGrpSpPr>
            <p:cNvPr id="84" name="Picture Placeholder 83" descr="Streaming Analysis&#10;">
              <a:extLst>
                <a:ext uri="{FF2B5EF4-FFF2-40B4-BE49-F238E27FC236}">
                  <a16:creationId xmlns:a16="http://schemas.microsoft.com/office/drawing/2014/main" id="{D26851DC-DD81-B673-A674-E35508532590}"/>
                </a:ext>
              </a:extLst>
            </p:cNvPr>
            <p:cNvGrpSpPr/>
            <p:nvPr/>
          </p:nvGrpSpPr>
          <p:grpSpPr>
            <a:xfrm>
              <a:off x="2523319" y="4879924"/>
              <a:ext cx="548928" cy="407898"/>
              <a:chOff x="534323" y="744937"/>
              <a:chExt cx="598307" cy="516719"/>
            </a:xfrm>
            <a:solidFill>
              <a:schemeClr val="bg1"/>
            </a:solidFill>
          </p:grpSpPr>
          <p:grpSp>
            <p:nvGrpSpPr>
              <p:cNvPr id="85" name="Picture Placeholder 83">
                <a:extLst>
                  <a:ext uri="{FF2B5EF4-FFF2-40B4-BE49-F238E27FC236}">
                    <a16:creationId xmlns:a16="http://schemas.microsoft.com/office/drawing/2014/main" id="{B0BF02C4-4D18-B764-CB25-47407BDA6600}"/>
                  </a:ext>
                </a:extLst>
              </p:cNvPr>
              <p:cNvGrpSpPr/>
              <p:nvPr/>
            </p:nvGrpSpPr>
            <p:grpSpPr>
              <a:xfrm>
                <a:off x="534323" y="909625"/>
                <a:ext cx="412996" cy="264120"/>
                <a:chOff x="534323" y="909625"/>
                <a:chExt cx="412996" cy="264120"/>
              </a:xfrm>
              <a:grpFill/>
            </p:grpSpPr>
            <p:grpSp>
              <p:nvGrpSpPr>
                <p:cNvPr id="87" name="Picture Placeholder 83">
                  <a:extLst>
                    <a:ext uri="{FF2B5EF4-FFF2-40B4-BE49-F238E27FC236}">
                      <a16:creationId xmlns:a16="http://schemas.microsoft.com/office/drawing/2014/main" id="{3682C4E4-CA6E-F847-8D75-62EF1AF439F7}"/>
                    </a:ext>
                  </a:extLst>
                </p:cNvPr>
                <p:cNvGrpSpPr/>
                <p:nvPr/>
              </p:nvGrpSpPr>
              <p:grpSpPr>
                <a:xfrm>
                  <a:off x="534323" y="1020938"/>
                  <a:ext cx="412363" cy="39597"/>
                  <a:chOff x="534323" y="1020938"/>
                  <a:chExt cx="412363" cy="39597"/>
                </a:xfrm>
                <a:grpFill/>
              </p:grpSpPr>
              <p:sp>
                <p:nvSpPr>
                  <p:cNvPr id="96" name="Picture Placeholder 83">
                    <a:extLst>
                      <a:ext uri="{FF2B5EF4-FFF2-40B4-BE49-F238E27FC236}">
                        <a16:creationId xmlns:a16="http://schemas.microsoft.com/office/drawing/2014/main" id="{B5B33263-09FF-F213-39CA-90769C91F493}"/>
                      </a:ext>
                    </a:extLst>
                  </p:cNvPr>
                  <p:cNvSpPr/>
                  <p:nvPr/>
                </p:nvSpPr>
                <p:spPr>
                  <a:xfrm>
                    <a:off x="534323" y="1022203"/>
                    <a:ext cx="38580" cy="38332"/>
                  </a:xfrm>
                  <a:custGeom>
                    <a:avLst/>
                    <a:gdLst>
                      <a:gd name="connsiteX0" fmla="*/ 19606 w 38580"/>
                      <a:gd name="connsiteY0" fmla="*/ 38332 h 38332"/>
                      <a:gd name="connsiteX1" fmla="*/ 15812 w 38580"/>
                      <a:gd name="connsiteY1" fmla="*/ 37700 h 38332"/>
                      <a:gd name="connsiteX2" fmla="*/ 12017 w 38580"/>
                      <a:gd name="connsiteY2" fmla="*/ 36435 h 38332"/>
                      <a:gd name="connsiteX3" fmla="*/ 8854 w 38580"/>
                      <a:gd name="connsiteY3" fmla="*/ 34538 h 38332"/>
                      <a:gd name="connsiteX4" fmla="*/ 5692 w 38580"/>
                      <a:gd name="connsiteY4" fmla="*/ 32008 h 38332"/>
                      <a:gd name="connsiteX5" fmla="*/ 0 w 38580"/>
                      <a:gd name="connsiteY5" fmla="*/ 18726 h 38332"/>
                      <a:gd name="connsiteX6" fmla="*/ 5692 w 38580"/>
                      <a:gd name="connsiteY6" fmla="*/ 5444 h 38332"/>
                      <a:gd name="connsiteX7" fmla="*/ 22769 w 38580"/>
                      <a:gd name="connsiteY7" fmla="*/ 385 h 38332"/>
                      <a:gd name="connsiteX8" fmla="*/ 26563 w 38580"/>
                      <a:gd name="connsiteY8" fmla="*/ 1650 h 38332"/>
                      <a:gd name="connsiteX9" fmla="*/ 29726 w 38580"/>
                      <a:gd name="connsiteY9" fmla="*/ 3547 h 38332"/>
                      <a:gd name="connsiteX10" fmla="*/ 32888 w 38580"/>
                      <a:gd name="connsiteY10" fmla="*/ 6077 h 38332"/>
                      <a:gd name="connsiteX11" fmla="*/ 38580 w 38580"/>
                      <a:gd name="connsiteY11" fmla="*/ 19358 h 38332"/>
                      <a:gd name="connsiteX12" fmla="*/ 32888 w 38580"/>
                      <a:gd name="connsiteY12" fmla="*/ 32640 h 38332"/>
                      <a:gd name="connsiteX13" fmla="*/ 19606 w 38580"/>
                      <a:gd name="connsiteY13" fmla="*/ 38332 h 38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580" h="38332">
                        <a:moveTo>
                          <a:pt x="19606" y="38332"/>
                        </a:moveTo>
                        <a:cubicBezTo>
                          <a:pt x="18341" y="38332"/>
                          <a:pt x="17076" y="38332"/>
                          <a:pt x="15812" y="37700"/>
                        </a:cubicBezTo>
                        <a:cubicBezTo>
                          <a:pt x="14547" y="37700"/>
                          <a:pt x="13282" y="37067"/>
                          <a:pt x="12017" y="36435"/>
                        </a:cubicBezTo>
                        <a:cubicBezTo>
                          <a:pt x="10752" y="35802"/>
                          <a:pt x="9487" y="35170"/>
                          <a:pt x="8854" y="34538"/>
                        </a:cubicBezTo>
                        <a:cubicBezTo>
                          <a:pt x="7590" y="33905"/>
                          <a:pt x="6957" y="33273"/>
                          <a:pt x="5692" y="32008"/>
                        </a:cubicBezTo>
                        <a:cubicBezTo>
                          <a:pt x="1897" y="28213"/>
                          <a:pt x="0" y="23786"/>
                          <a:pt x="0" y="18726"/>
                        </a:cubicBezTo>
                        <a:cubicBezTo>
                          <a:pt x="0" y="13666"/>
                          <a:pt x="1897" y="8607"/>
                          <a:pt x="5692" y="5444"/>
                        </a:cubicBezTo>
                        <a:cubicBezTo>
                          <a:pt x="10119" y="1017"/>
                          <a:pt x="16444" y="-880"/>
                          <a:pt x="22769" y="385"/>
                        </a:cubicBezTo>
                        <a:cubicBezTo>
                          <a:pt x="24033" y="385"/>
                          <a:pt x="25298" y="1017"/>
                          <a:pt x="26563" y="1650"/>
                        </a:cubicBezTo>
                        <a:cubicBezTo>
                          <a:pt x="27828" y="2282"/>
                          <a:pt x="29093" y="2915"/>
                          <a:pt x="29726" y="3547"/>
                        </a:cubicBezTo>
                        <a:cubicBezTo>
                          <a:pt x="30991" y="4179"/>
                          <a:pt x="31623" y="4812"/>
                          <a:pt x="32888" y="6077"/>
                        </a:cubicBezTo>
                        <a:cubicBezTo>
                          <a:pt x="36683" y="9239"/>
                          <a:pt x="38580" y="14299"/>
                          <a:pt x="38580" y="19358"/>
                        </a:cubicBezTo>
                        <a:cubicBezTo>
                          <a:pt x="38580" y="24418"/>
                          <a:pt x="36683" y="29478"/>
                          <a:pt x="32888" y="32640"/>
                        </a:cubicBezTo>
                        <a:cubicBezTo>
                          <a:pt x="29726" y="36435"/>
                          <a:pt x="24666" y="38332"/>
                          <a:pt x="19606" y="38332"/>
                        </a:cubicBezTo>
                        <a:close/>
                      </a:path>
                    </a:pathLst>
                  </a:custGeom>
                  <a:grpFill/>
                  <a:ln w="6271" cap="flat">
                    <a:noFill/>
                    <a:prstDash val="solid"/>
                    <a:miter/>
                  </a:ln>
                </p:spPr>
                <p:txBody>
                  <a:bodyPr rtlCol="0" anchor="ctr"/>
                  <a:lstStyle/>
                  <a:p>
                    <a:endParaRPr lang="en-US"/>
                  </a:p>
                </p:txBody>
              </p:sp>
              <p:sp>
                <p:nvSpPr>
                  <p:cNvPr id="97" name="Picture Placeholder 83">
                    <a:extLst>
                      <a:ext uri="{FF2B5EF4-FFF2-40B4-BE49-F238E27FC236}">
                        <a16:creationId xmlns:a16="http://schemas.microsoft.com/office/drawing/2014/main" id="{657A70F5-948B-FDD2-BF81-C26BA3A4BE11}"/>
                      </a:ext>
                    </a:extLst>
                  </p:cNvPr>
                  <p:cNvSpPr/>
                  <p:nvPr/>
                </p:nvSpPr>
                <p:spPr>
                  <a:xfrm>
                    <a:off x="597569" y="1022587"/>
                    <a:ext cx="287136" cy="37947"/>
                  </a:xfrm>
                  <a:custGeom>
                    <a:avLst/>
                    <a:gdLst>
                      <a:gd name="connsiteX0" fmla="*/ 249189 w 287136"/>
                      <a:gd name="connsiteY0" fmla="*/ 18974 h 37947"/>
                      <a:gd name="connsiteX1" fmla="*/ 268163 w 287136"/>
                      <a:gd name="connsiteY1" fmla="*/ 0 h 37947"/>
                      <a:gd name="connsiteX2" fmla="*/ 268163 w 287136"/>
                      <a:gd name="connsiteY2" fmla="*/ 0 h 37947"/>
                      <a:gd name="connsiteX3" fmla="*/ 287137 w 287136"/>
                      <a:gd name="connsiteY3" fmla="*/ 18974 h 37947"/>
                      <a:gd name="connsiteX4" fmla="*/ 287137 w 287136"/>
                      <a:gd name="connsiteY4" fmla="*/ 18974 h 37947"/>
                      <a:gd name="connsiteX5" fmla="*/ 268163 w 287136"/>
                      <a:gd name="connsiteY5" fmla="*/ 37948 h 37947"/>
                      <a:gd name="connsiteX6" fmla="*/ 268163 w 287136"/>
                      <a:gd name="connsiteY6" fmla="*/ 37948 h 37947"/>
                      <a:gd name="connsiteX7" fmla="*/ 249189 w 287136"/>
                      <a:gd name="connsiteY7" fmla="*/ 18974 h 37947"/>
                      <a:gd name="connsiteX8" fmla="*/ 186576 w 287136"/>
                      <a:gd name="connsiteY8" fmla="*/ 18974 h 37947"/>
                      <a:gd name="connsiteX9" fmla="*/ 205549 w 287136"/>
                      <a:gd name="connsiteY9" fmla="*/ 0 h 37947"/>
                      <a:gd name="connsiteX10" fmla="*/ 205549 w 287136"/>
                      <a:gd name="connsiteY10" fmla="*/ 0 h 37947"/>
                      <a:gd name="connsiteX11" fmla="*/ 224523 w 287136"/>
                      <a:gd name="connsiteY11" fmla="*/ 18974 h 37947"/>
                      <a:gd name="connsiteX12" fmla="*/ 224523 w 287136"/>
                      <a:gd name="connsiteY12" fmla="*/ 18974 h 37947"/>
                      <a:gd name="connsiteX13" fmla="*/ 205549 w 287136"/>
                      <a:gd name="connsiteY13" fmla="*/ 37948 h 37947"/>
                      <a:gd name="connsiteX14" fmla="*/ 205549 w 287136"/>
                      <a:gd name="connsiteY14" fmla="*/ 37948 h 37947"/>
                      <a:gd name="connsiteX15" fmla="*/ 186576 w 287136"/>
                      <a:gd name="connsiteY15" fmla="*/ 18974 h 37947"/>
                      <a:gd name="connsiteX16" fmla="*/ 124595 w 287136"/>
                      <a:gd name="connsiteY16" fmla="*/ 18974 h 37947"/>
                      <a:gd name="connsiteX17" fmla="*/ 143568 w 287136"/>
                      <a:gd name="connsiteY17" fmla="*/ 0 h 37947"/>
                      <a:gd name="connsiteX18" fmla="*/ 143568 w 287136"/>
                      <a:gd name="connsiteY18" fmla="*/ 0 h 37947"/>
                      <a:gd name="connsiteX19" fmla="*/ 162542 w 287136"/>
                      <a:gd name="connsiteY19" fmla="*/ 18974 h 37947"/>
                      <a:gd name="connsiteX20" fmla="*/ 162542 w 287136"/>
                      <a:gd name="connsiteY20" fmla="*/ 18974 h 37947"/>
                      <a:gd name="connsiteX21" fmla="*/ 143568 w 287136"/>
                      <a:gd name="connsiteY21" fmla="*/ 37948 h 37947"/>
                      <a:gd name="connsiteX22" fmla="*/ 143568 w 287136"/>
                      <a:gd name="connsiteY22" fmla="*/ 37948 h 37947"/>
                      <a:gd name="connsiteX23" fmla="*/ 124595 w 287136"/>
                      <a:gd name="connsiteY23" fmla="*/ 18974 h 37947"/>
                      <a:gd name="connsiteX24" fmla="*/ 61981 w 287136"/>
                      <a:gd name="connsiteY24" fmla="*/ 18974 h 37947"/>
                      <a:gd name="connsiteX25" fmla="*/ 80955 w 287136"/>
                      <a:gd name="connsiteY25" fmla="*/ 0 h 37947"/>
                      <a:gd name="connsiteX26" fmla="*/ 80955 w 287136"/>
                      <a:gd name="connsiteY26" fmla="*/ 0 h 37947"/>
                      <a:gd name="connsiteX27" fmla="*/ 99929 w 287136"/>
                      <a:gd name="connsiteY27" fmla="*/ 18974 h 37947"/>
                      <a:gd name="connsiteX28" fmla="*/ 99929 w 287136"/>
                      <a:gd name="connsiteY28" fmla="*/ 18974 h 37947"/>
                      <a:gd name="connsiteX29" fmla="*/ 80955 w 287136"/>
                      <a:gd name="connsiteY29" fmla="*/ 37948 h 37947"/>
                      <a:gd name="connsiteX30" fmla="*/ 80955 w 287136"/>
                      <a:gd name="connsiteY30" fmla="*/ 37948 h 37947"/>
                      <a:gd name="connsiteX31" fmla="*/ 61981 w 287136"/>
                      <a:gd name="connsiteY31" fmla="*/ 18974 h 37947"/>
                      <a:gd name="connsiteX32" fmla="*/ 0 w 287136"/>
                      <a:gd name="connsiteY32" fmla="*/ 18974 h 37947"/>
                      <a:gd name="connsiteX33" fmla="*/ 18974 w 287136"/>
                      <a:gd name="connsiteY33" fmla="*/ 0 h 37947"/>
                      <a:gd name="connsiteX34" fmla="*/ 18974 w 287136"/>
                      <a:gd name="connsiteY34" fmla="*/ 0 h 37947"/>
                      <a:gd name="connsiteX35" fmla="*/ 37948 w 287136"/>
                      <a:gd name="connsiteY35" fmla="*/ 18974 h 37947"/>
                      <a:gd name="connsiteX36" fmla="*/ 37948 w 287136"/>
                      <a:gd name="connsiteY36" fmla="*/ 18974 h 37947"/>
                      <a:gd name="connsiteX37" fmla="*/ 18974 w 287136"/>
                      <a:gd name="connsiteY37" fmla="*/ 37948 h 37947"/>
                      <a:gd name="connsiteX38" fmla="*/ 18974 w 287136"/>
                      <a:gd name="connsiteY38" fmla="*/ 37948 h 37947"/>
                      <a:gd name="connsiteX39" fmla="*/ 0 w 287136"/>
                      <a:gd name="connsiteY39" fmla="*/ 18974 h 3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7136" h="37947">
                        <a:moveTo>
                          <a:pt x="249189" y="18974"/>
                        </a:moveTo>
                        <a:cubicBezTo>
                          <a:pt x="249189" y="8854"/>
                          <a:pt x="257411" y="0"/>
                          <a:pt x="268163" y="0"/>
                        </a:cubicBezTo>
                        <a:lnTo>
                          <a:pt x="268163" y="0"/>
                        </a:lnTo>
                        <a:cubicBezTo>
                          <a:pt x="278282" y="0"/>
                          <a:pt x="287137" y="8222"/>
                          <a:pt x="287137" y="18974"/>
                        </a:cubicBezTo>
                        <a:lnTo>
                          <a:pt x="287137" y="18974"/>
                        </a:lnTo>
                        <a:cubicBezTo>
                          <a:pt x="287137" y="29726"/>
                          <a:pt x="278915" y="37948"/>
                          <a:pt x="268163" y="37948"/>
                        </a:cubicBezTo>
                        <a:lnTo>
                          <a:pt x="268163" y="37948"/>
                        </a:lnTo>
                        <a:cubicBezTo>
                          <a:pt x="257411" y="37948"/>
                          <a:pt x="249189" y="29726"/>
                          <a:pt x="249189" y="18974"/>
                        </a:cubicBezTo>
                        <a:close/>
                        <a:moveTo>
                          <a:pt x="186576" y="18974"/>
                        </a:moveTo>
                        <a:cubicBezTo>
                          <a:pt x="186576" y="8854"/>
                          <a:pt x="194798" y="0"/>
                          <a:pt x="205549" y="0"/>
                        </a:cubicBezTo>
                        <a:lnTo>
                          <a:pt x="205549" y="0"/>
                        </a:lnTo>
                        <a:cubicBezTo>
                          <a:pt x="216301" y="0"/>
                          <a:pt x="224523" y="8222"/>
                          <a:pt x="224523" y="18974"/>
                        </a:cubicBezTo>
                        <a:lnTo>
                          <a:pt x="224523" y="18974"/>
                        </a:lnTo>
                        <a:cubicBezTo>
                          <a:pt x="224523" y="29726"/>
                          <a:pt x="216301" y="37948"/>
                          <a:pt x="205549" y="37948"/>
                        </a:cubicBezTo>
                        <a:lnTo>
                          <a:pt x="205549" y="37948"/>
                        </a:lnTo>
                        <a:cubicBezTo>
                          <a:pt x="195430" y="37948"/>
                          <a:pt x="186576" y="29726"/>
                          <a:pt x="186576" y="18974"/>
                        </a:cubicBezTo>
                        <a:close/>
                        <a:moveTo>
                          <a:pt x="124595" y="18974"/>
                        </a:moveTo>
                        <a:cubicBezTo>
                          <a:pt x="124595" y="8854"/>
                          <a:pt x="132817" y="0"/>
                          <a:pt x="143568" y="0"/>
                        </a:cubicBezTo>
                        <a:lnTo>
                          <a:pt x="143568" y="0"/>
                        </a:lnTo>
                        <a:cubicBezTo>
                          <a:pt x="153688" y="0"/>
                          <a:pt x="162542" y="8222"/>
                          <a:pt x="162542" y="18974"/>
                        </a:cubicBezTo>
                        <a:lnTo>
                          <a:pt x="162542" y="18974"/>
                        </a:lnTo>
                        <a:cubicBezTo>
                          <a:pt x="162542" y="29726"/>
                          <a:pt x="154320" y="37948"/>
                          <a:pt x="143568" y="37948"/>
                        </a:cubicBezTo>
                        <a:lnTo>
                          <a:pt x="143568" y="37948"/>
                        </a:lnTo>
                        <a:cubicBezTo>
                          <a:pt x="132817" y="37948"/>
                          <a:pt x="124595" y="29726"/>
                          <a:pt x="124595" y="18974"/>
                        </a:cubicBezTo>
                        <a:close/>
                        <a:moveTo>
                          <a:pt x="61981" y="18974"/>
                        </a:moveTo>
                        <a:cubicBezTo>
                          <a:pt x="61981" y="8854"/>
                          <a:pt x="70203" y="0"/>
                          <a:pt x="80955" y="0"/>
                        </a:cubicBezTo>
                        <a:lnTo>
                          <a:pt x="80955" y="0"/>
                        </a:lnTo>
                        <a:cubicBezTo>
                          <a:pt x="91074" y="0"/>
                          <a:pt x="99929" y="8222"/>
                          <a:pt x="99929" y="18974"/>
                        </a:cubicBezTo>
                        <a:lnTo>
                          <a:pt x="99929" y="18974"/>
                        </a:lnTo>
                        <a:cubicBezTo>
                          <a:pt x="99929" y="29726"/>
                          <a:pt x="91707" y="37948"/>
                          <a:pt x="80955" y="37948"/>
                        </a:cubicBezTo>
                        <a:lnTo>
                          <a:pt x="80955" y="37948"/>
                        </a:lnTo>
                        <a:cubicBezTo>
                          <a:pt x="70836" y="37948"/>
                          <a:pt x="61981" y="29726"/>
                          <a:pt x="61981" y="18974"/>
                        </a:cubicBezTo>
                        <a:close/>
                        <a:moveTo>
                          <a:pt x="0" y="18974"/>
                        </a:moveTo>
                        <a:cubicBezTo>
                          <a:pt x="0" y="8854"/>
                          <a:pt x="8222" y="0"/>
                          <a:pt x="18974" y="0"/>
                        </a:cubicBezTo>
                        <a:lnTo>
                          <a:pt x="18974" y="0"/>
                        </a:lnTo>
                        <a:cubicBezTo>
                          <a:pt x="29726" y="0"/>
                          <a:pt x="37948" y="8222"/>
                          <a:pt x="37948" y="18974"/>
                        </a:cubicBezTo>
                        <a:lnTo>
                          <a:pt x="37948" y="18974"/>
                        </a:lnTo>
                        <a:cubicBezTo>
                          <a:pt x="37948" y="29726"/>
                          <a:pt x="29726" y="37948"/>
                          <a:pt x="18974" y="37948"/>
                        </a:cubicBezTo>
                        <a:lnTo>
                          <a:pt x="18974" y="37948"/>
                        </a:lnTo>
                        <a:cubicBezTo>
                          <a:pt x="8222" y="37948"/>
                          <a:pt x="0" y="29726"/>
                          <a:pt x="0" y="18974"/>
                        </a:cubicBezTo>
                        <a:close/>
                      </a:path>
                    </a:pathLst>
                  </a:custGeom>
                  <a:grpFill/>
                  <a:ln w="6271" cap="flat">
                    <a:noFill/>
                    <a:prstDash val="solid"/>
                    <a:miter/>
                  </a:ln>
                </p:spPr>
                <p:txBody>
                  <a:bodyPr rtlCol="0" anchor="ctr"/>
                  <a:lstStyle/>
                  <a:p>
                    <a:endParaRPr lang="en-US"/>
                  </a:p>
                </p:txBody>
              </p:sp>
              <p:sp>
                <p:nvSpPr>
                  <p:cNvPr id="98" name="Picture Placeholder 83">
                    <a:extLst>
                      <a:ext uri="{FF2B5EF4-FFF2-40B4-BE49-F238E27FC236}">
                        <a16:creationId xmlns:a16="http://schemas.microsoft.com/office/drawing/2014/main" id="{2E0BB20A-9164-D0E5-1F99-A15AB6A0EF10}"/>
                      </a:ext>
                    </a:extLst>
                  </p:cNvPr>
                  <p:cNvSpPr/>
                  <p:nvPr/>
                </p:nvSpPr>
                <p:spPr>
                  <a:xfrm>
                    <a:off x="908107" y="1020938"/>
                    <a:ext cx="38580" cy="39597"/>
                  </a:xfrm>
                  <a:custGeom>
                    <a:avLst/>
                    <a:gdLst>
                      <a:gd name="connsiteX0" fmla="*/ 19606 w 38580"/>
                      <a:gd name="connsiteY0" fmla="*/ 39597 h 39597"/>
                      <a:gd name="connsiteX1" fmla="*/ 15812 w 38580"/>
                      <a:gd name="connsiteY1" fmla="*/ 38965 h 39597"/>
                      <a:gd name="connsiteX2" fmla="*/ 12017 w 38580"/>
                      <a:gd name="connsiteY2" fmla="*/ 37700 h 39597"/>
                      <a:gd name="connsiteX3" fmla="*/ 8854 w 38580"/>
                      <a:gd name="connsiteY3" fmla="*/ 35802 h 39597"/>
                      <a:gd name="connsiteX4" fmla="*/ 5692 w 38580"/>
                      <a:gd name="connsiteY4" fmla="*/ 33273 h 39597"/>
                      <a:gd name="connsiteX5" fmla="*/ 3162 w 38580"/>
                      <a:gd name="connsiteY5" fmla="*/ 30110 h 39597"/>
                      <a:gd name="connsiteX6" fmla="*/ 1265 w 38580"/>
                      <a:gd name="connsiteY6" fmla="*/ 26948 h 39597"/>
                      <a:gd name="connsiteX7" fmla="*/ 0 w 38580"/>
                      <a:gd name="connsiteY7" fmla="*/ 23786 h 39597"/>
                      <a:gd name="connsiteX8" fmla="*/ 0 w 38580"/>
                      <a:gd name="connsiteY8" fmla="*/ 19991 h 39597"/>
                      <a:gd name="connsiteX9" fmla="*/ 0 w 38580"/>
                      <a:gd name="connsiteY9" fmla="*/ 16196 h 39597"/>
                      <a:gd name="connsiteX10" fmla="*/ 1265 w 38580"/>
                      <a:gd name="connsiteY10" fmla="*/ 12401 h 39597"/>
                      <a:gd name="connsiteX11" fmla="*/ 3162 w 38580"/>
                      <a:gd name="connsiteY11" fmla="*/ 9239 h 39597"/>
                      <a:gd name="connsiteX12" fmla="*/ 5692 w 38580"/>
                      <a:gd name="connsiteY12" fmla="*/ 6077 h 39597"/>
                      <a:gd name="connsiteX13" fmla="*/ 8854 w 38580"/>
                      <a:gd name="connsiteY13" fmla="*/ 3547 h 39597"/>
                      <a:gd name="connsiteX14" fmla="*/ 12017 w 38580"/>
                      <a:gd name="connsiteY14" fmla="*/ 1650 h 39597"/>
                      <a:gd name="connsiteX15" fmla="*/ 15812 w 38580"/>
                      <a:gd name="connsiteY15" fmla="*/ 385 h 39597"/>
                      <a:gd name="connsiteX16" fmla="*/ 32888 w 38580"/>
                      <a:gd name="connsiteY16" fmla="*/ 5444 h 39597"/>
                      <a:gd name="connsiteX17" fmla="*/ 38580 w 38580"/>
                      <a:gd name="connsiteY17" fmla="*/ 18726 h 39597"/>
                      <a:gd name="connsiteX18" fmla="*/ 37948 w 38580"/>
                      <a:gd name="connsiteY18" fmla="*/ 22521 h 39597"/>
                      <a:gd name="connsiteX19" fmla="*/ 36683 w 38580"/>
                      <a:gd name="connsiteY19" fmla="*/ 25683 h 39597"/>
                      <a:gd name="connsiteX20" fmla="*/ 34785 w 38580"/>
                      <a:gd name="connsiteY20" fmla="*/ 28845 h 39597"/>
                      <a:gd name="connsiteX21" fmla="*/ 32255 w 38580"/>
                      <a:gd name="connsiteY21" fmla="*/ 32008 h 39597"/>
                      <a:gd name="connsiteX22" fmla="*/ 19606 w 38580"/>
                      <a:gd name="connsiteY22" fmla="*/ 39597 h 3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8580" h="39597">
                        <a:moveTo>
                          <a:pt x="19606" y="39597"/>
                        </a:moveTo>
                        <a:cubicBezTo>
                          <a:pt x="18341" y="39597"/>
                          <a:pt x="17076" y="39597"/>
                          <a:pt x="15812" y="38965"/>
                        </a:cubicBezTo>
                        <a:cubicBezTo>
                          <a:pt x="14547" y="38965"/>
                          <a:pt x="13282" y="38332"/>
                          <a:pt x="12017" y="37700"/>
                        </a:cubicBezTo>
                        <a:cubicBezTo>
                          <a:pt x="10752" y="37067"/>
                          <a:pt x="9487" y="36435"/>
                          <a:pt x="8854" y="35802"/>
                        </a:cubicBezTo>
                        <a:cubicBezTo>
                          <a:pt x="7590" y="35170"/>
                          <a:pt x="6957" y="34538"/>
                          <a:pt x="5692" y="33273"/>
                        </a:cubicBezTo>
                        <a:cubicBezTo>
                          <a:pt x="5060" y="32008"/>
                          <a:pt x="3795" y="31375"/>
                          <a:pt x="3162" y="30110"/>
                        </a:cubicBezTo>
                        <a:cubicBezTo>
                          <a:pt x="2530" y="28845"/>
                          <a:pt x="1897" y="28213"/>
                          <a:pt x="1265" y="26948"/>
                        </a:cubicBezTo>
                        <a:cubicBezTo>
                          <a:pt x="632" y="25683"/>
                          <a:pt x="632" y="24418"/>
                          <a:pt x="0" y="23786"/>
                        </a:cubicBezTo>
                        <a:cubicBezTo>
                          <a:pt x="0" y="22521"/>
                          <a:pt x="0" y="21256"/>
                          <a:pt x="0" y="19991"/>
                        </a:cubicBezTo>
                        <a:cubicBezTo>
                          <a:pt x="0" y="18726"/>
                          <a:pt x="0" y="17461"/>
                          <a:pt x="0" y="16196"/>
                        </a:cubicBezTo>
                        <a:cubicBezTo>
                          <a:pt x="0" y="14931"/>
                          <a:pt x="632" y="13666"/>
                          <a:pt x="1265" y="12401"/>
                        </a:cubicBezTo>
                        <a:cubicBezTo>
                          <a:pt x="1897" y="11137"/>
                          <a:pt x="2530" y="9872"/>
                          <a:pt x="3162" y="9239"/>
                        </a:cubicBezTo>
                        <a:cubicBezTo>
                          <a:pt x="3795" y="7974"/>
                          <a:pt x="4427" y="7342"/>
                          <a:pt x="5692" y="6077"/>
                        </a:cubicBezTo>
                        <a:cubicBezTo>
                          <a:pt x="6957" y="5444"/>
                          <a:pt x="7590" y="4179"/>
                          <a:pt x="8854" y="3547"/>
                        </a:cubicBezTo>
                        <a:cubicBezTo>
                          <a:pt x="10119" y="2915"/>
                          <a:pt x="10752" y="2282"/>
                          <a:pt x="12017" y="1650"/>
                        </a:cubicBezTo>
                        <a:cubicBezTo>
                          <a:pt x="13282" y="1017"/>
                          <a:pt x="14547" y="1017"/>
                          <a:pt x="15812" y="385"/>
                        </a:cubicBezTo>
                        <a:cubicBezTo>
                          <a:pt x="22136" y="-880"/>
                          <a:pt x="28461" y="1017"/>
                          <a:pt x="32888" y="5444"/>
                        </a:cubicBezTo>
                        <a:cubicBezTo>
                          <a:pt x="36050" y="9239"/>
                          <a:pt x="38580" y="13666"/>
                          <a:pt x="38580" y="18726"/>
                        </a:cubicBezTo>
                        <a:cubicBezTo>
                          <a:pt x="38580" y="19991"/>
                          <a:pt x="38580" y="21256"/>
                          <a:pt x="37948" y="22521"/>
                        </a:cubicBezTo>
                        <a:cubicBezTo>
                          <a:pt x="37948" y="23786"/>
                          <a:pt x="37315" y="25051"/>
                          <a:pt x="36683" y="25683"/>
                        </a:cubicBezTo>
                        <a:cubicBezTo>
                          <a:pt x="36050" y="26948"/>
                          <a:pt x="35418" y="28213"/>
                          <a:pt x="34785" y="28845"/>
                        </a:cubicBezTo>
                        <a:cubicBezTo>
                          <a:pt x="34153" y="30110"/>
                          <a:pt x="33520" y="30743"/>
                          <a:pt x="32255" y="32008"/>
                        </a:cubicBezTo>
                        <a:cubicBezTo>
                          <a:pt x="29093" y="37700"/>
                          <a:pt x="24666" y="39597"/>
                          <a:pt x="19606" y="39597"/>
                        </a:cubicBezTo>
                        <a:close/>
                      </a:path>
                    </a:pathLst>
                  </a:custGeom>
                  <a:grpFill/>
                  <a:ln w="6271" cap="flat">
                    <a:noFill/>
                    <a:prstDash val="solid"/>
                    <a:miter/>
                  </a:ln>
                </p:spPr>
                <p:txBody>
                  <a:bodyPr rtlCol="0" anchor="ctr"/>
                  <a:lstStyle/>
                  <a:p>
                    <a:endParaRPr lang="en-US"/>
                  </a:p>
                </p:txBody>
              </p:sp>
            </p:grpSp>
            <p:grpSp>
              <p:nvGrpSpPr>
                <p:cNvPr id="88" name="Picture Placeholder 83">
                  <a:extLst>
                    <a:ext uri="{FF2B5EF4-FFF2-40B4-BE49-F238E27FC236}">
                      <a16:creationId xmlns:a16="http://schemas.microsoft.com/office/drawing/2014/main" id="{43B12643-84B5-DED1-B42A-FE82EEB46956}"/>
                    </a:ext>
                  </a:extLst>
                </p:cNvPr>
                <p:cNvGrpSpPr/>
                <p:nvPr/>
              </p:nvGrpSpPr>
              <p:grpSpPr>
                <a:xfrm>
                  <a:off x="534956" y="909625"/>
                  <a:ext cx="411731" cy="40229"/>
                  <a:chOff x="534956" y="909625"/>
                  <a:chExt cx="411731" cy="40229"/>
                </a:xfrm>
                <a:grpFill/>
              </p:grpSpPr>
              <p:sp>
                <p:nvSpPr>
                  <p:cNvPr id="93" name="Picture Placeholder 83">
                    <a:extLst>
                      <a:ext uri="{FF2B5EF4-FFF2-40B4-BE49-F238E27FC236}">
                        <a16:creationId xmlns:a16="http://schemas.microsoft.com/office/drawing/2014/main" id="{A0EA2771-7F04-008D-2871-337ECECA87CA}"/>
                      </a:ext>
                    </a:extLst>
                  </p:cNvPr>
                  <p:cNvSpPr/>
                  <p:nvPr/>
                </p:nvSpPr>
                <p:spPr>
                  <a:xfrm>
                    <a:off x="534956" y="911522"/>
                    <a:ext cx="38580" cy="38332"/>
                  </a:xfrm>
                  <a:custGeom>
                    <a:avLst/>
                    <a:gdLst>
                      <a:gd name="connsiteX0" fmla="*/ 18974 w 38580"/>
                      <a:gd name="connsiteY0" fmla="*/ 37700 h 38332"/>
                      <a:gd name="connsiteX1" fmla="*/ 5692 w 38580"/>
                      <a:gd name="connsiteY1" fmla="*/ 32008 h 38332"/>
                      <a:gd name="connsiteX2" fmla="*/ 0 w 38580"/>
                      <a:gd name="connsiteY2" fmla="*/ 18726 h 38332"/>
                      <a:gd name="connsiteX3" fmla="*/ 5692 w 38580"/>
                      <a:gd name="connsiteY3" fmla="*/ 5444 h 38332"/>
                      <a:gd name="connsiteX4" fmla="*/ 22769 w 38580"/>
                      <a:gd name="connsiteY4" fmla="*/ 385 h 38332"/>
                      <a:gd name="connsiteX5" fmla="*/ 26563 w 38580"/>
                      <a:gd name="connsiteY5" fmla="*/ 1650 h 38332"/>
                      <a:gd name="connsiteX6" fmla="*/ 29726 w 38580"/>
                      <a:gd name="connsiteY6" fmla="*/ 3547 h 38332"/>
                      <a:gd name="connsiteX7" fmla="*/ 32888 w 38580"/>
                      <a:gd name="connsiteY7" fmla="*/ 6077 h 38332"/>
                      <a:gd name="connsiteX8" fmla="*/ 38580 w 38580"/>
                      <a:gd name="connsiteY8" fmla="*/ 19358 h 38332"/>
                      <a:gd name="connsiteX9" fmla="*/ 32888 w 38580"/>
                      <a:gd name="connsiteY9" fmla="*/ 32640 h 38332"/>
                      <a:gd name="connsiteX10" fmla="*/ 29726 w 38580"/>
                      <a:gd name="connsiteY10" fmla="*/ 35170 h 38332"/>
                      <a:gd name="connsiteX11" fmla="*/ 26563 w 38580"/>
                      <a:gd name="connsiteY11" fmla="*/ 37067 h 38332"/>
                      <a:gd name="connsiteX12" fmla="*/ 22769 w 38580"/>
                      <a:gd name="connsiteY12" fmla="*/ 38332 h 38332"/>
                      <a:gd name="connsiteX13" fmla="*/ 18974 w 38580"/>
                      <a:gd name="connsiteY13" fmla="*/ 37700 h 38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580" h="38332">
                        <a:moveTo>
                          <a:pt x="18974" y="37700"/>
                        </a:moveTo>
                        <a:cubicBezTo>
                          <a:pt x="13914" y="37700"/>
                          <a:pt x="8854" y="35802"/>
                          <a:pt x="5692" y="32008"/>
                        </a:cubicBezTo>
                        <a:cubicBezTo>
                          <a:pt x="1897" y="28213"/>
                          <a:pt x="0" y="23786"/>
                          <a:pt x="0" y="18726"/>
                        </a:cubicBezTo>
                        <a:cubicBezTo>
                          <a:pt x="0" y="13666"/>
                          <a:pt x="1897" y="8607"/>
                          <a:pt x="5692" y="5444"/>
                        </a:cubicBezTo>
                        <a:cubicBezTo>
                          <a:pt x="10119" y="1017"/>
                          <a:pt x="16444" y="-880"/>
                          <a:pt x="22769" y="385"/>
                        </a:cubicBezTo>
                        <a:cubicBezTo>
                          <a:pt x="24033" y="385"/>
                          <a:pt x="25298" y="1017"/>
                          <a:pt x="26563" y="1650"/>
                        </a:cubicBezTo>
                        <a:cubicBezTo>
                          <a:pt x="27828" y="2282"/>
                          <a:pt x="29093" y="2915"/>
                          <a:pt x="29726" y="3547"/>
                        </a:cubicBezTo>
                        <a:cubicBezTo>
                          <a:pt x="30991" y="4179"/>
                          <a:pt x="31623" y="4812"/>
                          <a:pt x="32888" y="6077"/>
                        </a:cubicBezTo>
                        <a:cubicBezTo>
                          <a:pt x="36683" y="9872"/>
                          <a:pt x="38580" y="14299"/>
                          <a:pt x="38580" y="19358"/>
                        </a:cubicBezTo>
                        <a:cubicBezTo>
                          <a:pt x="38580" y="24418"/>
                          <a:pt x="36683" y="29478"/>
                          <a:pt x="32888" y="32640"/>
                        </a:cubicBezTo>
                        <a:cubicBezTo>
                          <a:pt x="31623" y="33273"/>
                          <a:pt x="30991" y="34538"/>
                          <a:pt x="29726" y="35170"/>
                        </a:cubicBezTo>
                        <a:cubicBezTo>
                          <a:pt x="28461" y="35802"/>
                          <a:pt x="27828" y="36435"/>
                          <a:pt x="26563" y="37067"/>
                        </a:cubicBezTo>
                        <a:cubicBezTo>
                          <a:pt x="25298" y="37700"/>
                          <a:pt x="24033" y="37700"/>
                          <a:pt x="22769" y="38332"/>
                        </a:cubicBezTo>
                        <a:cubicBezTo>
                          <a:pt x="21504" y="37700"/>
                          <a:pt x="20239" y="37700"/>
                          <a:pt x="18974" y="37700"/>
                        </a:cubicBezTo>
                        <a:close/>
                      </a:path>
                    </a:pathLst>
                  </a:custGeom>
                  <a:grpFill/>
                  <a:ln w="6271" cap="flat">
                    <a:noFill/>
                    <a:prstDash val="solid"/>
                    <a:miter/>
                  </a:ln>
                </p:spPr>
                <p:txBody>
                  <a:bodyPr rtlCol="0" anchor="ctr"/>
                  <a:lstStyle/>
                  <a:p>
                    <a:endParaRPr lang="en-US"/>
                  </a:p>
                </p:txBody>
              </p:sp>
              <p:sp>
                <p:nvSpPr>
                  <p:cNvPr id="94" name="Picture Placeholder 83">
                    <a:extLst>
                      <a:ext uri="{FF2B5EF4-FFF2-40B4-BE49-F238E27FC236}">
                        <a16:creationId xmlns:a16="http://schemas.microsoft.com/office/drawing/2014/main" id="{BB323A4F-B77A-5EC1-F690-74F6EC94A6E1}"/>
                      </a:ext>
                    </a:extLst>
                  </p:cNvPr>
                  <p:cNvSpPr/>
                  <p:nvPr/>
                </p:nvSpPr>
                <p:spPr>
                  <a:xfrm>
                    <a:off x="597569" y="911274"/>
                    <a:ext cx="287136" cy="37947"/>
                  </a:xfrm>
                  <a:custGeom>
                    <a:avLst/>
                    <a:gdLst>
                      <a:gd name="connsiteX0" fmla="*/ 249189 w 287136"/>
                      <a:gd name="connsiteY0" fmla="*/ 18974 h 37947"/>
                      <a:gd name="connsiteX1" fmla="*/ 268163 w 287136"/>
                      <a:gd name="connsiteY1" fmla="*/ 0 h 37947"/>
                      <a:gd name="connsiteX2" fmla="*/ 268163 w 287136"/>
                      <a:gd name="connsiteY2" fmla="*/ 0 h 37947"/>
                      <a:gd name="connsiteX3" fmla="*/ 287137 w 287136"/>
                      <a:gd name="connsiteY3" fmla="*/ 18974 h 37947"/>
                      <a:gd name="connsiteX4" fmla="*/ 287137 w 287136"/>
                      <a:gd name="connsiteY4" fmla="*/ 18974 h 37947"/>
                      <a:gd name="connsiteX5" fmla="*/ 268163 w 287136"/>
                      <a:gd name="connsiteY5" fmla="*/ 37948 h 37947"/>
                      <a:gd name="connsiteX6" fmla="*/ 268163 w 287136"/>
                      <a:gd name="connsiteY6" fmla="*/ 37948 h 37947"/>
                      <a:gd name="connsiteX7" fmla="*/ 249189 w 287136"/>
                      <a:gd name="connsiteY7" fmla="*/ 18974 h 37947"/>
                      <a:gd name="connsiteX8" fmla="*/ 186576 w 287136"/>
                      <a:gd name="connsiteY8" fmla="*/ 18974 h 37947"/>
                      <a:gd name="connsiteX9" fmla="*/ 205549 w 287136"/>
                      <a:gd name="connsiteY9" fmla="*/ 0 h 37947"/>
                      <a:gd name="connsiteX10" fmla="*/ 205549 w 287136"/>
                      <a:gd name="connsiteY10" fmla="*/ 0 h 37947"/>
                      <a:gd name="connsiteX11" fmla="*/ 224523 w 287136"/>
                      <a:gd name="connsiteY11" fmla="*/ 18974 h 37947"/>
                      <a:gd name="connsiteX12" fmla="*/ 224523 w 287136"/>
                      <a:gd name="connsiteY12" fmla="*/ 18974 h 37947"/>
                      <a:gd name="connsiteX13" fmla="*/ 205549 w 287136"/>
                      <a:gd name="connsiteY13" fmla="*/ 37948 h 37947"/>
                      <a:gd name="connsiteX14" fmla="*/ 205549 w 287136"/>
                      <a:gd name="connsiteY14" fmla="*/ 37948 h 37947"/>
                      <a:gd name="connsiteX15" fmla="*/ 186576 w 287136"/>
                      <a:gd name="connsiteY15" fmla="*/ 18974 h 37947"/>
                      <a:gd name="connsiteX16" fmla="*/ 124595 w 287136"/>
                      <a:gd name="connsiteY16" fmla="*/ 18974 h 37947"/>
                      <a:gd name="connsiteX17" fmla="*/ 143568 w 287136"/>
                      <a:gd name="connsiteY17" fmla="*/ 0 h 37947"/>
                      <a:gd name="connsiteX18" fmla="*/ 143568 w 287136"/>
                      <a:gd name="connsiteY18" fmla="*/ 0 h 37947"/>
                      <a:gd name="connsiteX19" fmla="*/ 162542 w 287136"/>
                      <a:gd name="connsiteY19" fmla="*/ 18974 h 37947"/>
                      <a:gd name="connsiteX20" fmla="*/ 162542 w 287136"/>
                      <a:gd name="connsiteY20" fmla="*/ 18974 h 37947"/>
                      <a:gd name="connsiteX21" fmla="*/ 143568 w 287136"/>
                      <a:gd name="connsiteY21" fmla="*/ 37948 h 37947"/>
                      <a:gd name="connsiteX22" fmla="*/ 143568 w 287136"/>
                      <a:gd name="connsiteY22" fmla="*/ 37948 h 37947"/>
                      <a:gd name="connsiteX23" fmla="*/ 124595 w 287136"/>
                      <a:gd name="connsiteY23" fmla="*/ 18974 h 37947"/>
                      <a:gd name="connsiteX24" fmla="*/ 61981 w 287136"/>
                      <a:gd name="connsiteY24" fmla="*/ 18974 h 37947"/>
                      <a:gd name="connsiteX25" fmla="*/ 80955 w 287136"/>
                      <a:gd name="connsiteY25" fmla="*/ 0 h 37947"/>
                      <a:gd name="connsiteX26" fmla="*/ 80955 w 287136"/>
                      <a:gd name="connsiteY26" fmla="*/ 0 h 37947"/>
                      <a:gd name="connsiteX27" fmla="*/ 99929 w 287136"/>
                      <a:gd name="connsiteY27" fmla="*/ 18974 h 37947"/>
                      <a:gd name="connsiteX28" fmla="*/ 99929 w 287136"/>
                      <a:gd name="connsiteY28" fmla="*/ 18974 h 37947"/>
                      <a:gd name="connsiteX29" fmla="*/ 80955 w 287136"/>
                      <a:gd name="connsiteY29" fmla="*/ 37948 h 37947"/>
                      <a:gd name="connsiteX30" fmla="*/ 80955 w 287136"/>
                      <a:gd name="connsiteY30" fmla="*/ 37948 h 37947"/>
                      <a:gd name="connsiteX31" fmla="*/ 61981 w 287136"/>
                      <a:gd name="connsiteY31" fmla="*/ 18974 h 37947"/>
                      <a:gd name="connsiteX32" fmla="*/ 0 w 287136"/>
                      <a:gd name="connsiteY32" fmla="*/ 18974 h 37947"/>
                      <a:gd name="connsiteX33" fmla="*/ 18974 w 287136"/>
                      <a:gd name="connsiteY33" fmla="*/ 0 h 37947"/>
                      <a:gd name="connsiteX34" fmla="*/ 18974 w 287136"/>
                      <a:gd name="connsiteY34" fmla="*/ 0 h 37947"/>
                      <a:gd name="connsiteX35" fmla="*/ 37948 w 287136"/>
                      <a:gd name="connsiteY35" fmla="*/ 18974 h 37947"/>
                      <a:gd name="connsiteX36" fmla="*/ 37948 w 287136"/>
                      <a:gd name="connsiteY36" fmla="*/ 18974 h 37947"/>
                      <a:gd name="connsiteX37" fmla="*/ 18974 w 287136"/>
                      <a:gd name="connsiteY37" fmla="*/ 37948 h 37947"/>
                      <a:gd name="connsiteX38" fmla="*/ 18974 w 287136"/>
                      <a:gd name="connsiteY38" fmla="*/ 37948 h 37947"/>
                      <a:gd name="connsiteX39" fmla="*/ 0 w 287136"/>
                      <a:gd name="connsiteY39" fmla="*/ 18974 h 3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7136" h="37947">
                        <a:moveTo>
                          <a:pt x="249189" y="18974"/>
                        </a:moveTo>
                        <a:cubicBezTo>
                          <a:pt x="249189" y="8854"/>
                          <a:pt x="257411" y="0"/>
                          <a:pt x="268163" y="0"/>
                        </a:cubicBezTo>
                        <a:lnTo>
                          <a:pt x="268163" y="0"/>
                        </a:lnTo>
                        <a:cubicBezTo>
                          <a:pt x="278282" y="0"/>
                          <a:pt x="287137" y="8222"/>
                          <a:pt x="287137" y="18974"/>
                        </a:cubicBezTo>
                        <a:lnTo>
                          <a:pt x="287137" y="18974"/>
                        </a:lnTo>
                        <a:cubicBezTo>
                          <a:pt x="287137" y="29726"/>
                          <a:pt x="278915" y="37948"/>
                          <a:pt x="268163" y="37948"/>
                        </a:cubicBezTo>
                        <a:lnTo>
                          <a:pt x="268163" y="37948"/>
                        </a:lnTo>
                        <a:cubicBezTo>
                          <a:pt x="257411" y="37948"/>
                          <a:pt x="249189" y="29726"/>
                          <a:pt x="249189" y="18974"/>
                        </a:cubicBezTo>
                        <a:close/>
                        <a:moveTo>
                          <a:pt x="186576" y="18974"/>
                        </a:moveTo>
                        <a:cubicBezTo>
                          <a:pt x="186576" y="8854"/>
                          <a:pt x="194798" y="0"/>
                          <a:pt x="205549" y="0"/>
                        </a:cubicBezTo>
                        <a:lnTo>
                          <a:pt x="205549" y="0"/>
                        </a:lnTo>
                        <a:cubicBezTo>
                          <a:pt x="216301" y="0"/>
                          <a:pt x="224523" y="8222"/>
                          <a:pt x="224523" y="18974"/>
                        </a:cubicBezTo>
                        <a:lnTo>
                          <a:pt x="224523" y="18974"/>
                        </a:lnTo>
                        <a:cubicBezTo>
                          <a:pt x="224523" y="29726"/>
                          <a:pt x="216301" y="37948"/>
                          <a:pt x="205549" y="37948"/>
                        </a:cubicBezTo>
                        <a:lnTo>
                          <a:pt x="205549" y="37948"/>
                        </a:lnTo>
                        <a:cubicBezTo>
                          <a:pt x="195430" y="37948"/>
                          <a:pt x="186576" y="29726"/>
                          <a:pt x="186576" y="18974"/>
                        </a:cubicBezTo>
                        <a:close/>
                        <a:moveTo>
                          <a:pt x="124595" y="18974"/>
                        </a:moveTo>
                        <a:cubicBezTo>
                          <a:pt x="124595" y="8854"/>
                          <a:pt x="132817" y="0"/>
                          <a:pt x="143568" y="0"/>
                        </a:cubicBezTo>
                        <a:lnTo>
                          <a:pt x="143568" y="0"/>
                        </a:lnTo>
                        <a:cubicBezTo>
                          <a:pt x="153688" y="0"/>
                          <a:pt x="162542" y="8222"/>
                          <a:pt x="162542" y="18974"/>
                        </a:cubicBezTo>
                        <a:lnTo>
                          <a:pt x="162542" y="18974"/>
                        </a:lnTo>
                        <a:cubicBezTo>
                          <a:pt x="162542" y="29726"/>
                          <a:pt x="154320" y="37948"/>
                          <a:pt x="143568" y="37948"/>
                        </a:cubicBezTo>
                        <a:lnTo>
                          <a:pt x="143568" y="37948"/>
                        </a:lnTo>
                        <a:cubicBezTo>
                          <a:pt x="132817" y="37948"/>
                          <a:pt x="124595" y="29726"/>
                          <a:pt x="124595" y="18974"/>
                        </a:cubicBezTo>
                        <a:close/>
                        <a:moveTo>
                          <a:pt x="61981" y="18974"/>
                        </a:moveTo>
                        <a:cubicBezTo>
                          <a:pt x="61981" y="8854"/>
                          <a:pt x="70203" y="0"/>
                          <a:pt x="80955" y="0"/>
                        </a:cubicBezTo>
                        <a:lnTo>
                          <a:pt x="80955" y="0"/>
                        </a:lnTo>
                        <a:cubicBezTo>
                          <a:pt x="91074" y="0"/>
                          <a:pt x="99929" y="8222"/>
                          <a:pt x="99929" y="18974"/>
                        </a:cubicBezTo>
                        <a:lnTo>
                          <a:pt x="99929" y="18974"/>
                        </a:lnTo>
                        <a:cubicBezTo>
                          <a:pt x="99929" y="29726"/>
                          <a:pt x="91707" y="37948"/>
                          <a:pt x="80955" y="37948"/>
                        </a:cubicBezTo>
                        <a:lnTo>
                          <a:pt x="80955" y="37948"/>
                        </a:lnTo>
                        <a:cubicBezTo>
                          <a:pt x="70836" y="37948"/>
                          <a:pt x="61981" y="29726"/>
                          <a:pt x="61981" y="18974"/>
                        </a:cubicBezTo>
                        <a:close/>
                        <a:moveTo>
                          <a:pt x="0" y="18974"/>
                        </a:moveTo>
                        <a:cubicBezTo>
                          <a:pt x="0" y="8854"/>
                          <a:pt x="8222" y="0"/>
                          <a:pt x="18974" y="0"/>
                        </a:cubicBezTo>
                        <a:lnTo>
                          <a:pt x="18974" y="0"/>
                        </a:lnTo>
                        <a:cubicBezTo>
                          <a:pt x="29726" y="0"/>
                          <a:pt x="37948" y="8222"/>
                          <a:pt x="37948" y="18974"/>
                        </a:cubicBezTo>
                        <a:lnTo>
                          <a:pt x="37948" y="18974"/>
                        </a:lnTo>
                        <a:cubicBezTo>
                          <a:pt x="37948" y="29726"/>
                          <a:pt x="29726" y="37948"/>
                          <a:pt x="18974" y="37948"/>
                        </a:cubicBezTo>
                        <a:lnTo>
                          <a:pt x="18974" y="37948"/>
                        </a:lnTo>
                        <a:cubicBezTo>
                          <a:pt x="8222" y="37948"/>
                          <a:pt x="0" y="29726"/>
                          <a:pt x="0" y="18974"/>
                        </a:cubicBezTo>
                        <a:close/>
                      </a:path>
                    </a:pathLst>
                  </a:custGeom>
                  <a:grpFill/>
                  <a:ln w="6271" cap="flat">
                    <a:noFill/>
                    <a:prstDash val="solid"/>
                    <a:miter/>
                  </a:ln>
                </p:spPr>
                <p:txBody>
                  <a:bodyPr rtlCol="0" anchor="ctr"/>
                  <a:lstStyle/>
                  <a:p>
                    <a:endParaRPr lang="en-US"/>
                  </a:p>
                </p:txBody>
              </p:sp>
              <p:sp>
                <p:nvSpPr>
                  <p:cNvPr id="95" name="Picture Placeholder 83">
                    <a:extLst>
                      <a:ext uri="{FF2B5EF4-FFF2-40B4-BE49-F238E27FC236}">
                        <a16:creationId xmlns:a16="http://schemas.microsoft.com/office/drawing/2014/main" id="{E514D7E8-ED79-63EA-A2E8-98CEE8DC1465}"/>
                      </a:ext>
                    </a:extLst>
                  </p:cNvPr>
                  <p:cNvSpPr/>
                  <p:nvPr/>
                </p:nvSpPr>
                <p:spPr>
                  <a:xfrm>
                    <a:off x="908107" y="909625"/>
                    <a:ext cx="38580" cy="39597"/>
                  </a:xfrm>
                  <a:custGeom>
                    <a:avLst/>
                    <a:gdLst>
                      <a:gd name="connsiteX0" fmla="*/ 19606 w 38580"/>
                      <a:gd name="connsiteY0" fmla="*/ 39597 h 39597"/>
                      <a:gd name="connsiteX1" fmla="*/ 15812 w 38580"/>
                      <a:gd name="connsiteY1" fmla="*/ 38965 h 39597"/>
                      <a:gd name="connsiteX2" fmla="*/ 12017 w 38580"/>
                      <a:gd name="connsiteY2" fmla="*/ 37700 h 39597"/>
                      <a:gd name="connsiteX3" fmla="*/ 8854 w 38580"/>
                      <a:gd name="connsiteY3" fmla="*/ 35802 h 39597"/>
                      <a:gd name="connsiteX4" fmla="*/ 5692 w 38580"/>
                      <a:gd name="connsiteY4" fmla="*/ 33273 h 39597"/>
                      <a:gd name="connsiteX5" fmla="*/ 0 w 38580"/>
                      <a:gd name="connsiteY5" fmla="*/ 19991 h 39597"/>
                      <a:gd name="connsiteX6" fmla="*/ 0 w 38580"/>
                      <a:gd name="connsiteY6" fmla="*/ 16196 h 39597"/>
                      <a:gd name="connsiteX7" fmla="*/ 1265 w 38580"/>
                      <a:gd name="connsiteY7" fmla="*/ 12401 h 39597"/>
                      <a:gd name="connsiteX8" fmla="*/ 3162 w 38580"/>
                      <a:gd name="connsiteY8" fmla="*/ 9239 h 39597"/>
                      <a:gd name="connsiteX9" fmla="*/ 5692 w 38580"/>
                      <a:gd name="connsiteY9" fmla="*/ 6077 h 39597"/>
                      <a:gd name="connsiteX10" fmla="*/ 8854 w 38580"/>
                      <a:gd name="connsiteY10" fmla="*/ 3547 h 39597"/>
                      <a:gd name="connsiteX11" fmla="*/ 12017 w 38580"/>
                      <a:gd name="connsiteY11" fmla="*/ 1650 h 39597"/>
                      <a:gd name="connsiteX12" fmla="*/ 15812 w 38580"/>
                      <a:gd name="connsiteY12" fmla="*/ 385 h 39597"/>
                      <a:gd name="connsiteX13" fmla="*/ 32888 w 38580"/>
                      <a:gd name="connsiteY13" fmla="*/ 5444 h 39597"/>
                      <a:gd name="connsiteX14" fmla="*/ 38580 w 38580"/>
                      <a:gd name="connsiteY14" fmla="*/ 18726 h 39597"/>
                      <a:gd name="connsiteX15" fmla="*/ 37948 w 38580"/>
                      <a:gd name="connsiteY15" fmla="*/ 22521 h 39597"/>
                      <a:gd name="connsiteX16" fmla="*/ 36683 w 38580"/>
                      <a:gd name="connsiteY16" fmla="*/ 26316 h 39597"/>
                      <a:gd name="connsiteX17" fmla="*/ 34785 w 38580"/>
                      <a:gd name="connsiteY17" fmla="*/ 29478 h 39597"/>
                      <a:gd name="connsiteX18" fmla="*/ 32255 w 38580"/>
                      <a:gd name="connsiteY18" fmla="*/ 32640 h 39597"/>
                      <a:gd name="connsiteX19" fmla="*/ 19606 w 38580"/>
                      <a:gd name="connsiteY19" fmla="*/ 39597 h 3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580" h="39597">
                        <a:moveTo>
                          <a:pt x="19606" y="39597"/>
                        </a:moveTo>
                        <a:cubicBezTo>
                          <a:pt x="18341" y="39597"/>
                          <a:pt x="17076" y="39597"/>
                          <a:pt x="15812" y="38965"/>
                        </a:cubicBezTo>
                        <a:cubicBezTo>
                          <a:pt x="14547" y="38965"/>
                          <a:pt x="13282" y="38332"/>
                          <a:pt x="12017" y="37700"/>
                        </a:cubicBezTo>
                        <a:cubicBezTo>
                          <a:pt x="10752" y="37067"/>
                          <a:pt x="9487" y="36435"/>
                          <a:pt x="8854" y="35802"/>
                        </a:cubicBezTo>
                        <a:cubicBezTo>
                          <a:pt x="7590" y="35170"/>
                          <a:pt x="6957" y="34538"/>
                          <a:pt x="5692" y="33273"/>
                        </a:cubicBezTo>
                        <a:cubicBezTo>
                          <a:pt x="1897" y="29478"/>
                          <a:pt x="0" y="25051"/>
                          <a:pt x="0" y="19991"/>
                        </a:cubicBezTo>
                        <a:cubicBezTo>
                          <a:pt x="0" y="18726"/>
                          <a:pt x="0" y="17461"/>
                          <a:pt x="0" y="16196"/>
                        </a:cubicBezTo>
                        <a:cubicBezTo>
                          <a:pt x="0" y="14931"/>
                          <a:pt x="632" y="13666"/>
                          <a:pt x="1265" y="12401"/>
                        </a:cubicBezTo>
                        <a:cubicBezTo>
                          <a:pt x="1897" y="11137"/>
                          <a:pt x="2530" y="9872"/>
                          <a:pt x="3162" y="9239"/>
                        </a:cubicBezTo>
                        <a:cubicBezTo>
                          <a:pt x="3795" y="7974"/>
                          <a:pt x="4427" y="7342"/>
                          <a:pt x="5692" y="6077"/>
                        </a:cubicBezTo>
                        <a:cubicBezTo>
                          <a:pt x="6957" y="5444"/>
                          <a:pt x="7590" y="4179"/>
                          <a:pt x="8854" y="3547"/>
                        </a:cubicBezTo>
                        <a:cubicBezTo>
                          <a:pt x="10119" y="2915"/>
                          <a:pt x="10752" y="2282"/>
                          <a:pt x="12017" y="1650"/>
                        </a:cubicBezTo>
                        <a:cubicBezTo>
                          <a:pt x="13282" y="1017"/>
                          <a:pt x="14547" y="1017"/>
                          <a:pt x="15812" y="385"/>
                        </a:cubicBezTo>
                        <a:cubicBezTo>
                          <a:pt x="22136" y="-880"/>
                          <a:pt x="28461" y="1017"/>
                          <a:pt x="32888" y="5444"/>
                        </a:cubicBezTo>
                        <a:cubicBezTo>
                          <a:pt x="36050" y="9239"/>
                          <a:pt x="38580" y="13666"/>
                          <a:pt x="38580" y="18726"/>
                        </a:cubicBezTo>
                        <a:cubicBezTo>
                          <a:pt x="38580" y="19991"/>
                          <a:pt x="38580" y="21256"/>
                          <a:pt x="37948" y="22521"/>
                        </a:cubicBezTo>
                        <a:cubicBezTo>
                          <a:pt x="37948" y="23786"/>
                          <a:pt x="37315" y="25051"/>
                          <a:pt x="36683" y="26316"/>
                        </a:cubicBezTo>
                        <a:cubicBezTo>
                          <a:pt x="36050" y="27580"/>
                          <a:pt x="35418" y="28845"/>
                          <a:pt x="34785" y="29478"/>
                        </a:cubicBezTo>
                        <a:cubicBezTo>
                          <a:pt x="34153" y="30743"/>
                          <a:pt x="33520" y="31375"/>
                          <a:pt x="32255" y="32640"/>
                        </a:cubicBezTo>
                        <a:cubicBezTo>
                          <a:pt x="29093" y="37700"/>
                          <a:pt x="24666" y="39597"/>
                          <a:pt x="19606" y="39597"/>
                        </a:cubicBezTo>
                        <a:close/>
                      </a:path>
                    </a:pathLst>
                  </a:custGeom>
                  <a:grpFill/>
                  <a:ln w="6271" cap="flat">
                    <a:noFill/>
                    <a:prstDash val="solid"/>
                    <a:miter/>
                  </a:ln>
                </p:spPr>
                <p:txBody>
                  <a:bodyPr rtlCol="0" anchor="ctr"/>
                  <a:lstStyle/>
                  <a:p>
                    <a:endParaRPr lang="en-US"/>
                  </a:p>
                </p:txBody>
              </p:sp>
            </p:grpSp>
            <p:grpSp>
              <p:nvGrpSpPr>
                <p:cNvPr id="89" name="Picture Placeholder 83">
                  <a:extLst>
                    <a:ext uri="{FF2B5EF4-FFF2-40B4-BE49-F238E27FC236}">
                      <a16:creationId xmlns:a16="http://schemas.microsoft.com/office/drawing/2014/main" id="{84AE1B4E-AF2A-EFEE-F43E-513D2E13C3B6}"/>
                    </a:ext>
                  </a:extLst>
                </p:cNvPr>
                <p:cNvGrpSpPr/>
                <p:nvPr/>
              </p:nvGrpSpPr>
              <p:grpSpPr>
                <a:xfrm>
                  <a:off x="534956" y="1133516"/>
                  <a:ext cx="412363" cy="40229"/>
                  <a:chOff x="534956" y="1133516"/>
                  <a:chExt cx="412363" cy="40229"/>
                </a:xfrm>
                <a:grpFill/>
              </p:grpSpPr>
              <p:sp>
                <p:nvSpPr>
                  <p:cNvPr id="90" name="Picture Placeholder 83">
                    <a:extLst>
                      <a:ext uri="{FF2B5EF4-FFF2-40B4-BE49-F238E27FC236}">
                        <a16:creationId xmlns:a16="http://schemas.microsoft.com/office/drawing/2014/main" id="{CAA9A3C1-5694-0FF4-D602-B132EEE190AA}"/>
                      </a:ext>
                    </a:extLst>
                  </p:cNvPr>
                  <p:cNvSpPr/>
                  <p:nvPr/>
                </p:nvSpPr>
                <p:spPr>
                  <a:xfrm>
                    <a:off x="534956" y="1134781"/>
                    <a:ext cx="39844" cy="38964"/>
                  </a:xfrm>
                  <a:custGeom>
                    <a:avLst/>
                    <a:gdLst>
                      <a:gd name="connsiteX0" fmla="*/ 18974 w 39844"/>
                      <a:gd name="connsiteY0" fmla="*/ 38332 h 38964"/>
                      <a:gd name="connsiteX1" fmla="*/ 5692 w 39844"/>
                      <a:gd name="connsiteY1" fmla="*/ 32640 h 38964"/>
                      <a:gd name="connsiteX2" fmla="*/ 0 w 39844"/>
                      <a:gd name="connsiteY2" fmla="*/ 19358 h 38964"/>
                      <a:gd name="connsiteX3" fmla="*/ 632 w 39844"/>
                      <a:gd name="connsiteY3" fmla="*/ 15564 h 38964"/>
                      <a:gd name="connsiteX4" fmla="*/ 1897 w 39844"/>
                      <a:gd name="connsiteY4" fmla="*/ 11769 h 38964"/>
                      <a:gd name="connsiteX5" fmla="*/ 3795 w 39844"/>
                      <a:gd name="connsiteY5" fmla="*/ 8607 h 38964"/>
                      <a:gd name="connsiteX6" fmla="*/ 6325 w 39844"/>
                      <a:gd name="connsiteY6" fmla="*/ 5444 h 38964"/>
                      <a:gd name="connsiteX7" fmla="*/ 23401 w 39844"/>
                      <a:gd name="connsiteY7" fmla="*/ 385 h 38964"/>
                      <a:gd name="connsiteX8" fmla="*/ 27196 w 39844"/>
                      <a:gd name="connsiteY8" fmla="*/ 1650 h 38964"/>
                      <a:gd name="connsiteX9" fmla="*/ 30358 w 39844"/>
                      <a:gd name="connsiteY9" fmla="*/ 3547 h 38964"/>
                      <a:gd name="connsiteX10" fmla="*/ 33520 w 39844"/>
                      <a:gd name="connsiteY10" fmla="*/ 6077 h 38964"/>
                      <a:gd name="connsiteX11" fmla="*/ 36050 w 39844"/>
                      <a:gd name="connsiteY11" fmla="*/ 9239 h 38964"/>
                      <a:gd name="connsiteX12" fmla="*/ 37948 w 39844"/>
                      <a:gd name="connsiteY12" fmla="*/ 12401 h 38964"/>
                      <a:gd name="connsiteX13" fmla="*/ 39213 w 39844"/>
                      <a:gd name="connsiteY13" fmla="*/ 16196 h 38964"/>
                      <a:gd name="connsiteX14" fmla="*/ 39845 w 39844"/>
                      <a:gd name="connsiteY14" fmla="*/ 19991 h 38964"/>
                      <a:gd name="connsiteX15" fmla="*/ 34153 w 39844"/>
                      <a:gd name="connsiteY15" fmla="*/ 33273 h 38964"/>
                      <a:gd name="connsiteX16" fmla="*/ 30991 w 39844"/>
                      <a:gd name="connsiteY16" fmla="*/ 35802 h 38964"/>
                      <a:gd name="connsiteX17" fmla="*/ 27828 w 39844"/>
                      <a:gd name="connsiteY17" fmla="*/ 37700 h 38964"/>
                      <a:gd name="connsiteX18" fmla="*/ 24033 w 39844"/>
                      <a:gd name="connsiteY18" fmla="*/ 38965 h 38964"/>
                      <a:gd name="connsiteX19" fmla="*/ 18974 w 39844"/>
                      <a:gd name="connsiteY19" fmla="*/ 38332 h 3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844" h="38964">
                        <a:moveTo>
                          <a:pt x="18974" y="38332"/>
                        </a:moveTo>
                        <a:cubicBezTo>
                          <a:pt x="13914" y="38332"/>
                          <a:pt x="8854" y="36435"/>
                          <a:pt x="5692" y="32640"/>
                        </a:cubicBezTo>
                        <a:cubicBezTo>
                          <a:pt x="1897" y="28845"/>
                          <a:pt x="0" y="24418"/>
                          <a:pt x="0" y="19358"/>
                        </a:cubicBezTo>
                        <a:cubicBezTo>
                          <a:pt x="0" y="18094"/>
                          <a:pt x="0" y="16829"/>
                          <a:pt x="632" y="15564"/>
                        </a:cubicBezTo>
                        <a:cubicBezTo>
                          <a:pt x="632" y="14299"/>
                          <a:pt x="1265" y="13034"/>
                          <a:pt x="1897" y="11769"/>
                        </a:cubicBezTo>
                        <a:cubicBezTo>
                          <a:pt x="2530" y="10504"/>
                          <a:pt x="3162" y="9872"/>
                          <a:pt x="3795" y="8607"/>
                        </a:cubicBezTo>
                        <a:cubicBezTo>
                          <a:pt x="4427" y="7342"/>
                          <a:pt x="5060" y="6709"/>
                          <a:pt x="6325" y="5444"/>
                        </a:cubicBezTo>
                        <a:cubicBezTo>
                          <a:pt x="10752" y="1017"/>
                          <a:pt x="17076" y="-880"/>
                          <a:pt x="23401" y="385"/>
                        </a:cubicBezTo>
                        <a:cubicBezTo>
                          <a:pt x="24666" y="385"/>
                          <a:pt x="25931" y="1017"/>
                          <a:pt x="27196" y="1650"/>
                        </a:cubicBezTo>
                        <a:cubicBezTo>
                          <a:pt x="28461" y="2282"/>
                          <a:pt x="29726" y="2915"/>
                          <a:pt x="30358" y="3547"/>
                        </a:cubicBezTo>
                        <a:cubicBezTo>
                          <a:pt x="31623" y="4179"/>
                          <a:pt x="32255" y="4812"/>
                          <a:pt x="33520" y="6077"/>
                        </a:cubicBezTo>
                        <a:cubicBezTo>
                          <a:pt x="34153" y="6709"/>
                          <a:pt x="35418" y="7974"/>
                          <a:pt x="36050" y="9239"/>
                        </a:cubicBezTo>
                        <a:cubicBezTo>
                          <a:pt x="36683" y="10504"/>
                          <a:pt x="37315" y="11137"/>
                          <a:pt x="37948" y="12401"/>
                        </a:cubicBezTo>
                        <a:cubicBezTo>
                          <a:pt x="38580" y="13666"/>
                          <a:pt x="38580" y="14931"/>
                          <a:pt x="39213" y="16196"/>
                        </a:cubicBezTo>
                        <a:cubicBezTo>
                          <a:pt x="39213" y="17461"/>
                          <a:pt x="39845" y="18726"/>
                          <a:pt x="39845" y="19991"/>
                        </a:cubicBezTo>
                        <a:cubicBezTo>
                          <a:pt x="39845" y="25051"/>
                          <a:pt x="37948" y="30110"/>
                          <a:pt x="34153" y="33273"/>
                        </a:cubicBezTo>
                        <a:cubicBezTo>
                          <a:pt x="32888" y="33905"/>
                          <a:pt x="32255" y="35170"/>
                          <a:pt x="30991" y="35802"/>
                        </a:cubicBezTo>
                        <a:cubicBezTo>
                          <a:pt x="29726" y="36435"/>
                          <a:pt x="29093" y="37067"/>
                          <a:pt x="27828" y="37700"/>
                        </a:cubicBezTo>
                        <a:cubicBezTo>
                          <a:pt x="26563" y="38332"/>
                          <a:pt x="25298" y="38332"/>
                          <a:pt x="24033" y="38965"/>
                        </a:cubicBezTo>
                        <a:cubicBezTo>
                          <a:pt x="21504" y="38332"/>
                          <a:pt x="20239" y="38332"/>
                          <a:pt x="18974" y="38332"/>
                        </a:cubicBezTo>
                        <a:close/>
                      </a:path>
                    </a:pathLst>
                  </a:custGeom>
                  <a:grpFill/>
                  <a:ln w="6271" cap="flat">
                    <a:noFill/>
                    <a:prstDash val="solid"/>
                    <a:miter/>
                  </a:ln>
                </p:spPr>
                <p:txBody>
                  <a:bodyPr rtlCol="0" anchor="ctr"/>
                  <a:lstStyle/>
                  <a:p>
                    <a:endParaRPr lang="en-US"/>
                  </a:p>
                </p:txBody>
              </p:sp>
              <p:sp>
                <p:nvSpPr>
                  <p:cNvPr id="91" name="Picture Placeholder 83">
                    <a:extLst>
                      <a:ext uri="{FF2B5EF4-FFF2-40B4-BE49-F238E27FC236}">
                        <a16:creationId xmlns:a16="http://schemas.microsoft.com/office/drawing/2014/main" id="{F5BAC799-CA28-31DE-0C52-675624A1FF07}"/>
                      </a:ext>
                    </a:extLst>
                  </p:cNvPr>
                  <p:cNvSpPr/>
                  <p:nvPr/>
                </p:nvSpPr>
                <p:spPr>
                  <a:xfrm>
                    <a:off x="597569" y="1135798"/>
                    <a:ext cx="287136" cy="37947"/>
                  </a:xfrm>
                  <a:custGeom>
                    <a:avLst/>
                    <a:gdLst>
                      <a:gd name="connsiteX0" fmla="*/ 249189 w 287136"/>
                      <a:gd name="connsiteY0" fmla="*/ 18974 h 37947"/>
                      <a:gd name="connsiteX1" fmla="*/ 268163 w 287136"/>
                      <a:gd name="connsiteY1" fmla="*/ 0 h 37947"/>
                      <a:gd name="connsiteX2" fmla="*/ 268163 w 287136"/>
                      <a:gd name="connsiteY2" fmla="*/ 0 h 37947"/>
                      <a:gd name="connsiteX3" fmla="*/ 287137 w 287136"/>
                      <a:gd name="connsiteY3" fmla="*/ 18974 h 37947"/>
                      <a:gd name="connsiteX4" fmla="*/ 287137 w 287136"/>
                      <a:gd name="connsiteY4" fmla="*/ 18974 h 37947"/>
                      <a:gd name="connsiteX5" fmla="*/ 268163 w 287136"/>
                      <a:gd name="connsiteY5" fmla="*/ 37948 h 37947"/>
                      <a:gd name="connsiteX6" fmla="*/ 268163 w 287136"/>
                      <a:gd name="connsiteY6" fmla="*/ 37948 h 37947"/>
                      <a:gd name="connsiteX7" fmla="*/ 249189 w 287136"/>
                      <a:gd name="connsiteY7" fmla="*/ 18974 h 37947"/>
                      <a:gd name="connsiteX8" fmla="*/ 186576 w 287136"/>
                      <a:gd name="connsiteY8" fmla="*/ 18974 h 37947"/>
                      <a:gd name="connsiteX9" fmla="*/ 205549 w 287136"/>
                      <a:gd name="connsiteY9" fmla="*/ 0 h 37947"/>
                      <a:gd name="connsiteX10" fmla="*/ 205549 w 287136"/>
                      <a:gd name="connsiteY10" fmla="*/ 0 h 37947"/>
                      <a:gd name="connsiteX11" fmla="*/ 224523 w 287136"/>
                      <a:gd name="connsiteY11" fmla="*/ 18974 h 37947"/>
                      <a:gd name="connsiteX12" fmla="*/ 224523 w 287136"/>
                      <a:gd name="connsiteY12" fmla="*/ 18974 h 37947"/>
                      <a:gd name="connsiteX13" fmla="*/ 205549 w 287136"/>
                      <a:gd name="connsiteY13" fmla="*/ 37948 h 37947"/>
                      <a:gd name="connsiteX14" fmla="*/ 205549 w 287136"/>
                      <a:gd name="connsiteY14" fmla="*/ 37948 h 37947"/>
                      <a:gd name="connsiteX15" fmla="*/ 186576 w 287136"/>
                      <a:gd name="connsiteY15" fmla="*/ 18974 h 37947"/>
                      <a:gd name="connsiteX16" fmla="*/ 124595 w 287136"/>
                      <a:gd name="connsiteY16" fmla="*/ 18974 h 37947"/>
                      <a:gd name="connsiteX17" fmla="*/ 143568 w 287136"/>
                      <a:gd name="connsiteY17" fmla="*/ 0 h 37947"/>
                      <a:gd name="connsiteX18" fmla="*/ 143568 w 287136"/>
                      <a:gd name="connsiteY18" fmla="*/ 0 h 37947"/>
                      <a:gd name="connsiteX19" fmla="*/ 162542 w 287136"/>
                      <a:gd name="connsiteY19" fmla="*/ 18974 h 37947"/>
                      <a:gd name="connsiteX20" fmla="*/ 162542 w 287136"/>
                      <a:gd name="connsiteY20" fmla="*/ 18974 h 37947"/>
                      <a:gd name="connsiteX21" fmla="*/ 143568 w 287136"/>
                      <a:gd name="connsiteY21" fmla="*/ 37948 h 37947"/>
                      <a:gd name="connsiteX22" fmla="*/ 143568 w 287136"/>
                      <a:gd name="connsiteY22" fmla="*/ 37948 h 37947"/>
                      <a:gd name="connsiteX23" fmla="*/ 124595 w 287136"/>
                      <a:gd name="connsiteY23" fmla="*/ 18974 h 37947"/>
                      <a:gd name="connsiteX24" fmla="*/ 61981 w 287136"/>
                      <a:gd name="connsiteY24" fmla="*/ 18974 h 37947"/>
                      <a:gd name="connsiteX25" fmla="*/ 80955 w 287136"/>
                      <a:gd name="connsiteY25" fmla="*/ 0 h 37947"/>
                      <a:gd name="connsiteX26" fmla="*/ 80955 w 287136"/>
                      <a:gd name="connsiteY26" fmla="*/ 0 h 37947"/>
                      <a:gd name="connsiteX27" fmla="*/ 99929 w 287136"/>
                      <a:gd name="connsiteY27" fmla="*/ 18974 h 37947"/>
                      <a:gd name="connsiteX28" fmla="*/ 99929 w 287136"/>
                      <a:gd name="connsiteY28" fmla="*/ 18974 h 37947"/>
                      <a:gd name="connsiteX29" fmla="*/ 80955 w 287136"/>
                      <a:gd name="connsiteY29" fmla="*/ 37948 h 37947"/>
                      <a:gd name="connsiteX30" fmla="*/ 80955 w 287136"/>
                      <a:gd name="connsiteY30" fmla="*/ 37948 h 37947"/>
                      <a:gd name="connsiteX31" fmla="*/ 61981 w 287136"/>
                      <a:gd name="connsiteY31" fmla="*/ 18974 h 37947"/>
                      <a:gd name="connsiteX32" fmla="*/ 0 w 287136"/>
                      <a:gd name="connsiteY32" fmla="*/ 18974 h 37947"/>
                      <a:gd name="connsiteX33" fmla="*/ 18974 w 287136"/>
                      <a:gd name="connsiteY33" fmla="*/ 0 h 37947"/>
                      <a:gd name="connsiteX34" fmla="*/ 18974 w 287136"/>
                      <a:gd name="connsiteY34" fmla="*/ 0 h 37947"/>
                      <a:gd name="connsiteX35" fmla="*/ 37948 w 287136"/>
                      <a:gd name="connsiteY35" fmla="*/ 18974 h 37947"/>
                      <a:gd name="connsiteX36" fmla="*/ 37948 w 287136"/>
                      <a:gd name="connsiteY36" fmla="*/ 18974 h 37947"/>
                      <a:gd name="connsiteX37" fmla="*/ 18974 w 287136"/>
                      <a:gd name="connsiteY37" fmla="*/ 37948 h 37947"/>
                      <a:gd name="connsiteX38" fmla="*/ 18974 w 287136"/>
                      <a:gd name="connsiteY38" fmla="*/ 37948 h 37947"/>
                      <a:gd name="connsiteX39" fmla="*/ 0 w 287136"/>
                      <a:gd name="connsiteY39" fmla="*/ 18974 h 3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87136" h="37947">
                        <a:moveTo>
                          <a:pt x="249189" y="18974"/>
                        </a:moveTo>
                        <a:cubicBezTo>
                          <a:pt x="249189" y="8854"/>
                          <a:pt x="257411" y="0"/>
                          <a:pt x="268163" y="0"/>
                        </a:cubicBezTo>
                        <a:lnTo>
                          <a:pt x="268163" y="0"/>
                        </a:lnTo>
                        <a:cubicBezTo>
                          <a:pt x="278282" y="0"/>
                          <a:pt x="287137" y="8222"/>
                          <a:pt x="287137" y="18974"/>
                        </a:cubicBezTo>
                        <a:lnTo>
                          <a:pt x="287137" y="18974"/>
                        </a:lnTo>
                        <a:cubicBezTo>
                          <a:pt x="287137" y="29726"/>
                          <a:pt x="278915" y="37948"/>
                          <a:pt x="268163" y="37948"/>
                        </a:cubicBezTo>
                        <a:lnTo>
                          <a:pt x="268163" y="37948"/>
                        </a:lnTo>
                        <a:cubicBezTo>
                          <a:pt x="257411" y="37315"/>
                          <a:pt x="249189" y="29093"/>
                          <a:pt x="249189" y="18974"/>
                        </a:cubicBezTo>
                        <a:close/>
                        <a:moveTo>
                          <a:pt x="186576" y="18974"/>
                        </a:moveTo>
                        <a:cubicBezTo>
                          <a:pt x="186576" y="8854"/>
                          <a:pt x="194798" y="0"/>
                          <a:pt x="205549" y="0"/>
                        </a:cubicBezTo>
                        <a:lnTo>
                          <a:pt x="205549" y="0"/>
                        </a:lnTo>
                        <a:cubicBezTo>
                          <a:pt x="216301" y="0"/>
                          <a:pt x="224523" y="8222"/>
                          <a:pt x="224523" y="18974"/>
                        </a:cubicBezTo>
                        <a:lnTo>
                          <a:pt x="224523" y="18974"/>
                        </a:lnTo>
                        <a:cubicBezTo>
                          <a:pt x="224523" y="29726"/>
                          <a:pt x="216301" y="37948"/>
                          <a:pt x="205549" y="37948"/>
                        </a:cubicBezTo>
                        <a:lnTo>
                          <a:pt x="205549" y="37948"/>
                        </a:lnTo>
                        <a:cubicBezTo>
                          <a:pt x="195430" y="37315"/>
                          <a:pt x="186576" y="29093"/>
                          <a:pt x="186576" y="18974"/>
                        </a:cubicBezTo>
                        <a:close/>
                        <a:moveTo>
                          <a:pt x="124595" y="18974"/>
                        </a:moveTo>
                        <a:cubicBezTo>
                          <a:pt x="124595" y="8854"/>
                          <a:pt x="132817" y="0"/>
                          <a:pt x="143568" y="0"/>
                        </a:cubicBezTo>
                        <a:lnTo>
                          <a:pt x="143568" y="0"/>
                        </a:lnTo>
                        <a:cubicBezTo>
                          <a:pt x="153688" y="0"/>
                          <a:pt x="162542" y="8222"/>
                          <a:pt x="162542" y="18974"/>
                        </a:cubicBezTo>
                        <a:lnTo>
                          <a:pt x="162542" y="18974"/>
                        </a:lnTo>
                        <a:cubicBezTo>
                          <a:pt x="162542" y="29726"/>
                          <a:pt x="154320" y="37948"/>
                          <a:pt x="143568" y="37948"/>
                        </a:cubicBezTo>
                        <a:lnTo>
                          <a:pt x="143568" y="37948"/>
                        </a:lnTo>
                        <a:cubicBezTo>
                          <a:pt x="132817" y="37315"/>
                          <a:pt x="124595" y="29093"/>
                          <a:pt x="124595" y="18974"/>
                        </a:cubicBezTo>
                        <a:close/>
                        <a:moveTo>
                          <a:pt x="61981" y="18974"/>
                        </a:moveTo>
                        <a:cubicBezTo>
                          <a:pt x="61981" y="8854"/>
                          <a:pt x="70203" y="0"/>
                          <a:pt x="80955" y="0"/>
                        </a:cubicBezTo>
                        <a:lnTo>
                          <a:pt x="80955" y="0"/>
                        </a:lnTo>
                        <a:cubicBezTo>
                          <a:pt x="91074" y="0"/>
                          <a:pt x="99929" y="8222"/>
                          <a:pt x="99929" y="18974"/>
                        </a:cubicBezTo>
                        <a:lnTo>
                          <a:pt x="99929" y="18974"/>
                        </a:lnTo>
                        <a:cubicBezTo>
                          <a:pt x="99929" y="29726"/>
                          <a:pt x="91707" y="37948"/>
                          <a:pt x="80955" y="37948"/>
                        </a:cubicBezTo>
                        <a:lnTo>
                          <a:pt x="80955" y="37948"/>
                        </a:lnTo>
                        <a:cubicBezTo>
                          <a:pt x="70836" y="37315"/>
                          <a:pt x="61981" y="29093"/>
                          <a:pt x="61981" y="18974"/>
                        </a:cubicBezTo>
                        <a:close/>
                        <a:moveTo>
                          <a:pt x="0" y="18974"/>
                        </a:moveTo>
                        <a:cubicBezTo>
                          <a:pt x="0" y="8854"/>
                          <a:pt x="8222" y="0"/>
                          <a:pt x="18974" y="0"/>
                        </a:cubicBezTo>
                        <a:lnTo>
                          <a:pt x="18974" y="0"/>
                        </a:lnTo>
                        <a:cubicBezTo>
                          <a:pt x="29726" y="0"/>
                          <a:pt x="37948" y="8222"/>
                          <a:pt x="37948" y="18974"/>
                        </a:cubicBezTo>
                        <a:lnTo>
                          <a:pt x="37948" y="18974"/>
                        </a:lnTo>
                        <a:cubicBezTo>
                          <a:pt x="37948" y="29726"/>
                          <a:pt x="29726" y="37948"/>
                          <a:pt x="18974" y="37948"/>
                        </a:cubicBezTo>
                        <a:lnTo>
                          <a:pt x="18974" y="37948"/>
                        </a:lnTo>
                        <a:cubicBezTo>
                          <a:pt x="8222" y="37315"/>
                          <a:pt x="0" y="29093"/>
                          <a:pt x="0" y="18974"/>
                        </a:cubicBezTo>
                        <a:close/>
                      </a:path>
                    </a:pathLst>
                  </a:custGeom>
                  <a:grpFill/>
                  <a:ln w="6271" cap="flat">
                    <a:noFill/>
                    <a:prstDash val="solid"/>
                    <a:miter/>
                  </a:ln>
                </p:spPr>
                <p:txBody>
                  <a:bodyPr rtlCol="0" anchor="ctr"/>
                  <a:lstStyle/>
                  <a:p>
                    <a:endParaRPr lang="en-US"/>
                  </a:p>
                </p:txBody>
              </p:sp>
              <p:sp>
                <p:nvSpPr>
                  <p:cNvPr id="92" name="Picture Placeholder 83">
                    <a:extLst>
                      <a:ext uri="{FF2B5EF4-FFF2-40B4-BE49-F238E27FC236}">
                        <a16:creationId xmlns:a16="http://schemas.microsoft.com/office/drawing/2014/main" id="{80CA35EE-3B0E-2712-EE98-6A1D1F83A683}"/>
                      </a:ext>
                    </a:extLst>
                  </p:cNvPr>
                  <p:cNvSpPr/>
                  <p:nvPr/>
                </p:nvSpPr>
                <p:spPr>
                  <a:xfrm>
                    <a:off x="908107" y="1133516"/>
                    <a:ext cx="39212" cy="39597"/>
                  </a:xfrm>
                  <a:custGeom>
                    <a:avLst/>
                    <a:gdLst>
                      <a:gd name="connsiteX0" fmla="*/ 19606 w 39212"/>
                      <a:gd name="connsiteY0" fmla="*/ 39597 h 39597"/>
                      <a:gd name="connsiteX1" fmla="*/ 15812 w 39212"/>
                      <a:gd name="connsiteY1" fmla="*/ 38965 h 39597"/>
                      <a:gd name="connsiteX2" fmla="*/ 12017 w 39212"/>
                      <a:gd name="connsiteY2" fmla="*/ 37700 h 39597"/>
                      <a:gd name="connsiteX3" fmla="*/ 8854 w 39212"/>
                      <a:gd name="connsiteY3" fmla="*/ 35802 h 39597"/>
                      <a:gd name="connsiteX4" fmla="*/ 5692 w 39212"/>
                      <a:gd name="connsiteY4" fmla="*/ 33273 h 39597"/>
                      <a:gd name="connsiteX5" fmla="*/ 3162 w 39212"/>
                      <a:gd name="connsiteY5" fmla="*/ 30743 h 39597"/>
                      <a:gd name="connsiteX6" fmla="*/ 1265 w 39212"/>
                      <a:gd name="connsiteY6" fmla="*/ 27580 h 39597"/>
                      <a:gd name="connsiteX7" fmla="*/ 0 w 39212"/>
                      <a:gd name="connsiteY7" fmla="*/ 23786 h 39597"/>
                      <a:gd name="connsiteX8" fmla="*/ 0 w 39212"/>
                      <a:gd name="connsiteY8" fmla="*/ 19991 h 39597"/>
                      <a:gd name="connsiteX9" fmla="*/ 0 w 39212"/>
                      <a:gd name="connsiteY9" fmla="*/ 16196 h 39597"/>
                      <a:gd name="connsiteX10" fmla="*/ 1265 w 39212"/>
                      <a:gd name="connsiteY10" fmla="*/ 12401 h 39597"/>
                      <a:gd name="connsiteX11" fmla="*/ 3162 w 39212"/>
                      <a:gd name="connsiteY11" fmla="*/ 9239 h 39597"/>
                      <a:gd name="connsiteX12" fmla="*/ 5692 w 39212"/>
                      <a:gd name="connsiteY12" fmla="*/ 6077 h 39597"/>
                      <a:gd name="connsiteX13" fmla="*/ 8854 w 39212"/>
                      <a:gd name="connsiteY13" fmla="*/ 3547 h 39597"/>
                      <a:gd name="connsiteX14" fmla="*/ 12017 w 39212"/>
                      <a:gd name="connsiteY14" fmla="*/ 1650 h 39597"/>
                      <a:gd name="connsiteX15" fmla="*/ 15812 w 39212"/>
                      <a:gd name="connsiteY15" fmla="*/ 385 h 39597"/>
                      <a:gd name="connsiteX16" fmla="*/ 32888 w 39212"/>
                      <a:gd name="connsiteY16" fmla="*/ 5444 h 39597"/>
                      <a:gd name="connsiteX17" fmla="*/ 35418 w 39212"/>
                      <a:gd name="connsiteY17" fmla="*/ 8607 h 39597"/>
                      <a:gd name="connsiteX18" fmla="*/ 37315 w 39212"/>
                      <a:gd name="connsiteY18" fmla="*/ 11769 h 39597"/>
                      <a:gd name="connsiteX19" fmla="*/ 38580 w 39212"/>
                      <a:gd name="connsiteY19" fmla="*/ 15564 h 39597"/>
                      <a:gd name="connsiteX20" fmla="*/ 39213 w 39212"/>
                      <a:gd name="connsiteY20" fmla="*/ 19358 h 39597"/>
                      <a:gd name="connsiteX21" fmla="*/ 38580 w 39212"/>
                      <a:gd name="connsiteY21" fmla="*/ 23153 h 39597"/>
                      <a:gd name="connsiteX22" fmla="*/ 37315 w 39212"/>
                      <a:gd name="connsiteY22" fmla="*/ 26948 h 39597"/>
                      <a:gd name="connsiteX23" fmla="*/ 35418 w 39212"/>
                      <a:gd name="connsiteY23" fmla="*/ 30110 h 39597"/>
                      <a:gd name="connsiteX24" fmla="*/ 32888 w 39212"/>
                      <a:gd name="connsiteY24" fmla="*/ 32640 h 39597"/>
                      <a:gd name="connsiteX25" fmla="*/ 19606 w 39212"/>
                      <a:gd name="connsiteY25" fmla="*/ 39597 h 3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212" h="39597">
                        <a:moveTo>
                          <a:pt x="19606" y="39597"/>
                        </a:moveTo>
                        <a:cubicBezTo>
                          <a:pt x="18341" y="39597"/>
                          <a:pt x="17076" y="39597"/>
                          <a:pt x="15812" y="38965"/>
                        </a:cubicBezTo>
                        <a:cubicBezTo>
                          <a:pt x="14547" y="38965"/>
                          <a:pt x="13282" y="38332"/>
                          <a:pt x="12017" y="37700"/>
                        </a:cubicBezTo>
                        <a:cubicBezTo>
                          <a:pt x="10752" y="37067"/>
                          <a:pt x="9487" y="36435"/>
                          <a:pt x="8854" y="35802"/>
                        </a:cubicBezTo>
                        <a:cubicBezTo>
                          <a:pt x="7590" y="35170"/>
                          <a:pt x="6957" y="34538"/>
                          <a:pt x="5692" y="33273"/>
                        </a:cubicBezTo>
                        <a:cubicBezTo>
                          <a:pt x="5060" y="32640"/>
                          <a:pt x="3795" y="31375"/>
                          <a:pt x="3162" y="30743"/>
                        </a:cubicBezTo>
                        <a:cubicBezTo>
                          <a:pt x="2530" y="29478"/>
                          <a:pt x="1897" y="28845"/>
                          <a:pt x="1265" y="27580"/>
                        </a:cubicBezTo>
                        <a:cubicBezTo>
                          <a:pt x="632" y="26316"/>
                          <a:pt x="632" y="25051"/>
                          <a:pt x="0" y="23786"/>
                        </a:cubicBezTo>
                        <a:cubicBezTo>
                          <a:pt x="0" y="22521"/>
                          <a:pt x="0" y="21256"/>
                          <a:pt x="0" y="19991"/>
                        </a:cubicBezTo>
                        <a:cubicBezTo>
                          <a:pt x="0" y="18726"/>
                          <a:pt x="0" y="17461"/>
                          <a:pt x="0" y="16196"/>
                        </a:cubicBezTo>
                        <a:cubicBezTo>
                          <a:pt x="0" y="14931"/>
                          <a:pt x="632" y="13666"/>
                          <a:pt x="1265" y="12401"/>
                        </a:cubicBezTo>
                        <a:cubicBezTo>
                          <a:pt x="1897" y="11136"/>
                          <a:pt x="2530" y="9872"/>
                          <a:pt x="3162" y="9239"/>
                        </a:cubicBezTo>
                        <a:cubicBezTo>
                          <a:pt x="3795" y="7974"/>
                          <a:pt x="4427" y="7342"/>
                          <a:pt x="5692" y="6077"/>
                        </a:cubicBezTo>
                        <a:cubicBezTo>
                          <a:pt x="6957" y="5444"/>
                          <a:pt x="7590" y="4179"/>
                          <a:pt x="8854" y="3547"/>
                        </a:cubicBezTo>
                        <a:cubicBezTo>
                          <a:pt x="10119" y="2915"/>
                          <a:pt x="10752" y="2282"/>
                          <a:pt x="12017" y="1650"/>
                        </a:cubicBezTo>
                        <a:cubicBezTo>
                          <a:pt x="13282" y="1017"/>
                          <a:pt x="14547" y="1017"/>
                          <a:pt x="15812" y="385"/>
                        </a:cubicBezTo>
                        <a:cubicBezTo>
                          <a:pt x="22136" y="-880"/>
                          <a:pt x="28461" y="1017"/>
                          <a:pt x="32888" y="5444"/>
                        </a:cubicBezTo>
                        <a:cubicBezTo>
                          <a:pt x="33520" y="6077"/>
                          <a:pt x="34785" y="7342"/>
                          <a:pt x="35418" y="8607"/>
                        </a:cubicBezTo>
                        <a:cubicBezTo>
                          <a:pt x="36050" y="9872"/>
                          <a:pt x="36683" y="10504"/>
                          <a:pt x="37315" y="11769"/>
                        </a:cubicBezTo>
                        <a:cubicBezTo>
                          <a:pt x="37948" y="13034"/>
                          <a:pt x="37948" y="14299"/>
                          <a:pt x="38580" y="15564"/>
                        </a:cubicBezTo>
                        <a:cubicBezTo>
                          <a:pt x="38580" y="16829"/>
                          <a:pt x="39213" y="18094"/>
                          <a:pt x="39213" y="19358"/>
                        </a:cubicBezTo>
                        <a:cubicBezTo>
                          <a:pt x="39213" y="20623"/>
                          <a:pt x="39213" y="21888"/>
                          <a:pt x="38580" y="23153"/>
                        </a:cubicBezTo>
                        <a:cubicBezTo>
                          <a:pt x="38580" y="24418"/>
                          <a:pt x="37948" y="25683"/>
                          <a:pt x="37315" y="26948"/>
                        </a:cubicBezTo>
                        <a:cubicBezTo>
                          <a:pt x="36683" y="28213"/>
                          <a:pt x="36050" y="29478"/>
                          <a:pt x="35418" y="30110"/>
                        </a:cubicBezTo>
                        <a:cubicBezTo>
                          <a:pt x="34785" y="31375"/>
                          <a:pt x="34153" y="32008"/>
                          <a:pt x="32888" y="32640"/>
                        </a:cubicBezTo>
                        <a:cubicBezTo>
                          <a:pt x="29093" y="37700"/>
                          <a:pt x="24666" y="39597"/>
                          <a:pt x="19606" y="39597"/>
                        </a:cubicBezTo>
                        <a:close/>
                      </a:path>
                    </a:pathLst>
                  </a:custGeom>
                  <a:grpFill/>
                  <a:ln w="6271" cap="flat">
                    <a:noFill/>
                    <a:prstDash val="solid"/>
                    <a:miter/>
                  </a:ln>
                </p:spPr>
                <p:txBody>
                  <a:bodyPr rtlCol="0" anchor="ctr"/>
                  <a:lstStyle/>
                  <a:p>
                    <a:endParaRPr lang="en-US"/>
                  </a:p>
                </p:txBody>
              </p:sp>
            </p:grpSp>
          </p:grpSp>
          <p:sp>
            <p:nvSpPr>
              <p:cNvPr id="86" name="Picture Placeholder 83">
                <a:extLst>
                  <a:ext uri="{FF2B5EF4-FFF2-40B4-BE49-F238E27FC236}">
                    <a16:creationId xmlns:a16="http://schemas.microsoft.com/office/drawing/2014/main" id="{907D69DB-D314-E37B-9544-1589D5082FF5}"/>
                  </a:ext>
                </a:extLst>
              </p:cNvPr>
              <p:cNvSpPr/>
              <p:nvPr/>
            </p:nvSpPr>
            <p:spPr>
              <a:xfrm>
                <a:off x="535588" y="744937"/>
                <a:ext cx="597042" cy="516719"/>
              </a:xfrm>
              <a:custGeom>
                <a:avLst/>
                <a:gdLst>
                  <a:gd name="connsiteX0" fmla="*/ 537591 w 597042"/>
                  <a:gd name="connsiteY0" fmla="*/ 285239 h 516719"/>
                  <a:gd name="connsiteX1" fmla="*/ 597042 w 597042"/>
                  <a:gd name="connsiteY1" fmla="*/ 251087 h 516719"/>
                  <a:gd name="connsiteX2" fmla="*/ 537591 w 597042"/>
                  <a:gd name="connsiteY2" fmla="*/ 216934 h 516719"/>
                  <a:gd name="connsiteX3" fmla="*/ 537591 w 597042"/>
                  <a:gd name="connsiteY3" fmla="*/ 241600 h 516719"/>
                  <a:gd name="connsiteX4" fmla="*/ 521147 w 597042"/>
                  <a:gd name="connsiteY4" fmla="*/ 241600 h 516719"/>
                  <a:gd name="connsiteX5" fmla="*/ 466755 w 597042"/>
                  <a:gd name="connsiteY5" fmla="*/ 295991 h 516719"/>
                  <a:gd name="connsiteX6" fmla="*/ 466755 w 597042"/>
                  <a:gd name="connsiteY6" fmla="*/ 469285 h 516719"/>
                  <a:gd name="connsiteX7" fmla="*/ 433868 w 597042"/>
                  <a:gd name="connsiteY7" fmla="*/ 502173 h 516719"/>
                  <a:gd name="connsiteX8" fmla="*/ 400980 w 597042"/>
                  <a:gd name="connsiteY8" fmla="*/ 469285 h 516719"/>
                  <a:gd name="connsiteX9" fmla="*/ 400980 w 597042"/>
                  <a:gd name="connsiteY9" fmla="*/ 53127 h 516719"/>
                  <a:gd name="connsiteX10" fmla="*/ 347853 w 597042"/>
                  <a:gd name="connsiteY10" fmla="*/ 0 h 516719"/>
                  <a:gd name="connsiteX11" fmla="*/ 294726 w 597042"/>
                  <a:gd name="connsiteY11" fmla="*/ 53127 h 516719"/>
                  <a:gd name="connsiteX12" fmla="*/ 294726 w 597042"/>
                  <a:gd name="connsiteY12" fmla="*/ 227686 h 516719"/>
                  <a:gd name="connsiteX13" fmla="*/ 259941 w 597042"/>
                  <a:gd name="connsiteY13" fmla="*/ 262471 h 516719"/>
                  <a:gd name="connsiteX14" fmla="*/ 225156 w 597042"/>
                  <a:gd name="connsiteY14" fmla="*/ 227686 h 516719"/>
                  <a:gd name="connsiteX15" fmla="*/ 225156 w 597042"/>
                  <a:gd name="connsiteY15" fmla="*/ 128389 h 516719"/>
                  <a:gd name="connsiteX16" fmla="*/ 169499 w 597042"/>
                  <a:gd name="connsiteY16" fmla="*/ 72733 h 516719"/>
                  <a:gd name="connsiteX17" fmla="*/ 115108 w 597042"/>
                  <a:gd name="connsiteY17" fmla="*/ 128389 h 516719"/>
                  <a:gd name="connsiteX18" fmla="*/ 115108 w 597042"/>
                  <a:gd name="connsiteY18" fmla="*/ 272590 h 516719"/>
                  <a:gd name="connsiteX19" fmla="*/ 53127 w 597042"/>
                  <a:gd name="connsiteY19" fmla="*/ 334571 h 516719"/>
                  <a:gd name="connsiteX20" fmla="*/ 0 w 597042"/>
                  <a:gd name="connsiteY20" fmla="*/ 334571 h 516719"/>
                  <a:gd name="connsiteX21" fmla="*/ 0 w 597042"/>
                  <a:gd name="connsiteY21" fmla="*/ 350383 h 516719"/>
                  <a:gd name="connsiteX22" fmla="*/ 53127 w 597042"/>
                  <a:gd name="connsiteY22" fmla="*/ 350383 h 516719"/>
                  <a:gd name="connsiteX23" fmla="*/ 130919 w 597042"/>
                  <a:gd name="connsiteY23" fmla="*/ 272590 h 516719"/>
                  <a:gd name="connsiteX24" fmla="*/ 130919 w 597042"/>
                  <a:gd name="connsiteY24" fmla="*/ 128389 h 516719"/>
                  <a:gd name="connsiteX25" fmla="*/ 170764 w 597042"/>
                  <a:gd name="connsiteY25" fmla="*/ 88544 h 516719"/>
                  <a:gd name="connsiteX26" fmla="*/ 210609 w 597042"/>
                  <a:gd name="connsiteY26" fmla="*/ 128389 h 516719"/>
                  <a:gd name="connsiteX27" fmla="*/ 210609 w 597042"/>
                  <a:gd name="connsiteY27" fmla="*/ 227686 h 516719"/>
                  <a:gd name="connsiteX28" fmla="*/ 261206 w 597042"/>
                  <a:gd name="connsiteY28" fmla="*/ 278282 h 516719"/>
                  <a:gd name="connsiteX29" fmla="*/ 311803 w 597042"/>
                  <a:gd name="connsiteY29" fmla="*/ 227686 h 516719"/>
                  <a:gd name="connsiteX30" fmla="*/ 311803 w 597042"/>
                  <a:gd name="connsiteY30" fmla="*/ 53127 h 516719"/>
                  <a:gd name="connsiteX31" fmla="*/ 349118 w 597042"/>
                  <a:gd name="connsiteY31" fmla="*/ 15812 h 516719"/>
                  <a:gd name="connsiteX32" fmla="*/ 386433 w 597042"/>
                  <a:gd name="connsiteY32" fmla="*/ 53127 h 516719"/>
                  <a:gd name="connsiteX33" fmla="*/ 386433 w 597042"/>
                  <a:gd name="connsiteY33" fmla="*/ 468020 h 516719"/>
                  <a:gd name="connsiteX34" fmla="*/ 435132 w 597042"/>
                  <a:gd name="connsiteY34" fmla="*/ 516720 h 516719"/>
                  <a:gd name="connsiteX35" fmla="*/ 483832 w 597042"/>
                  <a:gd name="connsiteY35" fmla="*/ 468020 h 516719"/>
                  <a:gd name="connsiteX36" fmla="*/ 483832 w 597042"/>
                  <a:gd name="connsiteY36" fmla="*/ 294726 h 516719"/>
                  <a:gd name="connsiteX37" fmla="*/ 522412 w 597042"/>
                  <a:gd name="connsiteY37" fmla="*/ 256146 h 516719"/>
                  <a:gd name="connsiteX38" fmla="*/ 538856 w 597042"/>
                  <a:gd name="connsiteY38" fmla="*/ 256146 h 516719"/>
                  <a:gd name="connsiteX39" fmla="*/ 538856 w 597042"/>
                  <a:gd name="connsiteY39" fmla="*/ 259309 h 516719"/>
                  <a:gd name="connsiteX40" fmla="*/ 538856 w 597042"/>
                  <a:gd name="connsiteY40" fmla="*/ 285239 h 516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97042" h="516719">
                    <a:moveTo>
                      <a:pt x="537591" y="285239"/>
                    </a:moveTo>
                    <a:lnTo>
                      <a:pt x="597042" y="251087"/>
                    </a:lnTo>
                    <a:lnTo>
                      <a:pt x="537591" y="216934"/>
                    </a:lnTo>
                    <a:lnTo>
                      <a:pt x="537591" y="241600"/>
                    </a:lnTo>
                    <a:lnTo>
                      <a:pt x="521147" y="241600"/>
                    </a:lnTo>
                    <a:cubicBezTo>
                      <a:pt x="491421" y="241600"/>
                      <a:pt x="466755" y="266266"/>
                      <a:pt x="466755" y="295991"/>
                    </a:cubicBezTo>
                    <a:lnTo>
                      <a:pt x="466755" y="469285"/>
                    </a:lnTo>
                    <a:cubicBezTo>
                      <a:pt x="466755" y="487627"/>
                      <a:pt x="452209" y="502173"/>
                      <a:pt x="433868" y="502173"/>
                    </a:cubicBezTo>
                    <a:cubicBezTo>
                      <a:pt x="415526" y="502173"/>
                      <a:pt x="400980" y="487627"/>
                      <a:pt x="400980" y="469285"/>
                    </a:cubicBezTo>
                    <a:lnTo>
                      <a:pt x="400980" y="53127"/>
                    </a:lnTo>
                    <a:cubicBezTo>
                      <a:pt x="400980" y="24033"/>
                      <a:pt x="376946" y="0"/>
                      <a:pt x="347853" y="0"/>
                    </a:cubicBezTo>
                    <a:cubicBezTo>
                      <a:pt x="318760" y="0"/>
                      <a:pt x="294726" y="24033"/>
                      <a:pt x="294726" y="53127"/>
                    </a:cubicBezTo>
                    <a:lnTo>
                      <a:pt x="294726" y="227686"/>
                    </a:lnTo>
                    <a:cubicBezTo>
                      <a:pt x="294726" y="246659"/>
                      <a:pt x="278915" y="262471"/>
                      <a:pt x="259941" y="262471"/>
                    </a:cubicBezTo>
                    <a:cubicBezTo>
                      <a:pt x="240967" y="262471"/>
                      <a:pt x="225156" y="246659"/>
                      <a:pt x="225156" y="227686"/>
                    </a:cubicBezTo>
                    <a:lnTo>
                      <a:pt x="225156" y="128389"/>
                    </a:lnTo>
                    <a:cubicBezTo>
                      <a:pt x="225156" y="98031"/>
                      <a:pt x="200490" y="72733"/>
                      <a:pt x="169499" y="72733"/>
                    </a:cubicBezTo>
                    <a:cubicBezTo>
                      <a:pt x="139774" y="72733"/>
                      <a:pt x="115108" y="98031"/>
                      <a:pt x="115108" y="128389"/>
                    </a:cubicBezTo>
                    <a:lnTo>
                      <a:pt x="115108" y="272590"/>
                    </a:lnTo>
                    <a:cubicBezTo>
                      <a:pt x="115108" y="306743"/>
                      <a:pt x="87279" y="334571"/>
                      <a:pt x="53127" y="334571"/>
                    </a:cubicBezTo>
                    <a:lnTo>
                      <a:pt x="0" y="334571"/>
                    </a:lnTo>
                    <a:lnTo>
                      <a:pt x="0" y="350383"/>
                    </a:lnTo>
                    <a:lnTo>
                      <a:pt x="53127" y="350383"/>
                    </a:lnTo>
                    <a:cubicBezTo>
                      <a:pt x="96134" y="350383"/>
                      <a:pt x="130919" y="315598"/>
                      <a:pt x="130919" y="272590"/>
                    </a:cubicBezTo>
                    <a:lnTo>
                      <a:pt x="130919" y="128389"/>
                    </a:lnTo>
                    <a:cubicBezTo>
                      <a:pt x="130919" y="106253"/>
                      <a:pt x="148628" y="88544"/>
                      <a:pt x="170764" y="88544"/>
                    </a:cubicBezTo>
                    <a:cubicBezTo>
                      <a:pt x="192900" y="88544"/>
                      <a:pt x="210609" y="106253"/>
                      <a:pt x="210609" y="128389"/>
                    </a:cubicBezTo>
                    <a:lnTo>
                      <a:pt x="210609" y="227686"/>
                    </a:lnTo>
                    <a:cubicBezTo>
                      <a:pt x="210609" y="255514"/>
                      <a:pt x="233378" y="278282"/>
                      <a:pt x="261206" y="278282"/>
                    </a:cubicBezTo>
                    <a:cubicBezTo>
                      <a:pt x="289034" y="278282"/>
                      <a:pt x="311803" y="255514"/>
                      <a:pt x="311803" y="227686"/>
                    </a:cubicBezTo>
                    <a:lnTo>
                      <a:pt x="311803" y="53127"/>
                    </a:lnTo>
                    <a:cubicBezTo>
                      <a:pt x="311803" y="32888"/>
                      <a:pt x="328247" y="15812"/>
                      <a:pt x="349118" y="15812"/>
                    </a:cubicBezTo>
                    <a:cubicBezTo>
                      <a:pt x="369989" y="15812"/>
                      <a:pt x="386433" y="32255"/>
                      <a:pt x="386433" y="53127"/>
                    </a:cubicBezTo>
                    <a:lnTo>
                      <a:pt x="386433" y="468020"/>
                    </a:lnTo>
                    <a:cubicBezTo>
                      <a:pt x="386433" y="494584"/>
                      <a:pt x="407937" y="516720"/>
                      <a:pt x="435132" y="516720"/>
                    </a:cubicBezTo>
                    <a:cubicBezTo>
                      <a:pt x="462328" y="516720"/>
                      <a:pt x="483832" y="495216"/>
                      <a:pt x="483832" y="468020"/>
                    </a:cubicBezTo>
                    <a:lnTo>
                      <a:pt x="483832" y="294726"/>
                    </a:lnTo>
                    <a:cubicBezTo>
                      <a:pt x="483832" y="273223"/>
                      <a:pt x="500908" y="256146"/>
                      <a:pt x="522412" y="256146"/>
                    </a:cubicBezTo>
                    <a:lnTo>
                      <a:pt x="538856" y="256146"/>
                    </a:lnTo>
                    <a:lnTo>
                      <a:pt x="538856" y="259309"/>
                    </a:lnTo>
                    <a:lnTo>
                      <a:pt x="538856" y="285239"/>
                    </a:lnTo>
                    <a:close/>
                  </a:path>
                </a:pathLst>
              </a:custGeom>
              <a:grpFill/>
              <a:ln w="6271" cap="flat">
                <a:noFill/>
                <a:prstDash val="solid"/>
                <a:miter/>
              </a:ln>
            </p:spPr>
            <p:txBody>
              <a:bodyPr rtlCol="0" anchor="ctr"/>
              <a:lstStyle/>
              <a:p>
                <a:endParaRPr lang="en-US"/>
              </a:p>
            </p:txBody>
          </p:sp>
        </p:grpSp>
      </p:grpSp>
      <p:grpSp>
        <p:nvGrpSpPr>
          <p:cNvPr id="99" name="Group 98" descr="Management 1&#10;">
            <a:extLst>
              <a:ext uri="{FF2B5EF4-FFF2-40B4-BE49-F238E27FC236}">
                <a16:creationId xmlns:a16="http://schemas.microsoft.com/office/drawing/2014/main" id="{A12979D2-DF66-289B-1187-C4E391724163}"/>
              </a:ext>
            </a:extLst>
          </p:cNvPr>
          <p:cNvGrpSpPr/>
          <p:nvPr/>
        </p:nvGrpSpPr>
        <p:grpSpPr>
          <a:xfrm>
            <a:off x="932608" y="4907241"/>
            <a:ext cx="459579" cy="353265"/>
            <a:chOff x="11074934" y="4497542"/>
            <a:chExt cx="594512" cy="521226"/>
          </a:xfrm>
          <a:solidFill>
            <a:schemeClr val="bg1"/>
          </a:solidFill>
        </p:grpSpPr>
        <p:sp>
          <p:nvSpPr>
            <p:cNvPr id="100" name="Picture Placeholder 120">
              <a:extLst>
                <a:ext uri="{FF2B5EF4-FFF2-40B4-BE49-F238E27FC236}">
                  <a16:creationId xmlns:a16="http://schemas.microsoft.com/office/drawing/2014/main" id="{4F45DDBC-65F7-0DDD-B24C-CA15AB62F211}"/>
                </a:ext>
              </a:extLst>
            </p:cNvPr>
            <p:cNvSpPr/>
            <p:nvPr/>
          </p:nvSpPr>
          <p:spPr>
            <a:xfrm>
              <a:off x="11262562" y="4894421"/>
              <a:ext cx="219347" cy="124347"/>
            </a:xfrm>
            <a:custGeom>
              <a:avLst/>
              <a:gdLst>
                <a:gd name="connsiteX0" fmla="*/ 206647 w 219347"/>
                <a:gd name="connsiteY0" fmla="*/ 124347 h 124347"/>
                <a:gd name="connsiteX1" fmla="*/ 12608 w 219347"/>
                <a:gd name="connsiteY1" fmla="*/ 124347 h 124347"/>
                <a:gd name="connsiteX2" fmla="*/ 592 w 219347"/>
                <a:gd name="connsiteY2" fmla="*/ 115411 h 124347"/>
                <a:gd name="connsiteX3" fmla="*/ 5651 w 219347"/>
                <a:gd name="connsiteY3" fmla="*/ 101024 h 124347"/>
                <a:gd name="connsiteX4" fmla="*/ 51694 w 219347"/>
                <a:gd name="connsiteY4" fmla="*/ 79983 h 124347"/>
                <a:gd name="connsiteX5" fmla="*/ 62130 w 219347"/>
                <a:gd name="connsiteY5" fmla="*/ 0 h 124347"/>
                <a:gd name="connsiteX6" fmla="*/ 77815 w 219347"/>
                <a:gd name="connsiteY6" fmla="*/ 2091 h 124347"/>
                <a:gd name="connsiteX7" fmla="*/ 65988 w 219347"/>
                <a:gd name="connsiteY7" fmla="*/ 91454 h 124347"/>
                <a:gd name="connsiteX8" fmla="*/ 61561 w 219347"/>
                <a:gd name="connsiteY8" fmla="*/ 93165 h 124347"/>
                <a:gd name="connsiteX9" fmla="*/ 24752 w 219347"/>
                <a:gd name="connsiteY9" fmla="*/ 108503 h 124347"/>
                <a:gd name="connsiteX10" fmla="*/ 194504 w 219347"/>
                <a:gd name="connsiteY10" fmla="*/ 108503 h 124347"/>
                <a:gd name="connsiteX11" fmla="*/ 157632 w 219347"/>
                <a:gd name="connsiteY11" fmla="*/ 93165 h 124347"/>
                <a:gd name="connsiteX12" fmla="*/ 152951 w 219347"/>
                <a:gd name="connsiteY12" fmla="*/ 91454 h 124347"/>
                <a:gd name="connsiteX13" fmla="*/ 144350 w 219347"/>
                <a:gd name="connsiteY13" fmla="*/ 1775 h 124347"/>
                <a:gd name="connsiteX14" fmla="*/ 160098 w 219347"/>
                <a:gd name="connsiteY14" fmla="*/ 253 h 124347"/>
                <a:gd name="connsiteX15" fmla="*/ 167688 w 219347"/>
                <a:gd name="connsiteY15" fmla="*/ 80046 h 124347"/>
                <a:gd name="connsiteX16" fmla="*/ 213920 w 219347"/>
                <a:gd name="connsiteY16" fmla="*/ 101151 h 124347"/>
                <a:gd name="connsiteX17" fmla="*/ 218727 w 219347"/>
                <a:gd name="connsiteY17" fmla="*/ 115474 h 124347"/>
                <a:gd name="connsiteX18" fmla="*/ 206647 w 219347"/>
                <a:gd name="connsiteY18" fmla="*/ 124347 h 124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9347" h="124347">
                  <a:moveTo>
                    <a:pt x="206647" y="124347"/>
                  </a:moveTo>
                  <a:lnTo>
                    <a:pt x="12608" y="124347"/>
                  </a:lnTo>
                  <a:cubicBezTo>
                    <a:pt x="7086" y="124316"/>
                    <a:pt x="2221" y="120697"/>
                    <a:pt x="592" y="115411"/>
                  </a:cubicBezTo>
                  <a:cubicBezTo>
                    <a:pt x="-1112" y="110024"/>
                    <a:pt x="952" y="104155"/>
                    <a:pt x="5651" y="101024"/>
                  </a:cubicBezTo>
                  <a:cubicBezTo>
                    <a:pt x="20419" y="92798"/>
                    <a:pt x="35815" y="85763"/>
                    <a:pt x="51694" y="79983"/>
                  </a:cubicBezTo>
                  <a:lnTo>
                    <a:pt x="62130" y="0"/>
                  </a:lnTo>
                  <a:lnTo>
                    <a:pt x="77815" y="2091"/>
                  </a:lnTo>
                  <a:lnTo>
                    <a:pt x="65988" y="91454"/>
                  </a:lnTo>
                  <a:lnTo>
                    <a:pt x="61561" y="93165"/>
                  </a:lnTo>
                  <a:cubicBezTo>
                    <a:pt x="54098" y="95954"/>
                    <a:pt x="36895" y="102735"/>
                    <a:pt x="24752" y="108503"/>
                  </a:cubicBezTo>
                  <a:lnTo>
                    <a:pt x="194504" y="108503"/>
                  </a:lnTo>
                  <a:cubicBezTo>
                    <a:pt x="182424" y="102735"/>
                    <a:pt x="165095" y="95827"/>
                    <a:pt x="157632" y="93165"/>
                  </a:cubicBezTo>
                  <a:lnTo>
                    <a:pt x="152951" y="91454"/>
                  </a:lnTo>
                  <a:lnTo>
                    <a:pt x="144350" y="1775"/>
                  </a:lnTo>
                  <a:lnTo>
                    <a:pt x="160098" y="253"/>
                  </a:lnTo>
                  <a:lnTo>
                    <a:pt x="167688" y="80046"/>
                  </a:lnTo>
                  <a:cubicBezTo>
                    <a:pt x="183661" y="85769"/>
                    <a:pt x="199127" y="92829"/>
                    <a:pt x="213920" y="101151"/>
                  </a:cubicBezTo>
                  <a:cubicBezTo>
                    <a:pt x="218498" y="104339"/>
                    <a:pt x="220451" y="110163"/>
                    <a:pt x="218727" y="115474"/>
                  </a:cubicBezTo>
                  <a:cubicBezTo>
                    <a:pt x="217068" y="120760"/>
                    <a:pt x="212176" y="124354"/>
                    <a:pt x="206647" y="124347"/>
                  </a:cubicBezTo>
                  <a:close/>
                </a:path>
              </a:pathLst>
            </a:custGeom>
            <a:grpFill/>
            <a:ln w="6271" cap="flat">
              <a:noFill/>
              <a:prstDash val="solid"/>
              <a:miter/>
            </a:ln>
          </p:spPr>
          <p:txBody>
            <a:bodyPr rtlCol="0" anchor="ctr"/>
            <a:lstStyle/>
            <a:p>
              <a:endParaRPr lang="en-US"/>
            </a:p>
          </p:txBody>
        </p:sp>
        <p:sp>
          <p:nvSpPr>
            <p:cNvPr id="101" name="Picture Placeholder 120">
              <a:extLst>
                <a:ext uri="{FF2B5EF4-FFF2-40B4-BE49-F238E27FC236}">
                  <a16:creationId xmlns:a16="http://schemas.microsoft.com/office/drawing/2014/main" id="{CA55F213-45D8-E749-CFC4-C475BE182A6B}"/>
                </a:ext>
              </a:extLst>
            </p:cNvPr>
            <p:cNvSpPr/>
            <p:nvPr/>
          </p:nvSpPr>
          <p:spPr>
            <a:xfrm>
              <a:off x="11074934" y="4497542"/>
              <a:ext cx="594512" cy="380344"/>
            </a:xfrm>
            <a:custGeom>
              <a:avLst/>
              <a:gdLst>
                <a:gd name="connsiteX0" fmla="*/ 562257 w 594512"/>
                <a:gd name="connsiteY0" fmla="*/ 15852 h 380344"/>
                <a:gd name="connsiteX1" fmla="*/ 578701 w 594512"/>
                <a:gd name="connsiteY1" fmla="*/ 30999 h 380344"/>
                <a:gd name="connsiteX2" fmla="*/ 578701 w 594512"/>
                <a:gd name="connsiteY2" fmla="*/ 350613 h 380344"/>
                <a:gd name="connsiteX3" fmla="*/ 563585 w 594512"/>
                <a:gd name="connsiteY3" fmla="*/ 364430 h 380344"/>
                <a:gd name="connsiteX4" fmla="*/ 29852 w 594512"/>
                <a:gd name="connsiteY4" fmla="*/ 364430 h 380344"/>
                <a:gd name="connsiteX5" fmla="*/ 15812 w 594512"/>
                <a:gd name="connsiteY5" fmla="*/ 351754 h 380344"/>
                <a:gd name="connsiteX6" fmla="*/ 15812 w 594512"/>
                <a:gd name="connsiteY6" fmla="*/ 28527 h 380344"/>
                <a:gd name="connsiteX7" fmla="*/ 29662 w 594512"/>
                <a:gd name="connsiteY7" fmla="*/ 15852 h 380344"/>
                <a:gd name="connsiteX8" fmla="*/ 562257 w 594512"/>
                <a:gd name="connsiteY8" fmla="*/ 15852 h 380344"/>
                <a:gd name="connsiteX9" fmla="*/ 562257 w 594512"/>
                <a:gd name="connsiteY9" fmla="*/ 7 h 380344"/>
                <a:gd name="connsiteX10" fmla="*/ 29662 w 594512"/>
                <a:gd name="connsiteY10" fmla="*/ 7 h 380344"/>
                <a:gd name="connsiteX11" fmla="*/ 0 w 594512"/>
                <a:gd name="connsiteY11" fmla="*/ 28450 h 380344"/>
                <a:gd name="connsiteX12" fmla="*/ 0 w 594512"/>
                <a:gd name="connsiteY12" fmla="*/ 28464 h 380344"/>
                <a:gd name="connsiteX13" fmla="*/ 0 w 594512"/>
                <a:gd name="connsiteY13" fmla="*/ 351691 h 380344"/>
                <a:gd name="connsiteX14" fmla="*/ 29852 w 594512"/>
                <a:gd name="connsiteY14" fmla="*/ 380338 h 380344"/>
                <a:gd name="connsiteX15" fmla="*/ 563585 w 594512"/>
                <a:gd name="connsiteY15" fmla="*/ 380338 h 380344"/>
                <a:gd name="connsiteX16" fmla="*/ 594512 w 594512"/>
                <a:gd name="connsiteY16" fmla="*/ 350627 h 380344"/>
                <a:gd name="connsiteX17" fmla="*/ 594512 w 594512"/>
                <a:gd name="connsiteY17" fmla="*/ 350613 h 380344"/>
                <a:gd name="connsiteX18" fmla="*/ 594512 w 594512"/>
                <a:gd name="connsiteY18" fmla="*/ 30999 h 380344"/>
                <a:gd name="connsiteX19" fmla="*/ 562257 w 594512"/>
                <a:gd name="connsiteY19" fmla="*/ 7 h 380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4512" h="380344">
                  <a:moveTo>
                    <a:pt x="562257" y="15852"/>
                  </a:moveTo>
                  <a:cubicBezTo>
                    <a:pt x="570953" y="15529"/>
                    <a:pt x="578290" y="22286"/>
                    <a:pt x="578701" y="30999"/>
                  </a:cubicBezTo>
                  <a:lnTo>
                    <a:pt x="578701" y="350613"/>
                  </a:lnTo>
                  <a:cubicBezTo>
                    <a:pt x="578328" y="358607"/>
                    <a:pt x="571560" y="364788"/>
                    <a:pt x="563585" y="364430"/>
                  </a:cubicBezTo>
                  <a:lnTo>
                    <a:pt x="29852" y="364430"/>
                  </a:lnTo>
                  <a:cubicBezTo>
                    <a:pt x="22504" y="364754"/>
                    <a:pt x="16254" y="359112"/>
                    <a:pt x="15812" y="351754"/>
                  </a:cubicBezTo>
                  <a:lnTo>
                    <a:pt x="15812" y="28527"/>
                  </a:lnTo>
                  <a:cubicBezTo>
                    <a:pt x="16153" y="21199"/>
                    <a:pt x="22348" y="15529"/>
                    <a:pt x="29662" y="15852"/>
                  </a:cubicBezTo>
                  <a:lnTo>
                    <a:pt x="562257" y="15852"/>
                  </a:lnTo>
                  <a:moveTo>
                    <a:pt x="562257" y="7"/>
                  </a:moveTo>
                  <a:lnTo>
                    <a:pt x="29662" y="7"/>
                  </a:lnTo>
                  <a:cubicBezTo>
                    <a:pt x="13633" y="-346"/>
                    <a:pt x="354" y="12387"/>
                    <a:pt x="0" y="28450"/>
                  </a:cubicBezTo>
                  <a:cubicBezTo>
                    <a:pt x="0" y="28454"/>
                    <a:pt x="0" y="28459"/>
                    <a:pt x="0" y="28464"/>
                  </a:cubicBezTo>
                  <a:lnTo>
                    <a:pt x="0" y="351691"/>
                  </a:lnTo>
                  <a:cubicBezTo>
                    <a:pt x="380" y="367848"/>
                    <a:pt x="13727" y="380656"/>
                    <a:pt x="29852" y="380338"/>
                  </a:cubicBezTo>
                  <a:lnTo>
                    <a:pt x="563585" y="380338"/>
                  </a:lnTo>
                  <a:cubicBezTo>
                    <a:pt x="580314" y="380691"/>
                    <a:pt x="594158" y="367389"/>
                    <a:pt x="594512" y="350627"/>
                  </a:cubicBezTo>
                  <a:cubicBezTo>
                    <a:pt x="594512" y="350622"/>
                    <a:pt x="594512" y="350618"/>
                    <a:pt x="594512" y="350613"/>
                  </a:cubicBezTo>
                  <a:lnTo>
                    <a:pt x="594512" y="30999"/>
                  </a:lnTo>
                  <a:cubicBezTo>
                    <a:pt x="594133" y="13521"/>
                    <a:pt x="579700" y="-346"/>
                    <a:pt x="562257" y="7"/>
                  </a:cubicBezTo>
                  <a:close/>
                </a:path>
              </a:pathLst>
            </a:custGeom>
            <a:grpFill/>
            <a:ln w="6271" cap="flat">
              <a:noFill/>
              <a:prstDash val="solid"/>
              <a:miter/>
            </a:ln>
          </p:spPr>
          <p:txBody>
            <a:bodyPr rtlCol="0" anchor="ctr"/>
            <a:lstStyle/>
            <a:p>
              <a:endParaRPr lang="en-US"/>
            </a:p>
          </p:txBody>
        </p:sp>
        <p:sp>
          <p:nvSpPr>
            <p:cNvPr id="102" name="Picture Placeholder 120">
              <a:extLst>
                <a:ext uri="{FF2B5EF4-FFF2-40B4-BE49-F238E27FC236}">
                  <a16:creationId xmlns:a16="http://schemas.microsoft.com/office/drawing/2014/main" id="{71157376-BA8C-3584-04C9-5544AF7328DF}"/>
                </a:ext>
              </a:extLst>
            </p:cNvPr>
            <p:cNvSpPr/>
            <p:nvPr/>
          </p:nvSpPr>
          <p:spPr>
            <a:xfrm>
              <a:off x="11137547" y="4827367"/>
              <a:ext cx="469348" cy="15844"/>
            </a:xfrm>
            <a:custGeom>
              <a:avLst/>
              <a:gdLst>
                <a:gd name="connsiteX0" fmla="*/ 0 w 469348"/>
                <a:gd name="connsiteY0" fmla="*/ 0 h 15844"/>
                <a:gd name="connsiteX1" fmla="*/ 469349 w 469348"/>
                <a:gd name="connsiteY1" fmla="*/ 0 h 15844"/>
                <a:gd name="connsiteX2" fmla="*/ 469349 w 469348"/>
                <a:gd name="connsiteY2" fmla="*/ 15844 h 15844"/>
                <a:gd name="connsiteX3" fmla="*/ 0 w 469348"/>
                <a:gd name="connsiteY3" fmla="*/ 15844 h 15844"/>
              </a:gdLst>
              <a:ahLst/>
              <a:cxnLst>
                <a:cxn ang="0">
                  <a:pos x="connsiteX0" y="connsiteY0"/>
                </a:cxn>
                <a:cxn ang="0">
                  <a:pos x="connsiteX1" y="connsiteY1"/>
                </a:cxn>
                <a:cxn ang="0">
                  <a:pos x="connsiteX2" y="connsiteY2"/>
                </a:cxn>
                <a:cxn ang="0">
                  <a:pos x="connsiteX3" y="connsiteY3"/>
                </a:cxn>
              </a:cxnLst>
              <a:rect l="l" t="t" r="r" b="b"/>
              <a:pathLst>
                <a:path w="469348" h="15844">
                  <a:moveTo>
                    <a:pt x="0" y="0"/>
                  </a:moveTo>
                  <a:lnTo>
                    <a:pt x="469349" y="0"/>
                  </a:lnTo>
                  <a:lnTo>
                    <a:pt x="469349" y="15844"/>
                  </a:lnTo>
                  <a:lnTo>
                    <a:pt x="0" y="15844"/>
                  </a:lnTo>
                  <a:close/>
                </a:path>
              </a:pathLst>
            </a:custGeom>
            <a:grpFill/>
            <a:ln w="6271" cap="flat">
              <a:noFill/>
              <a:prstDash val="solid"/>
              <a:miter/>
            </a:ln>
          </p:spPr>
          <p:txBody>
            <a:bodyPr rtlCol="0" anchor="ctr"/>
            <a:lstStyle/>
            <a:p>
              <a:endParaRPr lang="en-US"/>
            </a:p>
          </p:txBody>
        </p:sp>
        <p:sp>
          <p:nvSpPr>
            <p:cNvPr id="103" name="Picture Placeholder 120">
              <a:extLst>
                <a:ext uri="{FF2B5EF4-FFF2-40B4-BE49-F238E27FC236}">
                  <a16:creationId xmlns:a16="http://schemas.microsoft.com/office/drawing/2014/main" id="{432AC15E-3BA7-1668-D05C-628FD83D5B2C}"/>
                </a:ext>
              </a:extLst>
            </p:cNvPr>
            <p:cNvSpPr/>
            <p:nvPr/>
          </p:nvSpPr>
          <p:spPr>
            <a:xfrm>
              <a:off x="11422281" y="4576645"/>
              <a:ext cx="15811" cy="221822"/>
            </a:xfrm>
            <a:custGeom>
              <a:avLst/>
              <a:gdLst>
                <a:gd name="connsiteX0" fmla="*/ 0 w 15811"/>
                <a:gd name="connsiteY0" fmla="*/ 0 h 221822"/>
                <a:gd name="connsiteX1" fmla="*/ 15812 w 15811"/>
                <a:gd name="connsiteY1" fmla="*/ 0 h 221822"/>
                <a:gd name="connsiteX2" fmla="*/ 15812 w 15811"/>
                <a:gd name="connsiteY2" fmla="*/ 221822 h 221822"/>
                <a:gd name="connsiteX3" fmla="*/ 0 w 15811"/>
                <a:gd name="connsiteY3" fmla="*/ 221822 h 221822"/>
              </a:gdLst>
              <a:ahLst/>
              <a:cxnLst>
                <a:cxn ang="0">
                  <a:pos x="connsiteX0" y="connsiteY0"/>
                </a:cxn>
                <a:cxn ang="0">
                  <a:pos x="connsiteX1" y="connsiteY1"/>
                </a:cxn>
                <a:cxn ang="0">
                  <a:pos x="connsiteX2" y="connsiteY2"/>
                </a:cxn>
                <a:cxn ang="0">
                  <a:pos x="connsiteX3" y="connsiteY3"/>
                </a:cxn>
              </a:cxnLst>
              <a:rect l="l" t="t" r="r" b="b"/>
              <a:pathLst>
                <a:path w="15811" h="221822">
                  <a:moveTo>
                    <a:pt x="0" y="0"/>
                  </a:moveTo>
                  <a:lnTo>
                    <a:pt x="15812" y="0"/>
                  </a:lnTo>
                  <a:lnTo>
                    <a:pt x="15812" y="221822"/>
                  </a:lnTo>
                  <a:lnTo>
                    <a:pt x="0" y="221822"/>
                  </a:lnTo>
                  <a:close/>
                </a:path>
              </a:pathLst>
            </a:custGeom>
            <a:grpFill/>
            <a:ln w="6271" cap="flat">
              <a:noFill/>
              <a:prstDash val="solid"/>
              <a:miter/>
            </a:ln>
          </p:spPr>
          <p:txBody>
            <a:bodyPr rtlCol="0" anchor="ctr"/>
            <a:lstStyle/>
            <a:p>
              <a:endParaRPr lang="en-US"/>
            </a:p>
          </p:txBody>
        </p:sp>
        <p:sp>
          <p:nvSpPr>
            <p:cNvPr id="104" name="Picture Placeholder 120">
              <a:extLst>
                <a:ext uri="{FF2B5EF4-FFF2-40B4-BE49-F238E27FC236}">
                  <a16:creationId xmlns:a16="http://schemas.microsoft.com/office/drawing/2014/main" id="{85B8DE64-AD62-7B76-D9F3-2A4DCCA4D7E5}"/>
                </a:ext>
              </a:extLst>
            </p:cNvPr>
            <p:cNvSpPr/>
            <p:nvPr/>
          </p:nvSpPr>
          <p:spPr>
            <a:xfrm>
              <a:off x="11224827" y="4647438"/>
              <a:ext cx="15811" cy="151029"/>
            </a:xfrm>
            <a:custGeom>
              <a:avLst/>
              <a:gdLst>
                <a:gd name="connsiteX0" fmla="*/ 7969 w 15811"/>
                <a:gd name="connsiteY0" fmla="*/ 824 h 151029"/>
                <a:gd name="connsiteX1" fmla="*/ 0 w 15811"/>
                <a:gd name="connsiteY1" fmla="*/ 0 h 151029"/>
                <a:gd name="connsiteX2" fmla="*/ 0 w 15811"/>
                <a:gd name="connsiteY2" fmla="*/ 151029 h 151029"/>
                <a:gd name="connsiteX3" fmla="*/ 15812 w 15811"/>
                <a:gd name="connsiteY3" fmla="*/ 151029 h 151029"/>
                <a:gd name="connsiteX4" fmla="*/ 15812 w 15811"/>
                <a:gd name="connsiteY4" fmla="*/ 63 h 151029"/>
                <a:gd name="connsiteX5" fmla="*/ 7969 w 15811"/>
                <a:gd name="connsiteY5" fmla="*/ 824 h 151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11" h="151029">
                  <a:moveTo>
                    <a:pt x="7969" y="824"/>
                  </a:moveTo>
                  <a:cubicBezTo>
                    <a:pt x="5292" y="807"/>
                    <a:pt x="2623" y="531"/>
                    <a:pt x="0" y="0"/>
                  </a:cubicBezTo>
                  <a:lnTo>
                    <a:pt x="0" y="151029"/>
                  </a:lnTo>
                  <a:lnTo>
                    <a:pt x="15812" y="151029"/>
                  </a:lnTo>
                  <a:lnTo>
                    <a:pt x="15812" y="63"/>
                  </a:lnTo>
                  <a:cubicBezTo>
                    <a:pt x="13223" y="539"/>
                    <a:pt x="10600" y="793"/>
                    <a:pt x="7969" y="824"/>
                  </a:cubicBezTo>
                  <a:close/>
                </a:path>
              </a:pathLst>
            </a:custGeom>
            <a:grpFill/>
            <a:ln w="6271" cap="flat">
              <a:noFill/>
              <a:prstDash val="solid"/>
              <a:miter/>
            </a:ln>
          </p:spPr>
          <p:txBody>
            <a:bodyPr rtlCol="0" anchor="ctr"/>
            <a:lstStyle/>
            <a:p>
              <a:endParaRPr lang="en-US"/>
            </a:p>
          </p:txBody>
        </p:sp>
        <p:sp>
          <p:nvSpPr>
            <p:cNvPr id="105" name="Picture Placeholder 120">
              <a:extLst>
                <a:ext uri="{FF2B5EF4-FFF2-40B4-BE49-F238E27FC236}">
                  <a16:creationId xmlns:a16="http://schemas.microsoft.com/office/drawing/2014/main" id="{64B9F388-C065-6D9C-F21D-9BEAF8A47EAE}"/>
                </a:ext>
              </a:extLst>
            </p:cNvPr>
            <p:cNvSpPr/>
            <p:nvPr/>
          </p:nvSpPr>
          <p:spPr>
            <a:xfrm>
              <a:off x="11201173" y="4575377"/>
              <a:ext cx="63246" cy="63377"/>
            </a:xfrm>
            <a:custGeom>
              <a:avLst/>
              <a:gdLst>
                <a:gd name="connsiteX0" fmla="*/ 63246 w 63246"/>
                <a:gd name="connsiteY0" fmla="*/ 31689 h 63377"/>
                <a:gd name="connsiteX1" fmla="*/ 31623 w 63246"/>
                <a:gd name="connsiteY1" fmla="*/ 63378 h 63377"/>
                <a:gd name="connsiteX2" fmla="*/ 0 w 63246"/>
                <a:gd name="connsiteY2" fmla="*/ 31689 h 63377"/>
                <a:gd name="connsiteX3" fmla="*/ 31623 w 63246"/>
                <a:gd name="connsiteY3" fmla="*/ 0 h 63377"/>
                <a:gd name="connsiteX4" fmla="*/ 63246 w 63246"/>
                <a:gd name="connsiteY4" fmla="*/ 31689 h 63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46" h="63377">
                  <a:moveTo>
                    <a:pt x="63246" y="31689"/>
                  </a:moveTo>
                  <a:cubicBezTo>
                    <a:pt x="63246" y="49190"/>
                    <a:pt x="49088" y="63378"/>
                    <a:pt x="31623" y="63378"/>
                  </a:cubicBezTo>
                  <a:cubicBezTo>
                    <a:pt x="14158" y="63378"/>
                    <a:pt x="0" y="49190"/>
                    <a:pt x="0" y="31689"/>
                  </a:cubicBezTo>
                  <a:cubicBezTo>
                    <a:pt x="0" y="14188"/>
                    <a:pt x="14158" y="0"/>
                    <a:pt x="31623" y="0"/>
                  </a:cubicBezTo>
                  <a:cubicBezTo>
                    <a:pt x="49088" y="0"/>
                    <a:pt x="63246" y="14188"/>
                    <a:pt x="63246" y="31689"/>
                  </a:cubicBezTo>
                  <a:close/>
                </a:path>
              </a:pathLst>
            </a:custGeom>
            <a:grpFill/>
            <a:ln w="6271" cap="flat">
              <a:noFill/>
              <a:prstDash val="solid"/>
              <a:miter/>
            </a:ln>
          </p:spPr>
          <p:txBody>
            <a:bodyPr rtlCol="0" anchor="ctr"/>
            <a:lstStyle/>
            <a:p>
              <a:endParaRPr lang="en-US"/>
            </a:p>
          </p:txBody>
        </p:sp>
        <p:sp>
          <p:nvSpPr>
            <p:cNvPr id="106" name="Picture Placeholder 120">
              <a:extLst>
                <a:ext uri="{FF2B5EF4-FFF2-40B4-BE49-F238E27FC236}">
                  <a16:creationId xmlns:a16="http://schemas.microsoft.com/office/drawing/2014/main" id="{49AF548C-CAA6-8184-BB32-663A41C6DDA6}"/>
                </a:ext>
              </a:extLst>
            </p:cNvPr>
            <p:cNvSpPr/>
            <p:nvPr/>
          </p:nvSpPr>
          <p:spPr>
            <a:xfrm>
              <a:off x="11331333" y="4576644"/>
              <a:ext cx="15811" cy="60335"/>
            </a:xfrm>
            <a:custGeom>
              <a:avLst/>
              <a:gdLst>
                <a:gd name="connsiteX0" fmla="*/ 6957 w 15811"/>
                <a:gd name="connsiteY0" fmla="*/ 59322 h 60335"/>
                <a:gd name="connsiteX1" fmla="*/ 15812 w 15811"/>
                <a:gd name="connsiteY1" fmla="*/ 60336 h 60335"/>
                <a:gd name="connsiteX2" fmla="*/ 15812 w 15811"/>
                <a:gd name="connsiteY2" fmla="*/ 0 h 60335"/>
                <a:gd name="connsiteX3" fmla="*/ 0 w 15811"/>
                <a:gd name="connsiteY3" fmla="*/ 0 h 60335"/>
                <a:gd name="connsiteX4" fmla="*/ 0 w 15811"/>
                <a:gd name="connsiteY4" fmla="*/ 59955 h 60335"/>
                <a:gd name="connsiteX5" fmla="*/ 6957 w 15811"/>
                <a:gd name="connsiteY5" fmla="*/ 59322 h 6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11" h="60335">
                  <a:moveTo>
                    <a:pt x="6957" y="59322"/>
                  </a:moveTo>
                  <a:cubicBezTo>
                    <a:pt x="9937" y="59335"/>
                    <a:pt x="12906" y="59675"/>
                    <a:pt x="15812" y="60336"/>
                  </a:cubicBezTo>
                  <a:lnTo>
                    <a:pt x="15812" y="0"/>
                  </a:lnTo>
                  <a:lnTo>
                    <a:pt x="0" y="0"/>
                  </a:lnTo>
                  <a:lnTo>
                    <a:pt x="0" y="59955"/>
                  </a:lnTo>
                  <a:cubicBezTo>
                    <a:pt x="2298" y="59553"/>
                    <a:pt x="4625" y="59341"/>
                    <a:pt x="6957" y="59322"/>
                  </a:cubicBezTo>
                  <a:close/>
                </a:path>
              </a:pathLst>
            </a:custGeom>
            <a:grpFill/>
            <a:ln w="6271" cap="flat">
              <a:noFill/>
              <a:prstDash val="solid"/>
              <a:miter/>
            </a:ln>
          </p:spPr>
          <p:txBody>
            <a:bodyPr rtlCol="0" anchor="ctr"/>
            <a:lstStyle/>
            <a:p>
              <a:endParaRPr lang="en-US"/>
            </a:p>
          </p:txBody>
        </p:sp>
        <p:sp>
          <p:nvSpPr>
            <p:cNvPr id="107" name="Picture Placeholder 120">
              <a:extLst>
                <a:ext uri="{FF2B5EF4-FFF2-40B4-BE49-F238E27FC236}">
                  <a16:creationId xmlns:a16="http://schemas.microsoft.com/office/drawing/2014/main" id="{57415007-C839-61EA-3456-97D04FD840CE}"/>
                </a:ext>
              </a:extLst>
            </p:cNvPr>
            <p:cNvSpPr/>
            <p:nvPr/>
          </p:nvSpPr>
          <p:spPr>
            <a:xfrm>
              <a:off x="11331333" y="4717343"/>
              <a:ext cx="15811" cy="81123"/>
            </a:xfrm>
            <a:custGeom>
              <a:avLst/>
              <a:gdLst>
                <a:gd name="connsiteX0" fmla="*/ 6957 w 15811"/>
                <a:gd name="connsiteY0" fmla="*/ 1014 h 81123"/>
                <a:gd name="connsiteX1" fmla="*/ 0 w 15811"/>
                <a:gd name="connsiteY1" fmla="*/ 380 h 81123"/>
                <a:gd name="connsiteX2" fmla="*/ 0 w 15811"/>
                <a:gd name="connsiteY2" fmla="*/ 81124 h 81123"/>
                <a:gd name="connsiteX3" fmla="*/ 15812 w 15811"/>
                <a:gd name="connsiteY3" fmla="*/ 81124 h 81123"/>
                <a:gd name="connsiteX4" fmla="*/ 15812 w 15811"/>
                <a:gd name="connsiteY4" fmla="*/ 0 h 81123"/>
                <a:gd name="connsiteX5" fmla="*/ 6957 w 15811"/>
                <a:gd name="connsiteY5" fmla="*/ 1014 h 8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11" h="81123">
                  <a:moveTo>
                    <a:pt x="6957" y="1014"/>
                  </a:moveTo>
                  <a:cubicBezTo>
                    <a:pt x="4625" y="994"/>
                    <a:pt x="2298" y="783"/>
                    <a:pt x="0" y="380"/>
                  </a:cubicBezTo>
                  <a:lnTo>
                    <a:pt x="0" y="81124"/>
                  </a:lnTo>
                  <a:lnTo>
                    <a:pt x="15812" y="81124"/>
                  </a:lnTo>
                  <a:lnTo>
                    <a:pt x="15812" y="0"/>
                  </a:lnTo>
                  <a:cubicBezTo>
                    <a:pt x="12906" y="660"/>
                    <a:pt x="9937" y="1001"/>
                    <a:pt x="6957" y="1014"/>
                  </a:cubicBezTo>
                  <a:close/>
                </a:path>
              </a:pathLst>
            </a:custGeom>
            <a:grpFill/>
            <a:ln w="6271" cap="flat">
              <a:noFill/>
              <a:prstDash val="solid"/>
              <a:miter/>
            </a:ln>
          </p:spPr>
          <p:txBody>
            <a:bodyPr rtlCol="0" anchor="ctr"/>
            <a:lstStyle/>
            <a:p>
              <a:endParaRPr lang="en-US"/>
            </a:p>
          </p:txBody>
        </p:sp>
        <p:sp>
          <p:nvSpPr>
            <p:cNvPr id="108" name="Picture Placeholder 120">
              <a:extLst>
                <a:ext uri="{FF2B5EF4-FFF2-40B4-BE49-F238E27FC236}">
                  <a16:creationId xmlns:a16="http://schemas.microsoft.com/office/drawing/2014/main" id="{66BF58C7-C4B0-D9F5-DAB5-EA3E47495F16}"/>
                </a:ext>
              </a:extLst>
            </p:cNvPr>
            <p:cNvSpPr/>
            <p:nvPr/>
          </p:nvSpPr>
          <p:spPr>
            <a:xfrm>
              <a:off x="11306667" y="4645473"/>
              <a:ext cx="63246" cy="63377"/>
            </a:xfrm>
            <a:custGeom>
              <a:avLst/>
              <a:gdLst>
                <a:gd name="connsiteX0" fmla="*/ 63246 w 63246"/>
                <a:gd name="connsiteY0" fmla="*/ 31689 h 63377"/>
                <a:gd name="connsiteX1" fmla="*/ 31623 w 63246"/>
                <a:gd name="connsiteY1" fmla="*/ 63378 h 63377"/>
                <a:gd name="connsiteX2" fmla="*/ 0 w 63246"/>
                <a:gd name="connsiteY2" fmla="*/ 31689 h 63377"/>
                <a:gd name="connsiteX3" fmla="*/ 31623 w 63246"/>
                <a:gd name="connsiteY3" fmla="*/ 0 h 63377"/>
                <a:gd name="connsiteX4" fmla="*/ 63246 w 63246"/>
                <a:gd name="connsiteY4" fmla="*/ 31689 h 63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46" h="63377">
                  <a:moveTo>
                    <a:pt x="63246" y="31689"/>
                  </a:moveTo>
                  <a:cubicBezTo>
                    <a:pt x="63246" y="49190"/>
                    <a:pt x="49088" y="63378"/>
                    <a:pt x="31623" y="63378"/>
                  </a:cubicBezTo>
                  <a:cubicBezTo>
                    <a:pt x="14158" y="63378"/>
                    <a:pt x="0" y="49190"/>
                    <a:pt x="0" y="31689"/>
                  </a:cubicBezTo>
                  <a:cubicBezTo>
                    <a:pt x="0" y="14188"/>
                    <a:pt x="14158" y="0"/>
                    <a:pt x="31623" y="0"/>
                  </a:cubicBezTo>
                  <a:cubicBezTo>
                    <a:pt x="49088" y="0"/>
                    <a:pt x="63246" y="14188"/>
                    <a:pt x="63246" y="31689"/>
                  </a:cubicBezTo>
                  <a:close/>
                </a:path>
              </a:pathLst>
            </a:custGeom>
            <a:grpFill/>
            <a:ln w="6271" cap="flat">
              <a:noFill/>
              <a:prstDash val="solid"/>
              <a:miter/>
            </a:ln>
          </p:spPr>
          <p:txBody>
            <a:bodyPr rtlCol="0" anchor="ctr"/>
            <a:lstStyle/>
            <a:p>
              <a:endParaRPr lang="en-US"/>
            </a:p>
          </p:txBody>
        </p:sp>
        <p:sp>
          <p:nvSpPr>
            <p:cNvPr id="109" name="Picture Placeholder 120">
              <a:extLst>
                <a:ext uri="{FF2B5EF4-FFF2-40B4-BE49-F238E27FC236}">
                  <a16:creationId xmlns:a16="http://schemas.microsoft.com/office/drawing/2014/main" id="{F181876A-83B4-6B27-3CDC-9D66EA4BD192}"/>
                </a:ext>
              </a:extLst>
            </p:cNvPr>
            <p:cNvSpPr/>
            <p:nvPr/>
          </p:nvSpPr>
          <p:spPr>
            <a:xfrm>
              <a:off x="11389458" y="4731605"/>
              <a:ext cx="82835" cy="83023"/>
            </a:xfrm>
            <a:custGeom>
              <a:avLst/>
              <a:gdLst>
                <a:gd name="connsiteX0" fmla="*/ 41741 w 82835"/>
                <a:gd name="connsiteY0" fmla="*/ 83023 h 83023"/>
                <a:gd name="connsiteX1" fmla="*/ 12711 w 82835"/>
                <a:gd name="connsiteY1" fmla="*/ 70982 h 83023"/>
                <a:gd name="connsiteX2" fmla="*/ 11386 w 82835"/>
                <a:gd name="connsiteY2" fmla="*/ 12737 h 83023"/>
                <a:gd name="connsiteX3" fmla="*/ 69509 w 82835"/>
                <a:gd name="connsiteY3" fmla="*/ 11410 h 83023"/>
                <a:gd name="connsiteX4" fmla="*/ 70834 w 82835"/>
                <a:gd name="connsiteY4" fmla="*/ 12737 h 83023"/>
                <a:gd name="connsiteX5" fmla="*/ 70756 w 82835"/>
                <a:gd name="connsiteY5" fmla="*/ 70997 h 83023"/>
                <a:gd name="connsiteX6" fmla="*/ 41741 w 82835"/>
                <a:gd name="connsiteY6" fmla="*/ 83023 h 8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35" h="83023">
                  <a:moveTo>
                    <a:pt x="41741" y="83023"/>
                  </a:moveTo>
                  <a:cubicBezTo>
                    <a:pt x="30845" y="83068"/>
                    <a:pt x="20387" y="78730"/>
                    <a:pt x="12711" y="70982"/>
                  </a:cubicBezTo>
                  <a:cubicBezTo>
                    <a:pt x="-3705" y="55265"/>
                    <a:pt x="-4298" y="29188"/>
                    <a:pt x="11386" y="12737"/>
                  </a:cubicBezTo>
                  <a:cubicBezTo>
                    <a:pt x="27070" y="-3713"/>
                    <a:pt x="53093" y="-4307"/>
                    <a:pt x="69509" y="11410"/>
                  </a:cubicBezTo>
                  <a:cubicBezTo>
                    <a:pt x="69961" y="11842"/>
                    <a:pt x="70403" y="12285"/>
                    <a:pt x="70834" y="12737"/>
                  </a:cubicBezTo>
                  <a:cubicBezTo>
                    <a:pt x="86867" y="28847"/>
                    <a:pt x="86831" y="54931"/>
                    <a:pt x="70756" y="70997"/>
                  </a:cubicBezTo>
                  <a:cubicBezTo>
                    <a:pt x="63053" y="78695"/>
                    <a:pt x="52620" y="83020"/>
                    <a:pt x="41741" y="83023"/>
                  </a:cubicBezTo>
                  <a:close/>
                </a:path>
              </a:pathLst>
            </a:custGeom>
            <a:grpFill/>
            <a:ln w="6271" cap="flat">
              <a:noFill/>
              <a:prstDash val="solid"/>
              <a:miter/>
            </a:ln>
          </p:spPr>
          <p:txBody>
            <a:bodyPr rtlCol="0" anchor="ctr"/>
            <a:lstStyle/>
            <a:p>
              <a:endParaRPr lang="en-US"/>
            </a:p>
          </p:txBody>
        </p:sp>
        <p:sp>
          <p:nvSpPr>
            <p:cNvPr id="110" name="Picture Placeholder 120">
              <a:extLst>
                <a:ext uri="{FF2B5EF4-FFF2-40B4-BE49-F238E27FC236}">
                  <a16:creationId xmlns:a16="http://schemas.microsoft.com/office/drawing/2014/main" id="{A0FA9411-B04F-1AA6-2935-7B43E950B3DE}"/>
                </a:ext>
              </a:extLst>
            </p:cNvPr>
            <p:cNvSpPr/>
            <p:nvPr/>
          </p:nvSpPr>
          <p:spPr>
            <a:xfrm>
              <a:off x="11399575" y="4741744"/>
              <a:ext cx="63246" cy="63377"/>
            </a:xfrm>
            <a:custGeom>
              <a:avLst/>
              <a:gdLst>
                <a:gd name="connsiteX0" fmla="*/ 63246 w 63246"/>
                <a:gd name="connsiteY0" fmla="*/ 31689 h 63377"/>
                <a:gd name="connsiteX1" fmla="*/ 31623 w 63246"/>
                <a:gd name="connsiteY1" fmla="*/ 63378 h 63377"/>
                <a:gd name="connsiteX2" fmla="*/ 0 w 63246"/>
                <a:gd name="connsiteY2" fmla="*/ 31689 h 63377"/>
                <a:gd name="connsiteX3" fmla="*/ 31623 w 63246"/>
                <a:gd name="connsiteY3" fmla="*/ 0 h 63377"/>
                <a:gd name="connsiteX4" fmla="*/ 63246 w 63246"/>
                <a:gd name="connsiteY4" fmla="*/ 31689 h 63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46" h="63377">
                  <a:moveTo>
                    <a:pt x="63246" y="31689"/>
                  </a:moveTo>
                  <a:cubicBezTo>
                    <a:pt x="63246" y="49190"/>
                    <a:pt x="49088" y="63378"/>
                    <a:pt x="31623" y="63378"/>
                  </a:cubicBezTo>
                  <a:cubicBezTo>
                    <a:pt x="14158" y="63378"/>
                    <a:pt x="0" y="49190"/>
                    <a:pt x="0" y="31689"/>
                  </a:cubicBezTo>
                  <a:cubicBezTo>
                    <a:pt x="0" y="14188"/>
                    <a:pt x="14158" y="0"/>
                    <a:pt x="31623" y="0"/>
                  </a:cubicBezTo>
                  <a:cubicBezTo>
                    <a:pt x="49088" y="0"/>
                    <a:pt x="63246" y="14188"/>
                    <a:pt x="63246" y="31689"/>
                  </a:cubicBezTo>
                  <a:close/>
                </a:path>
              </a:pathLst>
            </a:custGeom>
            <a:grpFill/>
            <a:ln w="6271" cap="flat">
              <a:noFill/>
              <a:prstDash val="solid"/>
              <a:miter/>
            </a:ln>
          </p:spPr>
          <p:txBody>
            <a:bodyPr rtlCol="0" anchor="ctr"/>
            <a:lstStyle/>
            <a:p>
              <a:endParaRPr lang="en-US"/>
            </a:p>
          </p:txBody>
        </p:sp>
        <p:sp>
          <p:nvSpPr>
            <p:cNvPr id="111" name="Picture Placeholder 120">
              <a:extLst>
                <a:ext uri="{FF2B5EF4-FFF2-40B4-BE49-F238E27FC236}">
                  <a16:creationId xmlns:a16="http://schemas.microsoft.com/office/drawing/2014/main" id="{C4407E23-D6C0-D683-0534-4134BD739B97}"/>
                </a:ext>
              </a:extLst>
            </p:cNvPr>
            <p:cNvSpPr/>
            <p:nvPr/>
          </p:nvSpPr>
          <p:spPr>
            <a:xfrm>
              <a:off x="11519490" y="4576644"/>
              <a:ext cx="15558" cy="40244"/>
            </a:xfrm>
            <a:custGeom>
              <a:avLst/>
              <a:gdLst>
                <a:gd name="connsiteX0" fmla="*/ 7590 w 15558"/>
                <a:gd name="connsiteY0" fmla="*/ 39421 h 40244"/>
                <a:gd name="connsiteX1" fmla="*/ 15559 w 15558"/>
                <a:gd name="connsiteY1" fmla="*/ 40245 h 40244"/>
                <a:gd name="connsiteX2" fmla="*/ 15559 w 15558"/>
                <a:gd name="connsiteY2" fmla="*/ 0 h 40244"/>
                <a:gd name="connsiteX3" fmla="*/ 0 w 15558"/>
                <a:gd name="connsiteY3" fmla="*/ 0 h 40244"/>
                <a:gd name="connsiteX4" fmla="*/ 0 w 15558"/>
                <a:gd name="connsiteY4" fmla="*/ 40182 h 40244"/>
                <a:gd name="connsiteX5" fmla="*/ 7590 w 15558"/>
                <a:gd name="connsiteY5" fmla="*/ 39421 h 4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58" h="40244">
                  <a:moveTo>
                    <a:pt x="7590" y="39421"/>
                  </a:moveTo>
                  <a:cubicBezTo>
                    <a:pt x="10267" y="39409"/>
                    <a:pt x="12939" y="39685"/>
                    <a:pt x="15559" y="40245"/>
                  </a:cubicBezTo>
                  <a:lnTo>
                    <a:pt x="15559" y="0"/>
                  </a:lnTo>
                  <a:lnTo>
                    <a:pt x="0" y="0"/>
                  </a:lnTo>
                  <a:lnTo>
                    <a:pt x="0" y="40182"/>
                  </a:lnTo>
                  <a:cubicBezTo>
                    <a:pt x="2500" y="39688"/>
                    <a:pt x="5041" y="39433"/>
                    <a:pt x="7590" y="39421"/>
                  </a:cubicBezTo>
                  <a:close/>
                </a:path>
              </a:pathLst>
            </a:custGeom>
            <a:grpFill/>
            <a:ln w="6271" cap="flat">
              <a:noFill/>
              <a:prstDash val="solid"/>
              <a:miter/>
            </a:ln>
          </p:spPr>
          <p:txBody>
            <a:bodyPr rtlCol="0" anchor="ctr"/>
            <a:lstStyle/>
            <a:p>
              <a:endParaRPr lang="en-US"/>
            </a:p>
          </p:txBody>
        </p:sp>
        <p:sp>
          <p:nvSpPr>
            <p:cNvPr id="112" name="Picture Placeholder 120">
              <a:extLst>
                <a:ext uri="{FF2B5EF4-FFF2-40B4-BE49-F238E27FC236}">
                  <a16:creationId xmlns:a16="http://schemas.microsoft.com/office/drawing/2014/main" id="{3EE07C77-3EF0-C774-D683-B347FFF08B8E}"/>
                </a:ext>
              </a:extLst>
            </p:cNvPr>
            <p:cNvSpPr/>
            <p:nvPr/>
          </p:nvSpPr>
          <p:spPr>
            <a:xfrm>
              <a:off x="11519237" y="4697696"/>
              <a:ext cx="15811" cy="100770"/>
            </a:xfrm>
            <a:custGeom>
              <a:avLst/>
              <a:gdLst>
                <a:gd name="connsiteX0" fmla="*/ 7842 w 15811"/>
                <a:gd name="connsiteY0" fmla="*/ 761 h 100770"/>
                <a:gd name="connsiteX1" fmla="*/ 0 w 15811"/>
                <a:gd name="connsiteY1" fmla="*/ 0 h 100770"/>
                <a:gd name="connsiteX2" fmla="*/ 0 w 15811"/>
                <a:gd name="connsiteY2" fmla="*/ 100771 h 100770"/>
                <a:gd name="connsiteX3" fmla="*/ 15812 w 15811"/>
                <a:gd name="connsiteY3" fmla="*/ 100771 h 100770"/>
                <a:gd name="connsiteX4" fmla="*/ 15812 w 15811"/>
                <a:gd name="connsiteY4" fmla="*/ 0 h 100770"/>
                <a:gd name="connsiteX5" fmla="*/ 7842 w 15811"/>
                <a:gd name="connsiteY5" fmla="*/ 761 h 10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811" h="100770">
                  <a:moveTo>
                    <a:pt x="7842" y="761"/>
                  </a:moveTo>
                  <a:cubicBezTo>
                    <a:pt x="5210" y="765"/>
                    <a:pt x="2583" y="510"/>
                    <a:pt x="0" y="0"/>
                  </a:cubicBezTo>
                  <a:lnTo>
                    <a:pt x="0" y="100771"/>
                  </a:lnTo>
                  <a:lnTo>
                    <a:pt x="15812" y="100771"/>
                  </a:lnTo>
                  <a:lnTo>
                    <a:pt x="15812" y="0"/>
                  </a:lnTo>
                  <a:cubicBezTo>
                    <a:pt x="13186" y="507"/>
                    <a:pt x="10517" y="762"/>
                    <a:pt x="7842" y="761"/>
                  </a:cubicBezTo>
                  <a:close/>
                </a:path>
              </a:pathLst>
            </a:custGeom>
            <a:grpFill/>
            <a:ln w="6271" cap="flat">
              <a:noFill/>
              <a:prstDash val="solid"/>
              <a:miter/>
            </a:ln>
          </p:spPr>
          <p:txBody>
            <a:bodyPr rtlCol="0" anchor="ctr"/>
            <a:lstStyle/>
            <a:p>
              <a:endParaRPr lang="en-US"/>
            </a:p>
          </p:txBody>
        </p:sp>
        <p:sp>
          <p:nvSpPr>
            <p:cNvPr id="113" name="Picture Placeholder 120">
              <a:extLst>
                <a:ext uri="{FF2B5EF4-FFF2-40B4-BE49-F238E27FC236}">
                  <a16:creationId xmlns:a16="http://schemas.microsoft.com/office/drawing/2014/main" id="{D8BCEB50-277F-73F4-1E96-8D1BD9AE7798}"/>
                </a:ext>
              </a:extLst>
            </p:cNvPr>
            <p:cNvSpPr/>
            <p:nvPr/>
          </p:nvSpPr>
          <p:spPr>
            <a:xfrm>
              <a:off x="11495709" y="4625572"/>
              <a:ext cx="63246" cy="63377"/>
            </a:xfrm>
            <a:custGeom>
              <a:avLst/>
              <a:gdLst>
                <a:gd name="connsiteX0" fmla="*/ 63246 w 63246"/>
                <a:gd name="connsiteY0" fmla="*/ 31689 h 63377"/>
                <a:gd name="connsiteX1" fmla="*/ 31623 w 63246"/>
                <a:gd name="connsiteY1" fmla="*/ 63378 h 63377"/>
                <a:gd name="connsiteX2" fmla="*/ 0 w 63246"/>
                <a:gd name="connsiteY2" fmla="*/ 31689 h 63377"/>
                <a:gd name="connsiteX3" fmla="*/ 31623 w 63246"/>
                <a:gd name="connsiteY3" fmla="*/ 0 h 63377"/>
                <a:gd name="connsiteX4" fmla="*/ 63246 w 63246"/>
                <a:gd name="connsiteY4" fmla="*/ 31689 h 63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46" h="63377">
                  <a:moveTo>
                    <a:pt x="63246" y="31689"/>
                  </a:moveTo>
                  <a:cubicBezTo>
                    <a:pt x="63246" y="49190"/>
                    <a:pt x="49088" y="63378"/>
                    <a:pt x="31623" y="63378"/>
                  </a:cubicBezTo>
                  <a:cubicBezTo>
                    <a:pt x="14158" y="63378"/>
                    <a:pt x="0" y="49190"/>
                    <a:pt x="0" y="31689"/>
                  </a:cubicBezTo>
                  <a:cubicBezTo>
                    <a:pt x="0" y="14188"/>
                    <a:pt x="14158" y="0"/>
                    <a:pt x="31623" y="0"/>
                  </a:cubicBezTo>
                  <a:cubicBezTo>
                    <a:pt x="49088" y="0"/>
                    <a:pt x="63246" y="14188"/>
                    <a:pt x="63246" y="31689"/>
                  </a:cubicBezTo>
                  <a:close/>
                </a:path>
              </a:pathLst>
            </a:custGeom>
            <a:grpFill/>
            <a:ln w="6271" cap="flat">
              <a:noFill/>
              <a:prstDash val="solid"/>
              <a:miter/>
            </a:ln>
          </p:spPr>
          <p:txBody>
            <a:bodyPr rtlCol="0" anchor="ctr"/>
            <a:lstStyle/>
            <a:p>
              <a:endParaRPr lang="en-US"/>
            </a:p>
          </p:txBody>
        </p:sp>
      </p:grpSp>
      <p:grpSp>
        <p:nvGrpSpPr>
          <p:cNvPr id="114" name="Picture Placeholder 111" descr="Future-Proof&#10;">
            <a:extLst>
              <a:ext uri="{FF2B5EF4-FFF2-40B4-BE49-F238E27FC236}">
                <a16:creationId xmlns:a16="http://schemas.microsoft.com/office/drawing/2014/main" id="{CBB4756F-7976-1779-9937-F6E56793051E}"/>
              </a:ext>
            </a:extLst>
          </p:cNvPr>
          <p:cNvGrpSpPr/>
          <p:nvPr/>
        </p:nvGrpSpPr>
        <p:grpSpPr>
          <a:xfrm>
            <a:off x="4215497" y="4836024"/>
            <a:ext cx="450210" cy="495698"/>
            <a:chOff x="8459498" y="3193521"/>
            <a:chExt cx="553154" cy="571588"/>
          </a:xfrm>
          <a:solidFill>
            <a:schemeClr val="bg1"/>
          </a:solidFill>
        </p:grpSpPr>
        <p:sp>
          <p:nvSpPr>
            <p:cNvPr id="115" name="Picture Placeholder 111">
              <a:extLst>
                <a:ext uri="{FF2B5EF4-FFF2-40B4-BE49-F238E27FC236}">
                  <a16:creationId xmlns:a16="http://schemas.microsoft.com/office/drawing/2014/main" id="{46FD176B-24FF-2B5A-AF10-7986B9A949EC}"/>
                </a:ext>
              </a:extLst>
            </p:cNvPr>
            <p:cNvSpPr/>
            <p:nvPr/>
          </p:nvSpPr>
          <p:spPr>
            <a:xfrm>
              <a:off x="8600537" y="3334854"/>
              <a:ext cx="284606" cy="285200"/>
            </a:xfrm>
            <a:custGeom>
              <a:avLst/>
              <a:gdLst>
                <a:gd name="connsiteX0" fmla="*/ 142304 w 284606"/>
                <a:gd name="connsiteY0" fmla="*/ 285200 h 285200"/>
                <a:gd name="connsiteX1" fmla="*/ 0 w 284606"/>
                <a:gd name="connsiteY1" fmla="*/ 142600 h 285200"/>
                <a:gd name="connsiteX2" fmla="*/ 142304 w 284606"/>
                <a:gd name="connsiteY2" fmla="*/ 0 h 285200"/>
                <a:gd name="connsiteX3" fmla="*/ 284607 w 284606"/>
                <a:gd name="connsiteY3" fmla="*/ 142600 h 285200"/>
                <a:gd name="connsiteX4" fmla="*/ 142304 w 284606"/>
                <a:gd name="connsiteY4" fmla="*/ 285200 h 285200"/>
                <a:gd name="connsiteX5" fmla="*/ 142304 w 284606"/>
                <a:gd name="connsiteY5" fmla="*/ 15844 h 285200"/>
                <a:gd name="connsiteX6" fmla="*/ 15812 w 284606"/>
                <a:gd name="connsiteY6" fmla="*/ 142600 h 285200"/>
                <a:gd name="connsiteX7" fmla="*/ 142304 w 284606"/>
                <a:gd name="connsiteY7" fmla="*/ 269356 h 285200"/>
                <a:gd name="connsiteX8" fmla="*/ 268795 w 284606"/>
                <a:gd name="connsiteY8" fmla="*/ 142600 h 285200"/>
                <a:gd name="connsiteX9" fmla="*/ 142304 w 284606"/>
                <a:gd name="connsiteY9" fmla="*/ 15844 h 2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4606" h="285200">
                  <a:moveTo>
                    <a:pt x="142304" y="285200"/>
                  </a:moveTo>
                  <a:cubicBezTo>
                    <a:pt x="63878" y="285200"/>
                    <a:pt x="0" y="221189"/>
                    <a:pt x="0" y="142600"/>
                  </a:cubicBezTo>
                  <a:cubicBezTo>
                    <a:pt x="0" y="64012"/>
                    <a:pt x="63878" y="0"/>
                    <a:pt x="142304" y="0"/>
                  </a:cubicBezTo>
                  <a:cubicBezTo>
                    <a:pt x="220729" y="0"/>
                    <a:pt x="284607" y="64012"/>
                    <a:pt x="284607" y="142600"/>
                  </a:cubicBezTo>
                  <a:cubicBezTo>
                    <a:pt x="284607" y="221189"/>
                    <a:pt x="220729" y="285200"/>
                    <a:pt x="142304" y="285200"/>
                  </a:cubicBezTo>
                  <a:close/>
                  <a:moveTo>
                    <a:pt x="142304" y="15844"/>
                  </a:moveTo>
                  <a:cubicBezTo>
                    <a:pt x="72733" y="15844"/>
                    <a:pt x="15812" y="72885"/>
                    <a:pt x="15812" y="142600"/>
                  </a:cubicBezTo>
                  <a:cubicBezTo>
                    <a:pt x="15812" y="212316"/>
                    <a:pt x="72733" y="269356"/>
                    <a:pt x="142304" y="269356"/>
                  </a:cubicBezTo>
                  <a:cubicBezTo>
                    <a:pt x="211874" y="269356"/>
                    <a:pt x="268795" y="212316"/>
                    <a:pt x="268795" y="142600"/>
                  </a:cubicBezTo>
                  <a:cubicBezTo>
                    <a:pt x="268795" y="72885"/>
                    <a:pt x="212507" y="15844"/>
                    <a:pt x="142304" y="15844"/>
                  </a:cubicBezTo>
                  <a:close/>
                </a:path>
              </a:pathLst>
            </a:custGeom>
            <a:grpFill/>
            <a:ln w="6271" cap="flat">
              <a:noFill/>
              <a:prstDash val="solid"/>
              <a:miter/>
            </a:ln>
          </p:spPr>
          <p:txBody>
            <a:bodyPr rtlCol="0" anchor="ctr"/>
            <a:lstStyle/>
            <a:p>
              <a:endParaRPr lang="en-US"/>
            </a:p>
          </p:txBody>
        </p:sp>
        <p:sp>
          <p:nvSpPr>
            <p:cNvPr id="116" name="Picture Placeholder 111">
              <a:extLst>
                <a:ext uri="{FF2B5EF4-FFF2-40B4-BE49-F238E27FC236}">
                  <a16:creationId xmlns:a16="http://schemas.microsoft.com/office/drawing/2014/main" id="{40F5E20A-94AF-38DC-C57E-42FEB0498EDA}"/>
                </a:ext>
              </a:extLst>
            </p:cNvPr>
            <p:cNvSpPr/>
            <p:nvPr/>
          </p:nvSpPr>
          <p:spPr>
            <a:xfrm>
              <a:off x="8728294" y="3416611"/>
              <a:ext cx="66882" cy="123586"/>
            </a:xfrm>
            <a:custGeom>
              <a:avLst/>
              <a:gdLst>
                <a:gd name="connsiteX0" fmla="*/ 59451 w 66882"/>
                <a:gd name="connsiteY0" fmla="*/ 123587 h 123586"/>
                <a:gd name="connsiteX1" fmla="*/ 53759 w 66882"/>
                <a:gd name="connsiteY1" fmla="*/ 121052 h 123586"/>
                <a:gd name="connsiteX2" fmla="*/ 0 w 66882"/>
                <a:gd name="connsiteY2" fmla="*/ 65279 h 123586"/>
                <a:gd name="connsiteX3" fmla="*/ 0 w 66882"/>
                <a:gd name="connsiteY3" fmla="*/ 7605 h 123586"/>
                <a:gd name="connsiteX4" fmla="*/ 7590 w 66882"/>
                <a:gd name="connsiteY4" fmla="*/ 0 h 123586"/>
                <a:gd name="connsiteX5" fmla="*/ 15179 w 66882"/>
                <a:gd name="connsiteY5" fmla="*/ 7605 h 123586"/>
                <a:gd name="connsiteX6" fmla="*/ 15179 w 66882"/>
                <a:gd name="connsiteY6" fmla="*/ 58941 h 123586"/>
                <a:gd name="connsiteX7" fmla="*/ 64511 w 66882"/>
                <a:gd name="connsiteY7" fmla="*/ 110277 h 123586"/>
                <a:gd name="connsiteX8" fmla="*/ 64511 w 66882"/>
                <a:gd name="connsiteY8" fmla="*/ 121685 h 123586"/>
                <a:gd name="connsiteX9" fmla="*/ 59451 w 66882"/>
                <a:gd name="connsiteY9" fmla="*/ 123587 h 123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2" h="123586">
                  <a:moveTo>
                    <a:pt x="59451" y="123587"/>
                  </a:moveTo>
                  <a:cubicBezTo>
                    <a:pt x="57554" y="123587"/>
                    <a:pt x="55024" y="122953"/>
                    <a:pt x="53759" y="121052"/>
                  </a:cubicBezTo>
                  <a:lnTo>
                    <a:pt x="0" y="65279"/>
                  </a:lnTo>
                  <a:lnTo>
                    <a:pt x="0" y="7605"/>
                  </a:lnTo>
                  <a:cubicBezTo>
                    <a:pt x="0" y="3169"/>
                    <a:pt x="3795" y="0"/>
                    <a:pt x="7590" y="0"/>
                  </a:cubicBezTo>
                  <a:cubicBezTo>
                    <a:pt x="11384" y="0"/>
                    <a:pt x="15179" y="3803"/>
                    <a:pt x="15179" y="7605"/>
                  </a:cubicBezTo>
                  <a:lnTo>
                    <a:pt x="15179" y="58941"/>
                  </a:lnTo>
                  <a:lnTo>
                    <a:pt x="64511" y="110277"/>
                  </a:lnTo>
                  <a:cubicBezTo>
                    <a:pt x="67673" y="113446"/>
                    <a:pt x="67673" y="118517"/>
                    <a:pt x="64511" y="121685"/>
                  </a:cubicBezTo>
                  <a:cubicBezTo>
                    <a:pt x="63246" y="122319"/>
                    <a:pt x="61349" y="123587"/>
                    <a:pt x="59451" y="123587"/>
                  </a:cubicBezTo>
                  <a:close/>
                </a:path>
              </a:pathLst>
            </a:custGeom>
            <a:grpFill/>
            <a:ln w="6271" cap="flat">
              <a:noFill/>
              <a:prstDash val="solid"/>
              <a:miter/>
            </a:ln>
          </p:spPr>
          <p:txBody>
            <a:bodyPr rtlCol="0" anchor="ctr"/>
            <a:lstStyle/>
            <a:p>
              <a:endParaRPr lang="en-US"/>
            </a:p>
          </p:txBody>
        </p:sp>
        <p:sp>
          <p:nvSpPr>
            <p:cNvPr id="117" name="Picture Placeholder 111">
              <a:extLst>
                <a:ext uri="{FF2B5EF4-FFF2-40B4-BE49-F238E27FC236}">
                  <a16:creationId xmlns:a16="http://schemas.microsoft.com/office/drawing/2014/main" id="{B6389468-F38B-80F9-DC98-A92AD9F960DF}"/>
                </a:ext>
              </a:extLst>
            </p:cNvPr>
            <p:cNvSpPr/>
            <p:nvPr/>
          </p:nvSpPr>
          <p:spPr>
            <a:xfrm>
              <a:off x="8537291" y="3271476"/>
              <a:ext cx="411098" cy="411955"/>
            </a:xfrm>
            <a:custGeom>
              <a:avLst/>
              <a:gdLst>
                <a:gd name="connsiteX0" fmla="*/ 214404 w 411098"/>
                <a:gd name="connsiteY0" fmla="*/ 411956 h 411955"/>
                <a:gd name="connsiteX1" fmla="*/ 213771 w 411098"/>
                <a:gd name="connsiteY1" fmla="*/ 396111 h 411955"/>
                <a:gd name="connsiteX2" fmla="*/ 228951 w 411098"/>
                <a:gd name="connsiteY2" fmla="*/ 394844 h 411955"/>
                <a:gd name="connsiteX3" fmla="*/ 230848 w 411098"/>
                <a:gd name="connsiteY3" fmla="*/ 410688 h 411955"/>
                <a:gd name="connsiteX4" fmla="*/ 214404 w 411098"/>
                <a:gd name="connsiteY4" fmla="*/ 411956 h 411955"/>
                <a:gd name="connsiteX5" fmla="*/ 181516 w 411098"/>
                <a:gd name="connsiteY5" fmla="*/ 410688 h 411955"/>
                <a:gd name="connsiteX6" fmla="*/ 165072 w 411098"/>
                <a:gd name="connsiteY6" fmla="*/ 408153 h 411955"/>
                <a:gd name="connsiteX7" fmla="*/ 168234 w 411098"/>
                <a:gd name="connsiteY7" fmla="*/ 392309 h 411955"/>
                <a:gd name="connsiteX8" fmla="*/ 183413 w 411098"/>
                <a:gd name="connsiteY8" fmla="*/ 394844 h 411955"/>
                <a:gd name="connsiteX9" fmla="*/ 181516 w 411098"/>
                <a:gd name="connsiteY9" fmla="*/ 410688 h 411955"/>
                <a:gd name="connsiteX10" fmla="*/ 263103 w 411098"/>
                <a:gd name="connsiteY10" fmla="*/ 403717 h 411955"/>
                <a:gd name="connsiteX11" fmla="*/ 258676 w 411098"/>
                <a:gd name="connsiteY11" fmla="*/ 388506 h 411955"/>
                <a:gd name="connsiteX12" fmla="*/ 273223 w 411098"/>
                <a:gd name="connsiteY12" fmla="*/ 383436 h 411955"/>
                <a:gd name="connsiteX13" fmla="*/ 278915 w 411098"/>
                <a:gd name="connsiteY13" fmla="*/ 398013 h 411955"/>
                <a:gd name="connsiteX14" fmla="*/ 263103 w 411098"/>
                <a:gd name="connsiteY14" fmla="*/ 403717 h 411955"/>
                <a:gd name="connsiteX15" fmla="*/ 132817 w 411098"/>
                <a:gd name="connsiteY15" fmla="*/ 398647 h 411955"/>
                <a:gd name="connsiteX16" fmla="*/ 117638 w 411098"/>
                <a:gd name="connsiteY16" fmla="*/ 392309 h 411955"/>
                <a:gd name="connsiteX17" fmla="*/ 124595 w 411098"/>
                <a:gd name="connsiteY17" fmla="*/ 377732 h 411955"/>
                <a:gd name="connsiteX18" fmla="*/ 138509 w 411098"/>
                <a:gd name="connsiteY18" fmla="*/ 383436 h 411955"/>
                <a:gd name="connsiteX19" fmla="*/ 132817 w 411098"/>
                <a:gd name="connsiteY19" fmla="*/ 398647 h 411955"/>
                <a:gd name="connsiteX20" fmla="*/ 308640 w 411098"/>
                <a:gd name="connsiteY20" fmla="*/ 384703 h 411955"/>
                <a:gd name="connsiteX21" fmla="*/ 300418 w 411098"/>
                <a:gd name="connsiteY21" fmla="*/ 370760 h 411955"/>
                <a:gd name="connsiteX22" fmla="*/ 313068 w 411098"/>
                <a:gd name="connsiteY22" fmla="*/ 362521 h 411955"/>
                <a:gd name="connsiteX23" fmla="*/ 321922 w 411098"/>
                <a:gd name="connsiteY23" fmla="*/ 375831 h 411955"/>
                <a:gd name="connsiteX24" fmla="*/ 308640 w 411098"/>
                <a:gd name="connsiteY24" fmla="*/ 384703 h 411955"/>
                <a:gd name="connsiteX25" fmla="*/ 89177 w 411098"/>
                <a:gd name="connsiteY25" fmla="*/ 375831 h 411955"/>
                <a:gd name="connsiteX26" fmla="*/ 75895 w 411098"/>
                <a:gd name="connsiteY26" fmla="*/ 365690 h 411955"/>
                <a:gd name="connsiteX27" fmla="*/ 86015 w 411098"/>
                <a:gd name="connsiteY27" fmla="*/ 353648 h 411955"/>
                <a:gd name="connsiteX28" fmla="*/ 98031 w 411098"/>
                <a:gd name="connsiteY28" fmla="*/ 362521 h 411955"/>
                <a:gd name="connsiteX29" fmla="*/ 89177 w 411098"/>
                <a:gd name="connsiteY29" fmla="*/ 375831 h 411955"/>
                <a:gd name="connsiteX30" fmla="*/ 348485 w 411098"/>
                <a:gd name="connsiteY30" fmla="*/ 354282 h 411955"/>
                <a:gd name="connsiteX31" fmla="*/ 337101 w 411098"/>
                <a:gd name="connsiteY31" fmla="*/ 342874 h 411955"/>
                <a:gd name="connsiteX32" fmla="*/ 347853 w 411098"/>
                <a:gd name="connsiteY32" fmla="*/ 332100 h 411955"/>
                <a:gd name="connsiteX33" fmla="*/ 359870 w 411098"/>
                <a:gd name="connsiteY33" fmla="*/ 342874 h 411955"/>
                <a:gd name="connsiteX34" fmla="*/ 348485 w 411098"/>
                <a:gd name="connsiteY34" fmla="*/ 354282 h 411955"/>
                <a:gd name="connsiteX35" fmla="*/ 51862 w 411098"/>
                <a:gd name="connsiteY35" fmla="*/ 342874 h 411955"/>
                <a:gd name="connsiteX36" fmla="*/ 41110 w 411098"/>
                <a:gd name="connsiteY36" fmla="*/ 330198 h 411955"/>
                <a:gd name="connsiteX37" fmla="*/ 53759 w 411098"/>
                <a:gd name="connsiteY37" fmla="*/ 320692 h 411955"/>
                <a:gd name="connsiteX38" fmla="*/ 63246 w 411098"/>
                <a:gd name="connsiteY38" fmla="*/ 332734 h 411955"/>
                <a:gd name="connsiteX39" fmla="*/ 51862 w 411098"/>
                <a:gd name="connsiteY39" fmla="*/ 342874 h 411955"/>
                <a:gd name="connsiteX40" fmla="*/ 379476 w 411098"/>
                <a:gd name="connsiteY40" fmla="*/ 316255 h 411955"/>
                <a:gd name="connsiteX41" fmla="*/ 366194 w 411098"/>
                <a:gd name="connsiteY41" fmla="*/ 308016 h 411955"/>
                <a:gd name="connsiteX42" fmla="*/ 373784 w 411098"/>
                <a:gd name="connsiteY42" fmla="*/ 294707 h 411955"/>
                <a:gd name="connsiteX43" fmla="*/ 387698 w 411098"/>
                <a:gd name="connsiteY43" fmla="*/ 302312 h 411955"/>
                <a:gd name="connsiteX44" fmla="*/ 379476 w 411098"/>
                <a:gd name="connsiteY44" fmla="*/ 316255 h 411955"/>
                <a:gd name="connsiteX45" fmla="*/ 24033 w 411098"/>
                <a:gd name="connsiteY45" fmla="*/ 302312 h 411955"/>
                <a:gd name="connsiteX46" fmla="*/ 17076 w 411098"/>
                <a:gd name="connsiteY46" fmla="*/ 287102 h 411955"/>
                <a:gd name="connsiteX47" fmla="*/ 31623 w 411098"/>
                <a:gd name="connsiteY47" fmla="*/ 280764 h 411955"/>
                <a:gd name="connsiteX48" fmla="*/ 37948 w 411098"/>
                <a:gd name="connsiteY48" fmla="*/ 294707 h 411955"/>
                <a:gd name="connsiteX49" fmla="*/ 24033 w 411098"/>
                <a:gd name="connsiteY49" fmla="*/ 302312 h 411955"/>
                <a:gd name="connsiteX50" fmla="*/ 400980 w 411098"/>
                <a:gd name="connsiteY50" fmla="*/ 271257 h 411955"/>
                <a:gd name="connsiteX51" fmla="*/ 385801 w 411098"/>
                <a:gd name="connsiteY51" fmla="*/ 266187 h 411955"/>
                <a:gd name="connsiteX52" fmla="*/ 390228 w 411098"/>
                <a:gd name="connsiteY52" fmla="*/ 251610 h 411955"/>
                <a:gd name="connsiteX53" fmla="*/ 405407 w 411098"/>
                <a:gd name="connsiteY53" fmla="*/ 255413 h 411955"/>
                <a:gd name="connsiteX54" fmla="*/ 400980 w 411098"/>
                <a:gd name="connsiteY54" fmla="*/ 271257 h 411955"/>
                <a:gd name="connsiteX55" fmla="*/ 6325 w 411098"/>
                <a:gd name="connsiteY55" fmla="*/ 256046 h 411955"/>
                <a:gd name="connsiteX56" fmla="*/ 3162 w 411098"/>
                <a:gd name="connsiteY56" fmla="*/ 239568 h 411955"/>
                <a:gd name="connsiteX57" fmla="*/ 18974 w 411098"/>
                <a:gd name="connsiteY57" fmla="*/ 237033 h 411955"/>
                <a:gd name="connsiteX58" fmla="*/ 22136 w 411098"/>
                <a:gd name="connsiteY58" fmla="*/ 252244 h 411955"/>
                <a:gd name="connsiteX59" fmla="*/ 6325 w 411098"/>
                <a:gd name="connsiteY59" fmla="*/ 256046 h 411955"/>
                <a:gd name="connsiteX60" fmla="*/ 410467 w 411098"/>
                <a:gd name="connsiteY60" fmla="*/ 222456 h 411955"/>
                <a:gd name="connsiteX61" fmla="*/ 394655 w 411098"/>
                <a:gd name="connsiteY61" fmla="*/ 221189 h 411955"/>
                <a:gd name="connsiteX62" fmla="*/ 395287 w 411098"/>
                <a:gd name="connsiteY62" fmla="*/ 205978 h 411955"/>
                <a:gd name="connsiteX63" fmla="*/ 395287 w 411098"/>
                <a:gd name="connsiteY63" fmla="*/ 205344 h 411955"/>
                <a:gd name="connsiteX64" fmla="*/ 411099 w 411098"/>
                <a:gd name="connsiteY64" fmla="*/ 205344 h 411955"/>
                <a:gd name="connsiteX65" fmla="*/ 411099 w 411098"/>
                <a:gd name="connsiteY65" fmla="*/ 205978 h 411955"/>
                <a:gd name="connsiteX66" fmla="*/ 410467 w 411098"/>
                <a:gd name="connsiteY66" fmla="*/ 222456 h 411955"/>
                <a:gd name="connsiteX67" fmla="*/ 0 w 411098"/>
                <a:gd name="connsiteY67" fmla="*/ 206612 h 411955"/>
                <a:gd name="connsiteX68" fmla="*/ 0 w 411098"/>
                <a:gd name="connsiteY68" fmla="*/ 206612 h 411955"/>
                <a:gd name="connsiteX69" fmla="*/ 632 w 411098"/>
                <a:gd name="connsiteY69" fmla="*/ 190133 h 411955"/>
                <a:gd name="connsiteX70" fmla="*/ 16444 w 411098"/>
                <a:gd name="connsiteY70" fmla="*/ 191401 h 411955"/>
                <a:gd name="connsiteX71" fmla="*/ 15812 w 411098"/>
                <a:gd name="connsiteY71" fmla="*/ 206612 h 411955"/>
                <a:gd name="connsiteX72" fmla="*/ 0 w 411098"/>
                <a:gd name="connsiteY72" fmla="*/ 206612 h 411955"/>
                <a:gd name="connsiteX73" fmla="*/ 392758 w 411098"/>
                <a:gd name="connsiteY73" fmla="*/ 174923 h 411955"/>
                <a:gd name="connsiteX74" fmla="*/ 389595 w 411098"/>
                <a:gd name="connsiteY74" fmla="*/ 159712 h 411955"/>
                <a:gd name="connsiteX75" fmla="*/ 404774 w 411098"/>
                <a:gd name="connsiteY75" fmla="*/ 155909 h 411955"/>
                <a:gd name="connsiteX76" fmla="*/ 407937 w 411098"/>
                <a:gd name="connsiteY76" fmla="*/ 172388 h 411955"/>
                <a:gd name="connsiteX77" fmla="*/ 392758 w 411098"/>
                <a:gd name="connsiteY77" fmla="*/ 174923 h 411955"/>
                <a:gd name="connsiteX78" fmla="*/ 21504 w 411098"/>
                <a:gd name="connsiteY78" fmla="*/ 160980 h 411955"/>
                <a:gd name="connsiteX79" fmla="*/ 6325 w 411098"/>
                <a:gd name="connsiteY79" fmla="*/ 157177 h 411955"/>
                <a:gd name="connsiteX80" fmla="*/ 10752 w 411098"/>
                <a:gd name="connsiteY80" fmla="*/ 141333 h 411955"/>
                <a:gd name="connsiteX81" fmla="*/ 25931 w 411098"/>
                <a:gd name="connsiteY81" fmla="*/ 146403 h 411955"/>
                <a:gd name="connsiteX82" fmla="*/ 21504 w 411098"/>
                <a:gd name="connsiteY82" fmla="*/ 160980 h 411955"/>
                <a:gd name="connsiteX83" fmla="*/ 380108 w 411098"/>
                <a:gd name="connsiteY83" fmla="*/ 131192 h 411955"/>
                <a:gd name="connsiteX84" fmla="*/ 373784 w 411098"/>
                <a:gd name="connsiteY84" fmla="*/ 117249 h 411955"/>
                <a:gd name="connsiteX85" fmla="*/ 387698 w 411098"/>
                <a:gd name="connsiteY85" fmla="*/ 109644 h 411955"/>
                <a:gd name="connsiteX86" fmla="*/ 394655 w 411098"/>
                <a:gd name="connsiteY86" fmla="*/ 124854 h 411955"/>
                <a:gd name="connsiteX87" fmla="*/ 380108 w 411098"/>
                <a:gd name="connsiteY87" fmla="*/ 131192 h 411955"/>
                <a:gd name="connsiteX88" fmla="*/ 37315 w 411098"/>
                <a:gd name="connsiteY88" fmla="*/ 117883 h 411955"/>
                <a:gd name="connsiteX89" fmla="*/ 23401 w 411098"/>
                <a:gd name="connsiteY89" fmla="*/ 110277 h 411955"/>
                <a:gd name="connsiteX90" fmla="*/ 31623 w 411098"/>
                <a:gd name="connsiteY90" fmla="*/ 95701 h 411955"/>
                <a:gd name="connsiteX91" fmla="*/ 44905 w 411098"/>
                <a:gd name="connsiteY91" fmla="*/ 103940 h 411955"/>
                <a:gd name="connsiteX92" fmla="*/ 37315 w 411098"/>
                <a:gd name="connsiteY92" fmla="*/ 117883 h 411955"/>
                <a:gd name="connsiteX93" fmla="*/ 357340 w 411098"/>
                <a:gd name="connsiteY93" fmla="*/ 91264 h 411955"/>
                <a:gd name="connsiteX94" fmla="*/ 347853 w 411098"/>
                <a:gd name="connsiteY94" fmla="*/ 79222 h 411955"/>
                <a:gd name="connsiteX95" fmla="*/ 359870 w 411098"/>
                <a:gd name="connsiteY95" fmla="*/ 68448 h 411955"/>
                <a:gd name="connsiteX96" fmla="*/ 370622 w 411098"/>
                <a:gd name="connsiteY96" fmla="*/ 81124 h 411955"/>
                <a:gd name="connsiteX97" fmla="*/ 357340 w 411098"/>
                <a:gd name="connsiteY97" fmla="*/ 91264 h 411955"/>
                <a:gd name="connsiteX98" fmla="*/ 63246 w 411098"/>
                <a:gd name="connsiteY98" fmla="*/ 80490 h 411955"/>
                <a:gd name="connsiteX99" fmla="*/ 51229 w 411098"/>
                <a:gd name="connsiteY99" fmla="*/ 69716 h 411955"/>
                <a:gd name="connsiteX100" fmla="*/ 62614 w 411098"/>
                <a:gd name="connsiteY100" fmla="*/ 57674 h 411955"/>
                <a:gd name="connsiteX101" fmla="*/ 73365 w 411098"/>
                <a:gd name="connsiteY101" fmla="*/ 69082 h 411955"/>
                <a:gd name="connsiteX102" fmla="*/ 63246 w 411098"/>
                <a:gd name="connsiteY102" fmla="*/ 80490 h 411955"/>
                <a:gd name="connsiteX103" fmla="*/ 325084 w 411098"/>
                <a:gd name="connsiteY103" fmla="*/ 58308 h 411955"/>
                <a:gd name="connsiteX104" fmla="*/ 313068 w 411098"/>
                <a:gd name="connsiteY104" fmla="*/ 49435 h 411955"/>
                <a:gd name="connsiteX105" fmla="*/ 321922 w 411098"/>
                <a:gd name="connsiteY105" fmla="*/ 36125 h 411955"/>
                <a:gd name="connsiteX106" fmla="*/ 335204 w 411098"/>
                <a:gd name="connsiteY106" fmla="*/ 46266 h 411955"/>
                <a:gd name="connsiteX107" fmla="*/ 325084 w 411098"/>
                <a:gd name="connsiteY107" fmla="*/ 58308 h 411955"/>
                <a:gd name="connsiteX108" fmla="*/ 97399 w 411098"/>
                <a:gd name="connsiteY108" fmla="*/ 50068 h 411955"/>
                <a:gd name="connsiteX109" fmla="*/ 88544 w 411098"/>
                <a:gd name="connsiteY109" fmla="*/ 36759 h 411955"/>
                <a:gd name="connsiteX110" fmla="*/ 102459 w 411098"/>
                <a:gd name="connsiteY110" fmla="*/ 27886 h 411955"/>
                <a:gd name="connsiteX111" fmla="*/ 110681 w 411098"/>
                <a:gd name="connsiteY111" fmla="*/ 41829 h 411955"/>
                <a:gd name="connsiteX112" fmla="*/ 97399 w 411098"/>
                <a:gd name="connsiteY112" fmla="*/ 50068 h 411955"/>
                <a:gd name="connsiteX113" fmla="*/ 286504 w 411098"/>
                <a:gd name="connsiteY113" fmla="*/ 34224 h 411955"/>
                <a:gd name="connsiteX114" fmla="*/ 272590 w 411098"/>
                <a:gd name="connsiteY114" fmla="*/ 28520 h 411955"/>
                <a:gd name="connsiteX115" fmla="*/ 278282 w 411098"/>
                <a:gd name="connsiteY115" fmla="*/ 13943 h 411955"/>
                <a:gd name="connsiteX116" fmla="*/ 293461 w 411098"/>
                <a:gd name="connsiteY116" fmla="*/ 20281 h 411955"/>
                <a:gd name="connsiteX117" fmla="*/ 286504 w 411098"/>
                <a:gd name="connsiteY117" fmla="*/ 34224 h 411955"/>
                <a:gd name="connsiteX118" fmla="*/ 137876 w 411098"/>
                <a:gd name="connsiteY118" fmla="*/ 28520 h 411955"/>
                <a:gd name="connsiteX119" fmla="*/ 132184 w 411098"/>
                <a:gd name="connsiteY119" fmla="*/ 13943 h 411955"/>
                <a:gd name="connsiteX120" fmla="*/ 147996 w 411098"/>
                <a:gd name="connsiteY120" fmla="*/ 8873 h 411955"/>
                <a:gd name="connsiteX121" fmla="*/ 152423 w 411098"/>
                <a:gd name="connsiteY121" fmla="*/ 24084 h 411955"/>
                <a:gd name="connsiteX122" fmla="*/ 137876 w 411098"/>
                <a:gd name="connsiteY122" fmla="*/ 28520 h 411955"/>
                <a:gd name="connsiteX123" fmla="*/ 242865 w 411098"/>
                <a:gd name="connsiteY123" fmla="*/ 19647 h 411955"/>
                <a:gd name="connsiteX124" fmla="*/ 227686 w 411098"/>
                <a:gd name="connsiteY124" fmla="*/ 17112 h 411955"/>
                <a:gd name="connsiteX125" fmla="*/ 229583 w 411098"/>
                <a:gd name="connsiteY125" fmla="*/ 1268 h 411955"/>
                <a:gd name="connsiteX126" fmla="*/ 246027 w 411098"/>
                <a:gd name="connsiteY126" fmla="*/ 3803 h 411955"/>
                <a:gd name="connsiteX127" fmla="*/ 242865 w 411098"/>
                <a:gd name="connsiteY127" fmla="*/ 19647 h 411955"/>
                <a:gd name="connsiteX128" fmla="*/ 182148 w 411098"/>
                <a:gd name="connsiteY128" fmla="*/ 17112 h 411955"/>
                <a:gd name="connsiteX129" fmla="*/ 180251 w 411098"/>
                <a:gd name="connsiteY129" fmla="*/ 1268 h 411955"/>
                <a:gd name="connsiteX130" fmla="*/ 196695 w 411098"/>
                <a:gd name="connsiteY130" fmla="*/ 0 h 411955"/>
                <a:gd name="connsiteX131" fmla="*/ 197328 w 411098"/>
                <a:gd name="connsiteY131" fmla="*/ 15844 h 411955"/>
                <a:gd name="connsiteX132" fmla="*/ 182148 w 411098"/>
                <a:gd name="connsiteY132" fmla="*/ 17112 h 41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411098" h="411955">
                  <a:moveTo>
                    <a:pt x="214404" y="411956"/>
                  </a:moveTo>
                  <a:lnTo>
                    <a:pt x="213771" y="396111"/>
                  </a:lnTo>
                  <a:cubicBezTo>
                    <a:pt x="218831" y="396111"/>
                    <a:pt x="223891" y="395478"/>
                    <a:pt x="228951" y="394844"/>
                  </a:cubicBezTo>
                  <a:lnTo>
                    <a:pt x="230848" y="410688"/>
                  </a:lnTo>
                  <a:cubicBezTo>
                    <a:pt x="225156" y="411322"/>
                    <a:pt x="220096" y="411956"/>
                    <a:pt x="214404" y="411956"/>
                  </a:cubicBezTo>
                  <a:close/>
                  <a:moveTo>
                    <a:pt x="181516" y="410688"/>
                  </a:moveTo>
                  <a:cubicBezTo>
                    <a:pt x="175824" y="410055"/>
                    <a:pt x="170764" y="409421"/>
                    <a:pt x="165072" y="408153"/>
                  </a:cubicBezTo>
                  <a:lnTo>
                    <a:pt x="168234" y="392309"/>
                  </a:lnTo>
                  <a:cubicBezTo>
                    <a:pt x="173294" y="393576"/>
                    <a:pt x="178354" y="394210"/>
                    <a:pt x="183413" y="394844"/>
                  </a:cubicBezTo>
                  <a:lnTo>
                    <a:pt x="181516" y="410688"/>
                  </a:lnTo>
                  <a:close/>
                  <a:moveTo>
                    <a:pt x="263103" y="403717"/>
                  </a:moveTo>
                  <a:lnTo>
                    <a:pt x="258676" y="388506"/>
                  </a:lnTo>
                  <a:cubicBezTo>
                    <a:pt x="263736" y="387239"/>
                    <a:pt x="268163" y="385337"/>
                    <a:pt x="273223" y="383436"/>
                  </a:cubicBezTo>
                  <a:lnTo>
                    <a:pt x="278915" y="398013"/>
                  </a:lnTo>
                  <a:cubicBezTo>
                    <a:pt x="273855" y="400548"/>
                    <a:pt x="268163" y="402449"/>
                    <a:pt x="263103" y="403717"/>
                  </a:cubicBezTo>
                  <a:close/>
                  <a:moveTo>
                    <a:pt x="132817" y="398647"/>
                  </a:moveTo>
                  <a:cubicBezTo>
                    <a:pt x="127757" y="396745"/>
                    <a:pt x="122697" y="394844"/>
                    <a:pt x="117638" y="392309"/>
                  </a:cubicBezTo>
                  <a:lnTo>
                    <a:pt x="124595" y="377732"/>
                  </a:lnTo>
                  <a:cubicBezTo>
                    <a:pt x="129022" y="379633"/>
                    <a:pt x="134082" y="382168"/>
                    <a:pt x="138509" y="383436"/>
                  </a:cubicBezTo>
                  <a:lnTo>
                    <a:pt x="132817" y="398647"/>
                  </a:lnTo>
                  <a:close/>
                  <a:moveTo>
                    <a:pt x="308640" y="384703"/>
                  </a:moveTo>
                  <a:lnTo>
                    <a:pt x="300418" y="370760"/>
                  </a:lnTo>
                  <a:cubicBezTo>
                    <a:pt x="304846" y="368225"/>
                    <a:pt x="309273" y="365690"/>
                    <a:pt x="313068" y="362521"/>
                  </a:cubicBezTo>
                  <a:lnTo>
                    <a:pt x="321922" y="375831"/>
                  </a:lnTo>
                  <a:cubicBezTo>
                    <a:pt x="318127" y="378366"/>
                    <a:pt x="313700" y="381535"/>
                    <a:pt x="308640" y="384703"/>
                  </a:cubicBezTo>
                  <a:close/>
                  <a:moveTo>
                    <a:pt x="89177" y="375831"/>
                  </a:moveTo>
                  <a:cubicBezTo>
                    <a:pt x="84750" y="372662"/>
                    <a:pt x="80322" y="369493"/>
                    <a:pt x="75895" y="365690"/>
                  </a:cubicBezTo>
                  <a:lnTo>
                    <a:pt x="86015" y="353648"/>
                  </a:lnTo>
                  <a:cubicBezTo>
                    <a:pt x="89809" y="356817"/>
                    <a:pt x="94237" y="359986"/>
                    <a:pt x="98031" y="362521"/>
                  </a:cubicBezTo>
                  <a:lnTo>
                    <a:pt x="89177" y="375831"/>
                  </a:lnTo>
                  <a:close/>
                  <a:moveTo>
                    <a:pt x="348485" y="354282"/>
                  </a:moveTo>
                  <a:lnTo>
                    <a:pt x="337101" y="342874"/>
                  </a:lnTo>
                  <a:cubicBezTo>
                    <a:pt x="340896" y="339071"/>
                    <a:pt x="344058" y="335903"/>
                    <a:pt x="347853" y="332100"/>
                  </a:cubicBezTo>
                  <a:lnTo>
                    <a:pt x="359870" y="342874"/>
                  </a:lnTo>
                  <a:cubicBezTo>
                    <a:pt x="356075" y="346677"/>
                    <a:pt x="352280" y="350479"/>
                    <a:pt x="348485" y="354282"/>
                  </a:cubicBezTo>
                  <a:close/>
                  <a:moveTo>
                    <a:pt x="51862" y="342874"/>
                  </a:moveTo>
                  <a:cubicBezTo>
                    <a:pt x="48067" y="338438"/>
                    <a:pt x="44905" y="334635"/>
                    <a:pt x="41110" y="330198"/>
                  </a:cubicBezTo>
                  <a:lnTo>
                    <a:pt x="53759" y="320692"/>
                  </a:lnTo>
                  <a:cubicBezTo>
                    <a:pt x="56921" y="324494"/>
                    <a:pt x="60084" y="328931"/>
                    <a:pt x="63246" y="332734"/>
                  </a:cubicBezTo>
                  <a:lnTo>
                    <a:pt x="51862" y="342874"/>
                  </a:lnTo>
                  <a:close/>
                  <a:moveTo>
                    <a:pt x="379476" y="316255"/>
                  </a:moveTo>
                  <a:lnTo>
                    <a:pt x="366194" y="308016"/>
                  </a:lnTo>
                  <a:cubicBezTo>
                    <a:pt x="368724" y="303580"/>
                    <a:pt x="371254" y="299143"/>
                    <a:pt x="373784" y="294707"/>
                  </a:cubicBezTo>
                  <a:lnTo>
                    <a:pt x="387698" y="302312"/>
                  </a:lnTo>
                  <a:cubicBezTo>
                    <a:pt x="385168" y="306749"/>
                    <a:pt x="382638" y="311185"/>
                    <a:pt x="379476" y="316255"/>
                  </a:cubicBezTo>
                  <a:close/>
                  <a:moveTo>
                    <a:pt x="24033" y="302312"/>
                  </a:moveTo>
                  <a:cubicBezTo>
                    <a:pt x="21504" y="297242"/>
                    <a:pt x="18974" y="292172"/>
                    <a:pt x="17076" y="287102"/>
                  </a:cubicBezTo>
                  <a:lnTo>
                    <a:pt x="31623" y="280764"/>
                  </a:lnTo>
                  <a:cubicBezTo>
                    <a:pt x="33520" y="285200"/>
                    <a:pt x="36050" y="290270"/>
                    <a:pt x="37948" y="294707"/>
                  </a:cubicBezTo>
                  <a:lnTo>
                    <a:pt x="24033" y="302312"/>
                  </a:lnTo>
                  <a:close/>
                  <a:moveTo>
                    <a:pt x="400980" y="271257"/>
                  </a:moveTo>
                  <a:lnTo>
                    <a:pt x="385801" y="266187"/>
                  </a:lnTo>
                  <a:cubicBezTo>
                    <a:pt x="387698" y="261117"/>
                    <a:pt x="388963" y="256680"/>
                    <a:pt x="390228" y="251610"/>
                  </a:cubicBezTo>
                  <a:lnTo>
                    <a:pt x="405407" y="255413"/>
                  </a:lnTo>
                  <a:cubicBezTo>
                    <a:pt x="404142" y="260483"/>
                    <a:pt x="402245" y="266187"/>
                    <a:pt x="400980" y="271257"/>
                  </a:cubicBezTo>
                  <a:close/>
                  <a:moveTo>
                    <a:pt x="6325" y="256046"/>
                  </a:moveTo>
                  <a:cubicBezTo>
                    <a:pt x="5060" y="250976"/>
                    <a:pt x="3795" y="245272"/>
                    <a:pt x="3162" y="239568"/>
                  </a:cubicBezTo>
                  <a:lnTo>
                    <a:pt x="18974" y="237033"/>
                  </a:lnTo>
                  <a:cubicBezTo>
                    <a:pt x="19606" y="242103"/>
                    <a:pt x="20871" y="247174"/>
                    <a:pt x="22136" y="252244"/>
                  </a:cubicBezTo>
                  <a:lnTo>
                    <a:pt x="6325" y="256046"/>
                  </a:lnTo>
                  <a:close/>
                  <a:moveTo>
                    <a:pt x="410467" y="222456"/>
                  </a:moveTo>
                  <a:lnTo>
                    <a:pt x="394655" y="221189"/>
                  </a:lnTo>
                  <a:cubicBezTo>
                    <a:pt x="395287" y="216118"/>
                    <a:pt x="395287" y="211048"/>
                    <a:pt x="395287" y="205978"/>
                  </a:cubicBezTo>
                  <a:lnTo>
                    <a:pt x="395287" y="205344"/>
                  </a:lnTo>
                  <a:lnTo>
                    <a:pt x="411099" y="205344"/>
                  </a:lnTo>
                  <a:lnTo>
                    <a:pt x="411099" y="205978"/>
                  </a:lnTo>
                  <a:cubicBezTo>
                    <a:pt x="411099" y="211682"/>
                    <a:pt x="411099" y="217386"/>
                    <a:pt x="410467" y="222456"/>
                  </a:cubicBezTo>
                  <a:close/>
                  <a:moveTo>
                    <a:pt x="0" y="206612"/>
                  </a:moveTo>
                  <a:lnTo>
                    <a:pt x="0" y="206612"/>
                  </a:lnTo>
                  <a:cubicBezTo>
                    <a:pt x="0" y="200908"/>
                    <a:pt x="0" y="195204"/>
                    <a:pt x="632" y="190133"/>
                  </a:cubicBezTo>
                  <a:lnTo>
                    <a:pt x="16444" y="191401"/>
                  </a:lnTo>
                  <a:cubicBezTo>
                    <a:pt x="15812" y="196471"/>
                    <a:pt x="15812" y="201542"/>
                    <a:pt x="15812" y="206612"/>
                  </a:cubicBezTo>
                  <a:lnTo>
                    <a:pt x="0" y="206612"/>
                  </a:lnTo>
                  <a:close/>
                  <a:moveTo>
                    <a:pt x="392758" y="174923"/>
                  </a:moveTo>
                  <a:cubicBezTo>
                    <a:pt x="392125" y="169853"/>
                    <a:pt x="390860" y="164782"/>
                    <a:pt x="389595" y="159712"/>
                  </a:cubicBezTo>
                  <a:lnTo>
                    <a:pt x="404774" y="155909"/>
                  </a:lnTo>
                  <a:cubicBezTo>
                    <a:pt x="406039" y="160980"/>
                    <a:pt x="407304" y="166684"/>
                    <a:pt x="407937" y="172388"/>
                  </a:cubicBezTo>
                  <a:lnTo>
                    <a:pt x="392758" y="174923"/>
                  </a:lnTo>
                  <a:close/>
                  <a:moveTo>
                    <a:pt x="21504" y="160980"/>
                  </a:moveTo>
                  <a:lnTo>
                    <a:pt x="6325" y="157177"/>
                  </a:lnTo>
                  <a:cubicBezTo>
                    <a:pt x="7590" y="152107"/>
                    <a:pt x="8854" y="146403"/>
                    <a:pt x="10752" y="141333"/>
                  </a:cubicBezTo>
                  <a:lnTo>
                    <a:pt x="25931" y="146403"/>
                  </a:lnTo>
                  <a:cubicBezTo>
                    <a:pt x="24033" y="150839"/>
                    <a:pt x="22769" y="155909"/>
                    <a:pt x="21504" y="160980"/>
                  </a:cubicBezTo>
                  <a:close/>
                  <a:moveTo>
                    <a:pt x="380108" y="131192"/>
                  </a:moveTo>
                  <a:cubicBezTo>
                    <a:pt x="378211" y="126756"/>
                    <a:pt x="375681" y="121685"/>
                    <a:pt x="373784" y="117249"/>
                  </a:cubicBezTo>
                  <a:lnTo>
                    <a:pt x="387698" y="109644"/>
                  </a:lnTo>
                  <a:cubicBezTo>
                    <a:pt x="390228" y="114714"/>
                    <a:pt x="392758" y="119784"/>
                    <a:pt x="394655" y="124854"/>
                  </a:cubicBezTo>
                  <a:lnTo>
                    <a:pt x="380108" y="131192"/>
                  </a:lnTo>
                  <a:close/>
                  <a:moveTo>
                    <a:pt x="37315" y="117883"/>
                  </a:moveTo>
                  <a:lnTo>
                    <a:pt x="23401" y="110277"/>
                  </a:lnTo>
                  <a:cubicBezTo>
                    <a:pt x="25931" y="105207"/>
                    <a:pt x="28461" y="100771"/>
                    <a:pt x="31623" y="95701"/>
                  </a:cubicBezTo>
                  <a:lnTo>
                    <a:pt x="44905" y="103940"/>
                  </a:lnTo>
                  <a:cubicBezTo>
                    <a:pt x="42375" y="109010"/>
                    <a:pt x="39845" y="113446"/>
                    <a:pt x="37315" y="117883"/>
                  </a:cubicBezTo>
                  <a:close/>
                  <a:moveTo>
                    <a:pt x="357340" y="91264"/>
                  </a:moveTo>
                  <a:cubicBezTo>
                    <a:pt x="354178" y="87461"/>
                    <a:pt x="351015" y="83025"/>
                    <a:pt x="347853" y="79222"/>
                  </a:cubicBezTo>
                  <a:lnTo>
                    <a:pt x="359870" y="68448"/>
                  </a:lnTo>
                  <a:cubicBezTo>
                    <a:pt x="363664" y="72251"/>
                    <a:pt x="366827" y="76687"/>
                    <a:pt x="370622" y="81124"/>
                  </a:cubicBezTo>
                  <a:lnTo>
                    <a:pt x="357340" y="91264"/>
                  </a:lnTo>
                  <a:close/>
                  <a:moveTo>
                    <a:pt x="63246" y="80490"/>
                  </a:moveTo>
                  <a:lnTo>
                    <a:pt x="51229" y="69716"/>
                  </a:lnTo>
                  <a:cubicBezTo>
                    <a:pt x="55024" y="65913"/>
                    <a:pt x="58819" y="61476"/>
                    <a:pt x="62614" y="57674"/>
                  </a:cubicBezTo>
                  <a:lnTo>
                    <a:pt x="73365" y="69082"/>
                  </a:lnTo>
                  <a:cubicBezTo>
                    <a:pt x="70203" y="72885"/>
                    <a:pt x="67041" y="76687"/>
                    <a:pt x="63246" y="80490"/>
                  </a:cubicBezTo>
                  <a:close/>
                  <a:moveTo>
                    <a:pt x="325084" y="58308"/>
                  </a:moveTo>
                  <a:cubicBezTo>
                    <a:pt x="321290" y="55139"/>
                    <a:pt x="316862" y="51970"/>
                    <a:pt x="313068" y="49435"/>
                  </a:cubicBezTo>
                  <a:lnTo>
                    <a:pt x="321922" y="36125"/>
                  </a:lnTo>
                  <a:cubicBezTo>
                    <a:pt x="326349" y="39294"/>
                    <a:pt x="330777" y="42463"/>
                    <a:pt x="335204" y="46266"/>
                  </a:cubicBezTo>
                  <a:lnTo>
                    <a:pt x="325084" y="58308"/>
                  </a:lnTo>
                  <a:close/>
                  <a:moveTo>
                    <a:pt x="97399" y="50068"/>
                  </a:moveTo>
                  <a:lnTo>
                    <a:pt x="88544" y="36759"/>
                  </a:lnTo>
                  <a:cubicBezTo>
                    <a:pt x="92972" y="33590"/>
                    <a:pt x="98031" y="30421"/>
                    <a:pt x="102459" y="27886"/>
                  </a:cubicBezTo>
                  <a:lnTo>
                    <a:pt x="110681" y="41829"/>
                  </a:lnTo>
                  <a:cubicBezTo>
                    <a:pt x="106253" y="44364"/>
                    <a:pt x="101826" y="46900"/>
                    <a:pt x="97399" y="50068"/>
                  </a:cubicBezTo>
                  <a:close/>
                  <a:moveTo>
                    <a:pt x="286504" y="34224"/>
                  </a:moveTo>
                  <a:cubicBezTo>
                    <a:pt x="282077" y="32323"/>
                    <a:pt x="277017" y="29788"/>
                    <a:pt x="272590" y="28520"/>
                  </a:cubicBezTo>
                  <a:lnTo>
                    <a:pt x="278282" y="13943"/>
                  </a:lnTo>
                  <a:cubicBezTo>
                    <a:pt x="283342" y="15844"/>
                    <a:pt x="288402" y="17746"/>
                    <a:pt x="293461" y="20281"/>
                  </a:cubicBezTo>
                  <a:lnTo>
                    <a:pt x="286504" y="34224"/>
                  </a:lnTo>
                  <a:close/>
                  <a:moveTo>
                    <a:pt x="137876" y="28520"/>
                  </a:moveTo>
                  <a:lnTo>
                    <a:pt x="132184" y="13943"/>
                  </a:lnTo>
                  <a:cubicBezTo>
                    <a:pt x="137244" y="12042"/>
                    <a:pt x="142304" y="10140"/>
                    <a:pt x="147996" y="8873"/>
                  </a:cubicBezTo>
                  <a:lnTo>
                    <a:pt x="152423" y="24084"/>
                  </a:lnTo>
                  <a:cubicBezTo>
                    <a:pt x="147363" y="24717"/>
                    <a:pt x="142936" y="26619"/>
                    <a:pt x="137876" y="28520"/>
                  </a:cubicBezTo>
                  <a:close/>
                  <a:moveTo>
                    <a:pt x="242865" y="19647"/>
                  </a:moveTo>
                  <a:cubicBezTo>
                    <a:pt x="237805" y="18380"/>
                    <a:pt x="232745" y="17746"/>
                    <a:pt x="227686" y="17112"/>
                  </a:cubicBezTo>
                  <a:lnTo>
                    <a:pt x="229583" y="1268"/>
                  </a:lnTo>
                  <a:cubicBezTo>
                    <a:pt x="235275" y="1901"/>
                    <a:pt x="240335" y="2535"/>
                    <a:pt x="246027" y="3803"/>
                  </a:cubicBezTo>
                  <a:lnTo>
                    <a:pt x="242865" y="19647"/>
                  </a:lnTo>
                  <a:close/>
                  <a:moveTo>
                    <a:pt x="182148" y="17112"/>
                  </a:moveTo>
                  <a:lnTo>
                    <a:pt x="180251" y="1268"/>
                  </a:lnTo>
                  <a:cubicBezTo>
                    <a:pt x="185943" y="634"/>
                    <a:pt x="191003" y="0"/>
                    <a:pt x="196695" y="0"/>
                  </a:cubicBezTo>
                  <a:lnTo>
                    <a:pt x="197328" y="15844"/>
                  </a:lnTo>
                  <a:cubicBezTo>
                    <a:pt x="192268" y="16478"/>
                    <a:pt x="187208" y="17112"/>
                    <a:pt x="182148" y="17112"/>
                  </a:cubicBezTo>
                  <a:close/>
                </a:path>
              </a:pathLst>
            </a:custGeom>
            <a:grpFill/>
            <a:ln w="6271" cap="flat">
              <a:noFill/>
              <a:prstDash val="solid"/>
              <a:miter/>
            </a:ln>
          </p:spPr>
          <p:txBody>
            <a:bodyPr rtlCol="0" anchor="ctr"/>
            <a:lstStyle/>
            <a:p>
              <a:endParaRPr lang="en-US"/>
            </a:p>
          </p:txBody>
        </p:sp>
        <p:sp>
          <p:nvSpPr>
            <p:cNvPr id="118" name="Picture Placeholder 111">
              <a:extLst>
                <a:ext uri="{FF2B5EF4-FFF2-40B4-BE49-F238E27FC236}">
                  <a16:creationId xmlns:a16="http://schemas.microsoft.com/office/drawing/2014/main" id="{7EBA5B49-6FE1-B242-5D2C-EC481725888D}"/>
                </a:ext>
              </a:extLst>
            </p:cNvPr>
            <p:cNvSpPr/>
            <p:nvPr/>
          </p:nvSpPr>
          <p:spPr>
            <a:xfrm>
              <a:off x="8459498" y="3193521"/>
              <a:ext cx="553154" cy="570400"/>
            </a:xfrm>
            <a:custGeom>
              <a:avLst/>
              <a:gdLst>
                <a:gd name="connsiteX0" fmla="*/ 547710 w 553154"/>
                <a:gd name="connsiteY0" fmla="*/ 370127 h 570400"/>
                <a:gd name="connsiteX1" fmla="*/ 537591 w 553154"/>
                <a:gd name="connsiteY1" fmla="*/ 375197 h 570400"/>
                <a:gd name="connsiteX2" fmla="*/ 284607 w 553154"/>
                <a:gd name="connsiteY2" fmla="*/ 553922 h 570400"/>
                <a:gd name="connsiteX3" fmla="*/ 15812 w 553154"/>
                <a:gd name="connsiteY3" fmla="*/ 284566 h 570400"/>
                <a:gd name="connsiteX4" fmla="*/ 284607 w 553154"/>
                <a:gd name="connsiteY4" fmla="*/ 15211 h 570400"/>
                <a:gd name="connsiteX5" fmla="*/ 510395 w 553154"/>
                <a:gd name="connsiteY5" fmla="*/ 138797 h 570400"/>
                <a:gd name="connsiteX6" fmla="*/ 480670 w 553154"/>
                <a:gd name="connsiteY6" fmla="*/ 148304 h 570400"/>
                <a:gd name="connsiteX7" fmla="*/ 507233 w 553154"/>
                <a:gd name="connsiteY7" fmla="*/ 173021 h 570400"/>
                <a:gd name="connsiteX8" fmla="*/ 533796 w 553154"/>
                <a:gd name="connsiteY8" fmla="*/ 197739 h 570400"/>
                <a:gd name="connsiteX9" fmla="*/ 542018 w 553154"/>
                <a:gd name="connsiteY9" fmla="*/ 162247 h 570400"/>
                <a:gd name="connsiteX10" fmla="*/ 550240 w 553154"/>
                <a:gd name="connsiteY10" fmla="*/ 126756 h 570400"/>
                <a:gd name="connsiteX11" fmla="*/ 526207 w 553154"/>
                <a:gd name="connsiteY11" fmla="*/ 134361 h 570400"/>
                <a:gd name="connsiteX12" fmla="*/ 284607 w 553154"/>
                <a:gd name="connsiteY12" fmla="*/ 0 h 570400"/>
                <a:gd name="connsiteX13" fmla="*/ 0 w 553154"/>
                <a:gd name="connsiteY13" fmla="*/ 285200 h 570400"/>
                <a:gd name="connsiteX14" fmla="*/ 284607 w 553154"/>
                <a:gd name="connsiteY14" fmla="*/ 570400 h 570400"/>
                <a:gd name="connsiteX15" fmla="*/ 552770 w 553154"/>
                <a:gd name="connsiteY15" fmla="*/ 380901 h 570400"/>
                <a:gd name="connsiteX16" fmla="*/ 547710 w 553154"/>
                <a:gd name="connsiteY16" fmla="*/ 370127 h 57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3154" h="570400">
                  <a:moveTo>
                    <a:pt x="547710" y="370127"/>
                  </a:moveTo>
                  <a:cubicBezTo>
                    <a:pt x="543283" y="368859"/>
                    <a:pt x="538856" y="370760"/>
                    <a:pt x="537591" y="375197"/>
                  </a:cubicBezTo>
                  <a:cubicBezTo>
                    <a:pt x="499643" y="482305"/>
                    <a:pt x="397817" y="553922"/>
                    <a:pt x="284607" y="553922"/>
                  </a:cubicBezTo>
                  <a:cubicBezTo>
                    <a:pt x="136611" y="553922"/>
                    <a:pt x="15812" y="432871"/>
                    <a:pt x="15812" y="284566"/>
                  </a:cubicBezTo>
                  <a:cubicBezTo>
                    <a:pt x="15812" y="136262"/>
                    <a:pt x="136611" y="15211"/>
                    <a:pt x="284607" y="15211"/>
                  </a:cubicBezTo>
                  <a:cubicBezTo>
                    <a:pt x="375681" y="15211"/>
                    <a:pt x="461063" y="62110"/>
                    <a:pt x="510395" y="138797"/>
                  </a:cubicBezTo>
                  <a:lnTo>
                    <a:pt x="480670" y="148304"/>
                  </a:lnTo>
                  <a:lnTo>
                    <a:pt x="507233" y="173021"/>
                  </a:lnTo>
                  <a:lnTo>
                    <a:pt x="533796" y="197739"/>
                  </a:lnTo>
                  <a:lnTo>
                    <a:pt x="542018" y="162247"/>
                  </a:lnTo>
                  <a:lnTo>
                    <a:pt x="550240" y="126756"/>
                  </a:lnTo>
                  <a:lnTo>
                    <a:pt x="526207" y="134361"/>
                  </a:lnTo>
                  <a:cubicBezTo>
                    <a:pt x="474345" y="51336"/>
                    <a:pt x="382638" y="0"/>
                    <a:pt x="284607" y="0"/>
                  </a:cubicBezTo>
                  <a:cubicBezTo>
                    <a:pt x="127757" y="0"/>
                    <a:pt x="0" y="128023"/>
                    <a:pt x="0" y="285200"/>
                  </a:cubicBezTo>
                  <a:cubicBezTo>
                    <a:pt x="0" y="442377"/>
                    <a:pt x="127757" y="570400"/>
                    <a:pt x="284607" y="570400"/>
                  </a:cubicBezTo>
                  <a:cubicBezTo>
                    <a:pt x="404774" y="570400"/>
                    <a:pt x="512293" y="494347"/>
                    <a:pt x="552770" y="380901"/>
                  </a:cubicBezTo>
                  <a:cubicBezTo>
                    <a:pt x="554035" y="375831"/>
                    <a:pt x="552138" y="371394"/>
                    <a:pt x="547710" y="370127"/>
                  </a:cubicBezTo>
                  <a:close/>
                </a:path>
              </a:pathLst>
            </a:custGeom>
            <a:grpFill/>
            <a:ln w="6271" cap="flat">
              <a:noFill/>
              <a:prstDash val="solid"/>
              <a:miter/>
            </a:ln>
          </p:spPr>
          <p:txBody>
            <a:bodyPr rtlCol="0" anchor="ctr"/>
            <a:lstStyle/>
            <a:p>
              <a:endParaRPr lang="en-US"/>
            </a:p>
          </p:txBody>
        </p:sp>
      </p:grpSp>
      <p:pic>
        <p:nvPicPr>
          <p:cNvPr id="119" name="Graphic 118">
            <a:extLst>
              <a:ext uri="{FF2B5EF4-FFF2-40B4-BE49-F238E27FC236}">
                <a16:creationId xmlns:a16="http://schemas.microsoft.com/office/drawing/2014/main" id="{4C855DF8-D0D3-444D-644D-8C47851CF3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66376" y="1917322"/>
            <a:ext cx="522402" cy="522402"/>
          </a:xfrm>
          <a:prstGeom prst="rect">
            <a:avLst/>
          </a:prstGeom>
        </p:spPr>
      </p:pic>
      <p:pic>
        <p:nvPicPr>
          <p:cNvPr id="120" name="Graphic 119">
            <a:extLst>
              <a:ext uri="{FF2B5EF4-FFF2-40B4-BE49-F238E27FC236}">
                <a16:creationId xmlns:a16="http://schemas.microsoft.com/office/drawing/2014/main" id="{D000F6D6-2191-0262-F38C-9AA8642C245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52785" y="3359467"/>
            <a:ext cx="631542" cy="631542"/>
          </a:xfrm>
          <a:prstGeom prst="rect">
            <a:avLst/>
          </a:prstGeom>
        </p:spPr>
      </p:pic>
      <p:sp>
        <p:nvSpPr>
          <p:cNvPr id="121" name="Rectangle 120">
            <a:extLst>
              <a:ext uri="{FF2B5EF4-FFF2-40B4-BE49-F238E27FC236}">
                <a16:creationId xmlns:a16="http://schemas.microsoft.com/office/drawing/2014/main" id="{7B4B9C1C-C9A5-5EE5-6FDD-76A35DA8F035}"/>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Scope and Methodology sections as needed.</a:t>
            </a:r>
          </a:p>
        </p:txBody>
      </p:sp>
      <p:sp>
        <p:nvSpPr>
          <p:cNvPr id="122" name="Content Placeholder 20">
            <a:extLst>
              <a:ext uri="{FF2B5EF4-FFF2-40B4-BE49-F238E27FC236}">
                <a16:creationId xmlns:a16="http://schemas.microsoft.com/office/drawing/2014/main" id="{CD092EDE-8788-E04D-C5BB-694B292BFA66}"/>
              </a:ext>
            </a:extLst>
          </p:cNvPr>
          <p:cNvSpPr txBox="1">
            <a:spLocks/>
          </p:cNvSpPr>
          <p:nvPr/>
        </p:nvSpPr>
        <p:spPr>
          <a:xfrm>
            <a:off x="8556551" y="4282329"/>
            <a:ext cx="3366602" cy="117795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spcBef>
                <a:spcPts val="0"/>
              </a:spcBef>
              <a:buClr>
                <a:schemeClr val="tx1"/>
              </a:buClr>
              <a:buFont typeface="Arial" panose="020B0604020202020204" pitchFamily="34" charset="0"/>
              <a:buChar char="•"/>
            </a:pPr>
            <a:r>
              <a:rPr lang="en-US" sz="1100" dirty="0"/>
              <a:t>Controls are mapped to the following framework(s):</a:t>
            </a:r>
          </a:p>
          <a:p>
            <a:pPr marL="628650" lvl="1" indent="-171450">
              <a:buClr>
                <a:schemeClr val="tx1"/>
              </a:buClr>
              <a:buFont typeface="Arial" panose="020B0604020202020204" pitchFamily="34" charset="0"/>
              <a:buChar char="•"/>
            </a:pPr>
            <a:r>
              <a:rPr lang="en-US" sz="1100" dirty="0"/>
              <a:t>NIST 800-53</a:t>
            </a:r>
          </a:p>
          <a:p>
            <a:pPr marL="628650" lvl="1" indent="-171450">
              <a:buClr>
                <a:schemeClr val="tx1"/>
              </a:buClr>
              <a:buFont typeface="Arial" panose="020B0604020202020204" pitchFamily="34" charset="0"/>
              <a:buChar char="•"/>
            </a:pPr>
            <a:r>
              <a:rPr lang="en-US" sz="1100" b="0" i="0" u="none" strike="noStrike" cap="none" dirty="0">
                <a:solidFill>
                  <a:schemeClr val="dk1"/>
                </a:solidFill>
                <a:latin typeface="Arial"/>
                <a:ea typeface="Arial"/>
                <a:cs typeface="Arial"/>
                <a:sym typeface="Arial"/>
              </a:rPr>
              <a:t>Findings can be remapped to AUS ISM, PCI DSS or CIS controls if necessary.</a:t>
            </a:r>
            <a:endParaRPr lang="en-US" sz="1000" dirty="0"/>
          </a:p>
          <a:p>
            <a:pPr marL="628650" lvl="1" indent="-171450">
              <a:buClr>
                <a:schemeClr val="tx1"/>
              </a:buClr>
              <a:buFont typeface="Arial" panose="020B0604020202020204" pitchFamily="34" charset="0"/>
              <a:buChar char="•"/>
            </a:pPr>
            <a:endParaRPr lang="en-US" sz="1100" dirty="0"/>
          </a:p>
        </p:txBody>
      </p:sp>
    </p:spTree>
    <p:extLst>
      <p:ext uri="{BB962C8B-B14F-4D97-AF65-F5344CB8AC3E}">
        <p14:creationId xmlns:p14="http://schemas.microsoft.com/office/powerpoint/2010/main" val="1106932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36"/>
        <p:cNvGrpSpPr/>
        <p:nvPr/>
      </p:nvGrpSpPr>
      <p:grpSpPr>
        <a:xfrm>
          <a:off x="0" y="0"/>
          <a:ext cx="0" cy="0"/>
          <a:chOff x="0" y="0"/>
          <a:chExt cx="0" cy="0"/>
        </a:xfrm>
      </p:grpSpPr>
      <p:sp>
        <p:nvSpPr>
          <p:cNvPr id="3037" name="Google Shape;3037;p20"/>
          <p:cNvSpPr txBox="1">
            <a:spLocks noGrp="1"/>
          </p:cNvSpPr>
          <p:nvPr>
            <p:ph type="title"/>
          </p:nvPr>
        </p:nvSpPr>
        <p:spPr>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accent2"/>
              </a:buClr>
              <a:buSzPts val="2800"/>
              <a:buFont typeface="Arial"/>
              <a:buNone/>
            </a:pPr>
            <a:r>
              <a:rPr lang="en-US" dirty="0">
                <a:solidFill>
                  <a:schemeClr val="accent2"/>
                </a:solidFill>
              </a:rPr>
              <a:t>vSphere Security Configuration Assessment Approach</a:t>
            </a:r>
            <a:endParaRPr dirty="0">
              <a:solidFill>
                <a:schemeClr val="accent2"/>
              </a:solidFill>
            </a:endParaRPr>
          </a:p>
        </p:txBody>
      </p:sp>
      <p:sp>
        <p:nvSpPr>
          <p:cNvPr id="2" name="Subtitle 1">
            <a:extLst>
              <a:ext uri="{FF2B5EF4-FFF2-40B4-BE49-F238E27FC236}">
                <a16:creationId xmlns:a16="http://schemas.microsoft.com/office/drawing/2014/main" id="{0BA50925-91C3-53B5-ECED-B0577203B3CB}"/>
              </a:ext>
            </a:extLst>
          </p:cNvPr>
          <p:cNvSpPr>
            <a:spLocks noGrp="1"/>
          </p:cNvSpPr>
          <p:nvPr>
            <p:ph type="subTitle" idx="10"/>
          </p:nvPr>
        </p:nvSpPr>
        <p:spPr/>
        <p:txBody>
          <a:bodyPr/>
          <a:lstStyle/>
          <a:p>
            <a:r>
              <a:rPr lang="en-US" dirty="0"/>
              <a:t>Five-phased approach</a:t>
            </a:r>
          </a:p>
        </p:txBody>
      </p:sp>
      <p:sp>
        <p:nvSpPr>
          <p:cNvPr id="3040" name="Google Shape;3040;p20"/>
          <p:cNvSpPr txBox="1"/>
          <p:nvPr/>
        </p:nvSpPr>
        <p:spPr>
          <a:xfrm>
            <a:off x="210555" y="4555546"/>
            <a:ext cx="2364518" cy="1277273"/>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chemeClr val="dk1"/>
              </a:buClr>
              <a:buSzPts val="1100"/>
              <a:buFont typeface="Arial"/>
              <a:buChar char="•"/>
            </a:pPr>
            <a:r>
              <a:rPr lang="en-US" sz="1100">
                <a:solidFill>
                  <a:schemeClr val="dk1"/>
                </a:solidFill>
                <a:ea typeface="Arial"/>
                <a:cs typeface="Arial"/>
                <a:sym typeface="Arial"/>
              </a:rPr>
              <a:t>Sign-off on deliverables</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Identify key stakeholders</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Identify SPOC(s)</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Create draft project schedule</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Schedule kickoff meeting</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Identify interviewees</a:t>
            </a:r>
            <a:endParaRPr/>
          </a:p>
        </p:txBody>
      </p:sp>
      <p:sp>
        <p:nvSpPr>
          <p:cNvPr id="3041" name="Google Shape;3041;p20"/>
          <p:cNvSpPr txBox="1"/>
          <p:nvPr/>
        </p:nvSpPr>
        <p:spPr>
          <a:xfrm>
            <a:off x="4920646" y="4555546"/>
            <a:ext cx="2364518" cy="1006429"/>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chemeClr val="dk1"/>
              </a:buClr>
              <a:buSzPts val="1100"/>
              <a:buFont typeface="Arial"/>
              <a:buChar char="•"/>
            </a:pPr>
            <a:r>
              <a:rPr lang="en-US" sz="1100">
                <a:solidFill>
                  <a:schemeClr val="dk1"/>
                </a:solidFill>
                <a:ea typeface="Arial"/>
                <a:cs typeface="Arial"/>
                <a:sym typeface="Arial"/>
              </a:rPr>
              <a:t>Conduct technical workshops</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Troubleshoot and remediate technical issues </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Review and analyze documentation</a:t>
            </a:r>
            <a:endParaRPr/>
          </a:p>
        </p:txBody>
      </p:sp>
      <p:sp>
        <p:nvSpPr>
          <p:cNvPr id="3042" name="Google Shape;3042;p20"/>
          <p:cNvSpPr txBox="1"/>
          <p:nvPr/>
        </p:nvSpPr>
        <p:spPr>
          <a:xfrm>
            <a:off x="7275691" y="4555546"/>
            <a:ext cx="2364518" cy="1184899"/>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chemeClr val="dk1"/>
              </a:buClr>
              <a:buSzPts val="1100"/>
              <a:buFont typeface="Arial"/>
              <a:buChar char="•"/>
            </a:pPr>
            <a:r>
              <a:rPr lang="en-US" sz="1100">
                <a:solidFill>
                  <a:schemeClr val="dk1"/>
                </a:solidFill>
                <a:ea typeface="Arial"/>
                <a:cs typeface="Arial"/>
                <a:sym typeface="Arial"/>
              </a:rPr>
              <a:t>Document findings and recommendations</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Prepare draft assessment report</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Review draft report with key stakeholders</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Finalize assessment report</a:t>
            </a:r>
            <a:endParaRPr/>
          </a:p>
        </p:txBody>
      </p:sp>
      <p:sp>
        <p:nvSpPr>
          <p:cNvPr id="3043" name="Google Shape;3043;p20"/>
          <p:cNvSpPr txBox="1"/>
          <p:nvPr/>
        </p:nvSpPr>
        <p:spPr>
          <a:xfrm>
            <a:off x="9630737" y="4555546"/>
            <a:ext cx="2364518" cy="261610"/>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chemeClr val="dk1"/>
              </a:buClr>
              <a:buSzPts val="1100"/>
              <a:buFont typeface="Arial"/>
              <a:buChar char="•"/>
            </a:pPr>
            <a:r>
              <a:rPr lang="en-US" sz="1100">
                <a:solidFill>
                  <a:schemeClr val="dk1"/>
                </a:solidFill>
                <a:ea typeface="Arial"/>
                <a:cs typeface="Arial"/>
                <a:sym typeface="Arial"/>
              </a:rPr>
              <a:t>Conduct findings presentation</a:t>
            </a:r>
            <a:endParaRPr/>
          </a:p>
        </p:txBody>
      </p:sp>
      <p:sp>
        <p:nvSpPr>
          <p:cNvPr id="3044" name="Google Shape;3044;p20"/>
          <p:cNvSpPr txBox="1"/>
          <p:nvPr/>
        </p:nvSpPr>
        <p:spPr>
          <a:xfrm>
            <a:off x="2565601" y="4555546"/>
            <a:ext cx="2364518" cy="1412694"/>
          </a:xfrm>
          <a:prstGeom prst="rect">
            <a:avLst/>
          </a:prstGeom>
          <a:noFill/>
          <a:ln>
            <a:noFill/>
          </a:ln>
        </p:spPr>
        <p:txBody>
          <a:bodyPr spcFirstLastPara="1" wrap="square" lIns="91425" tIns="45700" rIns="91425" bIns="45700" anchor="t" anchorCtr="0">
            <a:spAutoFit/>
          </a:bodyPr>
          <a:lstStyle/>
          <a:p>
            <a:pPr marL="171450" marR="0" lvl="0" indent="-171450" algn="l" rtl="0">
              <a:lnSpc>
                <a:spcPct val="100000"/>
              </a:lnSpc>
              <a:spcBef>
                <a:spcPts val="0"/>
              </a:spcBef>
              <a:spcAft>
                <a:spcPts val="0"/>
              </a:spcAft>
              <a:buClr>
                <a:schemeClr val="dk1"/>
              </a:buClr>
              <a:buSzPts val="1100"/>
              <a:buFont typeface="Arial"/>
              <a:buChar char="•"/>
            </a:pPr>
            <a:r>
              <a:rPr lang="en-US" sz="1100">
                <a:solidFill>
                  <a:schemeClr val="dk1"/>
                </a:solidFill>
                <a:ea typeface="Arial"/>
                <a:cs typeface="Arial"/>
                <a:sym typeface="Arial"/>
              </a:rPr>
              <a:t>Hold a kick-off meeting</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Finalize the project schedule and interviewees</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Establish requirements for document handling</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Request documentation</a:t>
            </a:r>
            <a:endParaRPr/>
          </a:p>
          <a:p>
            <a:pPr marL="171450" marR="0" lvl="0" indent="-171450" algn="l" rtl="0">
              <a:lnSpc>
                <a:spcPct val="100000"/>
              </a:lnSpc>
              <a:spcBef>
                <a:spcPts val="220"/>
              </a:spcBef>
              <a:spcAft>
                <a:spcPts val="0"/>
              </a:spcAft>
              <a:buClr>
                <a:schemeClr val="dk1"/>
              </a:buClr>
              <a:buSzPts val="1100"/>
              <a:buFont typeface="Arial"/>
              <a:buChar char="•"/>
            </a:pPr>
            <a:r>
              <a:rPr lang="en-US" sz="1100">
                <a:solidFill>
                  <a:schemeClr val="dk1"/>
                </a:solidFill>
                <a:ea typeface="Arial"/>
                <a:cs typeface="Arial"/>
                <a:sym typeface="Arial"/>
              </a:rPr>
              <a:t>Send OVA to Security Team</a:t>
            </a:r>
            <a:endParaRPr/>
          </a:p>
        </p:txBody>
      </p:sp>
      <p:sp>
        <p:nvSpPr>
          <p:cNvPr id="3045" name="Google Shape;3045;p20"/>
          <p:cNvSpPr/>
          <p:nvPr/>
        </p:nvSpPr>
        <p:spPr>
          <a:xfrm>
            <a:off x="3973100" y="2264625"/>
            <a:ext cx="1664505" cy="288477"/>
          </a:xfrm>
          <a:custGeom>
            <a:avLst/>
            <a:gdLst/>
            <a:ahLst/>
            <a:cxnLst/>
            <a:rect l="l" t="t" r="r" b="b"/>
            <a:pathLst>
              <a:path w="21600" h="16204" extrusionOk="0">
                <a:moveTo>
                  <a:pt x="0" y="15205"/>
                </a:moveTo>
                <a:cubicBezTo>
                  <a:pt x="7544" y="-5396"/>
                  <a:pt x="14744" y="-5063"/>
                  <a:pt x="21600" y="16204"/>
                </a:cubicBezTo>
              </a:path>
            </a:pathLst>
          </a:custGeom>
          <a:noFill/>
          <a:ln w="38100" cap="flat" cmpd="sng">
            <a:solidFill>
              <a:srgbClr val="D8D8D8"/>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sp>
        <p:nvSpPr>
          <p:cNvPr id="3046" name="Google Shape;3046;p20"/>
          <p:cNvSpPr/>
          <p:nvPr/>
        </p:nvSpPr>
        <p:spPr>
          <a:xfrm>
            <a:off x="6260484" y="2264625"/>
            <a:ext cx="1664505" cy="288477"/>
          </a:xfrm>
          <a:custGeom>
            <a:avLst/>
            <a:gdLst/>
            <a:ahLst/>
            <a:cxnLst/>
            <a:rect l="l" t="t" r="r" b="b"/>
            <a:pathLst>
              <a:path w="21600" h="16204" extrusionOk="0">
                <a:moveTo>
                  <a:pt x="0" y="15205"/>
                </a:moveTo>
                <a:cubicBezTo>
                  <a:pt x="7544" y="-5396"/>
                  <a:pt x="14744" y="-5063"/>
                  <a:pt x="21600" y="16204"/>
                </a:cubicBezTo>
              </a:path>
            </a:pathLst>
          </a:custGeom>
          <a:noFill/>
          <a:ln w="38100" cap="flat" cmpd="sng">
            <a:solidFill>
              <a:srgbClr val="D8D8D8"/>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sp>
        <p:nvSpPr>
          <p:cNvPr id="3047" name="Google Shape;3047;p20"/>
          <p:cNvSpPr/>
          <p:nvPr/>
        </p:nvSpPr>
        <p:spPr>
          <a:xfrm>
            <a:off x="8716581" y="2264625"/>
            <a:ext cx="1664505" cy="288477"/>
          </a:xfrm>
          <a:custGeom>
            <a:avLst/>
            <a:gdLst/>
            <a:ahLst/>
            <a:cxnLst/>
            <a:rect l="l" t="t" r="r" b="b"/>
            <a:pathLst>
              <a:path w="21600" h="16204" extrusionOk="0">
                <a:moveTo>
                  <a:pt x="0" y="15205"/>
                </a:moveTo>
                <a:cubicBezTo>
                  <a:pt x="7544" y="-5396"/>
                  <a:pt x="14744" y="-5063"/>
                  <a:pt x="21600" y="16204"/>
                </a:cubicBezTo>
              </a:path>
            </a:pathLst>
          </a:custGeom>
          <a:noFill/>
          <a:ln w="38100" cap="flat" cmpd="sng">
            <a:solidFill>
              <a:srgbClr val="D8D8D8"/>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sp>
        <p:nvSpPr>
          <p:cNvPr id="3048" name="Google Shape;3048;p20"/>
          <p:cNvSpPr/>
          <p:nvPr/>
        </p:nvSpPr>
        <p:spPr>
          <a:xfrm>
            <a:off x="1590420" y="2264625"/>
            <a:ext cx="1664505" cy="288477"/>
          </a:xfrm>
          <a:custGeom>
            <a:avLst/>
            <a:gdLst/>
            <a:ahLst/>
            <a:cxnLst/>
            <a:rect l="l" t="t" r="r" b="b"/>
            <a:pathLst>
              <a:path w="21600" h="16204" extrusionOk="0">
                <a:moveTo>
                  <a:pt x="0" y="15205"/>
                </a:moveTo>
                <a:cubicBezTo>
                  <a:pt x="7544" y="-5396"/>
                  <a:pt x="14744" y="-5063"/>
                  <a:pt x="21600" y="16204"/>
                </a:cubicBezTo>
              </a:path>
            </a:pathLst>
          </a:custGeom>
          <a:noFill/>
          <a:ln w="38100" cap="flat" cmpd="sng">
            <a:solidFill>
              <a:srgbClr val="D8D8D8"/>
            </a:solidFill>
            <a:prstDash val="solid"/>
            <a:miter lim="4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grpSp>
        <p:nvGrpSpPr>
          <p:cNvPr id="3049" name="Google Shape;3049;p20"/>
          <p:cNvGrpSpPr/>
          <p:nvPr/>
        </p:nvGrpSpPr>
        <p:grpSpPr>
          <a:xfrm>
            <a:off x="9783098" y="1742626"/>
            <a:ext cx="2059795" cy="2418092"/>
            <a:chOff x="9824307" y="1196800"/>
            <a:chExt cx="2059795" cy="2418092"/>
          </a:xfrm>
        </p:grpSpPr>
        <p:sp>
          <p:nvSpPr>
            <p:cNvPr id="3050" name="Google Shape;3050;p20"/>
            <p:cNvSpPr/>
            <p:nvPr/>
          </p:nvSpPr>
          <p:spPr>
            <a:xfrm rot="5400000">
              <a:off x="10065857" y="1796646"/>
              <a:ext cx="1576696" cy="2059795"/>
            </a:xfrm>
            <a:prstGeom prst="rightArrow">
              <a:avLst>
                <a:gd name="adj1" fmla="val 72859"/>
                <a:gd name="adj2" fmla="val 53567"/>
              </a:avLst>
            </a:prstGeom>
            <a:solidFill>
              <a:schemeClr val="accent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sp>
          <p:nvSpPr>
            <p:cNvPr id="3051" name="Google Shape;3051;p20"/>
            <p:cNvSpPr/>
            <p:nvPr/>
          </p:nvSpPr>
          <p:spPr>
            <a:xfrm>
              <a:off x="10511305" y="2231391"/>
              <a:ext cx="685800" cy="667512"/>
            </a:xfrm>
            <a:custGeom>
              <a:avLst/>
              <a:gdLst/>
              <a:ahLst/>
              <a:cxnLst/>
              <a:rect l="l" t="t" r="r" b="b"/>
              <a:pathLst>
                <a:path w="293327" h="293759" extrusionOk="0">
                  <a:moveTo>
                    <a:pt x="23622" y="209550"/>
                  </a:moveTo>
                  <a:cubicBezTo>
                    <a:pt x="26289" y="209550"/>
                    <a:pt x="28194" y="211382"/>
                    <a:pt x="28194" y="213946"/>
                  </a:cubicBezTo>
                  <a:cubicBezTo>
                    <a:pt x="28194" y="216511"/>
                    <a:pt x="26289" y="218709"/>
                    <a:pt x="23622" y="218709"/>
                  </a:cubicBezTo>
                  <a:cubicBezTo>
                    <a:pt x="20955" y="218709"/>
                    <a:pt x="19050" y="216511"/>
                    <a:pt x="19050" y="213946"/>
                  </a:cubicBezTo>
                  <a:cubicBezTo>
                    <a:pt x="19050" y="211382"/>
                    <a:pt x="20955" y="209550"/>
                    <a:pt x="23622" y="209550"/>
                  </a:cubicBezTo>
                  <a:close/>
                  <a:moveTo>
                    <a:pt x="264534" y="208615"/>
                  </a:moveTo>
                  <a:cubicBezTo>
                    <a:pt x="262375" y="207529"/>
                    <a:pt x="251218" y="212239"/>
                    <a:pt x="243300" y="215862"/>
                  </a:cubicBezTo>
                  <a:cubicBezTo>
                    <a:pt x="233222" y="219847"/>
                    <a:pt x="220985" y="224920"/>
                    <a:pt x="206949" y="228905"/>
                  </a:cubicBezTo>
                  <a:cubicBezTo>
                    <a:pt x="207309" y="231079"/>
                    <a:pt x="207309" y="233615"/>
                    <a:pt x="207309" y="236151"/>
                  </a:cubicBezTo>
                  <a:cubicBezTo>
                    <a:pt x="206949" y="237238"/>
                    <a:pt x="206949" y="238688"/>
                    <a:pt x="206589" y="240499"/>
                  </a:cubicBezTo>
                  <a:cubicBezTo>
                    <a:pt x="229983" y="234340"/>
                    <a:pt x="247259" y="227094"/>
                    <a:pt x="259136" y="222021"/>
                  </a:cubicBezTo>
                  <a:cubicBezTo>
                    <a:pt x="260216" y="221297"/>
                    <a:pt x="261295" y="220934"/>
                    <a:pt x="262015" y="220572"/>
                  </a:cubicBezTo>
                  <a:cubicBezTo>
                    <a:pt x="265254" y="217674"/>
                    <a:pt x="267054" y="214775"/>
                    <a:pt x="267054" y="212601"/>
                  </a:cubicBezTo>
                  <a:cubicBezTo>
                    <a:pt x="267054" y="211877"/>
                    <a:pt x="267054" y="210427"/>
                    <a:pt x="264534" y="208615"/>
                  </a:cubicBezTo>
                  <a:close/>
                  <a:moveTo>
                    <a:pt x="46069" y="199558"/>
                  </a:moveTo>
                  <a:lnTo>
                    <a:pt x="46069" y="272383"/>
                  </a:lnTo>
                  <a:cubicBezTo>
                    <a:pt x="66584" y="278542"/>
                    <a:pt x="186434" y="310788"/>
                    <a:pt x="277131" y="237963"/>
                  </a:cubicBezTo>
                  <a:cubicBezTo>
                    <a:pt x="279291" y="236514"/>
                    <a:pt x="284330" y="232166"/>
                    <a:pt x="284689" y="228543"/>
                  </a:cubicBezTo>
                  <a:cubicBezTo>
                    <a:pt x="284689" y="227456"/>
                    <a:pt x="284330" y="226007"/>
                    <a:pt x="282170" y="224195"/>
                  </a:cubicBezTo>
                  <a:cubicBezTo>
                    <a:pt x="280371" y="222746"/>
                    <a:pt x="271733" y="226369"/>
                    <a:pt x="262735" y="229992"/>
                  </a:cubicBezTo>
                  <a:cubicBezTo>
                    <a:pt x="247979" y="236514"/>
                    <a:pt x="225664" y="245934"/>
                    <a:pt x="192912" y="252818"/>
                  </a:cubicBezTo>
                  <a:cubicBezTo>
                    <a:pt x="185354" y="255354"/>
                    <a:pt x="174917" y="256803"/>
                    <a:pt x="161600" y="256803"/>
                  </a:cubicBezTo>
                  <a:cubicBezTo>
                    <a:pt x="150443" y="256803"/>
                    <a:pt x="137126" y="256079"/>
                    <a:pt x="122010" y="253542"/>
                  </a:cubicBezTo>
                  <a:cubicBezTo>
                    <a:pt x="119491" y="253542"/>
                    <a:pt x="118051" y="251369"/>
                    <a:pt x="118051" y="248832"/>
                  </a:cubicBezTo>
                  <a:cubicBezTo>
                    <a:pt x="118411" y="246296"/>
                    <a:pt x="120570" y="244485"/>
                    <a:pt x="123090" y="244847"/>
                  </a:cubicBezTo>
                  <a:cubicBezTo>
                    <a:pt x="163400" y="249919"/>
                    <a:pt x="181395" y="247383"/>
                    <a:pt x="190033" y="244122"/>
                  </a:cubicBezTo>
                  <a:cubicBezTo>
                    <a:pt x="197951" y="240862"/>
                    <a:pt x="198311" y="236876"/>
                    <a:pt x="198311" y="235427"/>
                  </a:cubicBezTo>
                  <a:cubicBezTo>
                    <a:pt x="198671" y="229992"/>
                    <a:pt x="197591" y="226007"/>
                    <a:pt x="195072" y="223471"/>
                  </a:cubicBezTo>
                  <a:cubicBezTo>
                    <a:pt x="191833" y="220210"/>
                    <a:pt x="186794" y="220210"/>
                    <a:pt x="186434" y="220210"/>
                  </a:cubicBezTo>
                  <a:cubicBezTo>
                    <a:pt x="142885" y="220934"/>
                    <a:pt x="135327" y="216224"/>
                    <a:pt x="125969" y="211152"/>
                  </a:cubicBezTo>
                  <a:cubicBezTo>
                    <a:pt x="116971" y="205717"/>
                    <a:pt x="106894" y="199558"/>
                    <a:pt x="46069" y="199558"/>
                  </a:cubicBezTo>
                  <a:close/>
                  <a:moveTo>
                    <a:pt x="8638" y="199558"/>
                  </a:moveTo>
                  <a:lnTo>
                    <a:pt x="8638" y="270933"/>
                  </a:lnTo>
                  <a:lnTo>
                    <a:pt x="37431" y="270933"/>
                  </a:lnTo>
                  <a:lnTo>
                    <a:pt x="37431" y="199558"/>
                  </a:lnTo>
                  <a:lnTo>
                    <a:pt x="8638" y="199558"/>
                  </a:lnTo>
                  <a:close/>
                  <a:moveTo>
                    <a:pt x="4319" y="190500"/>
                  </a:moveTo>
                  <a:lnTo>
                    <a:pt x="41750" y="190500"/>
                  </a:lnTo>
                  <a:cubicBezTo>
                    <a:pt x="108693" y="190500"/>
                    <a:pt x="120570" y="197021"/>
                    <a:pt x="130648" y="203181"/>
                  </a:cubicBezTo>
                  <a:cubicBezTo>
                    <a:pt x="138566" y="207891"/>
                    <a:pt x="145404" y="212239"/>
                    <a:pt x="186434" y="211514"/>
                  </a:cubicBezTo>
                  <a:cubicBezTo>
                    <a:pt x="186434" y="211514"/>
                    <a:pt x="195072" y="211152"/>
                    <a:pt x="201550" y="216949"/>
                  </a:cubicBezTo>
                  <a:cubicBezTo>
                    <a:pt x="202270" y="218398"/>
                    <a:pt x="203350" y="219123"/>
                    <a:pt x="204070" y="220572"/>
                  </a:cubicBezTo>
                  <a:cubicBezTo>
                    <a:pt x="217746" y="216587"/>
                    <a:pt x="229983" y="211514"/>
                    <a:pt x="239701" y="207529"/>
                  </a:cubicBezTo>
                  <a:cubicBezTo>
                    <a:pt x="254817" y="200645"/>
                    <a:pt x="263815" y="196659"/>
                    <a:pt x="270293" y="201369"/>
                  </a:cubicBezTo>
                  <a:cubicBezTo>
                    <a:pt x="274612" y="204992"/>
                    <a:pt x="275692" y="209340"/>
                    <a:pt x="276052" y="212239"/>
                  </a:cubicBezTo>
                  <a:cubicBezTo>
                    <a:pt x="276052" y="213326"/>
                    <a:pt x="275692" y="214775"/>
                    <a:pt x="275692" y="215862"/>
                  </a:cubicBezTo>
                  <a:cubicBezTo>
                    <a:pt x="280730" y="214413"/>
                    <a:pt x="284689" y="214775"/>
                    <a:pt x="287929" y="217311"/>
                  </a:cubicBezTo>
                  <a:cubicBezTo>
                    <a:pt x="292608" y="221297"/>
                    <a:pt x="293327" y="226007"/>
                    <a:pt x="293327" y="228905"/>
                  </a:cubicBezTo>
                  <a:cubicBezTo>
                    <a:pt x="292967" y="237963"/>
                    <a:pt x="283970" y="244485"/>
                    <a:pt x="282890" y="245209"/>
                  </a:cubicBezTo>
                  <a:cubicBezTo>
                    <a:pt x="234662" y="283252"/>
                    <a:pt x="179236" y="293759"/>
                    <a:pt x="133887" y="293759"/>
                  </a:cubicBezTo>
                  <a:cubicBezTo>
                    <a:pt x="84579" y="293759"/>
                    <a:pt x="46789" y="281803"/>
                    <a:pt x="41030" y="279991"/>
                  </a:cubicBezTo>
                  <a:lnTo>
                    <a:pt x="4319" y="279991"/>
                  </a:lnTo>
                  <a:cubicBezTo>
                    <a:pt x="1799" y="279991"/>
                    <a:pt x="0" y="278180"/>
                    <a:pt x="0" y="275281"/>
                  </a:cubicBezTo>
                  <a:lnTo>
                    <a:pt x="0" y="194848"/>
                  </a:lnTo>
                  <a:cubicBezTo>
                    <a:pt x="0" y="192311"/>
                    <a:pt x="1799" y="190500"/>
                    <a:pt x="4319" y="190500"/>
                  </a:cubicBezTo>
                  <a:close/>
                  <a:moveTo>
                    <a:pt x="191620" y="9027"/>
                  </a:moveTo>
                  <a:lnTo>
                    <a:pt x="191620" y="47661"/>
                  </a:lnTo>
                  <a:lnTo>
                    <a:pt x="271978" y="47661"/>
                  </a:lnTo>
                  <a:lnTo>
                    <a:pt x="271978" y="9027"/>
                  </a:lnTo>
                  <a:lnTo>
                    <a:pt x="191620" y="9027"/>
                  </a:lnTo>
                  <a:close/>
                  <a:moveTo>
                    <a:pt x="144053" y="9027"/>
                  </a:moveTo>
                  <a:lnTo>
                    <a:pt x="144053" y="98571"/>
                  </a:lnTo>
                  <a:lnTo>
                    <a:pt x="161350" y="89906"/>
                  </a:lnTo>
                  <a:cubicBezTo>
                    <a:pt x="162071" y="89184"/>
                    <a:pt x="162792" y="89184"/>
                    <a:pt x="163512" y="89184"/>
                  </a:cubicBezTo>
                  <a:cubicBezTo>
                    <a:pt x="164233" y="89184"/>
                    <a:pt x="164593" y="89184"/>
                    <a:pt x="165314" y="89906"/>
                  </a:cubicBezTo>
                  <a:lnTo>
                    <a:pt x="182611" y="98571"/>
                  </a:lnTo>
                  <a:lnTo>
                    <a:pt x="182611" y="9027"/>
                  </a:lnTo>
                  <a:lnTo>
                    <a:pt x="144053" y="9027"/>
                  </a:lnTo>
                  <a:close/>
                  <a:moveTo>
                    <a:pt x="55046" y="9027"/>
                  </a:moveTo>
                  <a:lnTo>
                    <a:pt x="55046" y="47661"/>
                  </a:lnTo>
                  <a:lnTo>
                    <a:pt x="135044" y="47661"/>
                  </a:lnTo>
                  <a:lnTo>
                    <a:pt x="135044" y="9027"/>
                  </a:lnTo>
                  <a:lnTo>
                    <a:pt x="55046" y="9027"/>
                  </a:lnTo>
                  <a:close/>
                  <a:moveTo>
                    <a:pt x="50361" y="0"/>
                  </a:moveTo>
                  <a:lnTo>
                    <a:pt x="276303" y="0"/>
                  </a:lnTo>
                  <a:cubicBezTo>
                    <a:pt x="278465" y="0"/>
                    <a:pt x="280627" y="1805"/>
                    <a:pt x="280627" y="4333"/>
                  </a:cubicBezTo>
                  <a:lnTo>
                    <a:pt x="280627" y="51994"/>
                  </a:lnTo>
                  <a:cubicBezTo>
                    <a:pt x="280627" y="54521"/>
                    <a:pt x="278465" y="56326"/>
                    <a:pt x="276303" y="56326"/>
                  </a:cubicBezTo>
                  <a:lnTo>
                    <a:pt x="267654" y="56326"/>
                  </a:lnTo>
                  <a:lnTo>
                    <a:pt x="267654" y="187394"/>
                  </a:lnTo>
                  <a:cubicBezTo>
                    <a:pt x="267654" y="189560"/>
                    <a:pt x="265492" y="191727"/>
                    <a:pt x="263330" y="191727"/>
                  </a:cubicBezTo>
                  <a:cubicBezTo>
                    <a:pt x="260807" y="191727"/>
                    <a:pt x="258645" y="189560"/>
                    <a:pt x="258645" y="187394"/>
                  </a:cubicBezTo>
                  <a:lnTo>
                    <a:pt x="258645" y="56326"/>
                  </a:lnTo>
                  <a:lnTo>
                    <a:pt x="191620" y="56326"/>
                  </a:lnTo>
                  <a:lnTo>
                    <a:pt x="191620" y="105793"/>
                  </a:lnTo>
                  <a:cubicBezTo>
                    <a:pt x="191620" y="107237"/>
                    <a:pt x="190899" y="108681"/>
                    <a:pt x="189458" y="109403"/>
                  </a:cubicBezTo>
                  <a:cubicBezTo>
                    <a:pt x="188737" y="110126"/>
                    <a:pt x="188016" y="110126"/>
                    <a:pt x="187296" y="110126"/>
                  </a:cubicBezTo>
                  <a:cubicBezTo>
                    <a:pt x="186575" y="110126"/>
                    <a:pt x="185494" y="110126"/>
                    <a:pt x="185133" y="109764"/>
                  </a:cubicBezTo>
                  <a:lnTo>
                    <a:pt x="163512" y="98571"/>
                  </a:lnTo>
                  <a:lnTo>
                    <a:pt x="141531" y="109764"/>
                  </a:lnTo>
                  <a:cubicBezTo>
                    <a:pt x="140089" y="110487"/>
                    <a:pt x="138648" y="110487"/>
                    <a:pt x="137206" y="109403"/>
                  </a:cubicBezTo>
                  <a:cubicBezTo>
                    <a:pt x="136125" y="108681"/>
                    <a:pt x="135044" y="107237"/>
                    <a:pt x="135044" y="105793"/>
                  </a:cubicBezTo>
                  <a:lnTo>
                    <a:pt x="135044" y="56326"/>
                  </a:lnTo>
                  <a:lnTo>
                    <a:pt x="68379" y="56326"/>
                  </a:lnTo>
                  <a:lnTo>
                    <a:pt x="68379" y="178006"/>
                  </a:lnTo>
                  <a:cubicBezTo>
                    <a:pt x="68379" y="180895"/>
                    <a:pt x="66217" y="182700"/>
                    <a:pt x="63695" y="182700"/>
                  </a:cubicBezTo>
                  <a:cubicBezTo>
                    <a:pt x="61172" y="182700"/>
                    <a:pt x="59370" y="180895"/>
                    <a:pt x="59370" y="178006"/>
                  </a:cubicBezTo>
                  <a:lnTo>
                    <a:pt x="59370" y="56326"/>
                  </a:lnTo>
                  <a:lnTo>
                    <a:pt x="50361" y="56326"/>
                  </a:lnTo>
                  <a:cubicBezTo>
                    <a:pt x="48199" y="56326"/>
                    <a:pt x="46037" y="54521"/>
                    <a:pt x="46037" y="51994"/>
                  </a:cubicBezTo>
                  <a:lnTo>
                    <a:pt x="46037" y="4333"/>
                  </a:lnTo>
                  <a:cubicBezTo>
                    <a:pt x="46037" y="1805"/>
                    <a:pt x="48199" y="0"/>
                    <a:pt x="5036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ea typeface="Lato Light"/>
                <a:cs typeface="Lato Light"/>
                <a:sym typeface="Lato Light"/>
              </a:endParaRPr>
            </a:p>
          </p:txBody>
        </p:sp>
        <p:sp>
          <p:nvSpPr>
            <p:cNvPr id="3052" name="Google Shape;3052;p20"/>
            <p:cNvSpPr txBox="1"/>
            <p:nvPr/>
          </p:nvSpPr>
          <p:spPr>
            <a:xfrm>
              <a:off x="10050940" y="1196800"/>
              <a:ext cx="1606530" cy="58473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2"/>
                  </a:solidFill>
                  <a:ea typeface="Arial"/>
                  <a:cs typeface="Arial"/>
                  <a:sym typeface="Arial"/>
                </a:rPr>
                <a:t>Deliver Results</a:t>
              </a:r>
              <a:endParaRPr/>
            </a:p>
          </p:txBody>
        </p:sp>
      </p:grpSp>
      <p:grpSp>
        <p:nvGrpSpPr>
          <p:cNvPr id="3053" name="Google Shape;3053;p20"/>
          <p:cNvGrpSpPr/>
          <p:nvPr/>
        </p:nvGrpSpPr>
        <p:grpSpPr>
          <a:xfrm>
            <a:off x="362915" y="1859916"/>
            <a:ext cx="2059797" cy="2294979"/>
            <a:chOff x="404124" y="1319911"/>
            <a:chExt cx="2059797" cy="2294980"/>
          </a:xfrm>
        </p:grpSpPr>
        <p:sp>
          <p:nvSpPr>
            <p:cNvPr id="3054" name="Google Shape;3054;p20"/>
            <p:cNvSpPr/>
            <p:nvPr/>
          </p:nvSpPr>
          <p:spPr>
            <a:xfrm rot="5400000">
              <a:off x="645675" y="1796644"/>
              <a:ext cx="1576696" cy="2059797"/>
            </a:xfrm>
            <a:prstGeom prst="rightArrow">
              <a:avLst>
                <a:gd name="adj1" fmla="val 72859"/>
                <a:gd name="adj2" fmla="val 53567"/>
              </a:avLst>
            </a:prstGeom>
            <a:solidFill>
              <a:schemeClr val="accen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sp>
          <p:nvSpPr>
            <p:cNvPr id="3055" name="Google Shape;3055;p20"/>
            <p:cNvSpPr txBox="1"/>
            <p:nvPr/>
          </p:nvSpPr>
          <p:spPr>
            <a:xfrm>
              <a:off x="670833" y="1319911"/>
              <a:ext cx="1526380" cy="338514"/>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2"/>
                  </a:solidFill>
                  <a:ea typeface="Arial"/>
                  <a:cs typeface="Arial"/>
                  <a:sym typeface="Arial"/>
                </a:rPr>
                <a:t>Due Diligence</a:t>
              </a:r>
              <a:endParaRPr/>
            </a:p>
          </p:txBody>
        </p:sp>
        <p:sp>
          <p:nvSpPr>
            <p:cNvPr id="3056" name="Google Shape;3056;p20"/>
            <p:cNvSpPr/>
            <p:nvPr/>
          </p:nvSpPr>
          <p:spPr>
            <a:xfrm>
              <a:off x="1091123" y="2222247"/>
              <a:ext cx="685800" cy="685800"/>
            </a:xfrm>
            <a:custGeom>
              <a:avLst/>
              <a:gdLst/>
              <a:ahLst/>
              <a:cxnLst/>
              <a:rect l="l" t="t" r="r" b="b"/>
              <a:pathLst>
                <a:path w="285390" h="285390" extrusionOk="0">
                  <a:moveTo>
                    <a:pt x="82498" y="239712"/>
                  </a:moveTo>
                  <a:lnTo>
                    <a:pt x="106414" y="239712"/>
                  </a:lnTo>
                  <a:cubicBezTo>
                    <a:pt x="108951" y="239712"/>
                    <a:pt x="110762" y="241910"/>
                    <a:pt x="110762" y="244475"/>
                  </a:cubicBezTo>
                  <a:cubicBezTo>
                    <a:pt x="110762" y="247039"/>
                    <a:pt x="108951" y="248871"/>
                    <a:pt x="106414" y="248871"/>
                  </a:cubicBezTo>
                  <a:lnTo>
                    <a:pt x="82498" y="248871"/>
                  </a:lnTo>
                  <a:cubicBezTo>
                    <a:pt x="79961" y="248871"/>
                    <a:pt x="77787" y="247039"/>
                    <a:pt x="77787" y="244475"/>
                  </a:cubicBezTo>
                  <a:cubicBezTo>
                    <a:pt x="77787" y="241910"/>
                    <a:pt x="79961" y="239712"/>
                    <a:pt x="82498" y="239712"/>
                  </a:cubicBezTo>
                  <a:close/>
                  <a:moveTo>
                    <a:pt x="29633" y="239712"/>
                  </a:moveTo>
                  <a:lnTo>
                    <a:pt x="58914" y="239712"/>
                  </a:lnTo>
                  <a:cubicBezTo>
                    <a:pt x="61383" y="239712"/>
                    <a:pt x="63147" y="241910"/>
                    <a:pt x="63147" y="244475"/>
                  </a:cubicBezTo>
                  <a:cubicBezTo>
                    <a:pt x="63147" y="247039"/>
                    <a:pt x="61383" y="248871"/>
                    <a:pt x="58914" y="248871"/>
                  </a:cubicBezTo>
                  <a:lnTo>
                    <a:pt x="29633" y="248871"/>
                  </a:lnTo>
                  <a:cubicBezTo>
                    <a:pt x="27164" y="248871"/>
                    <a:pt x="25400" y="247039"/>
                    <a:pt x="25400" y="244475"/>
                  </a:cubicBezTo>
                  <a:cubicBezTo>
                    <a:pt x="25400" y="241910"/>
                    <a:pt x="27164" y="239712"/>
                    <a:pt x="29633" y="239712"/>
                  </a:cubicBezTo>
                  <a:close/>
                  <a:moveTo>
                    <a:pt x="64679" y="206375"/>
                  </a:moveTo>
                  <a:lnTo>
                    <a:pt x="118745" y="206375"/>
                  </a:lnTo>
                  <a:cubicBezTo>
                    <a:pt x="121285" y="206375"/>
                    <a:pt x="123462" y="208207"/>
                    <a:pt x="123462" y="211138"/>
                  </a:cubicBezTo>
                  <a:cubicBezTo>
                    <a:pt x="123462" y="213336"/>
                    <a:pt x="121285" y="215534"/>
                    <a:pt x="118745" y="215534"/>
                  </a:cubicBezTo>
                  <a:lnTo>
                    <a:pt x="64679" y="215534"/>
                  </a:lnTo>
                  <a:cubicBezTo>
                    <a:pt x="62502" y="215534"/>
                    <a:pt x="60325" y="213336"/>
                    <a:pt x="60325" y="211138"/>
                  </a:cubicBezTo>
                  <a:cubicBezTo>
                    <a:pt x="60325" y="208207"/>
                    <a:pt x="62502" y="206375"/>
                    <a:pt x="64679" y="206375"/>
                  </a:cubicBezTo>
                  <a:close/>
                  <a:moveTo>
                    <a:pt x="29597" y="206375"/>
                  </a:moveTo>
                  <a:lnTo>
                    <a:pt x="41140" y="206375"/>
                  </a:lnTo>
                  <a:cubicBezTo>
                    <a:pt x="43588" y="206375"/>
                    <a:pt x="45687" y="208207"/>
                    <a:pt x="45687" y="211138"/>
                  </a:cubicBezTo>
                  <a:cubicBezTo>
                    <a:pt x="45687" y="213336"/>
                    <a:pt x="43588" y="215534"/>
                    <a:pt x="41140" y="215534"/>
                  </a:cubicBezTo>
                  <a:lnTo>
                    <a:pt x="29597" y="215534"/>
                  </a:lnTo>
                  <a:cubicBezTo>
                    <a:pt x="27149" y="215534"/>
                    <a:pt x="25400" y="213336"/>
                    <a:pt x="25400" y="211138"/>
                  </a:cubicBezTo>
                  <a:cubicBezTo>
                    <a:pt x="25400" y="208207"/>
                    <a:pt x="27149" y="206375"/>
                    <a:pt x="29597" y="206375"/>
                  </a:cubicBezTo>
                  <a:close/>
                  <a:moveTo>
                    <a:pt x="235147" y="199552"/>
                  </a:moveTo>
                  <a:cubicBezTo>
                    <a:pt x="231129" y="199552"/>
                    <a:pt x="227842" y="202448"/>
                    <a:pt x="227842" y="206793"/>
                  </a:cubicBezTo>
                  <a:lnTo>
                    <a:pt x="227842" y="215482"/>
                  </a:lnTo>
                  <a:cubicBezTo>
                    <a:pt x="227842" y="219465"/>
                    <a:pt x="231129" y="222724"/>
                    <a:pt x="235147" y="222724"/>
                  </a:cubicBezTo>
                  <a:lnTo>
                    <a:pt x="243913" y="222724"/>
                  </a:lnTo>
                  <a:cubicBezTo>
                    <a:pt x="247931" y="222724"/>
                    <a:pt x="251219" y="219465"/>
                    <a:pt x="251219" y="215482"/>
                  </a:cubicBezTo>
                  <a:lnTo>
                    <a:pt x="251219" y="206793"/>
                  </a:lnTo>
                  <a:cubicBezTo>
                    <a:pt x="251219" y="202448"/>
                    <a:pt x="247931" y="199552"/>
                    <a:pt x="243913" y="199552"/>
                  </a:cubicBezTo>
                  <a:lnTo>
                    <a:pt x="235147" y="199552"/>
                  </a:lnTo>
                  <a:close/>
                  <a:moveTo>
                    <a:pt x="179583" y="199552"/>
                  </a:moveTo>
                  <a:cubicBezTo>
                    <a:pt x="175566" y="199552"/>
                    <a:pt x="172278" y="202448"/>
                    <a:pt x="172278" y="206793"/>
                  </a:cubicBezTo>
                  <a:lnTo>
                    <a:pt x="172278" y="215482"/>
                  </a:lnTo>
                  <a:cubicBezTo>
                    <a:pt x="172278" y="219465"/>
                    <a:pt x="175566" y="222724"/>
                    <a:pt x="179583" y="222724"/>
                  </a:cubicBezTo>
                  <a:lnTo>
                    <a:pt x="188350" y="222724"/>
                  </a:lnTo>
                  <a:cubicBezTo>
                    <a:pt x="192368" y="222724"/>
                    <a:pt x="195655" y="219465"/>
                    <a:pt x="195655" y="215482"/>
                  </a:cubicBezTo>
                  <a:lnTo>
                    <a:pt x="195655" y="206793"/>
                  </a:lnTo>
                  <a:cubicBezTo>
                    <a:pt x="195655" y="202448"/>
                    <a:pt x="192368" y="199552"/>
                    <a:pt x="188350" y="199552"/>
                  </a:cubicBezTo>
                  <a:lnTo>
                    <a:pt x="179583" y="199552"/>
                  </a:lnTo>
                  <a:close/>
                  <a:moveTo>
                    <a:pt x="235147" y="190500"/>
                  </a:moveTo>
                  <a:lnTo>
                    <a:pt x="243913" y="190500"/>
                  </a:lnTo>
                  <a:cubicBezTo>
                    <a:pt x="252680" y="190500"/>
                    <a:pt x="259985" y="197741"/>
                    <a:pt x="259985" y="206793"/>
                  </a:cubicBezTo>
                  <a:lnTo>
                    <a:pt x="259985" y="215482"/>
                  </a:lnTo>
                  <a:cubicBezTo>
                    <a:pt x="259985" y="224172"/>
                    <a:pt x="252680" y="231413"/>
                    <a:pt x="243913" y="231413"/>
                  </a:cubicBezTo>
                  <a:lnTo>
                    <a:pt x="235147" y="231413"/>
                  </a:lnTo>
                  <a:cubicBezTo>
                    <a:pt x="226015" y="231413"/>
                    <a:pt x="219075" y="224172"/>
                    <a:pt x="219075" y="215482"/>
                  </a:cubicBezTo>
                  <a:lnTo>
                    <a:pt x="219075" y="206793"/>
                  </a:lnTo>
                  <a:cubicBezTo>
                    <a:pt x="219075" y="197741"/>
                    <a:pt x="226015" y="190500"/>
                    <a:pt x="235147" y="190500"/>
                  </a:cubicBezTo>
                  <a:close/>
                  <a:moveTo>
                    <a:pt x="179583" y="190500"/>
                  </a:moveTo>
                  <a:lnTo>
                    <a:pt x="188350" y="190500"/>
                  </a:lnTo>
                  <a:cubicBezTo>
                    <a:pt x="197116" y="190500"/>
                    <a:pt x="204421" y="197741"/>
                    <a:pt x="204421" y="206793"/>
                  </a:cubicBezTo>
                  <a:lnTo>
                    <a:pt x="204421" y="215482"/>
                  </a:lnTo>
                  <a:cubicBezTo>
                    <a:pt x="204421" y="224172"/>
                    <a:pt x="197116" y="231413"/>
                    <a:pt x="188350" y="231413"/>
                  </a:cubicBezTo>
                  <a:lnTo>
                    <a:pt x="179583" y="231413"/>
                  </a:lnTo>
                  <a:cubicBezTo>
                    <a:pt x="170817" y="231413"/>
                    <a:pt x="163512" y="224172"/>
                    <a:pt x="163512" y="215482"/>
                  </a:cubicBezTo>
                  <a:lnTo>
                    <a:pt x="163512" y="206793"/>
                  </a:lnTo>
                  <a:cubicBezTo>
                    <a:pt x="163512" y="197741"/>
                    <a:pt x="170817" y="190500"/>
                    <a:pt x="179583" y="190500"/>
                  </a:cubicBezTo>
                  <a:close/>
                  <a:moveTo>
                    <a:pt x="64679" y="173037"/>
                  </a:moveTo>
                  <a:lnTo>
                    <a:pt x="118745" y="173037"/>
                  </a:lnTo>
                  <a:cubicBezTo>
                    <a:pt x="121285" y="173037"/>
                    <a:pt x="123462" y="175235"/>
                    <a:pt x="123462" y="177800"/>
                  </a:cubicBezTo>
                  <a:cubicBezTo>
                    <a:pt x="123462" y="180364"/>
                    <a:pt x="121285" y="182196"/>
                    <a:pt x="118745" y="182196"/>
                  </a:cubicBezTo>
                  <a:lnTo>
                    <a:pt x="64679" y="182196"/>
                  </a:lnTo>
                  <a:cubicBezTo>
                    <a:pt x="62502" y="182196"/>
                    <a:pt x="60325" y="180364"/>
                    <a:pt x="60325" y="177800"/>
                  </a:cubicBezTo>
                  <a:cubicBezTo>
                    <a:pt x="60325" y="175235"/>
                    <a:pt x="62502" y="173037"/>
                    <a:pt x="64679" y="173037"/>
                  </a:cubicBezTo>
                  <a:close/>
                  <a:moveTo>
                    <a:pt x="29597" y="173037"/>
                  </a:moveTo>
                  <a:lnTo>
                    <a:pt x="41140" y="173037"/>
                  </a:lnTo>
                  <a:cubicBezTo>
                    <a:pt x="43588" y="173037"/>
                    <a:pt x="45687" y="175235"/>
                    <a:pt x="45687" y="177800"/>
                  </a:cubicBezTo>
                  <a:cubicBezTo>
                    <a:pt x="45687" y="180364"/>
                    <a:pt x="43588" y="182196"/>
                    <a:pt x="41140" y="182196"/>
                  </a:cubicBezTo>
                  <a:lnTo>
                    <a:pt x="29597" y="182196"/>
                  </a:lnTo>
                  <a:cubicBezTo>
                    <a:pt x="27149" y="182196"/>
                    <a:pt x="25400" y="180364"/>
                    <a:pt x="25400" y="177800"/>
                  </a:cubicBezTo>
                  <a:cubicBezTo>
                    <a:pt x="25400" y="175235"/>
                    <a:pt x="27149" y="173037"/>
                    <a:pt x="29597" y="173037"/>
                  </a:cubicBezTo>
                  <a:close/>
                  <a:moveTo>
                    <a:pt x="235147" y="143703"/>
                  </a:moveTo>
                  <a:cubicBezTo>
                    <a:pt x="231129" y="143703"/>
                    <a:pt x="227842" y="146626"/>
                    <a:pt x="227842" y="151009"/>
                  </a:cubicBezTo>
                  <a:lnTo>
                    <a:pt x="227842" y="159775"/>
                  </a:lnTo>
                  <a:cubicBezTo>
                    <a:pt x="227842" y="163793"/>
                    <a:pt x="231129" y="167080"/>
                    <a:pt x="235147" y="167080"/>
                  </a:cubicBezTo>
                  <a:lnTo>
                    <a:pt x="243913" y="167080"/>
                  </a:lnTo>
                  <a:cubicBezTo>
                    <a:pt x="247931" y="167080"/>
                    <a:pt x="251219" y="163793"/>
                    <a:pt x="251219" y="159775"/>
                  </a:cubicBezTo>
                  <a:lnTo>
                    <a:pt x="251219" y="151009"/>
                  </a:lnTo>
                  <a:cubicBezTo>
                    <a:pt x="251219" y="146626"/>
                    <a:pt x="247931" y="143703"/>
                    <a:pt x="243913" y="143703"/>
                  </a:cubicBezTo>
                  <a:lnTo>
                    <a:pt x="235147" y="143703"/>
                  </a:lnTo>
                  <a:close/>
                  <a:moveTo>
                    <a:pt x="179583" y="143703"/>
                  </a:moveTo>
                  <a:cubicBezTo>
                    <a:pt x="175566" y="143703"/>
                    <a:pt x="172278" y="146626"/>
                    <a:pt x="172278" y="151009"/>
                  </a:cubicBezTo>
                  <a:lnTo>
                    <a:pt x="172278" y="159775"/>
                  </a:lnTo>
                  <a:cubicBezTo>
                    <a:pt x="172278" y="163793"/>
                    <a:pt x="175566" y="167080"/>
                    <a:pt x="179583" y="167080"/>
                  </a:cubicBezTo>
                  <a:lnTo>
                    <a:pt x="188350" y="167080"/>
                  </a:lnTo>
                  <a:cubicBezTo>
                    <a:pt x="192368" y="167080"/>
                    <a:pt x="195655" y="163793"/>
                    <a:pt x="195655" y="159775"/>
                  </a:cubicBezTo>
                  <a:lnTo>
                    <a:pt x="195655" y="151009"/>
                  </a:lnTo>
                  <a:cubicBezTo>
                    <a:pt x="195655" y="146626"/>
                    <a:pt x="192368" y="143703"/>
                    <a:pt x="188350" y="143703"/>
                  </a:cubicBezTo>
                  <a:lnTo>
                    <a:pt x="179583" y="143703"/>
                  </a:lnTo>
                  <a:close/>
                  <a:moveTo>
                    <a:pt x="29670" y="139700"/>
                  </a:moveTo>
                  <a:lnTo>
                    <a:pt x="82686" y="139700"/>
                  </a:lnTo>
                  <a:cubicBezTo>
                    <a:pt x="84821" y="139700"/>
                    <a:pt x="86956" y="141898"/>
                    <a:pt x="86956" y="144096"/>
                  </a:cubicBezTo>
                  <a:cubicBezTo>
                    <a:pt x="86956" y="146661"/>
                    <a:pt x="84821" y="148859"/>
                    <a:pt x="82686" y="148859"/>
                  </a:cubicBezTo>
                  <a:lnTo>
                    <a:pt x="29670" y="148859"/>
                  </a:lnTo>
                  <a:cubicBezTo>
                    <a:pt x="27179" y="148859"/>
                    <a:pt x="25400" y="146661"/>
                    <a:pt x="25400" y="144096"/>
                  </a:cubicBezTo>
                  <a:cubicBezTo>
                    <a:pt x="25400" y="141898"/>
                    <a:pt x="27179" y="139700"/>
                    <a:pt x="29670" y="139700"/>
                  </a:cubicBezTo>
                  <a:close/>
                  <a:moveTo>
                    <a:pt x="235147" y="134937"/>
                  </a:moveTo>
                  <a:lnTo>
                    <a:pt x="243913" y="134937"/>
                  </a:lnTo>
                  <a:cubicBezTo>
                    <a:pt x="252680" y="134937"/>
                    <a:pt x="259985" y="142242"/>
                    <a:pt x="259985" y="151009"/>
                  </a:cubicBezTo>
                  <a:lnTo>
                    <a:pt x="259985" y="159775"/>
                  </a:lnTo>
                  <a:cubicBezTo>
                    <a:pt x="259985" y="168542"/>
                    <a:pt x="252680" y="175847"/>
                    <a:pt x="243913" y="175847"/>
                  </a:cubicBezTo>
                  <a:lnTo>
                    <a:pt x="235147" y="175847"/>
                  </a:lnTo>
                  <a:cubicBezTo>
                    <a:pt x="226015" y="175847"/>
                    <a:pt x="219075" y="168542"/>
                    <a:pt x="219075" y="159775"/>
                  </a:cubicBezTo>
                  <a:lnTo>
                    <a:pt x="219075" y="151009"/>
                  </a:lnTo>
                  <a:cubicBezTo>
                    <a:pt x="219075" y="142242"/>
                    <a:pt x="226015" y="134937"/>
                    <a:pt x="235147" y="134937"/>
                  </a:cubicBezTo>
                  <a:close/>
                  <a:moveTo>
                    <a:pt x="179583" y="134937"/>
                  </a:moveTo>
                  <a:lnTo>
                    <a:pt x="188350" y="134937"/>
                  </a:lnTo>
                  <a:cubicBezTo>
                    <a:pt x="197116" y="134937"/>
                    <a:pt x="204421" y="142242"/>
                    <a:pt x="204421" y="151009"/>
                  </a:cubicBezTo>
                  <a:lnTo>
                    <a:pt x="204421" y="159775"/>
                  </a:lnTo>
                  <a:cubicBezTo>
                    <a:pt x="204421" y="168542"/>
                    <a:pt x="197116" y="175847"/>
                    <a:pt x="188350" y="175847"/>
                  </a:cubicBezTo>
                  <a:lnTo>
                    <a:pt x="179583" y="175847"/>
                  </a:lnTo>
                  <a:cubicBezTo>
                    <a:pt x="170817" y="175847"/>
                    <a:pt x="163512" y="168542"/>
                    <a:pt x="163512" y="159775"/>
                  </a:cubicBezTo>
                  <a:lnTo>
                    <a:pt x="163512" y="151009"/>
                  </a:lnTo>
                  <a:cubicBezTo>
                    <a:pt x="163512" y="142242"/>
                    <a:pt x="170817" y="134937"/>
                    <a:pt x="179583" y="134937"/>
                  </a:cubicBezTo>
                  <a:close/>
                  <a:moveTo>
                    <a:pt x="147019" y="118192"/>
                  </a:moveTo>
                  <a:lnTo>
                    <a:pt x="147019" y="240708"/>
                  </a:lnTo>
                  <a:cubicBezTo>
                    <a:pt x="147019" y="245032"/>
                    <a:pt x="150262" y="247914"/>
                    <a:pt x="154225" y="247914"/>
                  </a:cubicBezTo>
                  <a:lnTo>
                    <a:pt x="269895" y="247914"/>
                  </a:lnTo>
                  <a:cubicBezTo>
                    <a:pt x="273859" y="247914"/>
                    <a:pt x="276742" y="245032"/>
                    <a:pt x="276742" y="240708"/>
                  </a:cubicBezTo>
                  <a:lnTo>
                    <a:pt x="276742" y="118192"/>
                  </a:lnTo>
                  <a:lnTo>
                    <a:pt x="147019" y="118192"/>
                  </a:lnTo>
                  <a:close/>
                  <a:moveTo>
                    <a:pt x="64679" y="106362"/>
                  </a:moveTo>
                  <a:lnTo>
                    <a:pt x="118745" y="106362"/>
                  </a:lnTo>
                  <a:cubicBezTo>
                    <a:pt x="121285" y="106362"/>
                    <a:pt x="123462" y="108560"/>
                    <a:pt x="123462" y="111125"/>
                  </a:cubicBezTo>
                  <a:cubicBezTo>
                    <a:pt x="123462" y="113689"/>
                    <a:pt x="121285" y="115521"/>
                    <a:pt x="118745" y="115521"/>
                  </a:cubicBezTo>
                  <a:lnTo>
                    <a:pt x="64679" y="115521"/>
                  </a:lnTo>
                  <a:cubicBezTo>
                    <a:pt x="62502" y="115521"/>
                    <a:pt x="60325" y="113689"/>
                    <a:pt x="60325" y="111125"/>
                  </a:cubicBezTo>
                  <a:cubicBezTo>
                    <a:pt x="60325" y="108560"/>
                    <a:pt x="62502" y="106362"/>
                    <a:pt x="64679" y="106362"/>
                  </a:cubicBezTo>
                  <a:close/>
                  <a:moveTo>
                    <a:pt x="29597" y="106362"/>
                  </a:moveTo>
                  <a:lnTo>
                    <a:pt x="41140" y="106362"/>
                  </a:lnTo>
                  <a:cubicBezTo>
                    <a:pt x="43588" y="106362"/>
                    <a:pt x="45687" y="108560"/>
                    <a:pt x="45687" y="111125"/>
                  </a:cubicBezTo>
                  <a:cubicBezTo>
                    <a:pt x="45687" y="113689"/>
                    <a:pt x="43588" y="115521"/>
                    <a:pt x="41140" y="115521"/>
                  </a:cubicBezTo>
                  <a:lnTo>
                    <a:pt x="29597" y="115521"/>
                  </a:lnTo>
                  <a:cubicBezTo>
                    <a:pt x="27149" y="115521"/>
                    <a:pt x="25400" y="113689"/>
                    <a:pt x="25400" y="111125"/>
                  </a:cubicBezTo>
                  <a:cubicBezTo>
                    <a:pt x="25400" y="108560"/>
                    <a:pt x="27149" y="106362"/>
                    <a:pt x="29597" y="106362"/>
                  </a:cubicBezTo>
                  <a:close/>
                  <a:moveTo>
                    <a:pt x="255466" y="87191"/>
                  </a:moveTo>
                  <a:cubicBezTo>
                    <a:pt x="257297" y="85725"/>
                    <a:pt x="259862" y="85725"/>
                    <a:pt x="261694" y="87191"/>
                  </a:cubicBezTo>
                  <a:cubicBezTo>
                    <a:pt x="262426" y="87923"/>
                    <a:pt x="263159" y="89389"/>
                    <a:pt x="263159" y="90488"/>
                  </a:cubicBezTo>
                  <a:cubicBezTo>
                    <a:pt x="263159" y="91587"/>
                    <a:pt x="262426" y="92686"/>
                    <a:pt x="261694" y="93418"/>
                  </a:cubicBezTo>
                  <a:cubicBezTo>
                    <a:pt x="260961" y="94517"/>
                    <a:pt x="259862" y="94884"/>
                    <a:pt x="258763" y="94884"/>
                  </a:cubicBezTo>
                  <a:cubicBezTo>
                    <a:pt x="257297" y="94884"/>
                    <a:pt x="256198" y="94517"/>
                    <a:pt x="255466" y="93418"/>
                  </a:cubicBezTo>
                  <a:cubicBezTo>
                    <a:pt x="254367" y="92686"/>
                    <a:pt x="254000" y="91587"/>
                    <a:pt x="254000" y="90488"/>
                  </a:cubicBezTo>
                  <a:cubicBezTo>
                    <a:pt x="254000" y="89389"/>
                    <a:pt x="254367" y="87923"/>
                    <a:pt x="255466" y="87191"/>
                  </a:cubicBezTo>
                  <a:close/>
                  <a:moveTo>
                    <a:pt x="209486" y="87191"/>
                  </a:moveTo>
                  <a:cubicBezTo>
                    <a:pt x="211010" y="85725"/>
                    <a:pt x="214058" y="85725"/>
                    <a:pt x="215963" y="87191"/>
                  </a:cubicBezTo>
                  <a:cubicBezTo>
                    <a:pt x="216725" y="87923"/>
                    <a:pt x="217106" y="89389"/>
                    <a:pt x="217106" y="90488"/>
                  </a:cubicBezTo>
                  <a:cubicBezTo>
                    <a:pt x="217106" y="91587"/>
                    <a:pt x="216725" y="92686"/>
                    <a:pt x="215963" y="93418"/>
                  </a:cubicBezTo>
                  <a:cubicBezTo>
                    <a:pt x="215201" y="94517"/>
                    <a:pt x="214058" y="94884"/>
                    <a:pt x="212534" y="94884"/>
                  </a:cubicBezTo>
                  <a:cubicBezTo>
                    <a:pt x="211391" y="94884"/>
                    <a:pt x="210248" y="94517"/>
                    <a:pt x="209486" y="93418"/>
                  </a:cubicBezTo>
                  <a:cubicBezTo>
                    <a:pt x="208724" y="92686"/>
                    <a:pt x="207962" y="91587"/>
                    <a:pt x="207962" y="90488"/>
                  </a:cubicBezTo>
                  <a:cubicBezTo>
                    <a:pt x="207962" y="89389"/>
                    <a:pt x="208724" y="87923"/>
                    <a:pt x="209486" y="87191"/>
                  </a:cubicBezTo>
                  <a:close/>
                  <a:moveTo>
                    <a:pt x="234759" y="85725"/>
                  </a:moveTo>
                  <a:cubicBezTo>
                    <a:pt x="237426" y="85725"/>
                    <a:pt x="239331" y="87630"/>
                    <a:pt x="239331" y="90297"/>
                  </a:cubicBezTo>
                  <a:cubicBezTo>
                    <a:pt x="239331" y="92964"/>
                    <a:pt x="237426" y="94869"/>
                    <a:pt x="234759" y="94869"/>
                  </a:cubicBezTo>
                  <a:cubicBezTo>
                    <a:pt x="232473" y="94869"/>
                    <a:pt x="230187" y="92964"/>
                    <a:pt x="230187" y="90297"/>
                  </a:cubicBezTo>
                  <a:cubicBezTo>
                    <a:pt x="230187" y="87630"/>
                    <a:pt x="232473" y="85725"/>
                    <a:pt x="234759" y="85725"/>
                  </a:cubicBezTo>
                  <a:close/>
                  <a:moveTo>
                    <a:pt x="64679" y="73025"/>
                  </a:moveTo>
                  <a:lnTo>
                    <a:pt x="118745" y="73025"/>
                  </a:lnTo>
                  <a:cubicBezTo>
                    <a:pt x="121285" y="73025"/>
                    <a:pt x="123462" y="74857"/>
                    <a:pt x="123462" y="77421"/>
                  </a:cubicBezTo>
                  <a:cubicBezTo>
                    <a:pt x="123462" y="79985"/>
                    <a:pt x="121285" y="82184"/>
                    <a:pt x="118745" y="82184"/>
                  </a:cubicBezTo>
                  <a:lnTo>
                    <a:pt x="64679" y="82184"/>
                  </a:lnTo>
                  <a:cubicBezTo>
                    <a:pt x="62502" y="82184"/>
                    <a:pt x="60325" y="79985"/>
                    <a:pt x="60325" y="77421"/>
                  </a:cubicBezTo>
                  <a:cubicBezTo>
                    <a:pt x="60325" y="74857"/>
                    <a:pt x="62502" y="73025"/>
                    <a:pt x="64679" y="73025"/>
                  </a:cubicBezTo>
                  <a:close/>
                  <a:moveTo>
                    <a:pt x="29597" y="73025"/>
                  </a:moveTo>
                  <a:lnTo>
                    <a:pt x="41140" y="73025"/>
                  </a:lnTo>
                  <a:cubicBezTo>
                    <a:pt x="43588" y="73025"/>
                    <a:pt x="45687" y="74857"/>
                    <a:pt x="45687" y="77421"/>
                  </a:cubicBezTo>
                  <a:cubicBezTo>
                    <a:pt x="45687" y="79985"/>
                    <a:pt x="43588" y="82184"/>
                    <a:pt x="41140" y="82184"/>
                  </a:cubicBezTo>
                  <a:lnTo>
                    <a:pt x="29597" y="82184"/>
                  </a:lnTo>
                  <a:cubicBezTo>
                    <a:pt x="27149" y="82184"/>
                    <a:pt x="25400" y="79985"/>
                    <a:pt x="25400" y="77421"/>
                  </a:cubicBezTo>
                  <a:cubicBezTo>
                    <a:pt x="25400" y="74857"/>
                    <a:pt x="27149" y="73025"/>
                    <a:pt x="29597" y="73025"/>
                  </a:cubicBezTo>
                  <a:close/>
                  <a:moveTo>
                    <a:pt x="154225" y="72068"/>
                  </a:moveTo>
                  <a:cubicBezTo>
                    <a:pt x="150262" y="72068"/>
                    <a:pt x="147019" y="75311"/>
                    <a:pt x="147019" y="79275"/>
                  </a:cubicBezTo>
                  <a:lnTo>
                    <a:pt x="147019" y="109544"/>
                  </a:lnTo>
                  <a:lnTo>
                    <a:pt x="276742" y="109544"/>
                  </a:lnTo>
                  <a:lnTo>
                    <a:pt x="276742" y="79275"/>
                  </a:lnTo>
                  <a:cubicBezTo>
                    <a:pt x="276742" y="75311"/>
                    <a:pt x="273859" y="72068"/>
                    <a:pt x="269895" y="72068"/>
                  </a:cubicBezTo>
                  <a:lnTo>
                    <a:pt x="154225" y="72068"/>
                  </a:lnTo>
                  <a:close/>
                  <a:moveTo>
                    <a:pt x="60177" y="8648"/>
                  </a:moveTo>
                  <a:lnTo>
                    <a:pt x="60177" y="21260"/>
                  </a:lnTo>
                  <a:cubicBezTo>
                    <a:pt x="60177" y="28467"/>
                    <a:pt x="66302" y="34593"/>
                    <a:pt x="73509" y="34593"/>
                  </a:cubicBezTo>
                  <a:lnTo>
                    <a:pt x="154225" y="34593"/>
                  </a:lnTo>
                  <a:cubicBezTo>
                    <a:pt x="161432" y="34593"/>
                    <a:pt x="167198" y="28467"/>
                    <a:pt x="167198" y="21260"/>
                  </a:cubicBezTo>
                  <a:lnTo>
                    <a:pt x="167198" y="8648"/>
                  </a:lnTo>
                  <a:lnTo>
                    <a:pt x="60177" y="8648"/>
                  </a:lnTo>
                  <a:close/>
                  <a:moveTo>
                    <a:pt x="21620" y="8648"/>
                  </a:moveTo>
                  <a:cubicBezTo>
                    <a:pt x="14413" y="8648"/>
                    <a:pt x="8648" y="14053"/>
                    <a:pt x="8648" y="21260"/>
                  </a:cubicBezTo>
                  <a:lnTo>
                    <a:pt x="8648" y="263769"/>
                  </a:lnTo>
                  <a:cubicBezTo>
                    <a:pt x="8648" y="270976"/>
                    <a:pt x="14413" y="276742"/>
                    <a:pt x="21620" y="276742"/>
                  </a:cubicBezTo>
                  <a:lnTo>
                    <a:pt x="206115" y="276742"/>
                  </a:lnTo>
                  <a:cubicBezTo>
                    <a:pt x="213322" y="276742"/>
                    <a:pt x="219087" y="270976"/>
                    <a:pt x="219087" y="263769"/>
                  </a:cubicBezTo>
                  <a:lnTo>
                    <a:pt x="219087" y="256563"/>
                  </a:lnTo>
                  <a:lnTo>
                    <a:pt x="154225" y="256563"/>
                  </a:lnTo>
                  <a:cubicBezTo>
                    <a:pt x="145577" y="256563"/>
                    <a:pt x="138371" y="249716"/>
                    <a:pt x="138371" y="240708"/>
                  </a:cubicBezTo>
                  <a:lnTo>
                    <a:pt x="138371" y="79275"/>
                  </a:lnTo>
                  <a:cubicBezTo>
                    <a:pt x="138371" y="70627"/>
                    <a:pt x="145577" y="63420"/>
                    <a:pt x="154225" y="63420"/>
                  </a:cubicBezTo>
                  <a:lnTo>
                    <a:pt x="219087" y="63420"/>
                  </a:lnTo>
                  <a:lnTo>
                    <a:pt x="219087" y="21260"/>
                  </a:lnTo>
                  <a:cubicBezTo>
                    <a:pt x="219087" y="14053"/>
                    <a:pt x="213322" y="8648"/>
                    <a:pt x="206115" y="8648"/>
                  </a:cubicBezTo>
                  <a:lnTo>
                    <a:pt x="175846" y="8648"/>
                  </a:lnTo>
                  <a:lnTo>
                    <a:pt x="175846" y="21260"/>
                  </a:lnTo>
                  <a:cubicBezTo>
                    <a:pt x="175846" y="33512"/>
                    <a:pt x="166117" y="42880"/>
                    <a:pt x="154225" y="42880"/>
                  </a:cubicBezTo>
                  <a:lnTo>
                    <a:pt x="73509" y="42880"/>
                  </a:lnTo>
                  <a:cubicBezTo>
                    <a:pt x="61618" y="42880"/>
                    <a:pt x="51889" y="33512"/>
                    <a:pt x="51889" y="21260"/>
                  </a:cubicBezTo>
                  <a:lnTo>
                    <a:pt x="51889" y="8648"/>
                  </a:lnTo>
                  <a:lnTo>
                    <a:pt x="21620" y="8648"/>
                  </a:lnTo>
                  <a:close/>
                  <a:moveTo>
                    <a:pt x="21620" y="0"/>
                  </a:moveTo>
                  <a:lnTo>
                    <a:pt x="206115" y="0"/>
                  </a:lnTo>
                  <a:cubicBezTo>
                    <a:pt x="218006" y="0"/>
                    <a:pt x="227735" y="9729"/>
                    <a:pt x="227735" y="21260"/>
                  </a:cubicBezTo>
                  <a:lnTo>
                    <a:pt x="227735" y="63420"/>
                  </a:lnTo>
                  <a:lnTo>
                    <a:pt x="269895" y="63420"/>
                  </a:lnTo>
                  <a:cubicBezTo>
                    <a:pt x="278543" y="63420"/>
                    <a:pt x="285390" y="70627"/>
                    <a:pt x="285390" y="79275"/>
                  </a:cubicBezTo>
                  <a:lnTo>
                    <a:pt x="285390" y="240708"/>
                  </a:lnTo>
                  <a:cubicBezTo>
                    <a:pt x="285390" y="249716"/>
                    <a:pt x="278543" y="256563"/>
                    <a:pt x="269895" y="256563"/>
                  </a:cubicBezTo>
                  <a:lnTo>
                    <a:pt x="227735" y="256563"/>
                  </a:lnTo>
                  <a:lnTo>
                    <a:pt x="227735" y="263769"/>
                  </a:lnTo>
                  <a:cubicBezTo>
                    <a:pt x="227735" y="275661"/>
                    <a:pt x="218006" y="285390"/>
                    <a:pt x="206115" y="285390"/>
                  </a:cubicBezTo>
                  <a:lnTo>
                    <a:pt x="21620" y="285390"/>
                  </a:lnTo>
                  <a:cubicBezTo>
                    <a:pt x="9729" y="285390"/>
                    <a:pt x="0" y="275661"/>
                    <a:pt x="0" y="263769"/>
                  </a:cubicBezTo>
                  <a:lnTo>
                    <a:pt x="0" y="21260"/>
                  </a:lnTo>
                  <a:cubicBezTo>
                    <a:pt x="0" y="9729"/>
                    <a:pt x="9729" y="0"/>
                    <a:pt x="2162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ea typeface="Lato Light"/>
                <a:cs typeface="Lato Light"/>
                <a:sym typeface="Lato Light"/>
              </a:endParaRPr>
            </a:p>
          </p:txBody>
        </p:sp>
      </p:grpSp>
      <p:grpSp>
        <p:nvGrpSpPr>
          <p:cNvPr id="3057" name="Google Shape;3057;p20"/>
          <p:cNvGrpSpPr/>
          <p:nvPr/>
        </p:nvGrpSpPr>
        <p:grpSpPr>
          <a:xfrm>
            <a:off x="7208953" y="1794127"/>
            <a:ext cx="2351927" cy="2418090"/>
            <a:chOff x="7394852" y="1196800"/>
            <a:chExt cx="2351927" cy="2418090"/>
          </a:xfrm>
        </p:grpSpPr>
        <p:sp>
          <p:nvSpPr>
            <p:cNvPr id="3058" name="Google Shape;3058;p20"/>
            <p:cNvSpPr/>
            <p:nvPr/>
          </p:nvSpPr>
          <p:spPr>
            <a:xfrm rot="5400000">
              <a:off x="7782467" y="1796644"/>
              <a:ext cx="1576696" cy="2059796"/>
            </a:xfrm>
            <a:prstGeom prst="rightArrow">
              <a:avLst>
                <a:gd name="adj1" fmla="val 72859"/>
                <a:gd name="adj2" fmla="val 53567"/>
              </a:avLst>
            </a:prstGeom>
            <a:solidFill>
              <a:schemeClr val="accent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sp>
          <p:nvSpPr>
            <p:cNvPr id="3059" name="Google Shape;3059;p20"/>
            <p:cNvSpPr txBox="1"/>
            <p:nvPr/>
          </p:nvSpPr>
          <p:spPr>
            <a:xfrm>
              <a:off x="7394852" y="1196800"/>
              <a:ext cx="2351927" cy="58473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2"/>
                  </a:solidFill>
                  <a:ea typeface="Arial"/>
                  <a:cs typeface="Arial"/>
                  <a:sym typeface="Arial"/>
                </a:rPr>
                <a:t>Document Findings and Review</a:t>
              </a:r>
              <a:endParaRPr/>
            </a:p>
          </p:txBody>
        </p:sp>
        <p:sp>
          <p:nvSpPr>
            <p:cNvPr id="3060" name="Google Shape;3060;p20"/>
            <p:cNvSpPr/>
            <p:nvPr/>
          </p:nvSpPr>
          <p:spPr>
            <a:xfrm>
              <a:off x="8227915" y="2222247"/>
              <a:ext cx="685800" cy="685800"/>
            </a:xfrm>
            <a:custGeom>
              <a:avLst/>
              <a:gdLst/>
              <a:ahLst/>
              <a:cxnLst/>
              <a:rect l="l" t="t" r="r" b="b"/>
              <a:pathLst>
                <a:path w="285390" h="285390" extrusionOk="0">
                  <a:moveTo>
                    <a:pt x="14755" y="238965"/>
                  </a:moveTo>
                  <a:lnTo>
                    <a:pt x="46065" y="270635"/>
                  </a:lnTo>
                  <a:lnTo>
                    <a:pt x="46065" y="238965"/>
                  </a:lnTo>
                  <a:lnTo>
                    <a:pt x="14755" y="238965"/>
                  </a:lnTo>
                  <a:close/>
                  <a:moveTo>
                    <a:pt x="67810" y="236538"/>
                  </a:moveTo>
                  <a:lnTo>
                    <a:pt x="108042" y="236538"/>
                  </a:lnTo>
                  <a:cubicBezTo>
                    <a:pt x="110556" y="236538"/>
                    <a:pt x="112353" y="238443"/>
                    <a:pt x="112353" y="240729"/>
                  </a:cubicBezTo>
                  <a:cubicBezTo>
                    <a:pt x="112353" y="243777"/>
                    <a:pt x="110556" y="245682"/>
                    <a:pt x="108042" y="245682"/>
                  </a:cubicBezTo>
                  <a:lnTo>
                    <a:pt x="67810" y="245682"/>
                  </a:lnTo>
                  <a:cubicBezTo>
                    <a:pt x="65296" y="245682"/>
                    <a:pt x="63500" y="243777"/>
                    <a:pt x="63500" y="240729"/>
                  </a:cubicBezTo>
                  <a:cubicBezTo>
                    <a:pt x="63500" y="238443"/>
                    <a:pt x="65296" y="236538"/>
                    <a:pt x="67810" y="236538"/>
                  </a:cubicBezTo>
                  <a:close/>
                  <a:moveTo>
                    <a:pt x="67825" y="207963"/>
                  </a:moveTo>
                  <a:lnTo>
                    <a:pt x="125489" y="207963"/>
                  </a:lnTo>
                  <a:cubicBezTo>
                    <a:pt x="128012" y="207963"/>
                    <a:pt x="129814" y="210249"/>
                    <a:pt x="129814" y="212535"/>
                  </a:cubicBezTo>
                  <a:cubicBezTo>
                    <a:pt x="129814" y="215202"/>
                    <a:pt x="128012" y="217107"/>
                    <a:pt x="125489" y="217107"/>
                  </a:cubicBezTo>
                  <a:lnTo>
                    <a:pt x="67825" y="217107"/>
                  </a:lnTo>
                  <a:cubicBezTo>
                    <a:pt x="65302" y="217107"/>
                    <a:pt x="63500" y="215202"/>
                    <a:pt x="63500" y="212535"/>
                  </a:cubicBezTo>
                  <a:cubicBezTo>
                    <a:pt x="63500" y="210249"/>
                    <a:pt x="65302" y="207963"/>
                    <a:pt x="67825" y="207963"/>
                  </a:cubicBezTo>
                  <a:close/>
                  <a:moveTo>
                    <a:pt x="32919" y="207963"/>
                  </a:moveTo>
                  <a:lnTo>
                    <a:pt x="44505" y="207963"/>
                  </a:lnTo>
                  <a:cubicBezTo>
                    <a:pt x="47039" y="207963"/>
                    <a:pt x="48850" y="210249"/>
                    <a:pt x="48850" y="212535"/>
                  </a:cubicBezTo>
                  <a:cubicBezTo>
                    <a:pt x="48850" y="215202"/>
                    <a:pt x="47039" y="217107"/>
                    <a:pt x="44505" y="217107"/>
                  </a:cubicBezTo>
                  <a:lnTo>
                    <a:pt x="32919" y="217107"/>
                  </a:lnTo>
                  <a:cubicBezTo>
                    <a:pt x="30385" y="217107"/>
                    <a:pt x="28575" y="215202"/>
                    <a:pt x="28575" y="212535"/>
                  </a:cubicBezTo>
                  <a:cubicBezTo>
                    <a:pt x="28575" y="210249"/>
                    <a:pt x="30385" y="207963"/>
                    <a:pt x="32919" y="207963"/>
                  </a:cubicBezTo>
                  <a:close/>
                  <a:moveTo>
                    <a:pt x="247919" y="201972"/>
                  </a:moveTo>
                  <a:cubicBezTo>
                    <a:pt x="250065" y="201613"/>
                    <a:pt x="252569" y="203049"/>
                    <a:pt x="253285" y="205204"/>
                  </a:cubicBezTo>
                  <a:cubicBezTo>
                    <a:pt x="253642" y="207717"/>
                    <a:pt x="252212" y="210231"/>
                    <a:pt x="249707" y="210590"/>
                  </a:cubicBezTo>
                  <a:lnTo>
                    <a:pt x="223592" y="216335"/>
                  </a:lnTo>
                  <a:lnTo>
                    <a:pt x="218583" y="234648"/>
                  </a:lnTo>
                  <a:cubicBezTo>
                    <a:pt x="218226" y="237162"/>
                    <a:pt x="216079" y="238239"/>
                    <a:pt x="213575" y="237880"/>
                  </a:cubicBezTo>
                  <a:lnTo>
                    <a:pt x="187459" y="232135"/>
                  </a:lnTo>
                  <a:lnTo>
                    <a:pt x="160271" y="260502"/>
                  </a:lnTo>
                  <a:cubicBezTo>
                    <a:pt x="159555" y="261220"/>
                    <a:pt x="158482" y="261579"/>
                    <a:pt x="157051" y="261579"/>
                  </a:cubicBezTo>
                  <a:cubicBezTo>
                    <a:pt x="155978" y="261579"/>
                    <a:pt x="154904" y="261220"/>
                    <a:pt x="154189" y="260502"/>
                  </a:cubicBezTo>
                  <a:cubicBezTo>
                    <a:pt x="152400" y="259066"/>
                    <a:pt x="152400" y="256193"/>
                    <a:pt x="154189" y="254398"/>
                  </a:cubicBezTo>
                  <a:lnTo>
                    <a:pt x="183166" y="224235"/>
                  </a:lnTo>
                  <a:cubicBezTo>
                    <a:pt x="183882" y="223158"/>
                    <a:pt x="185313" y="222799"/>
                    <a:pt x="187102" y="222799"/>
                  </a:cubicBezTo>
                  <a:lnTo>
                    <a:pt x="211428" y="228544"/>
                  </a:lnTo>
                  <a:lnTo>
                    <a:pt x="216079" y="211667"/>
                  </a:lnTo>
                  <a:cubicBezTo>
                    <a:pt x="216437" y="210231"/>
                    <a:pt x="217868" y="208795"/>
                    <a:pt x="219299" y="208436"/>
                  </a:cubicBezTo>
                  <a:lnTo>
                    <a:pt x="247919" y="201972"/>
                  </a:lnTo>
                  <a:close/>
                  <a:moveTo>
                    <a:pt x="67810" y="179388"/>
                  </a:moveTo>
                  <a:lnTo>
                    <a:pt x="108042" y="179388"/>
                  </a:lnTo>
                  <a:cubicBezTo>
                    <a:pt x="110556" y="179388"/>
                    <a:pt x="112353" y="181674"/>
                    <a:pt x="112353" y="184341"/>
                  </a:cubicBezTo>
                  <a:cubicBezTo>
                    <a:pt x="112353" y="186627"/>
                    <a:pt x="110556" y="188532"/>
                    <a:pt x="108042" y="188532"/>
                  </a:cubicBezTo>
                  <a:lnTo>
                    <a:pt x="67810" y="188532"/>
                  </a:lnTo>
                  <a:cubicBezTo>
                    <a:pt x="65296" y="188532"/>
                    <a:pt x="63500" y="186627"/>
                    <a:pt x="63500" y="184341"/>
                  </a:cubicBezTo>
                  <a:cubicBezTo>
                    <a:pt x="63500" y="181674"/>
                    <a:pt x="65296" y="179388"/>
                    <a:pt x="67810" y="179388"/>
                  </a:cubicBezTo>
                  <a:close/>
                  <a:moveTo>
                    <a:pt x="32919" y="179388"/>
                  </a:moveTo>
                  <a:lnTo>
                    <a:pt x="44505" y="179388"/>
                  </a:lnTo>
                  <a:cubicBezTo>
                    <a:pt x="47039" y="179388"/>
                    <a:pt x="48850" y="181674"/>
                    <a:pt x="48850" y="184341"/>
                  </a:cubicBezTo>
                  <a:cubicBezTo>
                    <a:pt x="48850" y="186627"/>
                    <a:pt x="47039" y="188532"/>
                    <a:pt x="44505" y="188532"/>
                  </a:cubicBezTo>
                  <a:lnTo>
                    <a:pt x="32919" y="188532"/>
                  </a:lnTo>
                  <a:cubicBezTo>
                    <a:pt x="30385" y="188532"/>
                    <a:pt x="28575" y="186627"/>
                    <a:pt x="28575" y="184341"/>
                  </a:cubicBezTo>
                  <a:cubicBezTo>
                    <a:pt x="28575" y="181674"/>
                    <a:pt x="30385" y="179388"/>
                    <a:pt x="32919" y="179388"/>
                  </a:cubicBezTo>
                  <a:close/>
                  <a:moveTo>
                    <a:pt x="226812" y="169863"/>
                  </a:moveTo>
                  <a:lnTo>
                    <a:pt x="249707" y="174992"/>
                  </a:lnTo>
                  <a:cubicBezTo>
                    <a:pt x="252212" y="175358"/>
                    <a:pt x="253642" y="177922"/>
                    <a:pt x="253285" y="180120"/>
                  </a:cubicBezTo>
                  <a:cubicBezTo>
                    <a:pt x="252569" y="182685"/>
                    <a:pt x="250065" y="184150"/>
                    <a:pt x="248276" y="183784"/>
                  </a:cubicBezTo>
                  <a:lnTo>
                    <a:pt x="227169" y="179021"/>
                  </a:lnTo>
                  <a:lnTo>
                    <a:pt x="200338" y="204666"/>
                  </a:lnTo>
                  <a:cubicBezTo>
                    <a:pt x="198907" y="206131"/>
                    <a:pt x="196761" y="206131"/>
                    <a:pt x="194972" y="205032"/>
                  </a:cubicBezTo>
                  <a:lnTo>
                    <a:pt x="180304" y="194408"/>
                  </a:lnTo>
                  <a:lnTo>
                    <a:pt x="159913" y="211626"/>
                  </a:lnTo>
                  <a:cubicBezTo>
                    <a:pt x="158840" y="211992"/>
                    <a:pt x="158124" y="212359"/>
                    <a:pt x="157051" y="212359"/>
                  </a:cubicBezTo>
                  <a:cubicBezTo>
                    <a:pt x="155978" y="212359"/>
                    <a:pt x="154904" y="211992"/>
                    <a:pt x="153831" y="210893"/>
                  </a:cubicBezTo>
                  <a:cubicBezTo>
                    <a:pt x="152400" y="208695"/>
                    <a:pt x="152758" y="206131"/>
                    <a:pt x="154547" y="204666"/>
                  </a:cubicBezTo>
                  <a:lnTo>
                    <a:pt x="177800" y="185616"/>
                  </a:lnTo>
                  <a:cubicBezTo>
                    <a:pt x="179231" y="184517"/>
                    <a:pt x="181378" y="184150"/>
                    <a:pt x="182809" y="185616"/>
                  </a:cubicBezTo>
                  <a:lnTo>
                    <a:pt x="197119" y="195873"/>
                  </a:lnTo>
                  <a:lnTo>
                    <a:pt x="223234" y="170962"/>
                  </a:lnTo>
                  <a:cubicBezTo>
                    <a:pt x="224307" y="169863"/>
                    <a:pt x="225738" y="169863"/>
                    <a:pt x="226812" y="169863"/>
                  </a:cubicBezTo>
                  <a:close/>
                  <a:moveTo>
                    <a:pt x="67825" y="149225"/>
                  </a:moveTo>
                  <a:lnTo>
                    <a:pt x="125489" y="149225"/>
                  </a:lnTo>
                  <a:cubicBezTo>
                    <a:pt x="128012" y="149225"/>
                    <a:pt x="129814" y="151423"/>
                    <a:pt x="129814" y="153621"/>
                  </a:cubicBezTo>
                  <a:cubicBezTo>
                    <a:pt x="129814" y="156185"/>
                    <a:pt x="128012" y="158384"/>
                    <a:pt x="125489" y="158384"/>
                  </a:cubicBezTo>
                  <a:lnTo>
                    <a:pt x="67825" y="158384"/>
                  </a:lnTo>
                  <a:cubicBezTo>
                    <a:pt x="65302" y="158384"/>
                    <a:pt x="63500" y="156185"/>
                    <a:pt x="63500" y="153621"/>
                  </a:cubicBezTo>
                  <a:cubicBezTo>
                    <a:pt x="63500" y="151423"/>
                    <a:pt x="65302" y="149225"/>
                    <a:pt x="67825" y="149225"/>
                  </a:cubicBezTo>
                  <a:close/>
                  <a:moveTo>
                    <a:pt x="32919" y="149225"/>
                  </a:moveTo>
                  <a:lnTo>
                    <a:pt x="44505" y="149225"/>
                  </a:lnTo>
                  <a:cubicBezTo>
                    <a:pt x="47039" y="149225"/>
                    <a:pt x="48850" y="151423"/>
                    <a:pt x="48850" y="153621"/>
                  </a:cubicBezTo>
                  <a:cubicBezTo>
                    <a:pt x="48850" y="156185"/>
                    <a:pt x="47039" y="158384"/>
                    <a:pt x="44505" y="158384"/>
                  </a:cubicBezTo>
                  <a:lnTo>
                    <a:pt x="32919" y="158384"/>
                  </a:lnTo>
                  <a:cubicBezTo>
                    <a:pt x="30385" y="158384"/>
                    <a:pt x="28575" y="156185"/>
                    <a:pt x="28575" y="153621"/>
                  </a:cubicBezTo>
                  <a:cubicBezTo>
                    <a:pt x="28575" y="151423"/>
                    <a:pt x="30385" y="149225"/>
                    <a:pt x="32919" y="149225"/>
                  </a:cubicBezTo>
                  <a:close/>
                  <a:moveTo>
                    <a:pt x="89976" y="122238"/>
                  </a:moveTo>
                  <a:lnTo>
                    <a:pt x="123982" y="122238"/>
                  </a:lnTo>
                  <a:cubicBezTo>
                    <a:pt x="126461" y="122238"/>
                    <a:pt x="128233" y="124143"/>
                    <a:pt x="128233" y="126810"/>
                  </a:cubicBezTo>
                  <a:cubicBezTo>
                    <a:pt x="128233" y="129477"/>
                    <a:pt x="126461" y="131382"/>
                    <a:pt x="123982" y="131382"/>
                  </a:cubicBezTo>
                  <a:lnTo>
                    <a:pt x="89976" y="131382"/>
                  </a:lnTo>
                  <a:cubicBezTo>
                    <a:pt x="87850" y="131382"/>
                    <a:pt x="85725" y="129477"/>
                    <a:pt x="85725" y="126810"/>
                  </a:cubicBezTo>
                  <a:cubicBezTo>
                    <a:pt x="85725" y="124143"/>
                    <a:pt x="87850" y="122238"/>
                    <a:pt x="89976" y="122238"/>
                  </a:cubicBezTo>
                  <a:close/>
                  <a:moveTo>
                    <a:pt x="32826" y="122238"/>
                  </a:moveTo>
                  <a:lnTo>
                    <a:pt x="66832" y="122238"/>
                  </a:lnTo>
                  <a:cubicBezTo>
                    <a:pt x="69311" y="122238"/>
                    <a:pt x="71083" y="124143"/>
                    <a:pt x="71083" y="126810"/>
                  </a:cubicBezTo>
                  <a:cubicBezTo>
                    <a:pt x="71083" y="129477"/>
                    <a:pt x="69311" y="131382"/>
                    <a:pt x="66832" y="131382"/>
                  </a:cubicBezTo>
                  <a:lnTo>
                    <a:pt x="32826" y="131382"/>
                  </a:lnTo>
                  <a:cubicBezTo>
                    <a:pt x="30346" y="131382"/>
                    <a:pt x="28575" y="129477"/>
                    <a:pt x="28575" y="126810"/>
                  </a:cubicBezTo>
                  <a:cubicBezTo>
                    <a:pt x="28575" y="124143"/>
                    <a:pt x="30346" y="122238"/>
                    <a:pt x="32826" y="122238"/>
                  </a:cubicBezTo>
                  <a:close/>
                  <a:moveTo>
                    <a:pt x="205362" y="117793"/>
                  </a:moveTo>
                  <a:lnTo>
                    <a:pt x="180863" y="148154"/>
                  </a:lnTo>
                  <a:cubicBezTo>
                    <a:pt x="186987" y="152083"/>
                    <a:pt x="194914" y="154583"/>
                    <a:pt x="203200" y="154583"/>
                  </a:cubicBezTo>
                  <a:cubicBezTo>
                    <a:pt x="224817" y="154583"/>
                    <a:pt x="242471" y="138510"/>
                    <a:pt x="244633" y="117793"/>
                  </a:cubicBezTo>
                  <a:lnTo>
                    <a:pt x="205362" y="117793"/>
                  </a:lnTo>
                  <a:close/>
                  <a:moveTo>
                    <a:pt x="67825" y="92075"/>
                  </a:moveTo>
                  <a:lnTo>
                    <a:pt x="125489" y="92075"/>
                  </a:lnTo>
                  <a:cubicBezTo>
                    <a:pt x="128012" y="92075"/>
                    <a:pt x="129814" y="93980"/>
                    <a:pt x="129814" y="96647"/>
                  </a:cubicBezTo>
                  <a:cubicBezTo>
                    <a:pt x="129814" y="99314"/>
                    <a:pt x="128012" y="101219"/>
                    <a:pt x="125489" y="101219"/>
                  </a:cubicBezTo>
                  <a:lnTo>
                    <a:pt x="67825" y="101219"/>
                  </a:lnTo>
                  <a:cubicBezTo>
                    <a:pt x="65302" y="101219"/>
                    <a:pt x="63500" y="99314"/>
                    <a:pt x="63500" y="96647"/>
                  </a:cubicBezTo>
                  <a:cubicBezTo>
                    <a:pt x="63500" y="93980"/>
                    <a:pt x="65302" y="92075"/>
                    <a:pt x="67825" y="92075"/>
                  </a:cubicBezTo>
                  <a:close/>
                  <a:moveTo>
                    <a:pt x="32919" y="92075"/>
                  </a:moveTo>
                  <a:lnTo>
                    <a:pt x="44505" y="92075"/>
                  </a:lnTo>
                  <a:cubicBezTo>
                    <a:pt x="47039" y="92075"/>
                    <a:pt x="48850" y="93980"/>
                    <a:pt x="48850" y="96647"/>
                  </a:cubicBezTo>
                  <a:cubicBezTo>
                    <a:pt x="48850" y="99314"/>
                    <a:pt x="47039" y="101219"/>
                    <a:pt x="44505" y="101219"/>
                  </a:cubicBezTo>
                  <a:lnTo>
                    <a:pt x="32919" y="101219"/>
                  </a:lnTo>
                  <a:cubicBezTo>
                    <a:pt x="30385" y="101219"/>
                    <a:pt x="28575" y="99314"/>
                    <a:pt x="28575" y="96647"/>
                  </a:cubicBezTo>
                  <a:cubicBezTo>
                    <a:pt x="28575" y="93980"/>
                    <a:pt x="30385" y="92075"/>
                    <a:pt x="32919" y="92075"/>
                  </a:cubicBezTo>
                  <a:close/>
                  <a:moveTo>
                    <a:pt x="207524" y="72072"/>
                  </a:moveTo>
                  <a:lnTo>
                    <a:pt x="207524" y="109220"/>
                  </a:lnTo>
                  <a:lnTo>
                    <a:pt x="244633" y="109220"/>
                  </a:lnTo>
                  <a:cubicBezTo>
                    <a:pt x="242831" y="89932"/>
                    <a:pt x="226979" y="74216"/>
                    <a:pt x="207524" y="72072"/>
                  </a:cubicBezTo>
                  <a:close/>
                  <a:moveTo>
                    <a:pt x="198517" y="72072"/>
                  </a:moveTo>
                  <a:cubicBezTo>
                    <a:pt x="177620" y="74573"/>
                    <a:pt x="161407" y="92075"/>
                    <a:pt x="161407" y="113506"/>
                  </a:cubicBezTo>
                  <a:cubicBezTo>
                    <a:pt x="161407" y="124936"/>
                    <a:pt x="166091" y="135652"/>
                    <a:pt x="173657" y="143153"/>
                  </a:cubicBezTo>
                  <a:lnTo>
                    <a:pt x="198517" y="112078"/>
                  </a:lnTo>
                  <a:lnTo>
                    <a:pt x="198517" y="72072"/>
                  </a:lnTo>
                  <a:close/>
                  <a:moveTo>
                    <a:pt x="203200" y="63500"/>
                  </a:moveTo>
                  <a:cubicBezTo>
                    <a:pt x="230942" y="63500"/>
                    <a:pt x="253640" y="86003"/>
                    <a:pt x="253640" y="113506"/>
                  </a:cubicBezTo>
                  <a:cubicBezTo>
                    <a:pt x="253640" y="141367"/>
                    <a:pt x="230942" y="163156"/>
                    <a:pt x="203200" y="163156"/>
                  </a:cubicBezTo>
                  <a:cubicBezTo>
                    <a:pt x="175098" y="163156"/>
                    <a:pt x="152400" y="141367"/>
                    <a:pt x="152400" y="113506"/>
                  </a:cubicBezTo>
                  <a:cubicBezTo>
                    <a:pt x="152400" y="86003"/>
                    <a:pt x="175098" y="63500"/>
                    <a:pt x="203200" y="63500"/>
                  </a:cubicBezTo>
                  <a:close/>
                  <a:moveTo>
                    <a:pt x="67825" y="63500"/>
                  </a:moveTo>
                  <a:lnTo>
                    <a:pt x="125489" y="63500"/>
                  </a:lnTo>
                  <a:cubicBezTo>
                    <a:pt x="128012" y="63500"/>
                    <a:pt x="129814" y="65786"/>
                    <a:pt x="129814" y="68072"/>
                  </a:cubicBezTo>
                  <a:cubicBezTo>
                    <a:pt x="129814" y="70358"/>
                    <a:pt x="128012" y="72644"/>
                    <a:pt x="125489" y="72644"/>
                  </a:cubicBezTo>
                  <a:lnTo>
                    <a:pt x="67825" y="72644"/>
                  </a:lnTo>
                  <a:cubicBezTo>
                    <a:pt x="65302" y="72644"/>
                    <a:pt x="63500" y="70358"/>
                    <a:pt x="63500" y="68072"/>
                  </a:cubicBezTo>
                  <a:cubicBezTo>
                    <a:pt x="63500" y="65786"/>
                    <a:pt x="65302" y="63500"/>
                    <a:pt x="67825" y="63500"/>
                  </a:cubicBezTo>
                  <a:close/>
                  <a:moveTo>
                    <a:pt x="32919" y="63500"/>
                  </a:moveTo>
                  <a:lnTo>
                    <a:pt x="44505" y="63500"/>
                  </a:lnTo>
                  <a:cubicBezTo>
                    <a:pt x="47039" y="63500"/>
                    <a:pt x="48850" y="65786"/>
                    <a:pt x="48850" y="68072"/>
                  </a:cubicBezTo>
                  <a:cubicBezTo>
                    <a:pt x="48850" y="70358"/>
                    <a:pt x="47039" y="72644"/>
                    <a:pt x="44505" y="72644"/>
                  </a:cubicBezTo>
                  <a:lnTo>
                    <a:pt x="32919" y="72644"/>
                  </a:lnTo>
                  <a:cubicBezTo>
                    <a:pt x="30385" y="72644"/>
                    <a:pt x="28575" y="70358"/>
                    <a:pt x="28575" y="68072"/>
                  </a:cubicBezTo>
                  <a:cubicBezTo>
                    <a:pt x="28575" y="65786"/>
                    <a:pt x="30385" y="63500"/>
                    <a:pt x="32919" y="63500"/>
                  </a:cubicBezTo>
                  <a:close/>
                  <a:moveTo>
                    <a:pt x="167859" y="34925"/>
                  </a:moveTo>
                  <a:lnTo>
                    <a:pt x="212778" y="34925"/>
                  </a:lnTo>
                  <a:cubicBezTo>
                    <a:pt x="214952" y="34925"/>
                    <a:pt x="217125" y="36830"/>
                    <a:pt x="217125" y="39497"/>
                  </a:cubicBezTo>
                  <a:cubicBezTo>
                    <a:pt x="217125" y="41783"/>
                    <a:pt x="214952" y="44069"/>
                    <a:pt x="212778" y="44069"/>
                  </a:cubicBezTo>
                  <a:lnTo>
                    <a:pt x="167859" y="44069"/>
                  </a:lnTo>
                  <a:cubicBezTo>
                    <a:pt x="165323" y="44069"/>
                    <a:pt x="163512" y="41783"/>
                    <a:pt x="163512" y="39497"/>
                  </a:cubicBezTo>
                  <a:cubicBezTo>
                    <a:pt x="163512" y="36830"/>
                    <a:pt x="165323" y="34925"/>
                    <a:pt x="167859" y="34925"/>
                  </a:cubicBezTo>
                  <a:close/>
                  <a:moveTo>
                    <a:pt x="72552" y="34925"/>
                  </a:moveTo>
                  <a:lnTo>
                    <a:pt x="142631" y="34925"/>
                  </a:lnTo>
                  <a:cubicBezTo>
                    <a:pt x="145491" y="34925"/>
                    <a:pt x="147279" y="36830"/>
                    <a:pt x="147279" y="39497"/>
                  </a:cubicBezTo>
                  <a:cubicBezTo>
                    <a:pt x="147279" y="41783"/>
                    <a:pt x="145491" y="44069"/>
                    <a:pt x="142631" y="44069"/>
                  </a:cubicBezTo>
                  <a:lnTo>
                    <a:pt x="72552" y="44069"/>
                  </a:lnTo>
                  <a:cubicBezTo>
                    <a:pt x="70049" y="44069"/>
                    <a:pt x="68262" y="41783"/>
                    <a:pt x="68262" y="39497"/>
                  </a:cubicBezTo>
                  <a:cubicBezTo>
                    <a:pt x="68262" y="36830"/>
                    <a:pt x="70049" y="34925"/>
                    <a:pt x="72552" y="34925"/>
                  </a:cubicBezTo>
                  <a:close/>
                  <a:moveTo>
                    <a:pt x="8637" y="8637"/>
                  </a:moveTo>
                  <a:lnTo>
                    <a:pt x="8637" y="230687"/>
                  </a:lnTo>
                  <a:lnTo>
                    <a:pt x="50384" y="230687"/>
                  </a:lnTo>
                  <a:cubicBezTo>
                    <a:pt x="52903" y="230687"/>
                    <a:pt x="54703" y="232487"/>
                    <a:pt x="54703" y="235006"/>
                  </a:cubicBezTo>
                  <a:lnTo>
                    <a:pt x="54703" y="276753"/>
                  </a:lnTo>
                  <a:lnTo>
                    <a:pt x="276753" y="276753"/>
                  </a:lnTo>
                  <a:lnTo>
                    <a:pt x="276753" y="8637"/>
                  </a:lnTo>
                  <a:lnTo>
                    <a:pt x="8637" y="8637"/>
                  </a:lnTo>
                  <a:close/>
                  <a:moveTo>
                    <a:pt x="4318" y="0"/>
                  </a:moveTo>
                  <a:lnTo>
                    <a:pt x="281072" y="0"/>
                  </a:lnTo>
                  <a:cubicBezTo>
                    <a:pt x="283231" y="0"/>
                    <a:pt x="285390" y="2159"/>
                    <a:pt x="285390" y="4678"/>
                  </a:cubicBezTo>
                  <a:lnTo>
                    <a:pt x="285390" y="281072"/>
                  </a:lnTo>
                  <a:cubicBezTo>
                    <a:pt x="285390" y="283591"/>
                    <a:pt x="283231" y="285390"/>
                    <a:pt x="281072" y="285390"/>
                  </a:cubicBezTo>
                  <a:lnTo>
                    <a:pt x="50384" y="285390"/>
                  </a:lnTo>
                  <a:cubicBezTo>
                    <a:pt x="49304" y="285390"/>
                    <a:pt x="48225" y="285030"/>
                    <a:pt x="47145" y="283951"/>
                  </a:cubicBezTo>
                  <a:lnTo>
                    <a:pt x="1079" y="237885"/>
                  </a:lnTo>
                  <a:cubicBezTo>
                    <a:pt x="360" y="237165"/>
                    <a:pt x="0" y="236086"/>
                    <a:pt x="0" y="235006"/>
                  </a:cubicBezTo>
                  <a:lnTo>
                    <a:pt x="0" y="4678"/>
                  </a:lnTo>
                  <a:cubicBezTo>
                    <a:pt x="0" y="2159"/>
                    <a:pt x="1799" y="0"/>
                    <a:pt x="4318"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ea typeface="Lato Light"/>
                <a:cs typeface="Lato Light"/>
                <a:sym typeface="Lato Light"/>
              </a:endParaRPr>
            </a:p>
          </p:txBody>
        </p:sp>
      </p:grpSp>
      <p:grpSp>
        <p:nvGrpSpPr>
          <p:cNvPr id="3061" name="Google Shape;3061;p20"/>
          <p:cNvGrpSpPr/>
          <p:nvPr/>
        </p:nvGrpSpPr>
        <p:grpSpPr>
          <a:xfrm>
            <a:off x="4926942" y="1804162"/>
            <a:ext cx="2059795" cy="2418111"/>
            <a:chOff x="5216877" y="1196780"/>
            <a:chExt cx="2059795" cy="2418111"/>
          </a:xfrm>
        </p:grpSpPr>
        <p:sp>
          <p:nvSpPr>
            <p:cNvPr id="3062" name="Google Shape;3062;p20"/>
            <p:cNvSpPr/>
            <p:nvPr/>
          </p:nvSpPr>
          <p:spPr>
            <a:xfrm rot="5400000">
              <a:off x="5458426" y="1796645"/>
              <a:ext cx="1576696" cy="2059795"/>
            </a:xfrm>
            <a:prstGeom prst="rightArrow">
              <a:avLst>
                <a:gd name="adj1" fmla="val 72859"/>
                <a:gd name="adj2" fmla="val 53567"/>
              </a:avLst>
            </a:prstGeom>
            <a:solidFill>
              <a:schemeClr val="accent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sp>
          <p:nvSpPr>
            <p:cNvPr id="3063" name="Google Shape;3063;p20"/>
            <p:cNvSpPr txBox="1"/>
            <p:nvPr/>
          </p:nvSpPr>
          <p:spPr>
            <a:xfrm>
              <a:off x="5339649" y="1196780"/>
              <a:ext cx="1814251" cy="58477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2"/>
                  </a:solidFill>
                  <a:ea typeface="Arial"/>
                  <a:cs typeface="Arial"/>
                  <a:sym typeface="Arial"/>
                </a:rPr>
                <a:t>Workshop and Review</a:t>
              </a:r>
              <a:endParaRPr/>
            </a:p>
          </p:txBody>
        </p:sp>
        <p:sp>
          <p:nvSpPr>
            <p:cNvPr id="3064" name="Google Shape;3064;p20"/>
            <p:cNvSpPr/>
            <p:nvPr/>
          </p:nvSpPr>
          <p:spPr>
            <a:xfrm>
              <a:off x="5903874" y="2222247"/>
              <a:ext cx="685800" cy="685800"/>
            </a:xfrm>
            <a:custGeom>
              <a:avLst/>
              <a:gdLst/>
              <a:ahLst/>
              <a:cxnLst/>
              <a:rect l="l" t="t" r="r" b="b"/>
              <a:pathLst>
                <a:path w="285390" h="285391" extrusionOk="0">
                  <a:moveTo>
                    <a:pt x="121785" y="260350"/>
                  </a:moveTo>
                  <a:lnTo>
                    <a:pt x="162376" y="260350"/>
                  </a:lnTo>
                  <a:cubicBezTo>
                    <a:pt x="164531" y="260350"/>
                    <a:pt x="166328" y="262255"/>
                    <a:pt x="166328" y="264922"/>
                  </a:cubicBezTo>
                  <a:cubicBezTo>
                    <a:pt x="166328" y="267208"/>
                    <a:pt x="164531" y="269494"/>
                    <a:pt x="162376" y="269494"/>
                  </a:cubicBezTo>
                  <a:lnTo>
                    <a:pt x="121785" y="269494"/>
                  </a:lnTo>
                  <a:cubicBezTo>
                    <a:pt x="119271" y="269494"/>
                    <a:pt x="117475" y="267208"/>
                    <a:pt x="117475" y="264922"/>
                  </a:cubicBezTo>
                  <a:cubicBezTo>
                    <a:pt x="117475" y="262255"/>
                    <a:pt x="119271" y="260350"/>
                    <a:pt x="121785" y="260350"/>
                  </a:cubicBezTo>
                  <a:close/>
                  <a:moveTo>
                    <a:pt x="8637" y="250526"/>
                  </a:moveTo>
                  <a:lnTo>
                    <a:pt x="8637" y="263825"/>
                  </a:lnTo>
                  <a:cubicBezTo>
                    <a:pt x="8637" y="270654"/>
                    <a:pt x="14395" y="276764"/>
                    <a:pt x="21593" y="276764"/>
                  </a:cubicBezTo>
                  <a:lnTo>
                    <a:pt x="263797" y="276764"/>
                  </a:lnTo>
                  <a:cubicBezTo>
                    <a:pt x="270995" y="276764"/>
                    <a:pt x="276753" y="270654"/>
                    <a:pt x="276753" y="263825"/>
                  </a:cubicBezTo>
                  <a:lnTo>
                    <a:pt x="276753" y="250526"/>
                  </a:lnTo>
                  <a:lnTo>
                    <a:pt x="8637" y="250526"/>
                  </a:lnTo>
                  <a:close/>
                  <a:moveTo>
                    <a:pt x="30230" y="199127"/>
                  </a:moveTo>
                  <a:lnTo>
                    <a:pt x="10796" y="242259"/>
                  </a:lnTo>
                  <a:lnTo>
                    <a:pt x="274234" y="242259"/>
                  </a:lnTo>
                  <a:lnTo>
                    <a:pt x="255160" y="199127"/>
                  </a:lnTo>
                  <a:lnTo>
                    <a:pt x="30230" y="199127"/>
                  </a:lnTo>
                  <a:close/>
                  <a:moveTo>
                    <a:pt x="203777" y="130170"/>
                  </a:moveTo>
                  <a:lnTo>
                    <a:pt x="203777" y="156098"/>
                  </a:lnTo>
                  <a:lnTo>
                    <a:pt x="211354" y="156098"/>
                  </a:lnTo>
                  <a:cubicBezTo>
                    <a:pt x="218209" y="156098"/>
                    <a:pt x="224342" y="150336"/>
                    <a:pt x="224342" y="143494"/>
                  </a:cubicBezTo>
                  <a:cubicBezTo>
                    <a:pt x="224342" y="136292"/>
                    <a:pt x="218209" y="130170"/>
                    <a:pt x="211354" y="130170"/>
                  </a:cubicBezTo>
                  <a:lnTo>
                    <a:pt x="203777" y="130170"/>
                  </a:lnTo>
                  <a:close/>
                  <a:moveTo>
                    <a:pt x="72447" y="130170"/>
                  </a:moveTo>
                  <a:cubicBezTo>
                    <a:pt x="65232" y="130170"/>
                    <a:pt x="59459" y="136292"/>
                    <a:pt x="59459" y="143494"/>
                  </a:cubicBezTo>
                  <a:cubicBezTo>
                    <a:pt x="59459" y="150336"/>
                    <a:pt x="65232" y="156098"/>
                    <a:pt x="72447" y="156098"/>
                  </a:cubicBezTo>
                  <a:lnTo>
                    <a:pt x="79663" y="156098"/>
                  </a:lnTo>
                  <a:lnTo>
                    <a:pt x="79663" y="130170"/>
                  </a:lnTo>
                  <a:lnTo>
                    <a:pt x="72447" y="130170"/>
                  </a:lnTo>
                  <a:close/>
                  <a:moveTo>
                    <a:pt x="174053" y="112713"/>
                  </a:moveTo>
                  <a:cubicBezTo>
                    <a:pt x="176720" y="112713"/>
                    <a:pt x="179006" y="114999"/>
                    <a:pt x="179006" y="117285"/>
                  </a:cubicBezTo>
                  <a:cubicBezTo>
                    <a:pt x="179006" y="119952"/>
                    <a:pt x="176720" y="121857"/>
                    <a:pt x="174053" y="121857"/>
                  </a:cubicBezTo>
                  <a:cubicBezTo>
                    <a:pt x="171767" y="121857"/>
                    <a:pt x="169862" y="119952"/>
                    <a:pt x="169862" y="117285"/>
                  </a:cubicBezTo>
                  <a:cubicBezTo>
                    <a:pt x="169862" y="114999"/>
                    <a:pt x="171767" y="112713"/>
                    <a:pt x="174053" y="112713"/>
                  </a:cubicBezTo>
                  <a:close/>
                  <a:moveTo>
                    <a:pt x="174053" y="92075"/>
                  </a:moveTo>
                  <a:cubicBezTo>
                    <a:pt x="176720" y="92075"/>
                    <a:pt x="179006" y="93980"/>
                    <a:pt x="179006" y="96647"/>
                  </a:cubicBezTo>
                  <a:cubicBezTo>
                    <a:pt x="179006" y="99314"/>
                    <a:pt x="176720" y="101219"/>
                    <a:pt x="174053" y="101219"/>
                  </a:cubicBezTo>
                  <a:cubicBezTo>
                    <a:pt x="171767" y="101219"/>
                    <a:pt x="169862" y="99314"/>
                    <a:pt x="169862" y="96647"/>
                  </a:cubicBezTo>
                  <a:cubicBezTo>
                    <a:pt x="169862" y="93980"/>
                    <a:pt x="171767" y="92075"/>
                    <a:pt x="174053" y="92075"/>
                  </a:cubicBezTo>
                  <a:close/>
                  <a:moveTo>
                    <a:pt x="174053" y="73025"/>
                  </a:moveTo>
                  <a:cubicBezTo>
                    <a:pt x="176720" y="73025"/>
                    <a:pt x="179006" y="75311"/>
                    <a:pt x="179006" y="77597"/>
                  </a:cubicBezTo>
                  <a:cubicBezTo>
                    <a:pt x="179006" y="79883"/>
                    <a:pt x="176720" y="82169"/>
                    <a:pt x="174053" y="82169"/>
                  </a:cubicBezTo>
                  <a:cubicBezTo>
                    <a:pt x="171767" y="82169"/>
                    <a:pt x="169862" y="79883"/>
                    <a:pt x="169862" y="77597"/>
                  </a:cubicBezTo>
                  <a:cubicBezTo>
                    <a:pt x="169862" y="75311"/>
                    <a:pt x="171767" y="73025"/>
                    <a:pt x="174053" y="73025"/>
                  </a:cubicBezTo>
                  <a:close/>
                  <a:moveTo>
                    <a:pt x="148936" y="61030"/>
                  </a:moveTo>
                  <a:lnTo>
                    <a:pt x="148936" y="156098"/>
                  </a:lnTo>
                  <a:lnTo>
                    <a:pt x="169501" y="156098"/>
                  </a:lnTo>
                  <a:lnTo>
                    <a:pt x="169501" y="137372"/>
                  </a:lnTo>
                  <a:cubicBezTo>
                    <a:pt x="169501" y="134852"/>
                    <a:pt x="171306" y="133051"/>
                    <a:pt x="173470" y="133051"/>
                  </a:cubicBezTo>
                  <a:cubicBezTo>
                    <a:pt x="175996" y="133051"/>
                    <a:pt x="178161" y="134852"/>
                    <a:pt x="178161" y="137372"/>
                  </a:cubicBezTo>
                  <a:lnTo>
                    <a:pt x="178161" y="156098"/>
                  </a:lnTo>
                  <a:lnTo>
                    <a:pt x="195479" y="156098"/>
                  </a:lnTo>
                  <a:lnTo>
                    <a:pt x="195479" y="68232"/>
                  </a:lnTo>
                  <a:cubicBezTo>
                    <a:pt x="195479" y="64271"/>
                    <a:pt x="191871" y="61030"/>
                    <a:pt x="187902" y="61030"/>
                  </a:cubicBezTo>
                  <a:lnTo>
                    <a:pt x="148936" y="61030"/>
                  </a:lnTo>
                  <a:close/>
                  <a:moveTo>
                    <a:pt x="120433" y="61030"/>
                  </a:moveTo>
                  <a:lnTo>
                    <a:pt x="120433" y="156098"/>
                  </a:lnTo>
                  <a:lnTo>
                    <a:pt x="140277" y="156098"/>
                  </a:lnTo>
                  <a:lnTo>
                    <a:pt x="140277" y="61030"/>
                  </a:lnTo>
                  <a:lnTo>
                    <a:pt x="120433" y="61030"/>
                  </a:lnTo>
                  <a:close/>
                  <a:moveTo>
                    <a:pt x="95538" y="61030"/>
                  </a:moveTo>
                  <a:cubicBezTo>
                    <a:pt x="91570" y="61030"/>
                    <a:pt x="88322" y="64271"/>
                    <a:pt x="88322" y="68232"/>
                  </a:cubicBezTo>
                  <a:lnTo>
                    <a:pt x="88322" y="156098"/>
                  </a:lnTo>
                  <a:lnTo>
                    <a:pt x="111413" y="156098"/>
                  </a:lnTo>
                  <a:lnTo>
                    <a:pt x="111413" y="61030"/>
                  </a:lnTo>
                  <a:lnTo>
                    <a:pt x="95538" y="61030"/>
                  </a:lnTo>
                  <a:close/>
                  <a:moveTo>
                    <a:pt x="95538" y="52388"/>
                  </a:moveTo>
                  <a:lnTo>
                    <a:pt x="187902" y="52388"/>
                  </a:lnTo>
                  <a:cubicBezTo>
                    <a:pt x="196922" y="52388"/>
                    <a:pt x="203777" y="59590"/>
                    <a:pt x="203777" y="68232"/>
                  </a:cubicBezTo>
                  <a:lnTo>
                    <a:pt x="203777" y="121528"/>
                  </a:lnTo>
                  <a:lnTo>
                    <a:pt x="211354" y="121528"/>
                  </a:lnTo>
                  <a:cubicBezTo>
                    <a:pt x="223260" y="121528"/>
                    <a:pt x="233001" y="131251"/>
                    <a:pt x="233001" y="143494"/>
                  </a:cubicBezTo>
                  <a:cubicBezTo>
                    <a:pt x="233001" y="155017"/>
                    <a:pt x="223260" y="164740"/>
                    <a:pt x="211354" y="164740"/>
                  </a:cubicBezTo>
                  <a:lnTo>
                    <a:pt x="72447" y="164740"/>
                  </a:lnTo>
                  <a:cubicBezTo>
                    <a:pt x="60541" y="164740"/>
                    <a:pt x="50800" y="155017"/>
                    <a:pt x="50800" y="143494"/>
                  </a:cubicBezTo>
                  <a:cubicBezTo>
                    <a:pt x="50800" y="131251"/>
                    <a:pt x="60541" y="121528"/>
                    <a:pt x="72447" y="121528"/>
                  </a:cubicBezTo>
                  <a:lnTo>
                    <a:pt x="79663" y="121528"/>
                  </a:lnTo>
                  <a:lnTo>
                    <a:pt x="79663" y="68232"/>
                  </a:lnTo>
                  <a:cubicBezTo>
                    <a:pt x="79663" y="59590"/>
                    <a:pt x="86879" y="52388"/>
                    <a:pt x="95538" y="52388"/>
                  </a:cubicBezTo>
                  <a:close/>
                  <a:moveTo>
                    <a:pt x="44626" y="8986"/>
                  </a:moveTo>
                  <a:cubicBezTo>
                    <a:pt x="37788" y="8986"/>
                    <a:pt x="31670" y="14737"/>
                    <a:pt x="31670" y="21925"/>
                  </a:cubicBezTo>
                  <a:lnTo>
                    <a:pt x="31670" y="190500"/>
                  </a:lnTo>
                  <a:lnTo>
                    <a:pt x="253720" y="190500"/>
                  </a:lnTo>
                  <a:lnTo>
                    <a:pt x="253720" y="21925"/>
                  </a:lnTo>
                  <a:cubicBezTo>
                    <a:pt x="253720" y="14737"/>
                    <a:pt x="247962" y="8986"/>
                    <a:pt x="240764" y="8986"/>
                  </a:cubicBezTo>
                  <a:lnTo>
                    <a:pt x="44626" y="8986"/>
                  </a:lnTo>
                  <a:close/>
                  <a:moveTo>
                    <a:pt x="44626" y="0"/>
                  </a:moveTo>
                  <a:lnTo>
                    <a:pt x="240764" y="0"/>
                  </a:lnTo>
                  <a:cubicBezTo>
                    <a:pt x="252641" y="0"/>
                    <a:pt x="262358" y="9704"/>
                    <a:pt x="262358" y="21925"/>
                  </a:cubicBezTo>
                  <a:lnTo>
                    <a:pt x="262358" y="193735"/>
                  </a:lnTo>
                  <a:lnTo>
                    <a:pt x="285030" y="244775"/>
                  </a:lnTo>
                  <a:cubicBezTo>
                    <a:pt x="285390" y="245134"/>
                    <a:pt x="285390" y="245853"/>
                    <a:pt x="285390" y="246572"/>
                  </a:cubicBezTo>
                  <a:lnTo>
                    <a:pt x="285390" y="263825"/>
                  </a:lnTo>
                  <a:cubicBezTo>
                    <a:pt x="285390" y="275686"/>
                    <a:pt x="275673" y="285391"/>
                    <a:pt x="263797" y="285391"/>
                  </a:cubicBezTo>
                  <a:lnTo>
                    <a:pt x="21593" y="285391"/>
                  </a:lnTo>
                  <a:cubicBezTo>
                    <a:pt x="9717" y="285391"/>
                    <a:pt x="0" y="275686"/>
                    <a:pt x="0" y="263825"/>
                  </a:cubicBezTo>
                  <a:lnTo>
                    <a:pt x="0" y="246572"/>
                  </a:lnTo>
                  <a:cubicBezTo>
                    <a:pt x="0" y="245853"/>
                    <a:pt x="0" y="245134"/>
                    <a:pt x="360" y="244775"/>
                  </a:cubicBezTo>
                  <a:lnTo>
                    <a:pt x="23032" y="193735"/>
                  </a:lnTo>
                  <a:lnTo>
                    <a:pt x="23032" y="21925"/>
                  </a:lnTo>
                  <a:cubicBezTo>
                    <a:pt x="23032" y="9704"/>
                    <a:pt x="32749" y="0"/>
                    <a:pt x="4462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ea typeface="Lato Light"/>
                <a:cs typeface="Lato Light"/>
                <a:sym typeface="Lato Light"/>
              </a:endParaRPr>
            </a:p>
          </p:txBody>
        </p:sp>
      </p:grpSp>
      <p:grpSp>
        <p:nvGrpSpPr>
          <p:cNvPr id="3065" name="Google Shape;3065;p20"/>
          <p:cNvGrpSpPr/>
          <p:nvPr/>
        </p:nvGrpSpPr>
        <p:grpSpPr>
          <a:xfrm>
            <a:off x="2644930" y="1804161"/>
            <a:ext cx="2059795" cy="2418112"/>
            <a:chOff x="2686139" y="1196780"/>
            <a:chExt cx="2059795" cy="2418112"/>
          </a:xfrm>
        </p:grpSpPr>
        <p:sp>
          <p:nvSpPr>
            <p:cNvPr id="3066" name="Google Shape;3066;p20"/>
            <p:cNvSpPr/>
            <p:nvPr/>
          </p:nvSpPr>
          <p:spPr>
            <a:xfrm rot="5400000">
              <a:off x="2927688" y="1796646"/>
              <a:ext cx="1576696" cy="2059795"/>
            </a:xfrm>
            <a:prstGeom prst="rightArrow">
              <a:avLst>
                <a:gd name="adj1" fmla="val 72859"/>
                <a:gd name="adj2" fmla="val 53567"/>
              </a:avLst>
            </a:pr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5063">
                <a:solidFill>
                  <a:schemeClr val="dk1"/>
                </a:solidFill>
                <a:ea typeface="Lato Light"/>
                <a:cs typeface="Lato Light"/>
                <a:sym typeface="Lato Light"/>
              </a:endParaRPr>
            </a:p>
          </p:txBody>
        </p:sp>
        <p:sp>
          <p:nvSpPr>
            <p:cNvPr id="3067" name="Google Shape;3067;p20"/>
            <p:cNvSpPr txBox="1"/>
            <p:nvPr/>
          </p:nvSpPr>
          <p:spPr>
            <a:xfrm>
              <a:off x="2833267" y="1196780"/>
              <a:ext cx="1765539" cy="58477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2"/>
                  </a:solidFill>
                  <a:ea typeface="Arial"/>
                  <a:cs typeface="Arial"/>
                  <a:sym typeface="Arial"/>
                </a:rPr>
                <a:t>Start-up and Planning</a:t>
              </a:r>
              <a:endParaRPr/>
            </a:p>
          </p:txBody>
        </p:sp>
        <p:sp>
          <p:nvSpPr>
            <p:cNvPr id="3068" name="Google Shape;3068;p20"/>
            <p:cNvSpPr/>
            <p:nvPr/>
          </p:nvSpPr>
          <p:spPr>
            <a:xfrm>
              <a:off x="3417305" y="2222248"/>
              <a:ext cx="597463" cy="784990"/>
            </a:xfrm>
            <a:custGeom>
              <a:avLst/>
              <a:gdLst/>
              <a:ahLst/>
              <a:cxnLst/>
              <a:rect l="l" t="t" r="r" b="b"/>
              <a:pathLst>
                <a:path w="217126" h="285390" extrusionOk="0">
                  <a:moveTo>
                    <a:pt x="67197" y="261278"/>
                  </a:moveTo>
                  <a:cubicBezTo>
                    <a:pt x="69365" y="269915"/>
                    <a:pt x="77313" y="276753"/>
                    <a:pt x="86706" y="276753"/>
                  </a:cubicBezTo>
                  <a:lnTo>
                    <a:pt x="131143" y="276753"/>
                  </a:lnTo>
                  <a:cubicBezTo>
                    <a:pt x="140536" y="276753"/>
                    <a:pt x="148484" y="269915"/>
                    <a:pt x="150652" y="261278"/>
                  </a:cubicBezTo>
                  <a:lnTo>
                    <a:pt x="67197" y="261278"/>
                  </a:lnTo>
                  <a:close/>
                  <a:moveTo>
                    <a:pt x="54914" y="214133"/>
                  </a:moveTo>
                  <a:cubicBezTo>
                    <a:pt x="55275" y="216292"/>
                    <a:pt x="55275" y="218811"/>
                    <a:pt x="55275" y="221330"/>
                  </a:cubicBezTo>
                  <a:lnTo>
                    <a:pt x="55275" y="251201"/>
                  </a:lnTo>
                  <a:cubicBezTo>
                    <a:pt x="55275" y="251921"/>
                    <a:pt x="55998" y="252641"/>
                    <a:pt x="56720" y="252641"/>
                  </a:cubicBezTo>
                  <a:lnTo>
                    <a:pt x="161128" y="252641"/>
                  </a:lnTo>
                  <a:cubicBezTo>
                    <a:pt x="161851" y="252641"/>
                    <a:pt x="162212" y="251921"/>
                    <a:pt x="162212" y="251201"/>
                  </a:cubicBezTo>
                  <a:lnTo>
                    <a:pt x="162212" y="237885"/>
                  </a:lnTo>
                  <a:lnTo>
                    <a:pt x="74061" y="237885"/>
                  </a:lnTo>
                  <a:cubicBezTo>
                    <a:pt x="71894" y="237885"/>
                    <a:pt x="69726" y="236086"/>
                    <a:pt x="69726" y="233567"/>
                  </a:cubicBezTo>
                  <a:cubicBezTo>
                    <a:pt x="69726" y="231047"/>
                    <a:pt x="71894" y="229248"/>
                    <a:pt x="74061" y="229248"/>
                  </a:cubicBezTo>
                  <a:lnTo>
                    <a:pt x="162212" y="229248"/>
                  </a:lnTo>
                  <a:lnTo>
                    <a:pt x="162212" y="220611"/>
                  </a:lnTo>
                  <a:cubicBezTo>
                    <a:pt x="162212" y="218451"/>
                    <a:pt x="162574" y="216292"/>
                    <a:pt x="162935" y="214133"/>
                  </a:cubicBezTo>
                  <a:lnTo>
                    <a:pt x="54914" y="214133"/>
                  </a:lnTo>
                  <a:close/>
                  <a:moveTo>
                    <a:pt x="91171" y="92759"/>
                  </a:moveTo>
                  <a:lnTo>
                    <a:pt x="91171" y="124370"/>
                  </a:lnTo>
                  <a:lnTo>
                    <a:pt x="122782" y="124370"/>
                  </a:lnTo>
                  <a:lnTo>
                    <a:pt x="122782" y="92759"/>
                  </a:lnTo>
                  <a:lnTo>
                    <a:pt x="91171" y="92759"/>
                  </a:lnTo>
                  <a:close/>
                  <a:moveTo>
                    <a:pt x="86861" y="84138"/>
                  </a:moveTo>
                  <a:lnTo>
                    <a:pt x="127092" y="84138"/>
                  </a:lnTo>
                  <a:cubicBezTo>
                    <a:pt x="129607" y="84138"/>
                    <a:pt x="131403" y="85934"/>
                    <a:pt x="131403" y="88449"/>
                  </a:cubicBezTo>
                  <a:lnTo>
                    <a:pt x="131403" y="128680"/>
                  </a:lnTo>
                  <a:cubicBezTo>
                    <a:pt x="131403" y="131195"/>
                    <a:pt x="129607" y="132991"/>
                    <a:pt x="127092" y="132991"/>
                  </a:cubicBezTo>
                  <a:lnTo>
                    <a:pt x="86861" y="132991"/>
                  </a:lnTo>
                  <a:cubicBezTo>
                    <a:pt x="84346" y="132991"/>
                    <a:pt x="82550" y="131195"/>
                    <a:pt x="82550" y="128680"/>
                  </a:cubicBezTo>
                  <a:lnTo>
                    <a:pt x="82550" y="88449"/>
                  </a:lnTo>
                  <a:cubicBezTo>
                    <a:pt x="82550" y="85934"/>
                    <a:pt x="84346" y="84138"/>
                    <a:pt x="86861" y="84138"/>
                  </a:cubicBezTo>
                  <a:close/>
                  <a:moveTo>
                    <a:pt x="72227" y="66691"/>
                  </a:moveTo>
                  <a:cubicBezTo>
                    <a:pt x="68266" y="66691"/>
                    <a:pt x="65025" y="69940"/>
                    <a:pt x="65025" y="73910"/>
                  </a:cubicBezTo>
                  <a:lnTo>
                    <a:pt x="65025" y="143217"/>
                  </a:lnTo>
                  <a:cubicBezTo>
                    <a:pt x="65025" y="147188"/>
                    <a:pt x="68266" y="150076"/>
                    <a:pt x="72227" y="150076"/>
                  </a:cubicBezTo>
                  <a:lnTo>
                    <a:pt x="141725" y="150076"/>
                  </a:lnTo>
                  <a:cubicBezTo>
                    <a:pt x="145326" y="150076"/>
                    <a:pt x="148927" y="147188"/>
                    <a:pt x="148927" y="143217"/>
                  </a:cubicBezTo>
                  <a:lnTo>
                    <a:pt x="148927" y="73910"/>
                  </a:lnTo>
                  <a:cubicBezTo>
                    <a:pt x="148927" y="69940"/>
                    <a:pt x="145326" y="66691"/>
                    <a:pt x="141725" y="66691"/>
                  </a:cubicBezTo>
                  <a:lnTo>
                    <a:pt x="72227" y="66691"/>
                  </a:lnTo>
                  <a:close/>
                  <a:moveTo>
                    <a:pt x="80869" y="34925"/>
                  </a:moveTo>
                  <a:cubicBezTo>
                    <a:pt x="83030" y="34925"/>
                    <a:pt x="85191" y="36730"/>
                    <a:pt x="85191" y="39257"/>
                  </a:cubicBezTo>
                  <a:lnTo>
                    <a:pt x="85191" y="58027"/>
                  </a:lnTo>
                  <a:lnTo>
                    <a:pt x="102475" y="58027"/>
                  </a:lnTo>
                  <a:lnTo>
                    <a:pt x="102475" y="39257"/>
                  </a:lnTo>
                  <a:cubicBezTo>
                    <a:pt x="102475" y="36730"/>
                    <a:pt x="104636" y="34925"/>
                    <a:pt x="106796" y="34925"/>
                  </a:cubicBezTo>
                  <a:cubicBezTo>
                    <a:pt x="109317" y="34925"/>
                    <a:pt x="111117" y="36730"/>
                    <a:pt x="111117" y="39257"/>
                  </a:cubicBezTo>
                  <a:lnTo>
                    <a:pt x="111117" y="58027"/>
                  </a:lnTo>
                  <a:lnTo>
                    <a:pt x="128402" y="58027"/>
                  </a:lnTo>
                  <a:lnTo>
                    <a:pt x="128402" y="39257"/>
                  </a:lnTo>
                  <a:cubicBezTo>
                    <a:pt x="128402" y="36730"/>
                    <a:pt x="130202" y="34925"/>
                    <a:pt x="133083" y="34925"/>
                  </a:cubicBezTo>
                  <a:cubicBezTo>
                    <a:pt x="135243" y="34925"/>
                    <a:pt x="137044" y="36730"/>
                    <a:pt x="137044" y="39257"/>
                  </a:cubicBezTo>
                  <a:lnTo>
                    <a:pt x="137044" y="58027"/>
                  </a:lnTo>
                  <a:lnTo>
                    <a:pt x="141725" y="58027"/>
                  </a:lnTo>
                  <a:cubicBezTo>
                    <a:pt x="150367" y="58027"/>
                    <a:pt x="157569" y="65247"/>
                    <a:pt x="157569" y="73910"/>
                  </a:cubicBezTo>
                  <a:lnTo>
                    <a:pt x="157569" y="78242"/>
                  </a:lnTo>
                  <a:lnTo>
                    <a:pt x="175934" y="78242"/>
                  </a:lnTo>
                  <a:cubicBezTo>
                    <a:pt x="178455" y="78242"/>
                    <a:pt x="180615" y="80047"/>
                    <a:pt x="180615" y="82574"/>
                  </a:cubicBezTo>
                  <a:cubicBezTo>
                    <a:pt x="180615" y="84739"/>
                    <a:pt x="178455" y="86905"/>
                    <a:pt x="175934" y="86905"/>
                  </a:cubicBezTo>
                  <a:lnTo>
                    <a:pt x="157569" y="86905"/>
                  </a:lnTo>
                  <a:lnTo>
                    <a:pt x="157569" y="104232"/>
                  </a:lnTo>
                  <a:lnTo>
                    <a:pt x="175934" y="104232"/>
                  </a:lnTo>
                  <a:cubicBezTo>
                    <a:pt x="178455" y="104232"/>
                    <a:pt x="180615" y="106398"/>
                    <a:pt x="180615" y="108564"/>
                  </a:cubicBezTo>
                  <a:cubicBezTo>
                    <a:pt x="180615" y="111090"/>
                    <a:pt x="178455" y="112895"/>
                    <a:pt x="175934" y="112895"/>
                  </a:cubicBezTo>
                  <a:lnTo>
                    <a:pt x="157569" y="112895"/>
                  </a:lnTo>
                  <a:lnTo>
                    <a:pt x="157569" y="130222"/>
                  </a:lnTo>
                  <a:lnTo>
                    <a:pt x="175934" y="130222"/>
                  </a:lnTo>
                  <a:cubicBezTo>
                    <a:pt x="178455" y="130222"/>
                    <a:pt x="180615" y="132027"/>
                    <a:pt x="180615" y="134554"/>
                  </a:cubicBezTo>
                  <a:cubicBezTo>
                    <a:pt x="180615" y="137081"/>
                    <a:pt x="178455" y="138885"/>
                    <a:pt x="175934" y="138885"/>
                  </a:cubicBezTo>
                  <a:lnTo>
                    <a:pt x="157569" y="138885"/>
                  </a:lnTo>
                  <a:lnTo>
                    <a:pt x="157569" y="143217"/>
                  </a:lnTo>
                  <a:cubicBezTo>
                    <a:pt x="157569" y="151880"/>
                    <a:pt x="150367" y="159100"/>
                    <a:pt x="141725" y="159100"/>
                  </a:cubicBezTo>
                  <a:lnTo>
                    <a:pt x="137044" y="159100"/>
                  </a:lnTo>
                  <a:lnTo>
                    <a:pt x="137044" y="177510"/>
                  </a:lnTo>
                  <a:cubicBezTo>
                    <a:pt x="137044" y="180036"/>
                    <a:pt x="135243" y="182202"/>
                    <a:pt x="133083" y="182202"/>
                  </a:cubicBezTo>
                  <a:cubicBezTo>
                    <a:pt x="130202" y="182202"/>
                    <a:pt x="128402" y="180036"/>
                    <a:pt x="128402" y="177510"/>
                  </a:cubicBezTo>
                  <a:lnTo>
                    <a:pt x="128402" y="159100"/>
                  </a:lnTo>
                  <a:lnTo>
                    <a:pt x="111117" y="159100"/>
                  </a:lnTo>
                  <a:lnTo>
                    <a:pt x="111117" y="177510"/>
                  </a:lnTo>
                  <a:cubicBezTo>
                    <a:pt x="111117" y="180036"/>
                    <a:pt x="109317" y="182202"/>
                    <a:pt x="106796" y="182202"/>
                  </a:cubicBezTo>
                  <a:cubicBezTo>
                    <a:pt x="104636" y="182202"/>
                    <a:pt x="102475" y="180036"/>
                    <a:pt x="102475" y="177510"/>
                  </a:cubicBezTo>
                  <a:lnTo>
                    <a:pt x="102475" y="159100"/>
                  </a:lnTo>
                  <a:lnTo>
                    <a:pt x="85191" y="159100"/>
                  </a:lnTo>
                  <a:lnTo>
                    <a:pt x="85191" y="177510"/>
                  </a:lnTo>
                  <a:cubicBezTo>
                    <a:pt x="85191" y="180036"/>
                    <a:pt x="83030" y="182202"/>
                    <a:pt x="80869" y="182202"/>
                  </a:cubicBezTo>
                  <a:cubicBezTo>
                    <a:pt x="78709" y="182202"/>
                    <a:pt x="76548" y="180036"/>
                    <a:pt x="76548" y="177510"/>
                  </a:cubicBezTo>
                  <a:lnTo>
                    <a:pt x="76548" y="159100"/>
                  </a:lnTo>
                  <a:lnTo>
                    <a:pt x="72227" y="159100"/>
                  </a:lnTo>
                  <a:cubicBezTo>
                    <a:pt x="63585" y="159100"/>
                    <a:pt x="56383" y="151880"/>
                    <a:pt x="56383" y="143217"/>
                  </a:cubicBezTo>
                  <a:lnTo>
                    <a:pt x="56383" y="138885"/>
                  </a:lnTo>
                  <a:lnTo>
                    <a:pt x="37658" y="138885"/>
                  </a:lnTo>
                  <a:cubicBezTo>
                    <a:pt x="35138" y="138885"/>
                    <a:pt x="33337" y="137081"/>
                    <a:pt x="33337" y="134554"/>
                  </a:cubicBezTo>
                  <a:cubicBezTo>
                    <a:pt x="33337" y="132027"/>
                    <a:pt x="35138" y="130222"/>
                    <a:pt x="37658" y="130222"/>
                  </a:cubicBezTo>
                  <a:lnTo>
                    <a:pt x="56383" y="130222"/>
                  </a:lnTo>
                  <a:lnTo>
                    <a:pt x="56383" y="112895"/>
                  </a:lnTo>
                  <a:lnTo>
                    <a:pt x="37658" y="112895"/>
                  </a:lnTo>
                  <a:cubicBezTo>
                    <a:pt x="35138" y="112895"/>
                    <a:pt x="33337" y="111090"/>
                    <a:pt x="33337" y="108564"/>
                  </a:cubicBezTo>
                  <a:cubicBezTo>
                    <a:pt x="33337" y="106398"/>
                    <a:pt x="35138" y="104232"/>
                    <a:pt x="37658" y="104232"/>
                  </a:cubicBezTo>
                  <a:lnTo>
                    <a:pt x="56383" y="104232"/>
                  </a:lnTo>
                  <a:lnTo>
                    <a:pt x="56383" y="86905"/>
                  </a:lnTo>
                  <a:lnTo>
                    <a:pt x="37658" y="86905"/>
                  </a:lnTo>
                  <a:cubicBezTo>
                    <a:pt x="35138" y="86905"/>
                    <a:pt x="33337" y="84739"/>
                    <a:pt x="33337" y="82574"/>
                  </a:cubicBezTo>
                  <a:cubicBezTo>
                    <a:pt x="33337" y="80047"/>
                    <a:pt x="35138" y="78242"/>
                    <a:pt x="37658" y="78242"/>
                  </a:cubicBezTo>
                  <a:lnTo>
                    <a:pt x="56383" y="78242"/>
                  </a:lnTo>
                  <a:lnTo>
                    <a:pt x="56383" y="73910"/>
                  </a:lnTo>
                  <a:cubicBezTo>
                    <a:pt x="56383" y="65247"/>
                    <a:pt x="63585" y="58027"/>
                    <a:pt x="72227" y="58027"/>
                  </a:cubicBezTo>
                  <a:lnTo>
                    <a:pt x="76548" y="58027"/>
                  </a:lnTo>
                  <a:lnTo>
                    <a:pt x="76548" y="39257"/>
                  </a:lnTo>
                  <a:cubicBezTo>
                    <a:pt x="76548" y="36730"/>
                    <a:pt x="78709" y="34925"/>
                    <a:pt x="80869" y="34925"/>
                  </a:cubicBezTo>
                  <a:close/>
                  <a:moveTo>
                    <a:pt x="108382" y="8637"/>
                  </a:moveTo>
                  <a:cubicBezTo>
                    <a:pt x="53469" y="8637"/>
                    <a:pt x="8670" y="53623"/>
                    <a:pt x="8670" y="108326"/>
                  </a:cubicBezTo>
                  <a:cubicBezTo>
                    <a:pt x="8670" y="134958"/>
                    <a:pt x="18786" y="159070"/>
                    <a:pt x="37573" y="178144"/>
                  </a:cubicBezTo>
                  <a:cubicBezTo>
                    <a:pt x="45160" y="185702"/>
                    <a:pt x="50579" y="195059"/>
                    <a:pt x="53469" y="205495"/>
                  </a:cubicBezTo>
                  <a:lnTo>
                    <a:pt x="164380" y="205495"/>
                  </a:lnTo>
                  <a:cubicBezTo>
                    <a:pt x="166909" y="195059"/>
                    <a:pt x="171967" y="185342"/>
                    <a:pt x="179915" y="177424"/>
                  </a:cubicBezTo>
                  <a:cubicBezTo>
                    <a:pt x="198340" y="158710"/>
                    <a:pt x="208455" y="134238"/>
                    <a:pt x="208455" y="108326"/>
                  </a:cubicBezTo>
                  <a:cubicBezTo>
                    <a:pt x="208455" y="53623"/>
                    <a:pt x="163296" y="8637"/>
                    <a:pt x="108382" y="8637"/>
                  </a:cubicBezTo>
                  <a:close/>
                  <a:moveTo>
                    <a:pt x="108382" y="0"/>
                  </a:moveTo>
                  <a:cubicBezTo>
                    <a:pt x="168354" y="0"/>
                    <a:pt x="217126" y="48585"/>
                    <a:pt x="217126" y="108326"/>
                  </a:cubicBezTo>
                  <a:cubicBezTo>
                    <a:pt x="217126" y="136757"/>
                    <a:pt x="205926" y="163389"/>
                    <a:pt x="186056" y="183542"/>
                  </a:cubicBezTo>
                  <a:cubicBezTo>
                    <a:pt x="176302" y="193259"/>
                    <a:pt x="171244" y="206575"/>
                    <a:pt x="171244" y="220611"/>
                  </a:cubicBezTo>
                  <a:lnTo>
                    <a:pt x="171244" y="251201"/>
                  </a:lnTo>
                  <a:cubicBezTo>
                    <a:pt x="171244" y="256599"/>
                    <a:pt x="166548" y="261278"/>
                    <a:pt x="161128" y="261278"/>
                  </a:cubicBezTo>
                  <a:lnTo>
                    <a:pt x="159322" y="261278"/>
                  </a:lnTo>
                  <a:cubicBezTo>
                    <a:pt x="157154" y="274954"/>
                    <a:pt x="145232" y="285390"/>
                    <a:pt x="131143" y="285390"/>
                  </a:cubicBezTo>
                  <a:lnTo>
                    <a:pt x="86706" y="285390"/>
                  </a:lnTo>
                  <a:cubicBezTo>
                    <a:pt x="72616" y="285390"/>
                    <a:pt x="60694" y="274954"/>
                    <a:pt x="58527" y="261278"/>
                  </a:cubicBezTo>
                  <a:lnTo>
                    <a:pt x="56720" y="261278"/>
                  </a:lnTo>
                  <a:cubicBezTo>
                    <a:pt x="51301" y="261278"/>
                    <a:pt x="46605" y="256599"/>
                    <a:pt x="46605" y="251201"/>
                  </a:cubicBezTo>
                  <a:lnTo>
                    <a:pt x="46605" y="221330"/>
                  </a:lnTo>
                  <a:cubicBezTo>
                    <a:pt x="46605" y="207295"/>
                    <a:pt x="41185" y="193979"/>
                    <a:pt x="31431" y="184262"/>
                  </a:cubicBezTo>
                  <a:cubicBezTo>
                    <a:pt x="11199" y="163749"/>
                    <a:pt x="0" y="136757"/>
                    <a:pt x="0" y="108326"/>
                  </a:cubicBezTo>
                  <a:cubicBezTo>
                    <a:pt x="0" y="48585"/>
                    <a:pt x="48772" y="0"/>
                    <a:pt x="108382"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ea typeface="Lato Light"/>
                <a:cs typeface="Lato Light"/>
                <a:sym typeface="Lato Light"/>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004EA73-D900-9350-8E58-D5A1BA2647A2}"/>
              </a:ext>
            </a:extLst>
          </p:cNvPr>
          <p:cNvSpPr>
            <a:spLocks noGrp="1"/>
          </p:cNvSpPr>
          <p:nvPr>
            <p:ph type="title"/>
          </p:nvPr>
        </p:nvSpPr>
        <p:spPr/>
        <p:txBody>
          <a:bodyPr/>
          <a:lstStyle/>
          <a:p>
            <a:r>
              <a:rPr lang="en-US" dirty="0"/>
              <a:t>Deliverables</a:t>
            </a:r>
          </a:p>
        </p:txBody>
      </p:sp>
      <p:sp>
        <p:nvSpPr>
          <p:cNvPr id="9" name="Subtitle 8">
            <a:extLst>
              <a:ext uri="{FF2B5EF4-FFF2-40B4-BE49-F238E27FC236}">
                <a16:creationId xmlns:a16="http://schemas.microsoft.com/office/drawing/2014/main" id="{F68BECA3-B5B3-D6F5-5892-BDEB0FD4923E}"/>
              </a:ext>
            </a:extLst>
          </p:cNvPr>
          <p:cNvSpPr>
            <a:spLocks noGrp="1"/>
          </p:cNvSpPr>
          <p:nvPr>
            <p:ph type="subTitle" idx="10"/>
          </p:nvPr>
        </p:nvSpPr>
        <p:spPr/>
        <p:txBody>
          <a:bodyPr/>
          <a:lstStyle/>
          <a:p>
            <a:r>
              <a:rPr lang="en-US" dirty="0"/>
              <a:t>Reports and Playback</a:t>
            </a:r>
          </a:p>
        </p:txBody>
      </p:sp>
      <p:sp>
        <p:nvSpPr>
          <p:cNvPr id="12" name="Text Placeholder 11">
            <a:extLst>
              <a:ext uri="{FF2B5EF4-FFF2-40B4-BE49-F238E27FC236}">
                <a16:creationId xmlns:a16="http://schemas.microsoft.com/office/drawing/2014/main" id="{CA8F5EC4-B0BB-3601-F20D-7B712F202E65}"/>
              </a:ext>
            </a:extLst>
          </p:cNvPr>
          <p:cNvSpPr>
            <a:spLocks noGrp="1"/>
          </p:cNvSpPr>
          <p:nvPr>
            <p:ph type="body" sz="quarter" idx="17"/>
          </p:nvPr>
        </p:nvSpPr>
        <p:spPr/>
        <p:txBody>
          <a:bodyPr/>
          <a:lstStyle/>
          <a:p>
            <a:r>
              <a:rPr lang="en-US" dirty="0"/>
              <a:t>Detailed Findings Report</a:t>
            </a:r>
          </a:p>
        </p:txBody>
      </p:sp>
      <p:sp>
        <p:nvSpPr>
          <p:cNvPr id="10" name="Content Placeholder 9">
            <a:extLst>
              <a:ext uri="{FF2B5EF4-FFF2-40B4-BE49-F238E27FC236}">
                <a16:creationId xmlns:a16="http://schemas.microsoft.com/office/drawing/2014/main" id="{CDDFFDA8-6B01-D919-0FA3-E3AEF22B78C6}"/>
              </a:ext>
            </a:extLst>
          </p:cNvPr>
          <p:cNvSpPr>
            <a:spLocks noGrp="1"/>
          </p:cNvSpPr>
          <p:nvPr>
            <p:ph sz="quarter" idx="14"/>
          </p:nvPr>
        </p:nvSpPr>
        <p:spPr/>
        <p:txBody>
          <a:bodyPr/>
          <a:lstStyle/>
          <a:p>
            <a:pPr marL="285750" indent="-285750">
              <a:buFont typeface="Arial" panose="020B0604020202020204" pitchFamily="34" charset="0"/>
              <a:buChar char="•"/>
            </a:pPr>
            <a:r>
              <a:rPr lang="en-US" dirty="0"/>
              <a:t>Detailed report highlighting all findings and recommendations for in-scope products and evaluation criteria</a:t>
            </a:r>
          </a:p>
          <a:p>
            <a:pPr marL="285750" indent="-285750">
              <a:buFont typeface="Arial" panose="020B0604020202020204" pitchFamily="34" charset="0"/>
              <a:buChar char="•"/>
            </a:pPr>
            <a:r>
              <a:rPr lang="en-US" dirty="0"/>
              <a:t>Aligned to technical best practices</a:t>
            </a:r>
          </a:p>
        </p:txBody>
      </p:sp>
      <p:sp>
        <p:nvSpPr>
          <p:cNvPr id="13" name="Text Placeholder 12">
            <a:extLst>
              <a:ext uri="{FF2B5EF4-FFF2-40B4-BE49-F238E27FC236}">
                <a16:creationId xmlns:a16="http://schemas.microsoft.com/office/drawing/2014/main" id="{29E08122-794C-5694-830F-6802812F1920}"/>
              </a:ext>
            </a:extLst>
          </p:cNvPr>
          <p:cNvSpPr>
            <a:spLocks noGrp="1"/>
          </p:cNvSpPr>
          <p:nvPr>
            <p:ph type="body" sz="quarter" idx="18"/>
          </p:nvPr>
        </p:nvSpPr>
        <p:spPr/>
        <p:txBody>
          <a:bodyPr/>
          <a:lstStyle/>
          <a:p>
            <a:r>
              <a:rPr lang="en-US" dirty="0"/>
              <a:t>Findings Presentation</a:t>
            </a:r>
          </a:p>
        </p:txBody>
      </p:sp>
      <p:sp>
        <p:nvSpPr>
          <p:cNvPr id="11" name="Content Placeholder 10">
            <a:extLst>
              <a:ext uri="{FF2B5EF4-FFF2-40B4-BE49-F238E27FC236}">
                <a16:creationId xmlns:a16="http://schemas.microsoft.com/office/drawing/2014/main" id="{D1F34A79-D8FD-B023-3934-28F4AFB9F807}"/>
              </a:ext>
            </a:extLst>
          </p:cNvPr>
          <p:cNvSpPr>
            <a:spLocks noGrp="1"/>
          </p:cNvSpPr>
          <p:nvPr>
            <p:ph sz="quarter" idx="16"/>
          </p:nvPr>
        </p:nvSpPr>
        <p:spPr/>
        <p:txBody>
          <a:bodyPr/>
          <a:lstStyle/>
          <a:p>
            <a:pPr marL="285750" indent="-285750">
              <a:buFont typeface="Arial" panose="020B0604020202020204" pitchFamily="34" charset="0"/>
              <a:buChar char="•"/>
            </a:pPr>
            <a:r>
              <a:rPr lang="en-US" dirty="0"/>
              <a:t>PowerPoint based deliverable</a:t>
            </a:r>
          </a:p>
          <a:p>
            <a:pPr marL="285750" indent="-285750">
              <a:buFont typeface="Arial" panose="020B0604020202020204" pitchFamily="34" charset="0"/>
              <a:buChar char="•"/>
            </a:pPr>
            <a:r>
              <a:rPr lang="en-US" dirty="0"/>
              <a:t>Consolidated presentation of prioritized recommendations and roadmap</a:t>
            </a:r>
          </a:p>
        </p:txBody>
      </p:sp>
    </p:spTree>
    <p:extLst>
      <p:ext uri="{BB962C8B-B14F-4D97-AF65-F5344CB8AC3E}">
        <p14:creationId xmlns:p14="http://schemas.microsoft.com/office/powerpoint/2010/main" val="2365989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7"/>
        <p:cNvGrpSpPr/>
        <p:nvPr/>
      </p:nvGrpSpPr>
      <p:grpSpPr>
        <a:xfrm>
          <a:off x="0" y="0"/>
          <a:ext cx="0" cy="0"/>
          <a:chOff x="0" y="0"/>
          <a:chExt cx="0" cy="0"/>
        </a:xfrm>
      </p:grpSpPr>
      <p:sp>
        <p:nvSpPr>
          <p:cNvPr id="3088" name="Google Shape;3088;p22"/>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3600"/>
              <a:buFont typeface="Arial"/>
              <a:buNone/>
            </a:pPr>
            <a:r>
              <a:rPr lang="en-US"/>
              <a:t>Detailed Findings - Sample</a:t>
            </a:r>
            <a:endParaRPr/>
          </a:p>
        </p:txBody>
      </p:sp>
      <p:sp>
        <p:nvSpPr>
          <p:cNvPr id="2" name="Subtitle 1">
            <a:extLst>
              <a:ext uri="{FF2B5EF4-FFF2-40B4-BE49-F238E27FC236}">
                <a16:creationId xmlns:a16="http://schemas.microsoft.com/office/drawing/2014/main" id="{C8D8D104-B927-0D50-C559-E0FCAAF948E5}"/>
              </a:ext>
            </a:extLst>
          </p:cNvPr>
          <p:cNvSpPr>
            <a:spLocks noGrp="1"/>
          </p:cNvSpPr>
          <p:nvPr>
            <p:ph type="subTitle" idx="10"/>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8">
          <a:extLst>
            <a:ext uri="{FF2B5EF4-FFF2-40B4-BE49-F238E27FC236}">
              <a16:creationId xmlns:a16="http://schemas.microsoft.com/office/drawing/2014/main" id="{D97F76DD-6A3B-83A2-4A9E-F2EC8D5057F5}"/>
            </a:ext>
          </a:extLst>
        </p:cNvPr>
        <p:cNvGrpSpPr/>
        <p:nvPr/>
      </p:nvGrpSpPr>
      <p:grpSpPr>
        <a:xfrm>
          <a:off x="0" y="0"/>
          <a:ext cx="0" cy="0"/>
          <a:chOff x="0" y="0"/>
          <a:chExt cx="0" cy="0"/>
        </a:xfrm>
      </p:grpSpPr>
      <p:sp>
        <p:nvSpPr>
          <p:cNvPr id="2780" name="Google Shape;2780;g34fc6d1a61e_1_3923">
            <a:extLst>
              <a:ext uri="{FF2B5EF4-FFF2-40B4-BE49-F238E27FC236}">
                <a16:creationId xmlns:a16="http://schemas.microsoft.com/office/drawing/2014/main" id="{8B231371-5DCA-D38B-5126-5B849610EDF3}"/>
              </a:ext>
            </a:extLst>
          </p:cNvPr>
          <p:cNvSpPr txBox="1">
            <a:spLocks noGrp="1"/>
          </p:cNvSpPr>
          <p:nvPr>
            <p:ph type="title"/>
          </p:nvPr>
        </p:nvSpPr>
        <p:spPr>
          <a:prstGeom prst="rect">
            <a:avLst/>
          </a:prstGeom>
          <a:noFill/>
          <a:ln>
            <a:noFill/>
          </a:ln>
        </p:spPr>
        <p:txBody>
          <a:bodyPr spcFirstLastPara="1" wrap="square" lIns="0" tIns="0" rIns="0" bIns="0" anchor="b" anchorCtr="0">
            <a:noAutofit/>
          </a:bodyPr>
          <a:lstStyle/>
          <a:p>
            <a:pPr>
              <a:buClr>
                <a:schemeClr val="accent2"/>
              </a:buClr>
            </a:pPr>
            <a:r>
              <a:rPr lang="en-US" dirty="0">
                <a:solidFill>
                  <a:schemeClr val="accent2"/>
                </a:solidFill>
              </a:rPr>
              <a:t>Detailed Findings</a:t>
            </a:r>
            <a:endParaRPr dirty="0">
              <a:solidFill>
                <a:schemeClr val="accent2"/>
              </a:solidFill>
            </a:endParaRPr>
          </a:p>
        </p:txBody>
      </p:sp>
      <p:sp>
        <p:nvSpPr>
          <p:cNvPr id="2779" name="Google Shape;2779;g34fc6d1a61e_1_3923">
            <a:extLst>
              <a:ext uri="{FF2B5EF4-FFF2-40B4-BE49-F238E27FC236}">
                <a16:creationId xmlns:a16="http://schemas.microsoft.com/office/drawing/2014/main" id="{AEFE6830-6732-2F64-E916-304213D0509B}"/>
              </a:ext>
            </a:extLst>
          </p:cNvPr>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457200" lvl="1" indent="-184150">
              <a:spcBef>
                <a:spcPts val="1500"/>
              </a:spcBef>
            </a:pPr>
            <a:endParaRPr lang="en-AU" sz="1800" dirty="0">
              <a:solidFill>
                <a:schemeClr val="dk1"/>
              </a:solidFill>
            </a:endParaRPr>
          </a:p>
          <a:p>
            <a:pPr marL="457200" lvl="1" indent="-184150" algn="l" rtl="0">
              <a:lnSpc>
                <a:spcPct val="100000"/>
              </a:lnSpc>
              <a:spcBef>
                <a:spcPts val="1500"/>
              </a:spcBef>
              <a:spcAft>
                <a:spcPts val="0"/>
              </a:spcAft>
              <a:buSzPts val="1620"/>
              <a:buChar char="•"/>
            </a:pPr>
            <a:endParaRPr lang="en-US" dirty="0"/>
          </a:p>
        </p:txBody>
      </p:sp>
      <p:sp>
        <p:nvSpPr>
          <p:cNvPr id="4" name="Content Placeholder 3">
            <a:extLst>
              <a:ext uri="{FF2B5EF4-FFF2-40B4-BE49-F238E27FC236}">
                <a16:creationId xmlns:a16="http://schemas.microsoft.com/office/drawing/2014/main" id="{04F7AA81-2593-53B1-9105-FE2D2046512F}"/>
              </a:ext>
            </a:extLst>
          </p:cNvPr>
          <p:cNvSpPr>
            <a:spLocks noGrp="1"/>
          </p:cNvSpPr>
          <p:nvPr>
            <p:ph sz="quarter" idx="14"/>
          </p:nvPr>
        </p:nvSpPr>
        <p:spPr/>
        <p:txBody>
          <a:bodyPr/>
          <a:lstStyle/>
          <a:p>
            <a:r>
              <a:rPr lang="en-US" dirty="0"/>
              <a:t>Due to the limited available time to </a:t>
            </a:r>
            <a:r>
              <a:rPr lang="en-US" dirty="0" err="1"/>
              <a:t>analyse</a:t>
            </a:r>
            <a:r>
              <a:rPr lang="en-US" dirty="0"/>
              <a:t> the content developed by the audit tooling, only a subset of content will be able to reviewed and </a:t>
            </a:r>
            <a:r>
              <a:rPr lang="en-US" dirty="0" err="1"/>
              <a:t>analysed</a:t>
            </a:r>
            <a:r>
              <a:rPr lang="en-US" dirty="0"/>
              <a:t> </a:t>
            </a:r>
          </a:p>
          <a:p>
            <a:r>
              <a:rPr lang="en-US" dirty="0"/>
              <a:t>However, all systems in scope will be audited. It will be up to the customer to review the content once the presentation has taken place on the </a:t>
            </a:r>
            <a:r>
              <a:rPr lang="en-US" dirty="0" err="1"/>
              <a:t>analysed</a:t>
            </a:r>
            <a:r>
              <a:rPr lang="en-US" dirty="0"/>
              <a:t> audits Timeline</a:t>
            </a:r>
          </a:p>
          <a:p>
            <a:r>
              <a:rPr lang="en-US" dirty="0"/>
              <a:t>The content that will be reviewed for the report will be the following: </a:t>
            </a:r>
          </a:p>
          <a:p>
            <a:pPr lvl="1"/>
            <a:r>
              <a:rPr lang="en-US" dirty="0"/>
              <a:t>4 Clusters – Cluster1 , Cluster2 , Cluster3 , Cluster4, </a:t>
            </a:r>
          </a:p>
          <a:p>
            <a:pPr lvl="1"/>
            <a:r>
              <a:rPr lang="en-US" dirty="0"/>
              <a:t>Aria Operations, </a:t>
            </a:r>
          </a:p>
          <a:p>
            <a:pPr lvl="1"/>
            <a:r>
              <a:rPr lang="en-US" dirty="0"/>
              <a:t>Site Recovery Manager DC1</a:t>
            </a:r>
          </a:p>
          <a:p>
            <a:pPr lvl="1"/>
            <a:r>
              <a:rPr lang="en-US" dirty="0"/>
              <a:t>2 </a:t>
            </a:r>
            <a:r>
              <a:rPr lang="en-US" dirty="0" err="1"/>
              <a:t>vCenters</a:t>
            </a:r>
            <a:endParaRPr lang="en-US" dirty="0"/>
          </a:p>
          <a:p>
            <a:endParaRPr lang="en-US" dirty="0"/>
          </a:p>
        </p:txBody>
      </p:sp>
      <p:sp>
        <p:nvSpPr>
          <p:cNvPr id="5" name="Google Shape;3095;p23">
            <a:extLst>
              <a:ext uri="{FF2B5EF4-FFF2-40B4-BE49-F238E27FC236}">
                <a16:creationId xmlns:a16="http://schemas.microsoft.com/office/drawing/2014/main" id="{6A519318-0DC5-749F-029A-8919A67C5DCF}"/>
              </a:ext>
            </a:extLst>
          </p:cNvPr>
          <p:cNvSpPr txBox="1">
            <a:spLocks/>
          </p:cNvSpPr>
          <p:nvPr/>
        </p:nvSpPr>
        <p:spPr>
          <a:xfrm>
            <a:off x="592866" y="811830"/>
            <a:ext cx="10962687" cy="24774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666666"/>
              </a:buClr>
              <a:buSzPts val="1800"/>
              <a:buFont typeface="Arial"/>
              <a:buChar char="​"/>
              <a:defRPr sz="2000" b="0" i="0" u="none" strike="noStrike" cap="none">
                <a:solidFill>
                  <a:schemeClr val="dk1"/>
                </a:solidFill>
                <a:latin typeface="Arial"/>
                <a:ea typeface="Arial"/>
                <a:cs typeface="Arial"/>
                <a:sym typeface="Arial"/>
              </a:defRPr>
            </a:lvl1pPr>
            <a:lvl2pPr marL="914400" marR="0" lvl="1" indent="-331469" algn="l" rtl="0">
              <a:lnSpc>
                <a:spcPct val="100000"/>
              </a:lnSpc>
              <a:spcBef>
                <a:spcPts val="1200"/>
              </a:spcBef>
              <a:spcAft>
                <a:spcPts val="0"/>
              </a:spcAft>
              <a:buClr>
                <a:srgbClr val="3C3C3C"/>
              </a:buClr>
              <a:buSzPts val="1620"/>
              <a:buFont typeface="Arial"/>
              <a:buChar char="•"/>
              <a:defRPr sz="1800" b="0" i="0" u="none" strike="noStrike" cap="none">
                <a:solidFill>
                  <a:schemeClr val="dk1"/>
                </a:solidFill>
                <a:latin typeface="Arial"/>
                <a:ea typeface="Arial"/>
                <a:cs typeface="Arial"/>
                <a:sym typeface="Arial"/>
              </a:defRPr>
            </a:lvl2pPr>
            <a:lvl3pPr marL="1371600" marR="0" lvl="2" indent="-331469" algn="l" rtl="0">
              <a:lnSpc>
                <a:spcPct val="100000"/>
              </a:lnSpc>
              <a:spcBef>
                <a:spcPts val="1200"/>
              </a:spcBef>
              <a:spcAft>
                <a:spcPts val="0"/>
              </a:spcAft>
              <a:buClr>
                <a:srgbClr val="3C3C3C"/>
              </a:buClr>
              <a:buSzPts val="1620"/>
              <a:buFont typeface="Arial"/>
              <a:buChar char="–"/>
              <a:defRPr sz="1600" b="0" i="0" u="none" strike="noStrike" cap="none">
                <a:solidFill>
                  <a:schemeClr val="dk1"/>
                </a:solidFill>
                <a:latin typeface="Arial"/>
                <a:ea typeface="Arial"/>
                <a:cs typeface="Arial"/>
                <a:sym typeface="Arial"/>
              </a:defRPr>
            </a:lvl3pPr>
            <a:lvl4pPr marL="1828800" marR="0" lvl="3" indent="-331469" algn="l" rtl="0">
              <a:lnSpc>
                <a:spcPct val="100000"/>
              </a:lnSpc>
              <a:spcBef>
                <a:spcPts val="1200"/>
              </a:spcBef>
              <a:spcAft>
                <a:spcPts val="0"/>
              </a:spcAft>
              <a:buClr>
                <a:srgbClr val="3C3C3C"/>
              </a:buClr>
              <a:buSzPts val="1620"/>
              <a:buFont typeface="Arial"/>
              <a:buChar char="•"/>
              <a:defRPr sz="1400" b="0" i="0" u="none" strike="noStrike" cap="none">
                <a:solidFill>
                  <a:schemeClr val="dk1"/>
                </a:solidFill>
                <a:latin typeface="Arial"/>
                <a:ea typeface="Arial"/>
                <a:cs typeface="Arial"/>
                <a:sym typeface="Arial"/>
              </a:defRPr>
            </a:lvl4pPr>
            <a:lvl5pPr marL="2286000" marR="0" lvl="4" indent="-308610"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5pPr>
            <a:lvl6pPr marL="2743200" marR="0" lvl="5" indent="-308610" algn="l" rtl="0">
              <a:lnSpc>
                <a:spcPct val="100000"/>
              </a:lnSpc>
              <a:spcBef>
                <a:spcPts val="1200"/>
              </a:spcBef>
              <a:spcAft>
                <a:spcPts val="0"/>
              </a:spcAft>
              <a:buClr>
                <a:srgbClr val="3C3C3C"/>
              </a:buClr>
              <a:buSzPts val="1260"/>
              <a:buFont typeface="Arial"/>
              <a:buChar char="•"/>
              <a:defRPr sz="1400" b="0" i="0" u="none" strike="noStrike" cap="none">
                <a:solidFill>
                  <a:schemeClr val="dk1"/>
                </a:solidFill>
                <a:latin typeface="Arial"/>
                <a:ea typeface="Arial"/>
                <a:cs typeface="Arial"/>
                <a:sym typeface="Arial"/>
              </a:defRPr>
            </a:lvl6pPr>
            <a:lvl7pPr marL="3200400" marR="0" lvl="6" indent="-331470" algn="l" rtl="0">
              <a:lnSpc>
                <a:spcPct val="100000"/>
              </a:lnSpc>
              <a:spcBef>
                <a:spcPts val="1200"/>
              </a:spcBef>
              <a:spcAft>
                <a:spcPts val="0"/>
              </a:spcAft>
              <a:buClr>
                <a:srgbClr val="3C3C3C"/>
              </a:buClr>
              <a:buSzPts val="1620"/>
              <a:buFont typeface="NTR"/>
              <a:buChar char="-"/>
              <a:defRPr sz="1400" b="0" i="0" u="none" strike="noStrike" cap="none">
                <a:solidFill>
                  <a:schemeClr val="dk1"/>
                </a:solidFill>
                <a:latin typeface="Arial"/>
                <a:ea typeface="Arial"/>
                <a:cs typeface="Arial"/>
                <a:sym typeface="Arial"/>
              </a:defRPr>
            </a:lvl7pPr>
            <a:lvl8pPr marL="3657600" marR="0" lvl="7" indent="-331470" algn="l" rtl="0">
              <a:lnSpc>
                <a:spcPct val="100000"/>
              </a:lnSpc>
              <a:spcBef>
                <a:spcPts val="1200"/>
              </a:spcBef>
              <a:spcAft>
                <a:spcPts val="0"/>
              </a:spcAft>
              <a:buClr>
                <a:srgbClr val="3C3C3C"/>
              </a:buClr>
              <a:buSzPts val="1620"/>
              <a:buFont typeface="Arial"/>
              <a:buChar char="•"/>
              <a:defRPr sz="1400" b="0" i="0" u="none" strike="noStrike" cap="none">
                <a:solidFill>
                  <a:schemeClr val="dk1"/>
                </a:solidFill>
                <a:latin typeface="Arial"/>
                <a:ea typeface="Arial"/>
                <a:cs typeface="Arial"/>
                <a:sym typeface="Arial"/>
              </a:defRPr>
            </a:lvl8pPr>
            <a:lvl9pPr marL="4114800" marR="0" lvl="8" indent="-331470" algn="l" rtl="0">
              <a:lnSpc>
                <a:spcPct val="100000"/>
              </a:lnSpc>
              <a:spcBef>
                <a:spcPts val="1200"/>
              </a:spcBef>
              <a:spcAft>
                <a:spcPts val="1200"/>
              </a:spcAft>
              <a:buClr>
                <a:srgbClr val="3C3C3C"/>
              </a:buClr>
              <a:buSzPts val="1620"/>
              <a:buFont typeface="NTR"/>
              <a:buChar char="-"/>
              <a:defRPr sz="1400" b="0" i="0" u="none" strike="noStrike" cap="none">
                <a:solidFill>
                  <a:schemeClr val="dk1"/>
                </a:solidFill>
                <a:latin typeface="Arial"/>
                <a:ea typeface="Arial"/>
                <a:cs typeface="Arial"/>
                <a:sym typeface="Arial"/>
              </a:defRPr>
            </a:lvl9pPr>
          </a:lstStyle>
          <a:p>
            <a:pPr marL="0" indent="0">
              <a:spcBef>
                <a:spcPts val="0"/>
              </a:spcBef>
              <a:buFont typeface="Arial"/>
              <a:buNone/>
            </a:pPr>
            <a:r>
              <a:rPr lang="en-US">
                <a:latin typeface="+mn-lt"/>
              </a:rPr>
              <a:t>Caveats</a:t>
            </a:r>
            <a:endParaRPr lang="en-US" dirty="0">
              <a:latin typeface="+mn-lt"/>
            </a:endParaRPr>
          </a:p>
        </p:txBody>
      </p:sp>
      <p:sp>
        <p:nvSpPr>
          <p:cNvPr id="3" name="Rectangle 2">
            <a:extLst>
              <a:ext uri="{FF2B5EF4-FFF2-40B4-BE49-F238E27FC236}">
                <a16:creationId xmlns:a16="http://schemas.microsoft.com/office/drawing/2014/main" id="{6418A266-AD76-B04B-2894-5790E5C1FD54}"/>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as needed</a:t>
            </a:r>
          </a:p>
        </p:txBody>
      </p:sp>
    </p:spTree>
    <p:extLst>
      <p:ext uri="{BB962C8B-B14F-4D97-AF65-F5344CB8AC3E}">
        <p14:creationId xmlns:p14="http://schemas.microsoft.com/office/powerpoint/2010/main" val="4131533434"/>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4A1C12-AFA4-052B-16EB-6E5E907D89F6}"/>
              </a:ext>
            </a:extLst>
          </p:cNvPr>
          <p:cNvSpPr>
            <a:spLocks noGrp="1"/>
          </p:cNvSpPr>
          <p:nvPr>
            <p:ph type="title"/>
          </p:nvPr>
        </p:nvSpPr>
        <p:spPr/>
        <p:txBody>
          <a:bodyPr/>
          <a:lstStyle/>
          <a:p>
            <a:r>
              <a:rPr lang="en-US" dirty="0"/>
              <a:t>Work Package : Security and Compliance</a:t>
            </a:r>
          </a:p>
        </p:txBody>
      </p:sp>
      <p:sp>
        <p:nvSpPr>
          <p:cNvPr id="7" name="Google Shape;1312;p77">
            <a:extLst>
              <a:ext uri="{FF2B5EF4-FFF2-40B4-BE49-F238E27FC236}">
                <a16:creationId xmlns:a16="http://schemas.microsoft.com/office/drawing/2014/main" id="{58051BCF-7882-9766-D325-F54F48309040}"/>
              </a:ext>
            </a:extLst>
          </p:cNvPr>
          <p:cNvSpPr/>
          <p:nvPr/>
        </p:nvSpPr>
        <p:spPr>
          <a:xfrm>
            <a:off x="547350" y="899825"/>
            <a:ext cx="2107500" cy="2973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ea typeface="Montserrat"/>
                <a:cs typeface="Montserrat"/>
                <a:sym typeface="Montserrat"/>
              </a:rPr>
              <a:t>Work Package Activity</a:t>
            </a:r>
            <a:endParaRPr sz="1200" b="1" i="0" u="none" strike="noStrike" cap="none">
              <a:solidFill>
                <a:srgbClr val="FFFFFF"/>
              </a:solidFill>
              <a:ea typeface="Montserrat"/>
              <a:cs typeface="Montserrat"/>
              <a:sym typeface="Montserrat"/>
            </a:endParaRPr>
          </a:p>
        </p:txBody>
      </p:sp>
      <p:sp>
        <p:nvSpPr>
          <p:cNvPr id="8" name="Google Shape;1313;p77">
            <a:extLst>
              <a:ext uri="{FF2B5EF4-FFF2-40B4-BE49-F238E27FC236}">
                <a16:creationId xmlns:a16="http://schemas.microsoft.com/office/drawing/2014/main" id="{DD8CDCF1-F469-6F81-4337-2A1C16100094}"/>
              </a:ext>
            </a:extLst>
          </p:cNvPr>
          <p:cNvSpPr/>
          <p:nvPr/>
        </p:nvSpPr>
        <p:spPr>
          <a:xfrm>
            <a:off x="2708250" y="1254462"/>
            <a:ext cx="5969100" cy="736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dirty="0">
                <a:solidFill>
                  <a:schemeClr val="accent2"/>
                </a:solidFill>
                <a:ea typeface="Montserrat"/>
                <a:cs typeface="Montserrat"/>
                <a:sym typeface="Montserrat"/>
              </a:rPr>
              <a:t>Analysis and recommendations of the &lt;CUSTOMER&gt; environment</a:t>
            </a:r>
            <a:endParaRPr sz="1000" dirty="0">
              <a:solidFill>
                <a:schemeClr val="accent2"/>
              </a:solidFill>
              <a:ea typeface="Montserrat"/>
              <a:cs typeface="Montserrat"/>
              <a:sym typeface="Montserrat"/>
            </a:endParaRPr>
          </a:p>
          <a:p>
            <a:pPr marL="0" lvl="0" indent="0" algn="l" rtl="0">
              <a:spcBef>
                <a:spcPts val="0"/>
              </a:spcBef>
              <a:spcAft>
                <a:spcPts val="0"/>
              </a:spcAft>
              <a:buNone/>
            </a:pPr>
            <a:r>
              <a:rPr lang="en-US" sz="1000" dirty="0">
                <a:solidFill>
                  <a:schemeClr val="accent2"/>
                </a:solidFill>
                <a:ea typeface="Montserrat"/>
                <a:cs typeface="Montserrat"/>
                <a:sym typeface="Montserrat"/>
              </a:rPr>
              <a:t>Provides the customer with a vSphere compliance health check for an environment.</a:t>
            </a:r>
            <a:endParaRPr sz="1000" dirty="0">
              <a:solidFill>
                <a:schemeClr val="accent2"/>
              </a:solidFill>
              <a:ea typeface="Montserrat"/>
              <a:cs typeface="Montserrat"/>
              <a:sym typeface="Montserrat"/>
            </a:endParaRPr>
          </a:p>
          <a:p>
            <a:pPr marL="0" marR="0" lvl="0" indent="0" algn="ctr" rtl="0">
              <a:lnSpc>
                <a:spcPct val="100000"/>
              </a:lnSpc>
              <a:spcBef>
                <a:spcPts val="0"/>
              </a:spcBef>
              <a:spcAft>
                <a:spcPts val="0"/>
              </a:spcAft>
              <a:buClr>
                <a:srgbClr val="000000"/>
              </a:buClr>
              <a:buSzPts val="1000"/>
              <a:buFont typeface="Arial"/>
              <a:buNone/>
            </a:pPr>
            <a:endParaRPr sz="1000" b="1" i="0" u="none" strike="noStrike" cap="none"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accent2"/>
              </a:solidFill>
              <a:ea typeface="Montserrat"/>
              <a:cs typeface="Montserrat"/>
              <a:sym typeface="Montserrat"/>
            </a:endParaRPr>
          </a:p>
        </p:txBody>
      </p:sp>
      <p:sp>
        <p:nvSpPr>
          <p:cNvPr id="9" name="Google Shape;1314;p77">
            <a:extLst>
              <a:ext uri="{FF2B5EF4-FFF2-40B4-BE49-F238E27FC236}">
                <a16:creationId xmlns:a16="http://schemas.microsoft.com/office/drawing/2014/main" id="{CAD38EEF-0B54-9459-3C9C-487E305D9E0F}"/>
              </a:ext>
            </a:extLst>
          </p:cNvPr>
          <p:cNvSpPr/>
          <p:nvPr/>
        </p:nvSpPr>
        <p:spPr>
          <a:xfrm>
            <a:off x="2708253" y="899825"/>
            <a:ext cx="5969100" cy="2973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ea typeface="Montserrat"/>
                <a:cs typeface="Montserrat"/>
                <a:sym typeface="Montserrat"/>
              </a:rPr>
              <a:t>Overview</a:t>
            </a:r>
            <a:endParaRPr sz="1200" b="1" i="0" u="none" strike="noStrike" cap="none">
              <a:solidFill>
                <a:srgbClr val="FFFFFF"/>
              </a:solidFill>
              <a:ea typeface="Montserrat"/>
              <a:cs typeface="Montserrat"/>
              <a:sym typeface="Montserrat"/>
            </a:endParaRPr>
          </a:p>
        </p:txBody>
      </p:sp>
      <p:sp>
        <p:nvSpPr>
          <p:cNvPr id="10" name="Google Shape;1315;p77">
            <a:extLst>
              <a:ext uri="{FF2B5EF4-FFF2-40B4-BE49-F238E27FC236}">
                <a16:creationId xmlns:a16="http://schemas.microsoft.com/office/drawing/2014/main" id="{8D54E234-AE59-364C-D4EB-C2CF5B2FFC4D}"/>
              </a:ext>
            </a:extLst>
          </p:cNvPr>
          <p:cNvSpPr/>
          <p:nvPr/>
        </p:nvSpPr>
        <p:spPr>
          <a:xfrm>
            <a:off x="561050" y="1254375"/>
            <a:ext cx="2107500" cy="736800"/>
          </a:xfrm>
          <a:prstGeom prst="homePlate">
            <a:avLst>
              <a:gd name="adj" fmla="val 20456"/>
            </a:avLst>
          </a:prstGeom>
          <a:solidFill>
            <a:srgbClr val="CFE2F3"/>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chemeClr val="accent2"/>
                </a:solidFill>
                <a:ea typeface="Montserrat"/>
                <a:cs typeface="Montserrat"/>
                <a:sym typeface="Montserrat"/>
              </a:rPr>
              <a:t>Objective</a:t>
            </a:r>
            <a:endParaRPr sz="1000" b="1" i="0" u="none" strike="noStrike" cap="none">
              <a:solidFill>
                <a:schemeClr val="accent2"/>
              </a:solidFill>
              <a:ea typeface="Montserrat"/>
              <a:cs typeface="Montserrat"/>
              <a:sym typeface="Montserrat"/>
            </a:endParaRPr>
          </a:p>
        </p:txBody>
      </p:sp>
      <p:sp>
        <p:nvSpPr>
          <p:cNvPr id="11" name="Google Shape;1316;p77">
            <a:extLst>
              <a:ext uri="{FF2B5EF4-FFF2-40B4-BE49-F238E27FC236}">
                <a16:creationId xmlns:a16="http://schemas.microsoft.com/office/drawing/2014/main" id="{65119285-6F8D-A6FE-9A82-A29B755F6B8C}"/>
              </a:ext>
            </a:extLst>
          </p:cNvPr>
          <p:cNvSpPr/>
          <p:nvPr/>
        </p:nvSpPr>
        <p:spPr>
          <a:xfrm>
            <a:off x="547350" y="2042825"/>
            <a:ext cx="8130000" cy="3339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ea typeface="Montserrat"/>
                <a:cs typeface="Montserrat"/>
                <a:sym typeface="Montserrat"/>
              </a:rPr>
              <a:t>Details</a:t>
            </a:r>
            <a:endParaRPr sz="1200" b="1" i="0" u="none" strike="noStrike" cap="none">
              <a:solidFill>
                <a:srgbClr val="FFFFFF"/>
              </a:solidFill>
              <a:ea typeface="Montserrat"/>
              <a:cs typeface="Montserrat"/>
              <a:sym typeface="Montserrat"/>
            </a:endParaRPr>
          </a:p>
        </p:txBody>
      </p:sp>
      <p:sp>
        <p:nvSpPr>
          <p:cNvPr id="12" name="Google Shape;1317;p77">
            <a:extLst>
              <a:ext uri="{FF2B5EF4-FFF2-40B4-BE49-F238E27FC236}">
                <a16:creationId xmlns:a16="http://schemas.microsoft.com/office/drawing/2014/main" id="{4D662CC3-1C64-7B07-A0D0-6F47EFFA119C}"/>
              </a:ext>
            </a:extLst>
          </p:cNvPr>
          <p:cNvSpPr/>
          <p:nvPr/>
        </p:nvSpPr>
        <p:spPr>
          <a:xfrm>
            <a:off x="547350" y="2428300"/>
            <a:ext cx="2107500" cy="37980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chemeClr val="accent2"/>
                </a:solidFill>
                <a:ea typeface="Montserrat"/>
                <a:cs typeface="Montserrat"/>
                <a:sym typeface="Montserrat"/>
              </a:rPr>
              <a:t>Key Activities and Deliverable(s)</a:t>
            </a:r>
            <a:endParaRPr sz="1000" b="1" i="0" u="none" strike="noStrike" cap="none">
              <a:solidFill>
                <a:schemeClr val="accent2"/>
              </a:solidFill>
              <a:ea typeface="Montserrat"/>
              <a:cs typeface="Montserrat"/>
              <a:sym typeface="Montserrat"/>
            </a:endParaRPr>
          </a:p>
        </p:txBody>
      </p:sp>
      <p:sp>
        <p:nvSpPr>
          <p:cNvPr id="13" name="Google Shape;1318;p77">
            <a:extLst>
              <a:ext uri="{FF2B5EF4-FFF2-40B4-BE49-F238E27FC236}">
                <a16:creationId xmlns:a16="http://schemas.microsoft.com/office/drawing/2014/main" id="{05612B42-9EFD-8D5A-74C4-0B7366EA7DCD}"/>
              </a:ext>
            </a:extLst>
          </p:cNvPr>
          <p:cNvSpPr/>
          <p:nvPr/>
        </p:nvSpPr>
        <p:spPr>
          <a:xfrm>
            <a:off x="2708250" y="2428300"/>
            <a:ext cx="5969100" cy="37980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chemeClr val="accent2"/>
                </a:solidFill>
                <a:ea typeface="Montserrat"/>
                <a:cs typeface="Montserrat"/>
                <a:sym typeface="Montserrat"/>
              </a:rPr>
              <a:t>Tool Selection and Design</a:t>
            </a:r>
            <a:endParaRPr sz="1000" b="1" i="0" u="none" strike="noStrike" cap="none" dirty="0">
              <a:solidFill>
                <a:schemeClr val="accent2"/>
              </a:solidFill>
              <a:ea typeface="Montserrat"/>
              <a:cs typeface="Montserrat"/>
              <a:sym typeface="Montserrat"/>
            </a:endParaRPr>
          </a:p>
          <a:p>
            <a:pPr marL="457200" marR="0" lvl="0" indent="-292100" algn="l" rtl="0">
              <a:lnSpc>
                <a:spcPct val="100000"/>
              </a:lnSpc>
              <a:spcBef>
                <a:spcPts val="0"/>
              </a:spcBef>
              <a:spcAft>
                <a:spcPts val="0"/>
              </a:spcAft>
              <a:buClr>
                <a:schemeClr val="accent2"/>
              </a:buClr>
              <a:buSzPts val="1000"/>
              <a:buFont typeface="Montserrat"/>
              <a:buChar char="●"/>
            </a:pPr>
            <a:r>
              <a:rPr lang="en-US" sz="1000" dirty="0">
                <a:solidFill>
                  <a:schemeClr val="accent2"/>
                </a:solidFill>
                <a:ea typeface="Montserrat"/>
                <a:cs typeface="Montserrat"/>
                <a:sym typeface="Montserrat"/>
              </a:rPr>
              <a:t>Installation of the VMware STIG Tool for </a:t>
            </a:r>
            <a:r>
              <a:rPr lang="en-AU" sz="1000" dirty="0">
                <a:solidFill>
                  <a:schemeClr val="accent2"/>
                </a:solidFill>
                <a:ea typeface="Montserrat"/>
                <a:cs typeface="Montserrat"/>
                <a:sym typeface="Montserrat"/>
              </a:rPr>
              <a:t>auditing the environments</a:t>
            </a:r>
            <a:endParaRPr sz="1000"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chemeClr val="accent2"/>
                </a:solidFill>
                <a:ea typeface="Montserrat"/>
                <a:cs typeface="Montserrat"/>
                <a:sym typeface="Montserrat"/>
              </a:rPr>
              <a:t>Configuration and Deployment</a:t>
            </a:r>
            <a:endParaRPr sz="1000" b="1" i="0" u="none" strike="noStrike" cap="none" dirty="0">
              <a:solidFill>
                <a:schemeClr val="accent2"/>
              </a:solidFill>
              <a:ea typeface="Montserrat"/>
              <a:cs typeface="Montserrat"/>
              <a:sym typeface="Montserrat"/>
            </a:endParaRPr>
          </a:p>
          <a:p>
            <a:pPr marL="457200" lvl="0" indent="-292100" algn="l" rtl="0">
              <a:spcBef>
                <a:spcPts val="0"/>
              </a:spcBef>
              <a:spcAft>
                <a:spcPts val="0"/>
              </a:spcAft>
              <a:buClr>
                <a:schemeClr val="accent2"/>
              </a:buClr>
              <a:buSzPts val="1000"/>
              <a:buFont typeface="Montserrat"/>
              <a:buChar char="●"/>
            </a:pPr>
            <a:r>
              <a:rPr lang="en-AU" sz="1000" dirty="0">
                <a:solidFill>
                  <a:schemeClr val="accent2"/>
                </a:solidFill>
                <a:ea typeface="Montserrat"/>
                <a:cs typeface="Montserrat"/>
                <a:sym typeface="Montserrat"/>
              </a:rPr>
              <a:t>Configuration of the STIG Tool</a:t>
            </a:r>
          </a:p>
          <a:p>
            <a:pPr marL="457200" lvl="0" indent="-292100" algn="l" rtl="0">
              <a:spcBef>
                <a:spcPts val="0"/>
              </a:spcBef>
              <a:spcAft>
                <a:spcPts val="0"/>
              </a:spcAft>
              <a:buClr>
                <a:schemeClr val="accent2"/>
              </a:buClr>
              <a:buSzPts val="1000"/>
              <a:buFont typeface="Montserrat"/>
              <a:buChar char="●"/>
            </a:pPr>
            <a:r>
              <a:rPr lang="en-AU" sz="1000" dirty="0">
                <a:solidFill>
                  <a:schemeClr val="accent2"/>
                </a:solidFill>
                <a:ea typeface="Montserrat"/>
                <a:cs typeface="Montserrat"/>
                <a:sym typeface="Montserrat"/>
              </a:rPr>
              <a:t>Discussion on STIG tool usage, capabilities and limitations</a:t>
            </a:r>
          </a:p>
          <a:p>
            <a:pPr marL="457200" lvl="0" indent="-292100">
              <a:buClr>
                <a:schemeClr val="accent2"/>
              </a:buClr>
              <a:buSzPts val="1000"/>
              <a:buFont typeface="Montserrat"/>
              <a:buChar char="●"/>
            </a:pPr>
            <a:r>
              <a:rPr lang="en-AU" sz="1000" dirty="0">
                <a:solidFill>
                  <a:schemeClr val="accent2"/>
                </a:solidFill>
                <a:ea typeface="Montserrat"/>
                <a:cs typeface="Montserrat"/>
                <a:sym typeface="Montserrat"/>
              </a:rPr>
              <a:t>Meeting on </a:t>
            </a:r>
            <a:r>
              <a:rPr lang="en-US" sz="1000" dirty="0">
                <a:solidFill>
                  <a:schemeClr val="accent2"/>
                </a:solidFill>
                <a:ea typeface="Montserrat"/>
                <a:cs typeface="Montserrat"/>
                <a:sym typeface="Montserrat"/>
              </a:rPr>
              <a:t>&lt;CUSTOMER&gt; </a:t>
            </a:r>
            <a:r>
              <a:rPr lang="en-AU" sz="1000" dirty="0">
                <a:solidFill>
                  <a:schemeClr val="accent2"/>
                </a:solidFill>
                <a:ea typeface="Montserrat"/>
                <a:cs typeface="Montserrat"/>
                <a:sym typeface="Montserrat"/>
              </a:rPr>
              <a:t>Compliance standards and expectations. Should include the Security Team</a:t>
            </a:r>
          </a:p>
          <a:p>
            <a:pPr marL="457200" lvl="0" indent="-292100" algn="l" rtl="0">
              <a:spcBef>
                <a:spcPts val="0"/>
              </a:spcBef>
              <a:spcAft>
                <a:spcPts val="0"/>
              </a:spcAft>
              <a:buClr>
                <a:schemeClr val="accent2"/>
              </a:buClr>
              <a:buSzPts val="1000"/>
              <a:buFont typeface="Montserrat"/>
              <a:buChar char="●"/>
            </a:pPr>
            <a:r>
              <a:rPr lang="en-AU" sz="1000" dirty="0">
                <a:solidFill>
                  <a:schemeClr val="accent2"/>
                </a:solidFill>
                <a:ea typeface="Montserrat"/>
                <a:cs typeface="Montserrat"/>
                <a:sym typeface="Montserrat"/>
              </a:rPr>
              <a:t>Define the items in Scope (</a:t>
            </a:r>
            <a:r>
              <a:rPr lang="en-AU" sz="1000" dirty="0" err="1">
                <a:solidFill>
                  <a:schemeClr val="accent2"/>
                </a:solidFill>
                <a:ea typeface="Montserrat"/>
                <a:cs typeface="Montserrat"/>
                <a:sym typeface="Montserrat"/>
              </a:rPr>
              <a:t>vC</a:t>
            </a:r>
            <a:r>
              <a:rPr lang="en-AU" sz="1000" dirty="0">
                <a:solidFill>
                  <a:schemeClr val="accent2"/>
                </a:solidFill>
                <a:ea typeface="Montserrat"/>
                <a:cs typeface="Montserrat"/>
                <a:sym typeface="Montserrat"/>
              </a:rPr>
              <a:t>, Cluster, VMs, Aria, NSX, VCF, etc)</a:t>
            </a:r>
          </a:p>
          <a:p>
            <a:pPr marL="457200" lvl="0" indent="-292100" algn="l" rtl="0">
              <a:spcBef>
                <a:spcPts val="0"/>
              </a:spcBef>
              <a:spcAft>
                <a:spcPts val="0"/>
              </a:spcAft>
              <a:buClr>
                <a:schemeClr val="accent2"/>
              </a:buClr>
              <a:buSzPts val="1000"/>
              <a:buFont typeface="Montserrat"/>
              <a:buChar char="●"/>
            </a:pPr>
            <a:r>
              <a:rPr lang="en-AU" sz="1000" dirty="0">
                <a:solidFill>
                  <a:schemeClr val="accent2"/>
                </a:solidFill>
                <a:ea typeface="Montserrat"/>
                <a:cs typeface="Montserrat"/>
                <a:sym typeface="Montserrat"/>
              </a:rPr>
              <a:t>Configuration of the commands for the In Scope objects for auditing</a:t>
            </a: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chemeClr val="accent2"/>
                </a:solidFill>
                <a:ea typeface="Montserrat"/>
                <a:cs typeface="Montserrat"/>
                <a:sym typeface="Montserrat"/>
              </a:rPr>
              <a:t>Testing and Validation</a:t>
            </a:r>
            <a:endParaRPr sz="1000" b="1" i="0" u="none" strike="noStrike" cap="none" dirty="0">
              <a:solidFill>
                <a:schemeClr val="accent2"/>
              </a:solidFill>
              <a:ea typeface="Montserrat"/>
              <a:cs typeface="Montserrat"/>
              <a:sym typeface="Montserrat"/>
            </a:endParaRPr>
          </a:p>
          <a:p>
            <a:pPr marL="457200" marR="0" lvl="0" indent="-292100" algn="l" rtl="0">
              <a:lnSpc>
                <a:spcPct val="100000"/>
              </a:lnSpc>
              <a:spcBef>
                <a:spcPts val="0"/>
              </a:spcBef>
              <a:spcAft>
                <a:spcPts val="0"/>
              </a:spcAft>
              <a:buClr>
                <a:schemeClr val="accent2"/>
              </a:buClr>
              <a:buSzPts val="1000"/>
              <a:buFont typeface="Montserrat"/>
              <a:buChar char="●"/>
            </a:pPr>
            <a:r>
              <a:rPr lang="en-US" sz="1000" dirty="0">
                <a:solidFill>
                  <a:schemeClr val="accent2"/>
                </a:solidFill>
                <a:ea typeface="Montserrat"/>
                <a:cs typeface="Montserrat"/>
                <a:sym typeface="Montserrat"/>
              </a:rPr>
              <a:t>Performing the audit of the items in Scope</a:t>
            </a:r>
          </a:p>
          <a:p>
            <a:pPr marL="457200" marR="0" lvl="0" indent="-292100" algn="l" rtl="0">
              <a:lnSpc>
                <a:spcPct val="100000"/>
              </a:lnSpc>
              <a:spcBef>
                <a:spcPts val="0"/>
              </a:spcBef>
              <a:spcAft>
                <a:spcPts val="0"/>
              </a:spcAft>
              <a:buClr>
                <a:schemeClr val="accent2"/>
              </a:buClr>
              <a:buSzPts val="1000"/>
              <a:buFont typeface="Montserrat"/>
              <a:buChar char="●"/>
            </a:pPr>
            <a:r>
              <a:rPr lang="en-US" sz="1000" dirty="0">
                <a:solidFill>
                  <a:schemeClr val="accent2"/>
                </a:solidFill>
                <a:ea typeface="Montserrat"/>
                <a:cs typeface="Montserrat"/>
                <a:sym typeface="Montserrat"/>
              </a:rPr>
              <a:t>Once the Tool has assessed the environment, the data will need to be exported for consumption by the Broadcom PSO team.</a:t>
            </a:r>
            <a:endParaRPr sz="1000" dirty="0">
              <a:solidFill>
                <a:schemeClr val="accent2"/>
              </a:solidFill>
              <a:ea typeface="Montserrat"/>
              <a:cs typeface="Montserrat"/>
              <a:sym typeface="Montserrat"/>
            </a:endParaRPr>
          </a:p>
          <a:p>
            <a:pPr marL="457200" marR="0" lvl="0" indent="-292100" algn="l" rtl="0">
              <a:lnSpc>
                <a:spcPct val="100000"/>
              </a:lnSpc>
              <a:spcBef>
                <a:spcPts val="0"/>
              </a:spcBef>
              <a:spcAft>
                <a:spcPts val="0"/>
              </a:spcAft>
              <a:buClr>
                <a:schemeClr val="accent2"/>
              </a:buClr>
              <a:buSzPts val="1000"/>
              <a:buFont typeface="Montserrat"/>
              <a:buChar char="●"/>
            </a:pPr>
            <a:r>
              <a:rPr lang="en-US" sz="1000" dirty="0">
                <a:solidFill>
                  <a:schemeClr val="accent2"/>
                </a:solidFill>
                <a:ea typeface="Montserrat"/>
                <a:cs typeface="Montserrat"/>
                <a:sym typeface="Montserrat"/>
              </a:rPr>
              <a:t>The package will be analyzed and issues highlighted for review.</a:t>
            </a:r>
            <a:endParaRPr sz="1000"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r>
              <a:rPr lang="en-US" sz="1000" b="1" i="0" u="none" strike="noStrike" cap="none" dirty="0">
                <a:solidFill>
                  <a:schemeClr val="accent2"/>
                </a:solidFill>
                <a:ea typeface="Montserrat"/>
                <a:cs typeface="Montserrat"/>
                <a:sym typeface="Montserrat"/>
              </a:rPr>
              <a:t>Documentation and Handover</a:t>
            </a:r>
            <a:endParaRPr sz="1000" b="1" i="0" u="none" strike="noStrike" cap="none" dirty="0">
              <a:solidFill>
                <a:schemeClr val="accent2"/>
              </a:solidFill>
              <a:ea typeface="Montserrat"/>
              <a:cs typeface="Montserrat"/>
              <a:sym typeface="Montserrat"/>
            </a:endParaRPr>
          </a:p>
          <a:p>
            <a:pPr marL="457200" indent="-292100">
              <a:buClr>
                <a:schemeClr val="accent2"/>
              </a:buClr>
              <a:buSzPts val="1000"/>
              <a:buFont typeface="Montserrat"/>
              <a:buChar char="●"/>
            </a:pPr>
            <a:r>
              <a:rPr lang="en-US" sz="1000" dirty="0">
                <a:solidFill>
                  <a:schemeClr val="accent2"/>
                </a:solidFill>
                <a:ea typeface="Montserrat"/>
                <a:cs typeface="Montserrat"/>
                <a:sym typeface="Montserrat"/>
              </a:rPr>
              <a:t>The PSO Team will review the data with the &lt;CUSTOMER&gt; Operational Team to analyze and identify issues for remediation</a:t>
            </a:r>
          </a:p>
          <a:p>
            <a:pPr marL="457200" lvl="0" indent="-292100">
              <a:buClr>
                <a:schemeClr val="accent2"/>
              </a:buClr>
              <a:buSzPts val="1000"/>
              <a:buFont typeface="Montserrat"/>
              <a:buChar char="●"/>
            </a:pPr>
            <a:r>
              <a:rPr lang="en-US" sz="1000" dirty="0">
                <a:solidFill>
                  <a:schemeClr val="accent2"/>
                </a:solidFill>
                <a:ea typeface="Montserrat"/>
                <a:cs typeface="Montserrat"/>
                <a:sym typeface="Montserrat"/>
              </a:rPr>
              <a:t>A Knowledge Transfer session will be held to go over any issues with &lt;CUSTOMER&gt; Management Team and a presentation created.</a:t>
            </a:r>
            <a:endParaRPr sz="1000" b="0" i="0" u="none" strike="noStrike" cap="none" dirty="0">
              <a:solidFill>
                <a:schemeClr val="accent2"/>
              </a:solidFill>
              <a:ea typeface="Montserrat"/>
              <a:cs typeface="Montserrat"/>
              <a:sym typeface="Montserrat"/>
            </a:endParaRPr>
          </a:p>
          <a:p>
            <a:pPr marL="0" marR="0" lvl="0" indent="0" algn="ctr" rtl="0">
              <a:lnSpc>
                <a:spcPct val="100000"/>
              </a:lnSpc>
              <a:spcBef>
                <a:spcPts val="0"/>
              </a:spcBef>
              <a:spcAft>
                <a:spcPts val="0"/>
              </a:spcAft>
              <a:buClr>
                <a:srgbClr val="000000"/>
              </a:buClr>
              <a:buSzPts val="1000"/>
              <a:buFont typeface="Arial"/>
              <a:buNone/>
            </a:pPr>
            <a:endParaRPr sz="1000" b="0" i="0" u="none" strike="noStrike" cap="none"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accent2"/>
              </a:solidFill>
              <a:ea typeface="Montserrat"/>
              <a:cs typeface="Montserrat"/>
              <a:sym typeface="Montserrat"/>
            </a:endParaRPr>
          </a:p>
        </p:txBody>
      </p:sp>
      <p:sp>
        <p:nvSpPr>
          <p:cNvPr id="14" name="Google Shape;1319;p77">
            <a:extLst>
              <a:ext uri="{FF2B5EF4-FFF2-40B4-BE49-F238E27FC236}">
                <a16:creationId xmlns:a16="http://schemas.microsoft.com/office/drawing/2014/main" id="{92E4BE18-DBF4-EFC5-1813-9720D03D6350}"/>
              </a:ext>
            </a:extLst>
          </p:cNvPr>
          <p:cNvSpPr/>
          <p:nvPr/>
        </p:nvSpPr>
        <p:spPr>
          <a:xfrm>
            <a:off x="8809400" y="2728625"/>
            <a:ext cx="2790000" cy="333900"/>
          </a:xfrm>
          <a:prstGeom prst="rect">
            <a:avLst/>
          </a:prstGeom>
          <a:solidFill>
            <a:schemeClr val="accent2"/>
          </a:solidFill>
          <a:ln w="9525" cap="flat" cmpd="sng">
            <a:solidFill>
              <a:srgbClr val="8E7CC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ea typeface="Montserrat"/>
                <a:cs typeface="Montserrat"/>
                <a:sym typeface="Montserrat"/>
              </a:rPr>
              <a:t>Prerequisites</a:t>
            </a:r>
            <a:endParaRPr sz="1200" b="1" i="0" u="none" strike="noStrike" cap="none">
              <a:solidFill>
                <a:srgbClr val="FFFFFF"/>
              </a:solidFill>
              <a:ea typeface="Montserrat"/>
              <a:cs typeface="Montserrat"/>
              <a:sym typeface="Montserrat"/>
            </a:endParaRPr>
          </a:p>
        </p:txBody>
      </p:sp>
      <p:sp>
        <p:nvSpPr>
          <p:cNvPr id="15" name="Google Shape;1320;p77">
            <a:extLst>
              <a:ext uri="{FF2B5EF4-FFF2-40B4-BE49-F238E27FC236}">
                <a16:creationId xmlns:a16="http://schemas.microsoft.com/office/drawing/2014/main" id="{4503033A-EAA2-F4BB-49DB-5E5BF1ED5D43}"/>
              </a:ext>
            </a:extLst>
          </p:cNvPr>
          <p:cNvSpPr/>
          <p:nvPr/>
        </p:nvSpPr>
        <p:spPr>
          <a:xfrm>
            <a:off x="8809425" y="3114100"/>
            <a:ext cx="2790000" cy="13854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marL="171450" lvl="0" indent="-171450">
              <a:buSzPts val="1000"/>
              <a:buFont typeface="Arial" panose="020B0604020202020204" pitchFamily="34" charset="0"/>
              <a:buChar char="•"/>
            </a:pPr>
            <a:r>
              <a:rPr lang="en-US" sz="900" dirty="0">
                <a:solidFill>
                  <a:schemeClr val="accent2"/>
                </a:solidFill>
                <a:ea typeface="Montserrat"/>
                <a:cs typeface="Montserrat"/>
                <a:sym typeface="Montserrat"/>
              </a:rPr>
              <a:t>Supervised or account access to &lt;CUSTOMER&gt; environment</a:t>
            </a:r>
            <a:endParaRPr sz="900" dirty="0">
              <a:solidFill>
                <a:schemeClr val="accent2"/>
              </a:solidFill>
              <a:ea typeface="Montserrat"/>
              <a:cs typeface="Montserrat"/>
              <a:sym typeface="Montserrat"/>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en-US" sz="900" dirty="0">
                <a:solidFill>
                  <a:schemeClr val="accent2"/>
                </a:solidFill>
                <a:ea typeface="Montserrat"/>
                <a:cs typeface="Montserrat"/>
                <a:sym typeface="Montserrat"/>
              </a:rPr>
              <a:t>Forward and Reverse DNS lookups for STIG appliance</a:t>
            </a:r>
            <a:endParaRPr sz="900" dirty="0">
              <a:solidFill>
                <a:schemeClr val="accent2"/>
              </a:solidFill>
              <a:ea typeface="Montserrat"/>
              <a:cs typeface="Montserrat"/>
              <a:sym typeface="Montserrat"/>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en-US" sz="900" dirty="0">
                <a:solidFill>
                  <a:schemeClr val="hlink"/>
                </a:solidFill>
                <a:ea typeface="Montserrat"/>
                <a:cs typeface="Montserrat"/>
                <a:sym typeface="Montserrat"/>
              </a:rPr>
              <a:t>administrator@vsphere.local</a:t>
            </a:r>
            <a:r>
              <a:rPr lang="en-US" sz="900" dirty="0">
                <a:solidFill>
                  <a:schemeClr val="accent2"/>
                </a:solidFill>
                <a:ea typeface="Montserrat"/>
                <a:cs typeface="Montserrat"/>
                <a:sym typeface="Montserrat"/>
              </a:rPr>
              <a:t> credentials for all environments to be assessed</a:t>
            </a:r>
          </a:p>
          <a:p>
            <a:pPr marL="171450" lvl="0" indent="-171450">
              <a:buSzPts val="1000"/>
              <a:buFont typeface="Arial" panose="020B0604020202020204" pitchFamily="34" charset="0"/>
              <a:buChar char="•"/>
            </a:pPr>
            <a:r>
              <a:rPr lang="en-US" sz="900" dirty="0">
                <a:solidFill>
                  <a:schemeClr val="accent2"/>
                </a:solidFill>
                <a:ea typeface="Montserrat"/>
                <a:cs typeface="Montserrat"/>
                <a:sym typeface="Montserrat"/>
              </a:rPr>
              <a:t>Understanding &lt;CUSTOMER&gt; compliance requirements</a:t>
            </a:r>
            <a:endParaRPr sz="900"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accent2"/>
              </a:solidFill>
              <a:ea typeface="Montserrat"/>
              <a:cs typeface="Montserrat"/>
              <a:sym typeface="Montserrat"/>
            </a:endParaRPr>
          </a:p>
        </p:txBody>
      </p:sp>
      <p:sp>
        <p:nvSpPr>
          <p:cNvPr id="16" name="Google Shape;1321;p77">
            <a:extLst>
              <a:ext uri="{FF2B5EF4-FFF2-40B4-BE49-F238E27FC236}">
                <a16:creationId xmlns:a16="http://schemas.microsoft.com/office/drawing/2014/main" id="{F8FA3955-6713-3D96-B77A-507D8777D536}"/>
              </a:ext>
            </a:extLst>
          </p:cNvPr>
          <p:cNvSpPr/>
          <p:nvPr/>
        </p:nvSpPr>
        <p:spPr>
          <a:xfrm>
            <a:off x="8809400" y="4557425"/>
            <a:ext cx="2790000" cy="297300"/>
          </a:xfrm>
          <a:prstGeom prst="rect">
            <a:avLst/>
          </a:prstGeom>
          <a:solidFill>
            <a:schemeClr val="accent2"/>
          </a:solidFill>
          <a:ln w="9525" cap="flat" cmpd="sng">
            <a:solidFill>
              <a:srgbClr val="8E7CC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ea typeface="Montserrat"/>
                <a:cs typeface="Montserrat"/>
                <a:sym typeface="Montserrat"/>
              </a:rPr>
              <a:t>Identified Risk(s) and Issue(s)</a:t>
            </a:r>
            <a:endParaRPr sz="1200" b="1" i="0" u="none" strike="noStrike" cap="none">
              <a:solidFill>
                <a:srgbClr val="FFFFFF"/>
              </a:solidFill>
              <a:ea typeface="Montserrat"/>
              <a:cs typeface="Montserrat"/>
              <a:sym typeface="Montserrat"/>
            </a:endParaRPr>
          </a:p>
        </p:txBody>
      </p:sp>
      <p:sp>
        <p:nvSpPr>
          <p:cNvPr id="17" name="Google Shape;1322;p77">
            <a:extLst>
              <a:ext uri="{FF2B5EF4-FFF2-40B4-BE49-F238E27FC236}">
                <a16:creationId xmlns:a16="http://schemas.microsoft.com/office/drawing/2014/main" id="{B16A6512-BCD8-6E73-6CC6-1420A08CBFEC}"/>
              </a:ext>
            </a:extLst>
          </p:cNvPr>
          <p:cNvSpPr/>
          <p:nvPr/>
        </p:nvSpPr>
        <p:spPr>
          <a:xfrm>
            <a:off x="8809425" y="4889250"/>
            <a:ext cx="2790000" cy="13371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en-US" sz="900" dirty="0">
                <a:solidFill>
                  <a:schemeClr val="accent2"/>
                </a:solidFill>
                <a:ea typeface="Montserrat"/>
                <a:cs typeface="Montserrat"/>
                <a:sym typeface="Montserrat"/>
              </a:rPr>
              <a:t>Firewall Rules preventing access from STIG tool to be assessed </a:t>
            </a:r>
            <a:r>
              <a:rPr lang="en-US" sz="900" dirty="0" err="1">
                <a:solidFill>
                  <a:schemeClr val="accent2"/>
                </a:solidFill>
                <a:ea typeface="Montserrat"/>
                <a:cs typeface="Montserrat"/>
                <a:sym typeface="Montserrat"/>
              </a:rPr>
              <a:t>vCenters</a:t>
            </a:r>
            <a:endParaRPr lang="en-US" sz="900" dirty="0">
              <a:solidFill>
                <a:schemeClr val="accent2"/>
              </a:solidFill>
              <a:ea typeface="Montserrat"/>
              <a:cs typeface="Montserrat"/>
              <a:sym typeface="Montserrat"/>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en-US" sz="900" dirty="0">
                <a:solidFill>
                  <a:schemeClr val="accent2"/>
                </a:solidFill>
                <a:ea typeface="Montserrat"/>
                <a:cs typeface="Montserrat"/>
                <a:sym typeface="Montserrat"/>
              </a:rPr>
              <a:t>VMware STIG only assesses against NIST 800-53 Controls. Time will be required to translate into any other standard like E8 or ISM</a:t>
            </a:r>
            <a:endParaRPr sz="900" dirty="0">
              <a:solidFill>
                <a:schemeClr val="accent2"/>
              </a:solidFill>
              <a:ea typeface="Montserrat"/>
              <a:cs typeface="Montserrat"/>
              <a:sym typeface="Montserrat"/>
            </a:endParaRPr>
          </a:p>
          <a:p>
            <a:pPr marL="0" marR="0" lvl="0" indent="0" algn="l" rtl="0">
              <a:lnSpc>
                <a:spcPct val="100000"/>
              </a:lnSpc>
              <a:spcBef>
                <a:spcPts val="0"/>
              </a:spcBef>
              <a:spcAft>
                <a:spcPts val="0"/>
              </a:spcAft>
              <a:buClr>
                <a:srgbClr val="000000"/>
              </a:buClr>
              <a:buSzPts val="1000"/>
              <a:buFont typeface="Arial"/>
              <a:buNone/>
            </a:pPr>
            <a:endParaRPr sz="1000" dirty="0">
              <a:solidFill>
                <a:schemeClr val="accent2"/>
              </a:solidFill>
              <a:ea typeface="Montserrat"/>
              <a:cs typeface="Montserrat"/>
              <a:sym typeface="Montserrat"/>
            </a:endParaRPr>
          </a:p>
        </p:txBody>
      </p:sp>
      <p:sp>
        <p:nvSpPr>
          <p:cNvPr id="18" name="Google Shape;1323;p77">
            <a:extLst>
              <a:ext uri="{FF2B5EF4-FFF2-40B4-BE49-F238E27FC236}">
                <a16:creationId xmlns:a16="http://schemas.microsoft.com/office/drawing/2014/main" id="{9CDB5682-E34A-DB36-2F3F-DB04149BD659}"/>
              </a:ext>
            </a:extLst>
          </p:cNvPr>
          <p:cNvSpPr/>
          <p:nvPr/>
        </p:nvSpPr>
        <p:spPr>
          <a:xfrm>
            <a:off x="8809400" y="899825"/>
            <a:ext cx="2790000" cy="297300"/>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FFFFFF"/>
                </a:solidFill>
                <a:ea typeface="Montserrat"/>
                <a:cs typeface="Montserrat"/>
                <a:sym typeface="Montserrat"/>
              </a:rPr>
              <a:t>Benefit</a:t>
            </a:r>
            <a:endParaRPr sz="1200" b="1" i="0" u="none" strike="noStrike" cap="none">
              <a:solidFill>
                <a:srgbClr val="FFFFFF"/>
              </a:solidFill>
              <a:ea typeface="Montserrat"/>
              <a:cs typeface="Montserrat"/>
              <a:sym typeface="Montserrat"/>
            </a:endParaRPr>
          </a:p>
        </p:txBody>
      </p:sp>
      <p:sp>
        <p:nvSpPr>
          <p:cNvPr id="19" name="Google Shape;1324;p77">
            <a:extLst>
              <a:ext uri="{FF2B5EF4-FFF2-40B4-BE49-F238E27FC236}">
                <a16:creationId xmlns:a16="http://schemas.microsoft.com/office/drawing/2014/main" id="{8A9D5FDD-0F4B-7016-563F-99897BE7088E}"/>
              </a:ext>
            </a:extLst>
          </p:cNvPr>
          <p:cNvSpPr/>
          <p:nvPr/>
        </p:nvSpPr>
        <p:spPr>
          <a:xfrm>
            <a:off x="8809425" y="1254425"/>
            <a:ext cx="2773800" cy="1420200"/>
          </a:xfrm>
          <a:prstGeom prst="rect">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lvl="0">
              <a:buSzPts val="1000"/>
            </a:pPr>
            <a:r>
              <a:rPr lang="en-US" sz="1000" dirty="0">
                <a:solidFill>
                  <a:schemeClr val="accent2"/>
                </a:solidFill>
                <a:ea typeface="Montserrat"/>
                <a:cs typeface="Montserrat"/>
                <a:sym typeface="Montserrat"/>
              </a:rPr>
              <a:t>Overview of the configured state of the &lt;CUSTOMER&gt; environment</a:t>
            </a:r>
          </a:p>
          <a:p>
            <a:pPr marL="0" marR="0" lvl="0" indent="0" algn="l" rtl="0">
              <a:lnSpc>
                <a:spcPct val="100000"/>
              </a:lnSpc>
              <a:spcBef>
                <a:spcPts val="0"/>
              </a:spcBef>
              <a:spcAft>
                <a:spcPts val="0"/>
              </a:spcAft>
              <a:buClr>
                <a:srgbClr val="000000"/>
              </a:buClr>
              <a:buSzPts val="1000"/>
              <a:buFont typeface="Arial"/>
              <a:buNone/>
            </a:pPr>
            <a:r>
              <a:rPr lang="en-US" sz="1000" dirty="0">
                <a:solidFill>
                  <a:schemeClr val="accent2"/>
                </a:solidFill>
                <a:ea typeface="Montserrat"/>
                <a:cs typeface="Montserrat"/>
                <a:sym typeface="Montserrat"/>
              </a:rPr>
              <a:t>Produce recommendations on securing the VMware components in the environment</a:t>
            </a:r>
          </a:p>
          <a:p>
            <a:pPr marL="0" marR="0" lvl="0" indent="0" algn="l" rtl="0">
              <a:lnSpc>
                <a:spcPct val="100000"/>
              </a:lnSpc>
              <a:spcBef>
                <a:spcPts val="0"/>
              </a:spcBef>
              <a:spcAft>
                <a:spcPts val="0"/>
              </a:spcAft>
              <a:buClr>
                <a:srgbClr val="000000"/>
              </a:buClr>
              <a:buSzPts val="1000"/>
              <a:buFont typeface="Arial"/>
              <a:buNone/>
            </a:pPr>
            <a:r>
              <a:rPr lang="en-US" sz="1000" dirty="0">
                <a:solidFill>
                  <a:schemeClr val="accent2"/>
                </a:solidFill>
                <a:ea typeface="Montserrat"/>
                <a:cs typeface="Montserrat"/>
                <a:sym typeface="Montserrat"/>
              </a:rPr>
              <a:t>Point in time report on the Security configuration posture</a:t>
            </a: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chemeClr val="accent2"/>
              </a:solidFill>
              <a:ea typeface="Montserrat"/>
              <a:cs typeface="Montserrat"/>
              <a:sym typeface="Montserrat"/>
            </a:endParaRPr>
          </a:p>
        </p:txBody>
      </p:sp>
      <p:sp>
        <p:nvSpPr>
          <p:cNvPr id="6" name="Rectangle 5">
            <a:extLst>
              <a:ext uri="{FF2B5EF4-FFF2-40B4-BE49-F238E27FC236}">
                <a16:creationId xmlns:a16="http://schemas.microsoft.com/office/drawing/2014/main" id="{145FB404-D3F8-7BFF-4AF9-60B537DDFBDF}"/>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customer specifics</a:t>
            </a:r>
          </a:p>
        </p:txBody>
      </p:sp>
    </p:spTree>
    <p:extLst>
      <p:ext uri="{BB962C8B-B14F-4D97-AF65-F5344CB8AC3E}">
        <p14:creationId xmlns:p14="http://schemas.microsoft.com/office/powerpoint/2010/main" val="105738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93">
          <a:extLst>
            <a:ext uri="{FF2B5EF4-FFF2-40B4-BE49-F238E27FC236}">
              <a16:creationId xmlns:a16="http://schemas.microsoft.com/office/drawing/2014/main" id="{02520989-2FFD-F262-C046-1293D2C46A29}"/>
            </a:ext>
          </a:extLst>
        </p:cNvPr>
        <p:cNvGrpSpPr/>
        <p:nvPr/>
      </p:nvGrpSpPr>
      <p:grpSpPr>
        <a:xfrm>
          <a:off x="0" y="0"/>
          <a:ext cx="0" cy="0"/>
          <a:chOff x="0" y="0"/>
          <a:chExt cx="0" cy="0"/>
        </a:xfrm>
      </p:grpSpPr>
      <p:sp>
        <p:nvSpPr>
          <p:cNvPr id="3094" name="Google Shape;3094;p23">
            <a:extLst>
              <a:ext uri="{FF2B5EF4-FFF2-40B4-BE49-F238E27FC236}">
                <a16:creationId xmlns:a16="http://schemas.microsoft.com/office/drawing/2014/main" id="{F6BCB0B2-BD82-FF3B-6C2C-BE5960C83EBF}"/>
              </a:ext>
            </a:extLst>
          </p:cNvPr>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Detailed Findings - Sample</a:t>
            </a:r>
            <a:endParaRPr/>
          </a:p>
        </p:txBody>
      </p:sp>
      <p:sp>
        <p:nvSpPr>
          <p:cNvPr id="3095" name="Google Shape;3095;p23">
            <a:extLst>
              <a:ext uri="{FF2B5EF4-FFF2-40B4-BE49-F238E27FC236}">
                <a16:creationId xmlns:a16="http://schemas.microsoft.com/office/drawing/2014/main" id="{F51D3283-A089-3229-3683-A83C716A6449}"/>
              </a:ext>
            </a:extLst>
          </p:cNvPr>
          <p:cNvSpPr txBox="1">
            <a:spLocks noGrp="1"/>
          </p:cNvSpPr>
          <p:nvPr>
            <p:ph type="subTitle" idx="10"/>
          </p:nvPr>
        </p:nvSpPr>
        <p:spPr>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800"/>
              <a:buNone/>
            </a:pPr>
            <a:r>
              <a:rPr lang="en-US" dirty="0"/>
              <a:t>Production vCenter</a:t>
            </a:r>
            <a:endParaRPr dirty="0"/>
          </a:p>
        </p:txBody>
      </p:sp>
      <p:sp>
        <p:nvSpPr>
          <p:cNvPr id="3096" name="Google Shape;3096;p23">
            <a:extLst>
              <a:ext uri="{FF2B5EF4-FFF2-40B4-BE49-F238E27FC236}">
                <a16:creationId xmlns:a16="http://schemas.microsoft.com/office/drawing/2014/main" id="{9125F805-7C9E-6DE2-A419-F2323E6799ED}"/>
              </a:ext>
            </a:extLst>
          </p:cNvPr>
          <p:cNvSpPr txBox="1"/>
          <p:nvPr/>
        </p:nvSpPr>
        <p:spPr>
          <a:xfrm>
            <a:off x="482322" y="4844811"/>
            <a:ext cx="11145386" cy="116955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u="sng">
                <a:solidFill>
                  <a:srgbClr val="FF0000"/>
                </a:solidFill>
                <a:ea typeface="Arial"/>
                <a:cs typeface="Arial"/>
                <a:sym typeface="Arial"/>
              </a:rPr>
              <a:t>HIGH VULNERABILITIES </a:t>
            </a:r>
            <a:endParaRPr/>
          </a:p>
          <a:p>
            <a:pPr marL="342900" marR="0" lvl="0" indent="-342900" algn="l" rtl="0">
              <a:spcBef>
                <a:spcPts val="0"/>
              </a:spcBef>
              <a:spcAft>
                <a:spcPts val="0"/>
              </a:spcAft>
              <a:buClr>
                <a:schemeClr val="dk1"/>
              </a:buClr>
              <a:buSzPts val="1400"/>
              <a:buFont typeface="Arial"/>
              <a:buChar char="•"/>
            </a:pPr>
            <a:r>
              <a:rPr lang="en-US" sz="1400">
                <a:solidFill>
                  <a:schemeClr val="dk1"/>
                </a:solidFill>
                <a:ea typeface="Arial"/>
                <a:cs typeface="Arial"/>
                <a:sym typeface="Arial"/>
              </a:rPr>
              <a:t>vCenter Grub menu authentication (</a:t>
            </a:r>
            <a:r>
              <a:rPr lang="en-US" sz="1400">
                <a:solidFill>
                  <a:srgbClr val="548316"/>
                </a:solidFill>
                <a:ea typeface="Arial"/>
                <a:cs typeface="Arial"/>
                <a:sym typeface="Arial"/>
              </a:rPr>
              <a:t>complete</a:t>
            </a:r>
            <a:r>
              <a:rPr lang="en-US" sz="1400">
                <a:solidFill>
                  <a:schemeClr val="dk1"/>
                </a:solidFill>
                <a:ea typeface="Arial"/>
                <a:cs typeface="Arial"/>
                <a:sym typeface="Arial"/>
              </a:rPr>
              <a:t>)</a:t>
            </a:r>
            <a:endParaRPr/>
          </a:p>
          <a:p>
            <a:pPr marL="342900" marR="0" lvl="0" indent="-342900" algn="l" rtl="0">
              <a:spcBef>
                <a:spcPts val="0"/>
              </a:spcBef>
              <a:spcAft>
                <a:spcPts val="0"/>
              </a:spcAft>
              <a:buClr>
                <a:schemeClr val="dk1"/>
              </a:buClr>
              <a:buSzPts val="1400"/>
              <a:buFont typeface="Arial"/>
              <a:buChar char="•"/>
            </a:pPr>
            <a:r>
              <a:rPr lang="en-US" sz="1400">
                <a:solidFill>
                  <a:schemeClr val="dk1"/>
                </a:solidFill>
                <a:ea typeface="Arial"/>
                <a:cs typeface="Arial"/>
                <a:sym typeface="Arial"/>
              </a:rPr>
              <a:t>All Host port groups on standard switches must be configured to reject guest Media Access Control (MAC) address changes</a:t>
            </a:r>
            <a:endParaRPr/>
          </a:p>
          <a:p>
            <a:pPr marL="342900" marR="0" lvl="0" indent="-342900" algn="l" rtl="0">
              <a:spcBef>
                <a:spcPts val="0"/>
              </a:spcBef>
              <a:spcAft>
                <a:spcPts val="0"/>
              </a:spcAft>
              <a:buClr>
                <a:schemeClr val="dk1"/>
              </a:buClr>
              <a:buSzPts val="1400"/>
              <a:buFont typeface="Arial"/>
              <a:buChar char="•"/>
            </a:pPr>
            <a:r>
              <a:rPr lang="en-US" sz="1400">
                <a:solidFill>
                  <a:schemeClr val="dk1"/>
                </a:solidFill>
                <a:ea typeface="Arial"/>
                <a:cs typeface="Arial"/>
                <a:sym typeface="Arial"/>
              </a:rPr>
              <a:t>Install latest security patches (Host)</a:t>
            </a:r>
            <a:endParaRPr/>
          </a:p>
          <a:p>
            <a:pPr marL="342900" marR="0" lvl="0" indent="-342900" algn="l" rtl="0">
              <a:spcBef>
                <a:spcPts val="0"/>
              </a:spcBef>
              <a:spcAft>
                <a:spcPts val="0"/>
              </a:spcAft>
              <a:buClr>
                <a:schemeClr val="dk1"/>
              </a:buClr>
              <a:buSzPts val="1400"/>
              <a:buFont typeface="Arial"/>
              <a:buChar char="•"/>
            </a:pPr>
            <a:r>
              <a:rPr lang="en-US" sz="1400">
                <a:solidFill>
                  <a:schemeClr val="dk1"/>
                </a:solidFill>
                <a:ea typeface="Arial"/>
                <a:cs typeface="Arial"/>
                <a:sym typeface="Arial"/>
              </a:rPr>
              <a:t>The ESXi host must exclusively enable Transport Layer Security (TLS) 1.2 for all endpoints</a:t>
            </a:r>
            <a:endParaRPr/>
          </a:p>
        </p:txBody>
      </p:sp>
      <p:pic>
        <p:nvPicPr>
          <p:cNvPr id="3097" name="Google Shape;3097;p23">
            <a:extLst>
              <a:ext uri="{FF2B5EF4-FFF2-40B4-BE49-F238E27FC236}">
                <a16:creationId xmlns:a16="http://schemas.microsoft.com/office/drawing/2014/main" id="{1CB1E3B1-FD12-B218-57A0-64407E6F2195}"/>
              </a:ext>
            </a:extLst>
          </p:cNvPr>
          <p:cNvPicPr preferRelativeResize="0"/>
          <p:nvPr/>
        </p:nvPicPr>
        <p:blipFill rotWithShape="1">
          <a:blip r:embed="rId3">
            <a:alphaModFix/>
          </a:blip>
          <a:srcRect/>
          <a:stretch/>
        </p:blipFill>
        <p:spPr>
          <a:xfrm>
            <a:off x="1334512" y="1740774"/>
            <a:ext cx="9519801" cy="2922591"/>
          </a:xfrm>
          <a:prstGeom prst="rect">
            <a:avLst/>
          </a:prstGeom>
          <a:noFill/>
          <a:ln>
            <a:noFill/>
          </a:ln>
        </p:spPr>
      </p:pic>
      <p:sp>
        <p:nvSpPr>
          <p:cNvPr id="3098" name="Google Shape;3098;p23">
            <a:extLst>
              <a:ext uri="{FF2B5EF4-FFF2-40B4-BE49-F238E27FC236}">
                <a16:creationId xmlns:a16="http://schemas.microsoft.com/office/drawing/2014/main" id="{4EDFD9AC-172D-FB9C-7B80-98034BB56F10}"/>
              </a:ext>
            </a:extLst>
          </p:cNvPr>
          <p:cNvSpPr/>
          <p:nvPr/>
        </p:nvSpPr>
        <p:spPr>
          <a:xfrm>
            <a:off x="2533357" y="1322820"/>
            <a:ext cx="6824345" cy="23650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ea typeface="Arial"/>
                <a:cs typeface="Arial"/>
                <a:sym typeface="Arial"/>
              </a:rPr>
              <a:t>Overall Compliance Score</a:t>
            </a:r>
            <a:endParaRPr sz="1800" b="1">
              <a:solidFill>
                <a:schemeClr val="lt1"/>
              </a:solidFill>
              <a:ea typeface="Arial"/>
              <a:cs typeface="Arial"/>
              <a:sym typeface="Arial"/>
            </a:endParaRPr>
          </a:p>
        </p:txBody>
      </p:sp>
      <p:sp>
        <p:nvSpPr>
          <p:cNvPr id="3" name="Rectangle 2">
            <a:extLst>
              <a:ext uri="{FF2B5EF4-FFF2-40B4-BE49-F238E27FC236}">
                <a16:creationId xmlns:a16="http://schemas.microsoft.com/office/drawing/2014/main" id="{A277B2D6-EB21-2613-6CA4-1C01BFAC5D51}"/>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a:t>
            </a:r>
          </a:p>
        </p:txBody>
      </p:sp>
    </p:spTree>
    <p:extLst>
      <p:ext uri="{BB962C8B-B14F-4D97-AF65-F5344CB8AC3E}">
        <p14:creationId xmlns:p14="http://schemas.microsoft.com/office/powerpoint/2010/main" val="2660605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08D55-9001-6C76-B1FA-CA579C80F5B6}"/>
              </a:ext>
            </a:extLst>
          </p:cNvPr>
          <p:cNvSpPr>
            <a:spLocks noGrp="1"/>
          </p:cNvSpPr>
          <p:nvPr>
            <p:ph type="title"/>
          </p:nvPr>
        </p:nvSpPr>
        <p:spPr/>
        <p:txBody>
          <a:bodyPr/>
          <a:lstStyle/>
          <a:p>
            <a:r>
              <a:rPr lang="en-US" dirty="0"/>
              <a:t>Findings and Recommendations - Sample</a:t>
            </a:r>
          </a:p>
        </p:txBody>
      </p:sp>
      <p:sp>
        <p:nvSpPr>
          <p:cNvPr id="3" name="Subtitle 2">
            <a:extLst>
              <a:ext uri="{FF2B5EF4-FFF2-40B4-BE49-F238E27FC236}">
                <a16:creationId xmlns:a16="http://schemas.microsoft.com/office/drawing/2014/main" id="{41FAE499-F5F0-15E6-8800-3426330608AB}"/>
              </a:ext>
            </a:extLst>
          </p:cNvPr>
          <p:cNvSpPr>
            <a:spLocks noGrp="1"/>
          </p:cNvSpPr>
          <p:nvPr>
            <p:ph type="subTitle" idx="10"/>
          </p:nvPr>
        </p:nvSpPr>
        <p:spPr/>
        <p:txBody>
          <a:bodyPr/>
          <a:lstStyle/>
          <a:p>
            <a:r>
              <a:rPr lang="en-US" dirty="0"/>
              <a:t>High Priority Recommendations</a:t>
            </a:r>
          </a:p>
        </p:txBody>
      </p:sp>
      <p:sp>
        <p:nvSpPr>
          <p:cNvPr id="4" name="Google Shape;3106;p24">
            <a:extLst>
              <a:ext uri="{FF2B5EF4-FFF2-40B4-BE49-F238E27FC236}">
                <a16:creationId xmlns:a16="http://schemas.microsoft.com/office/drawing/2014/main" id="{E441266F-DC4D-911D-A580-2F1EE5923DD5}"/>
              </a:ext>
            </a:extLst>
          </p:cNvPr>
          <p:cNvSpPr txBox="1"/>
          <p:nvPr/>
        </p:nvSpPr>
        <p:spPr>
          <a:xfrm>
            <a:off x="385207" y="1819362"/>
            <a:ext cx="3741960" cy="360099"/>
          </a:xfrm>
          <a:prstGeom prst="rect">
            <a:avLst/>
          </a:prstGeom>
          <a:solidFill>
            <a:srgbClr val="004463"/>
          </a:solid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None/>
            </a:pPr>
            <a:r>
              <a:rPr lang="en-US" sz="1800">
                <a:solidFill>
                  <a:srgbClr val="F2F2F2"/>
                </a:solidFill>
                <a:ea typeface="Arial"/>
                <a:cs typeface="Arial"/>
                <a:sym typeface="Arial"/>
              </a:rPr>
              <a:t>vCenter</a:t>
            </a:r>
            <a:endParaRPr/>
          </a:p>
        </p:txBody>
      </p:sp>
      <p:sp>
        <p:nvSpPr>
          <p:cNvPr id="5" name="Google Shape;3107;p24">
            <a:extLst>
              <a:ext uri="{FF2B5EF4-FFF2-40B4-BE49-F238E27FC236}">
                <a16:creationId xmlns:a16="http://schemas.microsoft.com/office/drawing/2014/main" id="{3B72B747-3045-3053-1A48-903CC9EAF246}"/>
              </a:ext>
            </a:extLst>
          </p:cNvPr>
          <p:cNvSpPr txBox="1"/>
          <p:nvPr/>
        </p:nvSpPr>
        <p:spPr>
          <a:xfrm>
            <a:off x="4247639" y="1819362"/>
            <a:ext cx="3738815" cy="360099"/>
          </a:xfrm>
          <a:prstGeom prst="rect">
            <a:avLst/>
          </a:prstGeom>
          <a:solidFill>
            <a:srgbClr val="004463"/>
          </a:solid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None/>
            </a:pPr>
            <a:r>
              <a:rPr lang="en-US" sz="1800">
                <a:solidFill>
                  <a:srgbClr val="F2F2F2"/>
                </a:solidFill>
                <a:ea typeface="Arial"/>
                <a:cs typeface="Arial"/>
                <a:sym typeface="Arial"/>
              </a:rPr>
              <a:t>ESXi Hosts</a:t>
            </a:r>
            <a:endParaRPr/>
          </a:p>
        </p:txBody>
      </p:sp>
      <p:sp>
        <p:nvSpPr>
          <p:cNvPr id="6" name="Google Shape;3108;p24">
            <a:extLst>
              <a:ext uri="{FF2B5EF4-FFF2-40B4-BE49-F238E27FC236}">
                <a16:creationId xmlns:a16="http://schemas.microsoft.com/office/drawing/2014/main" id="{03D99BF1-FEB3-71E4-3202-2FF6755B9AEB}"/>
              </a:ext>
            </a:extLst>
          </p:cNvPr>
          <p:cNvSpPr txBox="1"/>
          <p:nvPr/>
        </p:nvSpPr>
        <p:spPr>
          <a:xfrm>
            <a:off x="8259306" y="1819362"/>
            <a:ext cx="3744584" cy="360099"/>
          </a:xfrm>
          <a:prstGeom prst="rect">
            <a:avLst/>
          </a:prstGeom>
          <a:solidFill>
            <a:srgbClr val="004463"/>
          </a:solidFill>
          <a:ln>
            <a:noFill/>
          </a:ln>
        </p:spPr>
        <p:txBody>
          <a:bodyPr spcFirstLastPara="1" wrap="square" lIns="0" tIns="0" rIns="0" bIns="0" anchor="ctr" anchorCtr="0">
            <a:spAutoFit/>
          </a:bodyPr>
          <a:lstStyle/>
          <a:p>
            <a:pPr marL="0" marR="0" lvl="0" indent="0" algn="ctr" rtl="0">
              <a:lnSpc>
                <a:spcPct val="130000"/>
              </a:lnSpc>
              <a:spcBef>
                <a:spcPts val="0"/>
              </a:spcBef>
              <a:spcAft>
                <a:spcPts val="0"/>
              </a:spcAft>
              <a:buNone/>
            </a:pPr>
            <a:r>
              <a:rPr lang="en-US" sz="1800">
                <a:solidFill>
                  <a:srgbClr val="F2F2F2"/>
                </a:solidFill>
                <a:ea typeface="Arial"/>
                <a:cs typeface="Arial"/>
                <a:sym typeface="Arial"/>
              </a:rPr>
              <a:t>Virtual Machines</a:t>
            </a:r>
            <a:endParaRPr/>
          </a:p>
        </p:txBody>
      </p:sp>
      <p:sp>
        <p:nvSpPr>
          <p:cNvPr id="7" name="Google Shape;3109;p24">
            <a:extLst>
              <a:ext uri="{FF2B5EF4-FFF2-40B4-BE49-F238E27FC236}">
                <a16:creationId xmlns:a16="http://schemas.microsoft.com/office/drawing/2014/main" id="{90DD6CA3-D04F-8668-C9B1-380D0688C9A5}"/>
              </a:ext>
            </a:extLst>
          </p:cNvPr>
          <p:cNvSpPr txBox="1"/>
          <p:nvPr/>
        </p:nvSpPr>
        <p:spPr>
          <a:xfrm>
            <a:off x="4208449" y="2312922"/>
            <a:ext cx="3746614" cy="1920526"/>
          </a:xfrm>
          <a:prstGeom prst="rect">
            <a:avLst/>
          </a:prstGeom>
          <a:noFill/>
          <a:ln>
            <a:noFill/>
          </a:ln>
        </p:spPr>
        <p:txBody>
          <a:bodyPr spcFirstLastPara="1" wrap="square" lIns="0" tIns="0" rIns="0" bIns="0" anchor="t" anchorCtr="0">
            <a:spAutoFit/>
          </a:bodyPr>
          <a:lstStyle/>
          <a:p>
            <a:pPr marL="285750" marR="0" lvl="0" indent="-285750" algn="l" rtl="0">
              <a:lnSpc>
                <a:spcPct val="130000"/>
              </a:lnSpc>
              <a:spcBef>
                <a:spcPts val="0"/>
              </a:spcBef>
              <a:spcAft>
                <a:spcPts val="0"/>
              </a:spcAft>
              <a:buClr>
                <a:schemeClr val="accent5"/>
              </a:buClr>
              <a:buSzPts val="1600"/>
              <a:buFont typeface="Noto Sans Symbols"/>
              <a:buChar char="▪"/>
            </a:pPr>
            <a:r>
              <a:rPr lang="en-US" sz="1600">
                <a:solidFill>
                  <a:schemeClr val="accent5"/>
                </a:solidFill>
                <a:ea typeface="Arial"/>
                <a:cs typeface="Arial"/>
                <a:sym typeface="Arial"/>
              </a:rPr>
              <a:t>Secure Boot is disabled on the hosts. </a:t>
            </a:r>
            <a:endParaRPr/>
          </a:p>
          <a:p>
            <a:pPr marL="285750" marR="0" lvl="0" indent="-285750" algn="l" rtl="0">
              <a:lnSpc>
                <a:spcPct val="130000"/>
              </a:lnSpc>
              <a:spcBef>
                <a:spcPts val="0"/>
              </a:spcBef>
              <a:spcAft>
                <a:spcPts val="0"/>
              </a:spcAft>
              <a:buClr>
                <a:schemeClr val="accent5"/>
              </a:buClr>
              <a:buSzPts val="1600"/>
              <a:buFont typeface="Noto Sans Symbols"/>
              <a:buChar char="▪"/>
            </a:pPr>
            <a:r>
              <a:rPr lang="en-US" sz="1600">
                <a:solidFill>
                  <a:schemeClr val="accent5"/>
                </a:solidFill>
                <a:ea typeface="Arial"/>
                <a:cs typeface="Arial"/>
                <a:sym typeface="Arial"/>
              </a:rPr>
              <a:t>TPM-based configuration encryption disabled on hosts.</a:t>
            </a:r>
            <a:endParaRPr/>
          </a:p>
          <a:p>
            <a:pPr marL="285750" marR="0" lvl="0" indent="-285750" algn="l" rtl="0">
              <a:lnSpc>
                <a:spcPct val="130000"/>
              </a:lnSpc>
              <a:spcBef>
                <a:spcPts val="0"/>
              </a:spcBef>
              <a:spcAft>
                <a:spcPts val="0"/>
              </a:spcAft>
              <a:buClr>
                <a:srgbClr val="FF0000"/>
              </a:buClr>
              <a:buSzPts val="1600"/>
              <a:buFont typeface="Noto Sans Symbols"/>
              <a:buChar char="▪"/>
            </a:pPr>
            <a:r>
              <a:rPr lang="en-US" sz="1600">
                <a:solidFill>
                  <a:srgbClr val="FF0000"/>
                </a:solidFill>
                <a:ea typeface="Arial"/>
                <a:cs typeface="Arial"/>
                <a:sym typeface="Arial"/>
              </a:rPr>
              <a:t>Review vlan port groups for vMotion traffic </a:t>
            </a:r>
            <a:endParaRPr/>
          </a:p>
          <a:p>
            <a:pPr marL="285750" marR="0" lvl="0" indent="-285750" algn="l" rtl="0">
              <a:lnSpc>
                <a:spcPct val="130000"/>
              </a:lnSpc>
              <a:spcBef>
                <a:spcPts val="0"/>
              </a:spcBef>
              <a:spcAft>
                <a:spcPts val="0"/>
              </a:spcAft>
              <a:buClr>
                <a:srgbClr val="FF0000"/>
              </a:buClr>
              <a:buSzPts val="1600"/>
              <a:buFont typeface="Noto Sans Symbols"/>
              <a:buChar char="▪"/>
            </a:pPr>
            <a:r>
              <a:rPr lang="en-US" sz="1600">
                <a:solidFill>
                  <a:srgbClr val="FF0000"/>
                </a:solidFill>
                <a:ea typeface="Arial"/>
                <a:cs typeface="Arial"/>
                <a:sym typeface="Arial"/>
              </a:rPr>
              <a:t>Update to v7 patch 3o (current 3i)</a:t>
            </a:r>
            <a:endParaRPr/>
          </a:p>
        </p:txBody>
      </p:sp>
      <p:sp>
        <p:nvSpPr>
          <p:cNvPr id="8" name="Google Shape;3110;p24">
            <a:extLst>
              <a:ext uri="{FF2B5EF4-FFF2-40B4-BE49-F238E27FC236}">
                <a16:creationId xmlns:a16="http://schemas.microsoft.com/office/drawing/2014/main" id="{FBB2822C-4F8C-6F66-D49E-14DFF112AEE0}"/>
              </a:ext>
            </a:extLst>
          </p:cNvPr>
          <p:cNvSpPr txBox="1"/>
          <p:nvPr/>
        </p:nvSpPr>
        <p:spPr>
          <a:xfrm>
            <a:off x="8242277" y="2310536"/>
            <a:ext cx="3735841" cy="1640449"/>
          </a:xfrm>
          <a:prstGeom prst="rect">
            <a:avLst/>
          </a:prstGeom>
          <a:noFill/>
          <a:ln>
            <a:noFill/>
          </a:ln>
        </p:spPr>
        <p:txBody>
          <a:bodyPr spcFirstLastPara="1" wrap="square" lIns="0" tIns="0" rIns="0" bIns="0" anchor="t" anchorCtr="0">
            <a:spAutoFit/>
          </a:bodyPr>
          <a:lstStyle/>
          <a:p>
            <a:pPr marL="342900" marR="0" lvl="0" indent="-342900" algn="l" rtl="0">
              <a:lnSpc>
                <a:spcPct val="130000"/>
              </a:lnSpc>
              <a:spcBef>
                <a:spcPts val="0"/>
              </a:spcBef>
              <a:spcAft>
                <a:spcPts val="0"/>
              </a:spcAft>
              <a:buClr>
                <a:schemeClr val="accent5"/>
              </a:buClr>
              <a:buSzPts val="1600"/>
              <a:buFont typeface="Noto Sans Symbols"/>
              <a:buChar char="▪"/>
            </a:pPr>
            <a:r>
              <a:rPr lang="en-US" sz="1600">
                <a:solidFill>
                  <a:schemeClr val="accent5"/>
                </a:solidFill>
                <a:ea typeface="Arial"/>
                <a:cs typeface="Arial"/>
                <a:sym typeface="Arial"/>
              </a:rPr>
              <a:t>VM guest OS must be locked when last console connection is closed.</a:t>
            </a:r>
            <a:endParaRPr sz="1600">
              <a:solidFill>
                <a:schemeClr val="accent5"/>
              </a:solidFill>
              <a:ea typeface="Arial"/>
              <a:cs typeface="Arial"/>
              <a:sym typeface="Arial"/>
            </a:endParaRPr>
          </a:p>
          <a:p>
            <a:pPr marL="342900" marR="0" lvl="0" indent="-342900" algn="l" rtl="0">
              <a:lnSpc>
                <a:spcPct val="130000"/>
              </a:lnSpc>
              <a:spcBef>
                <a:spcPts val="0"/>
              </a:spcBef>
              <a:spcAft>
                <a:spcPts val="0"/>
              </a:spcAft>
              <a:buClr>
                <a:schemeClr val="accent5"/>
              </a:buClr>
              <a:buSzPts val="1600"/>
              <a:buFont typeface="Noto Sans Symbols"/>
              <a:buChar char="▪"/>
            </a:pPr>
            <a:r>
              <a:rPr lang="en-US" sz="1600">
                <a:solidFill>
                  <a:schemeClr val="accent5"/>
                </a:solidFill>
                <a:ea typeface="Arial"/>
                <a:cs typeface="Arial"/>
                <a:sym typeface="Arial"/>
              </a:rPr>
              <a:t>Remove unnecessary virtual hardware devices from the VM.​</a:t>
            </a:r>
            <a:endParaRPr/>
          </a:p>
          <a:p>
            <a:pPr marL="0" marR="0" lvl="0" indent="0" algn="l" rtl="0">
              <a:lnSpc>
                <a:spcPct val="130000"/>
              </a:lnSpc>
              <a:spcBef>
                <a:spcPts val="0"/>
              </a:spcBef>
              <a:spcAft>
                <a:spcPts val="0"/>
              </a:spcAft>
              <a:buNone/>
            </a:pPr>
            <a:endParaRPr sz="1800">
              <a:solidFill>
                <a:srgbClr val="717074"/>
              </a:solidFill>
              <a:ea typeface="Arial"/>
              <a:cs typeface="Arial"/>
              <a:sym typeface="Arial"/>
            </a:endParaRPr>
          </a:p>
        </p:txBody>
      </p:sp>
      <p:sp>
        <p:nvSpPr>
          <p:cNvPr id="9" name="Google Shape;3111;p24">
            <a:extLst>
              <a:ext uri="{FF2B5EF4-FFF2-40B4-BE49-F238E27FC236}">
                <a16:creationId xmlns:a16="http://schemas.microsoft.com/office/drawing/2014/main" id="{D5693D05-728C-A878-5852-D068F4282D7E}"/>
              </a:ext>
            </a:extLst>
          </p:cNvPr>
          <p:cNvSpPr txBox="1"/>
          <p:nvPr/>
        </p:nvSpPr>
        <p:spPr>
          <a:xfrm>
            <a:off x="379310" y="2374632"/>
            <a:ext cx="3753754" cy="1640449"/>
          </a:xfrm>
          <a:prstGeom prst="rect">
            <a:avLst/>
          </a:prstGeom>
          <a:noFill/>
          <a:ln>
            <a:noFill/>
          </a:ln>
        </p:spPr>
        <p:txBody>
          <a:bodyPr spcFirstLastPara="1" wrap="square" lIns="0" tIns="0" rIns="0" bIns="0" anchor="t" anchorCtr="0">
            <a:spAutoFit/>
          </a:bodyPr>
          <a:lstStyle/>
          <a:p>
            <a:pPr marL="342900" marR="0" lvl="0" indent="-342900" algn="l" rtl="0">
              <a:lnSpc>
                <a:spcPct val="130000"/>
              </a:lnSpc>
              <a:spcBef>
                <a:spcPts val="0"/>
              </a:spcBef>
              <a:spcAft>
                <a:spcPts val="0"/>
              </a:spcAft>
              <a:buClr>
                <a:schemeClr val="accent5"/>
              </a:buClr>
              <a:buSzPts val="1600"/>
              <a:buFont typeface="Noto Sans Symbols"/>
              <a:buChar char="▪"/>
            </a:pPr>
            <a:r>
              <a:rPr lang="en-US" sz="1600" dirty="0">
                <a:solidFill>
                  <a:schemeClr val="accent5"/>
                </a:solidFill>
                <a:ea typeface="Arial"/>
                <a:cs typeface="Arial"/>
                <a:sym typeface="Arial"/>
              </a:rPr>
              <a:t>Configure ssh daemon settings</a:t>
            </a:r>
            <a:endParaRPr dirty="0"/>
          </a:p>
          <a:p>
            <a:pPr marL="342900" marR="0" lvl="0" indent="-342900" algn="l" rtl="0">
              <a:lnSpc>
                <a:spcPct val="130000"/>
              </a:lnSpc>
              <a:spcBef>
                <a:spcPts val="0"/>
              </a:spcBef>
              <a:spcAft>
                <a:spcPts val="0"/>
              </a:spcAft>
              <a:buClr>
                <a:schemeClr val="accent5"/>
              </a:buClr>
              <a:buSzPts val="1600"/>
              <a:buFont typeface="Noto Sans Symbols"/>
              <a:buChar char="▪"/>
            </a:pPr>
            <a:r>
              <a:rPr lang="en-US" sz="1600" dirty="0">
                <a:solidFill>
                  <a:schemeClr val="accent5"/>
                </a:solidFill>
                <a:ea typeface="Arial"/>
                <a:cs typeface="Arial"/>
                <a:sym typeface="Arial"/>
              </a:rPr>
              <a:t>Limit password reuse, unique user accounts (root/admin)</a:t>
            </a:r>
            <a:endParaRPr dirty="0"/>
          </a:p>
          <a:p>
            <a:pPr marL="342900" marR="0" lvl="0" indent="-342900" algn="l" rtl="0">
              <a:lnSpc>
                <a:spcPct val="130000"/>
              </a:lnSpc>
              <a:spcBef>
                <a:spcPts val="0"/>
              </a:spcBef>
              <a:spcAft>
                <a:spcPts val="0"/>
              </a:spcAft>
              <a:buClr>
                <a:schemeClr val="accent6"/>
              </a:buClr>
              <a:buSzPts val="1600"/>
              <a:buFont typeface="Noto Sans Symbols"/>
              <a:buChar char="▪"/>
            </a:pPr>
            <a:r>
              <a:rPr lang="en-US" sz="1600" dirty="0">
                <a:solidFill>
                  <a:schemeClr val="accent6"/>
                </a:solidFill>
                <a:ea typeface="Arial"/>
                <a:cs typeface="Arial"/>
                <a:sym typeface="Arial"/>
              </a:rPr>
              <a:t>Enable FIPS-validated cryptography</a:t>
            </a:r>
            <a:endParaRPr sz="1600" dirty="0">
              <a:solidFill>
                <a:schemeClr val="accent6"/>
              </a:solidFill>
              <a:ea typeface="Arial"/>
              <a:cs typeface="Arial"/>
              <a:sym typeface="Arial"/>
            </a:endParaRPr>
          </a:p>
          <a:p>
            <a:pPr marL="0" marR="0" lvl="0" indent="0" algn="l" rtl="0">
              <a:lnSpc>
                <a:spcPct val="130000"/>
              </a:lnSpc>
              <a:spcBef>
                <a:spcPts val="0"/>
              </a:spcBef>
              <a:spcAft>
                <a:spcPts val="0"/>
              </a:spcAft>
              <a:buNone/>
            </a:pPr>
            <a:endParaRPr sz="1800" dirty="0">
              <a:solidFill>
                <a:schemeClr val="dk1"/>
              </a:solidFill>
              <a:ea typeface="Arial"/>
              <a:cs typeface="Arial"/>
              <a:sym typeface="Arial"/>
            </a:endParaRPr>
          </a:p>
        </p:txBody>
      </p:sp>
      <p:pic>
        <p:nvPicPr>
          <p:cNvPr id="10" name="Google Shape;3112;p24">
            <a:extLst>
              <a:ext uri="{FF2B5EF4-FFF2-40B4-BE49-F238E27FC236}">
                <a16:creationId xmlns:a16="http://schemas.microsoft.com/office/drawing/2014/main" id="{1EAA92A3-9AD9-8092-EA11-E2EB0A9DEC4A}"/>
              </a:ext>
            </a:extLst>
          </p:cNvPr>
          <p:cNvPicPr preferRelativeResize="0"/>
          <p:nvPr/>
        </p:nvPicPr>
        <p:blipFill rotWithShape="1">
          <a:blip r:embed="rId2">
            <a:alphaModFix amt="49000"/>
          </a:blip>
          <a:srcRect/>
          <a:stretch/>
        </p:blipFill>
        <p:spPr>
          <a:xfrm>
            <a:off x="8883940" y="4081867"/>
            <a:ext cx="2782236" cy="2547116"/>
          </a:xfrm>
          <a:prstGeom prst="rect">
            <a:avLst/>
          </a:prstGeom>
          <a:noFill/>
          <a:ln>
            <a:noFill/>
          </a:ln>
        </p:spPr>
      </p:pic>
      <p:sp>
        <p:nvSpPr>
          <p:cNvPr id="11" name="Google Shape;3113;p24">
            <a:extLst>
              <a:ext uri="{FF2B5EF4-FFF2-40B4-BE49-F238E27FC236}">
                <a16:creationId xmlns:a16="http://schemas.microsoft.com/office/drawing/2014/main" id="{B37F6A12-BACB-9E51-3523-6FED5D70EB77}"/>
              </a:ext>
            </a:extLst>
          </p:cNvPr>
          <p:cNvSpPr txBox="1"/>
          <p:nvPr/>
        </p:nvSpPr>
        <p:spPr>
          <a:xfrm>
            <a:off x="454457" y="4831769"/>
            <a:ext cx="4744430" cy="1080296"/>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1800">
                <a:solidFill>
                  <a:schemeClr val="accent5"/>
                </a:solidFill>
                <a:ea typeface="Arial"/>
                <a:cs typeface="Arial"/>
                <a:sym typeface="Arial"/>
              </a:rPr>
              <a:t>Short term</a:t>
            </a:r>
            <a:endParaRPr/>
          </a:p>
          <a:p>
            <a:pPr marL="0" marR="0" lvl="0" indent="0" algn="l" rtl="0">
              <a:lnSpc>
                <a:spcPct val="130000"/>
              </a:lnSpc>
              <a:spcBef>
                <a:spcPts val="0"/>
              </a:spcBef>
              <a:spcAft>
                <a:spcPts val="0"/>
              </a:spcAft>
              <a:buNone/>
            </a:pPr>
            <a:r>
              <a:rPr lang="en-US" sz="1800">
                <a:solidFill>
                  <a:schemeClr val="accent6"/>
                </a:solidFill>
                <a:ea typeface="Arial"/>
                <a:cs typeface="Arial"/>
                <a:sym typeface="Arial"/>
              </a:rPr>
              <a:t>Mid-Term </a:t>
            </a:r>
            <a:endParaRPr/>
          </a:p>
          <a:p>
            <a:pPr marL="0" marR="0" lvl="0" indent="0" algn="l" rtl="0">
              <a:lnSpc>
                <a:spcPct val="130000"/>
              </a:lnSpc>
              <a:spcBef>
                <a:spcPts val="0"/>
              </a:spcBef>
              <a:spcAft>
                <a:spcPts val="0"/>
              </a:spcAft>
              <a:buNone/>
            </a:pPr>
            <a:r>
              <a:rPr lang="en-US" sz="1800">
                <a:solidFill>
                  <a:srgbClr val="FF0000"/>
                </a:solidFill>
                <a:ea typeface="Arial"/>
                <a:cs typeface="Arial"/>
                <a:sym typeface="Arial"/>
              </a:rPr>
              <a:t>Long Term</a:t>
            </a:r>
            <a:endParaRPr/>
          </a:p>
        </p:txBody>
      </p:sp>
      <p:sp>
        <p:nvSpPr>
          <p:cNvPr id="12" name="Rectangle 11">
            <a:extLst>
              <a:ext uri="{FF2B5EF4-FFF2-40B4-BE49-F238E27FC236}">
                <a16:creationId xmlns:a16="http://schemas.microsoft.com/office/drawing/2014/main" id="{36D45D2F-2322-9A72-A1D6-F4AEFEFDFAE8}"/>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a:t>
            </a:r>
          </a:p>
        </p:txBody>
      </p:sp>
    </p:spTree>
    <p:extLst>
      <p:ext uri="{BB962C8B-B14F-4D97-AF65-F5344CB8AC3E}">
        <p14:creationId xmlns:p14="http://schemas.microsoft.com/office/powerpoint/2010/main" val="1973510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6E5D29-842A-EAE2-A5EB-042DDDA5442A}"/>
              </a:ext>
            </a:extLst>
          </p:cNvPr>
          <p:cNvSpPr>
            <a:spLocks noGrp="1"/>
          </p:cNvSpPr>
          <p:nvPr>
            <p:ph type="title"/>
          </p:nvPr>
        </p:nvSpPr>
        <p:spPr/>
        <p:txBody>
          <a:bodyPr/>
          <a:lstStyle/>
          <a:p>
            <a:r>
              <a:rPr lang="en-US" dirty="0"/>
              <a:t>VMware STIG Appliance</a:t>
            </a:r>
          </a:p>
        </p:txBody>
      </p:sp>
      <p:sp>
        <p:nvSpPr>
          <p:cNvPr id="5" name="Subtitle 4">
            <a:extLst>
              <a:ext uri="{FF2B5EF4-FFF2-40B4-BE49-F238E27FC236}">
                <a16:creationId xmlns:a16="http://schemas.microsoft.com/office/drawing/2014/main" id="{FD74079D-7B10-6F2E-FEC5-C06D77CB0282}"/>
              </a:ext>
            </a:extLst>
          </p:cNvPr>
          <p:cNvSpPr>
            <a:spLocks noGrp="1"/>
          </p:cNvSpPr>
          <p:nvPr>
            <p:ph type="subTitle" idx="10"/>
          </p:nvPr>
        </p:nvSpPr>
        <p:spPr/>
        <p:txBody>
          <a:bodyPr/>
          <a:lstStyle/>
          <a:p>
            <a:r>
              <a:rPr lang="en-US" dirty="0"/>
              <a:t>Installation Requirements</a:t>
            </a:r>
          </a:p>
        </p:txBody>
      </p:sp>
      <p:sp>
        <p:nvSpPr>
          <p:cNvPr id="8" name="Content Placeholder 7">
            <a:extLst>
              <a:ext uri="{FF2B5EF4-FFF2-40B4-BE49-F238E27FC236}">
                <a16:creationId xmlns:a16="http://schemas.microsoft.com/office/drawing/2014/main" id="{17028B67-27E9-FC80-C9FE-1605D771D469}"/>
              </a:ext>
            </a:extLst>
          </p:cNvPr>
          <p:cNvSpPr>
            <a:spLocks noGrp="1"/>
          </p:cNvSpPr>
          <p:nvPr>
            <p:ph sz="quarter" idx="17"/>
          </p:nvPr>
        </p:nvSpPr>
        <p:spPr/>
        <p:txBody>
          <a:bodyPr/>
          <a:lstStyle/>
          <a:p>
            <a:pPr marL="285750" indent="-285750">
              <a:buFont typeface="Arial" panose="020B0604020202020204" pitchFamily="34" charset="0"/>
              <a:buChar char="•"/>
            </a:pPr>
            <a:r>
              <a:rPr lang="en-US" dirty="0"/>
              <a:t>Static IP Address</a:t>
            </a:r>
          </a:p>
          <a:p>
            <a:pPr marL="285750" indent="-285750">
              <a:buFont typeface="Arial" panose="020B0604020202020204" pitchFamily="34" charset="0"/>
              <a:buChar char="•"/>
            </a:pPr>
            <a:r>
              <a:rPr lang="en-US" dirty="0"/>
              <a:t>Forward and Reverse DNS lookups</a:t>
            </a:r>
          </a:p>
          <a:p>
            <a:pPr marL="285750" indent="-285750">
              <a:buFont typeface="Arial" panose="020B0604020202020204" pitchFamily="34" charset="0"/>
              <a:buChar char="•"/>
            </a:pPr>
            <a:r>
              <a:rPr lang="en-US" dirty="0"/>
              <a:t>Block Size 2vCPU, 8GB Memory, 50GB Storage</a:t>
            </a:r>
          </a:p>
          <a:p>
            <a:pPr marL="285750" indent="-285750">
              <a:buFont typeface="Arial" panose="020B0604020202020204" pitchFamily="34" charset="0"/>
              <a:buChar char="•"/>
            </a:pPr>
            <a:r>
              <a:rPr lang="en-US" dirty="0"/>
              <a:t>Must be installed on vSphere 7 or later</a:t>
            </a:r>
          </a:p>
          <a:p>
            <a:pPr marL="285750" indent="-285750">
              <a:buFont typeface="Arial" panose="020B0604020202020204" pitchFamily="34" charset="0"/>
              <a:buChar char="•"/>
            </a:pPr>
            <a:r>
              <a:rPr lang="en-US" dirty="0"/>
              <a:t>Requires a Complex 15 Character password</a:t>
            </a:r>
          </a:p>
          <a:p>
            <a:pPr marL="285750" indent="-285750">
              <a:buFont typeface="Arial" panose="020B0604020202020204" pitchFamily="34" charset="0"/>
              <a:buChar char="•"/>
            </a:pPr>
            <a:r>
              <a:rPr lang="en-US" dirty="0"/>
              <a:t>Watch for the Subnet Prefix during OVA deployment, this is not the subnet mask</a:t>
            </a:r>
          </a:p>
        </p:txBody>
      </p:sp>
      <p:sp>
        <p:nvSpPr>
          <p:cNvPr id="7" name="Content Placeholder 6">
            <a:extLst>
              <a:ext uri="{FF2B5EF4-FFF2-40B4-BE49-F238E27FC236}">
                <a16:creationId xmlns:a16="http://schemas.microsoft.com/office/drawing/2014/main" id="{4F5C6DEC-95B6-F703-8148-8C220026A180}"/>
              </a:ext>
            </a:extLst>
          </p:cNvPr>
          <p:cNvSpPr>
            <a:spLocks noGrp="1"/>
          </p:cNvSpPr>
          <p:nvPr>
            <p:ph sz="quarter" idx="18"/>
          </p:nvPr>
        </p:nvSpPr>
        <p:spPr/>
        <p:txBody>
          <a:bodyPr/>
          <a:lstStyle/>
          <a:p>
            <a:pPr marL="285750" indent="-285750">
              <a:buFont typeface="Arial" panose="020B0604020202020204" pitchFamily="34" charset="0"/>
              <a:buChar char="•"/>
            </a:pPr>
            <a:r>
              <a:rPr lang="en-US" dirty="0"/>
              <a:t>Customer assigned IP and hostname</a:t>
            </a:r>
          </a:p>
        </p:txBody>
      </p:sp>
      <p:sp>
        <p:nvSpPr>
          <p:cNvPr id="9" name="Rectangle 8">
            <a:extLst>
              <a:ext uri="{FF2B5EF4-FFF2-40B4-BE49-F238E27FC236}">
                <a16:creationId xmlns:a16="http://schemas.microsoft.com/office/drawing/2014/main" id="{208492A8-D9FE-69F1-CCF7-DB9B5E06EFB2}"/>
              </a:ext>
            </a:extLst>
          </p:cNvPr>
          <p:cNvSpPr/>
          <p:nvPr/>
        </p:nvSpPr>
        <p:spPr>
          <a:xfrm>
            <a:off x="10234520" y="87383"/>
            <a:ext cx="1954305" cy="1162933"/>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r>
              <a:rPr lang="en-US" sz="1200" dirty="0">
                <a:solidFill>
                  <a:srgbClr val="FF0000"/>
                </a:solidFill>
              </a:rPr>
              <a:t>Update with tooling as needed</a:t>
            </a:r>
          </a:p>
        </p:txBody>
      </p:sp>
    </p:spTree>
    <p:extLst>
      <p:ext uri="{BB962C8B-B14F-4D97-AF65-F5344CB8AC3E}">
        <p14:creationId xmlns:p14="http://schemas.microsoft.com/office/powerpoint/2010/main" val="205840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18"/>
        <p:cNvGrpSpPr/>
        <p:nvPr/>
      </p:nvGrpSpPr>
      <p:grpSpPr>
        <a:xfrm>
          <a:off x="0" y="0"/>
          <a:ext cx="0" cy="0"/>
          <a:chOff x="0" y="0"/>
          <a:chExt cx="0" cy="0"/>
        </a:xfrm>
      </p:grpSpPr>
      <p:sp>
        <p:nvSpPr>
          <p:cNvPr id="3119" name="Google Shape;3119;p25"/>
          <p:cNvSpPr txBox="1">
            <a:spLocks noGrp="1"/>
          </p:cNvSpPr>
          <p:nvPr>
            <p:ph type="title"/>
          </p:nvPr>
        </p:nvSpPr>
        <p:spPr>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dk1"/>
              </a:buClr>
              <a:buSzPts val="2800"/>
              <a:buFont typeface="Arial"/>
              <a:buNone/>
            </a:pPr>
            <a:r>
              <a:rPr lang="en-US"/>
              <a:t>Questions?</a:t>
            </a:r>
            <a:endParaRPr/>
          </a:p>
        </p:txBody>
      </p:sp>
      <p:pic>
        <p:nvPicPr>
          <p:cNvPr id="3121" name="Google Shape;3121;p25"/>
          <p:cNvPicPr preferRelativeResize="0"/>
          <p:nvPr/>
        </p:nvPicPr>
        <p:blipFill rotWithShape="1">
          <a:blip r:embed="rId3">
            <a:alphaModFix/>
          </a:blip>
          <a:srcRect/>
          <a:stretch/>
        </p:blipFill>
        <p:spPr>
          <a:xfrm>
            <a:off x="2841595" y="1143000"/>
            <a:ext cx="6505633" cy="5085837"/>
          </a:xfrm>
          <a:prstGeom prst="rect">
            <a:avLst/>
          </a:prstGeom>
          <a:noFill/>
          <a:ln>
            <a:noFill/>
          </a:ln>
        </p:spPr>
      </p:pic>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25"/>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2.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f83b573-1131-4ec9-87e0-8de43cb2141f">
      <Terms xmlns="http://schemas.microsoft.com/office/infopath/2007/PartnerControls"/>
    </lcf76f155ced4ddcb4097134ff3c332f>
    <TaxCatchAll xmlns="78c16552-cbf3-4f1f-97ed-388b5d2a083d" xsi:nil="true"/>
    <SharedWithUsers xmlns="b91cd729-8792-47cd-b03b-259374444807">
      <UserInfo>
        <DisplayName>Juanly Cabrera</DisplayName>
        <AccountId>17</AccountId>
        <AccountType/>
      </UserInfo>
      <UserInfo>
        <DisplayName>Andre Fernandes</DisplayName>
        <AccountId>20</AccountId>
        <AccountType/>
      </UserInfo>
    </SharedWithUsers>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MigrationWizIdPermissionLevels xmlns="ff83b573-1131-4ec9-87e0-8de43cb2141f" xsi:nil="true"/>
  </documentManagement>
</p:properties>
</file>

<file path=customXml/itemProps1.xml><?xml version="1.0" encoding="utf-8"?>
<ds:datastoreItem xmlns:ds="http://schemas.openxmlformats.org/officeDocument/2006/customXml" ds:itemID="{BAD99180-4DF7-4231-B572-5E5D5B192DA4}">
  <ds:schemaRefs>
    <ds:schemaRef ds:uri="http://schemas.microsoft.com/sharepoint/v3/contenttype/forms"/>
  </ds:schemaRefs>
</ds:datastoreItem>
</file>

<file path=customXml/itemProps2.xml><?xml version="1.0" encoding="utf-8"?>
<ds:datastoreItem xmlns:ds="http://schemas.openxmlformats.org/officeDocument/2006/customXml" ds:itemID="{12D43881-A5C1-4310-8BF3-B502DA8C2FD4}"/>
</file>

<file path=customXml/itemProps3.xml><?xml version="1.0" encoding="utf-8"?>
<ds:datastoreItem xmlns:ds="http://schemas.openxmlformats.org/officeDocument/2006/customXml" ds:itemID="{51634573-F7D8-4ECC-B5FF-91D1E5D2E650}">
  <ds:schemaRefs>
    <ds:schemaRef ds:uri="http://schemas.openxmlformats.org/package/2006/metadata/core-properties"/>
    <ds:schemaRef ds:uri="http://schemas.microsoft.com/office/2006/documentManagement/types"/>
    <ds:schemaRef ds:uri="34d4d772-b3f2-47fc-9a2d-2126f9957ae8"/>
    <ds:schemaRef ds:uri="http://purl.org/dc/terms/"/>
    <ds:schemaRef ds:uri="http://purl.org/dc/elements/1.1/"/>
    <ds:schemaRef ds:uri="d345b56e-75a0-4ca8-9b4b-110cb999efd5"/>
    <ds:schemaRef ds:uri="http://schemas.microsoft.com/office/infopath/2007/PartnerControls"/>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bc-vmw-ppt-template-light-arial-2026</Template>
  <TotalTime>67</TotalTime>
  <Words>4192</Words>
  <Application>Microsoft Office PowerPoint</Application>
  <PresentationFormat>Custom</PresentationFormat>
  <Paragraphs>534</Paragraphs>
  <Slides>31</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Camphor Std</vt:lpstr>
      <vt:lpstr>Lato Light</vt:lpstr>
      <vt:lpstr>Metropolis</vt:lpstr>
      <vt:lpstr>Metropolis-Regular</vt:lpstr>
      <vt:lpstr>Montserrat</vt:lpstr>
      <vt:lpstr>Noto Sans Symbols</vt:lpstr>
      <vt:lpstr>Open Sans</vt:lpstr>
      <vt:lpstr>System Font Regular</vt:lpstr>
      <vt:lpstr>Times New Roman</vt:lpstr>
      <vt:lpstr>VMware 2025 Light</vt:lpstr>
      <vt:lpstr>VCF Security Assessment</vt:lpstr>
      <vt:lpstr>PowerPoint Presentation</vt:lpstr>
      <vt:lpstr>Introductions</vt:lpstr>
      <vt:lpstr>Introductions</vt:lpstr>
      <vt:lpstr>Roles and Responsibilities</vt:lpstr>
      <vt:lpstr>Key Stakeholders and Subject Matter Experts</vt:lpstr>
      <vt:lpstr>Project goals and objectives</vt:lpstr>
      <vt:lpstr>Engagement Entitlement - &lt;customer&gt; Delivery Update</vt:lpstr>
      <vt:lpstr>Solution Overview</vt:lpstr>
      <vt:lpstr>Solution Set Scope</vt:lpstr>
      <vt:lpstr>Solution Set Scope</vt:lpstr>
      <vt:lpstr>Solution Set Scope - Solution Elements</vt:lpstr>
      <vt:lpstr>VMware Solution</vt:lpstr>
      <vt:lpstr>VMware Solution</vt:lpstr>
      <vt:lpstr>VMware Solution</vt:lpstr>
      <vt:lpstr>VMware Solution</vt:lpstr>
      <vt:lpstr>Assessment Summary</vt:lpstr>
      <vt:lpstr>Assessment Summary</vt:lpstr>
      <vt:lpstr>Assessment Summary</vt:lpstr>
      <vt:lpstr>Assessment Summary</vt:lpstr>
      <vt:lpstr>VCF 9.x Security Configuration Assessment Overview</vt:lpstr>
      <vt:lpstr>vSphere Security Configuration Assessment Approach</vt:lpstr>
      <vt:lpstr>Deliverables</vt:lpstr>
      <vt:lpstr>Detailed Findings - Sample</vt:lpstr>
      <vt:lpstr>Detailed Findings</vt:lpstr>
      <vt:lpstr>Work Package : Security and Compliance</vt:lpstr>
      <vt:lpstr>Detailed Findings - Sample</vt:lpstr>
      <vt:lpstr>Findings and Recommendations - Sample</vt:lpstr>
      <vt:lpstr>VMware STIG Appliance</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Sergio Oliva</dc:creator>
  <cp:keywords>VMware</cp:keywords>
  <cp:lastModifiedBy>Sergio Oliva</cp:lastModifiedBy>
  <cp:revision>1</cp:revision>
  <dcterms:created xsi:type="dcterms:W3CDTF">2026-04-27T12:01:40Z</dcterms:created>
  <dcterms:modified xsi:type="dcterms:W3CDTF">2026-04-27T13:09:09Z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MediaServiceImageTags">
    <vt:lpwstr/>
  </property>
</Properties>
</file>