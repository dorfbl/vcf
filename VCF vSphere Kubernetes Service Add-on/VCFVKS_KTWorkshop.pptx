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4277096870" r:id="rId4"/>
  </p:sldMasterIdLst>
  <p:notesMasterIdLst>
    <p:notesMasterId r:id="rId39"/>
  </p:notesMasterIdLst>
  <p:handoutMasterIdLst>
    <p:handoutMasterId r:id="rId40"/>
  </p:handoutMasterIdLst>
  <p:sldIdLst>
    <p:sldId id="1135877002" r:id="rId5"/>
    <p:sldId id="1460036476" r:id="rId6"/>
    <p:sldId id="1039895435" r:id="rId7"/>
    <p:sldId id="256" r:id="rId8"/>
    <p:sldId id="257" r:id="rId9"/>
    <p:sldId id="2070094403" r:id="rId10"/>
    <p:sldId id="815068556" r:id="rId11"/>
    <p:sldId id="888015608" r:id="rId12"/>
    <p:sldId id="176282056" r:id="rId13"/>
    <p:sldId id="1190313637" r:id="rId14"/>
    <p:sldId id="1673834675" r:id="rId15"/>
    <p:sldId id="333031218" r:id="rId16"/>
    <p:sldId id="1481471517" r:id="rId17"/>
    <p:sldId id="305" r:id="rId18"/>
    <p:sldId id="306" r:id="rId19"/>
    <p:sldId id="307" r:id="rId20"/>
    <p:sldId id="308" r:id="rId21"/>
    <p:sldId id="310" r:id="rId22"/>
    <p:sldId id="312" r:id="rId23"/>
    <p:sldId id="314" r:id="rId24"/>
    <p:sldId id="406" r:id="rId25"/>
    <p:sldId id="409" r:id="rId26"/>
    <p:sldId id="419" r:id="rId27"/>
    <p:sldId id="613008352" r:id="rId28"/>
    <p:sldId id="1704597703" r:id="rId29"/>
    <p:sldId id="2085761731" r:id="rId30"/>
    <p:sldId id="2085761729" r:id="rId31"/>
    <p:sldId id="2085761732" r:id="rId32"/>
    <p:sldId id="2085761733" r:id="rId33"/>
    <p:sldId id="2085761734" r:id="rId34"/>
    <p:sldId id="2085761735" r:id="rId35"/>
    <p:sldId id="2085761736" r:id="rId36"/>
    <p:sldId id="2085761737" r:id="rId37"/>
    <p:sldId id="2085761738" r:id="rId38"/>
  </p:sldIdLst>
  <p:sldSz cx="12188825" cy="6858000"/>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FE5E-20A7-604D-8AA1-281255D61C6D}">
          <p14:sldIdLst>
            <p14:sldId id="1135877002"/>
            <p14:sldId id="1460036476"/>
            <p14:sldId id="1039895435"/>
          </p14:sldIdLst>
        </p14:section>
        <p14:section name="SolutionSection" id="{508A8CA3-F2A3-3D4F-8896-D0BC80E06C44}">
          <p14:sldIdLst>
            <p14:sldId id="256"/>
            <p14:sldId id="257"/>
            <p14:sldId id="2070094403"/>
          </p14:sldIdLst>
        </p14:section>
        <p14:section name="ScopeSection" id="{B007C3D6-D81B-104E-A7A6-1D795712ED9B}">
          <p14:sldIdLst>
            <p14:sldId id="815068556"/>
            <p14:sldId id="888015608"/>
            <p14:sldId id="176282056"/>
            <p14:sldId id="1190313637"/>
            <p14:sldId id="1673834675"/>
          </p14:sldIdLst>
        </p14:section>
        <p14:section name="ProductSection" id="{2DEFBDAA-0E4C-D94A-8F63-1A85F493F1B1}">
          <p14:sldIdLst>
            <p14:sldId id="333031218"/>
            <p14:sldId id="1481471517"/>
            <p14:sldId id="305"/>
            <p14:sldId id="306"/>
            <p14:sldId id="307"/>
            <p14:sldId id="308"/>
            <p14:sldId id="310"/>
            <p14:sldId id="312"/>
            <p14:sldId id="314"/>
            <p14:sldId id="406"/>
            <p14:sldId id="409"/>
            <p14:sldId id="419"/>
            <p14:sldId id="613008352"/>
            <p14:sldId id="1704597703"/>
            <p14:sldId id="2085761731"/>
            <p14:sldId id="2085761729"/>
            <p14:sldId id="2085761732"/>
            <p14:sldId id="2085761733"/>
            <p14:sldId id="2085761734"/>
            <p14:sldId id="2085761735"/>
            <p14:sldId id="2085761736"/>
            <p14:sldId id="2085761737"/>
          </p14:sldIdLst>
        </p14:section>
        <p14:section name="CloseSection" id="{BEFE7536-9CDF-5D4C-A70B-E8C31045436F}">
          <p14:sldIdLst>
            <p14:sldId id="208576173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7C2C"/>
    <a:srgbClr val="AADB1E"/>
    <a:srgbClr val="6DB33F"/>
    <a:srgbClr val="006990"/>
    <a:srgbClr val="E6E6E6"/>
    <a:srgbClr val="7F35AB"/>
    <a:srgbClr val="7636AE"/>
    <a:srgbClr val="264088"/>
    <a:srgbClr val="B3B3B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00" autoAdjust="0"/>
    <p:restoredTop sz="94830" autoAdjust="0"/>
  </p:normalViewPr>
  <p:slideViewPr>
    <p:cSldViewPr snapToGrid="0">
      <p:cViewPr varScale="1">
        <p:scale>
          <a:sx n="147" d="100"/>
          <a:sy n="147" d="100"/>
        </p:scale>
        <p:origin x="3240" y="114"/>
      </p:cViewPr>
      <p:guideLst/>
    </p:cSldViewPr>
  </p:slideViewPr>
  <p:outlineViewPr>
    <p:cViewPr>
      <p:scale>
        <a:sx n="33" d="100"/>
        <a:sy n="33" d="100"/>
      </p:scale>
      <p:origin x="0" y="-51182"/>
    </p:cViewPr>
  </p:outlineViewPr>
  <p:notesTextViewPr>
    <p:cViewPr>
      <p:scale>
        <a:sx n="1" d="1"/>
        <a:sy n="1" d="1"/>
      </p:scale>
      <p:origin x="0" y="0"/>
    </p:cViewPr>
  </p:notesTextViewPr>
  <p:sorterViewPr>
    <p:cViewPr>
      <p:scale>
        <a:sx n="60" d="100"/>
        <a:sy n="60" d="100"/>
      </p:scale>
      <p:origin x="0" y="-6396"/>
    </p:cViewPr>
  </p:sorterViewPr>
  <p:notesViewPr>
    <p:cSldViewPr snapToGrid="0" showGuides="1">
      <p:cViewPr varScale="1">
        <p:scale>
          <a:sx n="59" d="100"/>
          <a:sy n="59" d="100"/>
        </p:scale>
        <p:origin x="2371" y="1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latin typeface="Metropolis" panose="00000500000000000000" pitchFamily="50"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latin typeface="Metropolis" panose="00000500000000000000" pitchFamily="50" charset="0"/>
              </a:rPr>
              <a:t>4/27/2026</a:t>
            </a:fld>
            <a:endParaRPr lang="en-US">
              <a:latin typeface="Metropolis" panose="00000500000000000000" pitchFamily="50"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latin typeface="Metropolis" panose="00000500000000000000" pitchFamily="50"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latin typeface="Metropolis" panose="00000500000000000000" pitchFamily="50" charset="0"/>
              </a:rPr>
              <a:t>‹#›</a:t>
            </a:fld>
            <a:endParaRPr lang="en-US">
              <a:latin typeface="Metropolis" panose="00000500000000000000" pitchFamily="50" charset="0"/>
            </a:endParaRPr>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etropolis" panose="00000500000000000000" pitchFamily="50"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etropolis" panose="00000500000000000000" pitchFamily="50" charset="0"/>
              </a:defRPr>
            </a:lvl1pPr>
          </a:lstStyle>
          <a:p>
            <a:fld id="{3CB6F0DB-E055-41D0-9102-627A646E4242}" type="datetimeFigureOut">
              <a:rPr lang="en-US" smtClean="0"/>
              <a:pPr/>
              <a:t>4/27/2026</a:t>
            </a:fld>
            <a:endParaRPr lang="en-US"/>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etropolis" panose="00000500000000000000" pitchFamily="50"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etropolis" panose="00000500000000000000" pitchFamily="50" charset="0"/>
              </a:defRPr>
            </a:lvl1pPr>
          </a:lstStyle>
          <a:p>
            <a:fld id="{9F4FBC3A-A12C-40F9-BB8D-BC30C7901396}" type="slidenum">
              <a:rPr lang="en-US" smtClean="0"/>
              <a:pPr/>
              <a:t>‹#›</a:t>
            </a:fld>
            <a:endParaRPr lang="en-US"/>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tropolis" panose="00000500000000000000" pitchFamily="50" charset="0"/>
        <a:ea typeface="+mn-ea"/>
        <a:cs typeface="+mn-cs"/>
      </a:defRPr>
    </a:lvl1pPr>
    <a:lvl2pPr marL="457200" algn="l" defTabSz="914400" rtl="0" eaLnBrk="1" latinLnBrk="0" hangingPunct="1">
      <a:defRPr sz="1200" kern="1200">
        <a:solidFill>
          <a:schemeClr val="tx1"/>
        </a:solidFill>
        <a:latin typeface="Metropolis" panose="00000500000000000000" pitchFamily="50" charset="0"/>
        <a:ea typeface="+mn-ea"/>
        <a:cs typeface="+mn-cs"/>
      </a:defRPr>
    </a:lvl2pPr>
    <a:lvl3pPr marL="914400" algn="l" defTabSz="914400" rtl="0" eaLnBrk="1" latinLnBrk="0" hangingPunct="1">
      <a:defRPr sz="1200" kern="1200">
        <a:solidFill>
          <a:schemeClr val="tx1"/>
        </a:solidFill>
        <a:latin typeface="Metropolis" panose="00000500000000000000" pitchFamily="50" charset="0"/>
        <a:ea typeface="+mn-ea"/>
        <a:cs typeface="+mn-cs"/>
      </a:defRPr>
    </a:lvl3pPr>
    <a:lvl4pPr marL="1371600" algn="l" defTabSz="914400" rtl="0" eaLnBrk="1" latinLnBrk="0" hangingPunct="1">
      <a:defRPr sz="1200" kern="1200">
        <a:solidFill>
          <a:schemeClr val="tx1"/>
        </a:solidFill>
        <a:latin typeface="Metropolis" panose="00000500000000000000" pitchFamily="50" charset="0"/>
        <a:ea typeface="+mn-ea"/>
        <a:cs typeface="+mn-cs"/>
      </a:defRPr>
    </a:lvl4pPr>
    <a:lvl5pPr marL="1828800" algn="l" defTabSz="914400" rtl="0" eaLnBrk="1" latinLnBrk="0" hangingPunct="1">
      <a:defRPr sz="1200" kern="1200">
        <a:solidFill>
          <a:schemeClr val="tx1"/>
        </a:solidFill>
        <a:latin typeface="Metropolis" panose="000005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confluence.eng.vmware.com/display/WCP/Assessment%3A+Injection+for+workload+types#Assessment:Injectionforworkloadtypes-InjectionforkubernetesPods" TargetMode="External"/><Relationship Id="rId2" Type="http://schemas.openxmlformats.org/officeDocument/2006/relationships/slide" Target="../slides/slide20.xml"/><Relationship Id="rId1" Type="http://schemas.openxmlformats.org/officeDocument/2006/relationships/notesMaster" Target="../notesMasters/notesMaster1.xml"/><Relationship Id="rId5" Type="http://schemas.openxmlformats.org/officeDocument/2006/relationships/hyperlink" Target="https://confluence.eng.vmware.com/display/WCP/Assessment%3A+Injection+for+workload+types#Assessment:Injectionforworkloadtypes-InjectionforVMServiceVM" TargetMode="External"/><Relationship Id="rId4" Type="http://schemas.openxmlformats.org/officeDocument/2006/relationships/hyperlink" Target="https://confluence.eng.vmware.com/display/WCP/Assessment%3A+Injection+for+workload+types#Assessment:Injectionforworkloadtypes-InjectionforPodVM"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661988"/>
            <a:ext cx="5740400" cy="32305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a:t>
            </a:fld>
            <a:endParaRPr lang="en-US" dirty="0"/>
          </a:p>
        </p:txBody>
      </p:sp>
    </p:spTree>
    <p:extLst>
      <p:ext uri="{BB962C8B-B14F-4D97-AF65-F5344CB8AC3E}">
        <p14:creationId xmlns:p14="http://schemas.microsoft.com/office/powerpoint/2010/main" val="1853866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2</a:t>
            </a:fld>
            <a:endParaRPr lang="en-US" dirty="0"/>
          </a:p>
        </p:txBody>
      </p:sp>
    </p:spTree>
    <p:extLst>
      <p:ext uri="{BB962C8B-B14F-4D97-AF65-F5344CB8AC3E}">
        <p14:creationId xmlns:p14="http://schemas.microsoft.com/office/powerpoint/2010/main" val="10857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D23F050-29AB-43C3-9A03-502B8B5AE263}" type="slidenum">
              <a:rPr lang="en-US" smtClean="0"/>
              <a:pPr>
                <a:defRPr/>
              </a:pPr>
              <a:t>3</a:t>
            </a:fld>
            <a:endParaRPr lang="en-US" dirty="0"/>
          </a:p>
        </p:txBody>
      </p:sp>
    </p:spTree>
    <p:extLst>
      <p:ext uri="{BB962C8B-B14F-4D97-AF65-F5344CB8AC3E}">
        <p14:creationId xmlns:p14="http://schemas.microsoft.com/office/powerpoint/2010/main" val="2461234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3978402b0d5_2_1041: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0" name="Google Shape;1810;g3978402b0d5_2_10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60000"/>
              </a:lnSpc>
              <a:spcBef>
                <a:spcPts val="0"/>
              </a:spcBef>
              <a:spcAft>
                <a:spcPts val="0"/>
              </a:spcAft>
              <a:buClr>
                <a:schemeClr val="dk1"/>
              </a:buClr>
              <a:buSzPts val="930"/>
              <a:buFont typeface="Arial"/>
              <a:buNone/>
            </a:pPr>
            <a:r>
              <a:rPr lang="en-US" sz="930" b="1" u="sng">
                <a:solidFill>
                  <a:schemeClr val="dk1"/>
                </a:solidFill>
              </a:rPr>
              <a:t>Talk Track:</a:t>
            </a:r>
            <a:endParaRPr/>
          </a:p>
          <a:p>
            <a:pPr marL="0" lvl="0" indent="0" algn="l" rtl="0">
              <a:lnSpc>
                <a:spcPct val="80000"/>
              </a:lnSpc>
              <a:spcBef>
                <a:spcPts val="0"/>
              </a:spcBef>
              <a:spcAft>
                <a:spcPts val="0"/>
              </a:spcAft>
              <a:buClr>
                <a:schemeClr val="dk1"/>
              </a:buClr>
              <a:buSzPts val="1400"/>
              <a:buFont typeface="Arial"/>
              <a:buNone/>
            </a:pPr>
            <a:r>
              <a:rPr lang="en-US" sz="930" strike="noStrike"/>
              <a:t>Let's introduce VMware Cloud Foundation (VCF) 9 and the advanced services that are available with VCF. </a:t>
            </a:r>
            <a:endParaRPr sz="930"/>
          </a:p>
          <a:p>
            <a:pPr marL="0" lvl="0" indent="0" algn="l" rtl="0">
              <a:lnSpc>
                <a:spcPct val="80000"/>
              </a:lnSpc>
              <a:spcBef>
                <a:spcPts val="0"/>
              </a:spcBef>
              <a:spcAft>
                <a:spcPts val="0"/>
              </a:spcAft>
              <a:buClr>
                <a:schemeClr val="dk1"/>
              </a:buClr>
              <a:buSzPts val="1400"/>
              <a:buFont typeface="Arial"/>
              <a:buNone/>
            </a:pPr>
            <a:endParaRPr sz="930"/>
          </a:p>
          <a:p>
            <a:pPr marL="0" lvl="0" indent="0" algn="l" rtl="0">
              <a:lnSpc>
                <a:spcPct val="80000"/>
              </a:lnSpc>
              <a:spcBef>
                <a:spcPts val="0"/>
              </a:spcBef>
              <a:spcAft>
                <a:spcPts val="0"/>
              </a:spcAft>
              <a:buClr>
                <a:schemeClr val="dk1"/>
              </a:buClr>
              <a:buSzPts val="1400"/>
              <a:buFont typeface="Arial"/>
              <a:buNone/>
            </a:pPr>
            <a:r>
              <a:rPr lang="en-US" sz="930" strike="noStrike"/>
              <a:t>VCF offers a flexible platform that can be deployed on-premises, in public clouds, within sovereign clouds, at the edge, or even in telco environments. This extensible approach allows VCF to support both traditional and modern application environments, enabling a wide range of deployment scenarios. One key feature of VCF is license portability, which we’ll explore in more detail later. This feature allows customers to take entitlements purchased on-premises and extend them across various environments, including public cloud providers, hyperscalers, sovereign clouds, edge locations, and telco environments.</a:t>
            </a:r>
            <a:endParaRPr/>
          </a:p>
          <a:p>
            <a:pPr marL="0" lvl="0" indent="0" algn="l" rtl="0">
              <a:lnSpc>
                <a:spcPct val="80000"/>
              </a:lnSpc>
              <a:spcBef>
                <a:spcPts val="0"/>
              </a:spcBef>
              <a:spcAft>
                <a:spcPts val="0"/>
              </a:spcAft>
              <a:buClr>
                <a:schemeClr val="dk1"/>
              </a:buClr>
              <a:buSzPts val="1400"/>
              <a:buFont typeface="Arial"/>
              <a:buNone/>
            </a:pPr>
            <a:r>
              <a:rPr lang="en-US" sz="930" strike="noStrike"/>
              <a:t>When we talk about the personas that interact with VCF </a:t>
            </a:r>
            <a:r>
              <a:rPr lang="en-US" sz="930"/>
              <a:t>9</a:t>
            </a:r>
            <a:r>
              <a:rPr lang="en-US" sz="930" strike="noStrike"/>
              <a:t>, we typically focus on two main groups: the cloud admins (formerly referred to as VI admins) and the consumers of the infrastructure. Cloud admins are responsible for deploying and managing the infrastructure from the ground up. This includes setting up the initial environment (Day 0), managing capacity, and ensuring proper configuration and tenancy for different consumers within the system.</a:t>
            </a:r>
            <a:endParaRPr/>
          </a:p>
          <a:p>
            <a:pPr marL="0" lvl="0" indent="0" algn="l" rtl="0">
              <a:lnSpc>
                <a:spcPct val="80000"/>
              </a:lnSpc>
              <a:spcBef>
                <a:spcPts val="0"/>
              </a:spcBef>
              <a:spcAft>
                <a:spcPts val="0"/>
              </a:spcAft>
              <a:buClr>
                <a:schemeClr val="dk1"/>
              </a:buClr>
              <a:buSzPts val="1400"/>
              <a:buFont typeface="Arial"/>
              <a:buNone/>
            </a:pPr>
            <a:r>
              <a:rPr lang="en-US" sz="930" strike="noStrike"/>
              <a:t>Cloud admins are also focused on site reliability engineering, ensuring operational efficiencies are in place to scale effectively. They manage the underlying infrastructure for compute, storage, and networking, utilizing core VMware technologies like vSphere, vSAN, and NSX, as well as other networking technologies. All of this is integrated through an operational layer that provides fleet management, security, and automation, allowing the cloud admin to deliver a private cloud platform as a service. This infrastructure supports traditional VM-based applications, Kubernetes for container orchestration, and even AI and machine learning environments, including generative AI.</a:t>
            </a:r>
            <a:endParaRPr/>
          </a:p>
          <a:p>
            <a:pPr marL="0" lvl="0" indent="0" algn="l" rtl="0">
              <a:lnSpc>
                <a:spcPct val="80000"/>
              </a:lnSpc>
              <a:spcBef>
                <a:spcPts val="0"/>
              </a:spcBef>
              <a:spcAft>
                <a:spcPts val="0"/>
              </a:spcAft>
              <a:buClr>
                <a:schemeClr val="dk1"/>
              </a:buClr>
              <a:buSzPts val="1400"/>
              <a:buFont typeface="Arial"/>
              <a:buNone/>
            </a:pPr>
            <a:r>
              <a:rPr lang="en-US" sz="930" strike="noStrike"/>
              <a:t>On the other side, consumers leverage the infrastructure-as-a-service (IaaS) components, which are abstracted for compute, storage, and networking. These services provide a framework for developers, platform teams, and DevOps teams to use IaaS and deploy multi-tenant environments. The platform manager oversees tenant management, ensuring everything is organized within a self-service catalog. This allows users to blueprint standardized models for deploying new applications, which include security, networking, storage, and compute requirements—such as GPU allocation. Once these models are configured, they can be easily deployed each time a consumer needs to build a new application cluster.</a:t>
            </a:r>
            <a:endParaRPr/>
          </a:p>
          <a:p>
            <a:pPr marL="0" lvl="0" indent="0" algn="l" rtl="0">
              <a:lnSpc>
                <a:spcPct val="80000"/>
              </a:lnSpc>
              <a:spcBef>
                <a:spcPts val="0"/>
              </a:spcBef>
              <a:spcAft>
                <a:spcPts val="0"/>
              </a:spcAft>
              <a:buClr>
                <a:schemeClr val="dk1"/>
              </a:buClr>
              <a:buSzPts val="1400"/>
              <a:buFont typeface="Arial"/>
              <a:buNone/>
            </a:pPr>
            <a:r>
              <a:rPr lang="en-US" sz="930" strike="noStrike"/>
              <a:t>This setup also includes orchestration tools and application services necessary for a complete developer environment. Much of this is powered by the embedded Kubernetes runtime (VKE), the vSphere Kubernetes service, and associated services, which combine IaaS components with the other elements required to deliver a modern application environment. Together, cloud admins and consumers leverage VCF as a private cloud platform to deliver these services at scale.</a:t>
            </a:r>
            <a:endParaRPr/>
          </a:p>
          <a:p>
            <a:pPr marL="0" lvl="0" indent="0" algn="l" rtl="0">
              <a:lnSpc>
                <a:spcPct val="80000"/>
              </a:lnSpc>
              <a:spcBef>
                <a:spcPts val="0"/>
              </a:spcBef>
              <a:spcAft>
                <a:spcPts val="0"/>
              </a:spcAft>
              <a:buClr>
                <a:schemeClr val="dk1"/>
              </a:buClr>
              <a:buSzPts val="1400"/>
              <a:buFont typeface="Arial"/>
              <a:buNone/>
            </a:pPr>
            <a:r>
              <a:rPr lang="en-US" sz="930" strike="noStrike"/>
              <a:t>Beyond the core VCF platform, VMware also offers a portfolio of advanced services to cover key use cases like private AI, disaster recovery, ransomware protection, advanced security (including cybersecurity measures for malware and ransomware), load balancing, application services, data services (such as database-as-a-service), network observability, business operations, and secure access. We’ll dive deeper into these advanced services in a future module.</a:t>
            </a:r>
            <a:endParaRPr/>
          </a:p>
          <a:p>
            <a:pPr marL="0" lvl="0" indent="0" algn="l" rtl="0">
              <a:lnSpc>
                <a:spcPct val="80000"/>
              </a:lnSpc>
              <a:spcBef>
                <a:spcPts val="0"/>
              </a:spcBef>
              <a:spcAft>
                <a:spcPts val="0"/>
              </a:spcAft>
              <a:buClr>
                <a:schemeClr val="dk1"/>
              </a:buClr>
              <a:buSzPts val="1400"/>
              <a:buFont typeface="Arial"/>
              <a:buNone/>
            </a:pPr>
            <a:r>
              <a:rPr lang="en-US" sz="930" strike="noStrike"/>
              <a:t>Consumers can access these services through their preferred language, whether it's APIs, CLIs, or infrastructure-as-code, providing a flexible and scalable platform that meets a variety of needs.</a:t>
            </a:r>
            <a:endParaRPr/>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a:p>
        </p:txBody>
      </p:sp>
      <p:sp>
        <p:nvSpPr>
          <p:cNvPr id="1811" name="Google Shape;1811;g3978402b0d5_2_10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p1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9" name="Google Shape;19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400"/>
              <a:buFont typeface="Arial"/>
              <a:buNone/>
            </a:pPr>
            <a:r>
              <a:rPr lang="en-US"/>
              <a:t>Now that we’ve covered what VMware Cloud Foundation delivers, let’s look at how customers are putting it to work.</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nine use cases reflect real-world priorities we’re seeing across industries — and they map directly to the three pillars we’ve been discussing.</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Modern Infrastructure, customers are building private cloud platforms to replace aging three-tier infrastructure — modernizing their core data centers with automated provisioning and full-stack lifecycle management.</a:t>
            </a:r>
            <a:endParaRPr/>
          </a:p>
          <a:p>
            <a:pPr marL="0" lvl="0" indent="0" algn="l" rtl="0">
              <a:lnSpc>
                <a:spcPct val="115000"/>
              </a:lnSpc>
              <a:spcBef>
                <a:spcPts val="0"/>
              </a:spcBef>
              <a:spcAft>
                <a:spcPts val="0"/>
              </a:spcAft>
              <a:buClr>
                <a:schemeClr val="dk1"/>
              </a:buClr>
              <a:buSzPts val="1400"/>
              <a:buFont typeface="Arial"/>
              <a:buNone/>
            </a:pPr>
            <a:r>
              <a:rPr lang="en-US"/>
              <a:t>Others are extending their private cloud out to edge locations, like retail stores and manufacturing facilities, where they need cloud services close to users and devices.</a:t>
            </a:r>
            <a:endParaRPr/>
          </a:p>
          <a:p>
            <a:pPr marL="0" lvl="0" indent="0" algn="l" rtl="0">
              <a:lnSpc>
                <a:spcPct val="115000"/>
              </a:lnSpc>
              <a:spcBef>
                <a:spcPts val="0"/>
              </a:spcBef>
              <a:spcAft>
                <a:spcPts val="0"/>
              </a:spcAft>
              <a:buClr>
                <a:schemeClr val="dk1"/>
              </a:buClr>
              <a:buSzPts val="1400"/>
              <a:buFont typeface="Arial"/>
              <a:buNone/>
            </a:pPr>
            <a:r>
              <a:rPr lang="en-US"/>
              <a:t>And many are delivering Infrastructure as a Service internally — providing dev teams or business units with on-demand access to compute, storage, and network resources without manual IT bottlenecks.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the Unified Cloud Experience pillar, organizations are accelerating application modernization by running Kubernetes clusters alongside VMs </a:t>
            </a:r>
            <a:endParaRPr/>
          </a:p>
          <a:p>
            <a:pPr marL="0" lvl="0" indent="0" algn="l" rtl="0">
              <a:lnSpc>
                <a:spcPct val="115000"/>
              </a:lnSpc>
              <a:spcBef>
                <a:spcPts val="0"/>
              </a:spcBef>
              <a:spcAft>
                <a:spcPts val="0"/>
              </a:spcAft>
              <a:buClr>
                <a:schemeClr val="dk1"/>
              </a:buClr>
              <a:buSzPts val="1400"/>
              <a:buFont typeface="Arial"/>
              <a:buNone/>
            </a:pPr>
            <a:r>
              <a:rPr lang="en-US"/>
              <a:t>We’re also seeing customers enabling Private AI — deploying NVIDIA GPUs on VCF to support AI model training and inferencing, all within their secure private cloud environment.</a:t>
            </a:r>
            <a:endParaRPr/>
          </a:p>
          <a:p>
            <a:pPr marL="0" lvl="0" indent="0" algn="l" rtl="0">
              <a:lnSpc>
                <a:spcPct val="115000"/>
              </a:lnSpc>
              <a:spcBef>
                <a:spcPts val="0"/>
              </a:spcBef>
              <a:spcAft>
                <a:spcPts val="0"/>
              </a:spcAft>
              <a:buClr>
                <a:schemeClr val="dk1"/>
              </a:buClr>
              <a:buSzPts val="1400"/>
              <a:buFont typeface="Arial"/>
              <a:buNone/>
            </a:pPr>
            <a:r>
              <a:rPr lang="en-US"/>
              <a:t>And they’re using DevOps principles like infrastructure as code to drive faster innovation across development and operations teams.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And finally, when it comes to a Secure and Resilient Platform, VCF helps organizations deliver ransomware protection by leveraging automated backup and recovery solutions integrated into the stack.</a:t>
            </a:r>
            <a:endParaRPr/>
          </a:p>
          <a:p>
            <a:pPr marL="0" lvl="0" indent="0" algn="l" rtl="0">
              <a:lnSpc>
                <a:spcPct val="115000"/>
              </a:lnSpc>
              <a:spcBef>
                <a:spcPts val="0"/>
              </a:spcBef>
              <a:spcAft>
                <a:spcPts val="0"/>
              </a:spcAft>
              <a:buClr>
                <a:schemeClr val="dk1"/>
              </a:buClr>
              <a:buSzPts val="1400"/>
              <a:buFont typeface="Arial"/>
              <a:buNone/>
            </a:pPr>
            <a:r>
              <a:rPr lang="en-US"/>
              <a:t>They’re deploying disaster recovery as a service between sites using VMware tools like VMware Live Recovery which is an advanced service for VCF.</a:t>
            </a:r>
            <a:endParaRPr/>
          </a:p>
          <a:p>
            <a:pPr marL="0" lvl="0" indent="0" algn="l" rtl="0">
              <a:lnSpc>
                <a:spcPct val="115000"/>
              </a:lnSpc>
              <a:spcBef>
                <a:spcPts val="0"/>
              </a:spcBef>
              <a:spcAft>
                <a:spcPts val="0"/>
              </a:spcAft>
              <a:buClr>
                <a:schemeClr val="dk1"/>
              </a:buClr>
              <a:buSzPts val="1400"/>
              <a:buFont typeface="Arial"/>
              <a:buNone/>
            </a:pPr>
            <a:r>
              <a:rPr lang="en-US"/>
              <a:t>And they’re ensuring continuous compliance for industries like finance and healthcare by embedding security policies at the infrastructure level.</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examples highlight how VCF helps organizations build modern infrastructure, create a seamless cloud experience across environments, and strengthen their security and resilience at every layer.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10</a:t>
            </a:fld>
            <a:endParaRPr lang="en-US" dirty="0"/>
          </a:p>
        </p:txBody>
      </p:sp>
    </p:spTree>
    <p:extLst>
      <p:ext uri="{BB962C8B-B14F-4D97-AF65-F5344CB8AC3E}">
        <p14:creationId xmlns:p14="http://schemas.microsoft.com/office/powerpoint/2010/main" val="3926714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0" indent="0" algn="l" rtl="0">
              <a:lnSpc>
                <a:spcPct val="100000"/>
              </a:lnSpc>
              <a:spcBef>
                <a:spcPts val="0"/>
              </a:spcBef>
              <a:spcAft>
                <a:spcPts val="0"/>
              </a:spcAft>
              <a:buNone/>
            </a:pPr>
            <a:r>
              <a:rPr lang="en-US" sz="1200" b="1" u="none" strike="noStrike" dirty="0">
                <a:solidFill>
                  <a:schemeClr val="dk1"/>
                </a:solidFill>
                <a:latin typeface="Arial"/>
                <a:ea typeface="Arial"/>
                <a:cs typeface="Arial"/>
                <a:sym typeface="Arial"/>
              </a:rPr>
              <a:t>Key Message</a:t>
            </a:r>
            <a:r>
              <a:rPr lang="en-US" sz="1200" dirty="0">
                <a:solidFill>
                  <a:schemeClr val="dk1"/>
                </a:solidFill>
                <a:latin typeface="Arial"/>
                <a:ea typeface="Arial"/>
                <a:cs typeface="Arial"/>
                <a:sym typeface="Arial"/>
              </a:rPr>
              <a:t>: </a:t>
            </a:r>
          </a:p>
          <a:p>
            <a:pPr marL="0" lvl="0" indent="0" algn="l" rtl="0">
              <a:lnSpc>
                <a:spcPct val="100000"/>
              </a:lnSpc>
              <a:spcBef>
                <a:spcPts val="0"/>
              </a:spcBef>
              <a:spcAft>
                <a:spcPts val="0"/>
              </a:spcAft>
              <a:buNone/>
            </a:pPr>
            <a:r>
              <a:rPr lang="en-US" sz="1200" dirty="0">
                <a:solidFill>
                  <a:schemeClr val="dk1"/>
                </a:solidFill>
                <a:latin typeface="Arial"/>
                <a:ea typeface="Arial"/>
                <a:cs typeface="Arial"/>
                <a:sym typeface="Arial"/>
              </a:rPr>
              <a:t>vSphere Supervisor is an integral part of the Cloud Experience story.</a:t>
            </a:r>
          </a:p>
          <a:p>
            <a:pPr marL="0" marR="0" lvl="0" indent="0" algn="l" rtl="0">
              <a:lnSpc>
                <a:spcPct val="100000"/>
              </a:lnSpc>
              <a:spcBef>
                <a:spcPts val="0"/>
              </a:spcBef>
              <a:spcAft>
                <a:spcPts val="0"/>
              </a:spcAft>
              <a:buClr>
                <a:schemeClr val="dk1"/>
              </a:buClr>
              <a:buSzPts val="1200"/>
              <a:buFont typeface="Arial"/>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r>
              <a:rPr lang="en-US" sz="1200" dirty="0">
                <a:solidFill>
                  <a:schemeClr val="dk1"/>
                </a:solidFill>
                <a:latin typeface="Arial"/>
                <a:ea typeface="Arial"/>
                <a:cs typeface="Arial"/>
                <a:sym typeface="Arial"/>
              </a:rPr>
              <a:t>:</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vSphere Supervisor is an embedded Declarative API allowing customers to deploy and manage Virtual Machines, Kubernetes clusters, and other resources, all on the same platform and using a unified set of tools. </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US" sz="1200"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On enablement it provides a set of Core Supervisor Services, which include:</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vSphere Kubernetes Service (VKS) – allowing customers to deploy and manage fully conformant Kubernetes clusters</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VM Service – allowing customers to deploy Virtual Machines using desired state </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Network Service – allowing customers to deploy load balancers on-demand</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Storage and Data Services – allowing customers to deploy Persistent Volumes on-demand</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US" sz="1200"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Customers can deploy additional Supervisor Services to provided additional functionality for their workloads, like an Image Registry (Harbor) or a Secret Store</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US" sz="1200"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vSphere Supervisor is a Kubernetes-based ecosystem that’s highly extensible allowing us to introduce new Services while maintaining the same consumption experience.</a:t>
            </a:r>
            <a:endParaRPr lang="en-US" dirty="0"/>
          </a:p>
          <a:p>
            <a:pPr marL="0" marR="0" lvl="0" indent="0" algn="l" rtl="0">
              <a:lnSpc>
                <a:spcPct val="100000"/>
              </a:lnSpc>
              <a:spcBef>
                <a:spcPts val="0"/>
              </a:spcBef>
              <a:spcAft>
                <a:spcPts val="0"/>
              </a:spcAft>
              <a:buClr>
                <a:schemeClr val="dk1"/>
              </a:buClr>
              <a:buSzPts val="12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100000"/>
              </a:lnSpc>
              <a:spcBef>
                <a:spcPts val="0"/>
              </a:spcBef>
              <a:spcAft>
                <a:spcPts val="0"/>
              </a:spcAft>
              <a:buNone/>
            </a:pPr>
            <a:r>
              <a:rPr lang="en-US" sz="1200" b="1" u="none" strike="noStrike" dirty="0">
                <a:solidFill>
                  <a:schemeClr val="dk1"/>
                </a:solidFill>
                <a:latin typeface="Arial"/>
                <a:ea typeface="Arial"/>
                <a:cs typeface="Arial"/>
                <a:sym typeface="Arial"/>
              </a:rPr>
              <a:t>Notes</a:t>
            </a:r>
            <a:r>
              <a:rPr lang="en-US" sz="1200" u="none" strike="noStrike" dirty="0">
                <a:solidFill>
                  <a:schemeClr val="dk1"/>
                </a:solidFill>
                <a:latin typeface="Arial"/>
                <a:ea typeface="Arial"/>
                <a:cs typeface="Arial"/>
                <a:sym typeface="Arial"/>
              </a:rPr>
              <a:t>:</a:t>
            </a:r>
            <a:endParaRPr lang="en-US" dirty="0"/>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Resources</a:t>
            </a:r>
            <a:r>
              <a:rPr lang="en-US" sz="1200" dirty="0">
                <a:solidFill>
                  <a:schemeClr val="dk1"/>
                </a:solidFill>
                <a:latin typeface="Arial"/>
                <a:ea typeface="Arial"/>
                <a:cs typeface="Arial"/>
                <a:sym typeface="Arial"/>
              </a:rPr>
              <a:t>:</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882346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algn="l" rtl="0" latinLnBrk="0">
              <a:buNone/>
            </a:pPr>
            <a:r>
              <a:rPr lang="en-AU" b="1" i="0" dirty="0">
                <a:solidFill>
                  <a:srgbClr val="222222"/>
                </a:solidFill>
                <a:effectLst/>
                <a:latin typeface="Arial" panose="020B0604020202020204" pitchFamily="34" charset="0"/>
              </a:rPr>
              <a:t>Key Message:</a:t>
            </a:r>
            <a:br>
              <a:rPr lang="en-AU" b="0" i="0" dirty="0">
                <a:solidFill>
                  <a:srgbClr val="222222"/>
                </a:solidFill>
                <a:effectLst/>
                <a:latin typeface="Arial" panose="020B0604020202020204" pitchFamily="34" charset="0"/>
              </a:rPr>
            </a:br>
            <a:r>
              <a:rPr lang="en-AU" b="0" i="0" dirty="0">
                <a:solidFill>
                  <a:srgbClr val="222222"/>
                </a:solidFill>
                <a:effectLst/>
                <a:latin typeface="Arial" panose="020B0604020202020204" pitchFamily="34" charset="0"/>
              </a:rPr>
              <a:t>Cloud admins can quickly and easily enable vSphere Supervisor as part of the Workload Domain creation.</a:t>
            </a:r>
            <a:br>
              <a:rPr lang="en-AU" b="0" i="0" dirty="0">
                <a:solidFill>
                  <a:srgbClr val="222222"/>
                </a:solidFill>
                <a:effectLst/>
                <a:latin typeface="Arial" panose="020B0604020202020204" pitchFamily="34" charset="0"/>
              </a:rPr>
            </a:br>
            <a:br>
              <a:rPr lang="en-AU" b="0" i="0" dirty="0">
                <a:solidFill>
                  <a:srgbClr val="222222"/>
                </a:solidFill>
                <a:effectLst/>
                <a:latin typeface="Arial" panose="020B0604020202020204" pitchFamily="34" charset="0"/>
              </a:rPr>
            </a:br>
            <a:r>
              <a:rPr lang="en-AU" b="1" i="0" dirty="0">
                <a:solidFill>
                  <a:srgbClr val="222222"/>
                </a:solidFill>
                <a:effectLst/>
                <a:latin typeface="Arial" panose="020B0604020202020204" pitchFamily="34" charset="0"/>
              </a:rPr>
              <a:t>Talk Track:</a:t>
            </a:r>
            <a:br>
              <a:rPr lang="en-AU" b="1" i="0" dirty="0">
                <a:solidFill>
                  <a:srgbClr val="222222"/>
                </a:solidFill>
                <a:effectLst/>
                <a:latin typeface="Arial" panose="020B0604020202020204" pitchFamily="34" charset="0"/>
              </a:rPr>
            </a:br>
            <a:r>
              <a:rPr lang="en-AU" b="0" i="0" dirty="0">
                <a:solidFill>
                  <a:srgbClr val="222222"/>
                </a:solidFill>
                <a:effectLst/>
                <a:latin typeface="Arial" panose="020B0604020202020204" pitchFamily="34" charset="0"/>
              </a:rPr>
              <a:t>VCF Operations contains an in-built workflows to create new Workload Domains pre-configured with the vSphere Supervisor. This option provides an opinionated way of deploying Supervisor and relies on minimal input from customers. This deployment model utilises NSX Projects and VPCs which can be selected from the drop-down menu. </a:t>
            </a:r>
          </a:p>
          <a:p>
            <a:pPr marL="0" algn="l" rtl="0" latinLnBrk="0">
              <a:buNone/>
            </a:pPr>
            <a:endParaRPr lang="en-AU" b="0" i="0" dirty="0">
              <a:solidFill>
                <a:srgbClr val="222222"/>
              </a:solidFill>
              <a:effectLst/>
              <a:latin typeface="Arial" panose="020B0604020202020204" pitchFamily="34" charset="0"/>
            </a:endParaRPr>
          </a:p>
          <a:p>
            <a:pPr marL="0" algn="l" rtl="0" latinLnBrk="0">
              <a:buNone/>
            </a:pPr>
            <a:r>
              <a:rPr lang="en-AU" b="1" i="0" dirty="0">
                <a:solidFill>
                  <a:srgbClr val="222222"/>
                </a:solidFill>
                <a:effectLst/>
                <a:latin typeface="Arial" panose="020B0604020202020204" pitchFamily="34" charset="0"/>
              </a:rPr>
              <a:t>Notes:</a:t>
            </a:r>
            <a:br>
              <a:rPr lang="en-AU" b="0" i="0" dirty="0">
                <a:solidFill>
                  <a:srgbClr val="222222"/>
                </a:solidFill>
                <a:effectLst/>
                <a:latin typeface="Arial" panose="020B0604020202020204" pitchFamily="34" charset="0"/>
              </a:rPr>
            </a:br>
            <a:r>
              <a:rPr lang="en-AU" b="0" i="0" dirty="0">
                <a:solidFill>
                  <a:srgbClr val="222222"/>
                </a:solidFill>
                <a:effectLst/>
                <a:latin typeface="Arial" panose="020B0604020202020204" pitchFamily="34" charset="0"/>
              </a:rPr>
              <a:t>Customers must complete NSX Edge deployment after the WLD creation.</a:t>
            </a:r>
          </a:p>
          <a:p>
            <a:pPr marL="171450" indent="-171450" algn="l" rtl="0" latinLnBrk="0">
              <a:buFontTx/>
              <a:buChar char="-"/>
            </a:pPr>
            <a:endParaRPr lang="en-AU" b="0" i="0" dirty="0">
              <a:solidFill>
                <a:srgbClr val="222222"/>
              </a:solidFill>
              <a:effectLst/>
              <a:latin typeface="Arial" panose="020B0604020202020204" pitchFamily="34" charset="0"/>
            </a:endParaRPr>
          </a:p>
          <a:p>
            <a:pPr marL="0" algn="l" rtl="0" latinLnBrk="0"/>
            <a:r>
              <a:rPr lang="en-AU" b="1" i="0" dirty="0">
                <a:solidFill>
                  <a:srgbClr val="222222"/>
                </a:solidFill>
                <a:effectLst/>
                <a:latin typeface="Arial" panose="020B0604020202020204" pitchFamily="34" charset="0"/>
              </a:rPr>
              <a:t>Resources:</a:t>
            </a:r>
            <a:endParaRPr lang="en-AU" b="0" i="0" dirty="0">
              <a:solidFill>
                <a:srgbClr val="222222"/>
              </a:solidFill>
              <a:effectLst/>
              <a:latin typeface="Arial" panose="020B0604020202020204" pitchFamily="34" charset="0"/>
            </a:endParaRPr>
          </a:p>
          <a:p>
            <a:endParaRPr lang="en-US" dirty="0"/>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712665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F006-2EE8-FF3C-4DA2-BEA42B87A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BF8E8-A839-D191-D7A8-87140E8D2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623D4-EE08-B33B-F0E3-7F1BD63D34BF}"/>
              </a:ext>
            </a:extLst>
          </p:cNvPr>
          <p:cNvSpPr>
            <a:spLocks noGrp="1"/>
          </p:cNvSpPr>
          <p:nvPr>
            <p:ph type="body" idx="1"/>
          </p:nvPr>
        </p:nvSpPr>
        <p:spPr/>
        <p:txBody>
          <a:bodyPr>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dirty="0">
                <a:solidFill>
                  <a:schemeClr val="dk1"/>
                </a:solidFill>
                <a:latin typeface="Arial"/>
                <a:ea typeface="Arial"/>
                <a:cs typeface="Arial"/>
                <a:sym typeface="Arial"/>
              </a:rPr>
              <a:t>Key Message</a:t>
            </a:r>
            <a:r>
              <a:rPr lang="en-US" sz="1200" dirty="0">
                <a:solidFill>
                  <a:schemeClr val="dk1"/>
                </a:solidFill>
                <a:latin typeface="Arial"/>
                <a:ea typeface="Arial"/>
                <a:cs typeface="Arial"/>
                <a:sym typeface="Arial"/>
              </a:rPr>
              <a:t>:</a:t>
            </a:r>
            <a:endParaRPr lang="en-US" dirty="0"/>
          </a:p>
          <a:p>
            <a:r>
              <a:rPr lang="en-GB" b="0" i="0" dirty="0">
                <a:solidFill>
                  <a:srgbClr val="FFFFFF"/>
                </a:solidFill>
                <a:effectLst/>
                <a:highlight>
                  <a:srgbClr val="1A1B20"/>
                </a:highlight>
                <a:latin typeface="-apple-system"/>
              </a:rPr>
              <a:t>vSphere Supervisor transforms VCF into a platform capable of running modernised workloads that can be managed using a single API. </a:t>
            </a:r>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r>
              <a:rPr lang="en-US" sz="1200" dirty="0">
                <a:solidFill>
                  <a:schemeClr val="dk1"/>
                </a:solidFill>
                <a:latin typeface="Arial"/>
                <a:ea typeface="Arial"/>
                <a:cs typeface="Arial"/>
                <a:sym typeface="Arial"/>
              </a:rPr>
              <a:t>:</a:t>
            </a:r>
            <a:endParaRPr lang="en-US" dirty="0"/>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GB" dirty="0"/>
              <a:t>vSphere Supervisor is a Kubernetes-based Declarative API allowing customers to focus on the outcome, not the steps to get there.</a:t>
            </a:r>
            <a:endParaRPr lang="en-US" sz="1200"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US" sz="1200"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On enablement it provides a set of Core Supervisor Services, which include:</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vSphere Kubernetes Service (VKS) – allowing customers to deploy and manage fully conformant Kubernetes clusters</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VM Service – allowing customers to deploy Virtual Machines using desired state </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US" sz="1200" dirty="0">
              <a:solidFill>
                <a:schemeClr val="dk1"/>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latin typeface="Arial"/>
                <a:ea typeface="Arial"/>
                <a:cs typeface="Arial"/>
                <a:sym typeface="Arial"/>
              </a:rPr>
              <a:t>Customers can deploy additional Supervisor Services to provided additional functionality for their workloads, like an Image Registry (Harbor) or a Secret Store. Supervisor Services provide a consistent framework and independent lifecycle, allowing customers to add new versions and update them independently.</a:t>
            </a:r>
          </a:p>
          <a:p>
            <a:endParaRPr lang="en-GB" b="0" i="0" dirty="0">
              <a:solidFill>
                <a:srgbClr val="FFFFFF"/>
              </a:solidFill>
              <a:effectLst/>
              <a:highlight>
                <a:srgbClr val="1A1B20"/>
              </a:highlight>
              <a:latin typeface="-apple-system"/>
            </a:endParaRPr>
          </a:p>
          <a:p>
            <a:r>
              <a:rPr lang="en-GB" b="0" i="0" dirty="0">
                <a:solidFill>
                  <a:srgbClr val="FFFFFF"/>
                </a:solidFill>
                <a:effectLst/>
                <a:highlight>
                  <a:srgbClr val="1A1B20"/>
                </a:highlight>
                <a:latin typeface="-apple-system"/>
              </a:rPr>
              <a:t>Virtual Machines, containers, and Kubernetes clusters, all running on one platform, managed by a unified set of tools.</a:t>
            </a:r>
          </a:p>
          <a:p>
            <a:pPr marL="0" marR="0" lvl="0" indent="0" algn="l" rtl="0">
              <a:lnSpc>
                <a:spcPct val="100000"/>
              </a:lnSpc>
              <a:spcBef>
                <a:spcPts val="600"/>
              </a:spcBef>
              <a:spcAft>
                <a:spcPts val="0"/>
              </a:spcAft>
              <a:buClr>
                <a:schemeClr val="dk1"/>
              </a:buClr>
              <a:buSzPts val="12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100000"/>
              </a:lnSpc>
              <a:spcBef>
                <a:spcPts val="0"/>
              </a:spcBef>
              <a:spcAft>
                <a:spcPts val="0"/>
              </a:spcAft>
              <a:buNone/>
            </a:pPr>
            <a:r>
              <a:rPr lang="en-US" sz="1200" b="1" u="none" strike="noStrike" dirty="0">
                <a:solidFill>
                  <a:schemeClr val="dk1"/>
                </a:solidFill>
                <a:latin typeface="Arial"/>
                <a:ea typeface="Arial"/>
                <a:cs typeface="Arial"/>
                <a:sym typeface="Arial"/>
              </a:rPr>
              <a:t>Notes</a:t>
            </a:r>
            <a:r>
              <a:rPr lang="en-US" sz="1200" u="none" strike="noStrike" dirty="0">
                <a:solidFill>
                  <a:schemeClr val="dk1"/>
                </a:solidFill>
                <a:latin typeface="Arial"/>
                <a:ea typeface="Arial"/>
                <a:cs typeface="Arial"/>
                <a:sym typeface="Arial"/>
              </a:rPr>
              <a:t>:</a:t>
            </a:r>
            <a:endParaRPr lang="en-US" dirty="0"/>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Resources</a:t>
            </a:r>
            <a:r>
              <a:rPr lang="en-US" sz="1200" dirty="0">
                <a:solidFill>
                  <a:schemeClr val="dk1"/>
                </a:solidFill>
                <a:latin typeface="Arial"/>
                <a:ea typeface="Arial"/>
                <a:cs typeface="Arial"/>
                <a:sym typeface="Arial"/>
              </a:rPr>
              <a:t>:</a:t>
            </a:r>
            <a:endParaRPr lang="en-US" dirty="0"/>
          </a:p>
          <a:p>
            <a:endParaRPr lang="en-GB" b="0" i="0" dirty="0">
              <a:solidFill>
                <a:srgbClr val="FFFFFF"/>
              </a:solidFill>
              <a:effectLst/>
              <a:highlight>
                <a:srgbClr val="1A1B20"/>
              </a:highlight>
              <a:latin typeface="-apple-system"/>
            </a:endParaRPr>
          </a:p>
          <a:p>
            <a:endParaRPr lang="en-GB" b="0" i="0" dirty="0">
              <a:solidFill>
                <a:srgbClr val="FFFFFF"/>
              </a:solidFill>
              <a:effectLst/>
              <a:highlight>
                <a:srgbClr val="1A1B20"/>
              </a:highlight>
              <a:latin typeface="-apple-system"/>
            </a:endParaRPr>
          </a:p>
          <a:p>
            <a:endParaRPr lang="en-US" dirty="0"/>
          </a:p>
        </p:txBody>
      </p:sp>
      <p:sp>
        <p:nvSpPr>
          <p:cNvPr id="4" name="Slide Number Placeholder 3">
            <a:extLst>
              <a:ext uri="{FF2B5EF4-FFF2-40B4-BE49-F238E27FC236}">
                <a16:creationId xmlns:a16="http://schemas.microsoft.com/office/drawing/2014/main" id="{885BAC35-FC6E-05D0-5BDE-1FE9C3AD18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870862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235BC-B12C-C714-460E-E34D25831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55179-55DE-5394-915D-52A128F6B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1506C-D3F7-EF97-3A6F-ED4152C93F18}"/>
              </a:ext>
            </a:extLst>
          </p:cNvPr>
          <p:cNvSpPr>
            <a:spLocks noGrp="1"/>
          </p:cNvSpPr>
          <p:nvPr>
            <p:ph type="body" idx="1"/>
          </p:nvPr>
        </p:nvSpPr>
        <p:spPr/>
        <p:txBody>
          <a:bodyP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i="0" dirty="0">
                <a:solidFill>
                  <a:srgbClr val="222222"/>
                </a:solidFill>
                <a:effectLst/>
                <a:latin typeface="Arial" panose="020B0604020202020204" pitchFamily="34" charset="0"/>
              </a:rPr>
              <a:t>Key Message:</a:t>
            </a:r>
            <a:br>
              <a:rPr lang="en-AU" b="0" i="0" dirty="0">
                <a:solidFill>
                  <a:srgbClr val="222222"/>
                </a:solidFill>
                <a:effectLst/>
                <a:latin typeface="Arial" panose="020B0604020202020204" pitchFamily="34" charset="0"/>
              </a:rPr>
            </a:br>
            <a:r>
              <a:rPr lang="en-GB" b="0" i="0" dirty="0">
                <a:solidFill>
                  <a:srgbClr val="FFFFFF"/>
                </a:solidFill>
                <a:effectLst/>
                <a:highlight>
                  <a:srgbClr val="1A1B20"/>
                </a:highlight>
                <a:latin typeface="-apple-system"/>
              </a:rPr>
              <a:t>vSphere Namespaces are logical units providing resource and network isolation through VPC integration.</a:t>
            </a:r>
            <a:br>
              <a:rPr lang="en-AU" b="0" i="0" dirty="0">
                <a:solidFill>
                  <a:srgbClr val="222222"/>
                </a:solidFill>
                <a:effectLst/>
                <a:latin typeface="Arial" panose="020B0604020202020204" pitchFamily="34" charset="0"/>
              </a:rPr>
            </a:br>
            <a:br>
              <a:rPr lang="en-AU" b="0" i="0" dirty="0">
                <a:solidFill>
                  <a:srgbClr val="222222"/>
                </a:solidFill>
                <a:effectLst/>
                <a:latin typeface="Arial" panose="020B0604020202020204" pitchFamily="34" charset="0"/>
              </a:rPr>
            </a:br>
            <a:r>
              <a:rPr lang="en-AU" b="1" i="0" dirty="0">
                <a:solidFill>
                  <a:srgbClr val="222222"/>
                </a:solidFill>
                <a:effectLst/>
                <a:latin typeface="Arial" panose="020B0604020202020204" pitchFamily="34" charset="0"/>
              </a:rPr>
              <a:t>Talk Track:</a:t>
            </a:r>
            <a:br>
              <a:rPr lang="en-AU" b="1" i="0" dirty="0">
                <a:solidFill>
                  <a:srgbClr val="222222"/>
                </a:solidFill>
                <a:effectLst/>
                <a:latin typeface="Arial" panose="020B0604020202020204" pitchFamily="34" charset="0"/>
              </a:rPr>
            </a:br>
            <a:r>
              <a:rPr lang="en-GB" b="0" i="0" dirty="0">
                <a:solidFill>
                  <a:srgbClr val="FFFFFF"/>
                </a:solidFill>
                <a:effectLst/>
                <a:highlight>
                  <a:srgbClr val="1A1B20"/>
                </a:highlight>
                <a:latin typeface="-apple-system"/>
              </a:rPr>
              <a:t>vSphere Namespaces form a resource envelope for workloads. They are similar to resource pools, but with extended capabilities. They allow customers to set resource allocations, quotas, and limits, but also to define storage policies and zones. They also provide basic configuration options for VKS and VM Service, such as configuring Content Libraries and associating VM Classes. </a:t>
            </a:r>
          </a:p>
          <a:p>
            <a:pPr algn="l"/>
            <a:endParaRPr lang="en-GB" b="0" i="0" dirty="0">
              <a:solidFill>
                <a:srgbClr val="FFFFFF"/>
              </a:solidFill>
              <a:effectLst/>
              <a:highlight>
                <a:srgbClr val="1A1B20"/>
              </a:highlight>
              <a:latin typeface="-apple-system"/>
            </a:endParaRPr>
          </a:p>
          <a:p>
            <a:pPr algn="l"/>
            <a:r>
              <a:rPr lang="en-GB" b="0" i="0" dirty="0">
                <a:solidFill>
                  <a:srgbClr val="FFFFFF"/>
                </a:solidFill>
                <a:effectLst/>
                <a:highlight>
                  <a:srgbClr val="1A1B20"/>
                </a:highlight>
                <a:latin typeface="-apple-system"/>
              </a:rPr>
              <a:t>&lt;click 1&gt;</a:t>
            </a:r>
          </a:p>
          <a:p>
            <a:pPr algn="l"/>
            <a:r>
              <a:rPr lang="en-GB" b="0" i="0" dirty="0">
                <a:solidFill>
                  <a:srgbClr val="FFFFFF"/>
                </a:solidFill>
                <a:effectLst/>
                <a:highlight>
                  <a:srgbClr val="1A1B20"/>
                </a:highlight>
                <a:latin typeface="-apple-system"/>
              </a:rPr>
              <a:t>vSphere Namespaces also provide workload isolation for organisations, whether they want to provide isolation for applications, or perhaps group them by teams. You may also want to split namespaces according to various states of development, such as test, staging, and production.</a:t>
            </a:r>
          </a:p>
          <a:p>
            <a:pPr rtl="0" fontAlgn="base">
              <a:buFontTx/>
              <a:buNone/>
            </a:pPr>
            <a:endParaRPr lang="en-AU" b="1" i="0" dirty="0">
              <a:solidFill>
                <a:srgbClr val="222222"/>
              </a:solidFill>
              <a:effectLst/>
              <a:latin typeface="Arial" panose="020B0604020202020204" pitchFamily="34" charset="0"/>
            </a:endParaRPr>
          </a:p>
          <a:p>
            <a:pPr rtl="0" fontAlgn="base">
              <a:buFontTx/>
              <a:buNone/>
            </a:pPr>
            <a:r>
              <a:rPr lang="en-AU" b="0" i="0" u="sng" dirty="0">
                <a:solidFill>
                  <a:srgbClr val="222222"/>
                </a:solidFill>
                <a:effectLst/>
                <a:latin typeface="Arial" panose="020B0604020202020204" pitchFamily="34" charset="0"/>
              </a:rPr>
              <a:t>To provide greater network isolation, vSphere namespaces now integrate with VPCs</a:t>
            </a:r>
            <a:r>
              <a:rPr lang="en-AU" b="1" i="0" dirty="0">
                <a:solidFill>
                  <a:srgbClr val="222222"/>
                </a:solidFill>
                <a:effectLst/>
                <a:latin typeface="Arial" panose="020B0604020202020204" pitchFamily="34" charset="0"/>
              </a:rPr>
              <a:t>. </a:t>
            </a:r>
            <a:r>
              <a:rPr lang="en-US" sz="1200" b="0" i="0" u="none" strike="noStrike" dirty="0">
                <a:solidFill>
                  <a:srgbClr val="CC092F"/>
                </a:solidFill>
                <a:effectLst/>
                <a:latin typeface="Arial" panose="020B0604020202020204" pitchFamily="34" charset="0"/>
              </a:rPr>
              <a:t>DevOps teams can configure network isolation via VPCs without needing to understand the details of the underlying network. They may create use existing VPCs, or created their own based on VPC Connectivity Profiles configured by Admins. DevOps teams can also assign their own Private IP ranges as part of VPC creation as these don’t impact other networks.</a:t>
            </a:r>
          </a:p>
          <a:p>
            <a:pPr marL="0" algn="l" rtl="0" latinLnBrk="0">
              <a:buNone/>
            </a:pPr>
            <a:endParaRPr lang="en-AU" b="0" i="0" dirty="0">
              <a:solidFill>
                <a:srgbClr val="222222"/>
              </a:solidFill>
              <a:effectLst/>
              <a:latin typeface="Arial" panose="020B0604020202020204" pitchFamily="34" charset="0"/>
            </a:endParaRPr>
          </a:p>
          <a:p>
            <a:pPr rtl="0" fontAlgn="base">
              <a:buFontTx/>
              <a:buNone/>
            </a:pPr>
            <a:r>
              <a:rPr lang="en-AU" b="1" i="0" dirty="0">
                <a:solidFill>
                  <a:srgbClr val="222222"/>
                </a:solidFill>
                <a:effectLst/>
                <a:latin typeface="Arial" panose="020B0604020202020204" pitchFamily="34" charset="0"/>
              </a:rPr>
              <a:t>Notes:</a:t>
            </a:r>
            <a:br>
              <a:rPr lang="en-AU" b="0" i="0" dirty="0">
                <a:solidFill>
                  <a:srgbClr val="222222"/>
                </a:solidFill>
                <a:effectLst/>
                <a:latin typeface="Arial" panose="020B0604020202020204" pitchFamily="34" charset="0"/>
              </a:rPr>
            </a:br>
            <a:r>
              <a:rPr lang="en-US" sz="1200" b="0" i="0" u="none" strike="noStrike" dirty="0">
                <a:solidFill>
                  <a:srgbClr val="CC092F"/>
                </a:solidFill>
                <a:effectLst/>
                <a:latin typeface="Arial" panose="020B0604020202020204" pitchFamily="34" charset="0"/>
              </a:rPr>
              <a:t>Admins will have assigned VPC Connectivity and Service Profiles to the DevOps users.  Those profiles contain things like the NSX Edge, T0, External IP Blocks, Transit Gateway and Private TGW IP blocks so DevOps doesn’t need to be concerned with them.</a:t>
            </a:r>
          </a:p>
          <a:p>
            <a:pPr rtl="0" fontAlgn="base">
              <a:buFontTx/>
              <a:buNone/>
            </a:pPr>
            <a:r>
              <a:rPr lang="en-US" sz="1200" b="0" i="0" u="none" strike="noStrike" dirty="0">
                <a:solidFill>
                  <a:srgbClr val="CC092F"/>
                </a:solidFill>
                <a:effectLst/>
                <a:latin typeface="Arial" panose="020B0604020202020204" pitchFamily="34" charset="0"/>
              </a:rPr>
              <a:t>DevOps may create their own VPC based on those profiles or use preconfigured VPCs assigned to them. </a:t>
            </a:r>
            <a:endParaRPr lang="en-AU" b="0" i="0" dirty="0">
              <a:solidFill>
                <a:srgbClr val="222222"/>
              </a:solidFill>
              <a:effectLst/>
              <a:latin typeface="Arial" panose="020B0604020202020204" pitchFamily="34" charset="0"/>
            </a:endParaRPr>
          </a:p>
          <a:p>
            <a:pPr marL="171450" indent="-171450" algn="l" rtl="0" latinLnBrk="0">
              <a:buFontTx/>
              <a:buChar char="-"/>
            </a:pPr>
            <a:endParaRPr lang="en-AU" b="0" i="0" dirty="0">
              <a:solidFill>
                <a:srgbClr val="222222"/>
              </a:solidFill>
              <a:effectLst/>
              <a:latin typeface="Arial" panose="020B0604020202020204" pitchFamily="34" charset="0"/>
            </a:endParaRPr>
          </a:p>
          <a:p>
            <a:pPr marL="0" algn="l" rtl="0" latinLnBrk="0"/>
            <a:r>
              <a:rPr lang="en-AU" b="1" i="0" dirty="0">
                <a:solidFill>
                  <a:srgbClr val="222222"/>
                </a:solidFill>
                <a:effectLst/>
                <a:latin typeface="Arial" panose="020B0604020202020204" pitchFamily="34" charset="0"/>
              </a:rPr>
              <a:t>Resources:</a:t>
            </a:r>
            <a:endParaRPr lang="en-AU" b="0" i="0" dirty="0">
              <a:solidFill>
                <a:srgbClr val="222222"/>
              </a:solidFill>
              <a:effectLst/>
              <a:latin typeface="Arial" panose="020B0604020202020204" pitchFamily="34" charset="0"/>
            </a:endParaRPr>
          </a:p>
          <a:p>
            <a:pPr algn="l"/>
            <a:endParaRPr lang="en-GB" b="0" i="0" dirty="0">
              <a:solidFill>
                <a:srgbClr val="FFFFFF"/>
              </a:solidFill>
              <a:effectLst/>
              <a:highlight>
                <a:srgbClr val="1A1B20"/>
              </a:highlight>
              <a:latin typeface="-apple-system"/>
            </a:endParaRPr>
          </a:p>
          <a:p>
            <a:endParaRPr lang="en-US" dirty="0"/>
          </a:p>
        </p:txBody>
      </p:sp>
      <p:sp>
        <p:nvSpPr>
          <p:cNvPr id="4" name="Slide Number Placeholder 3">
            <a:extLst>
              <a:ext uri="{FF2B5EF4-FFF2-40B4-BE49-F238E27FC236}">
                <a16:creationId xmlns:a16="http://schemas.microsoft.com/office/drawing/2014/main" id="{D0BEAB6E-EAA0-F818-50AB-E1726E18BA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4156170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dirty="0">
                <a:solidFill>
                  <a:schemeClr val="dk1"/>
                </a:solidFill>
                <a:latin typeface="Arial"/>
                <a:ea typeface="Arial"/>
                <a:cs typeface="Arial"/>
                <a:sym typeface="Arial"/>
              </a:rPr>
              <a:t>Key Message</a:t>
            </a:r>
            <a:r>
              <a:rPr lang="en-US" sz="1200" dirty="0">
                <a:solidFill>
                  <a:schemeClr val="dk1"/>
                </a:solidFill>
                <a:latin typeface="Arial"/>
                <a:ea typeface="Arial"/>
                <a:cs typeface="Arial"/>
                <a:sym typeface="Arial"/>
              </a:rPr>
              <a:t>: VCF includes a Kubernetes runtime</a:t>
            </a:r>
            <a:endParaRPr lang="en-US" dirty="0"/>
          </a:p>
          <a:p>
            <a:pPr marL="0" marR="0" lvl="0" indent="0" algn="l" rtl="0">
              <a:lnSpc>
                <a:spcPct val="100000"/>
              </a:lnSpc>
              <a:spcBef>
                <a:spcPts val="0"/>
              </a:spcBef>
              <a:spcAft>
                <a:spcPts val="0"/>
              </a:spcAft>
              <a:buClr>
                <a:schemeClr val="dk1"/>
              </a:buClr>
              <a:buSzPts val="1200"/>
              <a:buFont typeface="Arial"/>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r>
              <a:rPr lang="en-US" sz="1200" dirty="0">
                <a:solidFill>
                  <a:schemeClr val="dk1"/>
                </a:solidFill>
                <a:latin typeface="Arial"/>
                <a:ea typeface="Arial"/>
                <a:cs typeface="Arial"/>
                <a:sym typeface="Arial"/>
              </a:rPr>
              <a:t>:</a:t>
            </a:r>
            <a:endParaRPr lang="en-US" dirty="0"/>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GB" b="0" i="0" dirty="0">
                <a:solidFill>
                  <a:srgbClr val="FFFFFF"/>
                </a:solidFill>
                <a:effectLst/>
                <a:highlight>
                  <a:srgbClr val="1A1B20"/>
                </a:highlight>
                <a:latin typeface="-apple-system"/>
              </a:rPr>
              <a:t>VKS is a Kubernetes runtime service that lets you deploy upstream aligned conformant Kubernetes clusters on demand. </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GB" b="0" i="0" dirty="0">
              <a:solidFill>
                <a:srgbClr val="FFFFFF"/>
              </a:solidFill>
              <a:effectLst/>
              <a:highlight>
                <a:srgbClr val="1A1B20"/>
              </a:highlight>
              <a:latin typeface="-apple-system"/>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GB" b="0" i="0" dirty="0">
                <a:solidFill>
                  <a:srgbClr val="FFFFFF"/>
                </a:solidFill>
                <a:effectLst/>
                <a:highlight>
                  <a:srgbClr val="1A1B20"/>
                </a:highlight>
                <a:latin typeface="-apple-system"/>
              </a:rPr>
              <a:t>New versions of the service are deliver asynchronously allowing us to ship new Kubernetes versions and functionality faster than ever before, with regular cadence. Current version, VKS 3.3 introduced support for Kubernetes 1.32, as well as other capabilities, like using cluster autoscaler to scale down to zero.</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GB" b="0" i="0" dirty="0">
              <a:solidFill>
                <a:srgbClr val="FFFFFF"/>
              </a:solidFill>
              <a:effectLst/>
              <a:highlight>
                <a:srgbClr val="1A1B20"/>
              </a:highlight>
              <a:latin typeface="-apple-system"/>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GB" b="0" i="0" dirty="0">
                <a:solidFill>
                  <a:srgbClr val="FFFFFF"/>
                </a:solidFill>
                <a:effectLst/>
                <a:highlight>
                  <a:srgbClr val="1A1B20"/>
                </a:highlight>
                <a:latin typeface="-apple-system"/>
              </a:rPr>
              <a:t>vSphere Kubernetes releases (VKrs) are distributed using a subscribed Kubernetes Service Content Library.</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GB" b="0" i="0" dirty="0">
              <a:solidFill>
                <a:srgbClr val="FFFFFF"/>
              </a:solidFill>
              <a:effectLst/>
              <a:highlight>
                <a:srgbClr val="1A1B20"/>
              </a:highlight>
              <a:latin typeface="-apple-system"/>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GB" b="0" i="0" dirty="0">
                <a:solidFill>
                  <a:srgbClr val="FFFFFF"/>
                </a:solidFill>
                <a:effectLst/>
                <a:highlight>
                  <a:srgbClr val="1A1B20"/>
                </a:highlight>
                <a:latin typeface="-apple-system"/>
              </a:rPr>
              <a:t>VKS clusters are bootstrapped with Cluster API and support Photon OS, Ubuntu, and Windows (worker nodes only).</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GB" b="0" i="0" dirty="0">
              <a:solidFill>
                <a:srgbClr val="FFFFFF"/>
              </a:solidFill>
              <a:effectLst/>
              <a:highlight>
                <a:srgbClr val="1A1B20"/>
              </a:highlight>
              <a:latin typeface="-apple-system"/>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GB" b="0" i="0" dirty="0">
                <a:solidFill>
                  <a:srgbClr val="FFFFFF"/>
                </a:solidFill>
                <a:effectLst/>
                <a:highlight>
                  <a:srgbClr val="1A1B20"/>
                </a:highlight>
                <a:latin typeface="-apple-system"/>
              </a:rPr>
              <a:t>vSphere Kubernetes Service makes Kubernetes cluster deployment very quick and easy which means that it is easily repeatable and it’s only up to you whether you decide to deploy one big cluster with lots of resources allocated to it, or you prefer to deploy smaller clusters to provide better fault isolation for your applications. Thanks to the services such as Network Service and Storage service you can seamlessly integrate with your underlying storage, and using vm class definition you can pass through additional devices such as GPU cards. You can also deploy multiple Kubernetes versions into your clusters so your teams can use them for your experimentation and testing, for example when you are trying to validate your application on a newer version of Kubernetes.</a:t>
            </a:r>
          </a:p>
          <a:p>
            <a:pPr marL="0" marR="0" lvl="0" indent="0" algn="l" rtl="0">
              <a:lnSpc>
                <a:spcPct val="100000"/>
              </a:lnSpc>
              <a:spcBef>
                <a:spcPts val="0"/>
              </a:spcBef>
              <a:spcAft>
                <a:spcPts val="0"/>
              </a:spcAft>
              <a:buClr>
                <a:schemeClr val="dk1"/>
              </a:buClr>
              <a:buSzPts val="12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100000"/>
              </a:lnSpc>
              <a:spcBef>
                <a:spcPts val="0"/>
              </a:spcBef>
              <a:spcAft>
                <a:spcPts val="0"/>
              </a:spcAft>
              <a:buNone/>
            </a:pPr>
            <a:r>
              <a:rPr lang="en-US" sz="1200" b="1" u="none" strike="noStrike" dirty="0">
                <a:solidFill>
                  <a:schemeClr val="dk1"/>
                </a:solidFill>
                <a:latin typeface="Arial"/>
                <a:ea typeface="Arial"/>
                <a:cs typeface="Arial"/>
                <a:sym typeface="Arial"/>
              </a:rPr>
              <a:t>Notes</a:t>
            </a:r>
            <a:r>
              <a:rPr lang="en-US" sz="1200" u="none" strike="noStrike" dirty="0">
                <a:solidFill>
                  <a:schemeClr val="dk1"/>
                </a:solidFill>
                <a:latin typeface="Arial"/>
                <a:ea typeface="Arial"/>
                <a:cs typeface="Arial"/>
                <a:sym typeface="Arial"/>
              </a:rPr>
              <a:t>:</a:t>
            </a:r>
          </a:p>
          <a:p>
            <a:pPr marL="0" lvl="0" indent="0" algn="l" rtl="0">
              <a:lnSpc>
                <a:spcPct val="100000"/>
              </a:lnSpc>
              <a:spcBef>
                <a:spcPts val="0"/>
              </a:spcBef>
              <a:spcAft>
                <a:spcPts val="0"/>
              </a:spcAft>
              <a:buNone/>
            </a:pPr>
            <a:r>
              <a:rPr lang="en-US" sz="1200" u="none" strike="noStrike" dirty="0">
                <a:solidFill>
                  <a:schemeClr val="dk1"/>
                </a:solidFill>
                <a:latin typeface="Arial"/>
                <a:cs typeface="Arial"/>
                <a:sym typeface="Arial"/>
              </a:rPr>
              <a:t>VCF 9 will ship with VKS 3.3.1 (minor bugfixes)</a:t>
            </a:r>
            <a:endParaRPr lang="en-US" dirty="0"/>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Resources</a:t>
            </a:r>
            <a:r>
              <a:rPr lang="en-US" sz="1200" dirty="0">
                <a:solidFill>
                  <a:schemeClr val="dk1"/>
                </a:solidFill>
                <a:latin typeface="Arial"/>
                <a:ea typeface="Arial"/>
                <a:cs typeface="Arial"/>
                <a:sym typeface="Arial"/>
              </a:rPr>
              <a:t>:</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388069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dirty="0">
                <a:solidFill>
                  <a:schemeClr val="dk1"/>
                </a:solidFill>
                <a:latin typeface="Arial"/>
                <a:ea typeface="Arial"/>
                <a:cs typeface="Arial"/>
                <a:sym typeface="Arial"/>
              </a:rPr>
              <a:t>Key Message</a:t>
            </a:r>
            <a:r>
              <a:rPr lang="en-US" sz="1200" dirty="0">
                <a:solidFill>
                  <a:schemeClr val="dk1"/>
                </a:solidFill>
                <a:latin typeface="Arial"/>
                <a:ea typeface="Arial"/>
                <a:cs typeface="Arial"/>
                <a:sym typeface="Arial"/>
              </a:rPr>
              <a:t>:</a:t>
            </a:r>
            <a:endParaRPr lang="en-US" dirty="0"/>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dirty="0">
                <a:latin typeface="Metropolis"/>
              </a:rPr>
              <a:t>VM Service allows users to declaratively define their Virtual machine configuration in a manifest and deploy it using the same APIs as they would deploy Kubernetes clusters. The desired state of the VM is then managed by the Supervisor. Consumers can also directly access these Virtual Machines without needing to have access to vCenter. </a:t>
            </a:r>
          </a:p>
          <a:p>
            <a:pPr marL="0" marR="0" lvl="0" indent="0" algn="l" rtl="0">
              <a:lnSpc>
                <a:spcPct val="100000"/>
              </a:lnSpc>
              <a:spcBef>
                <a:spcPts val="0"/>
              </a:spcBef>
              <a:spcAft>
                <a:spcPts val="0"/>
              </a:spcAft>
              <a:buClr>
                <a:schemeClr val="dk1"/>
              </a:buClr>
              <a:buSzPts val="1200"/>
              <a:buFont typeface="Arial"/>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r>
              <a:rPr lang="en-US" sz="1200" dirty="0">
                <a:solidFill>
                  <a:schemeClr val="dk1"/>
                </a:solidFill>
                <a:latin typeface="Arial"/>
                <a:ea typeface="Arial"/>
                <a:cs typeface="Arial"/>
                <a:sym typeface="Arial"/>
              </a:rPr>
              <a:t>:</a:t>
            </a:r>
            <a:endParaRPr lang="en-US" dirty="0">
              <a:latin typeface="Metropoli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FFFFFF"/>
                </a:solidFill>
                <a:effectLst/>
                <a:highlight>
                  <a:srgbClr val="1A1B20"/>
                </a:highlight>
                <a:latin typeface="-apple-system"/>
              </a:rPr>
              <a:t>VM Service unlocks true self-service for consumers to deploy VMs on-demand. They can declaratively define the VM specification in a YAML file and these can be stored in public repositories in a GitOps fashion. Most importantly, VM Service natively supports cloud init injections, allowing passing of configuration to the VM’s Operating system post start-up, such as setting up users, or installing and configuring an application.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FFFFFF"/>
              </a:solidFill>
              <a:effectLst/>
              <a:highlight>
                <a:srgbClr val="1A1B20"/>
              </a:highligh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FFFFFF"/>
                </a:solidFill>
                <a:effectLst/>
                <a:highlight>
                  <a:srgbClr val="1A1B20"/>
                </a:highlight>
                <a:latin typeface="-apple-system"/>
              </a:rPr>
              <a:t>VMs can be deployed using OVF templates or ISO files stored in a Content Library.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FFFFFF"/>
              </a:solidFill>
              <a:effectLst/>
              <a:highlight>
                <a:srgbClr val="1A1B20"/>
              </a:highligh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FFFFFF"/>
                </a:solidFill>
                <a:effectLst/>
                <a:highlight>
                  <a:srgbClr val="1A1B20"/>
                </a:highlight>
                <a:latin typeface="-apple-system"/>
              </a:rPr>
              <a:t>VM resources, such as Memory and CPU, reservations, or PCI devices, are defined using VM Class. </a:t>
            </a:r>
            <a:r>
              <a:rPr lang="en-US" dirty="0"/>
              <a:t>There are 16 default VM classes available out of the box, coming in two flavors, guaranteed and best effort. Customers have an option to create custom VM Classes.</a:t>
            </a:r>
            <a:endParaRPr lang="en-US" dirty="0">
              <a:latin typeface="Metropolis"/>
            </a:endParaRPr>
          </a:p>
          <a:p>
            <a:endParaRPr lang="en-US" dirty="0">
              <a:latin typeface="Metropolis"/>
            </a:endParaRPr>
          </a:p>
          <a:p>
            <a:pPr marL="0" lvl="0" indent="0" algn="l" rtl="0">
              <a:lnSpc>
                <a:spcPct val="100000"/>
              </a:lnSpc>
              <a:spcBef>
                <a:spcPts val="0"/>
              </a:spcBef>
              <a:spcAft>
                <a:spcPts val="0"/>
              </a:spcAft>
              <a:buNone/>
            </a:pPr>
            <a:r>
              <a:rPr lang="en-US" sz="1200" b="1" u="none" strike="noStrike" dirty="0">
                <a:solidFill>
                  <a:schemeClr val="dk1"/>
                </a:solidFill>
                <a:latin typeface="Arial"/>
                <a:ea typeface="Arial"/>
                <a:cs typeface="Arial"/>
                <a:sym typeface="Arial"/>
              </a:rPr>
              <a:t>Notes</a:t>
            </a:r>
            <a:r>
              <a:rPr lang="en-US" sz="1200" u="none" strike="noStrike" dirty="0">
                <a:solidFill>
                  <a:schemeClr val="dk1"/>
                </a:solidFill>
                <a:latin typeface="Arial"/>
                <a:ea typeface="Arial"/>
                <a:cs typeface="Arial"/>
                <a:sym typeface="Arial"/>
              </a:rPr>
              <a:t>:</a:t>
            </a:r>
            <a:endParaRPr lang="en-US" dirty="0"/>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Resources</a:t>
            </a:r>
            <a:r>
              <a:rPr lang="en-US" sz="1200" dirty="0">
                <a:solidFill>
                  <a:schemeClr val="dk1"/>
                </a:solidFill>
                <a:latin typeface="Arial"/>
                <a:ea typeface="Arial"/>
                <a:cs typeface="Arial"/>
                <a:sym typeface="Arial"/>
              </a:rPr>
              <a:t>:</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1709624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dirty="0">
                <a:solidFill>
                  <a:schemeClr val="dk1"/>
                </a:solidFill>
                <a:latin typeface="Arial"/>
                <a:ea typeface="Arial"/>
                <a:cs typeface="Arial"/>
                <a:sym typeface="Arial"/>
              </a:rPr>
              <a:t>Key Message</a:t>
            </a:r>
            <a:r>
              <a:rPr lang="en-US" sz="1200" dirty="0">
                <a:solidFill>
                  <a:schemeClr val="dk1"/>
                </a:solidFill>
                <a:latin typeface="Arial"/>
                <a:ea typeface="Arial"/>
                <a:cs typeface="Arial"/>
                <a:sym typeface="Arial"/>
              </a:rPr>
              <a:t>:</a:t>
            </a:r>
            <a:endParaRPr lang="en-US" dirty="0"/>
          </a:p>
          <a:p>
            <a:pPr marL="0" marR="0" lvl="0" indent="0" algn="l" rtl="0">
              <a:lnSpc>
                <a:spcPct val="100000"/>
              </a:lnSpc>
              <a:spcBef>
                <a:spcPts val="0"/>
              </a:spcBef>
              <a:spcAft>
                <a:spcPts val="0"/>
              </a:spcAft>
              <a:buClr>
                <a:schemeClr val="dk1"/>
              </a:buClr>
              <a:buSzPts val="1200"/>
              <a:buFont typeface="Arial"/>
              <a:buNone/>
            </a:pPr>
            <a:r>
              <a:rPr lang="en-GB" sz="1800" b="0" i="0" u="none" strike="noStrike" dirty="0">
                <a:solidFill>
                  <a:srgbClr val="172B4D"/>
                </a:solidFill>
                <a:effectLst/>
                <a:latin typeface="Arial" panose="020B0604020202020204" pitchFamily="34" charset="0"/>
              </a:rPr>
              <a:t>A Secret Store is a centralized solution for managing, accessing, and securing secrets used by various workloads and applications.</a:t>
            </a:r>
          </a:p>
          <a:p>
            <a:pPr marL="0" marR="0" lvl="0" indent="0" algn="l" rtl="0">
              <a:lnSpc>
                <a:spcPct val="100000"/>
              </a:lnSpc>
              <a:spcBef>
                <a:spcPts val="0"/>
              </a:spcBef>
              <a:spcAft>
                <a:spcPts val="0"/>
              </a:spcAft>
              <a:buClr>
                <a:schemeClr val="dk1"/>
              </a:buClr>
              <a:buSzPts val="1200"/>
              <a:buFont typeface="Arial"/>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r>
              <a:rPr lang="en-US" sz="1200" dirty="0">
                <a:solidFill>
                  <a:schemeClr val="dk1"/>
                </a:solidFill>
                <a:latin typeface="Arial"/>
                <a:ea typeface="Arial"/>
                <a:cs typeface="Arial"/>
                <a:sym typeface="Arial"/>
              </a:rPr>
              <a:t>:</a:t>
            </a:r>
          </a:p>
          <a:p>
            <a:pPr marL="0" marR="0" lvl="0" indent="0" algn="l" rtl="0">
              <a:lnSpc>
                <a:spcPct val="100000"/>
              </a:lnSpc>
              <a:spcBef>
                <a:spcPts val="0"/>
              </a:spcBef>
              <a:spcAft>
                <a:spcPts val="0"/>
              </a:spcAft>
              <a:buClr>
                <a:schemeClr val="dk1"/>
              </a:buClr>
              <a:buSzPts val="1200"/>
              <a:buFont typeface="Arial"/>
              <a:buNone/>
            </a:pPr>
            <a:r>
              <a:rPr lang="en-GB" sz="1800" b="0" i="0" u="none" strike="noStrike" dirty="0">
                <a:solidFill>
                  <a:srgbClr val="172B4D"/>
                </a:solidFill>
                <a:effectLst/>
                <a:latin typeface="Arial" panose="020B0604020202020204" pitchFamily="34" charset="0"/>
              </a:rPr>
              <a:t>A Secret Store allows VI Admins and DevOps engineers to securely access and manage secrets with scoped permissions. Secrets can be created in the UI or using CLI, and are injected using annotations.</a:t>
            </a:r>
            <a:endParaRPr lang="en-US" dirty="0"/>
          </a:p>
          <a:p>
            <a:pPr marL="0" marR="0" lvl="0" indent="0" algn="l" rtl="0">
              <a:lnSpc>
                <a:spcPct val="100000"/>
              </a:lnSpc>
              <a:spcBef>
                <a:spcPts val="0"/>
              </a:spcBef>
              <a:spcAft>
                <a:spcPts val="0"/>
              </a:spcAft>
              <a:buClr>
                <a:schemeClr val="dk1"/>
              </a:buClr>
              <a:buSzPts val="12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100000"/>
              </a:lnSpc>
              <a:spcBef>
                <a:spcPts val="0"/>
              </a:spcBef>
              <a:spcAft>
                <a:spcPts val="0"/>
              </a:spcAft>
              <a:buNone/>
            </a:pPr>
            <a:r>
              <a:rPr lang="en-US" sz="1200" b="1" u="none" strike="noStrike" dirty="0">
                <a:solidFill>
                  <a:schemeClr val="dk1"/>
                </a:solidFill>
                <a:latin typeface="Arial"/>
                <a:ea typeface="Arial"/>
                <a:cs typeface="Arial"/>
                <a:sym typeface="Arial"/>
              </a:rPr>
              <a:t>Notes</a:t>
            </a:r>
            <a:r>
              <a:rPr lang="en-US" sz="1200" u="none" strike="noStrike" dirty="0">
                <a:solidFill>
                  <a:schemeClr val="dk1"/>
                </a:solidFill>
                <a:latin typeface="Arial"/>
                <a:ea typeface="Arial"/>
                <a:cs typeface="Arial"/>
                <a:sym typeface="Arial"/>
              </a:rPr>
              <a:t>:</a:t>
            </a:r>
          </a:p>
          <a:p>
            <a:pPr marL="0" lvl="0" indent="0" algn="l" rtl="0">
              <a:lnSpc>
                <a:spcPct val="100000"/>
              </a:lnSpc>
              <a:spcBef>
                <a:spcPts val="0"/>
              </a:spcBef>
              <a:spcAft>
                <a:spcPts val="0"/>
              </a:spcAft>
              <a:buNone/>
            </a:pPr>
            <a:r>
              <a:rPr lang="en-GB" sz="1800" b="0" i="0" u="none" strike="noStrike" dirty="0">
                <a:solidFill>
                  <a:srgbClr val="172B4D"/>
                </a:solidFill>
                <a:effectLst/>
                <a:latin typeface="Roboto" panose="02000000000000000000" pitchFamily="2" charset="0"/>
              </a:rPr>
              <a:t>Secret Store is backed by OpenBao.</a:t>
            </a:r>
          </a:p>
          <a:p>
            <a:pPr marL="0" lvl="0" indent="0" algn="l" rtl="0">
              <a:lnSpc>
                <a:spcPct val="100000"/>
              </a:lnSpc>
              <a:spcBef>
                <a:spcPts val="0"/>
              </a:spcBef>
              <a:spcAft>
                <a:spcPts val="0"/>
              </a:spcAft>
              <a:buNone/>
            </a:pPr>
            <a:r>
              <a:rPr lang="en-GB" sz="1800" b="0" i="0" u="none" strike="noStrike" kern="1200" dirty="0">
                <a:solidFill>
                  <a:srgbClr val="172B4D"/>
                </a:solidFill>
                <a:effectLst/>
                <a:latin typeface="Roboto" panose="02000000000000000000" pitchFamily="2" charset="0"/>
                <a:ea typeface="+mn-ea"/>
                <a:cs typeface="+mn-cs"/>
              </a:rPr>
              <a:t>Kubernetes Pods: Inject secrets via a side-car container on each Kubernetes pod with </a:t>
            </a:r>
            <a:r>
              <a:rPr lang="en-GB" sz="1800" b="0" i="0" u="none" strike="noStrike" kern="1200" dirty="0">
                <a:solidFill>
                  <a:srgbClr val="172B4D"/>
                </a:solidFill>
                <a:effectLst/>
                <a:latin typeface="Roboto" panose="02000000000000000000" pitchFamily="2" charset="0"/>
                <a:ea typeface="+mn-ea"/>
                <a:cs typeface="+mn-cs"/>
                <a:hlinkClick r:id="rId3">
                  <a:extLst>
                    <a:ext uri="{A12FA001-AC4F-418D-AE19-62706E023703}">
                      <ahyp:hlinkClr xmlns:ahyp="http://schemas.microsoft.com/office/drawing/2018/hyperlinkcolor" val="tx"/>
                    </a:ext>
                  </a:extLst>
                </a:hlinkClick>
              </a:rPr>
              <a:t>agent-inject annotations</a:t>
            </a:r>
            <a:endParaRPr lang="en-GB" sz="1800" b="0" i="0" u="none" strike="noStrike" kern="1200" dirty="0">
              <a:solidFill>
                <a:srgbClr val="172B4D"/>
              </a:solidFill>
              <a:effectLst/>
              <a:latin typeface="Roboto" panose="02000000000000000000" pitchFamily="2" charset="0"/>
              <a:ea typeface="+mn-ea"/>
              <a:cs typeface="+mn-cs"/>
            </a:endParaRPr>
          </a:p>
          <a:p>
            <a:pPr marL="0" lvl="0" indent="0" algn="l" rtl="0">
              <a:lnSpc>
                <a:spcPct val="100000"/>
              </a:lnSpc>
              <a:spcBef>
                <a:spcPts val="0"/>
              </a:spcBef>
              <a:spcAft>
                <a:spcPts val="0"/>
              </a:spcAft>
              <a:buNone/>
            </a:pPr>
            <a:r>
              <a:rPr lang="en-GB" sz="1800" b="0" i="0" u="none" strike="noStrike" kern="1200" dirty="0">
                <a:solidFill>
                  <a:srgbClr val="172B4D"/>
                </a:solidFill>
                <a:effectLst/>
                <a:latin typeface="Roboto" panose="02000000000000000000" pitchFamily="2" charset="0"/>
                <a:ea typeface="+mn-ea"/>
                <a:cs typeface="+mn-cs"/>
              </a:rPr>
              <a:t>vSphere Pods: Injects secrets via a side-car container on each pod with </a:t>
            </a:r>
            <a:r>
              <a:rPr lang="en-GB" sz="1800" b="0" i="0" u="none" strike="noStrike" kern="1200" dirty="0">
                <a:solidFill>
                  <a:srgbClr val="172B4D"/>
                </a:solidFill>
                <a:effectLst/>
                <a:latin typeface="Roboto" panose="02000000000000000000" pitchFamily="2" charset="0"/>
                <a:ea typeface="+mn-ea"/>
                <a:cs typeface="+mn-cs"/>
                <a:hlinkClick r:id="rId4">
                  <a:extLst>
                    <a:ext uri="{A12FA001-AC4F-418D-AE19-62706E023703}">
                      <ahyp:hlinkClr xmlns:ahyp="http://schemas.microsoft.com/office/drawing/2018/hyperlinkcolor" val="tx"/>
                    </a:ext>
                  </a:extLst>
                </a:hlinkClick>
              </a:rPr>
              <a:t>agent-inject annotations</a:t>
            </a:r>
            <a:endParaRPr lang="en-GB" sz="1800" b="0" i="0" u="none" strike="noStrike" kern="1200" dirty="0">
              <a:solidFill>
                <a:srgbClr val="172B4D"/>
              </a:solidFill>
              <a:effectLst/>
              <a:latin typeface="Roboto" panose="02000000000000000000" pitchFamily="2" charset="0"/>
              <a:ea typeface="+mn-ea"/>
              <a:cs typeface="+mn-cs"/>
            </a:endParaRPr>
          </a:p>
          <a:p>
            <a:pPr marL="0" lvl="0" indent="0" algn="l" rtl="0">
              <a:lnSpc>
                <a:spcPct val="100000"/>
              </a:lnSpc>
              <a:spcBef>
                <a:spcPts val="0"/>
              </a:spcBef>
              <a:spcAft>
                <a:spcPts val="0"/>
              </a:spcAft>
              <a:buNone/>
            </a:pPr>
            <a:r>
              <a:rPr lang="en-GB" sz="1800" b="0" i="0" u="none" strike="noStrike" kern="1200" dirty="0">
                <a:solidFill>
                  <a:srgbClr val="172B4D"/>
                </a:solidFill>
                <a:effectLst/>
                <a:latin typeface="Roboto" panose="02000000000000000000" pitchFamily="2" charset="0"/>
                <a:ea typeface="+mn-ea"/>
                <a:cs typeface="+mn-cs"/>
              </a:rPr>
              <a:t>VM Service VMs: Injects secrets by creating a </a:t>
            </a:r>
            <a:r>
              <a:rPr lang="en-GB" sz="1800" b="0" i="0" u="none" strike="noStrike" kern="1200" dirty="0">
                <a:solidFill>
                  <a:srgbClr val="172B4D"/>
                </a:solidFill>
                <a:effectLst/>
                <a:latin typeface="Roboto" panose="02000000000000000000" pitchFamily="2" charset="0"/>
                <a:ea typeface="+mn-ea"/>
                <a:cs typeface="+mn-cs"/>
                <a:hlinkClick r:id="rId5">
                  <a:extLst>
                    <a:ext uri="{A12FA001-AC4F-418D-AE19-62706E023703}">
                      <ahyp:hlinkClr xmlns:ahyp="http://schemas.microsoft.com/office/drawing/2018/hyperlinkcolor" val="tx"/>
                    </a:ext>
                  </a:extLst>
                </a:hlinkClick>
              </a:rPr>
              <a:t>PVC with secrets</a:t>
            </a:r>
            <a:r>
              <a:rPr lang="en-GB" sz="1800" b="0" i="0" u="none" strike="noStrike" kern="1200" dirty="0">
                <a:solidFill>
                  <a:srgbClr val="172B4D"/>
                </a:solidFill>
                <a:effectLst/>
                <a:latin typeface="Roboto" panose="02000000000000000000" pitchFamily="2" charset="0"/>
                <a:ea typeface="+mn-ea"/>
                <a:cs typeface="+mn-cs"/>
              </a:rPr>
              <a:t> that are available at the time of creation and PVC is attached to VM. This also needs the same </a:t>
            </a:r>
            <a:r>
              <a:rPr lang="en-GB" sz="1800" b="0" i="0" u="none" strike="noStrike" kern="1200" dirty="0">
                <a:solidFill>
                  <a:srgbClr val="172B4D"/>
                </a:solidFill>
                <a:effectLst/>
                <a:latin typeface="Roboto" panose="02000000000000000000" pitchFamily="2" charset="0"/>
                <a:ea typeface="+mn-ea"/>
                <a:cs typeface="+mn-cs"/>
                <a:hlinkClick r:id="rId3">
                  <a:extLst>
                    <a:ext uri="{A12FA001-AC4F-418D-AE19-62706E023703}">
                      <ahyp:hlinkClr xmlns:ahyp="http://schemas.microsoft.com/office/drawing/2018/hyperlinkcolor" val="tx"/>
                    </a:ext>
                  </a:extLst>
                </a:hlinkClick>
              </a:rPr>
              <a:t>agent-inject annotations</a:t>
            </a:r>
            <a:r>
              <a:rPr lang="en-GB" sz="1800" b="0" i="0" u="none" strike="noStrike" kern="1200" dirty="0">
                <a:solidFill>
                  <a:srgbClr val="172B4D"/>
                </a:solidFill>
                <a:effectLst/>
                <a:latin typeface="Roboto" panose="02000000000000000000" pitchFamily="2" charset="0"/>
                <a:ea typeface="+mn-ea"/>
                <a:cs typeface="+mn-cs"/>
              </a:rPr>
              <a:t>. Windows not supported.</a:t>
            </a:r>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Resources</a:t>
            </a:r>
            <a:r>
              <a:rPr lang="en-US" sz="1200" dirty="0">
                <a:solidFill>
                  <a:schemeClr val="dk1"/>
                </a:solidFill>
                <a:latin typeface="Arial"/>
                <a:ea typeface="Arial"/>
                <a:cs typeface="Arial"/>
                <a:sym typeface="Arial"/>
              </a:rPr>
              <a:t>:</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3772088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dirty="0">
                <a:solidFill>
                  <a:schemeClr val="dk1"/>
                </a:solidFill>
                <a:latin typeface="Arial"/>
                <a:ea typeface="Arial"/>
                <a:cs typeface="Arial"/>
                <a:sym typeface="Arial"/>
              </a:rPr>
              <a:t>Key Message</a:t>
            </a:r>
            <a:r>
              <a:rPr lang="en-US" sz="1200" dirty="0">
                <a:solidFill>
                  <a:schemeClr val="dk1"/>
                </a:solidFill>
                <a:latin typeface="Arial"/>
                <a:ea typeface="Arial"/>
                <a:cs typeface="Arial"/>
                <a:sym typeface="Arial"/>
              </a:rPr>
              <a:t>:</a:t>
            </a:r>
            <a:endParaRPr lang="en-US" dirty="0"/>
          </a:p>
          <a:p>
            <a:pPr marL="0" marR="0" lvl="0" indent="0" algn="l" rtl="0">
              <a:lnSpc>
                <a:spcPct val="100000"/>
              </a:lnSpc>
              <a:spcBef>
                <a:spcPts val="0"/>
              </a:spcBef>
              <a:spcAft>
                <a:spcPts val="0"/>
              </a:spcAft>
              <a:buClr>
                <a:schemeClr val="dk1"/>
              </a:buClr>
              <a:buSzPts val="1200"/>
              <a:buFont typeface="Arial"/>
              <a:buNone/>
            </a:pPr>
            <a:r>
              <a:rPr lang="en-US" sz="1200" dirty="0">
                <a:solidFill>
                  <a:schemeClr val="dk1"/>
                </a:solidFill>
                <a:latin typeface="Arial"/>
                <a:cs typeface="Arial"/>
                <a:sym typeface="Arial"/>
              </a:rPr>
              <a:t>Customers can </a:t>
            </a:r>
            <a:r>
              <a:rPr lang="en-GB" sz="1200" dirty="0">
                <a:solidFill>
                  <a:schemeClr val="dk1"/>
                </a:solidFill>
                <a:latin typeface="Arial"/>
                <a:cs typeface="Arial"/>
                <a:sym typeface="Arial"/>
              </a:rPr>
              <a:t>now create dedicated workload zones separated from management.</a:t>
            </a:r>
          </a:p>
          <a:p>
            <a:pPr marL="0" marR="0" lvl="0" indent="0" algn="l" rtl="0">
              <a:lnSpc>
                <a:spcPct val="100000"/>
              </a:lnSpc>
              <a:spcBef>
                <a:spcPts val="0"/>
              </a:spcBef>
              <a:spcAft>
                <a:spcPts val="0"/>
              </a:spcAft>
              <a:buClr>
                <a:schemeClr val="dk1"/>
              </a:buClr>
              <a:buSzPts val="1200"/>
              <a:buFont typeface="Arial"/>
              <a:buNone/>
            </a:pPr>
            <a:endParaRPr lang="en-IE" sz="120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b="1" dirty="0">
                <a:solidFill>
                  <a:schemeClr val="tx1"/>
                </a:solidFill>
                <a:latin typeface="+mn-lt"/>
              </a:rPr>
              <a:t>Talk Track</a:t>
            </a:r>
            <a:r>
              <a:rPr lang="en-IE" sz="1200" dirty="0">
                <a:solidFill>
                  <a:schemeClr val="tx1"/>
                </a:solidFill>
                <a:latin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u="none" strike="noStrike" dirty="0">
                <a:solidFill>
                  <a:schemeClr val="tx1"/>
                </a:solidFill>
                <a:effectLst/>
                <a:latin typeface="+mn-lt"/>
              </a:rPr>
              <a:t>Customers can now easily increase Supervisor Additional vSphere Zones can easily be added to Supervisor capacity. You do not need to deploy Supervisor control plane VMs on each cluster - although that option is still available to you. Additional vSphere clusters are added as a vSphere Zone to the Supervisor.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E" sz="1200" b="0" i="0" u="none" strike="noStrike"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b="0" i="0" u="none" strike="noStrike" dirty="0">
                <a:solidFill>
                  <a:schemeClr val="tx1"/>
                </a:solidFill>
                <a:effectLst/>
                <a:latin typeface="+mn-lt"/>
              </a:rPr>
              <a:t>This also allows for the Supervisor control plane VMs to be segregated from workload VMs and vSphere Kubernetes clusters on separate vSphere clusters / vSphere Zones.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E" sz="1200" b="0" i="0" u="none" strike="noStrike"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b="0" i="0" u="none" strike="noStrike" dirty="0">
                <a:solidFill>
                  <a:schemeClr val="tx1"/>
                </a:solidFill>
                <a:effectLst/>
                <a:latin typeface="+mn-lt"/>
              </a:rPr>
              <a:t>vSphere namespaces can be created to span one or more vSphere clusters / vSphere Zones.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E" sz="1200" u="none" strike="noStrike" dirty="0">
              <a:solidFill>
                <a:schemeClr val="tx1"/>
              </a:solidFill>
              <a:effectLst/>
              <a:latin typeface="+mn-lt"/>
            </a:endParaRPr>
          </a:p>
          <a:p>
            <a:pPr rtl="0">
              <a:lnSpc>
                <a:spcPct val="100000"/>
              </a:lnSpc>
              <a:spcBef>
                <a:spcPts val="0"/>
              </a:spcBef>
              <a:spcAft>
                <a:spcPts val="0"/>
              </a:spcAft>
            </a:pPr>
            <a:r>
              <a:rPr lang="en-IE" sz="1200" b="1" u="none" strike="noStrike" dirty="0">
                <a:solidFill>
                  <a:schemeClr val="tx1"/>
                </a:solidFill>
                <a:effectLst/>
                <a:latin typeface="+mn-lt"/>
              </a:rPr>
              <a:t>Notes</a:t>
            </a:r>
            <a:r>
              <a:rPr lang="en-IE" sz="1200" u="none" strike="noStrike" dirty="0">
                <a:solidFill>
                  <a:schemeClr val="tx1"/>
                </a:solidFill>
                <a:effectLst/>
                <a:latin typeface="+mn-lt"/>
              </a:rPr>
              <a:t>: </a:t>
            </a:r>
          </a:p>
          <a:p>
            <a:pPr rtl="0">
              <a:lnSpc>
                <a:spcPct val="100000"/>
              </a:lnSpc>
              <a:spcBef>
                <a:spcPts val="0"/>
              </a:spcBef>
              <a:spcAft>
                <a:spcPts val="0"/>
              </a:spcAft>
            </a:pPr>
            <a:r>
              <a:rPr lang="en-IE" sz="1200" u="none" strike="noStrike" dirty="0">
                <a:solidFill>
                  <a:schemeClr val="tx1"/>
                </a:solidFill>
                <a:effectLst/>
                <a:latin typeface="+mn-lt"/>
              </a:rPr>
              <a:t>The first zone created during Supervisor enablement will be marked as Management.</a:t>
            </a:r>
          </a:p>
          <a:p>
            <a:pPr rtl="0">
              <a:lnSpc>
                <a:spcPct val="100000"/>
              </a:lnSpc>
              <a:spcBef>
                <a:spcPts val="0"/>
              </a:spcBef>
              <a:spcAft>
                <a:spcPts val="0"/>
              </a:spcAft>
            </a:pPr>
            <a:br>
              <a:rPr lang="en-IE" sz="1200" dirty="0">
                <a:solidFill>
                  <a:schemeClr val="tx1"/>
                </a:solidFill>
                <a:latin typeface="+mn-lt"/>
              </a:rPr>
            </a:br>
            <a:r>
              <a:rPr lang="en-IE" sz="1200" b="1" dirty="0">
                <a:solidFill>
                  <a:schemeClr val="tx1"/>
                </a:solidFill>
                <a:latin typeface="+mn-lt"/>
              </a:rPr>
              <a:t>Resources</a:t>
            </a:r>
            <a:r>
              <a:rPr lang="en-IE" sz="1200" dirty="0">
                <a:solidFill>
                  <a:schemeClr val="tx1"/>
                </a:solidFill>
                <a:latin typeface="+mn-lt"/>
              </a:rPr>
              <a:t>:</a:t>
            </a:r>
          </a:p>
          <a:p>
            <a:pPr>
              <a:lnSpc>
                <a:spcPct val="100000"/>
              </a:lnSpc>
            </a:pPr>
            <a:endParaRPr lang="en-US" sz="1200" dirty="0">
              <a:solidFill>
                <a:schemeClr val="tx1"/>
              </a:solidFill>
              <a:latin typeface="+mn-lt"/>
            </a:endParaRPr>
          </a:p>
          <a:p>
            <a:pPr>
              <a:lnSpc>
                <a:spcPct val="100000"/>
              </a:lnSpc>
            </a:pPr>
            <a:endParaRPr lang="en-US" sz="1200" dirty="0">
              <a:solidFill>
                <a:schemeClr val="tx1"/>
              </a:solidFill>
              <a:latin typeface="+mn-lt"/>
            </a:endParaRPr>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3931527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dirty="0">
                <a:solidFill>
                  <a:schemeClr val="dk1"/>
                </a:solidFill>
                <a:latin typeface="Arial"/>
                <a:ea typeface="Arial"/>
                <a:cs typeface="Arial"/>
                <a:sym typeface="Arial"/>
              </a:rPr>
              <a:t>Key Message</a:t>
            </a:r>
            <a:r>
              <a:rPr lang="en-US" sz="1200" dirty="0">
                <a:solidFill>
                  <a:schemeClr val="dk1"/>
                </a:solidFill>
                <a:latin typeface="Arial"/>
                <a:ea typeface="Arial"/>
                <a:cs typeface="Arial"/>
                <a:sym typeface="Aria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Neue" panose="02000503000000020004" pitchFamily="2" charset="0"/>
              </a:rPr>
              <a:t>VI Admins can delegate permissions to Platform Operators to allow them to perform Supervisor management tasks</a:t>
            </a:r>
          </a:p>
          <a:p>
            <a:pPr marL="0" marR="0" lvl="0" indent="0" algn="l" rtl="0">
              <a:lnSpc>
                <a:spcPct val="100000"/>
              </a:lnSpc>
              <a:spcBef>
                <a:spcPts val="0"/>
              </a:spcBef>
              <a:spcAft>
                <a:spcPts val="0"/>
              </a:spcAft>
              <a:buClr>
                <a:schemeClr val="dk1"/>
              </a:buClr>
              <a:buSzPts val="1200"/>
              <a:buFont typeface="Arial"/>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r>
              <a:rPr lang="en-US" sz="1200" dirty="0">
                <a:solidFill>
                  <a:schemeClr val="dk1"/>
                </a:solidFill>
                <a:latin typeface="Arial"/>
                <a:ea typeface="Arial"/>
                <a:cs typeface="Arial"/>
                <a:sym typeface="Aria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Helvetica Neue" panose="02000503000000020004" pitchFamily="2" charset="0"/>
              </a:rPr>
              <a:t>Because administration of a Supervisor and its services involves a combination of vCenter and Supervisor cluster privileges, it was challenging to delegate Supervisor specific responsibilities to on VI Admin users.   Now the Supervisor honors VC permissions, enabling the VI Admin to assign the Supervisor Administrator Role to users.   This means that corresponding Kubernetes Roles are created to map to the VC permissions.  Supervisor Administrators can do things like configuring Namespaces - setting limits, adding reservations, handling access control, or managing storage policies- without full administrative access.  The administrator Role extends beyond an individual Supervisor and allows configuration of the Supervisor and its supporting services.</a:t>
            </a:r>
          </a:p>
          <a:p>
            <a:pPr marL="0" marR="0" lvl="0" indent="0" algn="l" rtl="0">
              <a:lnSpc>
                <a:spcPct val="100000"/>
              </a:lnSpc>
              <a:spcBef>
                <a:spcPts val="0"/>
              </a:spcBef>
              <a:spcAft>
                <a:spcPts val="0"/>
              </a:spcAft>
              <a:buClr>
                <a:schemeClr val="dk1"/>
              </a:buClr>
              <a:buSzPts val="12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100000"/>
              </a:lnSpc>
              <a:spcBef>
                <a:spcPts val="0"/>
              </a:spcBef>
              <a:spcAft>
                <a:spcPts val="0"/>
              </a:spcAft>
              <a:buNone/>
            </a:pPr>
            <a:r>
              <a:rPr lang="en-US" sz="1200" b="1" u="none" strike="noStrike" dirty="0">
                <a:solidFill>
                  <a:schemeClr val="dk1"/>
                </a:solidFill>
                <a:latin typeface="Arial"/>
                <a:ea typeface="Arial"/>
                <a:cs typeface="Arial"/>
                <a:sym typeface="Arial"/>
              </a:rPr>
              <a:t>Notes</a:t>
            </a:r>
            <a:r>
              <a:rPr lang="en-US" sz="1200" u="none" strike="noStrike" dirty="0">
                <a:solidFill>
                  <a:schemeClr val="dk1"/>
                </a:solidFill>
                <a:latin typeface="Arial"/>
                <a:ea typeface="Arial"/>
                <a:cs typeface="Arial"/>
                <a:sym typeface="Arial"/>
              </a:rPr>
              <a:t>:</a:t>
            </a:r>
            <a:endParaRPr lang="en-US" dirty="0"/>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Resources</a:t>
            </a:r>
            <a:r>
              <a:rPr lang="en-US" sz="1200" dirty="0">
                <a:solidFill>
                  <a:schemeClr val="dk1"/>
                </a:solidFill>
                <a:latin typeface="Arial"/>
                <a:ea typeface="Arial"/>
                <a:cs typeface="Arial"/>
                <a:sym typeface="Arial"/>
              </a:rPr>
              <a:t>:</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3307622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8"/>
        <p:cNvGrpSpPr/>
        <p:nvPr/>
      </p:nvGrpSpPr>
      <p:grpSpPr>
        <a:xfrm>
          <a:off x="0" y="0"/>
          <a:ext cx="0" cy="0"/>
          <a:chOff x="0" y="0"/>
          <a:chExt cx="0" cy="0"/>
        </a:xfrm>
      </p:grpSpPr>
      <p:sp>
        <p:nvSpPr>
          <p:cNvPr id="5109" name="Google Shape;5109;p2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0" name="Google Shape;5110;p2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dirty="0">
                <a:solidFill>
                  <a:schemeClr val="dk1"/>
                </a:solidFill>
                <a:latin typeface="Arial"/>
                <a:ea typeface="Arial"/>
                <a:cs typeface="Arial"/>
                <a:sym typeface="Arial"/>
              </a:rPr>
              <a:t>Key Message</a:t>
            </a:r>
            <a:r>
              <a:rPr lang="en-US" sz="12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chemeClr val="dk1"/>
              </a:buClr>
              <a:buSzPts val="1200"/>
              <a:buFont typeface="Arial"/>
              <a:buNone/>
            </a:pPr>
            <a:r>
              <a:rPr lang="en-US" sz="1200" u="none" strike="noStrike" dirty="0">
                <a:solidFill>
                  <a:schemeClr val="dk1"/>
                </a:solidFill>
                <a:latin typeface="Arial"/>
                <a:ea typeface="Arial"/>
                <a:cs typeface="Arial"/>
                <a:sym typeface="Arial"/>
              </a:rPr>
              <a:t>In vSphere 9, Supervisor releases are decoupled from vCenter. Supervisor clusters can be patched/updated independently of vCenter. This allows more rapid delivery of new Supervisor versions and functionality.</a:t>
            </a:r>
            <a:endParaRPr dirty="0"/>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r>
              <a:rPr lang="en-US" sz="12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chemeClr val="dk1"/>
              </a:buClr>
              <a:buSzPts val="1200"/>
              <a:buFont typeface="Arial"/>
              <a:buNone/>
            </a:pPr>
            <a:r>
              <a:rPr lang="en-US" sz="1200" u="none" strike="noStrike" dirty="0">
                <a:solidFill>
                  <a:schemeClr val="dk1"/>
                </a:solidFill>
                <a:latin typeface="Arial"/>
                <a:ea typeface="Arial"/>
                <a:cs typeface="Arial"/>
                <a:sym typeface="Arial"/>
              </a:rPr>
              <a:t>In vSphere 8, Supervisor releases are delivered via vCenter patches and/or updates. In vSphere 9, Supervisor releases are decoupled from vCenter. Supervisor clusters can be patched/updated independently of vCenter. This allows more rapid delivery of new Supervisor releases and functionality.</a:t>
            </a:r>
            <a:endParaRPr dirty="0"/>
          </a:p>
          <a:p>
            <a:pPr marL="0" marR="0" lvl="0" indent="0" algn="l" rtl="0">
              <a:lnSpc>
                <a:spcPct val="100000"/>
              </a:lnSpc>
              <a:spcBef>
                <a:spcPts val="600"/>
              </a:spcBef>
              <a:spcAft>
                <a:spcPts val="0"/>
              </a:spcAft>
              <a:buClr>
                <a:schemeClr val="dk1"/>
              </a:buClr>
              <a:buSzPts val="1200"/>
              <a:buFont typeface="Arial"/>
              <a:buNone/>
            </a:pPr>
            <a:endParaRPr sz="1200" u="none" strike="noStrike" dirty="0">
              <a:solidFill>
                <a:schemeClr val="dk1"/>
              </a:solidFill>
              <a:latin typeface="Arial"/>
              <a:ea typeface="Arial"/>
              <a:cs typeface="Arial"/>
              <a:sym typeface="Arial"/>
            </a:endParaRPr>
          </a:p>
          <a:p>
            <a:pPr marL="0" lvl="0" indent="0" algn="l" rtl="0">
              <a:lnSpc>
                <a:spcPct val="100000"/>
              </a:lnSpc>
              <a:spcBef>
                <a:spcPts val="0"/>
              </a:spcBef>
              <a:spcAft>
                <a:spcPts val="0"/>
              </a:spcAft>
              <a:buNone/>
            </a:pPr>
            <a:r>
              <a:rPr lang="en-US" sz="1200" b="1" u="none" strike="noStrike" dirty="0">
                <a:solidFill>
                  <a:schemeClr val="dk1"/>
                </a:solidFill>
                <a:latin typeface="Arial"/>
                <a:ea typeface="Arial"/>
                <a:cs typeface="Arial"/>
                <a:sym typeface="Arial"/>
              </a:rPr>
              <a:t>Notes</a:t>
            </a:r>
            <a:r>
              <a:rPr lang="en-US" sz="1200" u="none" strike="noStrike" dirty="0">
                <a:solidFill>
                  <a:schemeClr val="dk1"/>
                </a:solidFill>
                <a:latin typeface="Arial"/>
                <a:ea typeface="Arial"/>
                <a:cs typeface="Arial"/>
                <a:sym typeface="Arial"/>
              </a:rPr>
              <a:t>:</a:t>
            </a:r>
            <a:endParaRPr dirty="0"/>
          </a:p>
          <a:p>
            <a:pPr marL="0" lvl="0" indent="0" algn="l" rtl="0">
              <a:lnSpc>
                <a:spcPct val="100000"/>
              </a:lnSpc>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Resources</a:t>
            </a:r>
            <a:r>
              <a:rPr lang="en-US" sz="1200" dirty="0">
                <a:solidFill>
                  <a:schemeClr val="dk1"/>
                </a:solidFill>
                <a:latin typeface="Arial"/>
                <a:ea typeface="Arial"/>
                <a:cs typeface="Arial"/>
                <a:sym typeface="Arial"/>
              </a:rPr>
              <a:t>:</a:t>
            </a:r>
            <a:endParaRPr dirty="0"/>
          </a:p>
        </p:txBody>
      </p:sp>
      <p:sp>
        <p:nvSpPr>
          <p:cNvPr id="5111" name="Google Shape;5111;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dirty="0">
              <a:ln>
                <a:noFill/>
              </a:ln>
              <a:solidFill>
                <a:srgbClr val="717074"/>
              </a:solidFill>
              <a:effectLst/>
              <a:uLnTx/>
              <a:uFillTx/>
              <a:latin typeface="Arial"/>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b="1" dirty="0">
                <a:latin typeface="Metropolis"/>
              </a:rPr>
              <a:t>Presenter Note – this slide includes animation</a:t>
            </a:r>
            <a:endParaRPr lang="en-US" dirty="0"/>
          </a:p>
          <a:p>
            <a:endParaRPr lang="en-US" b="1" dirty="0">
              <a:latin typeface="Metropolis"/>
            </a:endParaRPr>
          </a:p>
          <a:p>
            <a:r>
              <a:rPr lang="en-US" b="1" dirty="0">
                <a:latin typeface="Metropolis"/>
              </a:rPr>
              <a:t>Key Message:</a:t>
            </a:r>
            <a:endParaRPr lang="en-US" dirty="0"/>
          </a:p>
          <a:p>
            <a:r>
              <a:rPr lang="en-US" dirty="0">
                <a:latin typeface="Metropolis"/>
              </a:rPr>
              <a:t>Introducing the key components to VMware Cloud Foundation with Tanzu.</a:t>
            </a:r>
          </a:p>
          <a:p>
            <a:endParaRPr lang="en-US" dirty="0">
              <a:latin typeface="Metropolis"/>
            </a:endParaRPr>
          </a:p>
          <a:p>
            <a:r>
              <a:rPr lang="en-US" b="1" dirty="0">
                <a:latin typeface="Metropolis"/>
              </a:rPr>
              <a:t>Talk Track:</a:t>
            </a:r>
          </a:p>
          <a:p>
            <a:r>
              <a:rPr lang="en-US" b="0" dirty="0">
                <a:latin typeface="Metropolis"/>
              </a:rPr>
              <a:t>SDDC Manager contains inbuilt workflows for Virtual Infrastructure Admins to enable Kubernetes workload management on any given workload domain.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creates a Kubernetes control plane inside the hypervisor layer of these hosts and contains specifc objects </a:t>
            </a:r>
            <a:r>
              <a:rPr lang="en-AU" b="0" i="0" dirty="0">
                <a:solidFill>
                  <a:srgbClr val="333333"/>
                </a:solidFill>
                <a:effectLst/>
                <a:latin typeface="Metropolis" pitchFamily="2" charset="77"/>
              </a:rPr>
              <a:t>that enable the capability to run Kubernetes workloads within ESXi.</a:t>
            </a:r>
            <a:endParaRPr lang="en-US" dirty="0"/>
          </a:p>
          <a:p>
            <a:endParaRPr lang="en-US" dirty="0"/>
          </a:p>
          <a:p>
            <a:r>
              <a:rPr lang="en-US" dirty="0"/>
              <a:t>The control plane consists of a cluster of three virtual machines which we call the Supervisor cluster.  The “supervisor cluster” is a vSphere cluster where the native Kubernetes functionality provided by vSphere 7 has been enabled.  </a:t>
            </a:r>
          </a:p>
          <a:p>
            <a:endParaRPr lang="en-US" dirty="0"/>
          </a:p>
          <a:p>
            <a:r>
              <a:rPr lang="en-US" b="0" i="0" strike="noStrike" dirty="0">
                <a:solidFill>
                  <a:srgbClr val="333333"/>
                </a:solidFill>
                <a:effectLst/>
                <a:latin typeface="Metropolis"/>
              </a:rPr>
              <a:t>Within a VMware Cloud Foundation deployment, the Supervisor cluster</a:t>
            </a:r>
            <a:r>
              <a:rPr lang="en-AU" b="0" i="0" strike="noStrike" dirty="0">
                <a:solidFill>
                  <a:srgbClr val="333333"/>
                </a:solidFill>
                <a:effectLst/>
                <a:latin typeface="Metropolis"/>
              </a:rPr>
              <a:t> runs on top of an SDDC layer and leverages ESXi for compute, NSX and vSAN or other supported shared storage options.</a:t>
            </a:r>
            <a:endParaRPr lang="en-US" strike="noStrike" dirty="0">
              <a:latin typeface="Metropolis"/>
            </a:endParaRPr>
          </a:p>
          <a:p>
            <a:endParaRPr lang="en-US" dirty="0"/>
          </a:p>
          <a:p>
            <a:r>
              <a:rPr lang="en-US" dirty="0"/>
              <a:t>With Cloud Foundation, container workloads can be deployed directly on the supervisor cluster.  However, it’s important to understand that the K8s version used on the Supervisor cluster is tied to the version of vSphere. </a:t>
            </a:r>
          </a:p>
          <a:p>
            <a:r>
              <a:rPr lang="en-US" dirty="0"/>
              <a:t>The Cluster API and Tanzu Kubernetes Grid (TKG) services are also deployed to the Supervisor Cluster when Kubernetes Workload management is enabled.</a:t>
            </a:r>
          </a:p>
          <a:p>
            <a:endParaRPr lang="en-US" dirty="0"/>
          </a:p>
          <a:p>
            <a:r>
              <a:rPr lang="en-US" dirty="0"/>
              <a:t>&lt;click&gt;</a:t>
            </a:r>
          </a:p>
          <a:p>
            <a:r>
              <a:rPr lang="en-US" dirty="0"/>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dirty="0"/>
          </a:p>
          <a:p>
            <a:r>
              <a:rPr lang="en-US" dirty="0"/>
              <a:t>&lt;click&gt;</a:t>
            </a:r>
          </a:p>
          <a:p>
            <a:r>
              <a:rPr lang="en-US" dirty="0"/>
              <a:t>Developers who wish to choose to run their own distribution of open-source Kubernetes can choose to deploy Tanzu Kubernetes Clusters (TKCs) within a vSphere Namespace rather than using native vSphere pods.  </a:t>
            </a:r>
          </a:p>
          <a:p>
            <a:endParaRPr lang="en-US" dirty="0"/>
          </a:p>
          <a:p>
            <a:r>
              <a:rPr lang="en-US" dirty="0"/>
              <a:t>This is a more common use case and allows Developers to use the “Supervisor Cluster” as a way to bootstrap Kubernetes guest clusters using the </a:t>
            </a:r>
            <a:r>
              <a:rPr lang="en-US" b="1" dirty="0"/>
              <a:t>Tanzu Kubernetes Grid (TKG) Service</a:t>
            </a:r>
            <a:r>
              <a:rPr lang="en-US" dirty="0"/>
              <a:t>.  The Kubernetes guest clusters created by the TKG service are commonly referred to as Tanzu Kubernetes Grid Clusters, or simply TKCs.  With TKCs, Developers can deploy upstream conformant K8s using different K8s versions to a vSphere Namespace.</a:t>
            </a:r>
          </a:p>
          <a:p>
            <a:r>
              <a:rPr lang="en-US" dirty="0"/>
              <a:t>As such, we will focus on the TKC use case and are not calling out the native K8s capabilities.</a:t>
            </a:r>
          </a:p>
          <a:p>
            <a:br>
              <a:rPr lang="en-US" dirty="0"/>
            </a:br>
            <a:r>
              <a:rPr lang="en-US" b="1" dirty="0"/>
              <a:t>Notes:</a:t>
            </a:r>
          </a:p>
          <a:p>
            <a:pPr marL="171450" indent="-171450">
              <a:buFontTx/>
              <a:buChar char="-"/>
            </a:pPr>
            <a:r>
              <a:rPr lang="en-US" dirty="0"/>
              <a:t>Native vSphere Kubernetes Pods are covered separately in a later section: Deploying Kubernetes Workloads – vSphere Pods.</a:t>
            </a:r>
          </a:p>
          <a:p>
            <a:pPr marL="171450" indent="-171450">
              <a:buFontTx/>
              <a:buChar char="-"/>
            </a:pPr>
            <a:r>
              <a:rPr lang="en-US" dirty="0"/>
              <a:t>Each TKC comprises of control plane node VMs (odd number) and one of more worker node VMs for the container workloads to run on.</a:t>
            </a:r>
          </a:p>
          <a:p>
            <a:pPr marL="171450" indent="-171450">
              <a:buFontTx/>
              <a:buChar char="-"/>
            </a:pPr>
            <a:r>
              <a:rPr lang="en-US" dirty="0"/>
              <a:t>A vSphere Namespace is created, configured and managed by the VI Admin.  </a:t>
            </a:r>
          </a:p>
          <a:p>
            <a:pPr marL="171450" indent="-171450">
              <a:buFontTx/>
              <a:buChar char="-"/>
            </a:pPr>
            <a:r>
              <a:rPr lang="en-US" dirty="0"/>
              <a:t>A Kubernetes Namespace </a:t>
            </a:r>
            <a:r>
              <a:rPr lang="en-US" b="1" dirty="0"/>
              <a:t>is different to a vSphere Namespace </a:t>
            </a:r>
            <a:r>
              <a:rPr lang="en-US" dirty="0"/>
              <a:t>and is configured and managed by the developer within a TKC.</a:t>
            </a:r>
          </a:p>
          <a:p>
            <a:endParaRPr lang="en-US" dirty="0">
              <a:latin typeface="Metropolis"/>
            </a:endParaRPr>
          </a:p>
          <a:p>
            <a:r>
              <a:rPr lang="en-US" b="1" dirty="0">
                <a:latin typeface="Metropolis"/>
              </a:rPr>
              <a:t>Resources:</a:t>
            </a:r>
          </a:p>
          <a:p>
            <a:r>
              <a:rPr lang="en-US" dirty="0">
                <a:latin typeface="Metropolis"/>
              </a:rPr>
              <a:t>For further detail on vSphere with Tanzu Architecture please refer to the VMware documentation:</a:t>
            </a:r>
          </a:p>
          <a:p>
            <a:r>
              <a:rPr lang="en-US" dirty="0">
                <a:latin typeface="Metropolis"/>
              </a:rPr>
              <a:t>https://docs.vmware.com/en/VMware-vSphere/7.0/vmware-vsphere-with-tanzu/GUID-3E4E6039-BD24-4C40-8575-5AA0EECBBBEC.html </a:t>
            </a:r>
          </a:p>
          <a:p>
            <a:endParaRPr lang="en-US" dirty="0">
              <a:latin typeface="Metropolis"/>
            </a:endParaRPr>
          </a:p>
          <a:p>
            <a:endParaRPr lang="en-US" dirty="0">
              <a:latin typeface="Metropolis"/>
            </a:endParaRPr>
          </a:p>
          <a:p>
            <a:endParaRPr lang="en-US" dirty="0">
              <a:latin typeface="Metropoli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3142132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CBE09-4FFB-1EBD-C251-5C06A2616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E0860-13DC-579B-EF0B-5A5E5D496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B02D9C-C18B-F93B-1C38-0A3C55E4EAAA}"/>
              </a:ext>
            </a:extLst>
          </p:cNvPr>
          <p:cNvSpPr>
            <a:spLocks noGrp="1"/>
          </p:cNvSpPr>
          <p:nvPr>
            <p:ph type="body" idx="1"/>
          </p:nvPr>
        </p:nvSpPr>
        <p:spPr/>
        <p:txBody>
          <a:bodyPr>
            <a:normAutofit fontScale="70000" lnSpcReduction="20000"/>
          </a:bodyPr>
          <a:lstStyle/>
          <a:p>
            <a:r>
              <a:rPr lang="en-US" b="1" dirty="0">
                <a:latin typeface="Metropolis"/>
              </a:rPr>
              <a:t>Presenter Note – this slide includes animation</a:t>
            </a:r>
            <a:endParaRPr lang="en-US" dirty="0"/>
          </a:p>
          <a:p>
            <a:endParaRPr lang="en-US" b="1" dirty="0">
              <a:latin typeface="Metropolis"/>
            </a:endParaRPr>
          </a:p>
          <a:p>
            <a:r>
              <a:rPr lang="en-US" b="1" dirty="0">
                <a:latin typeface="Metropolis"/>
              </a:rPr>
              <a:t>Key Message:</a:t>
            </a:r>
            <a:endParaRPr lang="en-US" dirty="0"/>
          </a:p>
          <a:p>
            <a:r>
              <a:rPr lang="en-US" dirty="0">
                <a:latin typeface="Metropolis"/>
              </a:rPr>
              <a:t>Introducing the key components to VMware Cloud Foundation with Tanzu.</a:t>
            </a:r>
          </a:p>
          <a:p>
            <a:endParaRPr lang="en-US" dirty="0">
              <a:latin typeface="Metropolis"/>
            </a:endParaRPr>
          </a:p>
          <a:p>
            <a:r>
              <a:rPr lang="en-US" b="1" dirty="0">
                <a:latin typeface="Metropolis"/>
              </a:rPr>
              <a:t>Talk Track:</a:t>
            </a:r>
          </a:p>
          <a:p>
            <a:r>
              <a:rPr lang="en-US" b="0" dirty="0">
                <a:latin typeface="Metropolis"/>
              </a:rPr>
              <a:t>SDDC Manager contains inbuilt workflows for Virtual Infrastructure Admins to enable Kubernetes workload management on any given workload domain.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creates a Kubernetes control plane inside the hypervisor layer of these hosts and contains specifc objects </a:t>
            </a:r>
            <a:r>
              <a:rPr lang="en-AU" b="0" i="0" dirty="0">
                <a:solidFill>
                  <a:srgbClr val="333333"/>
                </a:solidFill>
                <a:effectLst/>
                <a:latin typeface="Metropolis" pitchFamily="2" charset="77"/>
              </a:rPr>
              <a:t>that enable the capability to run Kubernetes workloads within ESXi.</a:t>
            </a:r>
            <a:endParaRPr lang="en-US" dirty="0"/>
          </a:p>
          <a:p>
            <a:endParaRPr lang="en-US" dirty="0"/>
          </a:p>
          <a:p>
            <a:r>
              <a:rPr lang="en-US" dirty="0"/>
              <a:t>The control plane consists of a cluster of three virtual machines which we call the Supervisor cluster.  The “supervisor cluster” is a vSphere cluster where the native Kubernetes functionality provided by vSphere 7 has been enabled.  </a:t>
            </a:r>
          </a:p>
          <a:p>
            <a:endParaRPr lang="en-US" dirty="0"/>
          </a:p>
          <a:p>
            <a:r>
              <a:rPr lang="en-US" b="0" i="0" strike="noStrike" dirty="0">
                <a:solidFill>
                  <a:srgbClr val="333333"/>
                </a:solidFill>
                <a:effectLst/>
                <a:latin typeface="Metropolis"/>
              </a:rPr>
              <a:t>Within a VMware Cloud Foundation deployment, the Supervisor cluster</a:t>
            </a:r>
            <a:r>
              <a:rPr lang="en-AU" b="0" i="0" strike="noStrike" dirty="0">
                <a:solidFill>
                  <a:srgbClr val="333333"/>
                </a:solidFill>
                <a:effectLst/>
                <a:latin typeface="Metropolis"/>
              </a:rPr>
              <a:t> runs on top of an SDDC layer and leverages ESXi for compute, NSX and vSAN or other supported shared storage options.</a:t>
            </a:r>
            <a:endParaRPr lang="en-US" strike="noStrike" dirty="0">
              <a:latin typeface="Metropolis"/>
            </a:endParaRPr>
          </a:p>
          <a:p>
            <a:endParaRPr lang="en-US" dirty="0"/>
          </a:p>
          <a:p>
            <a:r>
              <a:rPr lang="en-US" dirty="0"/>
              <a:t>With Cloud Foundation, container workloads can be deployed directly on the supervisor cluster.  However, it’s important to understand that the K8s version used on the Supervisor cluster is tied to the version of vSphere. </a:t>
            </a:r>
          </a:p>
          <a:p>
            <a:r>
              <a:rPr lang="en-US" dirty="0"/>
              <a:t>The Cluster API and Tanzu Kubernetes Grid (TKG) services are also deployed to the Supervisor Cluster when Kubernetes Workload management is enabled.</a:t>
            </a:r>
          </a:p>
          <a:p>
            <a:endParaRPr lang="en-US" dirty="0"/>
          </a:p>
          <a:p>
            <a:r>
              <a:rPr lang="en-US" dirty="0"/>
              <a:t>&lt;click&gt;</a:t>
            </a:r>
          </a:p>
          <a:p>
            <a:r>
              <a:rPr lang="en-US" dirty="0"/>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dirty="0"/>
          </a:p>
          <a:p>
            <a:r>
              <a:rPr lang="en-US" dirty="0"/>
              <a:t>&lt;click&gt;</a:t>
            </a:r>
          </a:p>
          <a:p>
            <a:r>
              <a:rPr lang="en-US" dirty="0"/>
              <a:t>Developers who wish to choose to run their own distribution of open-source Kubernetes can choose to deploy Tanzu Kubernetes Clusters (TKCs) within a vSphere Namespace rather than using native vSphere pods.  </a:t>
            </a:r>
          </a:p>
          <a:p>
            <a:endParaRPr lang="en-US" dirty="0"/>
          </a:p>
          <a:p>
            <a:r>
              <a:rPr lang="en-US" dirty="0"/>
              <a:t>This is a more common use case and allows Developers to use the “Supervisor Cluster” as a way to bootstrap Kubernetes guest clusters using the </a:t>
            </a:r>
            <a:r>
              <a:rPr lang="en-US" b="1" dirty="0"/>
              <a:t>Tanzu Kubernetes Grid (TKG) Service</a:t>
            </a:r>
            <a:r>
              <a:rPr lang="en-US" dirty="0"/>
              <a:t>.  The Kubernetes guest clusters created by the TKG service are commonly referred to as Tanzu Kubernetes Grid Clusters, or simply TKCs.  With TKCs, Developers can deploy upstream conformant K8s using different K8s versions to a vSphere Namespace.</a:t>
            </a:r>
          </a:p>
          <a:p>
            <a:r>
              <a:rPr lang="en-US" dirty="0"/>
              <a:t>As such, we will focus on the TKC use case and are not calling out the native K8s capabilities.</a:t>
            </a:r>
          </a:p>
          <a:p>
            <a:br>
              <a:rPr lang="en-US" dirty="0"/>
            </a:br>
            <a:r>
              <a:rPr lang="en-US" b="1" dirty="0"/>
              <a:t>Notes:</a:t>
            </a:r>
          </a:p>
          <a:p>
            <a:pPr marL="171450" indent="-171450">
              <a:buFontTx/>
              <a:buChar char="-"/>
            </a:pPr>
            <a:r>
              <a:rPr lang="en-US" dirty="0"/>
              <a:t>Native vSphere Kubernetes Pods are covered separately in a later section: Deploying Kubernetes Workloads – vSphere Pods.</a:t>
            </a:r>
          </a:p>
          <a:p>
            <a:pPr marL="171450" indent="-171450">
              <a:buFontTx/>
              <a:buChar char="-"/>
            </a:pPr>
            <a:r>
              <a:rPr lang="en-US" dirty="0"/>
              <a:t>Each TKC comprises of control plane node VMs (odd number) and one of more worker node VMs for the container workloads to run on.</a:t>
            </a:r>
          </a:p>
          <a:p>
            <a:pPr marL="171450" indent="-171450">
              <a:buFontTx/>
              <a:buChar char="-"/>
            </a:pPr>
            <a:r>
              <a:rPr lang="en-US" dirty="0"/>
              <a:t>A vSphere Namespace is created, configured and managed by the VI Admin.  </a:t>
            </a:r>
          </a:p>
          <a:p>
            <a:pPr marL="171450" indent="-171450">
              <a:buFontTx/>
              <a:buChar char="-"/>
            </a:pPr>
            <a:r>
              <a:rPr lang="en-US" dirty="0"/>
              <a:t>A Kubernetes Namespace </a:t>
            </a:r>
            <a:r>
              <a:rPr lang="en-US" b="1" dirty="0"/>
              <a:t>is different to a vSphere Namespace </a:t>
            </a:r>
            <a:r>
              <a:rPr lang="en-US" dirty="0"/>
              <a:t>and is configured and managed by the developer within a TKC.</a:t>
            </a:r>
          </a:p>
          <a:p>
            <a:endParaRPr lang="en-US" dirty="0">
              <a:latin typeface="Metropolis"/>
            </a:endParaRPr>
          </a:p>
          <a:p>
            <a:r>
              <a:rPr lang="en-US" b="1" dirty="0">
                <a:latin typeface="Metropolis"/>
              </a:rPr>
              <a:t>Resources:</a:t>
            </a:r>
          </a:p>
          <a:p>
            <a:r>
              <a:rPr lang="en-US" dirty="0">
                <a:latin typeface="Metropolis"/>
              </a:rPr>
              <a:t>For further detail on vSphere with Tanzu Architecture please refer to the VMware documentation:</a:t>
            </a:r>
          </a:p>
          <a:p>
            <a:r>
              <a:rPr lang="en-US" dirty="0">
                <a:latin typeface="Metropolis"/>
              </a:rPr>
              <a:t>https://docs.vmware.com/en/VMware-vSphere/7.0/vmware-vsphere-with-tanzu/GUID-3E4E6039-BD24-4C40-8575-5AA0EECBBBEC.html </a:t>
            </a:r>
          </a:p>
          <a:p>
            <a:endParaRPr lang="en-US" dirty="0">
              <a:latin typeface="Metropolis"/>
            </a:endParaRPr>
          </a:p>
          <a:p>
            <a:endParaRPr lang="en-US" dirty="0">
              <a:latin typeface="Metropolis"/>
            </a:endParaRPr>
          </a:p>
          <a:p>
            <a:endParaRPr lang="en-US" dirty="0">
              <a:latin typeface="Metropolis"/>
            </a:endParaRPr>
          </a:p>
        </p:txBody>
      </p:sp>
      <p:sp>
        <p:nvSpPr>
          <p:cNvPr id="4" name="Slide Number Placeholder 3">
            <a:extLst>
              <a:ext uri="{FF2B5EF4-FFF2-40B4-BE49-F238E27FC236}">
                <a16:creationId xmlns:a16="http://schemas.microsoft.com/office/drawing/2014/main" id="{5604C653-5AD4-C9B0-46C3-BBF55FE8A7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2108494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BE70D-9561-9A9E-BAB7-C0C81CF42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6BBB8-9666-AFE6-34E0-76F801852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D2F52-D214-3BE5-46DE-C43D342BB693}"/>
              </a:ext>
            </a:extLst>
          </p:cNvPr>
          <p:cNvSpPr>
            <a:spLocks noGrp="1"/>
          </p:cNvSpPr>
          <p:nvPr>
            <p:ph type="body" idx="1"/>
          </p:nvPr>
        </p:nvSpPr>
        <p:spPr/>
        <p:txBody>
          <a:bodyPr>
            <a:normAutofit fontScale="70000" lnSpcReduction="20000"/>
          </a:bodyPr>
          <a:lstStyle/>
          <a:p>
            <a:r>
              <a:rPr lang="en-US" b="1" dirty="0">
                <a:latin typeface="Metropolis"/>
              </a:rPr>
              <a:t>Presenter Note – this slide includes animation</a:t>
            </a:r>
            <a:endParaRPr lang="en-US" dirty="0"/>
          </a:p>
          <a:p>
            <a:endParaRPr lang="en-US" b="1" dirty="0">
              <a:latin typeface="Metropolis"/>
            </a:endParaRPr>
          </a:p>
          <a:p>
            <a:r>
              <a:rPr lang="en-US" b="1" dirty="0">
                <a:latin typeface="Metropolis"/>
              </a:rPr>
              <a:t>Key Message:</a:t>
            </a:r>
            <a:endParaRPr lang="en-US" dirty="0"/>
          </a:p>
          <a:p>
            <a:r>
              <a:rPr lang="en-US" dirty="0">
                <a:latin typeface="Metropolis"/>
              </a:rPr>
              <a:t>Introducing the key components to VMware Cloud Foundation with Tanzu.</a:t>
            </a:r>
          </a:p>
          <a:p>
            <a:endParaRPr lang="en-US" dirty="0">
              <a:latin typeface="Metropolis"/>
            </a:endParaRPr>
          </a:p>
          <a:p>
            <a:r>
              <a:rPr lang="en-US" b="1" dirty="0">
                <a:latin typeface="Metropolis"/>
              </a:rPr>
              <a:t>Talk Track:</a:t>
            </a:r>
          </a:p>
          <a:p>
            <a:r>
              <a:rPr lang="en-US" b="0" dirty="0">
                <a:latin typeface="Metropolis"/>
              </a:rPr>
              <a:t>SDDC Manager contains inbuilt workflows for Virtual Infrastructure Admins to enable Kubernetes workload management on any given workload domain.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creates a Kubernetes control plane inside the hypervisor layer of these hosts and contains specifc objects </a:t>
            </a:r>
            <a:r>
              <a:rPr lang="en-AU" b="0" i="0" dirty="0">
                <a:solidFill>
                  <a:srgbClr val="333333"/>
                </a:solidFill>
                <a:effectLst/>
                <a:latin typeface="Metropolis" pitchFamily="2" charset="77"/>
              </a:rPr>
              <a:t>that enable the capability to run Kubernetes workloads within ESXi.</a:t>
            </a:r>
            <a:endParaRPr lang="en-US" dirty="0"/>
          </a:p>
          <a:p>
            <a:endParaRPr lang="en-US" dirty="0"/>
          </a:p>
          <a:p>
            <a:r>
              <a:rPr lang="en-US" dirty="0"/>
              <a:t>The control plane consists of a cluster of three virtual machines which we call the Supervisor cluster.  The “supervisor cluster” is a vSphere cluster where the native Kubernetes functionality provided by vSphere 7 has been enabled.  </a:t>
            </a:r>
          </a:p>
          <a:p>
            <a:endParaRPr lang="en-US" dirty="0"/>
          </a:p>
          <a:p>
            <a:r>
              <a:rPr lang="en-US" b="0" i="0" strike="noStrike" dirty="0">
                <a:solidFill>
                  <a:srgbClr val="333333"/>
                </a:solidFill>
                <a:effectLst/>
                <a:latin typeface="Metropolis"/>
              </a:rPr>
              <a:t>Within a VMware Cloud Foundation deployment, the Supervisor cluster</a:t>
            </a:r>
            <a:r>
              <a:rPr lang="en-AU" b="0" i="0" strike="noStrike" dirty="0">
                <a:solidFill>
                  <a:srgbClr val="333333"/>
                </a:solidFill>
                <a:effectLst/>
                <a:latin typeface="Metropolis"/>
              </a:rPr>
              <a:t> runs on top of an SDDC layer and leverages ESXi for compute, NSX and vSAN or other supported shared storage options.</a:t>
            </a:r>
            <a:endParaRPr lang="en-US" strike="noStrike" dirty="0">
              <a:latin typeface="Metropolis"/>
            </a:endParaRPr>
          </a:p>
          <a:p>
            <a:endParaRPr lang="en-US" dirty="0"/>
          </a:p>
          <a:p>
            <a:r>
              <a:rPr lang="en-US" dirty="0"/>
              <a:t>With Cloud Foundation, container workloads can be deployed directly on the supervisor cluster.  However, it’s important to understand that the K8s version used on the Supervisor cluster is tied to the version of vSphere. </a:t>
            </a:r>
          </a:p>
          <a:p>
            <a:r>
              <a:rPr lang="en-US" dirty="0"/>
              <a:t>The Cluster API and Tanzu Kubernetes Grid (TKG) services are also deployed to the Supervisor Cluster when Kubernetes Workload management is enabled.</a:t>
            </a:r>
          </a:p>
          <a:p>
            <a:endParaRPr lang="en-US" dirty="0"/>
          </a:p>
          <a:p>
            <a:r>
              <a:rPr lang="en-US" dirty="0"/>
              <a:t>&lt;click&gt;</a:t>
            </a:r>
          </a:p>
          <a:p>
            <a:r>
              <a:rPr lang="en-US" dirty="0"/>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dirty="0"/>
          </a:p>
          <a:p>
            <a:r>
              <a:rPr lang="en-US" dirty="0"/>
              <a:t>&lt;click&gt;</a:t>
            </a:r>
          </a:p>
          <a:p>
            <a:r>
              <a:rPr lang="en-US" dirty="0"/>
              <a:t>Developers who wish to choose to run their own distribution of open-source Kubernetes can choose to deploy Tanzu Kubernetes Clusters (TKCs) within a vSphere Namespace rather than using native vSphere pods.  </a:t>
            </a:r>
          </a:p>
          <a:p>
            <a:endParaRPr lang="en-US" dirty="0"/>
          </a:p>
          <a:p>
            <a:r>
              <a:rPr lang="en-US" dirty="0"/>
              <a:t>This is a more common use case and allows Developers to use the “Supervisor Cluster” as a way to bootstrap Kubernetes guest clusters using the </a:t>
            </a:r>
            <a:r>
              <a:rPr lang="en-US" b="1" dirty="0"/>
              <a:t>Tanzu Kubernetes Grid (TKG) Service</a:t>
            </a:r>
            <a:r>
              <a:rPr lang="en-US" dirty="0"/>
              <a:t>.  The Kubernetes guest clusters created by the TKG service are commonly referred to as Tanzu Kubernetes Grid Clusters, or simply TKCs.  With TKCs, Developers can deploy upstream conformant K8s using different K8s versions to a vSphere Namespace.</a:t>
            </a:r>
          </a:p>
          <a:p>
            <a:r>
              <a:rPr lang="en-US" dirty="0"/>
              <a:t>As such, we will focus on the TKC use case and are not calling out the native K8s capabilities.</a:t>
            </a:r>
          </a:p>
          <a:p>
            <a:br>
              <a:rPr lang="en-US" dirty="0"/>
            </a:br>
            <a:r>
              <a:rPr lang="en-US" b="1" dirty="0"/>
              <a:t>Notes:</a:t>
            </a:r>
          </a:p>
          <a:p>
            <a:pPr marL="171450" indent="-171450">
              <a:buFontTx/>
              <a:buChar char="-"/>
            </a:pPr>
            <a:r>
              <a:rPr lang="en-US" dirty="0"/>
              <a:t>Native vSphere Kubernetes Pods are covered separately in a later section: Deploying Kubernetes Workloads – vSphere Pods.</a:t>
            </a:r>
          </a:p>
          <a:p>
            <a:pPr marL="171450" indent="-171450">
              <a:buFontTx/>
              <a:buChar char="-"/>
            </a:pPr>
            <a:r>
              <a:rPr lang="en-US" dirty="0"/>
              <a:t>Each TKC comprises of control plane node VMs (odd number) and one of more worker node VMs for the container workloads to run on.</a:t>
            </a:r>
          </a:p>
          <a:p>
            <a:pPr marL="171450" indent="-171450">
              <a:buFontTx/>
              <a:buChar char="-"/>
            </a:pPr>
            <a:r>
              <a:rPr lang="en-US" dirty="0"/>
              <a:t>A vSphere Namespace is created, configured and managed by the VI Admin.  </a:t>
            </a:r>
          </a:p>
          <a:p>
            <a:pPr marL="171450" indent="-171450">
              <a:buFontTx/>
              <a:buChar char="-"/>
            </a:pPr>
            <a:r>
              <a:rPr lang="en-US" dirty="0"/>
              <a:t>A Kubernetes Namespace </a:t>
            </a:r>
            <a:r>
              <a:rPr lang="en-US" b="1" dirty="0"/>
              <a:t>is different to a vSphere Namespace </a:t>
            </a:r>
            <a:r>
              <a:rPr lang="en-US" dirty="0"/>
              <a:t>and is configured and managed by the developer within a TKC.</a:t>
            </a:r>
          </a:p>
          <a:p>
            <a:endParaRPr lang="en-US" dirty="0">
              <a:latin typeface="Metropolis"/>
            </a:endParaRPr>
          </a:p>
          <a:p>
            <a:r>
              <a:rPr lang="en-US" b="1" dirty="0">
                <a:latin typeface="Metropolis"/>
              </a:rPr>
              <a:t>Resources:</a:t>
            </a:r>
          </a:p>
          <a:p>
            <a:r>
              <a:rPr lang="en-US" dirty="0">
                <a:latin typeface="Metropolis"/>
              </a:rPr>
              <a:t>For further detail on vSphere with Tanzu Architecture please refer to the VMware documentation:</a:t>
            </a:r>
          </a:p>
          <a:p>
            <a:r>
              <a:rPr lang="en-US" dirty="0">
                <a:latin typeface="Metropolis"/>
              </a:rPr>
              <a:t>https://docs.vmware.com/en/VMware-vSphere/7.0/vmware-vsphere-with-tanzu/GUID-3E4E6039-BD24-4C40-8575-5AA0EECBBBEC.html </a:t>
            </a:r>
          </a:p>
          <a:p>
            <a:endParaRPr lang="en-US" dirty="0">
              <a:latin typeface="Metropolis"/>
            </a:endParaRPr>
          </a:p>
          <a:p>
            <a:endParaRPr lang="en-US" dirty="0">
              <a:latin typeface="Metropolis"/>
            </a:endParaRPr>
          </a:p>
          <a:p>
            <a:endParaRPr lang="en-US" dirty="0">
              <a:latin typeface="Metropolis"/>
            </a:endParaRPr>
          </a:p>
        </p:txBody>
      </p:sp>
      <p:sp>
        <p:nvSpPr>
          <p:cNvPr id="4" name="Slide Number Placeholder 3">
            <a:extLst>
              <a:ext uri="{FF2B5EF4-FFF2-40B4-BE49-F238E27FC236}">
                <a16:creationId xmlns:a16="http://schemas.microsoft.com/office/drawing/2014/main" id="{B6E233C9-EBF8-6C46-5F58-EEDF987A6B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154187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F7F0B-92FB-B51D-DCDE-29B74FA1C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5661A-1E17-CF14-69A2-658046287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CAB8D-B52E-80EE-A6FF-A162AFBDFDA8}"/>
              </a:ext>
            </a:extLst>
          </p:cNvPr>
          <p:cNvSpPr>
            <a:spLocks noGrp="1"/>
          </p:cNvSpPr>
          <p:nvPr>
            <p:ph type="body" idx="1"/>
          </p:nvPr>
        </p:nvSpPr>
        <p:spPr/>
        <p:txBody>
          <a:bodyPr>
            <a:normAutofit fontScale="70000" lnSpcReduction="20000"/>
          </a:bodyPr>
          <a:lstStyle/>
          <a:p>
            <a:r>
              <a:rPr lang="en-US" b="1" dirty="0">
                <a:latin typeface="Metropolis"/>
              </a:rPr>
              <a:t>Presenter Note – this slide includes animation</a:t>
            </a:r>
            <a:endParaRPr lang="en-US" dirty="0"/>
          </a:p>
          <a:p>
            <a:endParaRPr lang="en-US" b="1" dirty="0">
              <a:latin typeface="Metropolis"/>
            </a:endParaRPr>
          </a:p>
          <a:p>
            <a:r>
              <a:rPr lang="en-US" b="1" dirty="0">
                <a:latin typeface="Metropolis"/>
              </a:rPr>
              <a:t>Key Message:</a:t>
            </a:r>
            <a:endParaRPr lang="en-US" dirty="0"/>
          </a:p>
          <a:p>
            <a:r>
              <a:rPr lang="en-US" dirty="0">
                <a:latin typeface="Metropolis"/>
              </a:rPr>
              <a:t>Introducing the key components to VMware Cloud Foundation with Tanzu.</a:t>
            </a:r>
          </a:p>
          <a:p>
            <a:endParaRPr lang="en-US" dirty="0">
              <a:latin typeface="Metropolis"/>
            </a:endParaRPr>
          </a:p>
          <a:p>
            <a:r>
              <a:rPr lang="en-US" b="1" dirty="0">
                <a:latin typeface="Metropolis"/>
              </a:rPr>
              <a:t>Talk Track:</a:t>
            </a:r>
          </a:p>
          <a:p>
            <a:r>
              <a:rPr lang="en-US" b="0" dirty="0">
                <a:latin typeface="Metropolis"/>
              </a:rPr>
              <a:t>SDDC Manager contains inbuilt workflows for Virtual Infrastructure Admins to enable Kubernetes workload management on any given workload domain.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creates a Kubernetes control plane inside the hypervisor layer of these hosts and contains specifc objects </a:t>
            </a:r>
            <a:r>
              <a:rPr lang="en-AU" b="0" i="0" dirty="0">
                <a:solidFill>
                  <a:srgbClr val="333333"/>
                </a:solidFill>
                <a:effectLst/>
                <a:latin typeface="Metropolis" pitchFamily="2" charset="77"/>
              </a:rPr>
              <a:t>that enable the capability to run Kubernetes workloads within ESXi.</a:t>
            </a:r>
            <a:endParaRPr lang="en-US" dirty="0"/>
          </a:p>
          <a:p>
            <a:endParaRPr lang="en-US" dirty="0"/>
          </a:p>
          <a:p>
            <a:r>
              <a:rPr lang="en-US" dirty="0"/>
              <a:t>The control plane consists of a cluster of three virtual machines which we call the Supervisor cluster.  The “supervisor cluster” is a vSphere cluster where the native Kubernetes functionality provided by vSphere 7 has been enabled.  </a:t>
            </a:r>
          </a:p>
          <a:p>
            <a:endParaRPr lang="en-US" dirty="0"/>
          </a:p>
          <a:p>
            <a:r>
              <a:rPr lang="en-US" b="0" i="0" strike="noStrike" dirty="0">
                <a:solidFill>
                  <a:srgbClr val="333333"/>
                </a:solidFill>
                <a:effectLst/>
                <a:latin typeface="Metropolis"/>
              </a:rPr>
              <a:t>Within a VMware Cloud Foundation deployment, the Supervisor cluster</a:t>
            </a:r>
            <a:r>
              <a:rPr lang="en-AU" b="0" i="0" strike="noStrike" dirty="0">
                <a:solidFill>
                  <a:srgbClr val="333333"/>
                </a:solidFill>
                <a:effectLst/>
                <a:latin typeface="Metropolis"/>
              </a:rPr>
              <a:t> runs on top of an SDDC layer and leverages ESXi for compute, NSX and vSAN or other supported shared storage options.</a:t>
            </a:r>
            <a:endParaRPr lang="en-US" strike="noStrike" dirty="0">
              <a:latin typeface="Metropolis"/>
            </a:endParaRPr>
          </a:p>
          <a:p>
            <a:endParaRPr lang="en-US" dirty="0"/>
          </a:p>
          <a:p>
            <a:r>
              <a:rPr lang="en-US" dirty="0"/>
              <a:t>With Cloud Foundation, container workloads can be deployed directly on the supervisor cluster.  However, it’s important to understand that the K8s version used on the Supervisor cluster is tied to the version of vSphere. </a:t>
            </a:r>
          </a:p>
          <a:p>
            <a:r>
              <a:rPr lang="en-US" dirty="0"/>
              <a:t>The Cluster API and Tanzu Kubernetes Grid (TKG) services are also deployed to the Supervisor Cluster when Kubernetes Workload management is enabled.</a:t>
            </a:r>
          </a:p>
          <a:p>
            <a:endParaRPr lang="en-US" dirty="0"/>
          </a:p>
          <a:p>
            <a:r>
              <a:rPr lang="en-US" dirty="0"/>
              <a:t>&lt;click&gt;</a:t>
            </a:r>
          </a:p>
          <a:p>
            <a:r>
              <a:rPr lang="en-US" dirty="0"/>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dirty="0"/>
          </a:p>
          <a:p>
            <a:r>
              <a:rPr lang="en-US" dirty="0"/>
              <a:t>&lt;click&gt;</a:t>
            </a:r>
          </a:p>
          <a:p>
            <a:r>
              <a:rPr lang="en-US" dirty="0"/>
              <a:t>Developers who wish to choose to run their own distribution of open-source Kubernetes can choose to deploy Tanzu Kubernetes Clusters (TKCs) within a vSphere Namespace rather than using native vSphere pods.  </a:t>
            </a:r>
          </a:p>
          <a:p>
            <a:endParaRPr lang="en-US" dirty="0"/>
          </a:p>
          <a:p>
            <a:r>
              <a:rPr lang="en-US" dirty="0"/>
              <a:t>This is a more common use case and allows Developers to use the “Supervisor Cluster” as a way to bootstrap Kubernetes guest clusters using the </a:t>
            </a:r>
            <a:r>
              <a:rPr lang="en-US" b="1" dirty="0"/>
              <a:t>Tanzu Kubernetes Grid (TKG) Service</a:t>
            </a:r>
            <a:r>
              <a:rPr lang="en-US" dirty="0"/>
              <a:t>.  The Kubernetes guest clusters created by the TKG service are commonly referred to as Tanzu Kubernetes Grid Clusters, or simply TKCs.  With TKCs, Developers can deploy upstream conformant K8s using different K8s versions to a vSphere Namespace.</a:t>
            </a:r>
          </a:p>
          <a:p>
            <a:r>
              <a:rPr lang="en-US" dirty="0"/>
              <a:t>As such, we will focus on the TKC use case and are not calling out the native K8s capabilities.</a:t>
            </a:r>
          </a:p>
          <a:p>
            <a:br>
              <a:rPr lang="en-US" dirty="0"/>
            </a:br>
            <a:r>
              <a:rPr lang="en-US" b="1" dirty="0"/>
              <a:t>Notes:</a:t>
            </a:r>
          </a:p>
          <a:p>
            <a:pPr marL="171450" indent="-171450">
              <a:buFontTx/>
              <a:buChar char="-"/>
            </a:pPr>
            <a:r>
              <a:rPr lang="en-US" dirty="0"/>
              <a:t>Native vSphere Kubernetes Pods are covered separately in a later section: Deploying Kubernetes Workloads – vSphere Pods.</a:t>
            </a:r>
          </a:p>
          <a:p>
            <a:pPr marL="171450" indent="-171450">
              <a:buFontTx/>
              <a:buChar char="-"/>
            </a:pPr>
            <a:r>
              <a:rPr lang="en-US" dirty="0"/>
              <a:t>Each TKC comprises of control plane node VMs (odd number) and one of more worker node VMs for the container workloads to run on.</a:t>
            </a:r>
          </a:p>
          <a:p>
            <a:pPr marL="171450" indent="-171450">
              <a:buFontTx/>
              <a:buChar char="-"/>
            </a:pPr>
            <a:r>
              <a:rPr lang="en-US" dirty="0"/>
              <a:t>A vSphere Namespace is created, configured and managed by the VI Admin.  </a:t>
            </a:r>
          </a:p>
          <a:p>
            <a:pPr marL="171450" indent="-171450">
              <a:buFontTx/>
              <a:buChar char="-"/>
            </a:pPr>
            <a:r>
              <a:rPr lang="en-US" dirty="0"/>
              <a:t>A Kubernetes Namespace </a:t>
            </a:r>
            <a:r>
              <a:rPr lang="en-US" b="1" dirty="0"/>
              <a:t>is different to a vSphere Namespace </a:t>
            </a:r>
            <a:r>
              <a:rPr lang="en-US" dirty="0"/>
              <a:t>and is configured and managed by the developer within a TKC.</a:t>
            </a:r>
          </a:p>
          <a:p>
            <a:endParaRPr lang="en-US" dirty="0">
              <a:latin typeface="Metropolis"/>
            </a:endParaRPr>
          </a:p>
          <a:p>
            <a:r>
              <a:rPr lang="en-US" b="1" dirty="0">
                <a:latin typeface="Metropolis"/>
              </a:rPr>
              <a:t>Resources:</a:t>
            </a:r>
          </a:p>
          <a:p>
            <a:r>
              <a:rPr lang="en-US" dirty="0">
                <a:latin typeface="Metropolis"/>
              </a:rPr>
              <a:t>For further detail on vSphere with Tanzu Architecture please refer to the VMware documentation:</a:t>
            </a:r>
          </a:p>
          <a:p>
            <a:r>
              <a:rPr lang="en-US" dirty="0">
                <a:latin typeface="Metropolis"/>
              </a:rPr>
              <a:t>https://docs.vmware.com/en/VMware-vSphere/7.0/vmware-vsphere-with-tanzu/GUID-3E4E6039-BD24-4C40-8575-5AA0EECBBBEC.html </a:t>
            </a:r>
          </a:p>
          <a:p>
            <a:endParaRPr lang="en-US" dirty="0">
              <a:latin typeface="Metropolis"/>
            </a:endParaRPr>
          </a:p>
          <a:p>
            <a:endParaRPr lang="en-US" dirty="0">
              <a:latin typeface="Metropolis"/>
            </a:endParaRPr>
          </a:p>
          <a:p>
            <a:endParaRPr lang="en-US" dirty="0">
              <a:latin typeface="Metropolis"/>
            </a:endParaRPr>
          </a:p>
        </p:txBody>
      </p:sp>
      <p:sp>
        <p:nvSpPr>
          <p:cNvPr id="4" name="Slide Number Placeholder 3">
            <a:extLst>
              <a:ext uri="{FF2B5EF4-FFF2-40B4-BE49-F238E27FC236}">
                <a16:creationId xmlns:a16="http://schemas.microsoft.com/office/drawing/2014/main" id="{CC3A45F7-C29E-5DCC-1E26-B635F5C52F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16459812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A8F5-F3BC-EB4C-4517-A1FED4194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6C0FE-9640-B72B-C922-C227A0EAB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C1C85-64E7-14F9-3D93-038828198EA7}"/>
              </a:ext>
            </a:extLst>
          </p:cNvPr>
          <p:cNvSpPr>
            <a:spLocks noGrp="1"/>
          </p:cNvSpPr>
          <p:nvPr>
            <p:ph type="body" idx="1"/>
          </p:nvPr>
        </p:nvSpPr>
        <p:spPr/>
        <p:txBody>
          <a:bodyPr>
            <a:normAutofit fontScale="70000" lnSpcReduction="20000"/>
          </a:bodyPr>
          <a:lstStyle/>
          <a:p>
            <a:r>
              <a:rPr lang="en-US" b="1" dirty="0">
                <a:latin typeface="Metropolis"/>
              </a:rPr>
              <a:t>Presenter Note – this slide includes animation</a:t>
            </a:r>
            <a:endParaRPr lang="en-US" dirty="0"/>
          </a:p>
          <a:p>
            <a:endParaRPr lang="en-US" b="1" dirty="0">
              <a:latin typeface="Metropolis"/>
            </a:endParaRPr>
          </a:p>
          <a:p>
            <a:r>
              <a:rPr lang="en-US" b="1" dirty="0">
                <a:latin typeface="Metropolis"/>
              </a:rPr>
              <a:t>Key Message:</a:t>
            </a:r>
            <a:endParaRPr lang="en-US" dirty="0"/>
          </a:p>
          <a:p>
            <a:r>
              <a:rPr lang="en-US" dirty="0">
                <a:latin typeface="Metropolis"/>
              </a:rPr>
              <a:t>Introducing the key components to VMware Cloud Foundation with Tanzu.</a:t>
            </a:r>
          </a:p>
          <a:p>
            <a:endParaRPr lang="en-US" dirty="0">
              <a:latin typeface="Metropolis"/>
            </a:endParaRPr>
          </a:p>
          <a:p>
            <a:r>
              <a:rPr lang="en-US" b="1" dirty="0">
                <a:latin typeface="Metropolis"/>
              </a:rPr>
              <a:t>Talk Track:</a:t>
            </a:r>
          </a:p>
          <a:p>
            <a:r>
              <a:rPr lang="en-US" b="0" dirty="0">
                <a:latin typeface="Metropolis"/>
              </a:rPr>
              <a:t>SDDC Manager contains inbuilt workflows for Virtual Infrastructure Admins to enable Kubernetes workload management on any given workload domain.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creates a Kubernetes control plane inside the hypervisor layer of these hosts and contains specific objects </a:t>
            </a:r>
            <a:r>
              <a:rPr lang="en-AU" b="0" i="0" dirty="0">
                <a:solidFill>
                  <a:srgbClr val="333333"/>
                </a:solidFill>
                <a:effectLst/>
                <a:latin typeface="Metropolis" pitchFamily="2" charset="77"/>
              </a:rPr>
              <a:t>that enable the capability to run Kubernetes workloads within ESXi.</a:t>
            </a:r>
            <a:endParaRPr lang="en-US" dirty="0"/>
          </a:p>
          <a:p>
            <a:endParaRPr lang="en-US" dirty="0"/>
          </a:p>
          <a:p>
            <a:r>
              <a:rPr lang="en-US" dirty="0"/>
              <a:t>The control plane consists of a cluster of three virtual machines which we call the Supervisor cluster.  The “supervisor cluster” is a vSphere cluster where the native Kubernetes functionality provided by vSphere 7 has been enabled.  </a:t>
            </a:r>
          </a:p>
          <a:p>
            <a:endParaRPr lang="en-US" dirty="0"/>
          </a:p>
          <a:p>
            <a:r>
              <a:rPr lang="en-US" b="0" i="0" strike="noStrike" dirty="0">
                <a:solidFill>
                  <a:srgbClr val="333333"/>
                </a:solidFill>
                <a:effectLst/>
                <a:latin typeface="Metropolis"/>
              </a:rPr>
              <a:t>Within a VMware Cloud Foundation deployment, the Supervisor cluster</a:t>
            </a:r>
            <a:r>
              <a:rPr lang="en-AU" b="0" i="0" strike="noStrike" dirty="0">
                <a:solidFill>
                  <a:srgbClr val="333333"/>
                </a:solidFill>
                <a:effectLst/>
                <a:latin typeface="Metropolis"/>
              </a:rPr>
              <a:t> runs on top of an SDDC layer and leverages ESXi for compute, NSX and vSAN or other supported shared storage options.</a:t>
            </a:r>
            <a:endParaRPr lang="en-US" strike="noStrike" dirty="0">
              <a:latin typeface="Metropolis"/>
            </a:endParaRPr>
          </a:p>
          <a:p>
            <a:endParaRPr lang="en-US" dirty="0"/>
          </a:p>
          <a:p>
            <a:r>
              <a:rPr lang="en-US" dirty="0"/>
              <a:t>With Cloud Foundation, container workloads can be deployed directly on the supervisor cluster.  However, it’s important to understand that the K8s version used on the Supervisor cluster is tied to the version of vSphere. </a:t>
            </a:r>
          </a:p>
          <a:p>
            <a:r>
              <a:rPr lang="en-US" dirty="0"/>
              <a:t>The Cluster API and Tanzu Kubernetes Grid (TKG) services are also deployed to the Supervisor Cluster when Kubernetes Workload management is enabled.</a:t>
            </a:r>
          </a:p>
          <a:p>
            <a:endParaRPr lang="en-US" dirty="0"/>
          </a:p>
          <a:p>
            <a:r>
              <a:rPr lang="en-US" dirty="0"/>
              <a:t>&lt;click&gt;</a:t>
            </a:r>
          </a:p>
          <a:p>
            <a:r>
              <a:rPr lang="en-US" dirty="0"/>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dirty="0"/>
          </a:p>
          <a:p>
            <a:r>
              <a:rPr lang="en-US" dirty="0"/>
              <a:t>&lt;click&gt;</a:t>
            </a:r>
          </a:p>
          <a:p>
            <a:r>
              <a:rPr lang="en-US" dirty="0"/>
              <a:t>Developers who wish to choose to run their own distribution of open-source Kubernetes can choose to deploy Tanzu Kubernetes Clusters (TKCs) within a vSphere Namespace rather than using native vSphere pods.  </a:t>
            </a:r>
          </a:p>
          <a:p>
            <a:endParaRPr lang="en-US" dirty="0"/>
          </a:p>
          <a:p>
            <a:r>
              <a:rPr lang="en-US" dirty="0"/>
              <a:t>This is a more common use case and allows Developers to use the “Supervisor Cluster” as a way to bootstrap Kubernetes guest clusters using the </a:t>
            </a:r>
            <a:r>
              <a:rPr lang="en-US" b="1" dirty="0"/>
              <a:t>Tanzu Kubernetes Grid (TKG) Service</a:t>
            </a:r>
            <a:r>
              <a:rPr lang="en-US" dirty="0"/>
              <a:t>.  The Kubernetes guest clusters created by the TKG service are commonly referred to as Tanzu Kubernetes Grid Clusters, or simply TKCs.  With TKCs, Developers can deploy upstream conformant K8s using different K8s versions to a vSphere Namespace.</a:t>
            </a:r>
          </a:p>
          <a:p>
            <a:r>
              <a:rPr lang="en-US" dirty="0"/>
              <a:t>As such, we will focus on the TKC use case and are not calling out the native K8s capabilities.</a:t>
            </a:r>
          </a:p>
          <a:p>
            <a:br>
              <a:rPr lang="en-US" dirty="0"/>
            </a:br>
            <a:r>
              <a:rPr lang="en-US" b="1" dirty="0"/>
              <a:t>Notes:</a:t>
            </a:r>
          </a:p>
          <a:p>
            <a:pPr marL="171450" indent="-171450">
              <a:buFontTx/>
              <a:buChar char="-"/>
            </a:pPr>
            <a:r>
              <a:rPr lang="en-US" dirty="0"/>
              <a:t>Native vSphere Kubernetes Pods are covered separately in a later section: Deploying Kubernetes Workloads – vSphere Pods.</a:t>
            </a:r>
          </a:p>
          <a:p>
            <a:pPr marL="171450" indent="-171450">
              <a:buFontTx/>
              <a:buChar char="-"/>
            </a:pPr>
            <a:r>
              <a:rPr lang="en-US" dirty="0"/>
              <a:t>Each TKC comprises of control plane node VMs (odd number) and one of more worker node VMs for the container workloads to run on.</a:t>
            </a:r>
          </a:p>
          <a:p>
            <a:pPr marL="171450" indent="-171450">
              <a:buFontTx/>
              <a:buChar char="-"/>
            </a:pPr>
            <a:r>
              <a:rPr lang="en-US" dirty="0"/>
              <a:t>A vSphere Namespace is created, configured and managed by the VI Admin.  </a:t>
            </a:r>
          </a:p>
          <a:p>
            <a:pPr marL="171450" indent="-171450">
              <a:buFontTx/>
              <a:buChar char="-"/>
            </a:pPr>
            <a:r>
              <a:rPr lang="en-US" dirty="0"/>
              <a:t>A Kubernetes Namespace </a:t>
            </a:r>
            <a:r>
              <a:rPr lang="en-US" b="1" dirty="0"/>
              <a:t>is different to a vSphere Namespace </a:t>
            </a:r>
            <a:r>
              <a:rPr lang="en-US" dirty="0"/>
              <a:t>and is configured and managed by the developer within a TKC.</a:t>
            </a:r>
          </a:p>
          <a:p>
            <a:endParaRPr lang="en-US" dirty="0">
              <a:latin typeface="Metropolis"/>
            </a:endParaRPr>
          </a:p>
          <a:p>
            <a:r>
              <a:rPr lang="en-US" b="1" dirty="0">
                <a:latin typeface="Metropolis"/>
              </a:rPr>
              <a:t>Resources:</a:t>
            </a:r>
          </a:p>
          <a:p>
            <a:r>
              <a:rPr lang="en-US" dirty="0">
                <a:latin typeface="Metropolis"/>
              </a:rPr>
              <a:t>For further detail on vSphere with Tanzu Architecture please refer to the VMware documentation:</a:t>
            </a:r>
          </a:p>
          <a:p>
            <a:r>
              <a:rPr lang="en-US" dirty="0">
                <a:latin typeface="Metropolis"/>
              </a:rPr>
              <a:t>https://docs.vmware.com/en/VMware-vSphere/7.0/vmware-vsphere-with-tanzu/GUID-3E4E6039-BD24-4C40-8575-5AA0EECBBBEC.html </a:t>
            </a:r>
          </a:p>
          <a:p>
            <a:endParaRPr lang="en-US" dirty="0">
              <a:latin typeface="Metropolis"/>
            </a:endParaRPr>
          </a:p>
          <a:p>
            <a:endParaRPr lang="en-US" dirty="0">
              <a:latin typeface="Metropolis"/>
            </a:endParaRPr>
          </a:p>
          <a:p>
            <a:endParaRPr lang="en-US" dirty="0">
              <a:latin typeface="Metropolis"/>
            </a:endParaRPr>
          </a:p>
        </p:txBody>
      </p:sp>
      <p:sp>
        <p:nvSpPr>
          <p:cNvPr id="4" name="Slide Number Placeholder 3">
            <a:extLst>
              <a:ext uri="{FF2B5EF4-FFF2-40B4-BE49-F238E27FC236}">
                <a16:creationId xmlns:a16="http://schemas.microsoft.com/office/drawing/2014/main" id="{992738D4-F6E8-D02E-950B-8124097E43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2835316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8AF7A-82FC-26EA-2621-B587F88FE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C18F9-F5C8-61AF-5928-5C3FCAD0E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1ADAED-C805-57E9-C876-A44542814F2E}"/>
              </a:ext>
            </a:extLst>
          </p:cNvPr>
          <p:cNvSpPr>
            <a:spLocks noGrp="1"/>
          </p:cNvSpPr>
          <p:nvPr>
            <p:ph type="body" idx="1"/>
          </p:nvPr>
        </p:nvSpPr>
        <p:spPr/>
        <p:txBody>
          <a:bodyPr>
            <a:normAutofit fontScale="70000" lnSpcReduction="20000"/>
          </a:bodyPr>
          <a:lstStyle/>
          <a:p>
            <a:r>
              <a:rPr lang="en-US" b="1" dirty="0">
                <a:latin typeface="Metropolis"/>
              </a:rPr>
              <a:t>Presenter Note – this slide includes animation</a:t>
            </a:r>
            <a:endParaRPr lang="en-US" dirty="0"/>
          </a:p>
          <a:p>
            <a:endParaRPr lang="en-US" b="1" dirty="0">
              <a:latin typeface="Metropolis"/>
            </a:endParaRPr>
          </a:p>
          <a:p>
            <a:r>
              <a:rPr lang="en-US" b="1" dirty="0">
                <a:latin typeface="Metropolis"/>
              </a:rPr>
              <a:t>Key Message:</a:t>
            </a:r>
            <a:endParaRPr lang="en-US" dirty="0"/>
          </a:p>
          <a:p>
            <a:r>
              <a:rPr lang="en-US" dirty="0">
                <a:latin typeface="Metropolis"/>
              </a:rPr>
              <a:t>Introducing the key components to VMware Cloud Foundation with Tanzu.</a:t>
            </a:r>
          </a:p>
          <a:p>
            <a:endParaRPr lang="en-US" dirty="0">
              <a:latin typeface="Metropolis"/>
            </a:endParaRPr>
          </a:p>
          <a:p>
            <a:r>
              <a:rPr lang="en-US" b="1" dirty="0">
                <a:latin typeface="Metropolis"/>
              </a:rPr>
              <a:t>Talk Track:</a:t>
            </a:r>
          </a:p>
          <a:p>
            <a:r>
              <a:rPr lang="en-US" b="0" dirty="0">
                <a:latin typeface="Metropolis"/>
              </a:rPr>
              <a:t>SDDC Manager contains inbuilt workflows for Virtual Infrastructure Admins to enable Kubernetes workload management on any given workload domain.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creates a Kubernetes control plane inside the hypervisor layer of these hosts and contains specific objects </a:t>
            </a:r>
            <a:r>
              <a:rPr lang="en-AU" b="0" i="0" dirty="0">
                <a:solidFill>
                  <a:srgbClr val="333333"/>
                </a:solidFill>
                <a:effectLst/>
                <a:latin typeface="Metropolis" pitchFamily="2" charset="77"/>
              </a:rPr>
              <a:t>that enable the capability to run Kubernetes workloads within ESXi.</a:t>
            </a:r>
            <a:endParaRPr lang="en-US" dirty="0"/>
          </a:p>
          <a:p>
            <a:endParaRPr lang="en-US" dirty="0"/>
          </a:p>
          <a:p>
            <a:r>
              <a:rPr lang="en-US" dirty="0"/>
              <a:t>The control plane consists of a cluster of three virtual machines which we call the Supervisor cluster.  The “supervisor cluster” is a vSphere cluster where the native Kubernetes functionality provided by vSphere 7 has been enabled.  </a:t>
            </a:r>
          </a:p>
          <a:p>
            <a:endParaRPr lang="en-US" dirty="0"/>
          </a:p>
          <a:p>
            <a:r>
              <a:rPr lang="en-US" b="0" i="0" strike="noStrike" dirty="0">
                <a:solidFill>
                  <a:srgbClr val="333333"/>
                </a:solidFill>
                <a:effectLst/>
                <a:latin typeface="Metropolis"/>
              </a:rPr>
              <a:t>Within a VMware Cloud Foundation deployment, the Supervisor cluster</a:t>
            </a:r>
            <a:r>
              <a:rPr lang="en-AU" b="0" i="0" strike="noStrike" dirty="0">
                <a:solidFill>
                  <a:srgbClr val="333333"/>
                </a:solidFill>
                <a:effectLst/>
                <a:latin typeface="Metropolis"/>
              </a:rPr>
              <a:t> runs on top of an SDDC layer and leverages ESXi for compute, NSX and vSAN or other supported shared storage options.</a:t>
            </a:r>
            <a:endParaRPr lang="en-US" strike="noStrike" dirty="0">
              <a:latin typeface="Metropolis"/>
            </a:endParaRPr>
          </a:p>
          <a:p>
            <a:endParaRPr lang="en-US" dirty="0"/>
          </a:p>
          <a:p>
            <a:r>
              <a:rPr lang="en-US" dirty="0"/>
              <a:t>With Cloud Foundation, container workloads can be deployed directly on the supervisor cluster.  However, it’s important to understand that the K8s version used on the Supervisor cluster is tied to the version of vSphere. </a:t>
            </a:r>
          </a:p>
          <a:p>
            <a:r>
              <a:rPr lang="en-US" dirty="0"/>
              <a:t>The Cluster API and Tanzu Kubernetes Grid (TKG) services are also deployed to the Supervisor Cluster when Kubernetes Workload management is enabled.</a:t>
            </a:r>
          </a:p>
          <a:p>
            <a:endParaRPr lang="en-US" dirty="0"/>
          </a:p>
          <a:p>
            <a:r>
              <a:rPr lang="en-US" dirty="0"/>
              <a:t>&lt;click&gt;</a:t>
            </a:r>
          </a:p>
          <a:p>
            <a:r>
              <a:rPr lang="en-US" dirty="0"/>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dirty="0"/>
          </a:p>
          <a:p>
            <a:r>
              <a:rPr lang="en-US" dirty="0"/>
              <a:t>&lt;click&gt;</a:t>
            </a:r>
          </a:p>
          <a:p>
            <a:r>
              <a:rPr lang="en-US" dirty="0"/>
              <a:t>Developers who wish to choose to run their own distribution of open-source Kubernetes can choose to deploy Tanzu Kubernetes Clusters (TKCs) within a vSphere Namespace rather than using native vSphere pods.  </a:t>
            </a:r>
          </a:p>
          <a:p>
            <a:endParaRPr lang="en-US" dirty="0"/>
          </a:p>
          <a:p>
            <a:r>
              <a:rPr lang="en-US" dirty="0"/>
              <a:t>This is a more common use case and allows Developers to use the “Supervisor Cluster” as a way to bootstrap Kubernetes guest clusters using the </a:t>
            </a:r>
            <a:r>
              <a:rPr lang="en-US" b="1" dirty="0"/>
              <a:t>Tanzu Kubernetes Grid (TKG) Service</a:t>
            </a:r>
            <a:r>
              <a:rPr lang="en-US" dirty="0"/>
              <a:t>.  The Kubernetes guest clusters created by the TKG service are commonly referred to as Tanzu Kubernetes Grid Clusters, or simply TKCs.  With TKCs, Developers can deploy upstream conformant K8s using different K8s versions to a vSphere Namespace.</a:t>
            </a:r>
          </a:p>
          <a:p>
            <a:r>
              <a:rPr lang="en-US" dirty="0"/>
              <a:t>As such, we will focus on the TKC use case and are not calling out the native K8s capabilities.</a:t>
            </a:r>
          </a:p>
          <a:p>
            <a:br>
              <a:rPr lang="en-US" dirty="0"/>
            </a:br>
            <a:r>
              <a:rPr lang="en-US" b="1" dirty="0"/>
              <a:t>Notes:</a:t>
            </a:r>
          </a:p>
          <a:p>
            <a:pPr marL="171450" indent="-171450">
              <a:buFontTx/>
              <a:buChar char="-"/>
            </a:pPr>
            <a:r>
              <a:rPr lang="en-US" dirty="0"/>
              <a:t>Native vSphere Kubernetes Pods are covered separately in a later section: Deploying Kubernetes Workloads – vSphere Pods.</a:t>
            </a:r>
          </a:p>
          <a:p>
            <a:pPr marL="171450" indent="-171450">
              <a:buFontTx/>
              <a:buChar char="-"/>
            </a:pPr>
            <a:r>
              <a:rPr lang="en-US" dirty="0"/>
              <a:t>Each TKC comprises of control plane node VMs (odd number) and one of more worker node VMs for the container workloads to run on.</a:t>
            </a:r>
          </a:p>
          <a:p>
            <a:pPr marL="171450" indent="-171450">
              <a:buFontTx/>
              <a:buChar char="-"/>
            </a:pPr>
            <a:r>
              <a:rPr lang="en-US" dirty="0"/>
              <a:t>A vSphere Namespace is created, configured and managed by the VI Admin.  </a:t>
            </a:r>
          </a:p>
          <a:p>
            <a:pPr marL="171450" indent="-171450">
              <a:buFontTx/>
              <a:buChar char="-"/>
            </a:pPr>
            <a:r>
              <a:rPr lang="en-US" dirty="0"/>
              <a:t>A Kubernetes Namespace </a:t>
            </a:r>
            <a:r>
              <a:rPr lang="en-US" b="1" dirty="0"/>
              <a:t>is different to a vSphere Namespace </a:t>
            </a:r>
            <a:r>
              <a:rPr lang="en-US" dirty="0"/>
              <a:t>and is configured and managed by the developer within a TKC.</a:t>
            </a:r>
          </a:p>
          <a:p>
            <a:endParaRPr lang="en-US" dirty="0">
              <a:latin typeface="Metropolis"/>
            </a:endParaRPr>
          </a:p>
          <a:p>
            <a:r>
              <a:rPr lang="en-US" b="1" dirty="0">
                <a:latin typeface="Metropolis"/>
              </a:rPr>
              <a:t>Resources:</a:t>
            </a:r>
          </a:p>
          <a:p>
            <a:r>
              <a:rPr lang="en-US" dirty="0">
                <a:latin typeface="Metropolis"/>
              </a:rPr>
              <a:t>For further detail on vSphere with Tanzu Architecture please refer to the VMware documentation:</a:t>
            </a:r>
          </a:p>
          <a:p>
            <a:r>
              <a:rPr lang="en-US" dirty="0">
                <a:latin typeface="Metropolis"/>
              </a:rPr>
              <a:t>https://docs.vmware.com/en/VMware-vSphere/7.0/vmware-vsphere-with-tanzu/GUID-3E4E6039-BD24-4C40-8575-5AA0EECBBBEC.html </a:t>
            </a:r>
          </a:p>
          <a:p>
            <a:endParaRPr lang="en-US" dirty="0">
              <a:latin typeface="Metropolis"/>
            </a:endParaRPr>
          </a:p>
          <a:p>
            <a:endParaRPr lang="en-US" dirty="0">
              <a:latin typeface="Metropolis"/>
            </a:endParaRPr>
          </a:p>
          <a:p>
            <a:endParaRPr lang="en-US" dirty="0">
              <a:latin typeface="Metropolis"/>
            </a:endParaRPr>
          </a:p>
        </p:txBody>
      </p:sp>
      <p:sp>
        <p:nvSpPr>
          <p:cNvPr id="4" name="Slide Number Placeholder 3">
            <a:extLst>
              <a:ext uri="{FF2B5EF4-FFF2-40B4-BE49-F238E27FC236}">
                <a16:creationId xmlns:a16="http://schemas.microsoft.com/office/drawing/2014/main" id="{28255A05-8785-5106-33B9-20EB7357B9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1832675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4106E-D255-877C-E99E-83FDABD25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ACBC4-9313-F03B-A5BB-4AA0E3B1C6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8B6F8-EEDA-09EF-0A04-FD877A284641}"/>
              </a:ext>
            </a:extLst>
          </p:cNvPr>
          <p:cNvSpPr>
            <a:spLocks noGrp="1"/>
          </p:cNvSpPr>
          <p:nvPr>
            <p:ph type="body" idx="1"/>
          </p:nvPr>
        </p:nvSpPr>
        <p:spPr/>
        <p:txBody>
          <a:bodyPr>
            <a:normAutofit fontScale="70000" lnSpcReduction="20000"/>
          </a:bodyPr>
          <a:lstStyle/>
          <a:p>
            <a:r>
              <a:rPr lang="en-US" b="1" dirty="0">
                <a:latin typeface="Metropolis"/>
              </a:rPr>
              <a:t>Presenter Note – this slide includes animation</a:t>
            </a:r>
            <a:endParaRPr lang="en-US" dirty="0"/>
          </a:p>
          <a:p>
            <a:endParaRPr lang="en-US" b="1" dirty="0">
              <a:latin typeface="Metropolis"/>
            </a:endParaRPr>
          </a:p>
          <a:p>
            <a:r>
              <a:rPr lang="en-US" b="1" dirty="0">
                <a:latin typeface="Metropolis"/>
              </a:rPr>
              <a:t>Key Message:</a:t>
            </a:r>
            <a:endParaRPr lang="en-US" dirty="0"/>
          </a:p>
          <a:p>
            <a:r>
              <a:rPr lang="en-US" dirty="0">
                <a:latin typeface="Metropolis"/>
              </a:rPr>
              <a:t>Introducing the key components to VMware Cloud Foundation with Tanzu.</a:t>
            </a:r>
          </a:p>
          <a:p>
            <a:endParaRPr lang="en-US" dirty="0">
              <a:latin typeface="Metropolis"/>
            </a:endParaRPr>
          </a:p>
          <a:p>
            <a:r>
              <a:rPr lang="en-US" b="1" dirty="0">
                <a:latin typeface="Metropolis"/>
              </a:rPr>
              <a:t>Talk Track:</a:t>
            </a:r>
          </a:p>
          <a:p>
            <a:r>
              <a:rPr lang="en-US" b="0" dirty="0">
                <a:latin typeface="Metropolis"/>
              </a:rPr>
              <a:t>SDDC Manager contains inbuilt workflows for Virtual Infrastructure Admins to enable Kubernetes workload management on any given workload domain.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creates a Kubernetes control plane inside the hypervisor layer of these hosts and contains specific objects </a:t>
            </a:r>
            <a:r>
              <a:rPr lang="en-AU" b="0" i="0" dirty="0">
                <a:solidFill>
                  <a:srgbClr val="333333"/>
                </a:solidFill>
                <a:effectLst/>
                <a:latin typeface="Metropolis" pitchFamily="2" charset="77"/>
              </a:rPr>
              <a:t>that enable the capability to run Kubernetes workloads within ESXi.</a:t>
            </a:r>
            <a:endParaRPr lang="en-US" dirty="0"/>
          </a:p>
          <a:p>
            <a:endParaRPr lang="en-US" dirty="0"/>
          </a:p>
          <a:p>
            <a:r>
              <a:rPr lang="en-US" dirty="0"/>
              <a:t>The control plane consists of a cluster of three virtual machines which we call the Supervisor cluster.  The “supervisor cluster” is a vSphere cluster where the native Kubernetes functionality provided by vSphere 7 has been enabled.  </a:t>
            </a:r>
          </a:p>
          <a:p>
            <a:endParaRPr lang="en-US" dirty="0"/>
          </a:p>
          <a:p>
            <a:r>
              <a:rPr lang="en-US" b="0" i="0" strike="noStrike" dirty="0">
                <a:solidFill>
                  <a:srgbClr val="333333"/>
                </a:solidFill>
                <a:effectLst/>
                <a:latin typeface="Metropolis"/>
              </a:rPr>
              <a:t>Within a VMware Cloud Foundation deployment, the Supervisor cluster</a:t>
            </a:r>
            <a:r>
              <a:rPr lang="en-AU" b="0" i="0" strike="noStrike" dirty="0">
                <a:solidFill>
                  <a:srgbClr val="333333"/>
                </a:solidFill>
                <a:effectLst/>
                <a:latin typeface="Metropolis"/>
              </a:rPr>
              <a:t> runs on top of an SDDC layer and leverages ESXi for compute, NSX and </a:t>
            </a:r>
            <a:r>
              <a:rPr lang="en-AU" b="0" i="0" strike="noStrike" dirty="0" err="1">
                <a:solidFill>
                  <a:srgbClr val="333333"/>
                </a:solidFill>
                <a:effectLst/>
                <a:latin typeface="Metropolis"/>
              </a:rPr>
              <a:t>vSAN</a:t>
            </a:r>
            <a:r>
              <a:rPr lang="en-AU" b="0" i="0" strike="noStrike" dirty="0">
                <a:solidFill>
                  <a:srgbClr val="333333"/>
                </a:solidFill>
                <a:effectLst/>
                <a:latin typeface="Metropolis"/>
              </a:rPr>
              <a:t> or other supported shared storage options.</a:t>
            </a:r>
            <a:endParaRPr lang="en-US" strike="noStrike" dirty="0">
              <a:latin typeface="Metropolis"/>
            </a:endParaRPr>
          </a:p>
          <a:p>
            <a:endParaRPr lang="en-US" dirty="0"/>
          </a:p>
          <a:p>
            <a:r>
              <a:rPr lang="en-US" dirty="0"/>
              <a:t>With Cloud Foundation, container workloads can be deployed directly on the supervisor cluster.  However, it’s important to understand that the K8s version used on the Supervisor cluster is tied to the version of vSphere. </a:t>
            </a:r>
          </a:p>
          <a:p>
            <a:r>
              <a:rPr lang="en-US" dirty="0"/>
              <a:t>The Cluster API and Tanzu Kubernetes Grid (TKG) services are also deployed to the Supervisor Cluster when Kubernetes Workload management is enabled.</a:t>
            </a:r>
          </a:p>
          <a:p>
            <a:endParaRPr lang="en-US" dirty="0"/>
          </a:p>
          <a:p>
            <a:r>
              <a:rPr lang="en-US" dirty="0"/>
              <a:t>&lt;click&gt;</a:t>
            </a:r>
          </a:p>
          <a:p>
            <a:r>
              <a:rPr lang="en-US" dirty="0"/>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dirty="0"/>
          </a:p>
          <a:p>
            <a:r>
              <a:rPr lang="en-US" dirty="0"/>
              <a:t>&lt;click&gt;</a:t>
            </a:r>
          </a:p>
          <a:p>
            <a:r>
              <a:rPr lang="en-US" dirty="0"/>
              <a:t>Developers who wish to choose to run their own distribution of open-source Kubernetes can choose to deploy Tanzu Kubernetes Clusters (TKCs) within a vSphere Namespace rather than using native vSphere pods.  </a:t>
            </a:r>
          </a:p>
          <a:p>
            <a:endParaRPr lang="en-US" dirty="0"/>
          </a:p>
          <a:p>
            <a:r>
              <a:rPr lang="en-US" dirty="0"/>
              <a:t>This is a more common use case and allows Developers to use the “Supervisor Cluster” as a way to bootstrap Kubernetes guest clusters using the </a:t>
            </a:r>
            <a:r>
              <a:rPr lang="en-US" b="1" dirty="0"/>
              <a:t>Tanzu Kubernetes Grid (TKG) Service</a:t>
            </a:r>
            <a:r>
              <a:rPr lang="en-US" dirty="0"/>
              <a:t>.  The Kubernetes guest clusters created by the TKG service are commonly referred to as Tanzu Kubernetes Grid Clusters, or simply TKCs.  With TKCs, Developers can deploy upstream conformant K8s using different K8s versions to a vSphere Namespace.</a:t>
            </a:r>
          </a:p>
          <a:p>
            <a:r>
              <a:rPr lang="en-US" dirty="0"/>
              <a:t>As such, we will focus on the TKC use case and are not calling out the native K8s capabilities.</a:t>
            </a:r>
          </a:p>
          <a:p>
            <a:br>
              <a:rPr lang="en-US" dirty="0"/>
            </a:br>
            <a:r>
              <a:rPr lang="en-US" b="1" dirty="0"/>
              <a:t>Notes:</a:t>
            </a:r>
          </a:p>
          <a:p>
            <a:pPr marL="171450" indent="-171450">
              <a:buFontTx/>
              <a:buChar char="-"/>
            </a:pPr>
            <a:r>
              <a:rPr lang="en-US" dirty="0"/>
              <a:t>Native vSphere Kubernetes Pods are covered separately in a later section: Deploying Kubernetes Workloads – vSphere Pods.</a:t>
            </a:r>
          </a:p>
          <a:p>
            <a:pPr marL="171450" indent="-171450">
              <a:buFontTx/>
              <a:buChar char="-"/>
            </a:pPr>
            <a:r>
              <a:rPr lang="en-US" dirty="0"/>
              <a:t>Each TKC comprises of control plane node VMs (odd number) and one of more worker node VMs for the container workloads to run on.</a:t>
            </a:r>
          </a:p>
          <a:p>
            <a:pPr marL="171450" indent="-171450">
              <a:buFontTx/>
              <a:buChar char="-"/>
            </a:pPr>
            <a:r>
              <a:rPr lang="en-US" dirty="0"/>
              <a:t>A vSphere Namespace is created, configured and managed by the VI Admin.  </a:t>
            </a:r>
          </a:p>
          <a:p>
            <a:pPr marL="171450" indent="-171450">
              <a:buFontTx/>
              <a:buChar char="-"/>
            </a:pPr>
            <a:r>
              <a:rPr lang="en-US" dirty="0"/>
              <a:t>A Kubernetes Namespace </a:t>
            </a:r>
            <a:r>
              <a:rPr lang="en-US" b="1" dirty="0"/>
              <a:t>is different to a vSphere Namespace </a:t>
            </a:r>
            <a:r>
              <a:rPr lang="en-US" dirty="0"/>
              <a:t>and is configured and managed by the developer within a TKC.</a:t>
            </a:r>
          </a:p>
          <a:p>
            <a:endParaRPr lang="en-US" dirty="0">
              <a:latin typeface="Metropolis"/>
            </a:endParaRPr>
          </a:p>
          <a:p>
            <a:r>
              <a:rPr lang="en-US" b="1" dirty="0">
                <a:latin typeface="Metropolis"/>
              </a:rPr>
              <a:t>Resources:</a:t>
            </a:r>
          </a:p>
          <a:p>
            <a:r>
              <a:rPr lang="en-US" dirty="0">
                <a:latin typeface="Metropolis"/>
              </a:rPr>
              <a:t>For further detail on vSphere with Tanzu Architecture please refer to the VMware documentation:</a:t>
            </a:r>
          </a:p>
          <a:p>
            <a:r>
              <a:rPr lang="en-US" dirty="0">
                <a:latin typeface="Metropolis"/>
              </a:rPr>
              <a:t>https://</a:t>
            </a:r>
            <a:r>
              <a:rPr lang="en-US" dirty="0" err="1">
                <a:latin typeface="Metropolis"/>
              </a:rPr>
              <a:t>docs.vmware.com</a:t>
            </a:r>
            <a:r>
              <a:rPr lang="en-US" dirty="0">
                <a:latin typeface="Metropolis"/>
              </a:rPr>
              <a:t>/</a:t>
            </a:r>
            <a:r>
              <a:rPr lang="en-US" dirty="0" err="1">
                <a:latin typeface="Metropolis"/>
              </a:rPr>
              <a:t>en</a:t>
            </a:r>
            <a:r>
              <a:rPr lang="en-US" dirty="0">
                <a:latin typeface="Metropolis"/>
              </a:rPr>
              <a:t>/VMware-vSphere/7.0/</a:t>
            </a:r>
            <a:r>
              <a:rPr lang="en-US" dirty="0" err="1">
                <a:latin typeface="Metropolis"/>
              </a:rPr>
              <a:t>vmware</a:t>
            </a:r>
            <a:r>
              <a:rPr lang="en-US" dirty="0">
                <a:latin typeface="Metropolis"/>
              </a:rPr>
              <a:t>-</a:t>
            </a:r>
            <a:r>
              <a:rPr lang="en-US" dirty="0" err="1">
                <a:latin typeface="Metropolis"/>
              </a:rPr>
              <a:t>vsphere</a:t>
            </a:r>
            <a:r>
              <a:rPr lang="en-US" dirty="0">
                <a:latin typeface="Metropolis"/>
              </a:rPr>
              <a:t>-with-</a:t>
            </a:r>
            <a:r>
              <a:rPr lang="en-US" dirty="0" err="1">
                <a:latin typeface="Metropolis"/>
              </a:rPr>
              <a:t>tanzu</a:t>
            </a:r>
            <a:r>
              <a:rPr lang="en-US" dirty="0">
                <a:latin typeface="Metropolis"/>
              </a:rPr>
              <a:t>/GUID-3E4E6039-BD24-4C40-8575-5AA0EECBBBEC.html </a:t>
            </a:r>
          </a:p>
          <a:p>
            <a:endParaRPr lang="en-US" dirty="0">
              <a:latin typeface="Metropolis"/>
            </a:endParaRPr>
          </a:p>
          <a:p>
            <a:endParaRPr lang="en-US" dirty="0">
              <a:latin typeface="Metropolis"/>
            </a:endParaRPr>
          </a:p>
          <a:p>
            <a:endParaRPr lang="en-US" dirty="0">
              <a:latin typeface="Metropolis"/>
            </a:endParaRPr>
          </a:p>
        </p:txBody>
      </p:sp>
      <p:sp>
        <p:nvSpPr>
          <p:cNvPr id="4" name="Slide Number Placeholder 3">
            <a:extLst>
              <a:ext uri="{FF2B5EF4-FFF2-40B4-BE49-F238E27FC236}">
                <a16:creationId xmlns:a16="http://schemas.microsoft.com/office/drawing/2014/main" id="{24C0B948-F06E-AA82-C2B4-B78CF40215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25842986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AF161-21F7-B8C6-F2B8-2CC30B7AA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DB137-4BC1-6863-75BF-1427C6752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D7FF5-2ED8-64D0-D0B1-4BC5A9D675DE}"/>
              </a:ext>
            </a:extLst>
          </p:cNvPr>
          <p:cNvSpPr>
            <a:spLocks noGrp="1"/>
          </p:cNvSpPr>
          <p:nvPr>
            <p:ph type="body" idx="1"/>
          </p:nvPr>
        </p:nvSpPr>
        <p:spPr/>
        <p:txBody>
          <a:bodyPr>
            <a:normAutofit fontScale="70000" lnSpcReduction="20000"/>
          </a:bodyPr>
          <a:lstStyle/>
          <a:p>
            <a:r>
              <a:rPr lang="en-US" b="1">
                <a:latin typeface="Metropolis"/>
              </a:rPr>
              <a:t>Presenter Note – this slide includes animation</a:t>
            </a:r>
            <a:endParaRPr lang="en-US"/>
          </a:p>
          <a:p>
            <a:endParaRPr lang="en-US" b="1">
              <a:latin typeface="Metropolis"/>
            </a:endParaRPr>
          </a:p>
          <a:p>
            <a:r>
              <a:rPr lang="en-US" b="1">
                <a:latin typeface="Metropolis"/>
              </a:rPr>
              <a:t>Key Message:</a:t>
            </a:r>
            <a:endParaRPr lang="en-US"/>
          </a:p>
          <a:p>
            <a:r>
              <a:rPr lang="en-US">
                <a:latin typeface="Metropolis"/>
              </a:rPr>
              <a:t>Introducing the key components to VMware Cloud Foundation with Tanzu.</a:t>
            </a:r>
          </a:p>
          <a:p>
            <a:endParaRPr lang="en-US">
              <a:latin typeface="Metropolis"/>
            </a:endParaRPr>
          </a:p>
          <a:p>
            <a:r>
              <a:rPr lang="en-US" b="1">
                <a:latin typeface="Metropolis"/>
              </a:rPr>
              <a:t>Talk Track:</a:t>
            </a:r>
          </a:p>
          <a:p>
            <a:r>
              <a:rPr lang="en-US" b="0">
                <a:latin typeface="Metropolis"/>
              </a:rPr>
              <a:t>SDDC Manager contains inbuilt workflows for Virtual Infrastructure Admins to enable Kubernetes workload management on any given workload domain.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process creates a Kubernetes control plane inside the hypervisor layer of these hosts and contains </a:t>
            </a:r>
            <a:r>
              <a:rPr lang="en-US" err="1"/>
              <a:t>specifc</a:t>
            </a:r>
            <a:r>
              <a:rPr lang="en-US"/>
              <a:t> objects </a:t>
            </a:r>
            <a:r>
              <a:rPr lang="en-AU" b="0" i="0">
                <a:solidFill>
                  <a:srgbClr val="333333"/>
                </a:solidFill>
                <a:effectLst/>
                <a:latin typeface="Metropolis" pitchFamily="2" charset="77"/>
              </a:rPr>
              <a:t>that enable the capability to run Kubernetes workloads within </a:t>
            </a:r>
            <a:r>
              <a:rPr lang="en-AU" b="0" i="0" err="1">
                <a:solidFill>
                  <a:srgbClr val="333333"/>
                </a:solidFill>
                <a:effectLst/>
                <a:latin typeface="Metropolis" pitchFamily="2" charset="77"/>
              </a:rPr>
              <a:t>ESXi</a:t>
            </a:r>
            <a:r>
              <a:rPr lang="en-AU" b="0" i="0">
                <a:solidFill>
                  <a:srgbClr val="333333"/>
                </a:solidFill>
                <a:effectLst/>
                <a:latin typeface="Metropolis" pitchFamily="2" charset="77"/>
              </a:rPr>
              <a:t>.</a:t>
            </a:r>
            <a:endParaRPr lang="en-US"/>
          </a:p>
          <a:p>
            <a:endParaRPr lang="en-US"/>
          </a:p>
          <a:p>
            <a:r>
              <a:rPr lang="en-US"/>
              <a:t>The control plane consists of a cluster of three virtual machines which we call the Supervisor cluster.  The “supervisor cluster” is a vSphere cluster where the native Kubernetes functionality provided by vSphere 7 has been enabled.  </a:t>
            </a:r>
          </a:p>
          <a:p>
            <a:endParaRPr lang="en-US"/>
          </a:p>
          <a:p>
            <a:r>
              <a:rPr lang="en-US" b="0" i="0" strike="noStrike">
                <a:solidFill>
                  <a:srgbClr val="333333"/>
                </a:solidFill>
                <a:effectLst/>
                <a:latin typeface="Metropolis"/>
              </a:rPr>
              <a:t>Within a VMware Cloud Foundation deployment, the Supervisor cluster</a:t>
            </a:r>
            <a:r>
              <a:rPr lang="en-AU" b="0" i="0" strike="noStrike">
                <a:solidFill>
                  <a:srgbClr val="333333"/>
                </a:solidFill>
                <a:effectLst/>
                <a:latin typeface="Metropolis"/>
              </a:rPr>
              <a:t> runs on top of an SDDC layer and leverages </a:t>
            </a:r>
            <a:r>
              <a:rPr lang="en-AU" b="0" i="0" strike="noStrike" err="1">
                <a:solidFill>
                  <a:srgbClr val="333333"/>
                </a:solidFill>
                <a:effectLst/>
                <a:latin typeface="Metropolis"/>
              </a:rPr>
              <a:t>ESXi</a:t>
            </a:r>
            <a:r>
              <a:rPr lang="en-AU" b="0" i="0" strike="noStrike">
                <a:solidFill>
                  <a:srgbClr val="333333"/>
                </a:solidFill>
                <a:effectLst/>
                <a:latin typeface="Metropolis"/>
              </a:rPr>
              <a:t> for compute, NSX and </a:t>
            </a:r>
            <a:r>
              <a:rPr lang="en-AU" b="0" i="0" strike="noStrike" err="1">
                <a:solidFill>
                  <a:srgbClr val="333333"/>
                </a:solidFill>
                <a:effectLst/>
                <a:latin typeface="Metropolis"/>
              </a:rPr>
              <a:t>vSAN</a:t>
            </a:r>
            <a:r>
              <a:rPr lang="en-AU" b="0" i="0" strike="noStrike">
                <a:solidFill>
                  <a:srgbClr val="333333"/>
                </a:solidFill>
                <a:effectLst/>
                <a:latin typeface="Metropolis"/>
              </a:rPr>
              <a:t> or other supported shared storage options.</a:t>
            </a:r>
            <a:endParaRPr lang="en-US" strike="noStrike">
              <a:latin typeface="Metropolis"/>
            </a:endParaRPr>
          </a:p>
          <a:p>
            <a:endParaRPr lang="en-US"/>
          </a:p>
          <a:p>
            <a:r>
              <a:rPr lang="en-US"/>
              <a:t>With Cloud Foundation, container workloads can be deployed directly on the supervisor cluster.  However, it’s important to understand that the K8s version used on the Supervisor cluster is tied to the version of vSphere. </a:t>
            </a:r>
          </a:p>
          <a:p>
            <a:r>
              <a:rPr lang="en-US"/>
              <a:t>The Cluster API and Tanzu Kubernetes Grid (TKG) services are also deployed to the Supervisor Cluster when Kubernetes Workload management is enabled.</a:t>
            </a:r>
          </a:p>
          <a:p>
            <a:endParaRPr lang="en-US"/>
          </a:p>
          <a:p>
            <a:r>
              <a:rPr lang="en-US"/>
              <a:t>&lt;click&gt;</a:t>
            </a:r>
          </a:p>
          <a:p>
            <a:r>
              <a:rPr lang="en-US"/>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a:p>
          <a:p>
            <a:r>
              <a:rPr lang="en-US"/>
              <a:t>&lt;click&gt;</a:t>
            </a:r>
          </a:p>
          <a:p>
            <a:r>
              <a:rPr lang="en-US"/>
              <a:t>Developers who wish to choose to run their own distribution of open-source Kubernetes can choose to deploy Tanzu Kubernetes Clusters (TKCs) within a vSphere Namespace rather than using native vSphere pods.  </a:t>
            </a:r>
          </a:p>
          <a:p>
            <a:endParaRPr lang="en-US"/>
          </a:p>
          <a:p>
            <a:r>
              <a:rPr lang="en-US"/>
              <a:t>This is a more common use case and allows Developers to use the “Supervisor Cluster” as a way to bootstrap Kubernetes guest clusters using the </a:t>
            </a:r>
            <a:r>
              <a:rPr lang="en-US" b="1"/>
              <a:t>Tanzu Kubernetes Grid (TKG) Service</a:t>
            </a:r>
            <a:r>
              <a:rPr lang="en-US"/>
              <a:t>.  The Kubernetes guest clusters created by the TKG service are commonly referred to as Tanzu Kubernetes Grid Clusters, or simply TKCs.  With TKCs, Developers can deploy upstream conformant K8s using different K8s versions to a vSphere Namespace.</a:t>
            </a:r>
          </a:p>
          <a:p>
            <a:r>
              <a:rPr lang="en-US"/>
              <a:t>As such, we will focus on the TKC use case and are not calling out the native K8s capabilities.</a:t>
            </a:r>
          </a:p>
          <a:p>
            <a:br>
              <a:rPr lang="en-US"/>
            </a:br>
            <a:r>
              <a:rPr lang="en-US" b="1"/>
              <a:t>Notes:</a:t>
            </a:r>
          </a:p>
          <a:p>
            <a:pPr marL="171450" indent="-171450">
              <a:buFontTx/>
              <a:buChar char="-"/>
            </a:pPr>
            <a:r>
              <a:rPr lang="en-US"/>
              <a:t>Native vSphere Kubernetes Pods are covered separately in a later section: Deploying Kubernetes Workloads – vSphere Pods.</a:t>
            </a:r>
          </a:p>
          <a:p>
            <a:pPr marL="171450" indent="-171450">
              <a:buFontTx/>
              <a:buChar char="-"/>
            </a:pPr>
            <a:r>
              <a:rPr lang="en-US"/>
              <a:t>Each TKC comprises of control plane node VMs (odd number) and one of more worker node VMs for the container workloads to run on.</a:t>
            </a:r>
          </a:p>
          <a:p>
            <a:pPr marL="171450" indent="-171450">
              <a:buFontTx/>
              <a:buChar char="-"/>
            </a:pPr>
            <a:r>
              <a:rPr lang="en-US"/>
              <a:t>A vSphere Namespace is created, configured and managed by the VI Admin.  </a:t>
            </a:r>
          </a:p>
          <a:p>
            <a:pPr marL="171450" indent="-171450">
              <a:buFontTx/>
              <a:buChar char="-"/>
            </a:pPr>
            <a:r>
              <a:rPr lang="en-US"/>
              <a:t>A Kubernetes Namespace </a:t>
            </a:r>
            <a:r>
              <a:rPr lang="en-US" b="1"/>
              <a:t>is different to a vSphere Namespace </a:t>
            </a:r>
            <a:r>
              <a:rPr lang="en-US"/>
              <a:t>and is configured and managed by the developer within a TKC.</a:t>
            </a:r>
          </a:p>
          <a:p>
            <a:endParaRPr lang="en-US">
              <a:latin typeface="Metropolis"/>
            </a:endParaRPr>
          </a:p>
          <a:p>
            <a:r>
              <a:rPr lang="en-US" b="1">
                <a:latin typeface="Metropolis"/>
              </a:rPr>
              <a:t>Resources:</a:t>
            </a:r>
          </a:p>
          <a:p>
            <a:r>
              <a:rPr lang="en-US">
                <a:latin typeface="Metropolis"/>
              </a:rPr>
              <a:t>For further detail on vSphere with Tanzu Architecture please refer to the VMware documentation:</a:t>
            </a:r>
          </a:p>
          <a:p>
            <a:r>
              <a:rPr lang="en-US">
                <a:latin typeface="Metropolis"/>
              </a:rPr>
              <a:t>https://</a:t>
            </a:r>
            <a:r>
              <a:rPr lang="en-US" err="1">
                <a:latin typeface="Metropolis"/>
              </a:rPr>
              <a:t>docs.vmware.com</a:t>
            </a:r>
            <a:r>
              <a:rPr lang="en-US">
                <a:latin typeface="Metropolis"/>
              </a:rPr>
              <a:t>/</a:t>
            </a:r>
            <a:r>
              <a:rPr lang="en-US" err="1">
                <a:latin typeface="Metropolis"/>
              </a:rPr>
              <a:t>en</a:t>
            </a:r>
            <a:r>
              <a:rPr lang="en-US">
                <a:latin typeface="Metropolis"/>
              </a:rPr>
              <a:t>/VMware-vSphere/7.0/</a:t>
            </a:r>
            <a:r>
              <a:rPr lang="en-US" err="1">
                <a:latin typeface="Metropolis"/>
              </a:rPr>
              <a:t>vmware</a:t>
            </a:r>
            <a:r>
              <a:rPr lang="en-US">
                <a:latin typeface="Metropolis"/>
              </a:rPr>
              <a:t>-</a:t>
            </a:r>
            <a:r>
              <a:rPr lang="en-US" err="1">
                <a:latin typeface="Metropolis"/>
              </a:rPr>
              <a:t>vsphere</a:t>
            </a:r>
            <a:r>
              <a:rPr lang="en-US">
                <a:latin typeface="Metropolis"/>
              </a:rPr>
              <a:t>-with-</a:t>
            </a:r>
            <a:r>
              <a:rPr lang="en-US" err="1">
                <a:latin typeface="Metropolis"/>
              </a:rPr>
              <a:t>tanzu</a:t>
            </a:r>
            <a:r>
              <a:rPr lang="en-US">
                <a:latin typeface="Metropolis"/>
              </a:rPr>
              <a:t>/GUID-3E4E6039-BD24-4C40-8575-5AA0EECBBBEC.html </a:t>
            </a:r>
          </a:p>
          <a:p>
            <a:endParaRPr lang="en-US">
              <a:latin typeface="Metropolis"/>
            </a:endParaRPr>
          </a:p>
          <a:p>
            <a:endParaRPr lang="en-US">
              <a:latin typeface="Metropolis"/>
            </a:endParaRPr>
          </a:p>
          <a:p>
            <a:endParaRPr lang="en-US">
              <a:latin typeface="Metropolis"/>
            </a:endParaRPr>
          </a:p>
        </p:txBody>
      </p:sp>
      <p:sp>
        <p:nvSpPr>
          <p:cNvPr id="4" name="Slide Number Placeholder 3">
            <a:extLst>
              <a:ext uri="{FF2B5EF4-FFF2-40B4-BE49-F238E27FC236}">
                <a16:creationId xmlns:a16="http://schemas.microsoft.com/office/drawing/2014/main" id="{F3107297-88D3-AE3A-6234-522DD8F394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13906004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97684-D356-9C14-8CBF-82143528B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88868-2326-922D-7CE2-CCA634AA8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F9906-6E3D-3DE9-6C43-B8B4B706F144}"/>
              </a:ext>
            </a:extLst>
          </p:cNvPr>
          <p:cNvSpPr>
            <a:spLocks noGrp="1"/>
          </p:cNvSpPr>
          <p:nvPr>
            <p:ph type="body" idx="1"/>
          </p:nvPr>
        </p:nvSpPr>
        <p:spPr/>
        <p:txBody>
          <a:bodyPr>
            <a:normAutofit fontScale="70000" lnSpcReduction="20000"/>
          </a:bodyPr>
          <a:lstStyle/>
          <a:p>
            <a:r>
              <a:rPr lang="en-US" b="1">
                <a:latin typeface="Metropolis"/>
              </a:rPr>
              <a:t>Presenter Note – this slide includes animation</a:t>
            </a:r>
            <a:endParaRPr lang="en-US"/>
          </a:p>
          <a:p>
            <a:endParaRPr lang="en-US" b="1">
              <a:latin typeface="Metropolis"/>
            </a:endParaRPr>
          </a:p>
          <a:p>
            <a:r>
              <a:rPr lang="en-US" b="1">
                <a:latin typeface="Metropolis"/>
              </a:rPr>
              <a:t>Key Message:</a:t>
            </a:r>
            <a:endParaRPr lang="en-US"/>
          </a:p>
          <a:p>
            <a:r>
              <a:rPr lang="en-US">
                <a:latin typeface="Metropolis"/>
              </a:rPr>
              <a:t>Introducing the key components to VMware Cloud Foundation with Tanzu.</a:t>
            </a:r>
          </a:p>
          <a:p>
            <a:endParaRPr lang="en-US">
              <a:latin typeface="Metropolis"/>
            </a:endParaRPr>
          </a:p>
          <a:p>
            <a:r>
              <a:rPr lang="en-US" b="1">
                <a:latin typeface="Metropolis"/>
              </a:rPr>
              <a:t>Talk Track:</a:t>
            </a:r>
          </a:p>
          <a:p>
            <a:r>
              <a:rPr lang="en-US" b="0">
                <a:latin typeface="Metropolis"/>
              </a:rPr>
              <a:t>SDDC Manager contains inbuilt workflows for Virtual Infrastructure Admins to enable Kubernetes workload management on any given workload domain.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process creates a Kubernetes control plane inside the hypervisor layer of these hosts and contains </a:t>
            </a:r>
            <a:r>
              <a:rPr lang="en-US" err="1"/>
              <a:t>specifc</a:t>
            </a:r>
            <a:r>
              <a:rPr lang="en-US"/>
              <a:t> objects </a:t>
            </a:r>
            <a:r>
              <a:rPr lang="en-AU" b="0" i="0">
                <a:solidFill>
                  <a:srgbClr val="333333"/>
                </a:solidFill>
                <a:effectLst/>
                <a:latin typeface="Metropolis" pitchFamily="2" charset="77"/>
              </a:rPr>
              <a:t>that enable the capability to run Kubernetes workloads within </a:t>
            </a:r>
            <a:r>
              <a:rPr lang="en-AU" b="0" i="0" err="1">
                <a:solidFill>
                  <a:srgbClr val="333333"/>
                </a:solidFill>
                <a:effectLst/>
                <a:latin typeface="Metropolis" pitchFamily="2" charset="77"/>
              </a:rPr>
              <a:t>ESXi</a:t>
            </a:r>
            <a:r>
              <a:rPr lang="en-AU" b="0" i="0">
                <a:solidFill>
                  <a:srgbClr val="333333"/>
                </a:solidFill>
                <a:effectLst/>
                <a:latin typeface="Metropolis" pitchFamily="2" charset="77"/>
              </a:rPr>
              <a:t>.</a:t>
            </a:r>
            <a:endParaRPr lang="en-US"/>
          </a:p>
          <a:p>
            <a:endParaRPr lang="en-US"/>
          </a:p>
          <a:p>
            <a:r>
              <a:rPr lang="en-US"/>
              <a:t>The control plane consists of a cluster of three virtual machines which we call the Supervisor cluster.  The “supervisor cluster” is a vSphere cluster where the native Kubernetes functionality provided by vSphere 7 has been enabled.  </a:t>
            </a:r>
          </a:p>
          <a:p>
            <a:endParaRPr lang="en-US"/>
          </a:p>
          <a:p>
            <a:r>
              <a:rPr lang="en-US" b="0" i="0" strike="noStrike">
                <a:solidFill>
                  <a:srgbClr val="333333"/>
                </a:solidFill>
                <a:effectLst/>
                <a:latin typeface="Metropolis"/>
              </a:rPr>
              <a:t>Within a VMware Cloud Foundation deployment, the Supervisor cluster</a:t>
            </a:r>
            <a:r>
              <a:rPr lang="en-AU" b="0" i="0" strike="noStrike">
                <a:solidFill>
                  <a:srgbClr val="333333"/>
                </a:solidFill>
                <a:effectLst/>
                <a:latin typeface="Metropolis"/>
              </a:rPr>
              <a:t> runs on top of an SDDC layer and leverages </a:t>
            </a:r>
            <a:r>
              <a:rPr lang="en-AU" b="0" i="0" strike="noStrike" err="1">
                <a:solidFill>
                  <a:srgbClr val="333333"/>
                </a:solidFill>
                <a:effectLst/>
                <a:latin typeface="Metropolis"/>
              </a:rPr>
              <a:t>ESXi</a:t>
            </a:r>
            <a:r>
              <a:rPr lang="en-AU" b="0" i="0" strike="noStrike">
                <a:solidFill>
                  <a:srgbClr val="333333"/>
                </a:solidFill>
                <a:effectLst/>
                <a:latin typeface="Metropolis"/>
              </a:rPr>
              <a:t> for compute, NSX and </a:t>
            </a:r>
            <a:r>
              <a:rPr lang="en-AU" b="0" i="0" strike="noStrike" err="1">
                <a:solidFill>
                  <a:srgbClr val="333333"/>
                </a:solidFill>
                <a:effectLst/>
                <a:latin typeface="Metropolis"/>
              </a:rPr>
              <a:t>vSAN</a:t>
            </a:r>
            <a:r>
              <a:rPr lang="en-AU" b="0" i="0" strike="noStrike">
                <a:solidFill>
                  <a:srgbClr val="333333"/>
                </a:solidFill>
                <a:effectLst/>
                <a:latin typeface="Metropolis"/>
              </a:rPr>
              <a:t> or other supported shared storage options.</a:t>
            </a:r>
            <a:endParaRPr lang="en-US" strike="noStrike">
              <a:latin typeface="Metropolis"/>
            </a:endParaRPr>
          </a:p>
          <a:p>
            <a:endParaRPr lang="en-US"/>
          </a:p>
          <a:p>
            <a:r>
              <a:rPr lang="en-US"/>
              <a:t>With Cloud Foundation, container workloads can be deployed directly on the supervisor cluster.  However, it’s important to understand that the K8s version used on the Supervisor cluster is tied to the version of vSphere. </a:t>
            </a:r>
          </a:p>
          <a:p>
            <a:r>
              <a:rPr lang="en-US"/>
              <a:t>The Cluster API and Tanzu Kubernetes Grid (TKG) services are also deployed to the Supervisor Cluster when Kubernetes Workload management is enabled.</a:t>
            </a:r>
          </a:p>
          <a:p>
            <a:endParaRPr lang="en-US"/>
          </a:p>
          <a:p>
            <a:r>
              <a:rPr lang="en-US"/>
              <a:t>&lt;click&gt;</a:t>
            </a:r>
          </a:p>
          <a:p>
            <a:r>
              <a:rPr lang="en-US"/>
              <a:t>Next, the VI Admin then configures one or more vSphere Namespaces.  vSphere Namespaces serve as a resource boundary for native vSphere pods to run.  These native Pods would run the version of Kubernetes supported by the vSphere hypervisor.  CPU, memory and storage resources within a vSphere cluster can be set and managed by the VI Admin.  A Supervisor cluster can be configured to run multiple vSphere namespaces.  Within the vSphere namespace, the VI Admin can manage authentication access for develop teams that wish to run Kubernetes on this infrastructure and set resource consumption policies.</a:t>
            </a:r>
          </a:p>
          <a:p>
            <a:endParaRPr lang="en-US"/>
          </a:p>
          <a:p>
            <a:r>
              <a:rPr lang="en-US"/>
              <a:t>&lt;click&gt;</a:t>
            </a:r>
          </a:p>
          <a:p>
            <a:r>
              <a:rPr lang="en-US"/>
              <a:t>Developers who wish to choose to run their own distribution of open-source Kubernetes can choose to deploy Tanzu Kubernetes Clusters (TKCs) within a vSphere Namespace rather than using native vSphere pods.  </a:t>
            </a:r>
          </a:p>
          <a:p>
            <a:endParaRPr lang="en-US"/>
          </a:p>
          <a:p>
            <a:r>
              <a:rPr lang="en-US"/>
              <a:t>This is a more common use case and allows Developers to use the “Supervisor Cluster” as a way to bootstrap Kubernetes guest clusters using the </a:t>
            </a:r>
            <a:r>
              <a:rPr lang="en-US" b="1"/>
              <a:t>Tanzu Kubernetes Grid (TKG) Service</a:t>
            </a:r>
            <a:r>
              <a:rPr lang="en-US"/>
              <a:t>.  The Kubernetes guest clusters created by the TKG service are commonly referred to as Tanzu Kubernetes Grid Clusters, or simply TKCs.  With TKCs, Developers can deploy upstream conformant K8s using different K8s versions to a vSphere Namespace.</a:t>
            </a:r>
          </a:p>
          <a:p>
            <a:r>
              <a:rPr lang="en-US"/>
              <a:t>As such, we will focus on the TKC use case and are not calling out the native K8s capabilities.</a:t>
            </a:r>
          </a:p>
          <a:p>
            <a:br>
              <a:rPr lang="en-US"/>
            </a:br>
            <a:r>
              <a:rPr lang="en-US" b="1"/>
              <a:t>Notes:</a:t>
            </a:r>
          </a:p>
          <a:p>
            <a:pPr marL="171450" indent="-171450">
              <a:buFontTx/>
              <a:buChar char="-"/>
            </a:pPr>
            <a:r>
              <a:rPr lang="en-US"/>
              <a:t>Native vSphere Kubernetes Pods are covered separately in a later section: Deploying Kubernetes Workloads – vSphere Pods.</a:t>
            </a:r>
          </a:p>
          <a:p>
            <a:pPr marL="171450" indent="-171450">
              <a:buFontTx/>
              <a:buChar char="-"/>
            </a:pPr>
            <a:r>
              <a:rPr lang="en-US"/>
              <a:t>Each TKC comprises of control plane node VMs (odd number) and one of more worker node VMs for the container workloads to run on.</a:t>
            </a:r>
          </a:p>
          <a:p>
            <a:pPr marL="171450" indent="-171450">
              <a:buFontTx/>
              <a:buChar char="-"/>
            </a:pPr>
            <a:r>
              <a:rPr lang="en-US"/>
              <a:t>A vSphere Namespace is created, configured and managed by the VI Admin.  </a:t>
            </a:r>
          </a:p>
          <a:p>
            <a:pPr marL="171450" indent="-171450">
              <a:buFontTx/>
              <a:buChar char="-"/>
            </a:pPr>
            <a:r>
              <a:rPr lang="en-US"/>
              <a:t>A Kubernetes Namespace </a:t>
            </a:r>
            <a:r>
              <a:rPr lang="en-US" b="1"/>
              <a:t>is different to a vSphere Namespace </a:t>
            </a:r>
            <a:r>
              <a:rPr lang="en-US"/>
              <a:t>and is configured and managed by the developer within a TKC.</a:t>
            </a:r>
          </a:p>
          <a:p>
            <a:endParaRPr lang="en-US">
              <a:latin typeface="Metropolis"/>
            </a:endParaRPr>
          </a:p>
          <a:p>
            <a:r>
              <a:rPr lang="en-US" b="1">
                <a:latin typeface="Metropolis"/>
              </a:rPr>
              <a:t>Resources:</a:t>
            </a:r>
          </a:p>
          <a:p>
            <a:r>
              <a:rPr lang="en-US">
                <a:latin typeface="Metropolis"/>
              </a:rPr>
              <a:t>For further detail on vSphere with Tanzu Architecture please refer to the VMware documentation:</a:t>
            </a:r>
          </a:p>
          <a:p>
            <a:r>
              <a:rPr lang="en-US">
                <a:latin typeface="Metropolis"/>
              </a:rPr>
              <a:t>https://</a:t>
            </a:r>
            <a:r>
              <a:rPr lang="en-US" err="1">
                <a:latin typeface="Metropolis"/>
              </a:rPr>
              <a:t>docs.vmware.com</a:t>
            </a:r>
            <a:r>
              <a:rPr lang="en-US">
                <a:latin typeface="Metropolis"/>
              </a:rPr>
              <a:t>/</a:t>
            </a:r>
            <a:r>
              <a:rPr lang="en-US" err="1">
                <a:latin typeface="Metropolis"/>
              </a:rPr>
              <a:t>en</a:t>
            </a:r>
            <a:r>
              <a:rPr lang="en-US">
                <a:latin typeface="Metropolis"/>
              </a:rPr>
              <a:t>/VMware-vSphere/7.0/</a:t>
            </a:r>
            <a:r>
              <a:rPr lang="en-US" err="1">
                <a:latin typeface="Metropolis"/>
              </a:rPr>
              <a:t>vmware</a:t>
            </a:r>
            <a:r>
              <a:rPr lang="en-US">
                <a:latin typeface="Metropolis"/>
              </a:rPr>
              <a:t>-</a:t>
            </a:r>
            <a:r>
              <a:rPr lang="en-US" err="1">
                <a:latin typeface="Metropolis"/>
              </a:rPr>
              <a:t>vsphere</a:t>
            </a:r>
            <a:r>
              <a:rPr lang="en-US">
                <a:latin typeface="Metropolis"/>
              </a:rPr>
              <a:t>-with-</a:t>
            </a:r>
            <a:r>
              <a:rPr lang="en-US" err="1">
                <a:latin typeface="Metropolis"/>
              </a:rPr>
              <a:t>tanzu</a:t>
            </a:r>
            <a:r>
              <a:rPr lang="en-US">
                <a:latin typeface="Metropolis"/>
              </a:rPr>
              <a:t>/GUID-3E4E6039-BD24-4C40-8575-5AA0EECBBBEC.html </a:t>
            </a:r>
          </a:p>
          <a:p>
            <a:endParaRPr lang="en-US">
              <a:latin typeface="Metropolis"/>
            </a:endParaRPr>
          </a:p>
          <a:p>
            <a:endParaRPr lang="en-US">
              <a:latin typeface="Metropolis"/>
            </a:endParaRPr>
          </a:p>
          <a:p>
            <a:endParaRPr lang="en-US">
              <a:latin typeface="Metropolis"/>
            </a:endParaRPr>
          </a:p>
        </p:txBody>
      </p:sp>
      <p:sp>
        <p:nvSpPr>
          <p:cNvPr id="4" name="Slide Number Placeholder 3">
            <a:extLst>
              <a:ext uri="{FF2B5EF4-FFF2-40B4-BE49-F238E27FC236}">
                <a16:creationId xmlns:a16="http://schemas.microsoft.com/office/drawing/2014/main" id="{FED92C5C-9525-86B0-5786-FD38D14ACF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Metropolis" panose="000005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srgbClr val="717074"/>
              </a:solidFill>
              <a:effectLst/>
              <a:uLnTx/>
              <a:uFillTx/>
              <a:latin typeface="Metropolis" panose="00000500000000000000" pitchFamily="50" charset="0"/>
              <a:ea typeface="+mn-ea"/>
              <a:cs typeface="+mn-cs"/>
            </a:endParaRPr>
          </a:p>
        </p:txBody>
      </p:sp>
    </p:spTree>
    <p:extLst>
      <p:ext uri="{BB962C8B-B14F-4D97-AF65-F5344CB8AC3E}">
        <p14:creationId xmlns:p14="http://schemas.microsoft.com/office/powerpoint/2010/main" val="4271687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106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pic>
        <p:nvPicPr>
          <p:cNvPr id="3" name="Picture 2" descr="A green and blue arrow&#10;&#10;Description automatically generated">
            <a:extLst>
              <a:ext uri="{FF2B5EF4-FFF2-40B4-BE49-F238E27FC236}">
                <a16:creationId xmlns:a16="http://schemas.microsoft.com/office/drawing/2014/main" id="{990FA974-1447-48EB-6DB3-A5B1BDBCA2FA}"/>
              </a:ext>
            </a:extLst>
          </p:cNvPr>
          <p:cNvPicPr>
            <a:picLocks noChangeAspect="1"/>
          </p:cNvPicPr>
          <p:nvPr userDrawn="1"/>
        </p:nvPicPr>
        <p:blipFill rotWithShape="1">
          <a:blip r:embed="rId2"/>
          <a:srcRect b="11162"/>
          <a:stretch/>
        </p:blipFill>
        <p:spPr>
          <a:xfrm>
            <a:off x="0" y="-495"/>
            <a:ext cx="12187946" cy="6092951"/>
          </a:xfrm>
          <a:prstGeom prst="rect">
            <a:avLst/>
          </a:prstGeom>
        </p:spPr>
      </p:pic>
      <p:sp>
        <p:nvSpPr>
          <p:cNvPr id="4" name="page number">
            <a:extLst>
              <a:ext uri="{FF2B5EF4-FFF2-40B4-BE49-F238E27FC236}">
                <a16:creationId xmlns:a16="http://schemas.microsoft.com/office/drawing/2014/main" id="{ADB27043-134D-B275-CE80-B9D382556E2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71281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pic>
        <p:nvPicPr>
          <p:cNvPr id="3" name="Picture 2" descr="A blue and white triangle&#10;&#10;Description automatically generated">
            <a:extLst>
              <a:ext uri="{FF2B5EF4-FFF2-40B4-BE49-F238E27FC236}">
                <a16:creationId xmlns:a16="http://schemas.microsoft.com/office/drawing/2014/main" id="{9E0BD661-4FCD-A7B4-E002-DE0C5006C02E}"/>
              </a:ext>
            </a:extLst>
          </p:cNvPr>
          <p:cNvPicPr>
            <a:picLocks noChangeAspect="1"/>
          </p:cNvPicPr>
          <p:nvPr userDrawn="1"/>
        </p:nvPicPr>
        <p:blipFill rotWithShape="1">
          <a:blip r:embed="rId2"/>
          <a:srcRect b="11170"/>
          <a:stretch/>
        </p:blipFill>
        <p:spPr>
          <a:xfrm>
            <a:off x="879" y="1"/>
            <a:ext cx="12187946" cy="6092456"/>
          </a:xfrm>
          <a:prstGeom prst="rect">
            <a:avLst/>
          </a:prstGeom>
        </p:spPr>
      </p:pic>
      <p:sp>
        <p:nvSpPr>
          <p:cNvPr id="5" name="page number">
            <a:extLst>
              <a:ext uri="{FF2B5EF4-FFF2-40B4-BE49-F238E27FC236}">
                <a16:creationId xmlns:a16="http://schemas.microsoft.com/office/drawing/2014/main" id="{2B3AC72D-C422-0814-74D2-90F9677F95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83350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pic>
        <p:nvPicPr>
          <p:cNvPr id="3" name="Picture 2" descr="A blue and purple triangle&#10;&#10;Description automatically generated">
            <a:extLst>
              <a:ext uri="{FF2B5EF4-FFF2-40B4-BE49-F238E27FC236}">
                <a16:creationId xmlns:a16="http://schemas.microsoft.com/office/drawing/2014/main" id="{83CC1282-D036-C2FB-FD4C-2112FD383C80}"/>
              </a:ext>
            </a:extLst>
          </p:cNvPr>
          <p:cNvPicPr>
            <a:picLocks noChangeAspect="1"/>
          </p:cNvPicPr>
          <p:nvPr userDrawn="1"/>
        </p:nvPicPr>
        <p:blipFill rotWithShape="1">
          <a:blip r:embed="rId2"/>
          <a:srcRect b="11170"/>
          <a:stretch/>
        </p:blipFill>
        <p:spPr>
          <a:xfrm>
            <a:off x="879" y="1"/>
            <a:ext cx="12187946" cy="6092456"/>
          </a:xfrm>
          <a:prstGeom prst="rect">
            <a:avLst/>
          </a:prstGeom>
        </p:spPr>
      </p:pic>
      <p:sp>
        <p:nvSpPr>
          <p:cNvPr id="5" name="page number">
            <a:extLst>
              <a:ext uri="{FF2B5EF4-FFF2-40B4-BE49-F238E27FC236}">
                <a16:creationId xmlns:a16="http://schemas.microsoft.com/office/drawing/2014/main" id="{BB189E84-7BF7-CCF8-094F-5241F290DE6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991924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96610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Statement 2 - Leaf " preserve="1">
  <p:cSld name="Big Statement 2 - Leaf ">
    <p:spTree>
      <p:nvGrpSpPr>
        <p:cNvPr id="1" name="Shape 1569"/>
        <p:cNvGrpSpPr/>
        <p:nvPr/>
      </p:nvGrpSpPr>
      <p:grpSpPr>
        <a:xfrm>
          <a:off x="0" y="0"/>
          <a:ext cx="0" cy="0"/>
          <a:chOff x="0" y="0"/>
          <a:chExt cx="0" cy="0"/>
        </a:xfrm>
      </p:grpSpPr>
      <p:sp>
        <p:nvSpPr>
          <p:cNvPr id="1570" name="Google Shape;1570;p93"/>
          <p:cNvSpPr/>
          <p:nvPr/>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730693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51620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2248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1003FE7C-CE44-D926-C71B-CB61A1AC887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946122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3EB5975-DFA2-1507-4FF9-5C1323EE70D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63809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page number">
            <a:extLst>
              <a:ext uri="{FF2B5EF4-FFF2-40B4-BE49-F238E27FC236}">
                <a16:creationId xmlns:a16="http://schemas.microsoft.com/office/drawing/2014/main" id="{DC80B1EC-691B-E70E-DBB3-3A7F7D795D8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64538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84862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36855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5EEC33C3-D3F8-C9FB-4186-8CBDD34A69F3}"/>
              </a:ext>
              <a:ext uri="{C183D7F6-B498-43B3-948B-1728B52AA6E4}">
                <adec:decorative xmlns:adec="http://schemas.microsoft.com/office/drawing/2017/decorative" val="1"/>
              </a:ext>
            </a:extLst>
          </p:cNvPr>
          <p:cNvSpPr/>
          <p:nvPr userDrawn="1"/>
        </p:nvSpPr>
        <p:spPr>
          <a:xfrm>
            <a:off x="592866" y="2484176"/>
            <a:ext cx="5044347"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4" name="Rectangle 3">
            <a:extLst>
              <a:ext uri="{FF2B5EF4-FFF2-40B4-BE49-F238E27FC236}">
                <a16:creationId xmlns:a16="http://schemas.microsoft.com/office/drawing/2014/main" id="{AC673B05-E913-4FC2-5F3B-DC6330C9DA6C}"/>
              </a:ext>
              <a:ext uri="{C183D7F6-B498-43B3-948B-1728B52AA6E4}">
                <adec:decorative xmlns:adec="http://schemas.microsoft.com/office/drawing/2017/decorative" val="1"/>
              </a:ext>
            </a:extLst>
          </p:cNvPr>
          <p:cNvSpPr/>
          <p:nvPr userDrawn="1"/>
        </p:nvSpPr>
        <p:spPr>
          <a:xfrm>
            <a:off x="6551981" y="2484176"/>
            <a:ext cx="5044347" cy="4571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page number">
            <a:extLst>
              <a:ext uri="{FF2B5EF4-FFF2-40B4-BE49-F238E27FC236}">
                <a16:creationId xmlns:a16="http://schemas.microsoft.com/office/drawing/2014/main" id="{1DF4C636-B72C-4843-31E5-761BA8CA299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5751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108589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2EEF7A61-B3D2-0EC1-1C2E-2F66C8D1854E}"/>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5" name="page number">
            <a:extLst>
              <a:ext uri="{FF2B5EF4-FFF2-40B4-BE49-F238E27FC236}">
                <a16:creationId xmlns:a16="http://schemas.microsoft.com/office/drawing/2014/main" id="{306870B4-0630-1532-C188-CB4B422AB32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181829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BFBC1C30-38AE-C5AE-FD53-AAED0BF7B528}"/>
              </a:ext>
              <a:ext uri="{C183D7F6-B498-43B3-948B-1728B52AA6E4}">
                <adec:decorative xmlns:adec="http://schemas.microsoft.com/office/drawing/2017/decorative" val="1"/>
              </a:ext>
            </a:extLst>
          </p:cNvPr>
          <p:cNvSpPr/>
          <p:nvPr userDrawn="1"/>
        </p:nvSpPr>
        <p:spPr>
          <a:xfrm flipV="1">
            <a:off x="9285149" y="1589924"/>
            <a:ext cx="2903676" cy="609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7" name="page number">
            <a:extLst>
              <a:ext uri="{FF2B5EF4-FFF2-40B4-BE49-F238E27FC236}">
                <a16:creationId xmlns:a16="http://schemas.microsoft.com/office/drawing/2014/main" id="{12245461-B481-EA85-4413-E559760BF2A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4284333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Rectangle 3">
            <a:extLst>
              <a:ext uri="{FF2B5EF4-FFF2-40B4-BE49-F238E27FC236}">
                <a16:creationId xmlns:a16="http://schemas.microsoft.com/office/drawing/2014/main" id="{C210AAF0-AC8A-70E0-C810-5DB29A319332}"/>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6" name="page number">
            <a:extLst>
              <a:ext uri="{FF2B5EF4-FFF2-40B4-BE49-F238E27FC236}">
                <a16:creationId xmlns:a16="http://schemas.microsoft.com/office/drawing/2014/main" id="{F753D190-3143-1544-86DB-23062EF0B4A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802264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5" name="Straight Connector 4">
            <a:extLst>
              <a:ext uri="{FF2B5EF4-FFF2-40B4-BE49-F238E27FC236}">
                <a16:creationId xmlns:a16="http://schemas.microsoft.com/office/drawing/2014/main" id="{3FB74B33-2280-2993-F9B6-160FDF5991C2}"/>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59DF82D-8DDA-CEA9-986F-8F9B0734E297}"/>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5"/>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page number">
            <a:extLst>
              <a:ext uri="{FF2B5EF4-FFF2-40B4-BE49-F238E27FC236}">
                <a16:creationId xmlns:a16="http://schemas.microsoft.com/office/drawing/2014/main" id="{6549C7F0-95C0-E081-CECE-4ADE6A788E9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202989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0825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Oval 1">
            <a:extLst>
              <a:ext uri="{FF2B5EF4-FFF2-40B4-BE49-F238E27FC236}">
                <a16:creationId xmlns:a16="http://schemas.microsoft.com/office/drawing/2014/main" id="{3B46DD59-46F4-8166-3536-92F905489F46}"/>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5" name="Oval 4">
            <a:extLst>
              <a:ext uri="{FF2B5EF4-FFF2-40B4-BE49-F238E27FC236}">
                <a16:creationId xmlns:a16="http://schemas.microsoft.com/office/drawing/2014/main" id="{DC43823E-0E80-163D-4B2D-6A411F469E79}"/>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 name="Oval 5">
            <a:extLst>
              <a:ext uri="{FF2B5EF4-FFF2-40B4-BE49-F238E27FC236}">
                <a16:creationId xmlns:a16="http://schemas.microsoft.com/office/drawing/2014/main" id="{3A0392B2-2052-55AD-4DFD-669C1EB7A2F9}"/>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page number">
            <a:extLst>
              <a:ext uri="{FF2B5EF4-FFF2-40B4-BE49-F238E27FC236}">
                <a16:creationId xmlns:a16="http://schemas.microsoft.com/office/drawing/2014/main" id="{A4944E2B-FDA2-30AC-9653-4C25C353EDD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097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Oval 1">
            <a:extLst>
              <a:ext uri="{FF2B5EF4-FFF2-40B4-BE49-F238E27FC236}">
                <a16:creationId xmlns:a16="http://schemas.microsoft.com/office/drawing/2014/main" id="{EF925AC5-34B5-F60E-A0BB-4B678ECB717A}"/>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4" name="Oval 3">
            <a:extLst>
              <a:ext uri="{FF2B5EF4-FFF2-40B4-BE49-F238E27FC236}">
                <a16:creationId xmlns:a16="http://schemas.microsoft.com/office/drawing/2014/main" id="{5F08699D-2081-1674-977D-2BF875F04DC9}"/>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5" name="Oval 4">
            <a:extLst>
              <a:ext uri="{FF2B5EF4-FFF2-40B4-BE49-F238E27FC236}">
                <a16:creationId xmlns:a16="http://schemas.microsoft.com/office/drawing/2014/main" id="{2FC0CB5C-EF09-5AE3-12E0-1A9FA0E489F9}"/>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6" name="Oval 5">
            <a:extLst>
              <a:ext uri="{FF2B5EF4-FFF2-40B4-BE49-F238E27FC236}">
                <a16:creationId xmlns:a16="http://schemas.microsoft.com/office/drawing/2014/main" id="{67C32F86-C8AE-B9A1-EE47-8611BD9DE877}"/>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page number">
            <a:extLst>
              <a:ext uri="{FF2B5EF4-FFF2-40B4-BE49-F238E27FC236}">
                <a16:creationId xmlns:a16="http://schemas.microsoft.com/office/drawing/2014/main" id="{58C66E57-825E-48FA-DFFC-1267432A257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926071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Oval 1">
            <a:extLst>
              <a:ext uri="{FF2B5EF4-FFF2-40B4-BE49-F238E27FC236}">
                <a16:creationId xmlns:a16="http://schemas.microsoft.com/office/drawing/2014/main" id="{0D09A153-19CD-8E33-08E3-74055A056E29}"/>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4" name="Oval 3">
            <a:extLst>
              <a:ext uri="{FF2B5EF4-FFF2-40B4-BE49-F238E27FC236}">
                <a16:creationId xmlns:a16="http://schemas.microsoft.com/office/drawing/2014/main" id="{FDE1FC21-FCAD-3461-B28C-2DF1E54F1E3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5" name="Oval 4">
            <a:extLst>
              <a:ext uri="{FF2B5EF4-FFF2-40B4-BE49-F238E27FC236}">
                <a16:creationId xmlns:a16="http://schemas.microsoft.com/office/drawing/2014/main" id="{D91D639E-D43C-607F-8E8E-2B7DA9C0CCE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6" name="Oval 5">
            <a:extLst>
              <a:ext uri="{FF2B5EF4-FFF2-40B4-BE49-F238E27FC236}">
                <a16:creationId xmlns:a16="http://schemas.microsoft.com/office/drawing/2014/main" id="{0185D971-822B-11AF-2CBC-C22F996EA61B}"/>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7" name="Oval 6">
            <a:extLst>
              <a:ext uri="{FF2B5EF4-FFF2-40B4-BE49-F238E27FC236}">
                <a16:creationId xmlns:a16="http://schemas.microsoft.com/office/drawing/2014/main" id="{40DE4C66-7020-4C4B-8FCF-395E383B308D}"/>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8" name="page number">
            <a:extLst>
              <a:ext uri="{FF2B5EF4-FFF2-40B4-BE49-F238E27FC236}">
                <a16:creationId xmlns:a16="http://schemas.microsoft.com/office/drawing/2014/main" id="{66A4B559-F67F-A169-C8EA-74A26E2C582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856565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cxnSp>
        <p:nvCxnSpPr>
          <p:cNvPr id="8" name="Straight Connector 7">
            <a:extLst>
              <a:ext uri="{FF2B5EF4-FFF2-40B4-BE49-F238E27FC236}">
                <a16:creationId xmlns:a16="http://schemas.microsoft.com/office/drawing/2014/main" id="{C26DD585-DB88-F069-74EF-48F6547B1031}"/>
              </a:ext>
            </a:extLst>
          </p:cNvPr>
          <p:cNvCxnSpPr/>
          <p:nvPr userDrawn="1"/>
        </p:nvCxnSpPr>
        <p:spPr bwMode="gray">
          <a:xfrm>
            <a:off x="598206"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0C8A2AF-601E-BF96-65AB-15A4438B51B6}"/>
              </a:ext>
            </a:extLst>
          </p:cNvPr>
          <p:cNvCxnSpPr/>
          <p:nvPr userDrawn="1"/>
        </p:nvCxnSpPr>
        <p:spPr bwMode="gray">
          <a:xfrm>
            <a:off x="2894012" y="2512464"/>
            <a:ext cx="1828800" cy="0"/>
          </a:xfrm>
          <a:prstGeom prst="line">
            <a:avLst/>
          </a:prstGeom>
          <a:ln w="2540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5A9076-DB7F-9373-FB1B-F930BD9C8E53}"/>
              </a:ext>
            </a:extLst>
          </p:cNvPr>
          <p:cNvCxnSpPr/>
          <p:nvPr userDrawn="1"/>
        </p:nvCxnSpPr>
        <p:spPr bwMode="gray">
          <a:xfrm>
            <a:off x="5180012"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14216D1-AFA3-5E14-11CD-968A946A547F}"/>
              </a:ext>
            </a:extLst>
          </p:cNvPr>
          <p:cNvCxnSpPr/>
          <p:nvPr userDrawn="1"/>
        </p:nvCxnSpPr>
        <p:spPr bwMode="gray">
          <a:xfrm>
            <a:off x="7466012"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1D2A35B-DF3C-64A4-10B7-9FEA0D9E0B43}"/>
              </a:ext>
            </a:extLst>
          </p:cNvPr>
          <p:cNvCxnSpPr/>
          <p:nvPr userDrawn="1"/>
        </p:nvCxnSpPr>
        <p:spPr bwMode="gray">
          <a:xfrm>
            <a:off x="9752012"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page number">
            <a:extLst>
              <a:ext uri="{FF2B5EF4-FFF2-40B4-BE49-F238E27FC236}">
                <a16:creationId xmlns:a16="http://schemas.microsoft.com/office/drawing/2014/main" id="{B8C1B319-3E78-EDC6-B58A-D4CF4B48956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4" name="Oval 13">
            <a:extLst>
              <a:ext uri="{FF2B5EF4-FFF2-40B4-BE49-F238E27FC236}">
                <a16:creationId xmlns:a16="http://schemas.microsoft.com/office/drawing/2014/main" id="{09131742-B1CF-F33C-CCBD-460EDC5CD9DA}"/>
              </a:ext>
              <a:ext uri="{C183D7F6-B498-43B3-948B-1728B52AA6E4}">
                <adec:decorative xmlns:adec="http://schemas.microsoft.com/office/drawing/2017/decorative" val="1"/>
              </a:ext>
            </a:extLst>
          </p:cNvPr>
          <p:cNvSpPr/>
          <p:nvPr userDrawn="1"/>
        </p:nvSpPr>
        <p:spPr bwMode="gray">
          <a:xfrm>
            <a:off x="1131007" y="200679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5"/>
                </a:solidFill>
              </a:rPr>
              <a:t>1</a:t>
            </a:r>
          </a:p>
        </p:txBody>
      </p:sp>
      <p:sp>
        <p:nvSpPr>
          <p:cNvPr id="22" name="Oval 21">
            <a:extLst>
              <a:ext uri="{FF2B5EF4-FFF2-40B4-BE49-F238E27FC236}">
                <a16:creationId xmlns:a16="http://schemas.microsoft.com/office/drawing/2014/main" id="{A3455D74-DA09-8E93-D44C-B903D83564EC}"/>
              </a:ext>
              <a:ext uri="{C183D7F6-B498-43B3-948B-1728B52AA6E4}">
                <adec:decorative xmlns:adec="http://schemas.microsoft.com/office/drawing/2017/decorative" val="1"/>
              </a:ext>
            </a:extLst>
          </p:cNvPr>
          <p:cNvSpPr/>
          <p:nvPr userDrawn="1"/>
        </p:nvSpPr>
        <p:spPr bwMode="gray">
          <a:xfrm>
            <a:off x="3414170" y="2006791"/>
            <a:ext cx="788487" cy="788487"/>
          </a:xfrm>
          <a:prstGeom prst="ellipse">
            <a:avLst/>
          </a:prstGeom>
          <a:solidFill>
            <a:schemeClr val="bg1"/>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1"/>
                </a:solidFill>
              </a:rPr>
              <a:t>2</a:t>
            </a:r>
          </a:p>
        </p:txBody>
      </p:sp>
      <p:sp>
        <p:nvSpPr>
          <p:cNvPr id="24" name="Oval 23">
            <a:extLst>
              <a:ext uri="{FF2B5EF4-FFF2-40B4-BE49-F238E27FC236}">
                <a16:creationId xmlns:a16="http://schemas.microsoft.com/office/drawing/2014/main" id="{93EB5700-58D7-F2B0-177C-667F24583692}"/>
              </a:ext>
              <a:ext uri="{C183D7F6-B498-43B3-948B-1728B52AA6E4}">
                <adec:decorative xmlns:adec="http://schemas.microsoft.com/office/drawing/2017/decorative" val="1"/>
              </a:ext>
            </a:extLst>
          </p:cNvPr>
          <p:cNvSpPr/>
          <p:nvPr userDrawn="1"/>
        </p:nvSpPr>
        <p:spPr bwMode="gray">
          <a:xfrm>
            <a:off x="5705250" y="2006791"/>
            <a:ext cx="788487" cy="788487"/>
          </a:xfrm>
          <a:prstGeom prst="ellipse">
            <a:avLst/>
          </a:prstGeom>
          <a:solidFill>
            <a:schemeClr val="bg1"/>
          </a:solidFill>
          <a:ln w="25400">
            <a:solidFill>
              <a:schemeClr val="accent2"/>
            </a:solidFill>
          </a:ln>
          <a:effectLst/>
        </p:spPr>
        <p:txBody>
          <a:bodyPr vert="horz" wrap="square" lIns="0" tIns="0" rIns="0" bIns="0" numCol="1" anchor="ctr" anchorCtr="0" compatLnSpc="1">
            <a:prstTxWarp prst="textNoShape">
              <a:avLst/>
            </a:prstTxWarp>
          </a:bodyPr>
          <a:lstStyle/>
          <a:p>
            <a:pPr lvl="0" algn="ctr"/>
            <a:r>
              <a:rPr lang="en-US" dirty="0">
                <a:solidFill>
                  <a:schemeClr val="accent2"/>
                </a:solidFill>
              </a:rPr>
              <a:t>3</a:t>
            </a:r>
          </a:p>
        </p:txBody>
      </p:sp>
      <p:sp>
        <p:nvSpPr>
          <p:cNvPr id="50" name="Oval 49">
            <a:extLst>
              <a:ext uri="{FF2B5EF4-FFF2-40B4-BE49-F238E27FC236}">
                <a16:creationId xmlns:a16="http://schemas.microsoft.com/office/drawing/2014/main" id="{715B0428-71B9-F10D-E050-EAF598CB902D}"/>
              </a:ext>
              <a:ext uri="{C183D7F6-B498-43B3-948B-1728B52AA6E4}">
                <adec:decorative xmlns:adec="http://schemas.microsoft.com/office/drawing/2017/decorative" val="1"/>
              </a:ext>
            </a:extLst>
          </p:cNvPr>
          <p:cNvSpPr/>
          <p:nvPr userDrawn="1"/>
        </p:nvSpPr>
        <p:spPr bwMode="gray">
          <a:xfrm>
            <a:off x="7990158" y="2006791"/>
            <a:ext cx="788487" cy="788487"/>
          </a:xfrm>
          <a:prstGeom prst="ellipse">
            <a:avLst/>
          </a:prstGeom>
          <a:solidFill>
            <a:schemeClr val="bg1"/>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6"/>
                </a:solidFill>
              </a:rPr>
              <a:t>4</a:t>
            </a:r>
          </a:p>
        </p:txBody>
      </p:sp>
      <p:sp>
        <p:nvSpPr>
          <p:cNvPr id="51" name="Oval 50">
            <a:extLst>
              <a:ext uri="{FF2B5EF4-FFF2-40B4-BE49-F238E27FC236}">
                <a16:creationId xmlns:a16="http://schemas.microsoft.com/office/drawing/2014/main" id="{447F2F83-4250-364F-6F0F-9A0F3247DA43}"/>
              </a:ext>
              <a:ext uri="{C183D7F6-B498-43B3-948B-1728B52AA6E4}">
                <adec:decorative xmlns:adec="http://schemas.microsoft.com/office/drawing/2017/decorative" val="1"/>
              </a:ext>
            </a:extLst>
          </p:cNvPr>
          <p:cNvSpPr/>
          <p:nvPr userDrawn="1"/>
        </p:nvSpPr>
        <p:spPr bwMode="gray">
          <a:xfrm>
            <a:off x="10272170" y="2006791"/>
            <a:ext cx="788487" cy="788487"/>
          </a:xfrm>
          <a:prstGeom prst="ellipse">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3"/>
                </a:solidFill>
              </a:rPr>
              <a:t>5</a:t>
            </a:r>
          </a:p>
        </p:txBody>
      </p:sp>
    </p:spTree>
    <p:extLst>
      <p:ext uri="{BB962C8B-B14F-4D97-AF65-F5344CB8AC3E}">
        <p14:creationId xmlns:p14="http://schemas.microsoft.com/office/powerpoint/2010/main" val="1667332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81560934-B335-BF07-7E41-D6A7F3035F5F}"/>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616BB21-B972-54D5-01F6-E1C0292806D6}"/>
              </a:ext>
              <a:ext uri="{C183D7F6-B498-43B3-948B-1728B52AA6E4}">
                <adec:decorative xmlns:adec="http://schemas.microsoft.com/office/drawing/2017/decorative" val="1"/>
              </a:ext>
            </a:extLst>
          </p:cNvPr>
          <p:cNvCxnSpPr/>
          <p:nvPr userDrawn="1"/>
        </p:nvCxnSpPr>
        <p:spPr bwMode="gray">
          <a:xfrm>
            <a:off x="3808412" y="2680138"/>
            <a:ext cx="2459421" cy="0"/>
          </a:xfrm>
          <a:prstGeom prst="line">
            <a:avLst/>
          </a:prstGeom>
          <a:ln w="2540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3687D61-1BCC-6B5A-9A4D-8FB4A93BEDEF}"/>
              </a:ext>
              <a:ext uri="{C183D7F6-B498-43B3-948B-1728B52AA6E4}">
                <adec:decorative xmlns:adec="http://schemas.microsoft.com/office/drawing/2017/decorative" val="1"/>
              </a:ext>
            </a:extLst>
          </p:cNvPr>
          <p:cNvCxnSpPr/>
          <p:nvPr userDrawn="1"/>
        </p:nvCxnSpPr>
        <p:spPr bwMode="gray">
          <a:xfrm>
            <a:off x="6551612"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F5E5ECD-1DB7-FE3C-4493-B19A4794EE1E}"/>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page number">
            <a:extLst>
              <a:ext uri="{FF2B5EF4-FFF2-40B4-BE49-F238E27FC236}">
                <a16:creationId xmlns:a16="http://schemas.microsoft.com/office/drawing/2014/main" id="{C3E34FDB-CF2D-5291-A1CC-EFAAC018780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58341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9566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1171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26603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page number">
            <a:extLst>
              <a:ext uri="{FF2B5EF4-FFF2-40B4-BE49-F238E27FC236}">
                <a16:creationId xmlns:a16="http://schemas.microsoft.com/office/drawing/2014/main" id="{1151C9D4-0A38-66F5-0917-A97DBFEB2C0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64344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grpSp>
        <p:nvGrpSpPr>
          <p:cNvPr id="2" name="Group 1">
            <a:extLst>
              <a:ext uri="{FF2B5EF4-FFF2-40B4-BE49-F238E27FC236}">
                <a16:creationId xmlns:a16="http://schemas.microsoft.com/office/drawing/2014/main" id="{DDA8DF29-0273-B704-7AD9-4015B5612FF1}"/>
              </a:ext>
              <a:ext uri="{C183D7F6-B498-43B3-948B-1728B52AA6E4}">
                <adec:decorative xmlns:adec="http://schemas.microsoft.com/office/drawing/2017/decorative" val="1"/>
              </a:ext>
            </a:extLst>
          </p:cNvPr>
          <p:cNvGrpSpPr/>
          <p:nvPr userDrawn="1"/>
        </p:nvGrpSpPr>
        <p:grpSpPr>
          <a:xfrm>
            <a:off x="0" y="99392"/>
            <a:ext cx="12188822" cy="5094005"/>
            <a:chOff x="0" y="99392"/>
            <a:chExt cx="12188822" cy="5094005"/>
          </a:xfrm>
        </p:grpSpPr>
        <p:sp>
          <p:nvSpPr>
            <p:cNvPr id="6" name="Rectangle 5">
              <a:extLst>
                <a:ext uri="{FF2B5EF4-FFF2-40B4-BE49-F238E27FC236}">
                  <a16:creationId xmlns:a16="http://schemas.microsoft.com/office/drawing/2014/main" id="{49AB944C-542A-80BB-73B1-5035F57313F3}"/>
                </a:ext>
                <a:ext uri="{C183D7F6-B498-43B3-948B-1728B52AA6E4}">
                  <adec:decorative xmlns:adec="http://schemas.microsoft.com/office/drawing/2017/decorative" val="1"/>
                </a:ext>
              </a:extLst>
            </p:cNvPr>
            <p:cNvSpPr/>
            <p:nvPr userDrawn="1"/>
          </p:nvSpPr>
          <p:spPr bwMode="hidden">
            <a:xfrm>
              <a:off x="0" y="99392"/>
              <a:ext cx="12188822" cy="42328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7" name="Oval 6">
              <a:extLst>
                <a:ext uri="{FF2B5EF4-FFF2-40B4-BE49-F238E27FC236}">
                  <a16:creationId xmlns:a16="http://schemas.microsoft.com/office/drawing/2014/main" id="{AC5BEBC6-3BB2-2B74-9685-44AB588E2212}"/>
                </a:ext>
                <a:ext uri="{C183D7F6-B498-43B3-948B-1728B52AA6E4}">
                  <adec:decorative xmlns:adec="http://schemas.microsoft.com/office/drawing/2017/decorative" val="1"/>
                </a:ext>
              </a:extLst>
            </p:cNvPr>
            <p:cNvSpPr/>
            <p:nvPr userDrawn="1"/>
          </p:nvSpPr>
          <p:spPr bwMode="white">
            <a:xfrm>
              <a:off x="672527"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8" name="page number">
            <a:extLst>
              <a:ext uri="{FF2B5EF4-FFF2-40B4-BE49-F238E27FC236}">
                <a16:creationId xmlns:a16="http://schemas.microsoft.com/office/drawing/2014/main" id="{2C23ABD9-DE75-14ED-BEFD-E3704FBA8C8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6978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page number">
            <a:extLst>
              <a:ext uri="{FF2B5EF4-FFF2-40B4-BE49-F238E27FC236}">
                <a16:creationId xmlns:a16="http://schemas.microsoft.com/office/drawing/2014/main" id="{77633254-5797-A75E-48F5-235D5ADE8FD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04547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a:solidFill>
                  <a:schemeClr val="accent1"/>
                </a:solidFill>
              </a:rPr>
              <a:t>Agenda</a:t>
            </a:r>
          </a:p>
        </p:txBody>
      </p:sp>
    </p:spTree>
    <p:extLst>
      <p:ext uri="{BB962C8B-B14F-4D97-AF65-F5344CB8AC3E}">
        <p14:creationId xmlns:p14="http://schemas.microsoft.com/office/powerpoint/2010/main" val="316436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97"/>
        <p:cNvGrpSpPr/>
        <p:nvPr/>
      </p:nvGrpSpPr>
      <p:grpSpPr>
        <a:xfrm>
          <a:off x="0" y="0"/>
          <a:ext cx="0" cy="0"/>
          <a:chOff x="0" y="0"/>
          <a:chExt cx="0" cy="0"/>
        </a:xfrm>
      </p:grpSpPr>
      <p:sp>
        <p:nvSpPr>
          <p:cNvPr id="98" name="Google Shape;98;p32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2800"/>
              <a:buFont typeface="Arial"/>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324"/>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rgbClr val="3C3C3C"/>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0"/>
              </a:spcAft>
              <a:buSzPts val="1440"/>
              <a:buNone/>
              <a:defRPr sz="1600"/>
            </a:lvl9pPr>
          </a:lstStyle>
          <a:p>
            <a:endParaRPr/>
          </a:p>
        </p:txBody>
      </p:sp>
      <p:sp>
        <p:nvSpPr>
          <p:cNvPr id="100" name="Google Shape;100;p324"/>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1200"/>
              </a:spcBef>
              <a:spcAft>
                <a:spcPts val="0"/>
              </a:spcAft>
              <a:buSzPts val="1800"/>
              <a:buChar char="​"/>
              <a:defRPr>
                <a:solidFill>
                  <a:srgbClr val="3C3C3C"/>
                </a:solidFill>
              </a:defRPr>
            </a:lvl1pPr>
            <a:lvl2pPr marL="914400" lvl="1" indent="-331469" algn="l">
              <a:lnSpc>
                <a:spcPct val="100000"/>
              </a:lnSpc>
              <a:spcBef>
                <a:spcPts val="1200"/>
              </a:spcBef>
              <a:spcAft>
                <a:spcPts val="0"/>
              </a:spcAft>
              <a:buSzPts val="1620"/>
              <a:buChar char="•"/>
              <a:defRPr>
                <a:solidFill>
                  <a:srgbClr val="3C3C3C"/>
                </a:solidFill>
              </a:defRPr>
            </a:lvl2pPr>
            <a:lvl3pPr marL="1371600" lvl="2" indent="-320039" algn="l">
              <a:lnSpc>
                <a:spcPct val="100000"/>
              </a:lnSpc>
              <a:spcBef>
                <a:spcPts val="1200"/>
              </a:spcBef>
              <a:spcAft>
                <a:spcPts val="0"/>
              </a:spcAft>
              <a:buSzPts val="1440"/>
              <a:buChar char="–"/>
              <a:defRPr>
                <a:solidFill>
                  <a:srgbClr val="3C3C3C"/>
                </a:solidFill>
              </a:defRPr>
            </a:lvl3pPr>
            <a:lvl4pPr marL="1828800" lvl="3" indent="-308610" algn="l">
              <a:lnSpc>
                <a:spcPct val="100000"/>
              </a:lnSpc>
              <a:spcBef>
                <a:spcPts val="1200"/>
              </a:spcBef>
              <a:spcAft>
                <a:spcPts val="0"/>
              </a:spcAft>
              <a:buSzPts val="1260"/>
              <a:buChar char="•"/>
              <a:defRPr>
                <a:solidFill>
                  <a:srgbClr val="3C3C3C"/>
                </a:solidFill>
              </a:defRPr>
            </a:lvl4pPr>
            <a:lvl5pPr marL="2286000" lvl="4" indent="-308610" algn="l">
              <a:lnSpc>
                <a:spcPct val="100000"/>
              </a:lnSpc>
              <a:spcBef>
                <a:spcPts val="1200"/>
              </a:spcBef>
              <a:spcAft>
                <a:spcPts val="0"/>
              </a:spcAft>
              <a:buSzPts val="1260"/>
              <a:buChar char="–"/>
              <a:defRPr>
                <a:solidFill>
                  <a:srgbClr val="3C3C3C"/>
                </a:solidFill>
              </a:defRPr>
            </a:lvl5pPr>
            <a:lvl6pPr marL="2743200" lvl="5" indent="-308610" algn="l">
              <a:lnSpc>
                <a:spcPct val="100000"/>
              </a:lnSpc>
              <a:spcBef>
                <a:spcPts val="1200"/>
              </a:spcBef>
              <a:spcAft>
                <a:spcPts val="0"/>
              </a:spcAft>
              <a:buSzPts val="126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0"/>
              </a:spcAft>
              <a:buSzPts val="1620"/>
              <a:buChar char="-"/>
              <a:defRPr/>
            </a:lvl9pPr>
          </a:lstStyle>
          <a:p>
            <a:endParaRPr/>
          </a:p>
        </p:txBody>
      </p:sp>
    </p:spTree>
    <p:extLst>
      <p:ext uri="{BB962C8B-B14F-4D97-AF65-F5344CB8AC3E}">
        <p14:creationId xmlns:p14="http://schemas.microsoft.com/office/powerpoint/2010/main" val="2445555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Title Slide – Leaf">
    <p:spTree>
      <p:nvGrpSpPr>
        <p:cNvPr id="1" name=""/>
        <p:cNvGrpSpPr/>
        <p:nvPr/>
      </p:nvGrpSpPr>
      <p:grpSpPr>
        <a:xfrm>
          <a:off x="0" y="0"/>
          <a:ext cx="0" cy="0"/>
          <a:chOff x="0" y="0"/>
          <a:chExt cx="0" cy="0"/>
        </a:xfrm>
      </p:grpSpPr>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sp>
        <p:nvSpPr>
          <p:cNvPr id="3" name="Rectangle 2">
            <a:extLst>
              <a:ext uri="{FF2B5EF4-FFF2-40B4-BE49-F238E27FC236}">
                <a16:creationId xmlns:a16="http://schemas.microsoft.com/office/drawing/2014/main" id="{03CC1736-D868-F44C-24E7-777F27CAB34C}"/>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5" name="Graphic 7">
            <a:extLst>
              <a:ext uri="{FF2B5EF4-FFF2-40B4-BE49-F238E27FC236}">
                <a16:creationId xmlns:a16="http://schemas.microsoft.com/office/drawing/2014/main" id="{120C85ED-3F76-468B-A4EF-31B2085C24DA}"/>
              </a:ext>
            </a:extLst>
          </p:cNvPr>
          <p:cNvPicPr>
            <a:picLocks noChangeAspect="1"/>
          </p:cNvPicPr>
          <p:nvPr userDrawn="1"/>
        </p:nvPicPr>
        <p:blipFill>
          <a:blip r:embed="rId2"/>
          <a:srcRect t="14" b="14"/>
          <a:stretch/>
        </p:blipFill>
        <p:spPr>
          <a:xfrm>
            <a:off x="1480" y="0"/>
            <a:ext cx="12187345" cy="6856212"/>
          </a:xfrm>
          <a:prstGeom prst="rect">
            <a:avLst/>
          </a:prstGeom>
          <a:noFill/>
        </p:spPr>
      </p:pic>
      <p:sp>
        <p:nvSpPr>
          <p:cNvPr id="8" name="TextBox 7">
            <a:extLst>
              <a:ext uri="{FF2B5EF4-FFF2-40B4-BE49-F238E27FC236}">
                <a16:creationId xmlns:a16="http://schemas.microsoft.com/office/drawing/2014/main" id="{A55CD7CA-E2A3-9137-F86A-B0DBA1E69B5C}"/>
              </a:ext>
            </a:extLst>
          </p:cNvPr>
          <p:cNvSpPr txBox="1"/>
          <p:nvPr userDrawn="1"/>
        </p:nvSpPr>
        <p:spPr>
          <a:xfrm>
            <a:off x="1645084" y="6461498"/>
            <a:ext cx="2794035" cy="128048"/>
          </a:xfrm>
          <a:prstGeom prst="rect">
            <a:avLst/>
          </a:prstGeom>
          <a:noFill/>
        </p:spPr>
        <p:txBody>
          <a:bodyPr wrap="none" lIns="0" tIns="0" rIns="0" bIns="0" rtlCol="0">
            <a:spAutoFit/>
          </a:bodyPr>
          <a:lstStyle/>
          <a:p>
            <a:pPr algn="l">
              <a:lnSpc>
                <a:spcPct val="130000"/>
              </a:lnSpc>
            </a:pPr>
            <a:r>
              <a:rPr lang="en-US" sz="700" kern="1200" spc="0" baseline="0" dirty="0">
                <a:ln/>
                <a:solidFill>
                  <a:srgbClr val="000000"/>
                </a:solidFill>
                <a:latin typeface="+mn-lt"/>
                <a:ea typeface="+mn-ea"/>
                <a:cs typeface="+mn-cs"/>
                <a:sym typeface="Metropolis-Regular"/>
                <a:rtl val="0"/>
              </a:rPr>
              <a:t>Broadcom Proprietary and Confidential. Copyright © 2026 Broadcom</a:t>
            </a:r>
            <a:r>
              <a:rPr lang="en-US" sz="700" spc="0" baseline="0" dirty="0">
                <a:ln/>
                <a:solidFill>
                  <a:srgbClr val="000000"/>
                </a:solidFill>
                <a:latin typeface="Metropolis-Regular"/>
                <a:sym typeface="Metropolis-Regular"/>
                <a:rtl val="0"/>
              </a:rPr>
              <a:t>.  </a:t>
            </a:r>
          </a:p>
        </p:txBody>
      </p:sp>
      <p:sp>
        <p:nvSpPr>
          <p:cNvPr id="9" name="TextBox 8">
            <a:extLst>
              <a:ext uri="{FF2B5EF4-FFF2-40B4-BE49-F238E27FC236}">
                <a16:creationId xmlns:a16="http://schemas.microsoft.com/office/drawing/2014/main" id="{0B80A3F8-74F9-9EF5-6962-FB7F964EC93A}"/>
              </a:ext>
            </a:extLst>
          </p:cNvPr>
          <p:cNvSpPr txBox="1"/>
          <p:nvPr userDrawn="1"/>
        </p:nvSpPr>
        <p:spPr>
          <a:xfrm>
            <a:off x="1645084" y="6569434"/>
            <a:ext cx="3574697" cy="125484"/>
          </a:xfrm>
          <a:prstGeom prst="rect">
            <a:avLst/>
          </a:prstGeom>
          <a:noFill/>
        </p:spPr>
        <p:txBody>
          <a:bodyPr wrap="none" lIns="0" tIns="0" rIns="0" bIns="0" rtlCol="0">
            <a:spAutoFit/>
          </a:bodyPr>
          <a:lstStyle/>
          <a:p>
            <a:pPr algn="l">
              <a:lnSpc>
                <a:spcPct val="130000"/>
              </a:lnSpc>
            </a:pPr>
            <a:r>
              <a:rPr lang="en-US" sz="700" kern="1200" spc="0" baseline="0" dirty="0">
                <a:ln/>
                <a:solidFill>
                  <a:srgbClr val="000000"/>
                </a:solidFill>
                <a:latin typeface="+mn-lt"/>
                <a:ea typeface="+mn-ea"/>
                <a:cs typeface="+mn-cs"/>
                <a:sym typeface="Metropolis-Regular"/>
                <a:rtl val="0"/>
              </a:rPr>
              <a:t>All Rights Reserved. The term “Broadcom” refers to Broadcom Inc. and/or its subsidiaries.</a:t>
            </a:r>
          </a:p>
        </p:txBody>
      </p:sp>
      <p:grpSp>
        <p:nvGrpSpPr>
          <p:cNvPr id="10" name="Graphic 8">
            <a:extLst>
              <a:ext uri="{FF2B5EF4-FFF2-40B4-BE49-F238E27FC236}">
                <a16:creationId xmlns:a16="http://schemas.microsoft.com/office/drawing/2014/main" id="{75767AB7-BF74-1037-AFE9-139C21250E51}"/>
              </a:ext>
            </a:extLst>
          </p:cNvPr>
          <p:cNvGrpSpPr/>
          <p:nvPr userDrawn="1"/>
        </p:nvGrpSpPr>
        <p:grpSpPr>
          <a:xfrm>
            <a:off x="265625" y="6323271"/>
            <a:ext cx="1249223" cy="369648"/>
            <a:chOff x="265625" y="6323271"/>
            <a:chExt cx="1249223" cy="369648"/>
          </a:xfrm>
          <a:solidFill>
            <a:srgbClr val="000000"/>
          </a:solidFill>
        </p:grpSpPr>
        <p:grpSp>
          <p:nvGrpSpPr>
            <p:cNvPr id="11" name="Graphic 8">
              <a:extLst>
                <a:ext uri="{FF2B5EF4-FFF2-40B4-BE49-F238E27FC236}">
                  <a16:creationId xmlns:a16="http://schemas.microsoft.com/office/drawing/2014/main" id="{068F5CE0-7527-40E1-B22F-7EB40AB733FF}"/>
                </a:ext>
              </a:extLst>
            </p:cNvPr>
            <p:cNvGrpSpPr/>
            <p:nvPr/>
          </p:nvGrpSpPr>
          <p:grpSpPr>
            <a:xfrm>
              <a:off x="745455" y="6594444"/>
              <a:ext cx="722662" cy="98475"/>
              <a:chOff x="745455" y="6594444"/>
              <a:chExt cx="722662" cy="98475"/>
            </a:xfrm>
            <a:solidFill>
              <a:srgbClr val="000000"/>
            </a:solidFill>
          </p:grpSpPr>
          <p:sp>
            <p:nvSpPr>
              <p:cNvPr id="21" name="Freeform 130">
                <a:extLst>
                  <a:ext uri="{FF2B5EF4-FFF2-40B4-BE49-F238E27FC236}">
                    <a16:creationId xmlns:a16="http://schemas.microsoft.com/office/drawing/2014/main" id="{1FEF5B9F-122A-D8D9-111E-1D1CC877AE8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131">
                <a:extLst>
                  <a:ext uri="{FF2B5EF4-FFF2-40B4-BE49-F238E27FC236}">
                    <a16:creationId xmlns:a16="http://schemas.microsoft.com/office/drawing/2014/main" id="{63FA951F-D1B5-C7DC-6BD9-616391C5932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132">
                <a:extLst>
                  <a:ext uri="{FF2B5EF4-FFF2-40B4-BE49-F238E27FC236}">
                    <a16:creationId xmlns:a16="http://schemas.microsoft.com/office/drawing/2014/main" id="{6BD7230F-18DC-E1CB-8ED3-11ED3F698FF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133">
                <a:extLst>
                  <a:ext uri="{FF2B5EF4-FFF2-40B4-BE49-F238E27FC236}">
                    <a16:creationId xmlns:a16="http://schemas.microsoft.com/office/drawing/2014/main" id="{E8A268A6-830E-CA5F-22E1-DB8B6FB1F2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134">
                <a:extLst>
                  <a:ext uri="{FF2B5EF4-FFF2-40B4-BE49-F238E27FC236}">
                    <a16:creationId xmlns:a16="http://schemas.microsoft.com/office/drawing/2014/main" id="{95049C85-54E7-AA98-C2FD-455A650621F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135">
                <a:extLst>
                  <a:ext uri="{FF2B5EF4-FFF2-40B4-BE49-F238E27FC236}">
                    <a16:creationId xmlns:a16="http://schemas.microsoft.com/office/drawing/2014/main" id="{151E8D77-2E81-209C-4770-0991B81ACC9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136">
                <a:extLst>
                  <a:ext uri="{FF2B5EF4-FFF2-40B4-BE49-F238E27FC236}">
                    <a16:creationId xmlns:a16="http://schemas.microsoft.com/office/drawing/2014/main" id="{D6C1FB39-2DC9-61EF-9385-5C440852135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137">
                <a:extLst>
                  <a:ext uri="{FF2B5EF4-FFF2-40B4-BE49-F238E27FC236}">
                    <a16:creationId xmlns:a16="http://schemas.microsoft.com/office/drawing/2014/main" id="{83D9E79C-B9DF-F890-1E30-22437374FEF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138">
                <a:extLst>
                  <a:ext uri="{FF2B5EF4-FFF2-40B4-BE49-F238E27FC236}">
                    <a16:creationId xmlns:a16="http://schemas.microsoft.com/office/drawing/2014/main" id="{61D9EB1A-209D-8D18-962E-39CA342C1C2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139">
                <a:extLst>
                  <a:ext uri="{FF2B5EF4-FFF2-40B4-BE49-F238E27FC236}">
                    <a16:creationId xmlns:a16="http://schemas.microsoft.com/office/drawing/2014/main" id="{A62C12C0-7CA4-B683-A3DE-2700B6F4D6A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2" name="Graphic 8">
              <a:extLst>
                <a:ext uri="{FF2B5EF4-FFF2-40B4-BE49-F238E27FC236}">
                  <a16:creationId xmlns:a16="http://schemas.microsoft.com/office/drawing/2014/main" id="{25B6C1EF-DA12-D5A8-77EC-DADEA04AFF7F}"/>
                </a:ext>
              </a:extLst>
            </p:cNvPr>
            <p:cNvGrpSpPr/>
            <p:nvPr/>
          </p:nvGrpSpPr>
          <p:grpSpPr>
            <a:xfrm>
              <a:off x="265625" y="6323271"/>
              <a:ext cx="1249223" cy="190348"/>
              <a:chOff x="265625" y="6323271"/>
              <a:chExt cx="1249223" cy="190348"/>
            </a:xfrm>
            <a:solidFill>
              <a:srgbClr val="000000"/>
            </a:solidFill>
          </p:grpSpPr>
          <p:sp>
            <p:nvSpPr>
              <p:cNvPr id="13" name="Freeform 57">
                <a:extLst>
                  <a:ext uri="{FF2B5EF4-FFF2-40B4-BE49-F238E27FC236}">
                    <a16:creationId xmlns:a16="http://schemas.microsoft.com/office/drawing/2014/main" id="{893D2F51-8BB3-34CF-20E7-1A0751F69CE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 name="Freeform 58">
                <a:extLst>
                  <a:ext uri="{FF2B5EF4-FFF2-40B4-BE49-F238E27FC236}">
                    <a16:creationId xmlns:a16="http://schemas.microsoft.com/office/drawing/2014/main" id="{A04E3645-F0E7-A519-AEF6-653FACB19E4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59">
                <a:extLst>
                  <a:ext uri="{FF2B5EF4-FFF2-40B4-BE49-F238E27FC236}">
                    <a16:creationId xmlns:a16="http://schemas.microsoft.com/office/drawing/2014/main" id="{70E00AA5-7A02-18CF-E33E-FE5166F5321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60">
                <a:extLst>
                  <a:ext uri="{FF2B5EF4-FFF2-40B4-BE49-F238E27FC236}">
                    <a16:creationId xmlns:a16="http://schemas.microsoft.com/office/drawing/2014/main" id="{15946F15-1D98-74EA-47D8-10BE60238CA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61">
                <a:extLst>
                  <a:ext uri="{FF2B5EF4-FFF2-40B4-BE49-F238E27FC236}">
                    <a16:creationId xmlns:a16="http://schemas.microsoft.com/office/drawing/2014/main" id="{264EE5B0-3A02-8DDE-8481-236AD752CD7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A56F590-103B-F62D-D7FE-384B7A58BEC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0" name="Freeform 129">
                <a:extLst>
                  <a:ext uri="{FF2B5EF4-FFF2-40B4-BE49-F238E27FC236}">
                    <a16:creationId xmlns:a16="http://schemas.microsoft.com/office/drawing/2014/main" id="{50D8AE4D-B2EA-9E35-3FAC-20484D3D5E0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024238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cSld name="Thank You / Closing - Plum">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617A620-858A-C90D-25A8-1127488DCAA3}"/>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4" name="TextBox 13">
            <a:extLst>
              <a:ext uri="{FF2B5EF4-FFF2-40B4-BE49-F238E27FC236}">
                <a16:creationId xmlns:a16="http://schemas.microsoft.com/office/drawing/2014/main" id="{22CB5258-275E-6DCB-26B0-4C02DB0F78E2}"/>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30" name="TextBox 29">
            <a:extLst>
              <a:ext uri="{FF2B5EF4-FFF2-40B4-BE49-F238E27FC236}">
                <a16:creationId xmlns:a16="http://schemas.microsoft.com/office/drawing/2014/main" id="{2EDB8DE9-9C49-38B0-DA3A-AE7074625F93}"/>
              </a:ext>
            </a:extLst>
          </p:cNvPr>
          <p:cNvSpPr txBox="1"/>
          <p:nvPr userDrawn="1"/>
        </p:nvSpPr>
        <p:spPr>
          <a:xfrm>
            <a:off x="1645084" y="6461498"/>
            <a:ext cx="2806859" cy="125484"/>
          </a:xfrm>
          <a:prstGeom prst="rect">
            <a:avLst/>
          </a:prstGeom>
          <a:noFill/>
        </p:spPr>
        <p:txBody>
          <a:bodyPr wrap="none" lIns="0" tIns="0" rIns="0" bIns="0" rtlCol="0">
            <a:spAutoFit/>
          </a:bodyPr>
          <a:lstStyle/>
          <a:p>
            <a:pPr marL="0" algn="l" defTabSz="914400" rtl="0" eaLnBrk="1" latinLnBrk="0" hangingPunct="1">
              <a:lnSpc>
                <a:spcPct val="130000"/>
              </a:lnSpc>
            </a:pPr>
            <a:r>
              <a:rPr lang="en-US" sz="700" kern="1200" spc="0" baseline="0" dirty="0" err="1">
                <a:ln/>
                <a:solidFill>
                  <a:srgbClr val="000000"/>
                </a:solidFill>
                <a:latin typeface="+mn-lt"/>
                <a:ea typeface="+mn-ea"/>
                <a:cs typeface="+mn-cs"/>
                <a:sym typeface="Metropolis-Regular"/>
                <a:rtl val="0"/>
              </a:rPr>
              <a:t>Broadcom Proprietary and Confidential. </a:t>
            </a:r>
            <a:r>
              <a:rPr lang="en-US" sz="700" kern="1200" spc="0" baseline="0" dirty="0">
                <a:ln/>
                <a:solidFill>
                  <a:srgbClr val="000000"/>
                </a:solidFill>
                <a:latin typeface="+mn-lt"/>
                <a:ea typeface="+mn-ea"/>
                <a:cs typeface="+mn-cs"/>
                <a:sym typeface="Metropolis-Regular"/>
                <a:rtl val="0"/>
              </a:rPr>
              <a:t>Copyright © 2026 Broadcom.  </a:t>
            </a:r>
          </a:p>
        </p:txBody>
      </p:sp>
      <p:sp>
        <p:nvSpPr>
          <p:cNvPr id="33" name="TextBox 32">
            <a:extLst>
              <a:ext uri="{FF2B5EF4-FFF2-40B4-BE49-F238E27FC236}">
                <a16:creationId xmlns:a16="http://schemas.microsoft.com/office/drawing/2014/main" id="{9A8DF53A-25C5-97DD-B6E9-1568F8678D94}"/>
              </a:ext>
            </a:extLst>
          </p:cNvPr>
          <p:cNvSpPr txBox="1"/>
          <p:nvPr userDrawn="1"/>
        </p:nvSpPr>
        <p:spPr>
          <a:xfrm>
            <a:off x="1645084" y="6569434"/>
            <a:ext cx="3571491" cy="128048"/>
          </a:xfrm>
          <a:prstGeom prst="rect">
            <a:avLst/>
          </a:prstGeom>
          <a:noFill/>
        </p:spPr>
        <p:txBody>
          <a:bodyPr wrap="none" lIns="0" tIns="0" rIns="0" bIns="0" rtlCol="0">
            <a:spAutoFit/>
          </a:bodyPr>
          <a:lstStyle/>
          <a:p>
            <a:pPr algn="l">
              <a:lnSpc>
                <a:spcPct val="130000"/>
              </a:lnSpc>
            </a:pPr>
            <a:r>
              <a:rPr lang="en-US" sz="700" kern="1200" spc="0" baseline="0" dirty="0" err="1">
                <a:ln/>
                <a:solidFill>
                  <a:srgbClr val="000000"/>
                </a:solidFill>
                <a:latin typeface="+mn-lt"/>
                <a:ea typeface="+mn-ea"/>
                <a:cs typeface="+mn-cs"/>
                <a:sym typeface="Metropolis-Regular"/>
                <a:rtl val="0"/>
              </a:rPr>
              <a:t>All Rights Reserved. The term “Broadcom” refers to Broadcom Inc. and/or its subsidiaries</a:t>
            </a:r>
            <a:r>
              <a:rPr lang="en-US" sz="700" spc="0" baseline="0" dirty="0" err="1">
                <a:ln/>
                <a:solidFill>
                  <a:srgbClr val="000000"/>
                </a:solidFill>
                <a:latin typeface="Metropolis-Regular"/>
                <a:sym typeface="Metropolis-Regular"/>
                <a:rtl val="0"/>
              </a:rPr>
              <a:t>.</a:t>
            </a:r>
          </a:p>
        </p:txBody>
      </p:sp>
      <p:grpSp>
        <p:nvGrpSpPr>
          <p:cNvPr id="34" name="Graphic 8">
            <a:extLst>
              <a:ext uri="{FF2B5EF4-FFF2-40B4-BE49-F238E27FC236}">
                <a16:creationId xmlns:a16="http://schemas.microsoft.com/office/drawing/2014/main" id="{FD29D5D0-0DDD-20F6-A6A0-094580D4B920}"/>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3942456E-0A75-E2B5-4FC6-374803C9C02A}"/>
                </a:ext>
              </a:extLst>
            </p:cNvPr>
            <p:cNvGrpSpPr/>
            <p:nvPr/>
          </p:nvGrpSpPr>
          <p:grpSpPr>
            <a:xfrm>
              <a:off x="745455" y="6594444"/>
              <a:ext cx="722662" cy="98475"/>
              <a:chOff x="745455" y="6594444"/>
              <a:chExt cx="722662" cy="98475"/>
            </a:xfrm>
            <a:solidFill>
              <a:srgbClr val="000000"/>
            </a:solidFill>
          </p:grpSpPr>
          <p:sp>
            <p:nvSpPr>
              <p:cNvPr id="65" name="Freeform 19">
                <a:extLst>
                  <a:ext uri="{FF2B5EF4-FFF2-40B4-BE49-F238E27FC236}">
                    <a16:creationId xmlns:a16="http://schemas.microsoft.com/office/drawing/2014/main" id="{199C15D1-8D90-55F3-F898-15829110ADC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66" name="Freeform 20">
                <a:extLst>
                  <a:ext uri="{FF2B5EF4-FFF2-40B4-BE49-F238E27FC236}">
                    <a16:creationId xmlns:a16="http://schemas.microsoft.com/office/drawing/2014/main" id="{B5A19320-DBBC-4D20-AEC5-6E0A0B87A03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67" name="Freeform 21">
                <a:extLst>
                  <a:ext uri="{FF2B5EF4-FFF2-40B4-BE49-F238E27FC236}">
                    <a16:creationId xmlns:a16="http://schemas.microsoft.com/office/drawing/2014/main" id="{2433FD18-D7CB-3A53-CE7A-7E9283DEBD6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68" name="Freeform 22">
                <a:extLst>
                  <a:ext uri="{FF2B5EF4-FFF2-40B4-BE49-F238E27FC236}">
                    <a16:creationId xmlns:a16="http://schemas.microsoft.com/office/drawing/2014/main" id="{85E3403D-4165-11E4-DE8F-F871FDBE085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69" name="Freeform 23">
                <a:extLst>
                  <a:ext uri="{FF2B5EF4-FFF2-40B4-BE49-F238E27FC236}">
                    <a16:creationId xmlns:a16="http://schemas.microsoft.com/office/drawing/2014/main" id="{9C2071B4-3879-7C1D-BB96-3B22699F2AA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70" name="Freeform 24">
                <a:extLst>
                  <a:ext uri="{FF2B5EF4-FFF2-40B4-BE49-F238E27FC236}">
                    <a16:creationId xmlns:a16="http://schemas.microsoft.com/office/drawing/2014/main" id="{A27AB44F-9BAC-B987-2A19-5954C0D9B2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71" name="Freeform 25">
                <a:extLst>
                  <a:ext uri="{FF2B5EF4-FFF2-40B4-BE49-F238E27FC236}">
                    <a16:creationId xmlns:a16="http://schemas.microsoft.com/office/drawing/2014/main" id="{B1E9217B-41F2-EEF0-9915-03225488BAF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72" name="Freeform 26">
                <a:extLst>
                  <a:ext uri="{FF2B5EF4-FFF2-40B4-BE49-F238E27FC236}">
                    <a16:creationId xmlns:a16="http://schemas.microsoft.com/office/drawing/2014/main" id="{818ED516-F20C-8DE5-5A7C-A5E7F67CE06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73" name="Freeform 27">
                <a:extLst>
                  <a:ext uri="{FF2B5EF4-FFF2-40B4-BE49-F238E27FC236}">
                    <a16:creationId xmlns:a16="http://schemas.microsoft.com/office/drawing/2014/main" id="{DFAA4BF5-35CF-1192-B7CC-8D310AD5A6CD}"/>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74" name="Freeform 28">
                <a:extLst>
                  <a:ext uri="{FF2B5EF4-FFF2-40B4-BE49-F238E27FC236}">
                    <a16:creationId xmlns:a16="http://schemas.microsoft.com/office/drawing/2014/main" id="{44C19115-100A-2D55-05A9-AFFD0CD3B1A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A0506421-EB78-893E-5024-06EFF4EE1657}"/>
                </a:ext>
              </a:extLst>
            </p:cNvPr>
            <p:cNvGrpSpPr/>
            <p:nvPr/>
          </p:nvGrpSpPr>
          <p:grpSpPr>
            <a:xfrm>
              <a:off x="265625" y="6323271"/>
              <a:ext cx="1249223" cy="190348"/>
              <a:chOff x="265625" y="6323271"/>
              <a:chExt cx="1249223" cy="190348"/>
            </a:xfrm>
            <a:solidFill>
              <a:srgbClr val="000000"/>
            </a:solidFill>
          </p:grpSpPr>
          <p:sp>
            <p:nvSpPr>
              <p:cNvPr id="58" name="Freeform 10">
                <a:extLst>
                  <a:ext uri="{FF2B5EF4-FFF2-40B4-BE49-F238E27FC236}">
                    <a16:creationId xmlns:a16="http://schemas.microsoft.com/office/drawing/2014/main" id="{966B325F-2AB7-C31E-8858-3A586A4251A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11">
                <a:extLst>
                  <a:ext uri="{FF2B5EF4-FFF2-40B4-BE49-F238E27FC236}">
                    <a16:creationId xmlns:a16="http://schemas.microsoft.com/office/drawing/2014/main" id="{02A86C3D-A232-239A-B405-668E1D77A65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14">
                <a:extLst>
                  <a:ext uri="{FF2B5EF4-FFF2-40B4-BE49-F238E27FC236}">
                    <a16:creationId xmlns:a16="http://schemas.microsoft.com/office/drawing/2014/main" id="{612DD58A-1456-3101-8DE5-62D440A1CA7E}"/>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15">
                <a:extLst>
                  <a:ext uri="{FF2B5EF4-FFF2-40B4-BE49-F238E27FC236}">
                    <a16:creationId xmlns:a16="http://schemas.microsoft.com/office/drawing/2014/main" id="{4006DB53-B8FD-1A4C-11CB-4C2534FF585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16">
                <a:extLst>
                  <a:ext uri="{FF2B5EF4-FFF2-40B4-BE49-F238E27FC236}">
                    <a16:creationId xmlns:a16="http://schemas.microsoft.com/office/drawing/2014/main" id="{4DDFF7CD-27D0-3B6E-E255-3949738E497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17">
                <a:extLst>
                  <a:ext uri="{FF2B5EF4-FFF2-40B4-BE49-F238E27FC236}">
                    <a16:creationId xmlns:a16="http://schemas.microsoft.com/office/drawing/2014/main" id="{1B21DE50-C720-BAAE-9414-503E2C7899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4" name="Freeform 18">
                <a:extLst>
                  <a:ext uri="{FF2B5EF4-FFF2-40B4-BE49-F238E27FC236}">
                    <a16:creationId xmlns:a16="http://schemas.microsoft.com/office/drawing/2014/main" id="{FF9C0037-8739-4823-83AE-0D2C87E19F1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639957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852"/>
        <p:cNvGrpSpPr/>
        <p:nvPr/>
      </p:nvGrpSpPr>
      <p:grpSpPr>
        <a:xfrm>
          <a:off x="0" y="0"/>
          <a:ext cx="0" cy="0"/>
          <a:chOff x="0" y="0"/>
          <a:chExt cx="0" cy="0"/>
        </a:xfrm>
      </p:grpSpPr>
      <p:sp>
        <p:nvSpPr>
          <p:cNvPr id="853" name="Google Shape;853;g3978402b0d5_2_8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4" name="Google Shape;854;g3978402b0d5_2_85"/>
          <p:cNvSpPr txBox="1">
            <a:spLocks noGrp="1"/>
          </p:cNvSpPr>
          <p:nvPr>
            <p:ph type="subTitle" idx="1"/>
          </p:nvPr>
        </p:nvSpPr>
        <p:spPr>
          <a:xfrm>
            <a:off x="592867" y="811831"/>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Tree>
    <p:extLst>
      <p:ext uri="{BB962C8B-B14F-4D97-AF65-F5344CB8AC3E}">
        <p14:creationId xmlns:p14="http://schemas.microsoft.com/office/powerpoint/2010/main" val="25561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descr="A green and blue arrow&#10;&#10;Description automatically generated">
            <a:extLst>
              <a:ext uri="{FF2B5EF4-FFF2-40B4-BE49-F238E27FC236}">
                <a16:creationId xmlns:a16="http://schemas.microsoft.com/office/drawing/2014/main" id="{1405F386-6FD2-3D3B-10FF-68A1A63A1C00}"/>
              </a:ext>
            </a:extLst>
          </p:cNvPr>
          <p:cNvPicPr>
            <a:picLocks noChangeAspect="1"/>
          </p:cNvPicPr>
          <p:nvPr userDrawn="1"/>
        </p:nvPicPr>
        <p:blipFill rotWithShape="1">
          <a:blip r:embed="rId38"/>
          <a:srcRect b="97344"/>
          <a:stretch/>
        </p:blipFill>
        <p:spPr>
          <a:xfrm>
            <a:off x="0" y="-494"/>
            <a:ext cx="12187946" cy="182146"/>
          </a:xfrm>
          <a:prstGeom prst="rect">
            <a:avLst/>
          </a:prstGeom>
        </p:spPr>
      </p:pic>
    </p:spTree>
    <p:extLst>
      <p:ext uri="{BB962C8B-B14F-4D97-AF65-F5344CB8AC3E}">
        <p14:creationId xmlns:p14="http://schemas.microsoft.com/office/powerpoint/2010/main" val="925793879"/>
      </p:ext>
    </p:extLst>
  </p:cSld>
  <p:clrMap bg1="lt1" tx1="dk1" bg2="lt2" tx2="dk2" accent1="accent1" accent2="accent2" accent3="accent3" accent4="accent4" accent5="accent5" accent6="accent6" hlink="hlink" folHlink="folHlink"/>
  <p:sldLayoutIdLst>
    <p:sldLayoutId id="4277096874" r:id="rId1"/>
    <p:sldLayoutId id="4277096875" r:id="rId2"/>
    <p:sldLayoutId id="4277096876" r:id="rId3"/>
    <p:sldLayoutId id="4277096877" r:id="rId4"/>
    <p:sldLayoutId id="4277096878" r:id="rId5"/>
    <p:sldLayoutId id="4277096882" r:id="rId6"/>
    <p:sldLayoutId id="4277096883" r:id="rId7"/>
    <p:sldLayoutId id="4277096884" r:id="rId8"/>
    <p:sldLayoutId id="4277096885" r:id="rId9"/>
    <p:sldLayoutId id="4277096886" r:id="rId10"/>
    <p:sldLayoutId id="4277096887" r:id="rId11"/>
    <p:sldLayoutId id="4277096888" r:id="rId12"/>
    <p:sldLayoutId id="4277096889" r:id="rId13"/>
    <p:sldLayoutId id="4277096890" r:id="rId14"/>
    <p:sldLayoutId id="4277096891" r:id="rId15"/>
    <p:sldLayoutId id="4277096892" r:id="rId16"/>
    <p:sldLayoutId id="4277096893" r:id="rId17"/>
    <p:sldLayoutId id="4277096894" r:id="rId18"/>
    <p:sldLayoutId id="4277096895" r:id="rId19"/>
    <p:sldLayoutId id="4277096896" r:id="rId20"/>
    <p:sldLayoutId id="4277096897" r:id="rId21"/>
    <p:sldLayoutId id="4277096898" r:id="rId22"/>
    <p:sldLayoutId id="4277096899" r:id="rId23"/>
    <p:sldLayoutId id="4277096900" r:id="rId24"/>
    <p:sldLayoutId id="4277096901" r:id="rId25"/>
    <p:sldLayoutId id="4277096905" r:id="rId26"/>
    <p:sldLayoutId id="4277096906" r:id="rId27"/>
    <p:sldLayoutId id="4277096907" r:id="rId28"/>
    <p:sldLayoutId id="4277096908" r:id="rId29"/>
    <p:sldLayoutId id="4277096909" r:id="rId30"/>
    <p:sldLayoutId id="4277096910" r:id="rId31"/>
    <p:sldLayoutId id="4277096914" r:id="rId32"/>
    <p:sldLayoutId id="4277096915" r:id="rId33"/>
    <p:sldLayoutId id="4277096962" r:id="rId34"/>
    <p:sldLayoutId id="4277096963" r:id="rId35"/>
    <p:sldLayoutId id="4277096964" r:id="rId3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3.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29.png"/><Relationship Id="rId4" Type="http://schemas.openxmlformats.org/officeDocument/2006/relationships/image" Target="../media/image28.tiff"/></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by Broadcom Solution</a:t>
            </a:r>
          </a:p>
        </p:txBody>
      </p:sp>
      <p:sp>
        <p:nvSpPr>
          <p:cNvPr id="3" name="Subtitle 2"/>
          <p:cNvSpPr>
            <a:spLocks noGrp="1"/>
          </p:cNvSpPr>
          <p:nvPr>
            <p:ph type="subTitle" idx="10"/>
          </p:nvPr>
        </p:nvSpPr>
        <p:spPr/>
        <p:txBody>
          <a:bodyPr/>
          <a:lstStyle/>
          <a:p>
            <a:r>
              <a:rPr lang="en-US" dirty="0"/>
              <a:t>Knowledge Transfer Workshop</a:t>
            </a:r>
          </a:p>
        </p:txBody>
      </p:sp>
      <p:sp>
        <p:nvSpPr>
          <p:cNvPr id="8" name="Text Placeholder 7">
            <a:extLst>
              <a:ext uri="{FF2B5EF4-FFF2-40B4-BE49-F238E27FC236}">
                <a16:creationId xmlns:a16="http://schemas.microsoft.com/office/drawing/2014/main" id="{5F517EB2-E5B7-A35E-FF7F-104DB20743E5}"/>
              </a:ext>
            </a:extLst>
          </p:cNvPr>
          <p:cNvSpPr>
            <a:spLocks noGrp="1"/>
          </p:cNvSpPr>
          <p:nvPr>
            <p:ph type="body" sz="quarter" idx="11"/>
          </p:nvPr>
        </p:nvSpPr>
        <p:spPr/>
        <p:txBody>
          <a:bodyPr/>
          <a:lstStyle/>
          <a:p>
            <a:endParaRPr lang="en-US"/>
          </a:p>
        </p:txBody>
      </p:sp>
      <p:sp>
        <p:nvSpPr>
          <p:cNvPr id="9" name="Text Placeholder 8">
            <a:extLst>
              <a:ext uri="{FF2B5EF4-FFF2-40B4-BE49-F238E27FC236}">
                <a16:creationId xmlns:a16="http://schemas.microsoft.com/office/drawing/2014/main" id="{460FA32B-8826-AC80-13A4-A401756B32F4}"/>
              </a:ext>
            </a:extLst>
          </p:cNvPr>
          <p:cNvSpPr>
            <a:spLocks noGrp="1"/>
          </p:cNvSpPr>
          <p:nvPr>
            <p:ph type="body" sz="quarter" idx="12"/>
          </p:nvPr>
        </p:nvSpPr>
        <p:spPr/>
        <p:txBody>
          <a:bodyPr/>
          <a:lstStyle/>
          <a:p>
            <a:endParaRPr lang="en-US"/>
          </a:p>
        </p:txBody>
      </p:sp>
      <p:sp>
        <p:nvSpPr>
          <p:cNvPr id="10" name="Text Placeholder 9">
            <a:extLst>
              <a:ext uri="{FF2B5EF4-FFF2-40B4-BE49-F238E27FC236}">
                <a16:creationId xmlns:a16="http://schemas.microsoft.com/office/drawing/2014/main" id="{946E363B-B82F-6A10-B882-C0DEB042589F}"/>
              </a:ext>
            </a:extLst>
          </p:cNvPr>
          <p:cNvSpPr>
            <a:spLocks noGrp="1"/>
          </p:cNvSpPr>
          <p:nvPr>
            <p:ph type="body" sz="quarter" idx="14"/>
          </p:nvPr>
        </p:nvSpPr>
        <p:spPr/>
        <p:txBody>
          <a:bodyPr/>
          <a:lstStyle/>
          <a:p>
            <a:endParaRPr lang="en-US"/>
          </a:p>
        </p:txBody>
      </p:sp>
      <p:sp>
        <p:nvSpPr>
          <p:cNvPr id="6" name="Text Placeholder 3"/>
          <p:cNvSpPr txBox="1">
            <a:spLocks/>
          </p:cNvSpPr>
          <p:nvPr/>
        </p:nvSpPr>
        <p:spPr>
          <a:xfrm>
            <a:off x="592880" y="1777856"/>
            <a:ext cx="5561151" cy="28979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1pPr>
            <a:lvl2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6pPr>
            <a:lvl7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endParaRPr lang="en-US" sz="1999" dirty="0">
              <a:solidFill>
                <a:schemeClr val="tx2"/>
              </a:solidFill>
            </a:endParaRPr>
          </a:p>
        </p:txBody>
      </p:sp>
    </p:spTree>
    <p:extLst>
      <p:ext uri="{BB962C8B-B14F-4D97-AF65-F5344CB8AC3E}">
        <p14:creationId xmlns:p14="http://schemas.microsoft.com/office/powerpoint/2010/main" val="891143293"/>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stools_autogen_agenda_placeholder"/>
          <p:cNvSpPr>
            <a:spLocks noGrp="1"/>
          </p:cNvSpPr>
          <p:nvPr>
            <p:ph type="body" sz="quarter" idx="23"/>
          </p:nvPr>
        </p:nvSpPr>
        <p:spPr/>
        <p:txBody>
          <a:bodyPr/>
          <a:lstStyle/>
          <a:p>
            <a:r>
              <a:rPr lang="en-US" sz="1200" dirty="0"/>
              <a:t>Introductions and Workshop Objectives</a:t>
            </a:r>
          </a:p>
          <a:p>
            <a:pPr lvl="0"/>
            <a:r>
              <a:rPr lang="en-US" sz="1200" dirty="0"/>
              <a:t>Conceptual Design</a:t>
            </a:r>
          </a:p>
          <a:p>
            <a:pPr lvl="0"/>
            <a:r>
              <a:rPr lang="en-US" sz="1200" dirty="0"/>
              <a:t>Solution Scope</a:t>
            </a:r>
          </a:p>
          <a:p>
            <a:r>
              <a:rPr lang="en-US" sz="1200" dirty="0"/>
              <a:t>Logical Design</a:t>
            </a:r>
            <a:endParaRPr lang="en-GB" sz="1200" dirty="0"/>
          </a:p>
          <a:p>
            <a:r>
              <a:rPr lang="en-GB" sz="1200" dirty="0"/>
              <a:t>VCF Base Platform Design Session</a:t>
            </a:r>
            <a:endParaRPr lang="en-US" sz="1200" dirty="0"/>
          </a:p>
          <a:p>
            <a:r>
              <a:rPr lang="en-US" sz="1200" dirty="0"/>
              <a:t>Adoption for the Digital Workspace</a:t>
            </a:r>
          </a:p>
          <a:p>
            <a:pPr lvl="2"/>
            <a:r>
              <a:rPr lang="en-US" sz="1100" dirty="0">
                <a:solidFill>
                  <a:srgbClr val="FF0000"/>
                </a:solidFill>
              </a:rPr>
              <a:t>&lt;Process Type Name&gt;</a:t>
            </a:r>
          </a:p>
          <a:p>
            <a:pPr lvl="2"/>
            <a:r>
              <a:rPr lang="en-US" sz="1100" dirty="0">
                <a:solidFill>
                  <a:srgbClr val="FF0000"/>
                </a:solidFill>
              </a:rPr>
              <a:t>&lt;Process Type Name&gt;</a:t>
            </a:r>
          </a:p>
          <a:p>
            <a:pPr lvl="2"/>
            <a:r>
              <a:rPr lang="en-US" sz="1100" dirty="0">
                <a:solidFill>
                  <a:srgbClr val="FF0000"/>
                </a:solidFill>
              </a:rPr>
              <a:t>&lt;Process Type Name&gt;</a:t>
            </a:r>
          </a:p>
          <a:p>
            <a:r>
              <a:rPr lang="en-US" sz="1200" dirty="0"/>
              <a:t>Next Steps</a:t>
            </a:r>
            <a:endParaRPr lang="en-GB" sz="1200" dirty="0"/>
          </a:p>
        </p:txBody>
      </p:sp>
      <p:sp>
        <p:nvSpPr>
          <p:cNvPr id="2" name="Slide Number Placeholder 1"/>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2</a:t>
            </a:fld>
            <a:endParaRPr lang="en-US" dirty="0"/>
          </a:p>
        </p:txBody>
      </p:sp>
      <p:sp>
        <p:nvSpPr>
          <p:cNvPr id="5" name="Rectangle 4"/>
          <p:cNvSpPr/>
          <p:nvPr/>
        </p:nvSpPr>
        <p:spPr>
          <a:xfrm>
            <a:off x="6927677" y="1882423"/>
            <a:ext cx="4315171" cy="2215991"/>
          </a:xfrm>
          <a:prstGeom prst="rect">
            <a:avLst/>
          </a:prstGeom>
          <a:solidFill>
            <a:srgbClr val="FFFF00"/>
          </a:solidFill>
        </p:spPr>
        <p:txBody>
          <a:bodyPr wrap="square">
            <a:spAutoFit/>
          </a:bodyPr>
          <a:lstStyle/>
          <a:p>
            <a:pPr>
              <a:spcAft>
                <a:spcPts val="600"/>
              </a:spcAft>
            </a:pPr>
            <a:r>
              <a:rPr lang="en-US" sz="1600" b="1" u="sng" dirty="0">
                <a:solidFill>
                  <a:schemeClr val="bg2">
                    <a:lumMod val="10000"/>
                  </a:schemeClr>
                </a:solidFill>
              </a:rPr>
              <a:t>NOTE TO PSO Consultant/Architect:</a:t>
            </a:r>
          </a:p>
          <a:p>
            <a:pPr>
              <a:spcAft>
                <a:spcPts val="600"/>
              </a:spcAft>
            </a:pPr>
            <a:r>
              <a:rPr lang="en-US" sz="1600" dirty="0">
                <a:solidFill>
                  <a:schemeClr val="bg2">
                    <a:lumMod val="10000"/>
                  </a:schemeClr>
                </a:solidFill>
              </a:rPr>
              <a:t>There is no prescribed knowledge transfer deck for this microservice. Please leverage the materials available for the VMware technical marketing team.</a:t>
            </a:r>
          </a:p>
          <a:p>
            <a:pPr>
              <a:spcAft>
                <a:spcPts val="600"/>
              </a:spcAft>
            </a:pPr>
            <a:r>
              <a:rPr lang="en-US" sz="1600" dirty="0">
                <a:solidFill>
                  <a:schemeClr val="bg2">
                    <a:lumMod val="10000"/>
                  </a:schemeClr>
                </a:solidFill>
              </a:rPr>
              <a:t>Recommended workshop topics appear after this slide, if available. These should be adapted for the Customer as needed.</a:t>
            </a:r>
          </a:p>
        </p:txBody>
      </p:sp>
    </p:spTree>
    <p:extLst>
      <p:ext uri="{BB962C8B-B14F-4D97-AF65-F5344CB8AC3E}">
        <p14:creationId xmlns:p14="http://schemas.microsoft.com/office/powerpoint/2010/main" val="1794860601"/>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title"/>
          </p:nvPr>
        </p:nvSpPr>
        <p:spPr/>
        <p:txBody>
          <a:bodyPr/>
          <a:lstStyle/>
          <a:p>
            <a:r>
              <a:rPr lang="en-US" dirty="0"/>
              <a:t>Introductions and Workshop Objectives</a:t>
            </a:r>
          </a:p>
        </p:txBody>
      </p:sp>
      <p:sp>
        <p:nvSpPr>
          <p:cNvPr id="2" name="Subtitle 1">
            <a:extLst>
              <a:ext uri="{FF2B5EF4-FFF2-40B4-BE49-F238E27FC236}">
                <a16:creationId xmlns:a16="http://schemas.microsoft.com/office/drawing/2014/main" id="{730ED579-31FA-E278-16DA-F904BB529122}"/>
              </a:ext>
            </a:extLst>
          </p:cNvPr>
          <p:cNvSpPr>
            <a:spLocks noGrp="1"/>
          </p:cNvSpPr>
          <p:nvPr>
            <p:ph type="subTitle" idx="10"/>
          </p:nvPr>
        </p:nvSpPr>
        <p:spPr/>
        <p:txBody>
          <a:bodyPr/>
          <a:lstStyle/>
          <a:p>
            <a:endParaRPr lang="en-US" dirty="0"/>
          </a:p>
        </p:txBody>
      </p:sp>
      <p:sp>
        <p:nvSpPr>
          <p:cNvPr id="7" name="Text Placeholder 6"/>
          <p:cNvSpPr>
            <a:spLocks noGrp="1"/>
          </p:cNvSpPr>
          <p:nvPr>
            <p:ph sz="quarter" idx="14"/>
          </p:nvPr>
        </p:nvSpPr>
        <p:spPr/>
        <p:txBody>
          <a:bodyPr/>
          <a:lstStyle/>
          <a:p>
            <a:r>
              <a:rPr lang="en-US" dirty="0"/>
              <a:t>Participant introductions</a:t>
            </a:r>
          </a:p>
          <a:p>
            <a:pPr lvl="1"/>
            <a:r>
              <a:rPr lang="en-GB" dirty="0"/>
              <a:t>What experience do you have?</a:t>
            </a:r>
          </a:p>
          <a:p>
            <a:pPr lvl="1"/>
            <a:r>
              <a:rPr lang="en-GB" dirty="0"/>
              <a:t>Why are you attending this workshop?</a:t>
            </a:r>
          </a:p>
          <a:p>
            <a:pPr lvl="1"/>
            <a:r>
              <a:rPr lang="en-GB" dirty="0"/>
              <a:t>What do you expect to achieve?</a:t>
            </a:r>
            <a:endParaRPr lang="en-US" dirty="0"/>
          </a:p>
          <a:p>
            <a:r>
              <a:rPr lang="en-CA" dirty="0"/>
              <a:t>Expectations of the workshop</a:t>
            </a:r>
          </a:p>
          <a:p>
            <a:pPr lvl="1"/>
            <a:r>
              <a:rPr lang="en-GB" dirty="0"/>
              <a:t>Outcomes expected of workshop</a:t>
            </a:r>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pPr/>
              <a:t>3</a:t>
            </a:fld>
            <a:endParaRPr lang="en-US" dirty="0"/>
          </a:p>
        </p:txBody>
      </p:sp>
      <p:sp>
        <p:nvSpPr>
          <p:cNvPr id="5" name="TextBox 4">
            <a:extLst>
              <a:ext uri="{FF2B5EF4-FFF2-40B4-BE49-F238E27FC236}">
                <a16:creationId xmlns:a16="http://schemas.microsoft.com/office/drawing/2014/main" id="{EAD849EB-00F2-C34C-B617-3E692ABE4349}"/>
              </a:ext>
            </a:extLst>
          </p:cNvPr>
          <p:cNvSpPr txBox="1"/>
          <p:nvPr/>
        </p:nvSpPr>
        <p:spPr>
          <a:xfrm>
            <a:off x="6073796" y="1931746"/>
            <a:ext cx="3681823" cy="553998"/>
          </a:xfrm>
          <a:prstGeom prst="rect">
            <a:avLst/>
          </a:prstGeom>
          <a:solidFill>
            <a:srgbClr val="FFFF00"/>
          </a:solidFill>
        </p:spPr>
        <p:txBody>
          <a:bodyPr wrap="square" lIns="0" tIns="0" rIns="0" bIns="0" rtlCol="0">
            <a:spAutoFit/>
          </a:bodyPr>
          <a:lstStyle/>
          <a:p>
            <a:pPr algn="l">
              <a:spcAft>
                <a:spcPts val="600"/>
              </a:spcAft>
            </a:pPr>
            <a:r>
              <a:rPr lang="en-US" sz="1200" b="1" dirty="0"/>
              <a:t>PS Consultant: </a:t>
            </a:r>
            <a:r>
              <a:rPr lang="en-US" sz="1200" dirty="0"/>
              <a:t>Please fill out these bullet points to provide scope and expectations of this workshop.</a:t>
            </a:r>
          </a:p>
        </p:txBody>
      </p:sp>
    </p:spTree>
    <p:extLst>
      <p:ext uri="{BB962C8B-B14F-4D97-AF65-F5344CB8AC3E}">
        <p14:creationId xmlns:p14="http://schemas.microsoft.com/office/powerpoint/2010/main" val="299995819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sp>
        <p:nvSpPr>
          <p:cNvPr id="1813" name="Google Shape;1813;g3978402b0d5_2_1041"/>
          <p:cNvSpPr txBox="1">
            <a:spLocks noGrp="1"/>
          </p:cNvSpPr>
          <p:nvPr>
            <p:ph type="title"/>
          </p:nvPr>
        </p:nvSpPr>
        <p:spPr>
          <a:xfrm>
            <a:off x="581246" y="412751"/>
            <a:ext cx="10998135"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Delivering the Modern Private Cloud</a:t>
            </a:r>
            <a:endParaRPr/>
          </a:p>
        </p:txBody>
      </p:sp>
      <p:sp>
        <p:nvSpPr>
          <p:cNvPr id="1814" name="Google Shape;1814;g3978402b0d5_2_1041"/>
          <p:cNvSpPr txBox="1"/>
          <p:nvPr/>
        </p:nvSpPr>
        <p:spPr>
          <a:xfrm>
            <a:off x="6565767" y="6453005"/>
            <a:ext cx="4108330" cy="215400"/>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The information in this presentation is for informational purposes only and may not be incorporated</a:t>
            </a:r>
            <a:endParaRPr sz="700" b="0" i="0" u="none" strike="noStrike" cap="none">
              <a:solidFill>
                <a:srgbClr val="7F7F7F"/>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into any contract. There is no commitment or obligation to deliver any items presented herein.</a:t>
            </a:r>
            <a:endParaRPr sz="700" b="0" i="0" u="none" strike="noStrike" cap="none">
              <a:solidFill>
                <a:srgbClr val="7F7F7F"/>
              </a:solidFill>
              <a:latin typeface="Arial"/>
              <a:ea typeface="Arial"/>
              <a:cs typeface="Arial"/>
              <a:sym typeface="Arial"/>
            </a:endParaRPr>
          </a:p>
        </p:txBody>
      </p:sp>
      <p:sp>
        <p:nvSpPr>
          <p:cNvPr id="1815" name="Google Shape;1815;g3978402b0d5_2_1041"/>
          <p:cNvSpPr/>
          <p:nvPr/>
        </p:nvSpPr>
        <p:spPr>
          <a:xfrm>
            <a:off x="3638420" y="2536129"/>
            <a:ext cx="4912120" cy="0"/>
          </a:xfrm>
          <a:prstGeom prst="roundRect">
            <a:avLst>
              <a:gd name="adj" fmla="val 8857"/>
            </a:avLst>
          </a:prstGeom>
          <a:gradFill>
            <a:gsLst>
              <a:gs pos="0">
                <a:srgbClr val="021A58"/>
              </a:gs>
              <a:gs pos="99000">
                <a:srgbClr val="02246C"/>
              </a:gs>
              <a:gs pos="100000">
                <a:srgbClr val="02246C"/>
              </a:gs>
            </a:gsLst>
            <a:lin ang="2700006" scaled="0"/>
          </a:gradFill>
          <a:ln>
            <a:noFill/>
          </a:ln>
        </p:spPr>
        <p:txBody>
          <a:bodyPr spcFirstLastPara="1" wrap="square" lIns="68550" tIns="34250" rIns="68550" bIns="342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16" name="Google Shape;1816;g3978402b0d5_2_1041"/>
          <p:cNvGrpSpPr/>
          <p:nvPr/>
        </p:nvGrpSpPr>
        <p:grpSpPr>
          <a:xfrm>
            <a:off x="1652986" y="1160020"/>
            <a:ext cx="8882898" cy="4577389"/>
            <a:chOff x="1651829" y="1160019"/>
            <a:chExt cx="8885212" cy="4577389"/>
          </a:xfrm>
        </p:grpSpPr>
        <p:grpSp>
          <p:nvGrpSpPr>
            <p:cNvPr id="1817" name="Google Shape;1817;g3978402b0d5_2_1041"/>
            <p:cNvGrpSpPr/>
            <p:nvPr/>
          </p:nvGrpSpPr>
          <p:grpSpPr>
            <a:xfrm>
              <a:off x="2668555" y="2160690"/>
              <a:ext cx="6852016" cy="3576718"/>
              <a:chOff x="2668555" y="2160690"/>
              <a:chExt cx="6852016" cy="3576718"/>
            </a:xfrm>
          </p:grpSpPr>
          <p:grpSp>
            <p:nvGrpSpPr>
              <p:cNvPr id="1818" name="Google Shape;1818;g3978402b0d5_2_1041"/>
              <p:cNvGrpSpPr/>
              <p:nvPr/>
            </p:nvGrpSpPr>
            <p:grpSpPr>
              <a:xfrm>
                <a:off x="2668555" y="5179108"/>
                <a:ext cx="6852016" cy="558300"/>
                <a:chOff x="3026124" y="5022996"/>
                <a:chExt cx="6136500" cy="558300"/>
              </a:xfrm>
            </p:grpSpPr>
            <p:sp>
              <p:nvSpPr>
                <p:cNvPr id="1819" name="Google Shape;1819;g3978402b0d5_2_1041"/>
                <p:cNvSpPr/>
                <p:nvPr/>
              </p:nvSpPr>
              <p:spPr>
                <a:xfrm>
                  <a:off x="3077590" y="5058984"/>
                  <a:ext cx="6047100" cy="481800"/>
                </a:xfrm>
                <a:prstGeom prst="round2SameRect">
                  <a:avLst>
                    <a:gd name="adj1" fmla="val 47157"/>
                    <a:gd name="adj2" fmla="val 0"/>
                  </a:avLst>
                </a:prstGeom>
                <a:gradFill>
                  <a:gsLst>
                    <a:gs pos="0">
                      <a:srgbClr val="6C4B8F"/>
                    </a:gs>
                    <a:gs pos="100000">
                      <a:srgbClr val="005B84"/>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0" name="Google Shape;1820;g3978402b0d5_2_1041"/>
                <p:cNvSpPr/>
                <p:nvPr/>
              </p:nvSpPr>
              <p:spPr>
                <a:xfrm>
                  <a:off x="3026124" y="5022996"/>
                  <a:ext cx="6136500" cy="558300"/>
                </a:xfrm>
                <a:prstGeom prst="rect">
                  <a:avLst/>
                </a:prstGeom>
                <a:gradFill>
                  <a:gsLst>
                    <a:gs pos="0">
                      <a:srgbClr val="FFFFFF">
                        <a:alpha val="76078"/>
                      </a:srgbClr>
                    </a:gs>
                    <a:gs pos="85000">
                      <a:schemeClr val="lt1"/>
                    </a:gs>
                    <a:gs pos="100000">
                      <a:schemeClr val="lt1"/>
                    </a:gs>
                  </a:gsLst>
                  <a:lin ang="540001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grpSp>
            <p:nvGrpSpPr>
              <p:cNvPr id="1821" name="Google Shape;1821;g3978402b0d5_2_1041"/>
              <p:cNvGrpSpPr/>
              <p:nvPr/>
            </p:nvGrpSpPr>
            <p:grpSpPr>
              <a:xfrm>
                <a:off x="2880846" y="2160690"/>
                <a:ext cx="6426204" cy="3017866"/>
                <a:chOff x="2887564" y="2312334"/>
                <a:chExt cx="6426204" cy="3017866"/>
              </a:xfrm>
            </p:grpSpPr>
            <p:sp>
              <p:nvSpPr>
                <p:cNvPr id="1822" name="Google Shape;1822;g3978402b0d5_2_1041"/>
                <p:cNvSpPr txBox="1"/>
                <p:nvPr/>
              </p:nvSpPr>
              <p:spPr>
                <a:xfrm>
                  <a:off x="4321882" y="2312334"/>
                  <a:ext cx="3558600" cy="1539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0098C7"/>
                      </a:solidFill>
                      <a:latin typeface="Arial"/>
                      <a:ea typeface="Arial"/>
                      <a:cs typeface="Arial"/>
                      <a:sym typeface="Arial"/>
                    </a:rPr>
                    <a:t>VMware Cloud Foundation 9</a:t>
                  </a:r>
                  <a:endParaRPr sz="1200" b="0" i="0" u="none" strike="noStrike" cap="none">
                    <a:solidFill>
                      <a:srgbClr val="000000"/>
                    </a:solidFill>
                    <a:latin typeface="Arial"/>
                    <a:ea typeface="Arial"/>
                    <a:cs typeface="Arial"/>
                    <a:sym typeface="Arial"/>
                  </a:endParaRPr>
                </a:p>
              </p:txBody>
            </p:sp>
            <p:sp>
              <p:nvSpPr>
                <p:cNvPr id="1823" name="Google Shape;1823;g3978402b0d5_2_1041"/>
                <p:cNvSpPr/>
                <p:nvPr/>
              </p:nvSpPr>
              <p:spPr>
                <a:xfrm>
                  <a:off x="2887564" y="2380446"/>
                  <a:ext cx="6426204" cy="2949754"/>
                </a:xfrm>
                <a:custGeom>
                  <a:avLst/>
                  <a:gdLst/>
                  <a:ahLst/>
                  <a:cxnLst/>
                  <a:rect l="l" t="t" r="r" b="b"/>
                  <a:pathLst>
                    <a:path w="6928522" h="3180328" extrusionOk="0">
                      <a:moveTo>
                        <a:pt x="326874" y="0"/>
                      </a:moveTo>
                      <a:lnTo>
                        <a:pt x="2315619" y="0"/>
                      </a:lnTo>
                      <a:lnTo>
                        <a:pt x="2315619" y="26610"/>
                      </a:lnTo>
                      <a:lnTo>
                        <a:pt x="337328" y="26610"/>
                      </a:lnTo>
                      <a:cubicBezTo>
                        <a:pt x="165158" y="26610"/>
                        <a:pt x="25587" y="166181"/>
                        <a:pt x="25587" y="338351"/>
                      </a:cubicBezTo>
                      <a:lnTo>
                        <a:pt x="25587" y="2841978"/>
                      </a:lnTo>
                      <a:cubicBezTo>
                        <a:pt x="25587" y="3014148"/>
                        <a:pt x="165158" y="3153719"/>
                        <a:pt x="337328" y="3153719"/>
                      </a:cubicBezTo>
                      <a:lnTo>
                        <a:pt x="6591194" y="3153719"/>
                      </a:lnTo>
                      <a:cubicBezTo>
                        <a:pt x="6763364" y="3153719"/>
                        <a:pt x="6902935" y="3014148"/>
                        <a:pt x="6902935" y="2841978"/>
                      </a:cubicBezTo>
                      <a:lnTo>
                        <a:pt x="6902935" y="338351"/>
                      </a:lnTo>
                      <a:cubicBezTo>
                        <a:pt x="6902935" y="166181"/>
                        <a:pt x="6763364" y="26610"/>
                        <a:pt x="6591194" y="26610"/>
                      </a:cubicBezTo>
                      <a:lnTo>
                        <a:pt x="4612903" y="26610"/>
                      </a:lnTo>
                      <a:lnTo>
                        <a:pt x="4612903" y="0"/>
                      </a:lnTo>
                      <a:lnTo>
                        <a:pt x="6601648" y="0"/>
                      </a:lnTo>
                      <a:cubicBezTo>
                        <a:pt x="6782176" y="0"/>
                        <a:pt x="6928522" y="146346"/>
                        <a:pt x="6928522" y="326874"/>
                      </a:cubicBezTo>
                      <a:lnTo>
                        <a:pt x="6928522" y="2853454"/>
                      </a:lnTo>
                      <a:cubicBezTo>
                        <a:pt x="6928522" y="3033982"/>
                        <a:pt x="6782176" y="3180328"/>
                        <a:pt x="6601648" y="3180328"/>
                      </a:cubicBezTo>
                      <a:lnTo>
                        <a:pt x="326874" y="3180328"/>
                      </a:lnTo>
                      <a:cubicBezTo>
                        <a:pt x="146346" y="3180328"/>
                        <a:pt x="0" y="3033982"/>
                        <a:pt x="0" y="2853454"/>
                      </a:cubicBezTo>
                      <a:lnTo>
                        <a:pt x="0" y="326874"/>
                      </a:lnTo>
                      <a:cubicBezTo>
                        <a:pt x="0" y="146346"/>
                        <a:pt x="146346" y="0"/>
                        <a:pt x="326874" y="0"/>
                      </a:cubicBezTo>
                      <a:close/>
                    </a:path>
                  </a:pathLst>
                </a:custGeom>
                <a:gradFill>
                  <a:gsLst>
                    <a:gs pos="0">
                      <a:schemeClr val="accent3"/>
                    </a:gs>
                    <a:gs pos="23000">
                      <a:schemeClr val="accent3"/>
                    </a:gs>
                    <a:gs pos="81000">
                      <a:schemeClr val="accent5"/>
                    </a:gs>
                    <a:gs pos="100000">
                      <a:schemeClr val="accent5"/>
                    </a:gs>
                  </a:gsLst>
                  <a:lin ang="5400012"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nvGrpSpPr>
              <p:cNvPr id="1824" name="Google Shape;1824;g3978402b0d5_2_1041"/>
              <p:cNvGrpSpPr/>
              <p:nvPr/>
            </p:nvGrpSpPr>
            <p:grpSpPr>
              <a:xfrm>
                <a:off x="3070929" y="2404179"/>
                <a:ext cx="6047100" cy="2609840"/>
                <a:chOff x="3070929" y="2404179"/>
                <a:chExt cx="6047100" cy="2609840"/>
              </a:xfrm>
            </p:grpSpPr>
            <p:grpSp>
              <p:nvGrpSpPr>
                <p:cNvPr id="1825" name="Google Shape;1825;g3978402b0d5_2_1041"/>
                <p:cNvGrpSpPr/>
                <p:nvPr/>
              </p:nvGrpSpPr>
              <p:grpSpPr>
                <a:xfrm>
                  <a:off x="3070929" y="2404179"/>
                  <a:ext cx="6047100" cy="1277400"/>
                  <a:chOff x="3070929" y="2404179"/>
                  <a:chExt cx="6047100" cy="1277400"/>
                </a:xfrm>
              </p:grpSpPr>
              <p:sp>
                <p:nvSpPr>
                  <p:cNvPr id="1826" name="Google Shape;1826;g3978402b0d5_2_1041"/>
                  <p:cNvSpPr/>
                  <p:nvPr/>
                </p:nvSpPr>
                <p:spPr>
                  <a:xfrm>
                    <a:off x="3070929" y="2404179"/>
                    <a:ext cx="6047100" cy="1277400"/>
                  </a:xfrm>
                  <a:prstGeom prst="round2SameRect">
                    <a:avLst>
                      <a:gd name="adj1" fmla="val 16667"/>
                      <a:gd name="adj2" fmla="val 0"/>
                    </a:avLst>
                  </a:prstGeom>
                  <a:gradFill>
                    <a:gsLst>
                      <a:gs pos="0">
                        <a:srgbClr val="002060"/>
                      </a:gs>
                      <a:gs pos="100000">
                        <a:schemeClr val="accent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7" name="Google Shape;1827;g3978402b0d5_2_1041"/>
                  <p:cNvSpPr/>
                  <p:nvPr/>
                </p:nvSpPr>
                <p:spPr>
                  <a:xfrm>
                    <a:off x="4153060" y="2450578"/>
                    <a:ext cx="38826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Modern Cloud Interface</a:t>
                    </a:r>
                    <a:endParaRPr sz="1400" b="1" i="0" u="none" strike="noStrike" cap="none">
                      <a:solidFill>
                        <a:srgbClr val="000000"/>
                      </a:solidFill>
                      <a:latin typeface="Arial"/>
                      <a:ea typeface="Arial"/>
                      <a:cs typeface="Arial"/>
                      <a:sym typeface="Arial"/>
                    </a:endParaRPr>
                  </a:p>
                </p:txBody>
              </p:sp>
              <p:grpSp>
                <p:nvGrpSpPr>
                  <p:cNvPr id="1828" name="Google Shape;1828;g3978402b0d5_2_1041"/>
                  <p:cNvGrpSpPr/>
                  <p:nvPr/>
                </p:nvGrpSpPr>
                <p:grpSpPr>
                  <a:xfrm>
                    <a:off x="3297881" y="2814331"/>
                    <a:ext cx="5593171" cy="456900"/>
                    <a:chOff x="3297881" y="2814331"/>
                    <a:chExt cx="5593171" cy="456900"/>
                  </a:xfrm>
                </p:grpSpPr>
                <p:sp>
                  <p:nvSpPr>
                    <p:cNvPr id="1829" name="Google Shape;1829;g3978402b0d5_2_1041"/>
                    <p:cNvSpPr txBox="1"/>
                    <p:nvPr/>
                  </p:nvSpPr>
                  <p:spPr>
                    <a:xfrm>
                      <a:off x="3297881"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Tenant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Content</a:t>
                      </a:r>
                      <a:endParaRPr sz="1400" b="0" i="0" u="none" strike="noStrike" cap="none">
                        <a:solidFill>
                          <a:srgbClr val="000000"/>
                        </a:solidFill>
                        <a:latin typeface="Arial"/>
                        <a:ea typeface="Arial"/>
                        <a:cs typeface="Arial"/>
                        <a:sym typeface="Arial"/>
                      </a:endParaRPr>
                    </a:p>
                  </p:txBody>
                </p:sp>
                <p:sp>
                  <p:nvSpPr>
                    <p:cNvPr id="1830" name="Google Shape;1830;g3978402b0d5_2_1041"/>
                    <p:cNvSpPr txBox="1"/>
                    <p:nvPr/>
                  </p:nvSpPr>
                  <p:spPr>
                    <a:xfrm>
                      <a:off x="7811952"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Service Catalog,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Orchestration,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Applications</a:t>
                      </a:r>
                      <a:endParaRPr sz="1400" b="0" i="0" u="none" strike="noStrike" cap="none">
                        <a:solidFill>
                          <a:srgbClr val="000000"/>
                        </a:solidFill>
                        <a:latin typeface="Arial"/>
                        <a:ea typeface="Arial"/>
                        <a:cs typeface="Arial"/>
                        <a:sym typeface="Arial"/>
                      </a:endParaRPr>
                    </a:p>
                  </p:txBody>
                </p:sp>
              </p:grpSp>
              <p:grpSp>
                <p:nvGrpSpPr>
                  <p:cNvPr id="1831" name="Google Shape;1831;g3978402b0d5_2_1041"/>
                  <p:cNvGrpSpPr/>
                  <p:nvPr/>
                </p:nvGrpSpPr>
                <p:grpSpPr>
                  <a:xfrm>
                    <a:off x="4472340" y="2844216"/>
                    <a:ext cx="3244200" cy="649893"/>
                    <a:chOff x="4472340" y="2844216"/>
                    <a:chExt cx="3244200" cy="649893"/>
                  </a:xfrm>
                </p:grpSpPr>
                <p:grpSp>
                  <p:nvGrpSpPr>
                    <p:cNvPr id="1832" name="Google Shape;1832;g3978402b0d5_2_1041"/>
                    <p:cNvGrpSpPr/>
                    <p:nvPr/>
                  </p:nvGrpSpPr>
                  <p:grpSpPr>
                    <a:xfrm>
                      <a:off x="6581340" y="2844216"/>
                      <a:ext cx="1135200" cy="649893"/>
                      <a:chOff x="6581339" y="2844216"/>
                      <a:chExt cx="1135200" cy="649893"/>
                    </a:xfrm>
                  </p:grpSpPr>
                  <p:sp>
                    <p:nvSpPr>
                      <p:cNvPr id="1833" name="Google Shape;1833;g3978402b0d5_2_1041"/>
                      <p:cNvSpPr txBox="1"/>
                      <p:nvPr/>
                    </p:nvSpPr>
                    <p:spPr>
                      <a:xfrm>
                        <a:off x="6581339" y="3355509"/>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K8s</a:t>
                        </a:r>
                        <a:endParaRPr sz="1000" b="0" i="0" u="none" strike="noStrike" cap="none">
                          <a:solidFill>
                            <a:srgbClr val="F2F2F2"/>
                          </a:solidFill>
                          <a:latin typeface="Arial"/>
                          <a:ea typeface="Arial"/>
                          <a:cs typeface="Arial"/>
                          <a:sym typeface="Arial"/>
                        </a:endParaRPr>
                      </a:p>
                    </p:txBody>
                  </p:sp>
                  <p:sp>
                    <p:nvSpPr>
                      <p:cNvPr id="1834" name="Google Shape;1834;g3978402b0d5_2_1041"/>
                      <p:cNvSpPr/>
                      <p:nvPr/>
                    </p:nvSpPr>
                    <p:spPr>
                      <a:xfrm>
                        <a:off x="6921393"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pic>
                    <p:nvPicPr>
                      <p:cNvPr id="1835" name="Google Shape;1835;g3978402b0d5_2_1041"/>
                      <p:cNvPicPr preferRelativeResize="0"/>
                      <p:nvPr/>
                    </p:nvPicPr>
                    <p:blipFill rotWithShape="1">
                      <a:blip r:embed="rId3">
                        <a:alphaModFix/>
                      </a:blip>
                      <a:srcRect/>
                      <a:stretch/>
                    </p:blipFill>
                    <p:spPr>
                      <a:xfrm>
                        <a:off x="7012469" y="2939781"/>
                        <a:ext cx="272885" cy="263905"/>
                      </a:xfrm>
                      <a:prstGeom prst="rect">
                        <a:avLst/>
                      </a:prstGeom>
                      <a:noFill/>
                      <a:ln>
                        <a:noFill/>
                      </a:ln>
                    </p:spPr>
                  </p:pic>
                </p:grpSp>
                <p:grpSp>
                  <p:nvGrpSpPr>
                    <p:cNvPr id="1836" name="Google Shape;1836;g3978402b0d5_2_1041"/>
                    <p:cNvGrpSpPr/>
                    <p:nvPr/>
                  </p:nvGrpSpPr>
                  <p:grpSpPr>
                    <a:xfrm>
                      <a:off x="4472340" y="2844216"/>
                      <a:ext cx="1135200" cy="649892"/>
                      <a:chOff x="4472340" y="2844216"/>
                      <a:chExt cx="1135200" cy="649892"/>
                    </a:xfrm>
                  </p:grpSpPr>
                  <p:sp>
                    <p:nvSpPr>
                      <p:cNvPr id="1837" name="Google Shape;1837;g3978402b0d5_2_1041"/>
                      <p:cNvSpPr txBox="1"/>
                      <p:nvPr/>
                    </p:nvSpPr>
                    <p:spPr>
                      <a:xfrm>
                        <a:off x="4472340" y="3355508"/>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Private AI</a:t>
                        </a:r>
                        <a:endParaRPr sz="1000" b="0" i="0" u="none" strike="noStrike" cap="none">
                          <a:solidFill>
                            <a:srgbClr val="F2F2F2"/>
                          </a:solidFill>
                          <a:latin typeface="Arial"/>
                          <a:ea typeface="Arial"/>
                          <a:cs typeface="Arial"/>
                          <a:sym typeface="Arial"/>
                        </a:endParaRPr>
                      </a:p>
                    </p:txBody>
                  </p:sp>
                  <p:sp>
                    <p:nvSpPr>
                      <p:cNvPr id="1838" name="Google Shape;1838;g3978402b0d5_2_1041"/>
                      <p:cNvSpPr/>
                      <p:nvPr/>
                    </p:nvSpPr>
                    <p:spPr>
                      <a:xfrm>
                        <a:off x="4812394"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39" name="Google Shape;1839;g3978402b0d5_2_1041"/>
                      <p:cNvSpPr/>
                      <p:nvPr/>
                    </p:nvSpPr>
                    <p:spPr>
                      <a:xfrm>
                        <a:off x="4894378" y="2940057"/>
                        <a:ext cx="291877" cy="264086"/>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40" name="Google Shape;1840;g3978402b0d5_2_1041"/>
                    <p:cNvGrpSpPr/>
                    <p:nvPr/>
                  </p:nvGrpSpPr>
                  <p:grpSpPr>
                    <a:xfrm>
                      <a:off x="5526840" y="2844216"/>
                      <a:ext cx="1135200" cy="649890"/>
                      <a:chOff x="5519606" y="2844216"/>
                      <a:chExt cx="1135200" cy="649890"/>
                    </a:xfrm>
                  </p:grpSpPr>
                  <p:sp>
                    <p:nvSpPr>
                      <p:cNvPr id="1841" name="Google Shape;1841;g3978402b0d5_2_1041"/>
                      <p:cNvSpPr txBox="1"/>
                      <p:nvPr/>
                    </p:nvSpPr>
                    <p:spPr>
                      <a:xfrm>
                        <a:off x="5519606" y="3355506"/>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Traditional VMs</a:t>
                        </a:r>
                        <a:endParaRPr sz="1000" b="0" i="0" u="none" strike="noStrike" cap="none">
                          <a:solidFill>
                            <a:srgbClr val="F2F2F2"/>
                          </a:solidFill>
                          <a:latin typeface="Arial"/>
                          <a:ea typeface="Arial"/>
                          <a:cs typeface="Arial"/>
                          <a:sym typeface="Arial"/>
                        </a:endParaRPr>
                      </a:p>
                    </p:txBody>
                  </p:sp>
                  <p:sp>
                    <p:nvSpPr>
                      <p:cNvPr id="1842" name="Google Shape;1842;g3978402b0d5_2_1041"/>
                      <p:cNvSpPr/>
                      <p:nvPr/>
                    </p:nvSpPr>
                    <p:spPr>
                      <a:xfrm>
                        <a:off x="5859660"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43" name="Google Shape;1843;g3978402b0d5_2_1041"/>
                      <p:cNvSpPr/>
                      <p:nvPr/>
                    </p:nvSpPr>
                    <p:spPr>
                      <a:xfrm>
                        <a:off x="5964453" y="2948923"/>
                        <a:ext cx="245734" cy="245907"/>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grpSp>
            <p:grpSp>
              <p:nvGrpSpPr>
                <p:cNvPr id="1844" name="Google Shape;1844;g3978402b0d5_2_1041"/>
                <p:cNvGrpSpPr/>
                <p:nvPr/>
              </p:nvGrpSpPr>
              <p:grpSpPr>
                <a:xfrm>
                  <a:off x="3070929" y="3736619"/>
                  <a:ext cx="6047100" cy="1277400"/>
                  <a:chOff x="3070929" y="3736619"/>
                  <a:chExt cx="6047100" cy="1277400"/>
                </a:xfrm>
              </p:grpSpPr>
              <p:sp>
                <p:nvSpPr>
                  <p:cNvPr id="1845" name="Google Shape;1845;g3978402b0d5_2_1041"/>
                  <p:cNvSpPr/>
                  <p:nvPr/>
                </p:nvSpPr>
                <p:spPr>
                  <a:xfrm>
                    <a:off x="3070929" y="3736619"/>
                    <a:ext cx="6047100" cy="1277400"/>
                  </a:xfrm>
                  <a:prstGeom prst="round2SameRect">
                    <a:avLst>
                      <a:gd name="adj1" fmla="val 0"/>
                      <a:gd name="adj2" fmla="val 16384"/>
                    </a:avLst>
                  </a:prstGeom>
                  <a:gradFill>
                    <a:gsLst>
                      <a:gs pos="0">
                        <a:schemeClr val="accent5"/>
                      </a:gs>
                      <a:gs pos="21000">
                        <a:schemeClr val="accent5"/>
                      </a:gs>
                      <a:gs pos="100000">
                        <a:schemeClr val="accent2"/>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46" name="Google Shape;1846;g3978402b0d5_2_1041"/>
                  <p:cNvGrpSpPr/>
                  <p:nvPr/>
                </p:nvGrpSpPr>
                <p:grpSpPr>
                  <a:xfrm>
                    <a:off x="3297881" y="4146771"/>
                    <a:ext cx="5593171" cy="456900"/>
                    <a:chOff x="3297881" y="4146771"/>
                    <a:chExt cx="5593171" cy="456900"/>
                  </a:xfrm>
                </p:grpSpPr>
                <p:sp>
                  <p:nvSpPr>
                    <p:cNvPr id="1847" name="Google Shape;1847;g3978402b0d5_2_1041"/>
                    <p:cNvSpPr txBox="1"/>
                    <p:nvPr/>
                  </p:nvSpPr>
                  <p:spPr>
                    <a:xfrm>
                      <a:off x="3297881"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Capacity,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Configuration,</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Tenancy</a:t>
                      </a:r>
                      <a:endParaRPr sz="1000" b="0" i="0" u="none" strike="noStrike" cap="none">
                        <a:solidFill>
                          <a:srgbClr val="F2F2F2"/>
                        </a:solidFill>
                        <a:latin typeface="Arial"/>
                        <a:ea typeface="Arial"/>
                        <a:cs typeface="Arial"/>
                        <a:sym typeface="Arial"/>
                      </a:endParaRPr>
                    </a:p>
                  </p:txBody>
                </p:sp>
                <p:sp>
                  <p:nvSpPr>
                    <p:cNvPr id="1848" name="Google Shape;1848;g3978402b0d5_2_1041"/>
                    <p:cNvSpPr txBox="1"/>
                    <p:nvPr/>
                  </p:nvSpPr>
                  <p:spPr>
                    <a:xfrm>
                      <a:off x="7811952"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SRE Ops, Fleet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&amp; Security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a:t>
                      </a:r>
                      <a:endParaRPr sz="1400" b="0" i="0" u="none" strike="noStrike" cap="none">
                        <a:solidFill>
                          <a:srgbClr val="000000"/>
                        </a:solidFill>
                        <a:latin typeface="Arial"/>
                        <a:ea typeface="Arial"/>
                        <a:cs typeface="Arial"/>
                        <a:sym typeface="Arial"/>
                      </a:endParaRPr>
                    </a:p>
                  </p:txBody>
                </p:sp>
              </p:grpSp>
              <p:sp>
                <p:nvSpPr>
                  <p:cNvPr id="1849" name="Google Shape;1849;g3978402b0d5_2_1041"/>
                  <p:cNvSpPr/>
                  <p:nvPr/>
                </p:nvSpPr>
                <p:spPr>
                  <a:xfrm>
                    <a:off x="4306398" y="3757498"/>
                    <a:ext cx="35760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Automation &amp; Operations</a:t>
                    </a:r>
                    <a:endParaRPr sz="1050" b="1" i="0" u="none" strike="noStrike" cap="none">
                      <a:solidFill>
                        <a:srgbClr val="F2F2F2"/>
                      </a:solidFill>
                      <a:latin typeface="Arial"/>
                      <a:ea typeface="Arial"/>
                      <a:cs typeface="Arial"/>
                      <a:sym typeface="Arial"/>
                    </a:endParaRPr>
                  </a:p>
                </p:txBody>
              </p:sp>
              <p:grpSp>
                <p:nvGrpSpPr>
                  <p:cNvPr id="1850" name="Google Shape;1850;g3978402b0d5_2_1041"/>
                  <p:cNvGrpSpPr/>
                  <p:nvPr/>
                </p:nvGrpSpPr>
                <p:grpSpPr>
                  <a:xfrm>
                    <a:off x="4472340" y="4073343"/>
                    <a:ext cx="3244199" cy="744582"/>
                    <a:chOff x="4472340" y="4073343"/>
                    <a:chExt cx="3244199" cy="744582"/>
                  </a:xfrm>
                </p:grpSpPr>
                <p:sp>
                  <p:nvSpPr>
                    <p:cNvPr id="1851" name="Google Shape;1851;g3978402b0d5_2_1041"/>
                    <p:cNvSpPr/>
                    <p:nvPr/>
                  </p:nvSpPr>
                  <p:spPr>
                    <a:xfrm>
                      <a:off x="4592619" y="4073343"/>
                      <a:ext cx="3003600" cy="353700"/>
                    </a:xfrm>
                    <a:prstGeom prst="roundRect">
                      <a:avLst>
                        <a:gd name="adj" fmla="val 9132"/>
                      </a:avLst>
                    </a:prstGeom>
                    <a:noFill/>
                    <a:ln w="22225" cap="rnd" cmpd="sng">
                      <a:solidFill>
                        <a:schemeClr val="lt1"/>
                      </a:solidFill>
                      <a:prstDash val="dot"/>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1852" name="Google Shape;1852;g3978402b0d5_2_1041"/>
                    <p:cNvGrpSpPr/>
                    <p:nvPr/>
                  </p:nvGrpSpPr>
                  <p:grpSpPr>
                    <a:xfrm>
                      <a:off x="4472340" y="4185162"/>
                      <a:ext cx="3244199" cy="632763"/>
                      <a:chOff x="4472340" y="4185162"/>
                      <a:chExt cx="3244199" cy="632763"/>
                    </a:xfrm>
                  </p:grpSpPr>
                  <p:grpSp>
                    <p:nvGrpSpPr>
                      <p:cNvPr id="1853" name="Google Shape;1853;g3978402b0d5_2_1041"/>
                      <p:cNvGrpSpPr/>
                      <p:nvPr/>
                    </p:nvGrpSpPr>
                    <p:grpSpPr>
                      <a:xfrm>
                        <a:off x="6581339" y="4185162"/>
                        <a:ext cx="1135200" cy="632763"/>
                        <a:chOff x="6581339" y="4185162"/>
                        <a:chExt cx="1135200" cy="632763"/>
                      </a:xfrm>
                    </p:grpSpPr>
                    <p:sp>
                      <p:nvSpPr>
                        <p:cNvPr id="1854" name="Google Shape;1854;g3978402b0d5_2_1041"/>
                        <p:cNvSpPr txBox="1"/>
                        <p:nvPr/>
                      </p:nvSpPr>
                      <p:spPr>
                        <a:xfrm>
                          <a:off x="6581339"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Networking </a:t>
                          </a:r>
                          <a:endParaRPr sz="1000" b="0" i="0" u="none" strike="noStrike" cap="none">
                            <a:solidFill>
                              <a:srgbClr val="F2F2F2"/>
                            </a:solidFill>
                            <a:latin typeface="Arial"/>
                            <a:ea typeface="Arial"/>
                            <a:cs typeface="Arial"/>
                            <a:sym typeface="Arial"/>
                          </a:endParaRPr>
                        </a:p>
                      </p:txBody>
                    </p:sp>
                    <p:sp>
                      <p:nvSpPr>
                        <p:cNvPr id="1855" name="Google Shape;1855;g3978402b0d5_2_1041"/>
                        <p:cNvSpPr/>
                        <p:nvPr/>
                      </p:nvSpPr>
                      <p:spPr>
                        <a:xfrm>
                          <a:off x="6921410" y="4185162"/>
                          <a:ext cx="455100" cy="455100"/>
                        </a:xfrm>
                        <a:prstGeom prst="ellipse">
                          <a:avLst/>
                        </a:prstGeom>
                        <a:solidFill>
                          <a:srgbClr val="1C345E"/>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56" name="Google Shape;1856;g3978402b0d5_2_1041"/>
                        <p:cNvSpPr/>
                        <p:nvPr/>
                      </p:nvSpPr>
                      <p:spPr>
                        <a:xfrm>
                          <a:off x="7021516" y="4285267"/>
                          <a:ext cx="254070" cy="25407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57" name="Google Shape;1857;g3978402b0d5_2_1041"/>
                      <p:cNvGrpSpPr/>
                      <p:nvPr/>
                    </p:nvGrpSpPr>
                    <p:grpSpPr>
                      <a:xfrm>
                        <a:off x="5526840" y="4185162"/>
                        <a:ext cx="1135200" cy="632763"/>
                        <a:chOff x="5519608" y="4185162"/>
                        <a:chExt cx="1135200" cy="632763"/>
                      </a:xfrm>
                    </p:grpSpPr>
                    <p:sp>
                      <p:nvSpPr>
                        <p:cNvPr id="1858" name="Google Shape;1858;g3978402b0d5_2_1041"/>
                        <p:cNvSpPr txBox="1"/>
                        <p:nvPr/>
                      </p:nvSpPr>
                      <p:spPr>
                        <a:xfrm>
                          <a:off x="5519608"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Storage </a:t>
                          </a:r>
                          <a:endParaRPr sz="1000" b="0" i="0" u="none" strike="noStrike" cap="none">
                            <a:solidFill>
                              <a:srgbClr val="F2F2F2"/>
                            </a:solidFill>
                            <a:latin typeface="Arial"/>
                            <a:ea typeface="Arial"/>
                            <a:cs typeface="Arial"/>
                            <a:sym typeface="Arial"/>
                          </a:endParaRPr>
                        </a:p>
                      </p:txBody>
                    </p:sp>
                    <p:sp>
                      <p:nvSpPr>
                        <p:cNvPr id="1859" name="Google Shape;1859;g3978402b0d5_2_1041"/>
                        <p:cNvSpPr/>
                        <p:nvPr/>
                      </p:nvSpPr>
                      <p:spPr>
                        <a:xfrm>
                          <a:off x="5859678" y="4185162"/>
                          <a:ext cx="455100" cy="455100"/>
                        </a:xfrm>
                        <a:prstGeom prst="ellipse">
                          <a:avLst/>
                        </a:prstGeom>
                        <a:solidFill>
                          <a:srgbClr val="27335F"/>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60" name="Google Shape;1860;g3978402b0d5_2_1041"/>
                        <p:cNvSpPr/>
                        <p:nvPr/>
                      </p:nvSpPr>
                      <p:spPr>
                        <a:xfrm>
                          <a:off x="5986282" y="4299895"/>
                          <a:ext cx="201953" cy="225712"/>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rgbClr val="FFFFFF"/>
                        </a:solid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61" name="Google Shape;1861;g3978402b0d5_2_1041"/>
                      <p:cNvGrpSpPr/>
                      <p:nvPr/>
                    </p:nvGrpSpPr>
                    <p:grpSpPr>
                      <a:xfrm>
                        <a:off x="4472340" y="4185162"/>
                        <a:ext cx="1135200" cy="632763"/>
                        <a:chOff x="4472341" y="4185162"/>
                        <a:chExt cx="1135200" cy="632763"/>
                      </a:xfrm>
                    </p:grpSpPr>
                    <p:sp>
                      <p:nvSpPr>
                        <p:cNvPr id="1862" name="Google Shape;1862;g3978402b0d5_2_1041"/>
                        <p:cNvSpPr txBox="1"/>
                        <p:nvPr/>
                      </p:nvSpPr>
                      <p:spPr>
                        <a:xfrm>
                          <a:off x="4472341"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Compute </a:t>
                          </a:r>
                          <a:endParaRPr sz="1000" b="0" i="0" u="none" strike="noStrike" cap="none">
                            <a:solidFill>
                              <a:srgbClr val="F2F2F2"/>
                            </a:solidFill>
                            <a:latin typeface="Arial"/>
                            <a:ea typeface="Arial"/>
                            <a:cs typeface="Arial"/>
                            <a:sym typeface="Arial"/>
                          </a:endParaRPr>
                        </a:p>
                      </p:txBody>
                    </p:sp>
                    <p:sp>
                      <p:nvSpPr>
                        <p:cNvPr id="1863" name="Google Shape;1863;g3978402b0d5_2_1041"/>
                        <p:cNvSpPr/>
                        <p:nvPr/>
                      </p:nvSpPr>
                      <p:spPr>
                        <a:xfrm>
                          <a:off x="4812411" y="4185162"/>
                          <a:ext cx="455100" cy="455100"/>
                        </a:xfrm>
                        <a:prstGeom prst="ellipse">
                          <a:avLst/>
                        </a:prstGeom>
                        <a:solidFill>
                          <a:srgbClr val="323160"/>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64" name="Google Shape;1864;g3978402b0d5_2_1041"/>
                        <p:cNvGrpSpPr/>
                        <p:nvPr/>
                      </p:nvGrpSpPr>
                      <p:grpSpPr>
                        <a:xfrm>
                          <a:off x="4927071" y="4299760"/>
                          <a:ext cx="225523" cy="225528"/>
                          <a:chOff x="3822556" y="5087301"/>
                          <a:chExt cx="611339" cy="557273"/>
                        </a:xfrm>
                      </p:grpSpPr>
                      <p:sp>
                        <p:nvSpPr>
                          <p:cNvPr id="1865" name="Google Shape;1865;g3978402b0d5_2_1041"/>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6" name="Google Shape;1866;g3978402b0d5_2_1041"/>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7" name="Google Shape;1867;g3978402b0d5_2_1041"/>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grpSp>
              </p:grpSp>
            </p:grpSp>
            <p:grpSp>
              <p:nvGrpSpPr>
                <p:cNvPr id="1868" name="Google Shape;1868;g3978402b0d5_2_1041"/>
                <p:cNvGrpSpPr/>
                <p:nvPr/>
              </p:nvGrpSpPr>
              <p:grpSpPr>
                <a:xfrm>
                  <a:off x="4273823" y="3557645"/>
                  <a:ext cx="3640777" cy="302597"/>
                  <a:chOff x="3970286" y="3734175"/>
                  <a:chExt cx="3924943" cy="326215"/>
                </a:xfrm>
              </p:grpSpPr>
              <p:grpSp>
                <p:nvGrpSpPr>
                  <p:cNvPr id="1869" name="Google Shape;1869;g3978402b0d5_2_1041"/>
                  <p:cNvGrpSpPr/>
                  <p:nvPr/>
                </p:nvGrpSpPr>
                <p:grpSpPr>
                  <a:xfrm>
                    <a:off x="3970286" y="3734175"/>
                    <a:ext cx="313500" cy="313500"/>
                    <a:chOff x="4202510" y="3734175"/>
                    <a:chExt cx="313500" cy="313500"/>
                  </a:xfrm>
                </p:grpSpPr>
                <p:sp>
                  <p:nvSpPr>
                    <p:cNvPr id="1870" name="Google Shape;1870;g3978402b0d5_2_1041"/>
                    <p:cNvSpPr/>
                    <p:nvPr/>
                  </p:nvSpPr>
                  <p:spPr>
                    <a:xfrm>
                      <a:off x="4202510"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1" name="Google Shape;1871;g3978402b0d5_2_1041"/>
                    <p:cNvGrpSpPr/>
                    <p:nvPr/>
                  </p:nvGrpSpPr>
                  <p:grpSpPr>
                    <a:xfrm>
                      <a:off x="4288405" y="3792599"/>
                      <a:ext cx="140081" cy="191773"/>
                      <a:chOff x="5000233" y="3506447"/>
                      <a:chExt cx="283795" cy="388519"/>
                    </a:xfrm>
                  </p:grpSpPr>
                  <p:sp>
                    <p:nvSpPr>
                      <p:cNvPr id="1872" name="Google Shape;1872;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3" name="Google Shape;1873;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4" name="Google Shape;1874;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nvGrpSpPr>
                  <p:cNvPr id="1875" name="Google Shape;1875;g3978402b0d5_2_1041"/>
                  <p:cNvGrpSpPr/>
                  <p:nvPr/>
                </p:nvGrpSpPr>
                <p:grpSpPr>
                  <a:xfrm>
                    <a:off x="7581729" y="3746890"/>
                    <a:ext cx="313500" cy="313500"/>
                    <a:chOff x="7352926" y="3734175"/>
                    <a:chExt cx="313500" cy="313500"/>
                  </a:xfrm>
                </p:grpSpPr>
                <p:sp>
                  <p:nvSpPr>
                    <p:cNvPr id="1876" name="Google Shape;1876;g3978402b0d5_2_1041"/>
                    <p:cNvSpPr/>
                    <p:nvPr/>
                  </p:nvSpPr>
                  <p:spPr>
                    <a:xfrm>
                      <a:off x="7352926"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7" name="Google Shape;1877;g3978402b0d5_2_1041"/>
                    <p:cNvGrpSpPr/>
                    <p:nvPr/>
                  </p:nvGrpSpPr>
                  <p:grpSpPr>
                    <a:xfrm>
                      <a:off x="7437499" y="3792599"/>
                      <a:ext cx="140081" cy="191773"/>
                      <a:chOff x="5000233" y="3506447"/>
                      <a:chExt cx="283795" cy="388519"/>
                    </a:xfrm>
                  </p:grpSpPr>
                  <p:sp>
                    <p:nvSpPr>
                      <p:cNvPr id="1878" name="Google Shape;1878;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9" name="Google Shape;1879;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80" name="Google Shape;1880;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grpSp>
        </p:grpSp>
        <p:grpSp>
          <p:nvGrpSpPr>
            <p:cNvPr id="1881" name="Google Shape;1881;g3978402b0d5_2_1041"/>
            <p:cNvGrpSpPr/>
            <p:nvPr/>
          </p:nvGrpSpPr>
          <p:grpSpPr>
            <a:xfrm>
              <a:off x="1651829" y="5430834"/>
              <a:ext cx="8885212" cy="180049"/>
              <a:chOff x="1676496" y="5582478"/>
              <a:chExt cx="8885212" cy="180049"/>
            </a:xfrm>
          </p:grpSpPr>
          <p:sp>
            <p:nvSpPr>
              <p:cNvPr id="1882" name="Google Shape;1882;g3978402b0d5_2_1041"/>
              <p:cNvSpPr txBox="1"/>
              <p:nvPr/>
            </p:nvSpPr>
            <p:spPr>
              <a:xfrm>
                <a:off x="2977368" y="5582478"/>
                <a:ext cx="8964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On-Premises</a:t>
                </a:r>
                <a:endParaRPr sz="1600" b="0" i="0" u="none" strike="noStrike" cap="none">
                  <a:solidFill>
                    <a:srgbClr val="000000"/>
                  </a:solidFill>
                  <a:latin typeface="Arial"/>
                  <a:ea typeface="Arial"/>
                  <a:cs typeface="Arial"/>
                  <a:sym typeface="Arial"/>
                </a:endParaRPr>
              </a:p>
            </p:txBody>
          </p:sp>
          <p:sp>
            <p:nvSpPr>
              <p:cNvPr id="1883" name="Google Shape;1883;g3978402b0d5_2_1041"/>
              <p:cNvSpPr txBox="1"/>
              <p:nvPr/>
            </p:nvSpPr>
            <p:spPr>
              <a:xfrm>
                <a:off x="4477401" y="5582478"/>
                <a:ext cx="8901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Public Cloud</a:t>
                </a:r>
                <a:endParaRPr sz="1600" b="0" i="0" u="none" strike="noStrike" cap="none">
                  <a:solidFill>
                    <a:srgbClr val="000000"/>
                  </a:solidFill>
                  <a:latin typeface="Arial"/>
                  <a:ea typeface="Arial"/>
                  <a:cs typeface="Arial"/>
                  <a:sym typeface="Arial"/>
                </a:endParaRPr>
              </a:p>
            </p:txBody>
          </p:sp>
          <p:sp>
            <p:nvSpPr>
              <p:cNvPr id="1884" name="Google Shape;1884;g3978402b0d5_2_1041"/>
              <p:cNvSpPr txBox="1"/>
              <p:nvPr/>
            </p:nvSpPr>
            <p:spPr>
              <a:xfrm>
                <a:off x="6051318" y="5582478"/>
                <a:ext cx="11016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Sovereign Cloud</a:t>
                </a:r>
                <a:endParaRPr sz="1600" b="0" i="0" u="none" strike="noStrike" cap="none">
                  <a:solidFill>
                    <a:srgbClr val="000000"/>
                  </a:solidFill>
                  <a:latin typeface="Arial"/>
                  <a:ea typeface="Arial"/>
                  <a:cs typeface="Arial"/>
                  <a:sym typeface="Arial"/>
                </a:endParaRPr>
              </a:p>
            </p:txBody>
          </p:sp>
          <p:sp>
            <p:nvSpPr>
              <p:cNvPr id="1885" name="Google Shape;1885;g3978402b0d5_2_1041"/>
              <p:cNvSpPr txBox="1"/>
              <p:nvPr/>
            </p:nvSpPr>
            <p:spPr>
              <a:xfrm>
                <a:off x="7761262" y="5582478"/>
                <a:ext cx="4668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Edge</a:t>
                </a:r>
                <a:endParaRPr sz="1600" b="0" i="0" u="none" strike="noStrike" cap="none">
                  <a:solidFill>
                    <a:srgbClr val="000000"/>
                  </a:solidFill>
                  <a:latin typeface="Arial"/>
                  <a:ea typeface="Arial"/>
                  <a:cs typeface="Arial"/>
                  <a:sym typeface="Arial"/>
                </a:endParaRPr>
              </a:p>
            </p:txBody>
          </p:sp>
          <p:sp>
            <p:nvSpPr>
              <p:cNvPr id="1886" name="Google Shape;1886;g3978402b0d5_2_1041"/>
              <p:cNvSpPr txBox="1"/>
              <p:nvPr/>
            </p:nvSpPr>
            <p:spPr>
              <a:xfrm>
                <a:off x="8774759" y="5582478"/>
                <a:ext cx="4860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Telco</a:t>
                </a:r>
                <a:endParaRPr sz="1600" b="0" i="0" u="none" strike="noStrike" cap="none">
                  <a:solidFill>
                    <a:srgbClr val="000000"/>
                  </a:solidFill>
                  <a:latin typeface="Arial"/>
                  <a:ea typeface="Arial"/>
                  <a:cs typeface="Arial"/>
                  <a:sym typeface="Arial"/>
                </a:endParaRPr>
              </a:p>
            </p:txBody>
          </p:sp>
          <p:cxnSp>
            <p:nvCxnSpPr>
              <p:cNvPr id="1887" name="Google Shape;1887;g3978402b0d5_2_1041"/>
              <p:cNvCxnSpPr/>
              <p:nvPr/>
            </p:nvCxnSpPr>
            <p:spPr>
              <a:xfrm>
                <a:off x="3872798" y="5693226"/>
                <a:ext cx="605700" cy="0"/>
              </a:xfrm>
              <a:prstGeom prst="straightConnector1">
                <a:avLst/>
              </a:prstGeom>
              <a:noFill/>
              <a:ln w="12700" cap="flat" cmpd="sng">
                <a:solidFill>
                  <a:schemeClr val="dk1"/>
                </a:solidFill>
                <a:prstDash val="solid"/>
                <a:miter lim="800000"/>
                <a:headEnd type="none" w="sm" len="sm"/>
                <a:tailEnd type="none" w="sm" len="sm"/>
              </a:ln>
            </p:spPr>
          </p:cxnSp>
          <p:cxnSp>
            <p:nvCxnSpPr>
              <p:cNvPr id="1888" name="Google Shape;1888;g3978402b0d5_2_1041"/>
              <p:cNvCxnSpPr/>
              <p:nvPr/>
            </p:nvCxnSpPr>
            <p:spPr>
              <a:xfrm>
                <a:off x="5366419" y="5693226"/>
                <a:ext cx="685800" cy="0"/>
              </a:xfrm>
              <a:prstGeom prst="straightConnector1">
                <a:avLst/>
              </a:prstGeom>
              <a:noFill/>
              <a:ln w="12700" cap="flat" cmpd="sng">
                <a:solidFill>
                  <a:schemeClr val="dk1"/>
                </a:solidFill>
                <a:prstDash val="solid"/>
                <a:miter lim="800000"/>
                <a:headEnd type="none" w="sm" len="sm"/>
                <a:tailEnd type="none" w="sm" len="sm"/>
              </a:ln>
            </p:spPr>
          </p:cxnSp>
          <p:cxnSp>
            <p:nvCxnSpPr>
              <p:cNvPr id="1889" name="Google Shape;1889;g3978402b0d5_2_1041"/>
              <p:cNvCxnSpPr/>
              <p:nvPr/>
            </p:nvCxnSpPr>
            <p:spPr>
              <a:xfrm>
                <a:off x="7151933" y="5693226"/>
                <a:ext cx="610200" cy="0"/>
              </a:xfrm>
              <a:prstGeom prst="straightConnector1">
                <a:avLst/>
              </a:prstGeom>
              <a:noFill/>
              <a:ln w="12700" cap="flat" cmpd="sng">
                <a:solidFill>
                  <a:schemeClr val="dk1"/>
                </a:solidFill>
                <a:prstDash val="solid"/>
                <a:miter lim="800000"/>
                <a:headEnd type="none" w="sm" len="sm"/>
                <a:tailEnd type="none" w="sm" len="sm"/>
              </a:ln>
            </p:spPr>
          </p:cxnSp>
          <p:cxnSp>
            <p:nvCxnSpPr>
              <p:cNvPr id="1890" name="Google Shape;1890;g3978402b0d5_2_1041"/>
              <p:cNvCxnSpPr/>
              <p:nvPr/>
            </p:nvCxnSpPr>
            <p:spPr>
              <a:xfrm>
                <a:off x="8227088" y="5693226"/>
                <a:ext cx="548700" cy="0"/>
              </a:xfrm>
              <a:prstGeom prst="straightConnector1">
                <a:avLst/>
              </a:prstGeom>
              <a:noFill/>
              <a:ln w="12700" cap="flat" cmpd="sng">
                <a:solidFill>
                  <a:schemeClr val="dk1"/>
                </a:solidFill>
                <a:prstDash val="solid"/>
                <a:miter lim="800000"/>
                <a:headEnd type="none" w="sm" len="sm"/>
                <a:tailEnd type="none" w="sm" len="sm"/>
              </a:ln>
            </p:spPr>
          </p:cxnSp>
          <p:cxnSp>
            <p:nvCxnSpPr>
              <p:cNvPr id="1891" name="Google Shape;1891;g3978402b0d5_2_1041"/>
              <p:cNvCxnSpPr/>
              <p:nvPr/>
            </p:nvCxnSpPr>
            <p:spPr>
              <a:xfrm>
                <a:off x="9319108" y="5693208"/>
                <a:ext cx="1242600" cy="0"/>
              </a:xfrm>
              <a:prstGeom prst="straightConnector1">
                <a:avLst/>
              </a:prstGeom>
              <a:noFill/>
              <a:ln w="12700" cap="flat" cmpd="sng">
                <a:solidFill>
                  <a:schemeClr val="dk1"/>
                </a:solidFill>
                <a:prstDash val="solid"/>
                <a:miter lim="800000"/>
                <a:headEnd type="none" w="sm" len="sm"/>
                <a:tailEnd type="none" w="sm" len="sm"/>
              </a:ln>
            </p:spPr>
          </p:cxnSp>
          <p:cxnSp>
            <p:nvCxnSpPr>
              <p:cNvPr id="1892" name="Google Shape;1892;g3978402b0d5_2_1041"/>
              <p:cNvCxnSpPr/>
              <p:nvPr/>
            </p:nvCxnSpPr>
            <p:spPr>
              <a:xfrm>
                <a:off x="1676496" y="5693207"/>
                <a:ext cx="1292700" cy="0"/>
              </a:xfrm>
              <a:prstGeom prst="straightConnector1">
                <a:avLst/>
              </a:prstGeom>
              <a:noFill/>
              <a:ln w="12700" cap="flat" cmpd="sng">
                <a:solidFill>
                  <a:schemeClr val="dk1"/>
                </a:solidFill>
                <a:prstDash val="solid"/>
                <a:miter lim="800000"/>
                <a:headEnd type="none" w="sm" len="sm"/>
                <a:tailEnd type="none" w="sm" len="sm"/>
              </a:ln>
            </p:spPr>
          </p:cxnSp>
        </p:grpSp>
        <p:grpSp>
          <p:nvGrpSpPr>
            <p:cNvPr id="1893" name="Google Shape;1893;g3978402b0d5_2_1041"/>
            <p:cNvGrpSpPr/>
            <p:nvPr/>
          </p:nvGrpSpPr>
          <p:grpSpPr>
            <a:xfrm>
              <a:off x="2327549" y="1160019"/>
              <a:ext cx="7533832" cy="780732"/>
              <a:chOff x="2440883" y="1160019"/>
              <a:chExt cx="7533832" cy="780732"/>
            </a:xfrm>
          </p:grpSpPr>
          <p:grpSp>
            <p:nvGrpSpPr>
              <p:cNvPr id="1894" name="Google Shape;1894;g3978402b0d5_2_1041"/>
              <p:cNvGrpSpPr/>
              <p:nvPr/>
            </p:nvGrpSpPr>
            <p:grpSpPr>
              <a:xfrm>
                <a:off x="2440883" y="1252426"/>
                <a:ext cx="7533832" cy="688325"/>
                <a:chOff x="1994229" y="1233375"/>
                <a:chExt cx="7816800" cy="838500"/>
              </a:xfrm>
            </p:grpSpPr>
            <p:sp>
              <p:nvSpPr>
                <p:cNvPr id="1895" name="Google Shape;1895;g3978402b0d5_2_1041"/>
                <p:cNvSpPr/>
                <p:nvPr/>
              </p:nvSpPr>
              <p:spPr>
                <a:xfrm>
                  <a:off x="1994229" y="1233375"/>
                  <a:ext cx="7816800" cy="838500"/>
                </a:xfrm>
                <a:prstGeom prst="roundRect">
                  <a:avLst>
                    <a:gd name="adj" fmla="val 14530"/>
                  </a:avLst>
                </a:prstGeom>
                <a:gradFill>
                  <a:gsLst>
                    <a:gs pos="0">
                      <a:srgbClr val="002060"/>
                    </a:gs>
                    <a:gs pos="100000">
                      <a:srgbClr val="00A5DD"/>
                    </a:gs>
                  </a:gsLst>
                  <a:lin ang="0"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1896" name="Google Shape;1896;g3978402b0d5_2_1041"/>
                <p:cNvSpPr/>
                <p:nvPr/>
              </p:nvSpPr>
              <p:spPr>
                <a:xfrm>
                  <a:off x="2067683" y="1320525"/>
                  <a:ext cx="7669800" cy="664200"/>
                </a:xfrm>
                <a:prstGeom prst="roundRect">
                  <a:avLst>
                    <a:gd name="adj" fmla="val 12290"/>
                  </a:avLst>
                </a:prstGeom>
                <a:solidFill>
                  <a:schemeClr val="lt1">
                    <a:alpha val="93725"/>
                  </a:schemeClr>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98C7"/>
                    </a:solidFill>
                    <a:latin typeface="Arial"/>
                    <a:ea typeface="Arial"/>
                    <a:cs typeface="Arial"/>
                    <a:sym typeface="Arial"/>
                  </a:endParaRPr>
                </a:p>
              </p:txBody>
            </p:sp>
          </p:grpSp>
          <p:sp>
            <p:nvSpPr>
              <p:cNvPr id="1897" name="Google Shape;1897;g3978402b0d5_2_1041"/>
              <p:cNvSpPr/>
              <p:nvPr/>
            </p:nvSpPr>
            <p:spPr>
              <a:xfrm>
                <a:off x="5161254" y="1160019"/>
                <a:ext cx="2093100" cy="255000"/>
              </a:xfrm>
              <a:prstGeom prst="roundRect">
                <a:avLst>
                  <a:gd name="adj" fmla="val 50000"/>
                </a:avLst>
              </a:prstGeom>
              <a:gradFill>
                <a:gsLst>
                  <a:gs pos="0">
                    <a:schemeClr val="accent3"/>
                  </a:gs>
                  <a:gs pos="35000">
                    <a:schemeClr val="accent3"/>
                  </a:gs>
                  <a:gs pos="100000">
                    <a:schemeClr val="accent2"/>
                  </a:gs>
                </a:gsLst>
                <a:lin ang="18900044"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US" sz="1000" b="1" i="0" u="none" strike="noStrike" cap="none">
                    <a:solidFill>
                      <a:srgbClr val="FFFFFF"/>
                    </a:solidFill>
                    <a:latin typeface="Arial"/>
                    <a:ea typeface="Arial"/>
                    <a:cs typeface="Arial"/>
                    <a:sym typeface="Arial"/>
                  </a:rPr>
                  <a:t>VCF Advanced Services</a:t>
                </a:r>
                <a:endParaRPr sz="1400" b="0" i="0" u="none" strike="noStrike" cap="none">
                  <a:solidFill>
                    <a:srgbClr val="000000"/>
                  </a:solidFill>
                  <a:latin typeface="Arial"/>
                  <a:ea typeface="Arial"/>
                  <a:cs typeface="Arial"/>
                  <a:sym typeface="Arial"/>
                </a:endParaRPr>
              </a:p>
            </p:txBody>
          </p:sp>
          <p:grpSp>
            <p:nvGrpSpPr>
              <p:cNvPr id="1898" name="Google Shape;1898;g3978402b0d5_2_1041"/>
              <p:cNvGrpSpPr/>
              <p:nvPr/>
            </p:nvGrpSpPr>
            <p:grpSpPr>
              <a:xfrm>
                <a:off x="2728950" y="1523169"/>
                <a:ext cx="6957448" cy="249301"/>
                <a:chOff x="2760678" y="1512018"/>
                <a:chExt cx="6957448" cy="249301"/>
              </a:xfrm>
            </p:grpSpPr>
            <p:sp>
              <p:nvSpPr>
                <p:cNvPr id="1899" name="Google Shape;1899;g3978402b0d5_2_1041"/>
                <p:cNvSpPr txBox="1"/>
                <p:nvPr/>
              </p:nvSpPr>
              <p:spPr>
                <a:xfrm>
                  <a:off x="276067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Cyber Compliance</a:t>
                  </a:r>
                  <a:endParaRPr sz="900" b="0" i="0" u="none" strike="noStrike" cap="none">
                    <a:solidFill>
                      <a:srgbClr val="005C8A"/>
                    </a:solidFill>
                    <a:latin typeface="Arial"/>
                    <a:ea typeface="Arial"/>
                    <a:cs typeface="Arial"/>
                    <a:sym typeface="Arial"/>
                  </a:endParaRPr>
                </a:p>
              </p:txBody>
            </p:sp>
            <p:sp>
              <p:nvSpPr>
                <p:cNvPr id="1900" name="Google Shape;1900;g3978402b0d5_2_1041"/>
                <p:cNvSpPr txBox="1"/>
                <p:nvPr/>
              </p:nvSpPr>
              <p:spPr>
                <a:xfrm>
                  <a:off x="3655342"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Advanced </a:t>
                  </a:r>
                  <a:endParaRPr sz="900" b="0" i="0" u="none" strike="noStrike" cap="none">
                    <a:solidFill>
                      <a:srgbClr val="005C8A"/>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1" name="Google Shape;1901;g3978402b0d5_2_1041"/>
                <p:cNvSpPr txBox="1"/>
                <p:nvPr/>
              </p:nvSpPr>
              <p:spPr>
                <a:xfrm>
                  <a:off x="723399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Network </a:t>
                  </a:r>
                  <a:endParaRPr sz="9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Observability</a:t>
                  </a:r>
                  <a:endParaRPr sz="900" b="0" i="0" u="none" strike="noStrike" cap="none">
                    <a:solidFill>
                      <a:srgbClr val="005C8A"/>
                    </a:solidFill>
                    <a:latin typeface="Arial"/>
                    <a:ea typeface="Arial"/>
                    <a:cs typeface="Arial"/>
                    <a:sym typeface="Arial"/>
                  </a:endParaRPr>
                </a:p>
              </p:txBody>
            </p:sp>
            <p:sp>
              <p:nvSpPr>
                <p:cNvPr id="1902" name="Google Shape;1902;g3978402b0d5_2_1041"/>
                <p:cNvSpPr txBox="1"/>
                <p:nvPr/>
              </p:nvSpPr>
              <p:spPr>
                <a:xfrm>
                  <a:off x="8128662" y="1512018"/>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Business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Operations</a:t>
                  </a:r>
                  <a:endParaRPr sz="900" b="0" i="0" u="none" strike="noStrike" cap="none">
                    <a:solidFill>
                      <a:srgbClr val="005C8A"/>
                    </a:solidFill>
                    <a:latin typeface="Arial"/>
                    <a:ea typeface="Arial"/>
                    <a:cs typeface="Arial"/>
                    <a:sym typeface="Arial"/>
                  </a:endParaRPr>
                </a:p>
              </p:txBody>
            </p:sp>
            <p:sp>
              <p:nvSpPr>
                <p:cNvPr id="1903" name="Google Shape;1903;g3978402b0d5_2_1041"/>
                <p:cNvSpPr txBox="1"/>
                <p:nvPr/>
              </p:nvSpPr>
              <p:spPr>
                <a:xfrm>
                  <a:off x="6339334"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Application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Services</a:t>
                  </a:r>
                  <a:endParaRPr sz="900" b="0" i="0" u="none" strike="noStrike" cap="none">
                    <a:solidFill>
                      <a:srgbClr val="000000"/>
                    </a:solidFill>
                    <a:latin typeface="Arial"/>
                    <a:ea typeface="Arial"/>
                    <a:cs typeface="Arial"/>
                    <a:sym typeface="Arial"/>
                  </a:endParaRPr>
                </a:p>
              </p:txBody>
            </p:sp>
            <p:sp>
              <p:nvSpPr>
                <p:cNvPr id="1904" name="Google Shape;1904;g3978402b0d5_2_1041"/>
                <p:cNvSpPr txBox="1"/>
                <p:nvPr/>
              </p:nvSpPr>
              <p:spPr>
                <a:xfrm>
                  <a:off x="455000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Load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Balancing </a:t>
                  </a:r>
                  <a:endParaRPr sz="900" b="0" i="0" u="none" strike="noStrike" cap="none">
                    <a:solidFill>
                      <a:srgbClr val="005C8A"/>
                    </a:solidFill>
                    <a:latin typeface="Arial"/>
                    <a:ea typeface="Arial"/>
                    <a:cs typeface="Arial"/>
                    <a:sym typeface="Arial"/>
                  </a:endParaRPr>
                </a:p>
              </p:txBody>
            </p:sp>
            <p:sp>
              <p:nvSpPr>
                <p:cNvPr id="1905" name="Google Shape;1905;g3978402b0d5_2_1041"/>
                <p:cNvSpPr txBox="1"/>
                <p:nvPr/>
              </p:nvSpPr>
              <p:spPr>
                <a:xfrm>
                  <a:off x="902332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Identity</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6" name="Google Shape;1906;g3978402b0d5_2_1041"/>
                <p:cNvSpPr txBox="1"/>
                <p:nvPr/>
              </p:nvSpPr>
              <p:spPr>
                <a:xfrm>
                  <a:off x="5444670"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Data Services </a:t>
                  </a:r>
                  <a:endParaRPr sz="900" b="0" i="0" u="none" strike="noStrike" cap="none">
                    <a:solidFill>
                      <a:srgbClr val="005C8A"/>
                    </a:solidFill>
                    <a:latin typeface="Arial"/>
                    <a:ea typeface="Arial"/>
                    <a:cs typeface="Arial"/>
                    <a:sym typeface="Arial"/>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11"/>
          <p:cNvSpPr txBox="1"/>
          <p:nvPr/>
        </p:nvSpPr>
        <p:spPr>
          <a:xfrm>
            <a:off x="581246" y="413536"/>
            <a:ext cx="10998300" cy="3813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2800" b="0" i="0" u="none" strike="noStrike" cap="none">
                <a:solidFill>
                  <a:schemeClr val="accent2"/>
                </a:solidFill>
                <a:latin typeface="Arial"/>
                <a:ea typeface="Arial"/>
                <a:cs typeface="Arial"/>
                <a:sym typeface="Arial"/>
              </a:rPr>
              <a:t>9 Common Use Cases for Private Cloud</a:t>
            </a:r>
            <a:endParaRPr sz="2800" b="0" i="0" u="none" strike="noStrike" cap="none">
              <a:solidFill>
                <a:schemeClr val="accent2"/>
              </a:solidFill>
              <a:latin typeface="Arial"/>
              <a:ea typeface="Arial"/>
              <a:cs typeface="Arial"/>
              <a:sym typeface="Arial"/>
            </a:endParaRPr>
          </a:p>
        </p:txBody>
      </p:sp>
      <p:sp>
        <p:nvSpPr>
          <p:cNvPr id="1912" name="Google Shape;1912;p11"/>
          <p:cNvSpPr/>
          <p:nvPr/>
        </p:nvSpPr>
        <p:spPr>
          <a:xfrm>
            <a:off x="4552644" y="2992365"/>
            <a:ext cx="3111900" cy="2627100"/>
          </a:xfrm>
          <a:prstGeom prst="roundRect">
            <a:avLst>
              <a:gd name="adj" fmla="val 2307"/>
            </a:avLst>
          </a:prstGeom>
          <a:gradFill>
            <a:gsLst>
              <a:gs pos="0">
                <a:srgbClr val="0198C7">
                  <a:alpha val="16862"/>
                </a:srgbClr>
              </a:gs>
              <a:gs pos="100000">
                <a:srgbClr val="0198C7">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13" name="Google Shape;1913;p11"/>
          <p:cNvSpPr/>
          <p:nvPr/>
        </p:nvSpPr>
        <p:spPr>
          <a:xfrm>
            <a:off x="4552641" y="992137"/>
            <a:ext cx="3111900" cy="198690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14" name="Google Shape;1914;p11"/>
          <p:cNvSpPr txBox="1"/>
          <p:nvPr/>
        </p:nvSpPr>
        <p:spPr>
          <a:xfrm>
            <a:off x="5307152" y="2345049"/>
            <a:ext cx="17235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Application</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15" name="Google Shape;1915;p11"/>
          <p:cNvSpPr txBox="1"/>
          <p:nvPr/>
        </p:nvSpPr>
        <p:spPr>
          <a:xfrm>
            <a:off x="5220879" y="3931502"/>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Kubernetes and other modern workloads</a:t>
            </a:r>
            <a:endParaRPr sz="1900" b="0" i="0" u="none" strike="noStrike" cap="none">
              <a:solidFill>
                <a:schemeClr val="dk2"/>
              </a:solidFill>
              <a:latin typeface="Arial"/>
              <a:ea typeface="Arial"/>
              <a:cs typeface="Arial"/>
              <a:sym typeface="Arial"/>
            </a:endParaRPr>
          </a:p>
        </p:txBody>
      </p:sp>
      <p:sp>
        <p:nvSpPr>
          <p:cNvPr id="1916" name="Google Shape;1916;p11"/>
          <p:cNvSpPr txBox="1"/>
          <p:nvPr/>
        </p:nvSpPr>
        <p:spPr>
          <a:xfrm>
            <a:off x="5252037" y="4991738"/>
            <a:ext cx="20154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Private AI apps</a:t>
            </a:r>
            <a:endParaRPr sz="1900" b="0" i="0" u="none" strike="noStrike" cap="none">
              <a:solidFill>
                <a:schemeClr val="dk2"/>
              </a:solidFill>
              <a:latin typeface="Arial"/>
              <a:ea typeface="Arial"/>
              <a:cs typeface="Arial"/>
              <a:sym typeface="Arial"/>
            </a:endParaRPr>
          </a:p>
        </p:txBody>
      </p:sp>
      <p:sp>
        <p:nvSpPr>
          <p:cNvPr id="1917" name="Google Shape;1917;p11"/>
          <p:cNvSpPr txBox="1"/>
          <p:nvPr/>
        </p:nvSpPr>
        <p:spPr>
          <a:xfrm>
            <a:off x="5234180" y="3097338"/>
            <a:ext cx="21777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Enable self-service infrastructure and cloud services for app teams.</a:t>
            </a:r>
            <a:endParaRPr sz="1300" b="0" i="0" u="none" strike="noStrike" cap="none">
              <a:solidFill>
                <a:schemeClr val="dk2"/>
              </a:solidFill>
              <a:latin typeface="Arial"/>
              <a:ea typeface="Arial"/>
              <a:cs typeface="Arial"/>
              <a:sym typeface="Arial"/>
            </a:endParaRPr>
          </a:p>
        </p:txBody>
      </p:sp>
      <p:cxnSp>
        <p:nvCxnSpPr>
          <p:cNvPr id="1918" name="Google Shape;1918;p11"/>
          <p:cNvCxnSpPr/>
          <p:nvPr/>
        </p:nvCxnSpPr>
        <p:spPr>
          <a:xfrm>
            <a:off x="4548734" y="3866907"/>
            <a:ext cx="3111900" cy="0"/>
          </a:xfrm>
          <a:prstGeom prst="straightConnector1">
            <a:avLst/>
          </a:prstGeom>
          <a:noFill/>
          <a:ln w="9525" cap="flat" cmpd="sng">
            <a:solidFill>
              <a:srgbClr val="0198C7"/>
            </a:solidFill>
            <a:prstDash val="solid"/>
            <a:round/>
            <a:headEnd type="none" w="sm" len="sm"/>
            <a:tailEnd type="none" w="sm" len="sm"/>
          </a:ln>
        </p:spPr>
      </p:cxnSp>
      <p:cxnSp>
        <p:nvCxnSpPr>
          <p:cNvPr id="1919" name="Google Shape;1919;p11"/>
          <p:cNvCxnSpPr/>
          <p:nvPr/>
        </p:nvCxnSpPr>
        <p:spPr>
          <a:xfrm>
            <a:off x="4552641" y="4746159"/>
            <a:ext cx="3111900" cy="0"/>
          </a:xfrm>
          <a:prstGeom prst="straightConnector1">
            <a:avLst/>
          </a:prstGeom>
          <a:noFill/>
          <a:ln w="9525" cap="flat" cmpd="sng">
            <a:solidFill>
              <a:srgbClr val="0198C7"/>
            </a:solidFill>
            <a:prstDash val="solid"/>
            <a:round/>
            <a:headEnd type="none" w="sm" len="sm"/>
            <a:tailEnd type="none" w="sm" len="sm"/>
          </a:ln>
        </p:spPr>
      </p:cxnSp>
      <p:sp>
        <p:nvSpPr>
          <p:cNvPr id="1920" name="Google Shape;1920;p11"/>
          <p:cNvSpPr/>
          <p:nvPr/>
        </p:nvSpPr>
        <p:spPr>
          <a:xfrm>
            <a:off x="4766187" y="4029347"/>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921" name="Google Shape;1921;p11"/>
          <p:cNvSpPr/>
          <p:nvPr/>
        </p:nvSpPr>
        <p:spPr>
          <a:xfrm>
            <a:off x="4764417" y="4991705"/>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1922" name="Google Shape;1922;p11"/>
          <p:cNvGrpSpPr/>
          <p:nvPr/>
        </p:nvGrpSpPr>
        <p:grpSpPr>
          <a:xfrm>
            <a:off x="4861977" y="4130286"/>
            <a:ext cx="246555" cy="240262"/>
            <a:chOff x="624431" y="1107698"/>
            <a:chExt cx="682601" cy="664625"/>
          </a:xfrm>
        </p:grpSpPr>
        <p:sp>
          <p:nvSpPr>
            <p:cNvPr id="1923" name="Google Shape;1923;p11"/>
            <p:cNvSpPr/>
            <p:nvPr/>
          </p:nvSpPr>
          <p:spPr>
            <a:xfrm>
              <a:off x="1004841" y="1579446"/>
              <a:ext cx="1943" cy="7287"/>
            </a:xfrm>
            <a:custGeom>
              <a:avLst/>
              <a:gdLst/>
              <a:ahLst/>
              <a:cxnLst/>
              <a:rect l="l" t="t" r="r" b="b"/>
              <a:pathLst>
                <a:path w="1943" h="7287" extrusionOk="0">
                  <a:moveTo>
                    <a:pt x="0" y="486"/>
                  </a:moveTo>
                  <a:lnTo>
                    <a:pt x="1943" y="7288"/>
                  </a:lnTo>
                  <a:lnTo>
                    <a:pt x="486" y="0"/>
                  </a:lnTo>
                  <a:cubicBezTo>
                    <a:pt x="486" y="0"/>
                    <a:pt x="486" y="0"/>
                    <a:pt x="0" y="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4" name="Google Shape;1924;p11"/>
            <p:cNvSpPr/>
            <p:nvPr/>
          </p:nvSpPr>
          <p:spPr>
            <a:xfrm>
              <a:off x="878038" y="1319523"/>
              <a:ext cx="62673" cy="67379"/>
            </a:xfrm>
            <a:custGeom>
              <a:avLst/>
              <a:gdLst/>
              <a:ahLst/>
              <a:cxnLst/>
              <a:rect l="l" t="t" r="r" b="b"/>
              <a:pathLst>
                <a:path w="62673" h="67379" extrusionOk="0">
                  <a:moveTo>
                    <a:pt x="51499" y="66560"/>
                  </a:moveTo>
                  <a:cubicBezTo>
                    <a:pt x="51499" y="66560"/>
                    <a:pt x="54900" y="68017"/>
                    <a:pt x="56357" y="67046"/>
                  </a:cubicBezTo>
                  <a:cubicBezTo>
                    <a:pt x="57815" y="66560"/>
                    <a:pt x="58786" y="65102"/>
                    <a:pt x="58786" y="63159"/>
                  </a:cubicBezTo>
                  <a:cubicBezTo>
                    <a:pt x="59758" y="47126"/>
                    <a:pt x="60730" y="30608"/>
                    <a:pt x="61701" y="14575"/>
                  </a:cubicBezTo>
                  <a:lnTo>
                    <a:pt x="62673" y="0"/>
                  </a:lnTo>
                  <a:cubicBezTo>
                    <a:pt x="38381" y="4858"/>
                    <a:pt x="17976" y="15061"/>
                    <a:pt x="0" y="30122"/>
                  </a:cubicBezTo>
                  <a:cubicBezTo>
                    <a:pt x="7773" y="35466"/>
                    <a:pt x="15547" y="41296"/>
                    <a:pt x="23320" y="46640"/>
                  </a:cubicBezTo>
                  <a:cubicBezTo>
                    <a:pt x="32551" y="53442"/>
                    <a:pt x="42268" y="59758"/>
                    <a:pt x="51499" y="6656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5" name="Google Shape;1925;p11"/>
            <p:cNvSpPr/>
            <p:nvPr/>
          </p:nvSpPr>
          <p:spPr>
            <a:xfrm>
              <a:off x="1014072" y="1494424"/>
              <a:ext cx="74333" cy="65102"/>
            </a:xfrm>
            <a:custGeom>
              <a:avLst/>
              <a:gdLst/>
              <a:ahLst/>
              <a:cxnLst/>
              <a:rect l="l" t="t" r="r" b="b"/>
              <a:pathLst>
                <a:path w="74333" h="65102" extrusionOk="0">
                  <a:moveTo>
                    <a:pt x="8259" y="972"/>
                  </a:moveTo>
                  <a:cubicBezTo>
                    <a:pt x="8259" y="972"/>
                    <a:pt x="6316" y="2915"/>
                    <a:pt x="6316" y="4858"/>
                  </a:cubicBezTo>
                  <a:lnTo>
                    <a:pt x="0" y="9717"/>
                  </a:lnTo>
                  <a:lnTo>
                    <a:pt x="6802" y="6802"/>
                  </a:lnTo>
                  <a:lnTo>
                    <a:pt x="12632" y="20891"/>
                  </a:lnTo>
                  <a:cubicBezTo>
                    <a:pt x="18948" y="35466"/>
                    <a:pt x="24778" y="50527"/>
                    <a:pt x="31094" y="65102"/>
                  </a:cubicBezTo>
                  <a:cubicBezTo>
                    <a:pt x="50527" y="50527"/>
                    <a:pt x="64616" y="32551"/>
                    <a:pt x="74333" y="10688"/>
                  </a:cubicBezTo>
                  <a:lnTo>
                    <a:pt x="12146" y="0"/>
                  </a:lnTo>
                  <a:cubicBezTo>
                    <a:pt x="12146" y="0"/>
                    <a:pt x="9231" y="486"/>
                    <a:pt x="8259" y="97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6" name="Google Shape;1926;p11"/>
            <p:cNvSpPr/>
            <p:nvPr/>
          </p:nvSpPr>
          <p:spPr>
            <a:xfrm>
              <a:off x="842572" y="1494424"/>
              <a:ext cx="67045" cy="64616"/>
            </a:xfrm>
            <a:custGeom>
              <a:avLst/>
              <a:gdLst/>
              <a:ahLst/>
              <a:cxnLst/>
              <a:rect l="l" t="t" r="r" b="b"/>
              <a:pathLst>
                <a:path w="67045" h="64616" extrusionOk="0">
                  <a:moveTo>
                    <a:pt x="62673" y="0"/>
                  </a:moveTo>
                  <a:lnTo>
                    <a:pt x="46155" y="2915"/>
                  </a:lnTo>
                  <a:cubicBezTo>
                    <a:pt x="30608" y="5344"/>
                    <a:pt x="15547" y="8259"/>
                    <a:pt x="0" y="10688"/>
                  </a:cubicBezTo>
                  <a:cubicBezTo>
                    <a:pt x="9717" y="32551"/>
                    <a:pt x="24292" y="50527"/>
                    <a:pt x="43240" y="64616"/>
                  </a:cubicBezTo>
                  <a:cubicBezTo>
                    <a:pt x="48584" y="51985"/>
                    <a:pt x="53442" y="39839"/>
                    <a:pt x="58300" y="27693"/>
                  </a:cubicBezTo>
                  <a:lnTo>
                    <a:pt x="65588" y="9717"/>
                  </a:lnTo>
                  <a:cubicBezTo>
                    <a:pt x="65588" y="9717"/>
                    <a:pt x="66560" y="6802"/>
                    <a:pt x="67046" y="5830"/>
                  </a:cubicBezTo>
                  <a:cubicBezTo>
                    <a:pt x="67046" y="4858"/>
                    <a:pt x="67046" y="3401"/>
                    <a:pt x="66074" y="2429"/>
                  </a:cubicBezTo>
                  <a:cubicBezTo>
                    <a:pt x="65102" y="1457"/>
                    <a:pt x="64131" y="972"/>
                    <a:pt x="62673" y="486"/>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7" name="Google Shape;1927;p11"/>
            <p:cNvSpPr/>
            <p:nvPr/>
          </p:nvSpPr>
          <p:spPr>
            <a:xfrm>
              <a:off x="930994" y="1523575"/>
              <a:ext cx="68503" cy="62187"/>
            </a:xfrm>
            <a:custGeom>
              <a:avLst/>
              <a:gdLst/>
              <a:ahLst/>
              <a:cxnLst/>
              <a:rect l="l" t="t" r="r" b="b"/>
              <a:pathLst>
                <a:path w="68503" h="62187" extrusionOk="0">
                  <a:moveTo>
                    <a:pt x="55385" y="32551"/>
                  </a:moveTo>
                  <a:cubicBezTo>
                    <a:pt x="50041" y="22834"/>
                    <a:pt x="44697" y="12632"/>
                    <a:pt x="38867" y="2915"/>
                  </a:cubicBezTo>
                  <a:cubicBezTo>
                    <a:pt x="37895" y="972"/>
                    <a:pt x="35952" y="486"/>
                    <a:pt x="34494" y="0"/>
                  </a:cubicBezTo>
                  <a:cubicBezTo>
                    <a:pt x="33037" y="0"/>
                    <a:pt x="31094" y="972"/>
                    <a:pt x="30122" y="2915"/>
                  </a:cubicBezTo>
                  <a:lnTo>
                    <a:pt x="17490" y="25749"/>
                  </a:lnTo>
                  <a:cubicBezTo>
                    <a:pt x="11660" y="36438"/>
                    <a:pt x="5830" y="46640"/>
                    <a:pt x="0" y="57329"/>
                  </a:cubicBezTo>
                  <a:cubicBezTo>
                    <a:pt x="11660" y="60244"/>
                    <a:pt x="22834" y="61701"/>
                    <a:pt x="34494" y="62187"/>
                  </a:cubicBezTo>
                  <a:cubicBezTo>
                    <a:pt x="45669" y="62187"/>
                    <a:pt x="57329" y="60730"/>
                    <a:pt x="68503" y="57815"/>
                  </a:cubicBezTo>
                  <a:cubicBezTo>
                    <a:pt x="67046" y="54900"/>
                    <a:pt x="65588" y="52470"/>
                    <a:pt x="64131" y="50041"/>
                  </a:cubicBezTo>
                  <a:lnTo>
                    <a:pt x="54900" y="33037"/>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8" name="Google Shape;1928;p11"/>
            <p:cNvSpPr/>
            <p:nvPr/>
          </p:nvSpPr>
          <p:spPr>
            <a:xfrm>
              <a:off x="1090835" y="1499768"/>
              <a:ext cx="6801" cy="2915"/>
            </a:xfrm>
            <a:custGeom>
              <a:avLst/>
              <a:gdLst/>
              <a:ahLst/>
              <a:cxnLst/>
              <a:rect l="l" t="t" r="r" b="b"/>
              <a:pathLst>
                <a:path w="6801" h="2915" extrusionOk="0">
                  <a:moveTo>
                    <a:pt x="0" y="0"/>
                  </a:moveTo>
                  <a:lnTo>
                    <a:pt x="6802" y="2915"/>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9" name="Google Shape;1929;p11"/>
            <p:cNvSpPr/>
            <p:nvPr/>
          </p:nvSpPr>
          <p:spPr>
            <a:xfrm>
              <a:off x="831667" y="1388512"/>
              <a:ext cx="64346" cy="67531"/>
            </a:xfrm>
            <a:custGeom>
              <a:avLst/>
              <a:gdLst/>
              <a:ahLst/>
              <a:cxnLst/>
              <a:rect l="l" t="t" r="r" b="b"/>
              <a:pathLst>
                <a:path w="64346" h="67531" extrusionOk="0">
                  <a:moveTo>
                    <a:pt x="63375" y="47126"/>
                  </a:moveTo>
                  <a:cubicBezTo>
                    <a:pt x="63375" y="47126"/>
                    <a:pt x="63375" y="43725"/>
                    <a:pt x="60460" y="40810"/>
                  </a:cubicBezTo>
                  <a:cubicBezTo>
                    <a:pt x="45399" y="27207"/>
                    <a:pt x="30338" y="13603"/>
                    <a:pt x="15277" y="0"/>
                  </a:cubicBezTo>
                  <a:cubicBezTo>
                    <a:pt x="6532" y="17004"/>
                    <a:pt x="1673" y="34494"/>
                    <a:pt x="216" y="52956"/>
                  </a:cubicBezTo>
                  <a:cubicBezTo>
                    <a:pt x="216" y="57329"/>
                    <a:pt x="-270" y="62673"/>
                    <a:pt x="216" y="67531"/>
                  </a:cubicBezTo>
                  <a:lnTo>
                    <a:pt x="10419" y="64616"/>
                  </a:lnTo>
                  <a:cubicBezTo>
                    <a:pt x="26451" y="59758"/>
                    <a:pt x="42970" y="55385"/>
                    <a:pt x="59002" y="50527"/>
                  </a:cubicBezTo>
                  <a:cubicBezTo>
                    <a:pt x="63375" y="49070"/>
                    <a:pt x="63861" y="47612"/>
                    <a:pt x="64346" y="4664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0" name="Google Shape;1930;p11"/>
            <p:cNvSpPr/>
            <p:nvPr/>
          </p:nvSpPr>
          <p:spPr>
            <a:xfrm>
              <a:off x="990752" y="1319523"/>
              <a:ext cx="61701" cy="66751"/>
            </a:xfrm>
            <a:custGeom>
              <a:avLst/>
              <a:gdLst/>
              <a:ahLst/>
              <a:cxnLst/>
              <a:rect l="l" t="t" r="r" b="b"/>
              <a:pathLst>
                <a:path w="61701" h="66751" extrusionOk="0">
                  <a:moveTo>
                    <a:pt x="5830" y="66560"/>
                  </a:moveTo>
                  <a:cubicBezTo>
                    <a:pt x="5830" y="66560"/>
                    <a:pt x="8745" y="67531"/>
                    <a:pt x="12146" y="65102"/>
                  </a:cubicBezTo>
                  <a:cubicBezTo>
                    <a:pt x="28664" y="53442"/>
                    <a:pt x="45183" y="41782"/>
                    <a:pt x="61701" y="30122"/>
                  </a:cubicBezTo>
                  <a:cubicBezTo>
                    <a:pt x="42754" y="14575"/>
                    <a:pt x="22348" y="4373"/>
                    <a:pt x="0" y="0"/>
                  </a:cubicBezTo>
                  <a:lnTo>
                    <a:pt x="3401" y="60730"/>
                  </a:lnTo>
                  <a:cubicBezTo>
                    <a:pt x="3401" y="65102"/>
                    <a:pt x="4858" y="65588"/>
                    <a:pt x="5830" y="66074"/>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1" name="Google Shape;1931;p11"/>
            <p:cNvSpPr/>
            <p:nvPr/>
          </p:nvSpPr>
          <p:spPr>
            <a:xfrm>
              <a:off x="732681" y="1210695"/>
              <a:ext cx="466686" cy="454812"/>
            </a:xfrm>
            <a:custGeom>
              <a:avLst/>
              <a:gdLst/>
              <a:ahLst/>
              <a:cxnLst/>
              <a:rect l="l" t="t" r="r" b="b"/>
              <a:pathLst>
                <a:path w="466686" h="454812" extrusionOk="0">
                  <a:moveTo>
                    <a:pt x="444146" y="283729"/>
                  </a:moveTo>
                  <a:cubicBezTo>
                    <a:pt x="438802" y="283243"/>
                    <a:pt x="433458" y="282757"/>
                    <a:pt x="428600" y="281786"/>
                  </a:cubicBezTo>
                  <a:cubicBezTo>
                    <a:pt x="421798" y="280814"/>
                    <a:pt x="414024" y="279842"/>
                    <a:pt x="409166" y="272555"/>
                  </a:cubicBezTo>
                  <a:cubicBezTo>
                    <a:pt x="406251" y="272069"/>
                    <a:pt x="404308" y="270611"/>
                    <a:pt x="403336" y="269154"/>
                  </a:cubicBezTo>
                  <a:cubicBezTo>
                    <a:pt x="400421" y="265753"/>
                    <a:pt x="400907" y="261866"/>
                    <a:pt x="401393" y="259923"/>
                  </a:cubicBezTo>
                  <a:cubicBezTo>
                    <a:pt x="402364" y="250206"/>
                    <a:pt x="402850" y="240975"/>
                    <a:pt x="402364" y="231744"/>
                  </a:cubicBezTo>
                  <a:cubicBezTo>
                    <a:pt x="400907" y="202108"/>
                    <a:pt x="391676" y="174416"/>
                    <a:pt x="376129" y="149152"/>
                  </a:cubicBezTo>
                  <a:cubicBezTo>
                    <a:pt x="375158" y="147695"/>
                    <a:pt x="373214" y="144294"/>
                    <a:pt x="374186" y="139921"/>
                  </a:cubicBezTo>
                  <a:cubicBezTo>
                    <a:pt x="374672" y="137492"/>
                    <a:pt x="376129" y="135549"/>
                    <a:pt x="378073" y="134091"/>
                  </a:cubicBezTo>
                  <a:cubicBezTo>
                    <a:pt x="378558" y="129719"/>
                    <a:pt x="380988" y="125832"/>
                    <a:pt x="384874" y="122431"/>
                  </a:cubicBezTo>
                  <a:cubicBezTo>
                    <a:pt x="391190" y="117087"/>
                    <a:pt x="398478" y="112228"/>
                    <a:pt x="408194" y="106884"/>
                  </a:cubicBezTo>
                  <a:cubicBezTo>
                    <a:pt x="412081" y="104941"/>
                    <a:pt x="415482" y="102998"/>
                    <a:pt x="417911" y="100083"/>
                  </a:cubicBezTo>
                  <a:cubicBezTo>
                    <a:pt x="421312" y="97167"/>
                    <a:pt x="421312" y="94738"/>
                    <a:pt x="420826" y="93281"/>
                  </a:cubicBezTo>
                  <a:cubicBezTo>
                    <a:pt x="420826" y="90852"/>
                    <a:pt x="418883" y="89394"/>
                    <a:pt x="417911" y="88908"/>
                  </a:cubicBezTo>
                  <a:cubicBezTo>
                    <a:pt x="415968" y="87937"/>
                    <a:pt x="413053" y="88422"/>
                    <a:pt x="410624" y="89880"/>
                  </a:cubicBezTo>
                  <a:cubicBezTo>
                    <a:pt x="407223" y="91823"/>
                    <a:pt x="404308" y="95224"/>
                    <a:pt x="401393" y="98139"/>
                  </a:cubicBezTo>
                  <a:cubicBezTo>
                    <a:pt x="395563" y="104941"/>
                    <a:pt x="389247" y="111257"/>
                    <a:pt x="382445" y="116601"/>
                  </a:cubicBezTo>
                  <a:cubicBezTo>
                    <a:pt x="380502" y="118058"/>
                    <a:pt x="375643" y="122431"/>
                    <a:pt x="368356" y="121459"/>
                  </a:cubicBezTo>
                  <a:cubicBezTo>
                    <a:pt x="366412" y="123403"/>
                    <a:pt x="363983" y="124374"/>
                    <a:pt x="361554" y="123889"/>
                  </a:cubicBezTo>
                  <a:cubicBezTo>
                    <a:pt x="357182" y="123889"/>
                    <a:pt x="354267" y="120974"/>
                    <a:pt x="352809" y="119516"/>
                  </a:cubicBezTo>
                  <a:cubicBezTo>
                    <a:pt x="333861" y="100568"/>
                    <a:pt x="311513" y="86965"/>
                    <a:pt x="286249" y="78220"/>
                  </a:cubicBezTo>
                  <a:cubicBezTo>
                    <a:pt x="275075" y="74333"/>
                    <a:pt x="263415" y="71904"/>
                    <a:pt x="249811" y="69961"/>
                  </a:cubicBezTo>
                  <a:cubicBezTo>
                    <a:pt x="248354" y="69961"/>
                    <a:pt x="244953" y="69961"/>
                    <a:pt x="242524" y="67046"/>
                  </a:cubicBezTo>
                  <a:lnTo>
                    <a:pt x="240581" y="64616"/>
                  </a:lnTo>
                  <a:lnTo>
                    <a:pt x="240581" y="60244"/>
                  </a:lnTo>
                  <a:cubicBezTo>
                    <a:pt x="237180" y="56357"/>
                    <a:pt x="235722" y="52956"/>
                    <a:pt x="235722" y="49070"/>
                  </a:cubicBezTo>
                  <a:lnTo>
                    <a:pt x="235722" y="47126"/>
                  </a:lnTo>
                  <a:cubicBezTo>
                    <a:pt x="235722" y="42754"/>
                    <a:pt x="235722" y="38867"/>
                    <a:pt x="236208" y="34494"/>
                  </a:cubicBezTo>
                  <a:cubicBezTo>
                    <a:pt x="237180" y="28664"/>
                    <a:pt x="237666" y="23320"/>
                    <a:pt x="238637" y="17490"/>
                  </a:cubicBezTo>
                  <a:lnTo>
                    <a:pt x="238637" y="11660"/>
                  </a:lnTo>
                  <a:cubicBezTo>
                    <a:pt x="238637" y="11660"/>
                    <a:pt x="239123" y="7288"/>
                    <a:pt x="239123" y="7288"/>
                  </a:cubicBezTo>
                  <a:cubicBezTo>
                    <a:pt x="239123" y="3401"/>
                    <a:pt x="236208" y="486"/>
                    <a:pt x="233293" y="0"/>
                  </a:cubicBezTo>
                  <a:cubicBezTo>
                    <a:pt x="229892" y="0"/>
                    <a:pt x="226977" y="2429"/>
                    <a:pt x="226491" y="6316"/>
                  </a:cubicBezTo>
                  <a:cubicBezTo>
                    <a:pt x="226491" y="9231"/>
                    <a:pt x="226491" y="12632"/>
                    <a:pt x="226977" y="17490"/>
                  </a:cubicBezTo>
                  <a:cubicBezTo>
                    <a:pt x="228435" y="26721"/>
                    <a:pt x="229892" y="36438"/>
                    <a:pt x="229892" y="46640"/>
                  </a:cubicBezTo>
                  <a:cubicBezTo>
                    <a:pt x="229892" y="49070"/>
                    <a:pt x="229892" y="54414"/>
                    <a:pt x="225520" y="58786"/>
                  </a:cubicBezTo>
                  <a:cubicBezTo>
                    <a:pt x="225520" y="62187"/>
                    <a:pt x="224548" y="64616"/>
                    <a:pt x="223090" y="66560"/>
                  </a:cubicBezTo>
                  <a:cubicBezTo>
                    <a:pt x="221633" y="68503"/>
                    <a:pt x="219204" y="69475"/>
                    <a:pt x="215803" y="69961"/>
                  </a:cubicBezTo>
                  <a:lnTo>
                    <a:pt x="212402" y="69961"/>
                  </a:lnTo>
                  <a:cubicBezTo>
                    <a:pt x="174021" y="75305"/>
                    <a:pt x="140012" y="91337"/>
                    <a:pt x="112805" y="119030"/>
                  </a:cubicBezTo>
                  <a:cubicBezTo>
                    <a:pt x="111348" y="120488"/>
                    <a:pt x="108433" y="124374"/>
                    <a:pt x="103574" y="123403"/>
                  </a:cubicBezTo>
                  <a:cubicBezTo>
                    <a:pt x="101631" y="123403"/>
                    <a:pt x="99202" y="122431"/>
                    <a:pt x="97259" y="121459"/>
                  </a:cubicBezTo>
                  <a:cubicBezTo>
                    <a:pt x="90943" y="121945"/>
                    <a:pt x="86570" y="118544"/>
                    <a:pt x="84627" y="117573"/>
                  </a:cubicBezTo>
                  <a:cubicBezTo>
                    <a:pt x="77825" y="112228"/>
                    <a:pt x="71509" y="106398"/>
                    <a:pt x="64707" y="98625"/>
                  </a:cubicBezTo>
                  <a:cubicBezTo>
                    <a:pt x="61307" y="94738"/>
                    <a:pt x="58392" y="91823"/>
                    <a:pt x="54991" y="89394"/>
                  </a:cubicBezTo>
                  <a:cubicBezTo>
                    <a:pt x="51590" y="87451"/>
                    <a:pt x="47703" y="87937"/>
                    <a:pt x="45760" y="90366"/>
                  </a:cubicBezTo>
                  <a:cubicBezTo>
                    <a:pt x="43816" y="92795"/>
                    <a:pt x="44302" y="96682"/>
                    <a:pt x="47217" y="99597"/>
                  </a:cubicBezTo>
                  <a:cubicBezTo>
                    <a:pt x="50132" y="102512"/>
                    <a:pt x="53533" y="104455"/>
                    <a:pt x="57420" y="106398"/>
                  </a:cubicBezTo>
                  <a:cubicBezTo>
                    <a:pt x="65193" y="110771"/>
                    <a:pt x="72481" y="115143"/>
                    <a:pt x="78797" y="120488"/>
                  </a:cubicBezTo>
                  <a:cubicBezTo>
                    <a:pt x="81712" y="122917"/>
                    <a:pt x="86570" y="126804"/>
                    <a:pt x="87542" y="133605"/>
                  </a:cubicBezTo>
                  <a:cubicBezTo>
                    <a:pt x="89485" y="135063"/>
                    <a:pt x="90457" y="137006"/>
                    <a:pt x="90943" y="138949"/>
                  </a:cubicBezTo>
                  <a:cubicBezTo>
                    <a:pt x="91914" y="143322"/>
                    <a:pt x="89971" y="147209"/>
                    <a:pt x="88514" y="149152"/>
                  </a:cubicBezTo>
                  <a:cubicBezTo>
                    <a:pt x="67622" y="183161"/>
                    <a:pt x="59363" y="220084"/>
                    <a:pt x="64222" y="258951"/>
                  </a:cubicBezTo>
                  <a:cubicBezTo>
                    <a:pt x="65193" y="268182"/>
                    <a:pt x="59363" y="271097"/>
                    <a:pt x="56448" y="271583"/>
                  </a:cubicBezTo>
                  <a:cubicBezTo>
                    <a:pt x="53047" y="276927"/>
                    <a:pt x="47703" y="278385"/>
                    <a:pt x="43816" y="279356"/>
                  </a:cubicBezTo>
                  <a:cubicBezTo>
                    <a:pt x="34586" y="281300"/>
                    <a:pt x="24869" y="282272"/>
                    <a:pt x="15638" y="282757"/>
                  </a:cubicBezTo>
                  <a:cubicBezTo>
                    <a:pt x="11265" y="282757"/>
                    <a:pt x="7864" y="283729"/>
                    <a:pt x="4464" y="284701"/>
                  </a:cubicBezTo>
                  <a:cubicBezTo>
                    <a:pt x="1063" y="286158"/>
                    <a:pt x="-395" y="289559"/>
                    <a:pt x="91" y="291988"/>
                  </a:cubicBezTo>
                  <a:cubicBezTo>
                    <a:pt x="577" y="294903"/>
                    <a:pt x="3978" y="297818"/>
                    <a:pt x="7379" y="296847"/>
                  </a:cubicBezTo>
                  <a:cubicBezTo>
                    <a:pt x="11265" y="296847"/>
                    <a:pt x="15152" y="295389"/>
                    <a:pt x="19525" y="293446"/>
                  </a:cubicBezTo>
                  <a:cubicBezTo>
                    <a:pt x="28755" y="289559"/>
                    <a:pt x="37015" y="286644"/>
                    <a:pt x="44788" y="284701"/>
                  </a:cubicBezTo>
                  <a:cubicBezTo>
                    <a:pt x="48675" y="283729"/>
                    <a:pt x="53533" y="282272"/>
                    <a:pt x="58392" y="285187"/>
                  </a:cubicBezTo>
                  <a:cubicBezTo>
                    <a:pt x="59849" y="286158"/>
                    <a:pt x="60335" y="286158"/>
                    <a:pt x="60335" y="286158"/>
                  </a:cubicBezTo>
                  <a:lnTo>
                    <a:pt x="63250" y="285187"/>
                  </a:lnTo>
                  <a:lnTo>
                    <a:pt x="67622" y="286644"/>
                  </a:lnTo>
                  <a:cubicBezTo>
                    <a:pt x="71023" y="288587"/>
                    <a:pt x="71995" y="291502"/>
                    <a:pt x="72481" y="292960"/>
                  </a:cubicBezTo>
                  <a:cubicBezTo>
                    <a:pt x="86084" y="331341"/>
                    <a:pt x="109890" y="361463"/>
                    <a:pt x="144385" y="382840"/>
                  </a:cubicBezTo>
                  <a:cubicBezTo>
                    <a:pt x="150701" y="386727"/>
                    <a:pt x="150701" y="392557"/>
                    <a:pt x="148271" y="396929"/>
                  </a:cubicBezTo>
                  <a:cubicBezTo>
                    <a:pt x="150701" y="403245"/>
                    <a:pt x="148271" y="408589"/>
                    <a:pt x="146814" y="410533"/>
                  </a:cubicBezTo>
                  <a:cubicBezTo>
                    <a:pt x="142927" y="418306"/>
                    <a:pt x="138555" y="426079"/>
                    <a:pt x="131753" y="435310"/>
                  </a:cubicBezTo>
                  <a:cubicBezTo>
                    <a:pt x="128838" y="439197"/>
                    <a:pt x="127380" y="442112"/>
                    <a:pt x="126409" y="445027"/>
                  </a:cubicBezTo>
                  <a:cubicBezTo>
                    <a:pt x="124951" y="448914"/>
                    <a:pt x="126409" y="452800"/>
                    <a:pt x="129324" y="454258"/>
                  </a:cubicBezTo>
                  <a:cubicBezTo>
                    <a:pt x="132239" y="455715"/>
                    <a:pt x="136126" y="454258"/>
                    <a:pt x="138069" y="450371"/>
                  </a:cubicBezTo>
                  <a:cubicBezTo>
                    <a:pt x="139526" y="447942"/>
                    <a:pt x="140984" y="444541"/>
                    <a:pt x="141956" y="440654"/>
                  </a:cubicBezTo>
                  <a:cubicBezTo>
                    <a:pt x="144871" y="430938"/>
                    <a:pt x="147786" y="422193"/>
                    <a:pt x="151672" y="414419"/>
                  </a:cubicBezTo>
                  <a:cubicBezTo>
                    <a:pt x="152644" y="411990"/>
                    <a:pt x="155559" y="406160"/>
                    <a:pt x="162361" y="403731"/>
                  </a:cubicBezTo>
                  <a:cubicBezTo>
                    <a:pt x="163818" y="400330"/>
                    <a:pt x="168191" y="395472"/>
                    <a:pt x="176936" y="398387"/>
                  </a:cubicBezTo>
                  <a:cubicBezTo>
                    <a:pt x="213860" y="411504"/>
                    <a:pt x="251269" y="411504"/>
                    <a:pt x="289164" y="398872"/>
                  </a:cubicBezTo>
                  <a:cubicBezTo>
                    <a:pt x="292079" y="397901"/>
                    <a:pt x="295966" y="396443"/>
                    <a:pt x="300339" y="398872"/>
                  </a:cubicBezTo>
                  <a:cubicBezTo>
                    <a:pt x="302282" y="399844"/>
                    <a:pt x="303739" y="401302"/>
                    <a:pt x="304711" y="403731"/>
                  </a:cubicBezTo>
                  <a:cubicBezTo>
                    <a:pt x="309084" y="405188"/>
                    <a:pt x="311999" y="408103"/>
                    <a:pt x="314428" y="412962"/>
                  </a:cubicBezTo>
                  <a:cubicBezTo>
                    <a:pt x="319286" y="422678"/>
                    <a:pt x="322201" y="432881"/>
                    <a:pt x="324630" y="441140"/>
                  </a:cubicBezTo>
                  <a:cubicBezTo>
                    <a:pt x="326088" y="445999"/>
                    <a:pt x="327545" y="449400"/>
                    <a:pt x="329975" y="451829"/>
                  </a:cubicBezTo>
                  <a:cubicBezTo>
                    <a:pt x="332404" y="454258"/>
                    <a:pt x="335319" y="454744"/>
                    <a:pt x="337748" y="453286"/>
                  </a:cubicBezTo>
                  <a:cubicBezTo>
                    <a:pt x="340177" y="451829"/>
                    <a:pt x="341149" y="448428"/>
                    <a:pt x="340177" y="445513"/>
                  </a:cubicBezTo>
                  <a:cubicBezTo>
                    <a:pt x="339206" y="441626"/>
                    <a:pt x="336776" y="438225"/>
                    <a:pt x="334347" y="434824"/>
                  </a:cubicBezTo>
                  <a:cubicBezTo>
                    <a:pt x="329003" y="427051"/>
                    <a:pt x="324145" y="419763"/>
                    <a:pt x="320258" y="412476"/>
                  </a:cubicBezTo>
                  <a:cubicBezTo>
                    <a:pt x="318800" y="409561"/>
                    <a:pt x="315400" y="403731"/>
                    <a:pt x="317829" y="396443"/>
                  </a:cubicBezTo>
                  <a:cubicBezTo>
                    <a:pt x="315885" y="392071"/>
                    <a:pt x="316371" y="386727"/>
                    <a:pt x="322687" y="382840"/>
                  </a:cubicBezTo>
                  <a:cubicBezTo>
                    <a:pt x="339691" y="372637"/>
                    <a:pt x="354752" y="359034"/>
                    <a:pt x="367384" y="343001"/>
                  </a:cubicBezTo>
                  <a:cubicBezTo>
                    <a:pt x="379044" y="327940"/>
                    <a:pt x="388275" y="311422"/>
                    <a:pt x="394105" y="293446"/>
                  </a:cubicBezTo>
                  <a:cubicBezTo>
                    <a:pt x="396534" y="285672"/>
                    <a:pt x="402850" y="284215"/>
                    <a:pt x="407709" y="285672"/>
                  </a:cubicBezTo>
                  <a:cubicBezTo>
                    <a:pt x="409652" y="283243"/>
                    <a:pt x="414510" y="282272"/>
                    <a:pt x="419369" y="283243"/>
                  </a:cubicBezTo>
                  <a:cubicBezTo>
                    <a:pt x="425199" y="284701"/>
                    <a:pt x="431029" y="286158"/>
                    <a:pt x="436373" y="288102"/>
                  </a:cubicBezTo>
                  <a:cubicBezTo>
                    <a:pt x="440260" y="289559"/>
                    <a:pt x="442689" y="290531"/>
                    <a:pt x="445118" y="291502"/>
                  </a:cubicBezTo>
                  <a:cubicBezTo>
                    <a:pt x="449491" y="293446"/>
                    <a:pt x="453377" y="294903"/>
                    <a:pt x="457750" y="295389"/>
                  </a:cubicBezTo>
                  <a:cubicBezTo>
                    <a:pt x="462122" y="296361"/>
                    <a:pt x="464066" y="294417"/>
                    <a:pt x="465523" y="292474"/>
                  </a:cubicBezTo>
                  <a:cubicBezTo>
                    <a:pt x="466981" y="290531"/>
                    <a:pt x="466981" y="289073"/>
                    <a:pt x="466009" y="287130"/>
                  </a:cubicBezTo>
                  <a:cubicBezTo>
                    <a:pt x="464552" y="284215"/>
                    <a:pt x="462608" y="282757"/>
                    <a:pt x="459207" y="282272"/>
                  </a:cubicBezTo>
                  <a:cubicBezTo>
                    <a:pt x="454349" y="281786"/>
                    <a:pt x="449491" y="281300"/>
                    <a:pt x="444632" y="280814"/>
                  </a:cubicBezTo>
                  <a:close/>
                  <a:moveTo>
                    <a:pt x="246411" y="95710"/>
                  </a:moveTo>
                  <a:cubicBezTo>
                    <a:pt x="249811" y="92795"/>
                    <a:pt x="254184" y="93281"/>
                    <a:pt x="259042" y="94252"/>
                  </a:cubicBezTo>
                  <a:lnTo>
                    <a:pt x="259042" y="94252"/>
                  </a:lnTo>
                  <a:cubicBezTo>
                    <a:pt x="286249" y="99111"/>
                    <a:pt x="311513" y="111743"/>
                    <a:pt x="332890" y="131176"/>
                  </a:cubicBezTo>
                  <a:cubicBezTo>
                    <a:pt x="334347" y="132634"/>
                    <a:pt x="337748" y="135549"/>
                    <a:pt x="337262" y="139921"/>
                  </a:cubicBezTo>
                  <a:cubicBezTo>
                    <a:pt x="337262" y="144294"/>
                    <a:pt x="333376" y="147209"/>
                    <a:pt x="331918" y="148180"/>
                  </a:cubicBezTo>
                  <a:cubicBezTo>
                    <a:pt x="313942" y="160812"/>
                    <a:pt x="296452" y="173444"/>
                    <a:pt x="278476" y="186076"/>
                  </a:cubicBezTo>
                  <a:cubicBezTo>
                    <a:pt x="274103" y="188991"/>
                    <a:pt x="269731" y="190448"/>
                    <a:pt x="265358" y="190448"/>
                  </a:cubicBezTo>
                  <a:cubicBezTo>
                    <a:pt x="262443" y="190448"/>
                    <a:pt x="260014" y="189962"/>
                    <a:pt x="257099" y="188505"/>
                  </a:cubicBezTo>
                  <a:cubicBezTo>
                    <a:pt x="250297" y="185590"/>
                    <a:pt x="246411" y="179274"/>
                    <a:pt x="245925" y="170529"/>
                  </a:cubicBezTo>
                  <a:lnTo>
                    <a:pt x="242524" y="108828"/>
                  </a:lnTo>
                  <a:cubicBezTo>
                    <a:pt x="242524" y="102998"/>
                    <a:pt x="242524" y="98625"/>
                    <a:pt x="245925" y="95710"/>
                  </a:cubicBezTo>
                  <a:close/>
                  <a:moveTo>
                    <a:pt x="249326" y="207938"/>
                  </a:moveTo>
                  <a:lnTo>
                    <a:pt x="269245" y="233202"/>
                  </a:lnTo>
                  <a:lnTo>
                    <a:pt x="262443" y="264781"/>
                  </a:lnTo>
                  <a:lnTo>
                    <a:pt x="233293" y="278871"/>
                  </a:lnTo>
                  <a:lnTo>
                    <a:pt x="204143" y="264781"/>
                  </a:lnTo>
                  <a:lnTo>
                    <a:pt x="196855" y="233202"/>
                  </a:lnTo>
                  <a:lnTo>
                    <a:pt x="216775" y="207938"/>
                  </a:lnTo>
                  <a:lnTo>
                    <a:pt x="249326" y="207938"/>
                  </a:lnTo>
                  <a:close/>
                  <a:moveTo>
                    <a:pt x="130781" y="132148"/>
                  </a:moveTo>
                  <a:lnTo>
                    <a:pt x="136126" y="137492"/>
                  </a:lnTo>
                  <a:lnTo>
                    <a:pt x="131267" y="132148"/>
                  </a:lnTo>
                  <a:cubicBezTo>
                    <a:pt x="152158" y="112714"/>
                    <a:pt x="176936" y="100568"/>
                    <a:pt x="204629" y="95224"/>
                  </a:cubicBezTo>
                  <a:cubicBezTo>
                    <a:pt x="206572" y="95224"/>
                    <a:pt x="208029" y="94738"/>
                    <a:pt x="209001" y="94252"/>
                  </a:cubicBezTo>
                  <a:cubicBezTo>
                    <a:pt x="212888" y="93767"/>
                    <a:pt x="216289" y="93281"/>
                    <a:pt x="219690" y="96196"/>
                  </a:cubicBezTo>
                  <a:cubicBezTo>
                    <a:pt x="223090" y="99111"/>
                    <a:pt x="222605" y="102998"/>
                    <a:pt x="222605" y="106398"/>
                  </a:cubicBezTo>
                  <a:lnTo>
                    <a:pt x="221633" y="124374"/>
                  </a:lnTo>
                  <a:cubicBezTo>
                    <a:pt x="220661" y="140407"/>
                    <a:pt x="219690" y="156925"/>
                    <a:pt x="218718" y="172958"/>
                  </a:cubicBezTo>
                  <a:cubicBezTo>
                    <a:pt x="218718" y="180246"/>
                    <a:pt x="214345" y="186076"/>
                    <a:pt x="208029" y="188991"/>
                  </a:cubicBezTo>
                  <a:cubicBezTo>
                    <a:pt x="205600" y="190448"/>
                    <a:pt x="202685" y="190934"/>
                    <a:pt x="199770" y="190934"/>
                  </a:cubicBezTo>
                  <a:cubicBezTo>
                    <a:pt x="195884" y="190934"/>
                    <a:pt x="191997" y="189477"/>
                    <a:pt x="188596" y="187533"/>
                  </a:cubicBezTo>
                  <a:cubicBezTo>
                    <a:pt x="179365" y="180731"/>
                    <a:pt x="169648" y="174416"/>
                    <a:pt x="160417" y="167614"/>
                  </a:cubicBezTo>
                  <a:cubicBezTo>
                    <a:pt x="151187" y="160812"/>
                    <a:pt x="141470" y="154496"/>
                    <a:pt x="132239" y="147695"/>
                  </a:cubicBezTo>
                  <a:cubicBezTo>
                    <a:pt x="129324" y="145751"/>
                    <a:pt x="127866" y="143322"/>
                    <a:pt x="127380" y="140407"/>
                  </a:cubicBezTo>
                  <a:cubicBezTo>
                    <a:pt x="127380" y="136034"/>
                    <a:pt x="129810" y="133605"/>
                    <a:pt x="131267" y="132634"/>
                  </a:cubicBezTo>
                  <a:close/>
                  <a:moveTo>
                    <a:pt x="85113" y="256522"/>
                  </a:moveTo>
                  <a:cubicBezTo>
                    <a:pt x="83169" y="246805"/>
                    <a:pt x="83655" y="237574"/>
                    <a:pt x="84141" y="229801"/>
                  </a:cubicBezTo>
                  <a:cubicBezTo>
                    <a:pt x="85598" y="206967"/>
                    <a:pt x="92400" y="185590"/>
                    <a:pt x="103574" y="166156"/>
                  </a:cubicBezTo>
                  <a:cubicBezTo>
                    <a:pt x="104546" y="164699"/>
                    <a:pt x="106489" y="160812"/>
                    <a:pt x="110862" y="160326"/>
                  </a:cubicBezTo>
                  <a:cubicBezTo>
                    <a:pt x="115235" y="159841"/>
                    <a:pt x="118150" y="162270"/>
                    <a:pt x="119607" y="163241"/>
                  </a:cubicBezTo>
                  <a:cubicBezTo>
                    <a:pt x="136126" y="178302"/>
                    <a:pt x="152644" y="192877"/>
                    <a:pt x="169162" y="207453"/>
                  </a:cubicBezTo>
                  <a:cubicBezTo>
                    <a:pt x="175964" y="213283"/>
                    <a:pt x="178393" y="220084"/>
                    <a:pt x="176450" y="227858"/>
                  </a:cubicBezTo>
                  <a:cubicBezTo>
                    <a:pt x="174021" y="239032"/>
                    <a:pt x="164304" y="241461"/>
                    <a:pt x="160903" y="242433"/>
                  </a:cubicBezTo>
                  <a:cubicBezTo>
                    <a:pt x="144871" y="246805"/>
                    <a:pt x="128838" y="251664"/>
                    <a:pt x="112320" y="256522"/>
                  </a:cubicBezTo>
                  <a:lnTo>
                    <a:pt x="86570" y="263810"/>
                  </a:lnTo>
                  <a:lnTo>
                    <a:pt x="85113" y="256036"/>
                  </a:lnTo>
                  <a:close/>
                  <a:moveTo>
                    <a:pt x="164790" y="358062"/>
                  </a:moveTo>
                  <a:cubicBezTo>
                    <a:pt x="164790" y="358062"/>
                    <a:pt x="162361" y="363892"/>
                    <a:pt x="157988" y="365350"/>
                  </a:cubicBezTo>
                  <a:cubicBezTo>
                    <a:pt x="157017" y="365350"/>
                    <a:pt x="156045" y="365350"/>
                    <a:pt x="155559" y="365350"/>
                  </a:cubicBezTo>
                  <a:cubicBezTo>
                    <a:pt x="152158" y="365350"/>
                    <a:pt x="149729" y="363406"/>
                    <a:pt x="148271" y="362435"/>
                  </a:cubicBezTo>
                  <a:cubicBezTo>
                    <a:pt x="123980" y="345430"/>
                    <a:pt x="105518" y="322596"/>
                    <a:pt x="94344" y="294903"/>
                  </a:cubicBezTo>
                  <a:cubicBezTo>
                    <a:pt x="93372" y="292960"/>
                    <a:pt x="91914" y="289073"/>
                    <a:pt x="94344" y="285672"/>
                  </a:cubicBezTo>
                  <a:cubicBezTo>
                    <a:pt x="95801" y="283243"/>
                    <a:pt x="98230" y="281300"/>
                    <a:pt x="102117" y="280814"/>
                  </a:cubicBezTo>
                  <a:cubicBezTo>
                    <a:pt x="119121" y="277899"/>
                    <a:pt x="136611" y="274984"/>
                    <a:pt x="153616" y="272069"/>
                  </a:cubicBezTo>
                  <a:lnTo>
                    <a:pt x="172563" y="269154"/>
                  </a:lnTo>
                  <a:cubicBezTo>
                    <a:pt x="178393" y="268668"/>
                    <a:pt x="183738" y="271583"/>
                    <a:pt x="187624" y="275956"/>
                  </a:cubicBezTo>
                  <a:cubicBezTo>
                    <a:pt x="191511" y="280328"/>
                    <a:pt x="192969" y="286158"/>
                    <a:pt x="191997" y="291988"/>
                  </a:cubicBezTo>
                  <a:lnTo>
                    <a:pt x="191997" y="291988"/>
                  </a:lnTo>
                  <a:cubicBezTo>
                    <a:pt x="191997" y="291988"/>
                    <a:pt x="190539" y="296361"/>
                    <a:pt x="190053" y="298790"/>
                  </a:cubicBezTo>
                  <a:lnTo>
                    <a:pt x="182766" y="316766"/>
                  </a:lnTo>
                  <a:cubicBezTo>
                    <a:pt x="176936" y="330369"/>
                    <a:pt x="171592" y="343973"/>
                    <a:pt x="165762" y="358062"/>
                  </a:cubicBezTo>
                  <a:close/>
                  <a:moveTo>
                    <a:pt x="283820" y="377010"/>
                  </a:moveTo>
                  <a:cubicBezTo>
                    <a:pt x="281877" y="381382"/>
                    <a:pt x="277504" y="382840"/>
                    <a:pt x="276047" y="383326"/>
                  </a:cubicBezTo>
                  <a:cubicBezTo>
                    <a:pt x="261472" y="387212"/>
                    <a:pt x="247382" y="389642"/>
                    <a:pt x="232807" y="389642"/>
                  </a:cubicBezTo>
                  <a:cubicBezTo>
                    <a:pt x="217746" y="389642"/>
                    <a:pt x="203171" y="387212"/>
                    <a:pt x="188596" y="382840"/>
                  </a:cubicBezTo>
                  <a:cubicBezTo>
                    <a:pt x="187138" y="382840"/>
                    <a:pt x="183252" y="381382"/>
                    <a:pt x="181308" y="377010"/>
                  </a:cubicBezTo>
                  <a:cubicBezTo>
                    <a:pt x="179851" y="373123"/>
                    <a:pt x="181308" y="369236"/>
                    <a:pt x="182280" y="367779"/>
                  </a:cubicBezTo>
                  <a:cubicBezTo>
                    <a:pt x="189082" y="355633"/>
                    <a:pt x="195398" y="343973"/>
                    <a:pt x="202199" y="331827"/>
                  </a:cubicBezTo>
                  <a:lnTo>
                    <a:pt x="214831" y="308993"/>
                  </a:lnTo>
                  <a:cubicBezTo>
                    <a:pt x="218718" y="302191"/>
                    <a:pt x="225034" y="298304"/>
                    <a:pt x="231836" y="298304"/>
                  </a:cubicBezTo>
                  <a:lnTo>
                    <a:pt x="231836" y="298304"/>
                  </a:lnTo>
                  <a:cubicBezTo>
                    <a:pt x="238637" y="298304"/>
                    <a:pt x="244953" y="302191"/>
                    <a:pt x="248840" y="308993"/>
                  </a:cubicBezTo>
                  <a:cubicBezTo>
                    <a:pt x="254670" y="318709"/>
                    <a:pt x="260014" y="328912"/>
                    <a:pt x="265358" y="338629"/>
                  </a:cubicBezTo>
                  <a:lnTo>
                    <a:pt x="274589" y="355633"/>
                  </a:lnTo>
                  <a:cubicBezTo>
                    <a:pt x="276533" y="359520"/>
                    <a:pt x="278962" y="363406"/>
                    <a:pt x="280905" y="367293"/>
                  </a:cubicBezTo>
                  <a:cubicBezTo>
                    <a:pt x="281877" y="368751"/>
                    <a:pt x="284306" y="372637"/>
                    <a:pt x="282363" y="377010"/>
                  </a:cubicBezTo>
                  <a:close/>
                  <a:moveTo>
                    <a:pt x="371757" y="294417"/>
                  </a:moveTo>
                  <a:cubicBezTo>
                    <a:pt x="360582" y="323082"/>
                    <a:pt x="341635" y="346402"/>
                    <a:pt x="316857" y="363892"/>
                  </a:cubicBezTo>
                  <a:cubicBezTo>
                    <a:pt x="315885" y="364378"/>
                    <a:pt x="313456" y="366321"/>
                    <a:pt x="310541" y="366321"/>
                  </a:cubicBezTo>
                  <a:cubicBezTo>
                    <a:pt x="309569" y="366321"/>
                    <a:pt x="309084" y="366321"/>
                    <a:pt x="308112" y="366321"/>
                  </a:cubicBezTo>
                  <a:cubicBezTo>
                    <a:pt x="303739" y="364864"/>
                    <a:pt x="302282" y="360977"/>
                    <a:pt x="301796" y="360005"/>
                  </a:cubicBezTo>
                  <a:cubicBezTo>
                    <a:pt x="294994" y="343487"/>
                    <a:pt x="288193" y="326969"/>
                    <a:pt x="281391" y="310450"/>
                  </a:cubicBezTo>
                  <a:lnTo>
                    <a:pt x="275561" y="296361"/>
                  </a:lnTo>
                  <a:cubicBezTo>
                    <a:pt x="275561" y="296361"/>
                    <a:pt x="273618" y="291017"/>
                    <a:pt x="274103" y="287616"/>
                  </a:cubicBezTo>
                  <a:cubicBezTo>
                    <a:pt x="274103" y="282757"/>
                    <a:pt x="276533" y="277413"/>
                    <a:pt x="280905" y="273526"/>
                  </a:cubicBezTo>
                  <a:cubicBezTo>
                    <a:pt x="285278" y="270126"/>
                    <a:pt x="290622" y="268668"/>
                    <a:pt x="296452" y="269640"/>
                  </a:cubicBezTo>
                  <a:lnTo>
                    <a:pt x="363983" y="281300"/>
                  </a:lnTo>
                  <a:cubicBezTo>
                    <a:pt x="363983" y="281300"/>
                    <a:pt x="369328" y="282272"/>
                    <a:pt x="371757" y="286158"/>
                  </a:cubicBezTo>
                  <a:cubicBezTo>
                    <a:pt x="373214" y="288587"/>
                    <a:pt x="373214" y="291502"/>
                    <a:pt x="371757" y="294903"/>
                  </a:cubicBezTo>
                  <a:lnTo>
                    <a:pt x="371757" y="294903"/>
                  </a:lnTo>
                  <a:close/>
                  <a:moveTo>
                    <a:pt x="380988" y="253121"/>
                  </a:moveTo>
                  <a:cubicBezTo>
                    <a:pt x="380988" y="256522"/>
                    <a:pt x="379530" y="258951"/>
                    <a:pt x="377101" y="260409"/>
                  </a:cubicBezTo>
                  <a:cubicBezTo>
                    <a:pt x="375643" y="261380"/>
                    <a:pt x="373700" y="261866"/>
                    <a:pt x="372242" y="261866"/>
                  </a:cubicBezTo>
                  <a:cubicBezTo>
                    <a:pt x="370785" y="261866"/>
                    <a:pt x="369328" y="261866"/>
                    <a:pt x="368842" y="261380"/>
                  </a:cubicBezTo>
                  <a:lnTo>
                    <a:pt x="347465" y="255065"/>
                  </a:lnTo>
                  <a:cubicBezTo>
                    <a:pt x="332404" y="250692"/>
                    <a:pt x="317829" y="246320"/>
                    <a:pt x="302768" y="241947"/>
                  </a:cubicBezTo>
                  <a:cubicBezTo>
                    <a:pt x="295480" y="240004"/>
                    <a:pt x="290136" y="234659"/>
                    <a:pt x="288678" y="227858"/>
                  </a:cubicBezTo>
                  <a:cubicBezTo>
                    <a:pt x="287221" y="221056"/>
                    <a:pt x="289650" y="213768"/>
                    <a:pt x="295480" y="208910"/>
                  </a:cubicBezTo>
                  <a:lnTo>
                    <a:pt x="346007" y="163727"/>
                  </a:lnTo>
                  <a:cubicBezTo>
                    <a:pt x="346007" y="163727"/>
                    <a:pt x="350380" y="159841"/>
                    <a:pt x="354752" y="160812"/>
                  </a:cubicBezTo>
                  <a:cubicBezTo>
                    <a:pt x="359125" y="161298"/>
                    <a:pt x="361068" y="165185"/>
                    <a:pt x="362040" y="166642"/>
                  </a:cubicBezTo>
                  <a:cubicBezTo>
                    <a:pt x="373214" y="186076"/>
                    <a:pt x="380016" y="206967"/>
                    <a:pt x="381473" y="228829"/>
                  </a:cubicBezTo>
                  <a:cubicBezTo>
                    <a:pt x="381473" y="234174"/>
                    <a:pt x="382445" y="238060"/>
                    <a:pt x="381959" y="241947"/>
                  </a:cubicBezTo>
                  <a:cubicBezTo>
                    <a:pt x="381959" y="246320"/>
                    <a:pt x="381959" y="249720"/>
                    <a:pt x="381473" y="25360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2" name="Google Shape;1932;p11"/>
            <p:cNvSpPr/>
            <p:nvPr/>
          </p:nvSpPr>
          <p:spPr>
            <a:xfrm>
              <a:off x="624431" y="1107698"/>
              <a:ext cx="682601" cy="664625"/>
            </a:xfrm>
            <a:custGeom>
              <a:avLst/>
              <a:gdLst/>
              <a:ahLst/>
              <a:cxnLst/>
              <a:rect l="l" t="t" r="r" b="b"/>
              <a:pathLst>
                <a:path w="682601" h="664625" extrusionOk="0">
                  <a:moveTo>
                    <a:pt x="614584" y="131662"/>
                  </a:moveTo>
                  <a:lnTo>
                    <a:pt x="341058" y="0"/>
                  </a:lnTo>
                  <a:lnTo>
                    <a:pt x="67531" y="131662"/>
                  </a:lnTo>
                  <a:lnTo>
                    <a:pt x="0" y="427537"/>
                  </a:lnTo>
                  <a:lnTo>
                    <a:pt x="189477" y="664626"/>
                  </a:lnTo>
                  <a:lnTo>
                    <a:pt x="493125" y="664626"/>
                  </a:lnTo>
                  <a:lnTo>
                    <a:pt x="682601" y="427537"/>
                  </a:lnTo>
                  <a:lnTo>
                    <a:pt x="615070" y="131662"/>
                  </a:lnTo>
                  <a:close/>
                  <a:moveTo>
                    <a:pt x="584462" y="407618"/>
                  </a:moveTo>
                  <a:cubicBezTo>
                    <a:pt x="579118" y="413933"/>
                    <a:pt x="571831" y="416848"/>
                    <a:pt x="563085" y="415877"/>
                  </a:cubicBezTo>
                  <a:cubicBezTo>
                    <a:pt x="557255" y="414905"/>
                    <a:pt x="551911" y="412962"/>
                    <a:pt x="547053" y="411018"/>
                  </a:cubicBezTo>
                  <a:cubicBezTo>
                    <a:pt x="544624" y="410047"/>
                    <a:pt x="542680" y="409075"/>
                    <a:pt x="540251" y="408103"/>
                  </a:cubicBezTo>
                  <a:cubicBezTo>
                    <a:pt x="533935" y="406160"/>
                    <a:pt x="529077" y="404217"/>
                    <a:pt x="523733" y="403245"/>
                  </a:cubicBezTo>
                  <a:cubicBezTo>
                    <a:pt x="519846" y="405188"/>
                    <a:pt x="516931" y="405674"/>
                    <a:pt x="514988" y="405674"/>
                  </a:cubicBezTo>
                  <a:cubicBezTo>
                    <a:pt x="508186" y="424136"/>
                    <a:pt x="498955" y="441626"/>
                    <a:pt x="486809" y="457173"/>
                  </a:cubicBezTo>
                  <a:cubicBezTo>
                    <a:pt x="473691" y="474177"/>
                    <a:pt x="458145" y="488267"/>
                    <a:pt x="440654" y="498955"/>
                  </a:cubicBezTo>
                  <a:cubicBezTo>
                    <a:pt x="441140" y="501870"/>
                    <a:pt x="440654" y="504299"/>
                    <a:pt x="440169" y="505757"/>
                  </a:cubicBezTo>
                  <a:cubicBezTo>
                    <a:pt x="440169" y="506728"/>
                    <a:pt x="439683" y="507700"/>
                    <a:pt x="441626" y="511101"/>
                  </a:cubicBezTo>
                  <a:cubicBezTo>
                    <a:pt x="445027" y="517903"/>
                    <a:pt x="449400" y="524704"/>
                    <a:pt x="454258" y="531992"/>
                  </a:cubicBezTo>
                  <a:cubicBezTo>
                    <a:pt x="457173" y="536364"/>
                    <a:pt x="460574" y="541223"/>
                    <a:pt x="462031" y="547539"/>
                  </a:cubicBezTo>
                  <a:cubicBezTo>
                    <a:pt x="464461" y="557255"/>
                    <a:pt x="460574" y="566972"/>
                    <a:pt x="452315" y="571831"/>
                  </a:cubicBezTo>
                  <a:cubicBezTo>
                    <a:pt x="444055" y="576689"/>
                    <a:pt x="433853" y="574746"/>
                    <a:pt x="426565" y="567458"/>
                  </a:cubicBezTo>
                  <a:cubicBezTo>
                    <a:pt x="421707" y="562114"/>
                    <a:pt x="419763" y="556284"/>
                    <a:pt x="417820" y="550454"/>
                  </a:cubicBezTo>
                  <a:cubicBezTo>
                    <a:pt x="415391" y="542680"/>
                    <a:pt x="412476" y="532964"/>
                    <a:pt x="408103" y="524218"/>
                  </a:cubicBezTo>
                  <a:cubicBezTo>
                    <a:pt x="407132" y="522275"/>
                    <a:pt x="406646" y="522275"/>
                    <a:pt x="406160" y="522275"/>
                  </a:cubicBezTo>
                  <a:cubicBezTo>
                    <a:pt x="402759" y="521303"/>
                    <a:pt x="400816" y="519846"/>
                    <a:pt x="399844" y="518388"/>
                  </a:cubicBezTo>
                  <a:cubicBezTo>
                    <a:pt x="360005" y="531506"/>
                    <a:pt x="320167" y="531506"/>
                    <a:pt x="280814" y="518388"/>
                  </a:cubicBezTo>
                  <a:cubicBezTo>
                    <a:pt x="278871" y="521303"/>
                    <a:pt x="275956" y="522275"/>
                    <a:pt x="274498" y="522761"/>
                  </a:cubicBezTo>
                  <a:cubicBezTo>
                    <a:pt x="274012" y="522761"/>
                    <a:pt x="273526" y="522761"/>
                    <a:pt x="272069" y="526162"/>
                  </a:cubicBezTo>
                  <a:cubicBezTo>
                    <a:pt x="268668" y="533449"/>
                    <a:pt x="265753" y="541709"/>
                    <a:pt x="263324" y="550454"/>
                  </a:cubicBezTo>
                  <a:cubicBezTo>
                    <a:pt x="261866" y="555312"/>
                    <a:pt x="259923" y="559685"/>
                    <a:pt x="257980" y="563571"/>
                  </a:cubicBezTo>
                  <a:cubicBezTo>
                    <a:pt x="253607" y="570859"/>
                    <a:pt x="246320" y="574746"/>
                    <a:pt x="239032" y="574746"/>
                  </a:cubicBezTo>
                  <a:cubicBezTo>
                    <a:pt x="236117" y="574746"/>
                    <a:pt x="233202" y="574260"/>
                    <a:pt x="230287" y="572802"/>
                  </a:cubicBezTo>
                  <a:cubicBezTo>
                    <a:pt x="220570" y="567944"/>
                    <a:pt x="216198" y="556284"/>
                    <a:pt x="220084" y="545595"/>
                  </a:cubicBezTo>
                  <a:cubicBezTo>
                    <a:pt x="222028" y="540251"/>
                    <a:pt x="224943" y="535879"/>
                    <a:pt x="227372" y="532478"/>
                  </a:cubicBezTo>
                  <a:cubicBezTo>
                    <a:pt x="233202" y="524218"/>
                    <a:pt x="237574" y="516931"/>
                    <a:pt x="240975" y="510129"/>
                  </a:cubicBezTo>
                  <a:cubicBezTo>
                    <a:pt x="241947" y="508186"/>
                    <a:pt x="241947" y="507700"/>
                    <a:pt x="241461" y="507214"/>
                  </a:cubicBezTo>
                  <a:cubicBezTo>
                    <a:pt x="240004" y="504299"/>
                    <a:pt x="240004" y="501384"/>
                    <a:pt x="240975" y="498955"/>
                  </a:cubicBezTo>
                  <a:cubicBezTo>
                    <a:pt x="205995" y="476121"/>
                    <a:pt x="181217" y="445027"/>
                    <a:pt x="166642" y="406160"/>
                  </a:cubicBezTo>
                  <a:cubicBezTo>
                    <a:pt x="163241" y="406160"/>
                    <a:pt x="160326" y="404703"/>
                    <a:pt x="157897" y="403245"/>
                  </a:cubicBezTo>
                  <a:cubicBezTo>
                    <a:pt x="157897" y="403245"/>
                    <a:pt x="156440" y="403245"/>
                    <a:pt x="155468" y="403731"/>
                  </a:cubicBezTo>
                  <a:cubicBezTo>
                    <a:pt x="147209" y="405674"/>
                    <a:pt x="139921" y="408103"/>
                    <a:pt x="131176" y="411990"/>
                  </a:cubicBezTo>
                  <a:cubicBezTo>
                    <a:pt x="125832" y="414419"/>
                    <a:pt x="120002" y="416363"/>
                    <a:pt x="113200" y="416363"/>
                  </a:cubicBezTo>
                  <a:cubicBezTo>
                    <a:pt x="102512" y="416363"/>
                    <a:pt x="93767" y="409561"/>
                    <a:pt x="91823" y="399844"/>
                  </a:cubicBezTo>
                  <a:cubicBezTo>
                    <a:pt x="89880" y="390127"/>
                    <a:pt x="95710" y="379925"/>
                    <a:pt x="104941" y="376038"/>
                  </a:cubicBezTo>
                  <a:cubicBezTo>
                    <a:pt x="109799" y="374095"/>
                    <a:pt x="114658" y="373123"/>
                    <a:pt x="120974" y="372637"/>
                  </a:cubicBezTo>
                  <a:cubicBezTo>
                    <a:pt x="129719" y="372637"/>
                    <a:pt x="138464" y="371180"/>
                    <a:pt x="146723" y="369236"/>
                  </a:cubicBezTo>
                  <a:cubicBezTo>
                    <a:pt x="149638" y="368751"/>
                    <a:pt x="150124" y="368265"/>
                    <a:pt x="150124" y="367779"/>
                  </a:cubicBezTo>
                  <a:cubicBezTo>
                    <a:pt x="151095" y="365836"/>
                    <a:pt x="152553" y="363892"/>
                    <a:pt x="155468" y="362435"/>
                  </a:cubicBezTo>
                  <a:cubicBezTo>
                    <a:pt x="151095" y="321138"/>
                    <a:pt x="159840" y="282271"/>
                    <a:pt x="181703" y="246320"/>
                  </a:cubicBezTo>
                  <a:cubicBezTo>
                    <a:pt x="180246" y="244376"/>
                    <a:pt x="179274" y="241947"/>
                    <a:pt x="179274" y="239518"/>
                  </a:cubicBezTo>
                  <a:cubicBezTo>
                    <a:pt x="179274" y="238546"/>
                    <a:pt x="179274" y="238060"/>
                    <a:pt x="175873" y="235631"/>
                  </a:cubicBezTo>
                  <a:cubicBezTo>
                    <a:pt x="170043" y="231259"/>
                    <a:pt x="163241" y="226886"/>
                    <a:pt x="155954" y="222999"/>
                  </a:cubicBezTo>
                  <a:cubicBezTo>
                    <a:pt x="151581" y="220570"/>
                    <a:pt x="146723" y="217655"/>
                    <a:pt x="142350" y="213283"/>
                  </a:cubicBezTo>
                  <a:cubicBezTo>
                    <a:pt x="134577" y="205509"/>
                    <a:pt x="133119" y="193363"/>
                    <a:pt x="139921" y="185104"/>
                  </a:cubicBezTo>
                  <a:cubicBezTo>
                    <a:pt x="146237" y="176359"/>
                    <a:pt x="158383" y="174416"/>
                    <a:pt x="168100" y="180246"/>
                  </a:cubicBezTo>
                  <a:cubicBezTo>
                    <a:pt x="173444" y="183161"/>
                    <a:pt x="177331" y="187533"/>
                    <a:pt x="181217" y="191906"/>
                  </a:cubicBezTo>
                  <a:cubicBezTo>
                    <a:pt x="187533" y="199193"/>
                    <a:pt x="193363" y="204538"/>
                    <a:pt x="199193" y="208910"/>
                  </a:cubicBezTo>
                  <a:cubicBezTo>
                    <a:pt x="199193" y="208910"/>
                    <a:pt x="200651" y="210368"/>
                    <a:pt x="201137" y="209882"/>
                  </a:cubicBezTo>
                  <a:cubicBezTo>
                    <a:pt x="204052" y="208910"/>
                    <a:pt x="206481" y="209882"/>
                    <a:pt x="208910" y="210853"/>
                  </a:cubicBezTo>
                  <a:cubicBezTo>
                    <a:pt x="239518" y="181217"/>
                    <a:pt x="274984" y="164213"/>
                    <a:pt x="316280" y="159355"/>
                  </a:cubicBezTo>
                  <a:cubicBezTo>
                    <a:pt x="316280" y="159355"/>
                    <a:pt x="316280" y="159355"/>
                    <a:pt x="316280" y="159355"/>
                  </a:cubicBezTo>
                  <a:cubicBezTo>
                    <a:pt x="316766" y="156925"/>
                    <a:pt x="318709" y="154010"/>
                    <a:pt x="320653" y="152067"/>
                  </a:cubicBezTo>
                  <a:cubicBezTo>
                    <a:pt x="320653" y="152067"/>
                    <a:pt x="320653" y="152067"/>
                    <a:pt x="320653" y="150610"/>
                  </a:cubicBezTo>
                  <a:cubicBezTo>
                    <a:pt x="320653" y="141379"/>
                    <a:pt x="319195" y="132148"/>
                    <a:pt x="317738" y="123889"/>
                  </a:cubicBezTo>
                  <a:cubicBezTo>
                    <a:pt x="316766" y="118058"/>
                    <a:pt x="316766" y="113200"/>
                    <a:pt x="317252" y="108828"/>
                  </a:cubicBezTo>
                  <a:cubicBezTo>
                    <a:pt x="318709" y="97167"/>
                    <a:pt x="327454" y="88908"/>
                    <a:pt x="339114" y="89394"/>
                  </a:cubicBezTo>
                  <a:cubicBezTo>
                    <a:pt x="348831" y="89394"/>
                    <a:pt x="357090" y="97653"/>
                    <a:pt x="358548" y="107370"/>
                  </a:cubicBezTo>
                  <a:lnTo>
                    <a:pt x="360977" y="107370"/>
                  </a:lnTo>
                  <a:lnTo>
                    <a:pt x="358062" y="122431"/>
                  </a:lnTo>
                  <a:cubicBezTo>
                    <a:pt x="357576" y="128261"/>
                    <a:pt x="356605" y="134091"/>
                    <a:pt x="355633" y="139921"/>
                  </a:cubicBezTo>
                  <a:cubicBezTo>
                    <a:pt x="355633" y="143322"/>
                    <a:pt x="355633" y="146723"/>
                    <a:pt x="355633" y="150124"/>
                  </a:cubicBezTo>
                  <a:lnTo>
                    <a:pt x="355633" y="152553"/>
                  </a:lnTo>
                  <a:cubicBezTo>
                    <a:pt x="355633" y="152553"/>
                    <a:pt x="359034" y="155954"/>
                    <a:pt x="360005" y="159840"/>
                  </a:cubicBezTo>
                  <a:cubicBezTo>
                    <a:pt x="374095" y="161784"/>
                    <a:pt x="385755" y="164213"/>
                    <a:pt x="396443" y="168100"/>
                  </a:cubicBezTo>
                  <a:cubicBezTo>
                    <a:pt x="423164" y="177331"/>
                    <a:pt x="446970" y="191906"/>
                    <a:pt x="467376" y="211339"/>
                  </a:cubicBezTo>
                  <a:cubicBezTo>
                    <a:pt x="469805" y="209882"/>
                    <a:pt x="472234" y="209396"/>
                    <a:pt x="475149" y="209882"/>
                  </a:cubicBezTo>
                  <a:cubicBezTo>
                    <a:pt x="475149" y="209882"/>
                    <a:pt x="476121" y="209882"/>
                    <a:pt x="478550" y="207938"/>
                  </a:cubicBezTo>
                  <a:cubicBezTo>
                    <a:pt x="484380" y="203080"/>
                    <a:pt x="490210" y="197250"/>
                    <a:pt x="496040" y="190934"/>
                  </a:cubicBezTo>
                  <a:cubicBezTo>
                    <a:pt x="499441" y="187047"/>
                    <a:pt x="503328" y="182675"/>
                    <a:pt x="508672" y="179760"/>
                  </a:cubicBezTo>
                  <a:cubicBezTo>
                    <a:pt x="514988" y="175873"/>
                    <a:pt x="522761" y="175387"/>
                    <a:pt x="529563" y="178302"/>
                  </a:cubicBezTo>
                  <a:cubicBezTo>
                    <a:pt x="535393" y="181217"/>
                    <a:pt x="539765" y="186562"/>
                    <a:pt x="541223" y="193363"/>
                  </a:cubicBezTo>
                  <a:cubicBezTo>
                    <a:pt x="542195" y="198707"/>
                    <a:pt x="541223" y="205995"/>
                    <a:pt x="533935" y="213768"/>
                  </a:cubicBezTo>
                  <a:cubicBezTo>
                    <a:pt x="530049" y="217655"/>
                    <a:pt x="525190" y="220570"/>
                    <a:pt x="520818" y="222513"/>
                  </a:cubicBezTo>
                  <a:cubicBezTo>
                    <a:pt x="512073" y="227372"/>
                    <a:pt x="505271" y="231744"/>
                    <a:pt x="499927" y="236603"/>
                  </a:cubicBezTo>
                  <a:cubicBezTo>
                    <a:pt x="498469" y="238060"/>
                    <a:pt x="498469" y="238546"/>
                    <a:pt x="498469" y="239032"/>
                  </a:cubicBezTo>
                  <a:cubicBezTo>
                    <a:pt x="498469" y="241947"/>
                    <a:pt x="497497" y="244376"/>
                    <a:pt x="495554" y="246320"/>
                  </a:cubicBezTo>
                  <a:cubicBezTo>
                    <a:pt x="512073" y="273526"/>
                    <a:pt x="521303" y="302677"/>
                    <a:pt x="523247" y="333770"/>
                  </a:cubicBezTo>
                  <a:cubicBezTo>
                    <a:pt x="523733" y="343001"/>
                    <a:pt x="523247" y="352232"/>
                    <a:pt x="522275" y="361949"/>
                  </a:cubicBezTo>
                  <a:cubicBezTo>
                    <a:pt x="525190" y="362921"/>
                    <a:pt x="526162" y="365350"/>
                    <a:pt x="527134" y="366321"/>
                  </a:cubicBezTo>
                  <a:cubicBezTo>
                    <a:pt x="528105" y="368265"/>
                    <a:pt x="529563" y="368751"/>
                    <a:pt x="534907" y="369236"/>
                  </a:cubicBezTo>
                  <a:cubicBezTo>
                    <a:pt x="541709" y="370208"/>
                    <a:pt x="546567" y="370694"/>
                    <a:pt x="551911" y="371180"/>
                  </a:cubicBezTo>
                  <a:cubicBezTo>
                    <a:pt x="556770" y="371666"/>
                    <a:pt x="561628" y="372151"/>
                    <a:pt x="566972" y="373123"/>
                  </a:cubicBezTo>
                  <a:cubicBezTo>
                    <a:pt x="575231" y="374095"/>
                    <a:pt x="581547" y="378953"/>
                    <a:pt x="584948" y="386241"/>
                  </a:cubicBezTo>
                  <a:lnTo>
                    <a:pt x="584948" y="386241"/>
                  </a:lnTo>
                  <a:cubicBezTo>
                    <a:pt x="588349" y="393528"/>
                    <a:pt x="587377" y="400816"/>
                    <a:pt x="582519" y="40713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3" name="Google Shape;1933;p11"/>
            <p:cNvSpPr/>
            <p:nvPr/>
          </p:nvSpPr>
          <p:spPr>
            <a:xfrm>
              <a:off x="1099094" y="1462359"/>
              <a:ext cx="7287" cy="485"/>
            </a:xfrm>
            <a:custGeom>
              <a:avLst/>
              <a:gdLst/>
              <a:ahLst/>
              <a:cxnLst/>
              <a:rect l="l" t="t" r="r" b="b"/>
              <a:pathLst>
                <a:path w="7287" h="485" extrusionOk="0">
                  <a:moveTo>
                    <a:pt x="0" y="0"/>
                  </a:moveTo>
                  <a:lnTo>
                    <a:pt x="7288" y="486"/>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4" name="Google Shape;1934;p11"/>
            <p:cNvSpPr/>
            <p:nvPr/>
          </p:nvSpPr>
          <p:spPr>
            <a:xfrm>
              <a:off x="952371" y="1440011"/>
              <a:ext cx="26235" cy="25749"/>
            </a:xfrm>
            <a:custGeom>
              <a:avLst/>
              <a:gdLst/>
              <a:ahLst/>
              <a:cxnLst/>
              <a:rect l="l" t="t" r="r" b="b"/>
              <a:pathLst>
                <a:path w="26235" h="25749" extrusionOk="0">
                  <a:moveTo>
                    <a:pt x="13118" y="25749"/>
                  </a:moveTo>
                  <a:lnTo>
                    <a:pt x="23806" y="20405"/>
                  </a:lnTo>
                  <a:lnTo>
                    <a:pt x="26235" y="9231"/>
                  </a:lnTo>
                  <a:lnTo>
                    <a:pt x="18948" y="0"/>
                  </a:lnTo>
                  <a:lnTo>
                    <a:pt x="7288" y="0"/>
                  </a:lnTo>
                  <a:lnTo>
                    <a:pt x="0" y="9231"/>
                  </a:lnTo>
                  <a:lnTo>
                    <a:pt x="2429" y="20405"/>
                  </a:lnTo>
                  <a:lnTo>
                    <a:pt x="13118" y="25749"/>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5" name="Google Shape;1935;p11"/>
            <p:cNvSpPr/>
            <p:nvPr/>
          </p:nvSpPr>
          <p:spPr>
            <a:xfrm>
              <a:off x="1035871" y="1388512"/>
              <a:ext cx="63708" cy="67045"/>
            </a:xfrm>
            <a:custGeom>
              <a:avLst/>
              <a:gdLst/>
              <a:ahLst/>
              <a:cxnLst/>
              <a:rect l="l" t="t" r="r" b="b"/>
              <a:pathLst>
                <a:path w="63708" h="67045" extrusionOk="0">
                  <a:moveTo>
                    <a:pt x="63709" y="63645"/>
                  </a:moveTo>
                  <a:cubicBezTo>
                    <a:pt x="63709" y="59758"/>
                    <a:pt x="63709" y="56357"/>
                    <a:pt x="63223" y="52956"/>
                  </a:cubicBezTo>
                  <a:cubicBezTo>
                    <a:pt x="61766" y="34009"/>
                    <a:pt x="56421" y="16518"/>
                    <a:pt x="48162" y="0"/>
                  </a:cubicBezTo>
                  <a:lnTo>
                    <a:pt x="2008" y="41296"/>
                  </a:lnTo>
                  <a:cubicBezTo>
                    <a:pt x="2008" y="41296"/>
                    <a:pt x="-422" y="44697"/>
                    <a:pt x="64" y="46155"/>
                  </a:cubicBezTo>
                  <a:cubicBezTo>
                    <a:pt x="64" y="47612"/>
                    <a:pt x="2008" y="49070"/>
                    <a:pt x="3951" y="49555"/>
                  </a:cubicBezTo>
                  <a:cubicBezTo>
                    <a:pt x="18526" y="53928"/>
                    <a:pt x="33587" y="58300"/>
                    <a:pt x="48162" y="62673"/>
                  </a:cubicBezTo>
                  <a:lnTo>
                    <a:pt x="63709" y="67046"/>
                  </a:lnTo>
                  <a:cubicBezTo>
                    <a:pt x="63709" y="67046"/>
                    <a:pt x="63709" y="64616"/>
                    <a:pt x="63709" y="63159"/>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1936" name="Google Shape;1936;p11"/>
          <p:cNvSpPr/>
          <p:nvPr/>
        </p:nvSpPr>
        <p:spPr>
          <a:xfrm>
            <a:off x="4885764" y="5090927"/>
            <a:ext cx="213014" cy="230733"/>
          </a:xfrm>
          <a:custGeom>
            <a:avLst/>
            <a:gdLst/>
            <a:ahLst/>
            <a:cxnLst/>
            <a:rect l="l" t="t" r="r" b="b"/>
            <a:pathLst>
              <a:path w="704178" h="762755" extrusionOk="0">
                <a:moveTo>
                  <a:pt x="695758" y="422001"/>
                </a:moveTo>
                <a:cubicBezTo>
                  <a:pt x="695758" y="422001"/>
                  <a:pt x="623865" y="338254"/>
                  <a:pt x="623919" y="309836"/>
                </a:cubicBezTo>
                <a:cubicBezTo>
                  <a:pt x="624245" y="133014"/>
                  <a:pt x="476006" y="-8055"/>
                  <a:pt x="296817" y="358"/>
                </a:cubicBezTo>
                <a:cubicBezTo>
                  <a:pt x="138315" y="7799"/>
                  <a:pt x="9353" y="134632"/>
                  <a:pt x="502" y="291986"/>
                </a:cubicBezTo>
                <a:cubicBezTo>
                  <a:pt x="-4982" y="389376"/>
                  <a:pt x="34874" y="477598"/>
                  <a:pt x="100957" y="537940"/>
                </a:cubicBezTo>
                <a:cubicBezTo>
                  <a:pt x="120342" y="555628"/>
                  <a:pt x="125989" y="584208"/>
                  <a:pt x="124034" y="607396"/>
                </a:cubicBezTo>
                <a:cubicBezTo>
                  <a:pt x="122079" y="630584"/>
                  <a:pt x="113880" y="762756"/>
                  <a:pt x="113880" y="762756"/>
                </a:cubicBezTo>
                <a:lnTo>
                  <a:pt x="208525" y="762756"/>
                </a:lnTo>
                <a:lnTo>
                  <a:pt x="208525" y="530661"/>
                </a:lnTo>
                <a:cubicBezTo>
                  <a:pt x="208525" y="521925"/>
                  <a:pt x="204289" y="513620"/>
                  <a:pt x="197230" y="508389"/>
                </a:cubicBezTo>
                <a:lnTo>
                  <a:pt x="113880" y="447076"/>
                </a:lnTo>
                <a:cubicBezTo>
                  <a:pt x="101608" y="438071"/>
                  <a:pt x="94278" y="423618"/>
                  <a:pt x="94278" y="408465"/>
                </a:cubicBezTo>
                <a:lnTo>
                  <a:pt x="94278" y="377297"/>
                </a:lnTo>
                <a:cubicBezTo>
                  <a:pt x="76413" y="372767"/>
                  <a:pt x="63164" y="356697"/>
                  <a:pt x="63164" y="337553"/>
                </a:cubicBezTo>
                <a:cubicBezTo>
                  <a:pt x="63164" y="314905"/>
                  <a:pt x="81680" y="296516"/>
                  <a:pt x="104486" y="296516"/>
                </a:cubicBezTo>
                <a:cubicBezTo>
                  <a:pt x="127292" y="296516"/>
                  <a:pt x="145808" y="314905"/>
                  <a:pt x="145808" y="337553"/>
                </a:cubicBezTo>
                <a:cubicBezTo>
                  <a:pt x="145808" y="356697"/>
                  <a:pt x="132559" y="372713"/>
                  <a:pt x="114695" y="377297"/>
                </a:cubicBezTo>
                <a:lnTo>
                  <a:pt x="114695" y="408465"/>
                </a:lnTo>
                <a:cubicBezTo>
                  <a:pt x="114695" y="417201"/>
                  <a:pt x="118930" y="425506"/>
                  <a:pt x="125989" y="430737"/>
                </a:cubicBezTo>
                <a:lnTo>
                  <a:pt x="209339" y="492050"/>
                </a:lnTo>
                <a:cubicBezTo>
                  <a:pt x="221611" y="501055"/>
                  <a:pt x="228942" y="515507"/>
                  <a:pt x="228942" y="530661"/>
                </a:cubicBezTo>
                <a:lnTo>
                  <a:pt x="228942" y="762756"/>
                </a:lnTo>
                <a:lnTo>
                  <a:pt x="248381" y="762756"/>
                </a:lnTo>
                <a:lnTo>
                  <a:pt x="248381" y="406039"/>
                </a:lnTo>
                <a:cubicBezTo>
                  <a:pt x="248381" y="397303"/>
                  <a:pt x="244146" y="388998"/>
                  <a:pt x="237087" y="383768"/>
                </a:cubicBezTo>
                <a:lnTo>
                  <a:pt x="210751" y="364408"/>
                </a:lnTo>
                <a:cubicBezTo>
                  <a:pt x="198479" y="355403"/>
                  <a:pt x="191203" y="340951"/>
                  <a:pt x="191203" y="325798"/>
                </a:cubicBezTo>
                <a:lnTo>
                  <a:pt x="191203" y="235688"/>
                </a:lnTo>
                <a:cubicBezTo>
                  <a:pt x="173339" y="231159"/>
                  <a:pt x="160089" y="215089"/>
                  <a:pt x="160089" y="195945"/>
                </a:cubicBezTo>
                <a:cubicBezTo>
                  <a:pt x="160089" y="173297"/>
                  <a:pt x="178606" y="154908"/>
                  <a:pt x="201412" y="154908"/>
                </a:cubicBezTo>
                <a:cubicBezTo>
                  <a:pt x="224218" y="154908"/>
                  <a:pt x="242734" y="173297"/>
                  <a:pt x="242734" y="195945"/>
                </a:cubicBezTo>
                <a:cubicBezTo>
                  <a:pt x="242734" y="215089"/>
                  <a:pt x="229485" y="231105"/>
                  <a:pt x="211620" y="235688"/>
                </a:cubicBezTo>
                <a:lnTo>
                  <a:pt x="211620" y="325798"/>
                </a:lnTo>
                <a:cubicBezTo>
                  <a:pt x="211620" y="334534"/>
                  <a:pt x="215855" y="342838"/>
                  <a:pt x="222914" y="348069"/>
                </a:cubicBezTo>
                <a:lnTo>
                  <a:pt x="249250" y="367428"/>
                </a:lnTo>
                <a:cubicBezTo>
                  <a:pt x="261522" y="376434"/>
                  <a:pt x="268798" y="390886"/>
                  <a:pt x="268798" y="406039"/>
                </a:cubicBezTo>
                <a:lnTo>
                  <a:pt x="268798" y="762756"/>
                </a:lnTo>
                <a:lnTo>
                  <a:pt x="288237" y="762756"/>
                </a:lnTo>
                <a:lnTo>
                  <a:pt x="288237" y="363222"/>
                </a:lnTo>
                <a:cubicBezTo>
                  <a:pt x="288237" y="349633"/>
                  <a:pt x="294102" y="336583"/>
                  <a:pt x="304256" y="327523"/>
                </a:cubicBezTo>
                <a:lnTo>
                  <a:pt x="318808" y="314527"/>
                </a:lnTo>
                <a:cubicBezTo>
                  <a:pt x="324672" y="309297"/>
                  <a:pt x="328039" y="301801"/>
                  <a:pt x="328039" y="293928"/>
                </a:cubicBezTo>
                <a:lnTo>
                  <a:pt x="328039" y="196107"/>
                </a:lnTo>
                <a:cubicBezTo>
                  <a:pt x="310174" y="191577"/>
                  <a:pt x="296925" y="175508"/>
                  <a:pt x="296925" y="156364"/>
                </a:cubicBezTo>
                <a:cubicBezTo>
                  <a:pt x="296925" y="133715"/>
                  <a:pt x="315441" y="115327"/>
                  <a:pt x="338247" y="115327"/>
                </a:cubicBezTo>
                <a:cubicBezTo>
                  <a:pt x="361053" y="115327"/>
                  <a:pt x="379570" y="133715"/>
                  <a:pt x="379570" y="156364"/>
                </a:cubicBezTo>
                <a:cubicBezTo>
                  <a:pt x="379570" y="175508"/>
                  <a:pt x="366320" y="191523"/>
                  <a:pt x="348456" y="196107"/>
                </a:cubicBezTo>
                <a:lnTo>
                  <a:pt x="348456" y="293928"/>
                </a:lnTo>
                <a:cubicBezTo>
                  <a:pt x="348456" y="307517"/>
                  <a:pt x="342591" y="320567"/>
                  <a:pt x="332437" y="329626"/>
                </a:cubicBezTo>
                <a:lnTo>
                  <a:pt x="317885" y="342622"/>
                </a:lnTo>
                <a:cubicBezTo>
                  <a:pt x="312021" y="347853"/>
                  <a:pt x="308654" y="355349"/>
                  <a:pt x="308654" y="363222"/>
                </a:cubicBezTo>
                <a:lnTo>
                  <a:pt x="308654" y="762756"/>
                </a:lnTo>
                <a:lnTo>
                  <a:pt x="328093" y="762756"/>
                </a:lnTo>
                <a:lnTo>
                  <a:pt x="328093" y="439527"/>
                </a:lnTo>
                <a:cubicBezTo>
                  <a:pt x="328093" y="425937"/>
                  <a:pt x="333958" y="412887"/>
                  <a:pt x="344112" y="403828"/>
                </a:cubicBezTo>
                <a:lnTo>
                  <a:pt x="404276" y="350064"/>
                </a:lnTo>
                <a:cubicBezTo>
                  <a:pt x="410140" y="344833"/>
                  <a:pt x="413507" y="337338"/>
                  <a:pt x="413507" y="329465"/>
                </a:cubicBezTo>
                <a:lnTo>
                  <a:pt x="413507" y="269661"/>
                </a:lnTo>
                <a:cubicBezTo>
                  <a:pt x="395642" y="265132"/>
                  <a:pt x="382393" y="249062"/>
                  <a:pt x="382393" y="229918"/>
                </a:cubicBezTo>
                <a:cubicBezTo>
                  <a:pt x="382393" y="207270"/>
                  <a:pt x="400909" y="188881"/>
                  <a:pt x="423715" y="188881"/>
                </a:cubicBezTo>
                <a:cubicBezTo>
                  <a:pt x="446521" y="188881"/>
                  <a:pt x="465038" y="207270"/>
                  <a:pt x="465038" y="229918"/>
                </a:cubicBezTo>
                <a:cubicBezTo>
                  <a:pt x="465038" y="249062"/>
                  <a:pt x="451789" y="265078"/>
                  <a:pt x="433924" y="269661"/>
                </a:cubicBezTo>
                <a:lnTo>
                  <a:pt x="433924" y="329465"/>
                </a:lnTo>
                <a:cubicBezTo>
                  <a:pt x="433924" y="343054"/>
                  <a:pt x="428059" y="356104"/>
                  <a:pt x="417905" y="365163"/>
                </a:cubicBezTo>
                <a:lnTo>
                  <a:pt x="357741" y="418873"/>
                </a:lnTo>
                <a:cubicBezTo>
                  <a:pt x="351877" y="424104"/>
                  <a:pt x="348510" y="431599"/>
                  <a:pt x="348510" y="439473"/>
                </a:cubicBezTo>
                <a:lnTo>
                  <a:pt x="348510" y="762702"/>
                </a:lnTo>
                <a:lnTo>
                  <a:pt x="367949" y="762702"/>
                </a:lnTo>
                <a:lnTo>
                  <a:pt x="367949" y="528396"/>
                </a:lnTo>
                <a:cubicBezTo>
                  <a:pt x="367949" y="514806"/>
                  <a:pt x="373814" y="501756"/>
                  <a:pt x="383968" y="492697"/>
                </a:cubicBezTo>
                <a:lnTo>
                  <a:pt x="489744" y="398220"/>
                </a:lnTo>
                <a:cubicBezTo>
                  <a:pt x="495609" y="392989"/>
                  <a:pt x="498975" y="385493"/>
                  <a:pt x="498975" y="377620"/>
                </a:cubicBezTo>
                <a:lnTo>
                  <a:pt x="498975" y="354648"/>
                </a:lnTo>
                <a:cubicBezTo>
                  <a:pt x="481110" y="350118"/>
                  <a:pt x="467861" y="334048"/>
                  <a:pt x="467861" y="314905"/>
                </a:cubicBezTo>
                <a:cubicBezTo>
                  <a:pt x="467861" y="292256"/>
                  <a:pt x="486378" y="273868"/>
                  <a:pt x="509184" y="273868"/>
                </a:cubicBezTo>
                <a:cubicBezTo>
                  <a:pt x="531990" y="273868"/>
                  <a:pt x="550506" y="292256"/>
                  <a:pt x="550506" y="314905"/>
                </a:cubicBezTo>
                <a:cubicBezTo>
                  <a:pt x="550506" y="334048"/>
                  <a:pt x="537257" y="350064"/>
                  <a:pt x="519392" y="354648"/>
                </a:cubicBezTo>
                <a:lnTo>
                  <a:pt x="519392" y="377620"/>
                </a:lnTo>
                <a:cubicBezTo>
                  <a:pt x="519392" y="391209"/>
                  <a:pt x="513528" y="404259"/>
                  <a:pt x="503373" y="413319"/>
                </a:cubicBezTo>
                <a:lnTo>
                  <a:pt x="397597" y="507796"/>
                </a:lnTo>
                <a:cubicBezTo>
                  <a:pt x="391733" y="513027"/>
                  <a:pt x="388366" y="520523"/>
                  <a:pt x="388366" y="528396"/>
                </a:cubicBezTo>
                <a:lnTo>
                  <a:pt x="388366" y="762702"/>
                </a:lnTo>
                <a:lnTo>
                  <a:pt x="473291" y="762702"/>
                </a:lnTo>
                <a:cubicBezTo>
                  <a:pt x="473291" y="762702"/>
                  <a:pt x="468404" y="682946"/>
                  <a:pt x="473889" y="662886"/>
                </a:cubicBezTo>
                <a:cubicBezTo>
                  <a:pt x="483663" y="627079"/>
                  <a:pt x="557673" y="637972"/>
                  <a:pt x="596281" y="633874"/>
                </a:cubicBezTo>
                <a:cubicBezTo>
                  <a:pt x="625331" y="630746"/>
                  <a:pt x="638092" y="614569"/>
                  <a:pt x="638092" y="589655"/>
                </a:cubicBezTo>
                <a:cubicBezTo>
                  <a:pt x="638092" y="567168"/>
                  <a:pt x="636517" y="478407"/>
                  <a:pt x="638092" y="473877"/>
                </a:cubicBezTo>
                <a:cubicBezTo>
                  <a:pt x="642164" y="462283"/>
                  <a:pt x="651775" y="462984"/>
                  <a:pt x="681966" y="457484"/>
                </a:cubicBezTo>
                <a:cubicBezTo>
                  <a:pt x="708681" y="452630"/>
                  <a:pt x="708844" y="439742"/>
                  <a:pt x="695378" y="42194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1937" name="Google Shape;1937;p11"/>
          <p:cNvGrpSpPr/>
          <p:nvPr/>
        </p:nvGrpSpPr>
        <p:grpSpPr>
          <a:xfrm>
            <a:off x="4754548" y="3170983"/>
            <a:ext cx="441900" cy="441900"/>
            <a:chOff x="4754548" y="4999783"/>
            <a:chExt cx="441900" cy="441900"/>
          </a:xfrm>
        </p:grpSpPr>
        <p:sp>
          <p:nvSpPr>
            <p:cNvPr id="1938" name="Google Shape;1938;p11"/>
            <p:cNvSpPr/>
            <p:nvPr/>
          </p:nvSpPr>
          <p:spPr>
            <a:xfrm>
              <a:off x="4754548" y="4999783"/>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39" name="Google Shape;1939;p11"/>
            <p:cNvPicPr preferRelativeResize="0"/>
            <p:nvPr/>
          </p:nvPicPr>
          <p:blipFill rotWithShape="1">
            <a:blip r:embed="rId3">
              <a:alphaModFix/>
            </a:blip>
            <a:srcRect/>
            <a:stretch/>
          </p:blipFill>
          <p:spPr>
            <a:xfrm>
              <a:off x="4839877" y="5091575"/>
              <a:ext cx="269740" cy="269718"/>
            </a:xfrm>
            <a:prstGeom prst="rect">
              <a:avLst/>
            </a:prstGeom>
            <a:noFill/>
            <a:ln>
              <a:noFill/>
            </a:ln>
          </p:spPr>
        </p:pic>
      </p:grpSp>
      <p:sp>
        <p:nvSpPr>
          <p:cNvPr id="1940" name="Google Shape;1940;p11"/>
          <p:cNvSpPr/>
          <p:nvPr/>
        </p:nvSpPr>
        <p:spPr>
          <a:xfrm>
            <a:off x="8408015" y="2992365"/>
            <a:ext cx="3052500" cy="2627100"/>
          </a:xfrm>
          <a:prstGeom prst="roundRect">
            <a:avLst>
              <a:gd name="adj" fmla="val 3181"/>
            </a:avLst>
          </a:prstGeom>
          <a:gradFill>
            <a:gsLst>
              <a:gs pos="0">
                <a:srgbClr val="027B8C">
                  <a:alpha val="12549"/>
                </a:srgbClr>
              </a:gs>
              <a:gs pos="100000">
                <a:srgbClr val="027B8C">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41" name="Google Shape;1941;p11"/>
          <p:cNvSpPr/>
          <p:nvPr/>
        </p:nvSpPr>
        <p:spPr>
          <a:xfrm>
            <a:off x="8415877" y="992137"/>
            <a:ext cx="3052500" cy="198690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42" name="Google Shape;1942;p11"/>
          <p:cNvSpPr txBox="1"/>
          <p:nvPr/>
        </p:nvSpPr>
        <p:spPr>
          <a:xfrm>
            <a:off x="8828744" y="2316987"/>
            <a:ext cx="2225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Security </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43" name="Google Shape;1943;p11"/>
          <p:cNvSpPr txBox="1"/>
          <p:nvPr/>
        </p:nvSpPr>
        <p:spPr>
          <a:xfrm>
            <a:off x="9085150" y="3931500"/>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Bolster lateral security and intrusions prevention/ detection</a:t>
            </a:r>
            <a:endParaRPr sz="1300" b="0" i="0" u="none" strike="noStrike" cap="none">
              <a:solidFill>
                <a:schemeClr val="dk2"/>
              </a:solidFill>
              <a:latin typeface="Arial"/>
              <a:ea typeface="Arial"/>
              <a:cs typeface="Arial"/>
              <a:sym typeface="Arial"/>
            </a:endParaRPr>
          </a:p>
        </p:txBody>
      </p:sp>
      <p:sp>
        <p:nvSpPr>
          <p:cNvPr id="1944" name="Google Shape;1944;p11"/>
          <p:cNvSpPr txBox="1"/>
          <p:nvPr/>
        </p:nvSpPr>
        <p:spPr>
          <a:xfrm>
            <a:off x="9085150" y="4904625"/>
            <a:ext cx="20154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Accelerate recovery from ransomware and other disasters</a:t>
            </a:r>
            <a:endParaRPr sz="1300" b="0" i="0" u="none" strike="noStrike" cap="none">
              <a:solidFill>
                <a:schemeClr val="dk2"/>
              </a:solidFill>
              <a:latin typeface="Arial"/>
              <a:ea typeface="Arial"/>
              <a:cs typeface="Arial"/>
              <a:sym typeface="Arial"/>
            </a:endParaRPr>
          </a:p>
        </p:txBody>
      </p:sp>
      <p:sp>
        <p:nvSpPr>
          <p:cNvPr id="1945" name="Google Shape;1945;p11"/>
          <p:cNvSpPr txBox="1"/>
          <p:nvPr/>
        </p:nvSpPr>
        <p:spPr>
          <a:xfrm>
            <a:off x="9032050" y="3164625"/>
            <a:ext cx="23133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Strengthen compliance and harden infrastructure</a:t>
            </a:r>
            <a:endParaRPr sz="1300" b="0" i="0" u="none" strike="noStrike" cap="none">
              <a:solidFill>
                <a:schemeClr val="dk2"/>
              </a:solidFill>
              <a:latin typeface="Arial"/>
              <a:ea typeface="Arial"/>
              <a:cs typeface="Arial"/>
              <a:sym typeface="Arial"/>
            </a:endParaRPr>
          </a:p>
        </p:txBody>
      </p:sp>
      <p:cxnSp>
        <p:nvCxnSpPr>
          <p:cNvPr id="1946" name="Google Shape;1946;p11"/>
          <p:cNvCxnSpPr/>
          <p:nvPr/>
        </p:nvCxnSpPr>
        <p:spPr>
          <a:xfrm rot="10800000" flipH="1">
            <a:off x="8408015" y="3861209"/>
            <a:ext cx="3050700" cy="5700"/>
          </a:xfrm>
          <a:prstGeom prst="straightConnector1">
            <a:avLst/>
          </a:prstGeom>
          <a:noFill/>
          <a:ln w="9525" cap="flat" cmpd="sng">
            <a:solidFill>
              <a:srgbClr val="62A60C"/>
            </a:solidFill>
            <a:prstDash val="solid"/>
            <a:round/>
            <a:headEnd type="none" w="sm" len="sm"/>
            <a:tailEnd type="none" w="sm" len="sm"/>
          </a:ln>
        </p:spPr>
      </p:cxnSp>
      <p:cxnSp>
        <p:nvCxnSpPr>
          <p:cNvPr id="1947" name="Google Shape;1947;p11"/>
          <p:cNvCxnSpPr/>
          <p:nvPr/>
        </p:nvCxnSpPr>
        <p:spPr>
          <a:xfrm rot="10800000" flipH="1">
            <a:off x="8408016" y="4740459"/>
            <a:ext cx="3054000" cy="5700"/>
          </a:xfrm>
          <a:prstGeom prst="straightConnector1">
            <a:avLst/>
          </a:prstGeom>
          <a:noFill/>
          <a:ln w="9525" cap="flat" cmpd="sng">
            <a:solidFill>
              <a:srgbClr val="62A60C"/>
            </a:solidFill>
            <a:prstDash val="solid"/>
            <a:round/>
            <a:headEnd type="none" w="sm" len="sm"/>
            <a:tailEnd type="none" w="sm" len="sm"/>
          </a:ln>
        </p:spPr>
      </p:cxnSp>
      <p:grpSp>
        <p:nvGrpSpPr>
          <p:cNvPr id="1948" name="Google Shape;1948;p11"/>
          <p:cNvGrpSpPr/>
          <p:nvPr/>
        </p:nvGrpSpPr>
        <p:grpSpPr>
          <a:xfrm>
            <a:off x="8610485" y="4915505"/>
            <a:ext cx="441900" cy="441900"/>
            <a:chOff x="8610485" y="4077305"/>
            <a:chExt cx="441900" cy="441900"/>
          </a:xfrm>
        </p:grpSpPr>
        <p:sp>
          <p:nvSpPr>
            <p:cNvPr id="1949" name="Google Shape;1949;p11"/>
            <p:cNvSpPr/>
            <p:nvPr/>
          </p:nvSpPr>
          <p:spPr>
            <a:xfrm>
              <a:off x="8610485" y="4077305"/>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0" name="Google Shape;1950;p11"/>
            <p:cNvPicPr preferRelativeResize="0"/>
            <p:nvPr/>
          </p:nvPicPr>
          <p:blipFill rotWithShape="1">
            <a:blip r:embed="rId4">
              <a:alphaModFix/>
            </a:blip>
            <a:srcRect/>
            <a:stretch/>
          </p:blipFill>
          <p:spPr>
            <a:xfrm>
              <a:off x="8681148" y="4155380"/>
              <a:ext cx="300726" cy="300726"/>
            </a:xfrm>
            <a:prstGeom prst="rect">
              <a:avLst/>
            </a:prstGeom>
            <a:noFill/>
            <a:ln>
              <a:noFill/>
            </a:ln>
          </p:spPr>
        </p:pic>
      </p:grpSp>
      <p:grpSp>
        <p:nvGrpSpPr>
          <p:cNvPr id="1951" name="Google Shape;1951;p11"/>
          <p:cNvGrpSpPr/>
          <p:nvPr/>
        </p:nvGrpSpPr>
        <p:grpSpPr>
          <a:xfrm>
            <a:off x="8564360" y="3262483"/>
            <a:ext cx="441900" cy="441900"/>
            <a:chOff x="8610485" y="4999783"/>
            <a:chExt cx="441900" cy="441900"/>
          </a:xfrm>
        </p:grpSpPr>
        <p:sp>
          <p:nvSpPr>
            <p:cNvPr id="1952" name="Google Shape;1952;p11"/>
            <p:cNvSpPr/>
            <p:nvPr/>
          </p:nvSpPr>
          <p:spPr>
            <a:xfrm>
              <a:off x="8610485" y="4999783"/>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3" name="Google Shape;1953;p11"/>
            <p:cNvPicPr preferRelativeResize="0"/>
            <p:nvPr/>
          </p:nvPicPr>
          <p:blipFill rotWithShape="1">
            <a:blip r:embed="rId5">
              <a:alphaModFix/>
            </a:blip>
            <a:srcRect/>
            <a:stretch/>
          </p:blipFill>
          <p:spPr>
            <a:xfrm>
              <a:off x="8714229" y="5112749"/>
              <a:ext cx="248574" cy="248574"/>
            </a:xfrm>
            <a:prstGeom prst="rect">
              <a:avLst/>
            </a:prstGeom>
            <a:noFill/>
            <a:ln>
              <a:noFill/>
            </a:ln>
          </p:spPr>
        </p:pic>
      </p:grpSp>
      <p:sp>
        <p:nvSpPr>
          <p:cNvPr id="1954" name="Google Shape;1954;p11"/>
          <p:cNvSpPr/>
          <p:nvPr/>
        </p:nvSpPr>
        <p:spPr>
          <a:xfrm>
            <a:off x="8610485" y="4105547"/>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5" name="Google Shape;1955;p11"/>
          <p:cNvPicPr preferRelativeResize="0"/>
          <p:nvPr/>
        </p:nvPicPr>
        <p:blipFill rotWithShape="1">
          <a:blip r:embed="rId6">
            <a:alphaModFix/>
          </a:blip>
          <a:srcRect/>
          <a:stretch/>
        </p:blipFill>
        <p:spPr>
          <a:xfrm>
            <a:off x="8696566" y="4191628"/>
            <a:ext cx="269739" cy="269739"/>
          </a:xfrm>
          <a:prstGeom prst="rect">
            <a:avLst/>
          </a:prstGeom>
          <a:noFill/>
          <a:ln>
            <a:noFill/>
          </a:ln>
        </p:spPr>
      </p:pic>
      <p:sp>
        <p:nvSpPr>
          <p:cNvPr id="1956" name="Google Shape;1956;p11"/>
          <p:cNvSpPr/>
          <p:nvPr/>
        </p:nvSpPr>
        <p:spPr>
          <a:xfrm>
            <a:off x="693360" y="2992365"/>
            <a:ext cx="3111900" cy="2627100"/>
          </a:xfrm>
          <a:prstGeom prst="roundRect">
            <a:avLst>
              <a:gd name="adj" fmla="val 2522"/>
            </a:avLst>
          </a:prstGeom>
          <a:gradFill>
            <a:gsLst>
              <a:gs pos="0">
                <a:srgbClr val="6C4B93">
                  <a:alpha val="12941"/>
                </a:srgbClr>
              </a:gs>
              <a:gs pos="100000">
                <a:srgbClr val="6C4B93">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57" name="Google Shape;1957;p11"/>
          <p:cNvSpPr/>
          <p:nvPr/>
        </p:nvSpPr>
        <p:spPr>
          <a:xfrm>
            <a:off x="693360" y="992137"/>
            <a:ext cx="3111900" cy="198690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58" name="Google Shape;1958;p11"/>
          <p:cNvSpPr txBox="1"/>
          <p:nvPr/>
        </p:nvSpPr>
        <p:spPr>
          <a:xfrm>
            <a:off x="1088357" y="2345048"/>
            <a:ext cx="2420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Infrastructure Modernization</a:t>
            </a:r>
            <a:endParaRPr sz="2000" b="1" i="0" u="none" strike="noStrike" cap="none">
              <a:solidFill>
                <a:schemeClr val="lt1"/>
              </a:solidFill>
              <a:latin typeface="Arial"/>
              <a:ea typeface="Arial"/>
              <a:cs typeface="Arial"/>
              <a:sym typeface="Arial"/>
            </a:endParaRPr>
          </a:p>
        </p:txBody>
      </p:sp>
      <p:sp>
        <p:nvSpPr>
          <p:cNvPr id="1959" name="Google Shape;1959;p11"/>
          <p:cNvSpPr txBox="1"/>
          <p:nvPr/>
        </p:nvSpPr>
        <p:spPr>
          <a:xfrm>
            <a:off x="1361610" y="3064317"/>
            <a:ext cx="2348100" cy="723300"/>
          </a:xfrm>
          <a:prstGeom prst="rect">
            <a:avLst/>
          </a:prstGeom>
          <a:noFill/>
          <a:ln>
            <a:noFill/>
          </a:ln>
        </p:spPr>
        <p:txBody>
          <a:bodyPr spcFirstLastPara="1" wrap="square" lIns="121800" tIns="60900" rIns="121800" bIns="609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and deploy private cloud infrastructure on-premises</a:t>
            </a:r>
            <a:endParaRPr sz="1900" b="0" i="0" u="none" strike="noStrike" cap="none">
              <a:solidFill>
                <a:schemeClr val="dk2"/>
              </a:solidFill>
              <a:latin typeface="Arial"/>
              <a:ea typeface="Arial"/>
              <a:cs typeface="Arial"/>
              <a:sym typeface="Arial"/>
            </a:endParaRPr>
          </a:p>
        </p:txBody>
      </p:sp>
      <p:sp>
        <p:nvSpPr>
          <p:cNvPr id="1960" name="Google Shape;1960;p11"/>
          <p:cNvSpPr/>
          <p:nvPr/>
        </p:nvSpPr>
        <p:spPr>
          <a:xfrm>
            <a:off x="905135" y="3191110"/>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1" name="Google Shape;1961;p11"/>
          <p:cNvSpPr txBox="1"/>
          <p:nvPr/>
        </p:nvSpPr>
        <p:spPr>
          <a:xfrm>
            <a:off x="1361596" y="4055660"/>
            <a:ext cx="21471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Optimize infrastructure and operations </a:t>
            </a:r>
            <a:endParaRPr sz="1300" b="0" i="0" u="none" strike="noStrike" cap="none">
              <a:solidFill>
                <a:schemeClr val="dk2"/>
              </a:solidFill>
              <a:latin typeface="Arial"/>
              <a:ea typeface="Arial"/>
              <a:cs typeface="Arial"/>
              <a:sym typeface="Arial"/>
            </a:endParaRPr>
          </a:p>
        </p:txBody>
      </p:sp>
      <p:sp>
        <p:nvSpPr>
          <p:cNvPr id="1962" name="Google Shape;1962;p11"/>
          <p:cNvSpPr txBox="1"/>
          <p:nvPr/>
        </p:nvSpPr>
        <p:spPr>
          <a:xfrm>
            <a:off x="1355873" y="5002350"/>
            <a:ext cx="21471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Extend data center to the Edge, public and sovereign clouds</a:t>
            </a:r>
            <a:endParaRPr sz="1300" b="0" i="0" u="none" strike="noStrike" cap="none">
              <a:solidFill>
                <a:schemeClr val="dk2"/>
              </a:solidFill>
              <a:latin typeface="Arial"/>
              <a:ea typeface="Arial"/>
              <a:cs typeface="Arial"/>
              <a:sym typeface="Arial"/>
            </a:endParaRPr>
          </a:p>
        </p:txBody>
      </p:sp>
      <p:sp>
        <p:nvSpPr>
          <p:cNvPr id="1963" name="Google Shape;1963;p11"/>
          <p:cNvSpPr/>
          <p:nvPr/>
        </p:nvSpPr>
        <p:spPr>
          <a:xfrm>
            <a:off x="902300" y="40761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4" name="Google Shape;1964;p11"/>
          <p:cNvSpPr/>
          <p:nvPr/>
        </p:nvSpPr>
        <p:spPr>
          <a:xfrm>
            <a:off x="895124" y="49997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965" name="Google Shape;1965;p11"/>
          <p:cNvPicPr preferRelativeResize="0"/>
          <p:nvPr/>
        </p:nvPicPr>
        <p:blipFill rotWithShape="1">
          <a:blip r:embed="rId7">
            <a:alphaModFix/>
          </a:blip>
          <a:srcRect/>
          <a:stretch/>
        </p:blipFill>
        <p:spPr>
          <a:xfrm>
            <a:off x="1006393" y="4167076"/>
            <a:ext cx="244095" cy="244092"/>
          </a:xfrm>
          <a:prstGeom prst="rect">
            <a:avLst/>
          </a:prstGeom>
          <a:noFill/>
          <a:ln>
            <a:noFill/>
          </a:ln>
        </p:spPr>
      </p:pic>
      <p:pic>
        <p:nvPicPr>
          <p:cNvPr id="1966" name="Google Shape;1966;p11"/>
          <p:cNvPicPr preferRelativeResize="0"/>
          <p:nvPr/>
        </p:nvPicPr>
        <p:blipFill rotWithShape="1">
          <a:blip r:embed="rId8">
            <a:alphaModFix/>
          </a:blip>
          <a:srcRect/>
          <a:stretch/>
        </p:blipFill>
        <p:spPr>
          <a:xfrm>
            <a:off x="995425" y="5119934"/>
            <a:ext cx="226918" cy="226918"/>
          </a:xfrm>
          <a:prstGeom prst="rect">
            <a:avLst/>
          </a:prstGeom>
          <a:noFill/>
          <a:ln>
            <a:noFill/>
          </a:ln>
        </p:spPr>
      </p:pic>
      <p:pic>
        <p:nvPicPr>
          <p:cNvPr id="1967" name="Google Shape;1967;p11"/>
          <p:cNvPicPr preferRelativeResize="0"/>
          <p:nvPr/>
        </p:nvPicPr>
        <p:blipFill rotWithShape="1">
          <a:blip r:embed="rId9">
            <a:alphaModFix/>
          </a:blip>
          <a:srcRect/>
          <a:stretch/>
        </p:blipFill>
        <p:spPr>
          <a:xfrm>
            <a:off x="999206" y="3255499"/>
            <a:ext cx="275410" cy="275410"/>
          </a:xfrm>
          <a:prstGeom prst="rect">
            <a:avLst/>
          </a:prstGeom>
          <a:noFill/>
          <a:ln>
            <a:noFill/>
          </a:ln>
        </p:spPr>
      </p:pic>
      <p:cxnSp>
        <p:nvCxnSpPr>
          <p:cNvPr id="1968" name="Google Shape;1968;p11"/>
          <p:cNvCxnSpPr/>
          <p:nvPr/>
        </p:nvCxnSpPr>
        <p:spPr>
          <a:xfrm rot="10800000" flipH="1">
            <a:off x="699262" y="3872649"/>
            <a:ext cx="3105900" cy="2100"/>
          </a:xfrm>
          <a:prstGeom prst="straightConnector1">
            <a:avLst/>
          </a:prstGeom>
          <a:noFill/>
          <a:ln w="9525" cap="flat" cmpd="sng">
            <a:solidFill>
              <a:srgbClr val="7030A0"/>
            </a:solidFill>
            <a:prstDash val="solid"/>
            <a:round/>
            <a:headEnd type="none" w="sm" len="sm"/>
            <a:tailEnd type="none" w="sm" len="sm"/>
          </a:ln>
        </p:spPr>
      </p:cxnSp>
      <p:cxnSp>
        <p:nvCxnSpPr>
          <p:cNvPr id="1969" name="Google Shape;1969;p11"/>
          <p:cNvCxnSpPr/>
          <p:nvPr/>
        </p:nvCxnSpPr>
        <p:spPr>
          <a:xfrm rot="10800000" flipH="1">
            <a:off x="699262" y="4782210"/>
            <a:ext cx="3105900" cy="2100"/>
          </a:xfrm>
          <a:prstGeom prst="straightConnector1">
            <a:avLst/>
          </a:prstGeom>
          <a:noFill/>
          <a:ln w="9525" cap="flat" cmpd="sng">
            <a:solidFill>
              <a:srgbClr val="7030A0"/>
            </a:solidFill>
            <a:prstDash val="solid"/>
            <a:round/>
            <a:headEnd type="none" w="sm" len="sm"/>
            <a:tailEnd type="none" w="sm" len="sm"/>
          </a:ln>
        </p:spPr>
      </p:cxnSp>
      <p:pic>
        <p:nvPicPr>
          <p:cNvPr id="1970" name="Google Shape;1970;p11" descr="A cloud and rain falling from a fence&#10;&#10;AI-generated content may be incorrect."/>
          <p:cNvPicPr preferRelativeResize="0"/>
          <p:nvPr/>
        </p:nvPicPr>
        <p:blipFill rotWithShape="1">
          <a:blip r:embed="rId10">
            <a:alphaModFix/>
          </a:blip>
          <a:srcRect/>
          <a:stretch/>
        </p:blipFill>
        <p:spPr>
          <a:xfrm>
            <a:off x="1652234" y="1251908"/>
            <a:ext cx="1296667" cy="964189"/>
          </a:xfrm>
          <a:prstGeom prst="rect">
            <a:avLst/>
          </a:prstGeom>
          <a:noFill/>
          <a:ln>
            <a:noFill/>
          </a:ln>
        </p:spPr>
      </p:pic>
      <p:pic>
        <p:nvPicPr>
          <p:cNvPr id="1971" name="Google Shape;1971;p11" descr="A computer screen with a brain and speedometer&#10;&#10;AI-generated content may be incorrect."/>
          <p:cNvPicPr preferRelativeResize="0"/>
          <p:nvPr/>
        </p:nvPicPr>
        <p:blipFill rotWithShape="1">
          <a:blip r:embed="rId11">
            <a:alphaModFix/>
          </a:blip>
          <a:srcRect/>
          <a:stretch/>
        </p:blipFill>
        <p:spPr>
          <a:xfrm>
            <a:off x="5388441" y="1072346"/>
            <a:ext cx="1574298" cy="1253425"/>
          </a:xfrm>
          <a:prstGeom prst="rect">
            <a:avLst/>
          </a:prstGeom>
          <a:noFill/>
          <a:ln>
            <a:noFill/>
          </a:ln>
        </p:spPr>
      </p:pic>
      <p:pic>
        <p:nvPicPr>
          <p:cNvPr id="1972" name="Google Shape;1972;p11" descr="A logo of a shield with a lightning bolt&#10;&#10;AI-generated content may be incorrect."/>
          <p:cNvPicPr preferRelativeResize="0"/>
          <p:nvPr/>
        </p:nvPicPr>
        <p:blipFill rotWithShape="1">
          <a:blip r:embed="rId12">
            <a:alphaModFix/>
          </a:blip>
          <a:srcRect/>
          <a:stretch/>
        </p:blipFill>
        <p:spPr>
          <a:xfrm>
            <a:off x="8916158" y="1373815"/>
            <a:ext cx="1866589" cy="72095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8" name="Rectangle 7">
            <a:extLst>
              <a:ext uri="{FF2B5EF4-FFF2-40B4-BE49-F238E27FC236}">
                <a16:creationId xmlns:a16="http://schemas.microsoft.com/office/drawing/2014/main" id="{A571F356-FF9A-4103-8018-00082547BAF8}"/>
              </a:ext>
            </a:extLst>
          </p:cNvPr>
          <p:cNvSpPr/>
          <p:nvPr/>
        </p:nvSpPr>
        <p:spPr>
          <a:xfrm>
            <a:off x="804462" y="1756084"/>
            <a:ext cx="3364116" cy="1199504"/>
          </a:xfrm>
          <a:prstGeom prst="rect">
            <a:avLst/>
          </a:prstGeom>
          <a:solidFill>
            <a:srgbClr val="FFFF00"/>
          </a:solidFill>
        </p:spPr>
        <p:txBody>
          <a:bodyPr wrap="square">
            <a:spAutoFit/>
          </a:bodyPr>
          <a:lstStyle/>
          <a:p>
            <a:r>
              <a:rPr lang="en-US" sz="1798" dirty="0"/>
              <a:t>PSO Consultant: Insert appropriate logical diagrams based on the current solution.</a:t>
            </a:r>
          </a:p>
        </p:txBody>
      </p:sp>
    </p:spTree>
    <p:extLst>
      <p:ext uri="{BB962C8B-B14F-4D97-AF65-F5344CB8AC3E}">
        <p14:creationId xmlns:p14="http://schemas.microsoft.com/office/powerpoint/2010/main" val="342777246"/>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Capabilities that have been determined as the focus for this engagement</a:t>
            </a:r>
            <a:endParaRPr lang="en-US" dirty="0"/>
          </a:p>
        </p:txBody>
      </p:sp>
      <p:graphicFrame>
        <p:nvGraphicFramePr>
          <p:cNvPr id="8" name="pstools_autogen_it_capabilities_table"/>
          <p:cNvGraphicFramePr>
            <a:graphicFrameLocks noGrp="1"/>
          </p:cNvGraphicFramePr>
          <p:nvPr/>
        </p:nvGraphicFramePr>
        <p:xfrm>
          <a:off x="619360" y="2335696"/>
          <a:ext cx="10727791" cy="706120"/>
        </p:xfrm>
        <a:graphic>
          <a:graphicData uri="http://schemas.openxmlformats.org/drawingml/2006/table">
            <a:tbl>
              <a:tblPr firstRow="1" bandRow="1">
                <a:tableStyleId>{EB9631B5-78F2-41C9-869B-9F39066F8104}</a:tableStyleId>
              </a:tblPr>
              <a:tblGrid>
                <a:gridCol w="10727791">
                  <a:extLst>
                    <a:ext uri="{9D8B030D-6E8A-4147-A177-3AD203B41FA5}">
                      <a16:colId xmlns:a16="http://schemas.microsoft.com/office/drawing/2014/main" val="20000"/>
                    </a:ext>
                  </a:extLst>
                </a:gridCol>
              </a:tblGrid>
              <a:tr h="370840">
                <a:tc>
                  <a:txBody>
                    <a:bodyPr/>
                    <a:lstStyle/>
                    <a:p>
                      <a:r>
                        <a:rPr lang="en-US" dirty="0"/>
                        <a:t>IT Capabilities in Scope</a:t>
                      </a:r>
                      <a:endParaRPr lang="en-US" dirty="0">
                        <a:solidFill>
                          <a:srgbClr val="FF0000"/>
                        </a:solidFill>
                      </a:endParaRPr>
                    </a:p>
                  </a:txBody>
                  <a:tcPr/>
                </a:tc>
                <a:extLst>
                  <a:ext uri="{0D108BD9-81ED-4DB2-BD59-A6C34878D82A}">
                    <a16:rowId xmlns:a16="http://schemas.microsoft.com/office/drawing/2014/main" val="10000"/>
                  </a:ext>
                </a:extLst>
              </a:tr>
              <a:tr h="0">
                <a:tc>
                  <a:txBody>
                    <a:bodyPr/>
                    <a:lstStyle/>
                    <a:p>
                      <a:pPr algn="ctr"/>
                      <a:r>
                        <a:rPr lang="en-AU" sz="1600" b="0" dirty="0"/>
                        <a:t>Deliver containers and functions on demand</a:t>
                      </a:r>
                      <a:endParaRPr lang="en-A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11796503"/>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Problems that have been determined as the focus for this engagement</a:t>
            </a:r>
            <a:endParaRPr lang="en-US" dirty="0"/>
          </a:p>
        </p:txBody>
      </p:sp>
      <p:graphicFrame>
        <p:nvGraphicFramePr>
          <p:cNvPr id="8" name="pstools_autogen_it_problems_table"/>
          <p:cNvGraphicFramePr>
            <a:graphicFrameLocks noGrp="1"/>
          </p:cNvGraphicFramePr>
          <p:nvPr>
            <p:extLst>
              <p:ext uri="{D42A27DB-BD31-4B8C-83A1-F6EECF244321}">
                <p14:modId xmlns:p14="http://schemas.microsoft.com/office/powerpoint/2010/main" val="1433390443"/>
              </p:ext>
            </p:extLst>
          </p:nvPr>
        </p:nvGraphicFramePr>
        <p:xfrm>
          <a:off x="619360" y="2335696"/>
          <a:ext cx="10838255" cy="271780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ctr"/>
                      <a:r>
                        <a:rPr lang="en-AU" sz="1600" b="0" dirty="0"/>
                        <a:t>Manual process causing developments deploys</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Takes too long to deploy applications onto application infrastructure</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Manual process causing development delays</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Application deployments are not standardized</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High cost for Test and QA</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Developers using unsecured application stacks</a:t>
                      </a:r>
                      <a:endParaRPr lang="en-AU" dirty="0"/>
                    </a:p>
                  </a:txBody>
                  <a:tcPr/>
                </a:tc>
                <a:extLst>
                  <a:ext uri="{0D108BD9-81ED-4DB2-BD59-A6C34878D82A}">
                    <a16:rowId xmlns:a16="http://schemas.microsoft.com/office/drawing/2014/main" val="10006"/>
                  </a:ext>
                </a:extLst>
              </a:tr>
              <a:tr h="0">
                <a:tc>
                  <a:txBody>
                    <a:bodyPr/>
                    <a:lstStyle/>
                    <a:p>
                      <a:pPr algn="ctr"/>
                      <a:r>
                        <a:rPr lang="en-AU" sz="1600" b="0" dirty="0"/>
                        <a:t>Security management is manual and often delayed</a:t>
                      </a:r>
                      <a:endParaRPr lang="en-AU"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04815532"/>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9" name="Rectangle 8">
            <a:extLst>
              <a:ext uri="{FF2B5EF4-FFF2-40B4-BE49-F238E27FC236}">
                <a16:creationId xmlns:a16="http://schemas.microsoft.com/office/drawing/2014/main" id="{65F832E0-4907-4EBA-B0C0-B00BEEC954A0}"/>
              </a:ext>
            </a:extLst>
          </p:cNvPr>
          <p:cNvSpPr/>
          <p:nvPr/>
        </p:nvSpPr>
        <p:spPr>
          <a:xfrm>
            <a:off x="4392589" y="1756084"/>
            <a:ext cx="3363240" cy="1753100"/>
          </a:xfrm>
          <a:prstGeom prst="rect">
            <a:avLst/>
          </a:prstGeom>
          <a:solidFill>
            <a:srgbClr val="FFFF00"/>
          </a:solidFill>
        </p:spPr>
        <p:txBody>
          <a:bodyPr wrap="square">
            <a:spAutoFit/>
          </a:bodyPr>
          <a:lstStyle/>
          <a:p>
            <a:r>
              <a:rPr lang="en-US" sz="1798" dirty="0"/>
              <a:t>PSO Consultant: Insert appropriate logical diagrams based on the current solution.  Review the diagram, covering each component and its function</a:t>
            </a:r>
          </a:p>
        </p:txBody>
      </p:sp>
    </p:spTree>
    <p:extLst>
      <p:ext uri="{BB962C8B-B14F-4D97-AF65-F5344CB8AC3E}">
        <p14:creationId xmlns:p14="http://schemas.microsoft.com/office/powerpoint/2010/main" val="2367726731"/>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Engagement Scope - Technical</a:t>
            </a:r>
          </a:p>
        </p:txBody>
      </p:sp>
      <p:sp>
        <p:nvSpPr>
          <p:cNvPr id="3" name="Subtitle 2">
            <a:extLst>
              <a:ext uri="{FF2B5EF4-FFF2-40B4-BE49-F238E27FC236}">
                <a16:creationId xmlns:a16="http://schemas.microsoft.com/office/drawing/2014/main" id="{BB76212C-D4C7-1729-5432-7DB9FAB14FBB}"/>
              </a:ext>
            </a:extLst>
          </p:cNvPr>
          <p:cNvSpPr>
            <a:spLocks noGrp="1"/>
          </p:cNvSpPr>
          <p:nvPr>
            <p:ph type="subTitle" idx="10"/>
          </p:nvPr>
        </p:nvSpPr>
        <p:spPr/>
        <p:txBody>
          <a:bodyPr/>
          <a:lstStyle/>
          <a:p>
            <a:r>
              <a:rPr lang="en-US" dirty="0"/>
              <a:t>This specific engagement by VMware Professional Services included the following components of the VMware Solution. This Solution Design content will only refer to these components.</a:t>
            </a:r>
          </a:p>
          <a:p>
            <a:endParaRPr lang="en-US"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10</a:t>
            </a:fld>
            <a:endParaRPr lang="en-US" dirty="0"/>
          </a:p>
        </p:txBody>
      </p:sp>
      <p:graphicFrame>
        <p:nvGraphicFramePr>
          <p:cNvPr id="6" name="pstools_autogen_products_versions_table"/>
          <p:cNvGraphicFramePr>
            <a:graphicFrameLocks noGrp="1"/>
          </p:cNvGraphicFramePr>
          <p:nvPr>
            <p:extLst>
              <p:ext uri="{D42A27DB-BD31-4B8C-83A1-F6EECF244321}">
                <p14:modId xmlns:p14="http://schemas.microsoft.com/office/powerpoint/2010/main" val="3863089030"/>
              </p:ext>
            </p:extLst>
          </p:nvPr>
        </p:nvGraphicFramePr>
        <p:xfrm>
          <a:off x="417990" y="2438400"/>
          <a:ext cx="10996244" cy="706120"/>
        </p:xfrm>
        <a:graphic>
          <a:graphicData uri="http://schemas.openxmlformats.org/drawingml/2006/table">
            <a:tbl>
              <a:tblPr firstRow="1" bandRow="1">
                <a:tableStyleId>{EB9631B5-78F2-41C9-869B-9F39066F8104}</a:tableStyleId>
              </a:tblPr>
              <a:tblGrid>
                <a:gridCol w="7780648">
                  <a:extLst>
                    <a:ext uri="{9D8B030D-6E8A-4147-A177-3AD203B41FA5}">
                      <a16:colId xmlns:a16="http://schemas.microsoft.com/office/drawing/2014/main" val="20000"/>
                    </a:ext>
                  </a:extLst>
                </a:gridCol>
                <a:gridCol w="3215596">
                  <a:extLst>
                    <a:ext uri="{9D8B030D-6E8A-4147-A177-3AD203B41FA5}">
                      <a16:colId xmlns:a16="http://schemas.microsoft.com/office/drawing/2014/main" val="20002"/>
                    </a:ext>
                  </a:extLst>
                </a:gridCol>
              </a:tblGrid>
              <a:tr h="370840">
                <a:tc>
                  <a:txBody>
                    <a:bodyPr/>
                    <a:lstStyle/>
                    <a:p>
                      <a:r>
                        <a:rPr lang="en-US" dirty="0">
                          <a:solidFill>
                            <a:schemeClr val="bg1"/>
                          </a:solidFill>
                        </a:rPr>
                        <a:t>Technology</a:t>
                      </a:r>
                      <a:r>
                        <a:rPr lang="en-US" baseline="0" dirty="0">
                          <a:solidFill>
                            <a:schemeClr val="bg1"/>
                          </a:solidFill>
                        </a:rPr>
                        <a:t> Components</a:t>
                      </a:r>
                      <a:endParaRPr lang="en-US" dirty="0">
                        <a:solidFill>
                          <a:schemeClr val="bg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solidFill>
                            <a:schemeClr val="bg1"/>
                          </a:solidFill>
                        </a:rPr>
                        <a:t>Version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0">
                <a:tc>
                  <a:txBody>
                    <a:bodyPr/>
                    <a:lstStyle/>
                    <a:p>
                      <a:pPr algn="l"/>
                      <a:r>
                        <a:rPr lang="en-AU" sz="1600" b="0" dirty="0"/>
                        <a:t>VMware Cloud Foundation</a:t>
                      </a:r>
                      <a:endParaRPr lang="en-AU" dirty="0"/>
                    </a:p>
                  </a:txBody>
                  <a:tcPr/>
                </a:tc>
                <a:tc>
                  <a:txBody>
                    <a:bodyPr/>
                    <a:lstStyle/>
                    <a:p>
                      <a:pPr algn="l"/>
                      <a:r>
                        <a:rPr lang="en-AU" sz="1600" b="0" dirty="0"/>
                        <a:t>9.0.x</a:t>
                      </a:r>
                      <a:endParaRPr lang="en-A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14855611"/>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Engagement Scope - People and Process</a:t>
            </a:r>
          </a:p>
        </p:txBody>
      </p:sp>
      <p:sp>
        <p:nvSpPr>
          <p:cNvPr id="3" name="Subtitle 2">
            <a:extLst>
              <a:ext uri="{FF2B5EF4-FFF2-40B4-BE49-F238E27FC236}">
                <a16:creationId xmlns:a16="http://schemas.microsoft.com/office/drawing/2014/main" id="{78334F13-11CD-2101-CB1F-991B135B9660}"/>
              </a:ext>
            </a:extLst>
          </p:cNvPr>
          <p:cNvSpPr>
            <a:spLocks noGrp="1"/>
          </p:cNvSpPr>
          <p:nvPr>
            <p:ph type="subTitle" idx="10"/>
          </p:nvPr>
        </p:nvSpPr>
        <p:spPr/>
        <p:txBody>
          <a:bodyPr/>
          <a:lstStyle/>
          <a:p>
            <a:endParaRPr lang="en-US"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11</a:t>
            </a:fld>
            <a:endParaRPr lang="en-US" dirty="0"/>
          </a:p>
        </p:txBody>
      </p:sp>
      <p:graphicFrame>
        <p:nvGraphicFramePr>
          <p:cNvPr id="6" name="Table 5"/>
          <p:cNvGraphicFramePr>
            <a:graphicFrameLocks noGrp="1"/>
          </p:cNvGraphicFramePr>
          <p:nvPr/>
        </p:nvGraphicFramePr>
        <p:xfrm>
          <a:off x="417990" y="2438400"/>
          <a:ext cx="11161394" cy="2966720"/>
        </p:xfrm>
        <a:graphic>
          <a:graphicData uri="http://schemas.openxmlformats.org/drawingml/2006/table">
            <a:tbl>
              <a:tblPr firstRow="1" bandRow="1">
                <a:tableStyleId>{EB9631B5-78F2-41C9-869B-9F39066F8104}</a:tableStyleId>
              </a:tblPr>
              <a:tblGrid>
                <a:gridCol w="11161394">
                  <a:extLst>
                    <a:ext uri="{9D8B030D-6E8A-4147-A177-3AD203B41FA5}">
                      <a16:colId xmlns:a16="http://schemas.microsoft.com/office/drawing/2014/main" val="20001"/>
                    </a:ext>
                  </a:extLst>
                </a:gridCol>
              </a:tblGrid>
              <a:tr h="370840">
                <a:tc>
                  <a:txBody>
                    <a:bodyPr/>
                    <a:lstStyle/>
                    <a:p>
                      <a:r>
                        <a:rPr lang="en-US" dirty="0"/>
                        <a:t>People and Process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r>
              <a:rPr lang="en-US" dirty="0"/>
              <a:t>This specific engagement by VMware Professional Services included the following components of the VMware Solution. This Solution Design content will only refer to these components.</a:t>
            </a:r>
          </a:p>
        </p:txBody>
      </p:sp>
      <p:sp>
        <p:nvSpPr>
          <p:cNvPr id="8" name="Rectangle 7"/>
          <p:cNvSpPr/>
          <p:nvPr/>
        </p:nvSpPr>
        <p:spPr>
          <a:xfrm>
            <a:off x="3256689" y="3150704"/>
            <a:ext cx="4287109" cy="2057400"/>
          </a:xfrm>
          <a:prstGeom prst="rect">
            <a:avLst/>
          </a:prstGeom>
          <a:solidFill>
            <a:srgbClr val="FFFF00"/>
          </a:solidFill>
        </p:spPr>
        <p:txBody>
          <a:bodyPr wrap="square">
            <a:spAutoFit/>
          </a:bodyPr>
          <a:lstStyle/>
          <a:p>
            <a:pPr algn="l"/>
            <a:r>
              <a:rPr lang="en-US" sz="1799" dirty="0"/>
              <a:t>Consultant: </a:t>
            </a:r>
            <a:endParaRPr lang="en-US" sz="1799" dirty="0">
              <a:solidFill>
                <a:schemeClr val="bg2">
                  <a:lumMod val="50000"/>
                </a:schemeClr>
              </a:solidFill>
            </a:endParaRPr>
          </a:p>
          <a:p>
            <a:r>
              <a:rPr lang="en-US" sz="1799" dirty="0">
                <a:solidFill>
                  <a:schemeClr val="bg2">
                    <a:lumMod val="50000"/>
                  </a:schemeClr>
                </a:solidFill>
              </a:rPr>
              <a:t>Before giving this presentation to any customer use the information in Solution Builder to define the products and the process types that are included in scope of this engagement.</a:t>
            </a:r>
          </a:p>
        </p:txBody>
      </p:sp>
    </p:spTree>
    <p:extLst>
      <p:ext uri="{BB962C8B-B14F-4D97-AF65-F5344CB8AC3E}">
        <p14:creationId xmlns:p14="http://schemas.microsoft.com/office/powerpoint/2010/main" val="186610554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880CA-5B0B-442C-BCEF-4A5AE9AE62E8}"/>
              </a:ext>
            </a:extLst>
          </p:cNvPr>
          <p:cNvSpPr>
            <a:spLocks noGrp="1"/>
          </p:cNvSpPr>
          <p:nvPr>
            <p:ph type="title"/>
          </p:nvPr>
        </p:nvSpPr>
        <p:spPr/>
        <p:txBody>
          <a:bodyPr/>
          <a:lstStyle/>
          <a:p>
            <a:r>
              <a:rPr lang="en-US" dirty="0"/>
              <a:t>VMware Cloud Foundation 9.0.x</a:t>
            </a:r>
          </a:p>
        </p:txBody>
      </p:sp>
      <p:sp>
        <p:nvSpPr>
          <p:cNvPr id="3" name="Subtitle 2">
            <a:extLst>
              <a:ext uri="{FF2B5EF4-FFF2-40B4-BE49-F238E27FC236}">
                <a16:creationId xmlns:a16="http://schemas.microsoft.com/office/drawing/2014/main" id="{DA69BDDE-4447-4812-86AE-B11D9F6AA907}"/>
              </a:ext>
            </a:extLst>
          </p:cNvPr>
          <p:cNvSpPr>
            <a:spLocks noGrp="1"/>
          </p:cNvSpPr>
          <p:nvPr>
            <p:ph type="subTitle" idx="10"/>
          </p:nvPr>
        </p:nvSpPr>
        <p:spPr/>
        <p:txBody>
          <a:bodyPr/>
          <a:lstStyle/>
          <a:p>
            <a:r>
              <a:rPr lang="en-US" dirty="0"/>
              <a:t>vSphere Kubernetes Service</a:t>
            </a:r>
          </a:p>
        </p:txBody>
      </p:sp>
    </p:spTree>
    <p:extLst>
      <p:ext uri="{BB962C8B-B14F-4D97-AF65-F5344CB8AC3E}">
        <p14:creationId xmlns:p14="http://schemas.microsoft.com/office/powerpoint/2010/main" val="1316542676"/>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ADE5F-36ED-5344-9052-3AC7FF93A52D}"/>
              </a:ext>
            </a:extLst>
          </p:cNvPr>
          <p:cNvSpPr>
            <a:spLocks noGrp="1"/>
          </p:cNvSpPr>
          <p:nvPr>
            <p:ph type="title"/>
          </p:nvPr>
        </p:nvSpPr>
        <p:spPr/>
        <p:txBody>
          <a:bodyPr/>
          <a:lstStyle/>
          <a:p>
            <a:r>
              <a:rPr lang="en-US" dirty="0"/>
              <a:t>Product Overview</a:t>
            </a:r>
          </a:p>
        </p:txBody>
      </p:sp>
      <p:sp>
        <p:nvSpPr>
          <p:cNvPr id="4" name="Text Placeholder 3"/>
          <p:cNvSpPr>
            <a:spLocks noGrp="1"/>
          </p:cNvSpPr>
          <p:nvPr>
            <p:ph type="subTitle" idx="10"/>
          </p:nvPr>
        </p:nvSpPr>
        <p:spPr/>
        <p:txBody>
          <a:bodyPr/>
          <a:lstStyle/>
          <a:p>
            <a:r>
              <a:rPr lang="en-US" dirty="0"/>
              <a:t>VMware Cloud Foundation 9.0.x – vSphere Kubernetes Service</a:t>
            </a:r>
          </a:p>
        </p:txBody>
      </p:sp>
    </p:spTree>
    <p:extLst>
      <p:ext uri="{BB962C8B-B14F-4D97-AF65-F5344CB8AC3E}">
        <p14:creationId xmlns:p14="http://schemas.microsoft.com/office/powerpoint/2010/main" val="656282927"/>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Google Shape;6504;g341ab2b14b8_2_916">
            <a:extLst>
              <a:ext uri="{FF2B5EF4-FFF2-40B4-BE49-F238E27FC236}">
                <a16:creationId xmlns:a16="http://schemas.microsoft.com/office/drawing/2014/main" id="{2837D860-C3E4-0B0B-5212-8919684F6217}"/>
              </a:ext>
            </a:extLst>
          </p:cNvPr>
          <p:cNvGrpSpPr/>
          <p:nvPr/>
        </p:nvGrpSpPr>
        <p:grpSpPr>
          <a:xfrm rot="10800000">
            <a:off x="-161444" y="3138279"/>
            <a:ext cx="8753262" cy="658914"/>
            <a:chOff x="6457" y="3088548"/>
            <a:chExt cx="12175910" cy="421627"/>
          </a:xfrm>
        </p:grpSpPr>
        <p:pic>
          <p:nvPicPr>
            <p:cNvPr id="101" name="Google Shape;6505;g341ab2b14b8_2_916">
              <a:extLst>
                <a:ext uri="{FF2B5EF4-FFF2-40B4-BE49-F238E27FC236}">
                  <a16:creationId xmlns:a16="http://schemas.microsoft.com/office/drawing/2014/main" id="{9B46523F-85F1-2BCA-B34E-C419A3608999}"/>
                </a:ext>
              </a:extLst>
            </p:cNvPr>
            <p:cNvPicPr preferRelativeResize="0"/>
            <p:nvPr/>
          </p:nvPicPr>
          <p:blipFill rotWithShape="1">
            <a:blip r:embed="rId3">
              <a:alphaModFix amt="34000"/>
            </a:blip>
            <a:srcRect t="50513"/>
            <a:stretch/>
          </p:blipFill>
          <p:spPr>
            <a:xfrm>
              <a:off x="6457" y="3101683"/>
              <a:ext cx="12175910" cy="408492"/>
            </a:xfrm>
            <a:prstGeom prst="rect">
              <a:avLst/>
            </a:prstGeom>
            <a:noFill/>
            <a:ln>
              <a:noFill/>
            </a:ln>
          </p:spPr>
        </p:pic>
        <p:sp>
          <p:nvSpPr>
            <p:cNvPr id="102" name="Google Shape;6506;g341ab2b14b8_2_916">
              <a:extLst>
                <a:ext uri="{FF2B5EF4-FFF2-40B4-BE49-F238E27FC236}">
                  <a16:creationId xmlns:a16="http://schemas.microsoft.com/office/drawing/2014/main" id="{4BEF741F-7A75-65F3-4B33-77806D124951}"/>
                </a:ext>
              </a:extLst>
            </p:cNvPr>
            <p:cNvSpPr/>
            <p:nvPr/>
          </p:nvSpPr>
          <p:spPr>
            <a:xfrm rot="-5400000" flipH="1">
              <a:off x="6246689" y="-2240202"/>
              <a:ext cx="18300" cy="10675800"/>
            </a:xfrm>
            <a:prstGeom prst="rect">
              <a:avLst/>
            </a:prstGeom>
            <a:gradFill>
              <a:gsLst>
                <a:gs pos="0">
                  <a:srgbClr val="6C4B8F">
                    <a:alpha val="0"/>
                  </a:srgbClr>
                </a:gs>
                <a:gs pos="10000">
                  <a:srgbClr val="6C4B8F"/>
                </a:gs>
                <a:gs pos="22000">
                  <a:srgbClr val="005B84"/>
                </a:gs>
                <a:gs pos="41000">
                  <a:srgbClr val="005B84"/>
                </a:gs>
                <a:gs pos="60000">
                  <a:srgbClr val="41D1FE"/>
                </a:gs>
                <a:gs pos="90000">
                  <a:srgbClr val="007A86"/>
                </a:gs>
                <a:gs pos="100000">
                  <a:srgbClr val="007A86">
                    <a:alpha val="0"/>
                  </a:srgbClr>
                </a:gs>
              </a:gsLst>
              <a:lin ang="5400012"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97" name="Google Shape;6628;g341ab2b14b8_2_916">
            <a:extLst>
              <a:ext uri="{FF2B5EF4-FFF2-40B4-BE49-F238E27FC236}">
                <a16:creationId xmlns:a16="http://schemas.microsoft.com/office/drawing/2014/main" id="{970A98D2-FE38-C946-CA9C-C623E1A16F76}"/>
              </a:ext>
            </a:extLst>
          </p:cNvPr>
          <p:cNvSpPr/>
          <p:nvPr/>
        </p:nvSpPr>
        <p:spPr>
          <a:xfrm>
            <a:off x="2307644" y="1850365"/>
            <a:ext cx="1051500" cy="864300"/>
          </a:xfrm>
          <a:prstGeom prst="roundRect">
            <a:avLst>
              <a:gd name="adj" fmla="val 6270"/>
            </a:avLst>
          </a:prstGeom>
          <a:solidFill>
            <a:schemeClr val="lt1"/>
          </a:solidFill>
          <a:ln w="12700" cap="flat" cmpd="sng">
            <a:solidFill>
              <a:srgbClr val="005C8A">
                <a:alpha val="25287"/>
              </a:srgbClr>
            </a:solidFill>
            <a:prstDash val="sysDot"/>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89" name="Google Shape;6617;g341ab2b14b8_2_916">
            <a:extLst>
              <a:ext uri="{FF2B5EF4-FFF2-40B4-BE49-F238E27FC236}">
                <a16:creationId xmlns:a16="http://schemas.microsoft.com/office/drawing/2014/main" id="{57181180-1673-315A-FF62-4A69705B67AA}"/>
              </a:ext>
            </a:extLst>
          </p:cNvPr>
          <p:cNvGrpSpPr/>
          <p:nvPr/>
        </p:nvGrpSpPr>
        <p:grpSpPr>
          <a:xfrm>
            <a:off x="4841368" y="1853018"/>
            <a:ext cx="1191489" cy="864294"/>
            <a:chOff x="5203628" y="3571756"/>
            <a:chExt cx="1191489" cy="864294"/>
          </a:xfrm>
        </p:grpSpPr>
        <p:grpSp>
          <p:nvGrpSpPr>
            <p:cNvPr id="90" name="Google Shape;6618;g341ab2b14b8_2_916">
              <a:extLst>
                <a:ext uri="{FF2B5EF4-FFF2-40B4-BE49-F238E27FC236}">
                  <a16:creationId xmlns:a16="http://schemas.microsoft.com/office/drawing/2014/main" id="{FB05071A-05FB-87A2-5948-31E116369948}"/>
                </a:ext>
              </a:extLst>
            </p:cNvPr>
            <p:cNvGrpSpPr/>
            <p:nvPr/>
          </p:nvGrpSpPr>
          <p:grpSpPr>
            <a:xfrm>
              <a:off x="5203628" y="3571756"/>
              <a:ext cx="1191489" cy="864294"/>
              <a:chOff x="5502902" y="3307853"/>
              <a:chExt cx="1489734" cy="1020900"/>
            </a:xfrm>
          </p:grpSpPr>
          <p:sp>
            <p:nvSpPr>
              <p:cNvPr id="94" name="Google Shape;6619;g341ab2b14b8_2_916">
                <a:extLst>
                  <a:ext uri="{FF2B5EF4-FFF2-40B4-BE49-F238E27FC236}">
                    <a16:creationId xmlns:a16="http://schemas.microsoft.com/office/drawing/2014/main" id="{5301245C-36C6-D155-C8C5-80C340D6BD0C}"/>
                  </a:ext>
                </a:extLst>
              </p:cNvPr>
              <p:cNvSpPr/>
              <p:nvPr/>
            </p:nvSpPr>
            <p:spPr>
              <a:xfrm>
                <a:off x="5680736" y="3307853"/>
                <a:ext cx="1311900" cy="1020900"/>
              </a:xfrm>
              <a:prstGeom prst="roundRect">
                <a:avLst>
                  <a:gd name="adj" fmla="val 6270"/>
                </a:avLst>
              </a:prstGeom>
              <a:solidFill>
                <a:schemeClr val="lt1"/>
              </a:solidFill>
              <a:ln w="12700" cap="flat" cmpd="sng">
                <a:solidFill>
                  <a:srgbClr val="005C8A">
                    <a:alpha val="25167"/>
                  </a:srgbClr>
                </a:solidFill>
                <a:prstDash val="sysDot"/>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5" name="Google Shape;6620;g341ab2b14b8_2_916">
                <a:extLst>
                  <a:ext uri="{FF2B5EF4-FFF2-40B4-BE49-F238E27FC236}">
                    <a16:creationId xmlns:a16="http://schemas.microsoft.com/office/drawing/2014/main" id="{EA9FBC5C-F239-D5D2-C6CB-9862AF768309}"/>
                  </a:ext>
                </a:extLst>
              </p:cNvPr>
              <p:cNvSpPr/>
              <p:nvPr/>
            </p:nvSpPr>
            <p:spPr>
              <a:xfrm>
                <a:off x="5502902" y="3430697"/>
                <a:ext cx="1311901" cy="4020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Operators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91" name="Google Shape;6621;g341ab2b14b8_2_916">
              <a:extLst>
                <a:ext uri="{FF2B5EF4-FFF2-40B4-BE49-F238E27FC236}">
                  <a16:creationId xmlns:a16="http://schemas.microsoft.com/office/drawing/2014/main" id="{8D6381F3-EA6A-4323-3CB5-C13E539EE222}"/>
                </a:ext>
              </a:extLst>
            </p:cNvPr>
            <p:cNvGrpSpPr/>
            <p:nvPr/>
          </p:nvGrpSpPr>
          <p:grpSpPr>
            <a:xfrm>
              <a:off x="5675839" y="4003193"/>
              <a:ext cx="340454" cy="340427"/>
              <a:chOff x="5622261" y="3790312"/>
              <a:chExt cx="340454" cy="340427"/>
            </a:xfrm>
          </p:grpSpPr>
          <p:sp>
            <p:nvSpPr>
              <p:cNvPr id="92" name="Google Shape;6622;g341ab2b14b8_2_916">
                <a:extLst>
                  <a:ext uri="{FF2B5EF4-FFF2-40B4-BE49-F238E27FC236}">
                    <a16:creationId xmlns:a16="http://schemas.microsoft.com/office/drawing/2014/main" id="{162C902F-922C-EEA7-A0E9-C848684719F8}"/>
                  </a:ext>
                </a:extLst>
              </p:cNvPr>
              <p:cNvSpPr/>
              <p:nvPr/>
            </p:nvSpPr>
            <p:spPr>
              <a:xfrm>
                <a:off x="5693714" y="3861767"/>
                <a:ext cx="197089" cy="197089"/>
              </a:xfrm>
              <a:custGeom>
                <a:avLst/>
                <a:gdLst/>
                <a:ahLst/>
                <a:cxnLst/>
                <a:rect l="l" t="t" r="r" b="b"/>
                <a:pathLst>
                  <a:path w="640940" h="640940" extrusionOk="0">
                    <a:moveTo>
                      <a:pt x="320471" y="640941"/>
                    </a:moveTo>
                    <a:cubicBezTo>
                      <a:pt x="312403" y="640941"/>
                      <a:pt x="305859" y="634397"/>
                      <a:pt x="305859" y="626329"/>
                    </a:cubicBezTo>
                    <a:cubicBezTo>
                      <a:pt x="305859" y="618262"/>
                      <a:pt x="312403" y="611718"/>
                      <a:pt x="320471" y="611718"/>
                    </a:cubicBezTo>
                    <a:cubicBezTo>
                      <a:pt x="481109" y="611718"/>
                      <a:pt x="611807" y="481020"/>
                      <a:pt x="611807" y="320381"/>
                    </a:cubicBezTo>
                    <a:cubicBezTo>
                      <a:pt x="611807" y="159742"/>
                      <a:pt x="481109" y="29044"/>
                      <a:pt x="320471" y="29044"/>
                    </a:cubicBezTo>
                    <a:cubicBezTo>
                      <a:pt x="159832" y="29044"/>
                      <a:pt x="29134" y="159742"/>
                      <a:pt x="29134" y="320381"/>
                    </a:cubicBezTo>
                    <a:cubicBezTo>
                      <a:pt x="29134" y="328449"/>
                      <a:pt x="22590" y="334993"/>
                      <a:pt x="14522" y="334993"/>
                    </a:cubicBezTo>
                    <a:cubicBezTo>
                      <a:pt x="6454" y="334993"/>
                      <a:pt x="0" y="328538"/>
                      <a:pt x="0" y="320471"/>
                    </a:cubicBezTo>
                    <a:cubicBezTo>
                      <a:pt x="0" y="143786"/>
                      <a:pt x="143786" y="0"/>
                      <a:pt x="320471" y="0"/>
                    </a:cubicBezTo>
                    <a:cubicBezTo>
                      <a:pt x="497155" y="0"/>
                      <a:pt x="640941" y="143786"/>
                      <a:pt x="640941" y="320471"/>
                    </a:cubicBezTo>
                    <a:cubicBezTo>
                      <a:pt x="640941" y="497155"/>
                      <a:pt x="497155" y="640941"/>
                      <a:pt x="320471" y="64094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93" name="Google Shape;6623;g341ab2b14b8_2_916">
                <a:extLst>
                  <a:ext uri="{FF2B5EF4-FFF2-40B4-BE49-F238E27FC236}">
                    <a16:creationId xmlns:a16="http://schemas.microsoft.com/office/drawing/2014/main" id="{77A545C9-8702-A952-365E-5E4166C233C3}"/>
                  </a:ext>
                </a:extLst>
              </p:cNvPr>
              <p:cNvSpPr/>
              <p:nvPr/>
            </p:nvSpPr>
            <p:spPr>
              <a:xfrm>
                <a:off x="5622261" y="3790312"/>
                <a:ext cx="340454" cy="340427"/>
              </a:xfrm>
              <a:custGeom>
                <a:avLst/>
                <a:gdLst/>
                <a:ahLst/>
                <a:cxnLst/>
                <a:rect l="l" t="t" r="r" b="b"/>
                <a:pathLst>
                  <a:path w="1107169" h="1107079" extrusionOk="0">
                    <a:moveTo>
                      <a:pt x="643003" y="1107080"/>
                    </a:moveTo>
                    <a:lnTo>
                      <a:pt x="458699" y="1107080"/>
                    </a:lnTo>
                    <a:lnTo>
                      <a:pt x="454754" y="1098833"/>
                    </a:lnTo>
                    <a:cubicBezTo>
                      <a:pt x="448659" y="1086193"/>
                      <a:pt x="442832" y="1067458"/>
                      <a:pt x="437005" y="1041552"/>
                    </a:cubicBezTo>
                    <a:cubicBezTo>
                      <a:pt x="432165" y="1020575"/>
                      <a:pt x="427951" y="1004709"/>
                      <a:pt x="424455" y="994221"/>
                    </a:cubicBezTo>
                    <a:cubicBezTo>
                      <a:pt x="363947" y="967507"/>
                      <a:pt x="340819" y="957019"/>
                      <a:pt x="331496" y="952537"/>
                    </a:cubicBezTo>
                    <a:cubicBezTo>
                      <a:pt x="319216" y="957019"/>
                      <a:pt x="304962" y="964190"/>
                      <a:pt x="288916" y="974051"/>
                    </a:cubicBezTo>
                    <a:cubicBezTo>
                      <a:pt x="265520" y="988483"/>
                      <a:pt x="249384" y="997717"/>
                      <a:pt x="239613" y="1002019"/>
                    </a:cubicBezTo>
                    <a:lnTo>
                      <a:pt x="232352" y="1005246"/>
                    </a:lnTo>
                    <a:lnTo>
                      <a:pt x="225719" y="1000944"/>
                    </a:lnTo>
                    <a:cubicBezTo>
                      <a:pt x="210031" y="990724"/>
                      <a:pt x="169961" y="952716"/>
                      <a:pt x="103178" y="884678"/>
                    </a:cubicBezTo>
                    <a:lnTo>
                      <a:pt x="97262" y="878672"/>
                    </a:lnTo>
                    <a:lnTo>
                      <a:pt x="99503" y="870604"/>
                    </a:lnTo>
                    <a:cubicBezTo>
                      <a:pt x="101564" y="862895"/>
                      <a:pt x="109184" y="844608"/>
                      <a:pt x="149613" y="774687"/>
                    </a:cubicBezTo>
                    <a:cubicBezTo>
                      <a:pt x="146654" y="767516"/>
                      <a:pt x="140738" y="753800"/>
                      <a:pt x="128995" y="727804"/>
                    </a:cubicBezTo>
                    <a:cubicBezTo>
                      <a:pt x="120748" y="708800"/>
                      <a:pt x="114921" y="691230"/>
                      <a:pt x="111604" y="675274"/>
                    </a:cubicBezTo>
                    <a:cubicBezTo>
                      <a:pt x="98068" y="672943"/>
                      <a:pt x="82291" y="669358"/>
                      <a:pt x="64453" y="664517"/>
                    </a:cubicBezTo>
                    <a:cubicBezTo>
                      <a:pt x="38994" y="657077"/>
                      <a:pt x="21335" y="652326"/>
                      <a:pt x="11833" y="650443"/>
                    </a:cubicBezTo>
                    <a:lnTo>
                      <a:pt x="0" y="648202"/>
                    </a:lnTo>
                    <a:lnTo>
                      <a:pt x="0" y="454037"/>
                    </a:lnTo>
                    <a:lnTo>
                      <a:pt x="11295" y="451438"/>
                    </a:lnTo>
                    <a:cubicBezTo>
                      <a:pt x="19452" y="449555"/>
                      <a:pt x="36484" y="444804"/>
                      <a:pt x="61853" y="437364"/>
                    </a:cubicBezTo>
                    <a:cubicBezTo>
                      <a:pt x="80050" y="432075"/>
                      <a:pt x="95738" y="428310"/>
                      <a:pt x="109363" y="426069"/>
                    </a:cubicBezTo>
                    <a:cubicBezTo>
                      <a:pt x="114204" y="416298"/>
                      <a:pt x="121286" y="400431"/>
                      <a:pt x="130340" y="378828"/>
                    </a:cubicBezTo>
                    <a:cubicBezTo>
                      <a:pt x="138856" y="358389"/>
                      <a:pt x="146654" y="342433"/>
                      <a:pt x="154005" y="330421"/>
                    </a:cubicBezTo>
                    <a:cubicBezTo>
                      <a:pt x="124961" y="276456"/>
                      <a:pt x="110080" y="255211"/>
                      <a:pt x="102640" y="246874"/>
                    </a:cubicBezTo>
                    <a:lnTo>
                      <a:pt x="95021" y="238269"/>
                    </a:lnTo>
                    <a:lnTo>
                      <a:pt x="101564" y="228856"/>
                    </a:lnTo>
                    <a:cubicBezTo>
                      <a:pt x="112232" y="213438"/>
                      <a:pt x="152123" y="172202"/>
                      <a:pt x="223478" y="102730"/>
                    </a:cubicBezTo>
                    <a:lnTo>
                      <a:pt x="230828" y="95558"/>
                    </a:lnTo>
                    <a:lnTo>
                      <a:pt x="240062" y="100041"/>
                    </a:lnTo>
                    <a:cubicBezTo>
                      <a:pt x="279773" y="119314"/>
                      <a:pt x="311506" y="137332"/>
                      <a:pt x="334544" y="153557"/>
                    </a:cubicBezTo>
                    <a:cubicBezTo>
                      <a:pt x="390750" y="129174"/>
                      <a:pt x="416656" y="119762"/>
                      <a:pt x="430013" y="116266"/>
                    </a:cubicBezTo>
                    <a:cubicBezTo>
                      <a:pt x="432344" y="107929"/>
                      <a:pt x="436378" y="93228"/>
                      <a:pt x="443280" y="67232"/>
                    </a:cubicBezTo>
                    <a:cubicBezTo>
                      <a:pt x="449286" y="44283"/>
                      <a:pt x="454754" y="25100"/>
                      <a:pt x="459326" y="10309"/>
                    </a:cubicBezTo>
                    <a:lnTo>
                      <a:pt x="462374" y="0"/>
                    </a:lnTo>
                    <a:lnTo>
                      <a:pt x="649098" y="0"/>
                    </a:lnTo>
                    <a:lnTo>
                      <a:pt x="652774" y="9143"/>
                    </a:lnTo>
                    <a:cubicBezTo>
                      <a:pt x="658869" y="24203"/>
                      <a:pt x="668820" y="58178"/>
                      <a:pt x="683252" y="113039"/>
                    </a:cubicBezTo>
                    <a:cubicBezTo>
                      <a:pt x="690603" y="116087"/>
                      <a:pt x="704318" y="121465"/>
                      <a:pt x="729776" y="131057"/>
                    </a:cubicBezTo>
                    <a:cubicBezTo>
                      <a:pt x="750125" y="138676"/>
                      <a:pt x="765902" y="146296"/>
                      <a:pt x="777824" y="154184"/>
                    </a:cubicBezTo>
                    <a:cubicBezTo>
                      <a:pt x="789568" y="150061"/>
                      <a:pt x="802924" y="143069"/>
                      <a:pt x="817895" y="133208"/>
                    </a:cubicBezTo>
                    <a:cubicBezTo>
                      <a:pt x="841829" y="118417"/>
                      <a:pt x="858323" y="109184"/>
                      <a:pt x="868632" y="104881"/>
                    </a:cubicBezTo>
                    <a:lnTo>
                      <a:pt x="875534" y="102013"/>
                    </a:lnTo>
                    <a:lnTo>
                      <a:pt x="881899" y="105867"/>
                    </a:lnTo>
                    <a:cubicBezTo>
                      <a:pt x="901351" y="117700"/>
                      <a:pt x="923045" y="136704"/>
                      <a:pt x="948413" y="164045"/>
                    </a:cubicBezTo>
                    <a:cubicBezTo>
                      <a:pt x="975844" y="192282"/>
                      <a:pt x="995924" y="211645"/>
                      <a:pt x="1008025" y="221147"/>
                    </a:cubicBezTo>
                    <a:lnTo>
                      <a:pt x="1017617" y="228767"/>
                    </a:lnTo>
                    <a:lnTo>
                      <a:pt x="1011790" y="239524"/>
                    </a:lnTo>
                    <a:cubicBezTo>
                      <a:pt x="988932" y="281745"/>
                      <a:pt x="971182" y="312492"/>
                      <a:pt x="957736" y="333110"/>
                    </a:cubicBezTo>
                    <a:cubicBezTo>
                      <a:pt x="978981" y="394067"/>
                      <a:pt x="988394" y="420153"/>
                      <a:pt x="992607" y="430999"/>
                    </a:cubicBezTo>
                    <a:cubicBezTo>
                      <a:pt x="1007308" y="433061"/>
                      <a:pt x="1024251" y="436916"/>
                      <a:pt x="1043165" y="442563"/>
                    </a:cubicBezTo>
                    <a:cubicBezTo>
                      <a:pt x="1068355" y="449914"/>
                      <a:pt x="1086014" y="454665"/>
                      <a:pt x="1095426" y="456547"/>
                    </a:cubicBezTo>
                    <a:lnTo>
                      <a:pt x="1107170" y="458878"/>
                    </a:lnTo>
                    <a:lnTo>
                      <a:pt x="1107170" y="653043"/>
                    </a:lnTo>
                    <a:lnTo>
                      <a:pt x="1095875" y="655642"/>
                    </a:lnTo>
                    <a:cubicBezTo>
                      <a:pt x="1090048" y="656987"/>
                      <a:pt x="1076512" y="660573"/>
                      <a:pt x="1045317" y="669716"/>
                    </a:cubicBezTo>
                    <a:cubicBezTo>
                      <a:pt x="1027298" y="674915"/>
                      <a:pt x="1011253" y="678770"/>
                      <a:pt x="997627" y="681101"/>
                    </a:cubicBezTo>
                    <a:cubicBezTo>
                      <a:pt x="993683" y="688900"/>
                      <a:pt x="987408" y="702973"/>
                      <a:pt x="977816" y="728521"/>
                    </a:cubicBezTo>
                    <a:cubicBezTo>
                      <a:pt x="970196" y="749587"/>
                      <a:pt x="962398" y="765723"/>
                      <a:pt x="953971" y="777287"/>
                    </a:cubicBezTo>
                    <a:cubicBezTo>
                      <a:pt x="958991" y="785803"/>
                      <a:pt x="966611" y="799070"/>
                      <a:pt x="976830" y="816908"/>
                    </a:cubicBezTo>
                    <a:cubicBezTo>
                      <a:pt x="987587" y="835823"/>
                      <a:pt x="997089" y="850614"/>
                      <a:pt x="1005157" y="861012"/>
                    </a:cubicBezTo>
                    <a:lnTo>
                      <a:pt x="1011701" y="869439"/>
                    </a:lnTo>
                    <a:lnTo>
                      <a:pt x="1005605" y="878224"/>
                    </a:lnTo>
                    <a:cubicBezTo>
                      <a:pt x="994938" y="893732"/>
                      <a:pt x="955316" y="934967"/>
                      <a:pt x="884499" y="1004350"/>
                    </a:cubicBezTo>
                    <a:lnTo>
                      <a:pt x="877238" y="1011432"/>
                    </a:lnTo>
                    <a:lnTo>
                      <a:pt x="868094" y="1007039"/>
                    </a:lnTo>
                    <a:cubicBezTo>
                      <a:pt x="836450" y="992069"/>
                      <a:pt x="805076" y="974141"/>
                      <a:pt x="774777" y="953882"/>
                    </a:cubicBezTo>
                    <a:cubicBezTo>
                      <a:pt x="742147" y="972169"/>
                      <a:pt x="710503" y="984629"/>
                      <a:pt x="680652" y="991083"/>
                    </a:cubicBezTo>
                    <a:cubicBezTo>
                      <a:pt x="676529" y="999420"/>
                      <a:pt x="671240" y="1013673"/>
                      <a:pt x="665682" y="1037787"/>
                    </a:cubicBezTo>
                    <a:cubicBezTo>
                      <a:pt x="658780" y="1067727"/>
                      <a:pt x="652774" y="1087717"/>
                      <a:pt x="647126" y="1098922"/>
                    </a:cubicBezTo>
                    <a:lnTo>
                      <a:pt x="643003" y="1107080"/>
                    </a:lnTo>
                    <a:close/>
                    <a:moveTo>
                      <a:pt x="477434" y="1077946"/>
                    </a:moveTo>
                    <a:lnTo>
                      <a:pt x="624357" y="1077946"/>
                    </a:lnTo>
                    <a:cubicBezTo>
                      <a:pt x="627495" y="1069430"/>
                      <a:pt x="631708" y="1055177"/>
                      <a:pt x="637176" y="1031332"/>
                    </a:cubicBezTo>
                    <a:cubicBezTo>
                      <a:pt x="643630" y="1003543"/>
                      <a:pt x="650622" y="983643"/>
                      <a:pt x="658601" y="970645"/>
                    </a:cubicBezTo>
                    <a:lnTo>
                      <a:pt x="662007" y="965087"/>
                    </a:lnTo>
                    <a:lnTo>
                      <a:pt x="668371" y="963921"/>
                    </a:lnTo>
                    <a:cubicBezTo>
                      <a:pt x="699298" y="958274"/>
                      <a:pt x="732824" y="944917"/>
                      <a:pt x="767874" y="924300"/>
                    </a:cubicBezTo>
                    <a:lnTo>
                      <a:pt x="775852" y="919638"/>
                    </a:lnTo>
                    <a:lnTo>
                      <a:pt x="783472" y="924838"/>
                    </a:lnTo>
                    <a:cubicBezTo>
                      <a:pt x="811978" y="944380"/>
                      <a:pt x="841470" y="961680"/>
                      <a:pt x="871321" y="976382"/>
                    </a:cubicBezTo>
                    <a:cubicBezTo>
                      <a:pt x="934877" y="913991"/>
                      <a:pt x="963204" y="883871"/>
                      <a:pt x="975306" y="869618"/>
                    </a:cubicBezTo>
                    <a:cubicBezTo>
                      <a:pt x="968045" y="859309"/>
                      <a:pt x="960067" y="846401"/>
                      <a:pt x="951461" y="831251"/>
                    </a:cubicBezTo>
                    <a:cubicBezTo>
                      <a:pt x="932995" y="798801"/>
                      <a:pt x="926272" y="787506"/>
                      <a:pt x="923851" y="783741"/>
                    </a:cubicBezTo>
                    <a:lnTo>
                      <a:pt x="917756" y="774149"/>
                    </a:lnTo>
                    <a:lnTo>
                      <a:pt x="925644" y="765902"/>
                    </a:lnTo>
                    <a:cubicBezTo>
                      <a:pt x="931202" y="760075"/>
                      <a:pt x="940077" y="747077"/>
                      <a:pt x="950386" y="718392"/>
                    </a:cubicBezTo>
                    <a:cubicBezTo>
                      <a:pt x="961501" y="688989"/>
                      <a:pt x="969748" y="669985"/>
                      <a:pt x="975844" y="660124"/>
                    </a:cubicBezTo>
                    <a:lnTo>
                      <a:pt x="979430" y="654298"/>
                    </a:lnTo>
                    <a:lnTo>
                      <a:pt x="986242" y="653401"/>
                    </a:lnTo>
                    <a:cubicBezTo>
                      <a:pt x="999958" y="651519"/>
                      <a:pt x="1017079" y="647664"/>
                      <a:pt x="1037069" y="641837"/>
                    </a:cubicBezTo>
                    <a:cubicBezTo>
                      <a:pt x="1054460" y="636728"/>
                      <a:pt x="1068086" y="632873"/>
                      <a:pt x="1077946" y="630184"/>
                    </a:cubicBezTo>
                    <a:lnTo>
                      <a:pt x="1077946" y="482454"/>
                    </a:lnTo>
                    <a:cubicBezTo>
                      <a:pt x="1067458" y="479854"/>
                      <a:pt x="1053205" y="475910"/>
                      <a:pt x="1034739" y="470531"/>
                    </a:cubicBezTo>
                    <a:cubicBezTo>
                      <a:pt x="1016093" y="464974"/>
                      <a:pt x="999868" y="461298"/>
                      <a:pt x="986153" y="459505"/>
                    </a:cubicBezTo>
                    <a:cubicBezTo>
                      <a:pt x="971720" y="463001"/>
                      <a:pt x="971541" y="462464"/>
                      <a:pt x="927616" y="335710"/>
                    </a:cubicBezTo>
                    <a:lnTo>
                      <a:pt x="925196" y="328807"/>
                    </a:lnTo>
                    <a:lnTo>
                      <a:pt x="929320" y="322712"/>
                    </a:lnTo>
                    <a:cubicBezTo>
                      <a:pt x="941421" y="304873"/>
                      <a:pt x="958543" y="275739"/>
                      <a:pt x="980326" y="235938"/>
                    </a:cubicBezTo>
                    <a:cubicBezTo>
                      <a:pt x="967418" y="224553"/>
                      <a:pt x="949937" y="207432"/>
                      <a:pt x="927168" y="183946"/>
                    </a:cubicBezTo>
                    <a:cubicBezTo>
                      <a:pt x="906640" y="161894"/>
                      <a:pt x="888533" y="145399"/>
                      <a:pt x="873024" y="134732"/>
                    </a:cubicBezTo>
                    <a:cubicBezTo>
                      <a:pt x="863881" y="139304"/>
                      <a:pt x="850614" y="147013"/>
                      <a:pt x="833492" y="157591"/>
                    </a:cubicBezTo>
                    <a:cubicBezTo>
                      <a:pt x="813592" y="170679"/>
                      <a:pt x="795125" y="179643"/>
                      <a:pt x="779080" y="184035"/>
                    </a:cubicBezTo>
                    <a:lnTo>
                      <a:pt x="772087" y="185918"/>
                    </a:lnTo>
                    <a:lnTo>
                      <a:pt x="766350" y="181525"/>
                    </a:lnTo>
                    <a:cubicBezTo>
                      <a:pt x="756400" y="173906"/>
                      <a:pt x="740623" y="166017"/>
                      <a:pt x="719468" y="158039"/>
                    </a:cubicBezTo>
                    <a:cubicBezTo>
                      <a:pt x="689706" y="146834"/>
                      <a:pt x="671778" y="139752"/>
                      <a:pt x="664875" y="136615"/>
                    </a:cubicBezTo>
                    <a:lnTo>
                      <a:pt x="658601" y="133746"/>
                    </a:lnTo>
                    <a:lnTo>
                      <a:pt x="656897" y="127112"/>
                    </a:lnTo>
                    <a:cubicBezTo>
                      <a:pt x="644527" y="79871"/>
                      <a:pt x="635204" y="46972"/>
                      <a:pt x="629108" y="28954"/>
                    </a:cubicBezTo>
                    <a:lnTo>
                      <a:pt x="483888" y="28954"/>
                    </a:lnTo>
                    <a:cubicBezTo>
                      <a:pt x="480123" y="41594"/>
                      <a:pt x="475910" y="56923"/>
                      <a:pt x="471338" y="74493"/>
                    </a:cubicBezTo>
                    <a:cubicBezTo>
                      <a:pt x="462822" y="106405"/>
                      <a:pt x="457444" y="126126"/>
                      <a:pt x="455292" y="133029"/>
                    </a:cubicBezTo>
                    <a:lnTo>
                      <a:pt x="452244" y="142800"/>
                    </a:lnTo>
                    <a:lnTo>
                      <a:pt x="442025" y="143427"/>
                    </a:lnTo>
                    <a:cubicBezTo>
                      <a:pt x="438888" y="143607"/>
                      <a:pt x="422125" y="147013"/>
                      <a:pt x="338399" y="183587"/>
                    </a:cubicBezTo>
                    <a:lnTo>
                      <a:pt x="330600" y="186993"/>
                    </a:lnTo>
                    <a:lnTo>
                      <a:pt x="323787" y="181884"/>
                    </a:lnTo>
                    <a:cubicBezTo>
                      <a:pt x="303528" y="166645"/>
                      <a:pt x="274126" y="149433"/>
                      <a:pt x="236386" y="130698"/>
                    </a:cubicBezTo>
                    <a:cubicBezTo>
                      <a:pt x="172920" y="192641"/>
                      <a:pt x="144324" y="222671"/>
                      <a:pt x="132043" y="237103"/>
                    </a:cubicBezTo>
                    <a:cubicBezTo>
                      <a:pt x="144593" y="254135"/>
                      <a:pt x="161625" y="282910"/>
                      <a:pt x="183677" y="324235"/>
                    </a:cubicBezTo>
                    <a:lnTo>
                      <a:pt x="187890" y="332124"/>
                    </a:lnTo>
                    <a:lnTo>
                      <a:pt x="182780" y="339475"/>
                    </a:lnTo>
                    <a:cubicBezTo>
                      <a:pt x="175250" y="350232"/>
                      <a:pt x="166645" y="367264"/>
                      <a:pt x="157053" y="390122"/>
                    </a:cubicBezTo>
                    <a:cubicBezTo>
                      <a:pt x="145041" y="418539"/>
                      <a:pt x="136704" y="437005"/>
                      <a:pt x="131415" y="446418"/>
                    </a:cubicBezTo>
                    <a:lnTo>
                      <a:pt x="127919" y="452782"/>
                    </a:lnTo>
                    <a:lnTo>
                      <a:pt x="120748" y="453768"/>
                    </a:lnTo>
                    <a:cubicBezTo>
                      <a:pt x="107033" y="455651"/>
                      <a:pt x="89911" y="459505"/>
                      <a:pt x="69921" y="465332"/>
                    </a:cubicBezTo>
                    <a:cubicBezTo>
                      <a:pt x="52261" y="470531"/>
                      <a:pt x="38725" y="474386"/>
                      <a:pt x="29044" y="476986"/>
                    </a:cubicBezTo>
                    <a:lnTo>
                      <a:pt x="29044" y="624716"/>
                    </a:lnTo>
                    <a:cubicBezTo>
                      <a:pt x="39622" y="627315"/>
                      <a:pt x="53875" y="631260"/>
                      <a:pt x="72252" y="636638"/>
                    </a:cubicBezTo>
                    <a:cubicBezTo>
                      <a:pt x="93497" y="642375"/>
                      <a:pt x="111604" y="646320"/>
                      <a:pt x="125947" y="648202"/>
                    </a:cubicBezTo>
                    <a:lnTo>
                      <a:pt x="136883" y="649636"/>
                    </a:lnTo>
                    <a:lnTo>
                      <a:pt x="138497" y="660573"/>
                    </a:lnTo>
                    <a:cubicBezTo>
                      <a:pt x="140828" y="676708"/>
                      <a:pt x="146565" y="695443"/>
                      <a:pt x="155529" y="716240"/>
                    </a:cubicBezTo>
                    <a:cubicBezTo>
                      <a:pt x="173995" y="757117"/>
                      <a:pt x="178029" y="767426"/>
                      <a:pt x="179374" y="771550"/>
                    </a:cubicBezTo>
                    <a:lnTo>
                      <a:pt x="181436" y="777824"/>
                    </a:lnTo>
                    <a:lnTo>
                      <a:pt x="178119" y="783562"/>
                    </a:lnTo>
                    <a:cubicBezTo>
                      <a:pt x="147730" y="835823"/>
                      <a:pt x="135270" y="860026"/>
                      <a:pt x="130340" y="871142"/>
                    </a:cubicBezTo>
                    <a:cubicBezTo>
                      <a:pt x="192641" y="934429"/>
                      <a:pt x="221685" y="961322"/>
                      <a:pt x="235042" y="971989"/>
                    </a:cubicBezTo>
                    <a:cubicBezTo>
                      <a:pt x="244006" y="967328"/>
                      <a:pt x="256825" y="959798"/>
                      <a:pt x="273408" y="949489"/>
                    </a:cubicBezTo>
                    <a:cubicBezTo>
                      <a:pt x="294295" y="936670"/>
                      <a:pt x="312223" y="928065"/>
                      <a:pt x="328180" y="923134"/>
                    </a:cubicBezTo>
                    <a:lnTo>
                      <a:pt x="334813" y="921073"/>
                    </a:lnTo>
                    <a:lnTo>
                      <a:pt x="340550" y="924927"/>
                    </a:lnTo>
                    <a:cubicBezTo>
                      <a:pt x="342612" y="926093"/>
                      <a:pt x="359286" y="933981"/>
                      <a:pt x="441756" y="970286"/>
                    </a:cubicBezTo>
                    <a:lnTo>
                      <a:pt x="447314" y="972706"/>
                    </a:lnTo>
                    <a:lnTo>
                      <a:pt x="449465" y="978354"/>
                    </a:lnTo>
                    <a:cubicBezTo>
                      <a:pt x="453768" y="989559"/>
                      <a:pt x="458878" y="1008115"/>
                      <a:pt x="465153" y="1035097"/>
                    </a:cubicBezTo>
                    <a:cubicBezTo>
                      <a:pt x="469456" y="1053205"/>
                      <a:pt x="473490" y="1067548"/>
                      <a:pt x="477434" y="107794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dirty="0">
                  <a:ln>
                    <a:noFill/>
                  </a:ln>
                  <a:solidFill>
                    <a:srgbClr val="717074"/>
                  </a:solidFill>
                  <a:effectLst/>
                  <a:uLnTx/>
                  <a:uFillTx/>
                  <a:latin typeface="Arial"/>
                  <a:ea typeface="Arial"/>
                  <a:cs typeface="Arial"/>
                  <a:sym typeface="Arial"/>
                </a:endParaRPr>
              </a:p>
            </p:txBody>
          </p:sp>
        </p:grpSp>
      </p:grpSp>
      <p:sp>
        <p:nvSpPr>
          <p:cNvPr id="2" name="Title 1">
            <a:extLst>
              <a:ext uri="{FF2B5EF4-FFF2-40B4-BE49-F238E27FC236}">
                <a16:creationId xmlns:a16="http://schemas.microsoft.com/office/drawing/2014/main" id="{D8C89568-F87E-1480-183B-23949F1FF90D}"/>
              </a:ext>
            </a:extLst>
          </p:cNvPr>
          <p:cNvSpPr>
            <a:spLocks noGrp="1"/>
          </p:cNvSpPr>
          <p:nvPr>
            <p:ph type="title"/>
          </p:nvPr>
        </p:nvSpPr>
        <p:spPr/>
        <p:txBody>
          <a:bodyPr/>
          <a:lstStyle/>
          <a:p>
            <a:r>
              <a:rPr lang="en-US" dirty="0"/>
              <a:t>Unlock Cloud Experience with vSphere Supervisor</a:t>
            </a:r>
          </a:p>
        </p:txBody>
      </p:sp>
      <p:sp>
        <p:nvSpPr>
          <p:cNvPr id="3" name="Subtitle 2">
            <a:extLst>
              <a:ext uri="{FF2B5EF4-FFF2-40B4-BE49-F238E27FC236}">
                <a16:creationId xmlns:a16="http://schemas.microsoft.com/office/drawing/2014/main" id="{BBBD3D10-19D8-C197-57E4-5EFC3EAAD34C}"/>
              </a:ext>
            </a:extLst>
          </p:cNvPr>
          <p:cNvSpPr>
            <a:spLocks noGrp="1"/>
          </p:cNvSpPr>
          <p:nvPr>
            <p:ph type="subTitle" idx="10"/>
          </p:nvPr>
        </p:nvSpPr>
        <p:spPr/>
        <p:txBody>
          <a:bodyPr/>
          <a:lstStyle/>
          <a:p>
            <a:r>
              <a:rPr lang="en-US" dirty="0"/>
              <a:t>Deliver a consistent Service consumption experience with an embedded Declarative API</a:t>
            </a:r>
          </a:p>
        </p:txBody>
      </p:sp>
      <p:sp>
        <p:nvSpPr>
          <p:cNvPr id="8" name="Text Placeholder 7">
            <a:extLst>
              <a:ext uri="{FF2B5EF4-FFF2-40B4-BE49-F238E27FC236}">
                <a16:creationId xmlns:a16="http://schemas.microsoft.com/office/drawing/2014/main" id="{25DB4A0F-A75A-9DF1-FFA9-E0A270224E0C}"/>
              </a:ext>
            </a:extLst>
          </p:cNvPr>
          <p:cNvSpPr>
            <a:spLocks noGrp="1"/>
          </p:cNvSpPr>
          <p:nvPr>
            <p:ph type="body" sz="quarter" idx="17"/>
          </p:nvPr>
        </p:nvSpPr>
        <p:spPr/>
        <p:txBody>
          <a:bodyPr/>
          <a:lstStyle/>
          <a:p>
            <a:r>
              <a:rPr lang="en-US" dirty="0"/>
              <a:t>Deploy and manage </a:t>
            </a:r>
            <a:r>
              <a:rPr lang="en-US" b="1" dirty="0"/>
              <a:t>Virtual Machines</a:t>
            </a:r>
            <a:r>
              <a:rPr lang="en-US" dirty="0"/>
              <a:t>, </a:t>
            </a:r>
            <a:r>
              <a:rPr lang="en-US" b="1" dirty="0"/>
              <a:t>Kubernetes clusters</a:t>
            </a:r>
            <a:r>
              <a:rPr lang="en-US" dirty="0"/>
              <a:t>, and other resources using a </a:t>
            </a:r>
            <a:r>
              <a:rPr lang="en-US" b="1" dirty="0"/>
              <a:t>single API</a:t>
            </a:r>
          </a:p>
          <a:p>
            <a:r>
              <a:rPr lang="en-US" dirty="0"/>
              <a:t>vSphere Supervisor provides an </a:t>
            </a:r>
            <a:r>
              <a:rPr lang="en-US" b="1" dirty="0"/>
              <a:t>extensible ecosystem </a:t>
            </a:r>
            <a:r>
              <a:rPr lang="en-US" dirty="0"/>
              <a:t>with Supervisor Services</a:t>
            </a:r>
          </a:p>
          <a:p>
            <a:r>
              <a:rPr lang="en-US" dirty="0"/>
              <a:t>Add </a:t>
            </a:r>
            <a:r>
              <a:rPr lang="en-US" b="1" dirty="0"/>
              <a:t>new functionality </a:t>
            </a:r>
            <a:r>
              <a:rPr lang="en-US" dirty="0"/>
              <a:t>when needed while providing a </a:t>
            </a:r>
            <a:r>
              <a:rPr lang="en-US" b="1" dirty="0"/>
              <a:t>consistent consumption experience</a:t>
            </a:r>
          </a:p>
          <a:p>
            <a:endParaRPr lang="en-US" dirty="0"/>
          </a:p>
          <a:p>
            <a:pPr>
              <a:buNone/>
            </a:pPr>
            <a:endParaRPr lang="en-US" dirty="0"/>
          </a:p>
        </p:txBody>
      </p:sp>
      <p:sp>
        <p:nvSpPr>
          <p:cNvPr id="9" name="Isosceles Triangle 241">
            <a:extLst>
              <a:ext uri="{FF2B5EF4-FFF2-40B4-BE49-F238E27FC236}">
                <a16:creationId xmlns:a16="http://schemas.microsoft.com/office/drawing/2014/main" id="{7A775956-225B-AD3C-26C0-A808CA7525DF}"/>
              </a:ext>
              <a:ext uri="{C183D7F6-B498-43B3-948B-1728B52AA6E4}">
                <adec:decorative xmlns:adec="http://schemas.microsoft.com/office/drawing/2017/decorative" val="1"/>
              </a:ext>
            </a:extLst>
          </p:cNvPr>
          <p:cNvSpPr/>
          <p:nvPr/>
        </p:nvSpPr>
        <p:spPr>
          <a:xfrm>
            <a:off x="1962804" y="3597674"/>
            <a:ext cx="4319883" cy="1286958"/>
          </a:xfrm>
          <a:prstGeom prst="triangle">
            <a:avLst>
              <a:gd name="adj" fmla="val 50667"/>
            </a:avLst>
          </a:prstGeom>
          <a:gradFill flip="none" rotWithShape="1">
            <a:gsLst>
              <a:gs pos="50000">
                <a:schemeClr val="accent2">
                  <a:alpha val="0"/>
                </a:schemeClr>
              </a:gs>
              <a:gs pos="0">
                <a:schemeClr val="accent5">
                  <a:alpha val="59511"/>
                </a:schemeClr>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0" name="Google Shape;1556;p2">
            <a:extLst>
              <a:ext uri="{FF2B5EF4-FFF2-40B4-BE49-F238E27FC236}">
                <a16:creationId xmlns:a16="http://schemas.microsoft.com/office/drawing/2014/main" id="{D3F5656C-77AA-4405-5566-E63F333191FD}"/>
              </a:ext>
            </a:extLst>
          </p:cNvPr>
          <p:cNvSpPr/>
          <p:nvPr/>
        </p:nvSpPr>
        <p:spPr>
          <a:xfrm>
            <a:off x="770384" y="5121313"/>
            <a:ext cx="6700058"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 name="Google Shape;1562;p2">
            <a:extLst>
              <a:ext uri="{FF2B5EF4-FFF2-40B4-BE49-F238E27FC236}">
                <a16:creationId xmlns:a16="http://schemas.microsoft.com/office/drawing/2014/main" id="{52A8CDF4-C337-2EA1-A883-B1A81EF5BB29}"/>
              </a:ext>
            </a:extLst>
          </p:cNvPr>
          <p:cNvSpPr/>
          <p:nvPr/>
        </p:nvSpPr>
        <p:spPr>
          <a:xfrm>
            <a:off x="847855" y="4910067"/>
            <a:ext cx="6547773"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 name="TextBox 11">
            <a:extLst>
              <a:ext uri="{FF2B5EF4-FFF2-40B4-BE49-F238E27FC236}">
                <a16:creationId xmlns:a16="http://schemas.microsoft.com/office/drawing/2014/main" id="{B6357FCB-CF7E-4F6B-8CCF-612616C51732}"/>
              </a:ext>
            </a:extLst>
          </p:cNvPr>
          <p:cNvSpPr txBox="1"/>
          <p:nvPr/>
        </p:nvSpPr>
        <p:spPr>
          <a:xfrm>
            <a:off x="3687083" y="5021119"/>
            <a:ext cx="866659"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Supervisor</a:t>
            </a:r>
          </a:p>
        </p:txBody>
      </p:sp>
      <p:sp>
        <p:nvSpPr>
          <p:cNvPr id="13" name="Rectangle: Rounded Corners 130">
            <a:extLst>
              <a:ext uri="{FF2B5EF4-FFF2-40B4-BE49-F238E27FC236}">
                <a16:creationId xmlns:a16="http://schemas.microsoft.com/office/drawing/2014/main" id="{CFDB37AC-AB2B-D977-4A94-A497AA3511EE}"/>
              </a:ext>
              <a:ext uri="{C183D7F6-B498-43B3-948B-1728B52AA6E4}">
                <adec:decorative xmlns:adec="http://schemas.microsoft.com/office/drawing/2017/decorative" val="1"/>
              </a:ext>
            </a:extLst>
          </p:cNvPr>
          <p:cNvSpPr/>
          <p:nvPr/>
        </p:nvSpPr>
        <p:spPr>
          <a:xfrm>
            <a:off x="899865" y="4972714"/>
            <a:ext cx="1814370" cy="304750"/>
          </a:xfrm>
          <a:prstGeom prst="roundRect">
            <a:avLst>
              <a:gd name="adj" fmla="val 50000"/>
            </a:avLst>
          </a:prstGeom>
          <a:solidFill>
            <a:schemeClr val="bg1"/>
          </a:solidFill>
          <a:ln w="12700">
            <a:solidFill>
              <a:schemeClr val="accent5"/>
            </a:solidFill>
            <a:prstDash val="sysDot"/>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dirty="0">
              <a:ln>
                <a:noFill/>
              </a:ln>
              <a:solidFill>
                <a:srgbClr val="61A60E"/>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F1AAB062-1BF8-4416-F0CE-3030C933E833}"/>
              </a:ext>
            </a:extLst>
          </p:cNvPr>
          <p:cNvSpPr txBox="1"/>
          <p:nvPr/>
        </p:nvSpPr>
        <p:spPr>
          <a:xfrm>
            <a:off x="1224528" y="5031617"/>
            <a:ext cx="1438968" cy="17921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Supervisor Control Plane</a:t>
            </a:r>
          </a:p>
        </p:txBody>
      </p:sp>
      <p:grpSp>
        <p:nvGrpSpPr>
          <p:cNvPr id="15" name="Group 14">
            <a:extLst>
              <a:ext uri="{FF2B5EF4-FFF2-40B4-BE49-F238E27FC236}">
                <a16:creationId xmlns:a16="http://schemas.microsoft.com/office/drawing/2014/main" id="{B2A36490-03A0-ABA5-D511-8AB03AFDC8F2}"/>
              </a:ext>
            </a:extLst>
          </p:cNvPr>
          <p:cNvGrpSpPr/>
          <p:nvPr/>
        </p:nvGrpSpPr>
        <p:grpSpPr>
          <a:xfrm>
            <a:off x="914409" y="4983435"/>
            <a:ext cx="288000" cy="288000"/>
            <a:chOff x="456349" y="4375620"/>
            <a:chExt cx="288000" cy="288000"/>
          </a:xfrm>
        </p:grpSpPr>
        <p:sp>
          <p:nvSpPr>
            <p:cNvPr id="16" name="Freeform: Shape 79">
              <a:extLst>
                <a:ext uri="{FF2B5EF4-FFF2-40B4-BE49-F238E27FC236}">
                  <a16:creationId xmlns:a16="http://schemas.microsoft.com/office/drawing/2014/main" id="{EDEDD0A8-DE37-BCC6-E018-ED79FEDFF93C}"/>
                </a:ext>
              </a:extLst>
            </p:cNvPr>
            <p:cNvSpPr/>
            <p:nvPr/>
          </p:nvSpPr>
          <p:spPr>
            <a:xfrm>
              <a:off x="456349" y="4375620"/>
              <a:ext cx="288000" cy="288000"/>
            </a:xfrm>
            <a:custGeom>
              <a:avLst/>
              <a:gdLst>
                <a:gd name="connsiteX0" fmla="*/ 619503 w 1237269"/>
                <a:gd name="connsiteY0" fmla="*/ 0 h 1237269"/>
                <a:gd name="connsiteX1" fmla="*/ 1237270 w 1237269"/>
                <a:gd name="connsiteY1" fmla="*/ 617767 h 1237269"/>
                <a:gd name="connsiteX2" fmla="*/ 1237270 w 1237269"/>
                <a:gd name="connsiteY2" fmla="*/ 619503 h 1237269"/>
                <a:gd name="connsiteX3" fmla="*/ 619503 w 1237269"/>
                <a:gd name="connsiteY3" fmla="*/ 1237270 h 1237269"/>
                <a:gd name="connsiteX4" fmla="*/ 617767 w 1237269"/>
                <a:gd name="connsiteY4" fmla="*/ 1237270 h 1237269"/>
                <a:gd name="connsiteX5" fmla="*/ 0 w 1237269"/>
                <a:gd name="connsiteY5" fmla="*/ 619503 h 1237269"/>
                <a:gd name="connsiteX6" fmla="*/ 0 w 1237269"/>
                <a:gd name="connsiteY6" fmla="*/ 617767 h 1237269"/>
                <a:gd name="connsiteX7" fmla="*/ 617767 w 1237269"/>
                <a:gd name="connsiteY7" fmla="*/ 0 h 123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269" h="1237269">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7" name="Freeform: Shape 80">
              <a:extLst>
                <a:ext uri="{FF2B5EF4-FFF2-40B4-BE49-F238E27FC236}">
                  <a16:creationId xmlns:a16="http://schemas.microsoft.com/office/drawing/2014/main" id="{4F7D7BF1-21D4-68D2-F760-D9D3DFC2DE05}"/>
                </a:ext>
              </a:extLst>
            </p:cNvPr>
            <p:cNvSpPr>
              <a:spLocks noChangeAspect="1"/>
            </p:cNvSpPr>
            <p:nvPr/>
          </p:nvSpPr>
          <p:spPr>
            <a:xfrm>
              <a:off x="501068" y="4430830"/>
              <a:ext cx="204951" cy="180919"/>
            </a:xfrm>
            <a:custGeom>
              <a:avLst/>
              <a:gdLst>
                <a:gd name="connsiteX0" fmla="*/ 1269187 w 1373429"/>
                <a:gd name="connsiteY0" fmla="*/ 1205789 h 1372819"/>
                <a:gd name="connsiteX1" fmla="*/ 1206094 w 1373429"/>
                <a:gd name="connsiteY1" fmla="*/ 1268882 h 1372819"/>
                <a:gd name="connsiteX2" fmla="*/ 1269187 w 1373429"/>
                <a:gd name="connsiteY2" fmla="*/ 1331976 h 1372819"/>
                <a:gd name="connsiteX3" fmla="*/ 1332281 w 1373429"/>
                <a:gd name="connsiteY3" fmla="*/ 1268882 h 1372819"/>
                <a:gd name="connsiteX4" fmla="*/ 1269187 w 1373429"/>
                <a:gd name="connsiteY4" fmla="*/ 1205789 h 1372819"/>
                <a:gd name="connsiteX5" fmla="*/ 686714 w 1373429"/>
                <a:gd name="connsiteY5" fmla="*/ 1205789 h 1372819"/>
                <a:gd name="connsiteX6" fmla="*/ 623621 w 1373429"/>
                <a:gd name="connsiteY6" fmla="*/ 1268882 h 1372819"/>
                <a:gd name="connsiteX7" fmla="*/ 686714 w 1373429"/>
                <a:gd name="connsiteY7" fmla="*/ 1331976 h 1372819"/>
                <a:gd name="connsiteX8" fmla="*/ 749808 w 1373429"/>
                <a:gd name="connsiteY8" fmla="*/ 1268882 h 1372819"/>
                <a:gd name="connsiteX9" fmla="*/ 686714 w 1373429"/>
                <a:gd name="connsiteY9" fmla="*/ 1205789 h 1372819"/>
                <a:gd name="connsiteX10" fmla="*/ 104242 w 1373429"/>
                <a:gd name="connsiteY10" fmla="*/ 1205789 h 1372819"/>
                <a:gd name="connsiteX11" fmla="*/ 41148 w 1373429"/>
                <a:gd name="connsiteY11" fmla="*/ 1268882 h 1372819"/>
                <a:gd name="connsiteX12" fmla="*/ 104242 w 1373429"/>
                <a:gd name="connsiteY12" fmla="*/ 1331976 h 1372819"/>
                <a:gd name="connsiteX13" fmla="*/ 167335 w 1373429"/>
                <a:gd name="connsiteY13" fmla="*/ 1268882 h 1372819"/>
                <a:gd name="connsiteX14" fmla="*/ 104242 w 1373429"/>
                <a:gd name="connsiteY14" fmla="*/ 1205789 h 1372819"/>
                <a:gd name="connsiteX15" fmla="*/ 607466 w 1373429"/>
                <a:gd name="connsiteY15" fmla="*/ 647090 h 1372819"/>
                <a:gd name="connsiteX16" fmla="*/ 627887 w 1373429"/>
                <a:gd name="connsiteY16" fmla="*/ 693420 h 1372819"/>
                <a:gd name="connsiteX17" fmla="*/ 587044 w 1373429"/>
                <a:gd name="connsiteY17" fmla="*/ 693420 h 1372819"/>
                <a:gd name="connsiteX18" fmla="*/ 693724 w 1373429"/>
                <a:gd name="connsiteY18" fmla="*/ 644042 h 1372819"/>
                <a:gd name="connsiteX19" fmla="*/ 717803 w 1373429"/>
                <a:gd name="connsiteY19" fmla="*/ 644042 h 1372819"/>
                <a:gd name="connsiteX20" fmla="*/ 735482 w 1373429"/>
                <a:gd name="connsiteY20" fmla="*/ 648919 h 1372819"/>
                <a:gd name="connsiteX21" fmla="*/ 742187 w 1373429"/>
                <a:gd name="connsiteY21" fmla="*/ 662330 h 1372819"/>
                <a:gd name="connsiteX22" fmla="*/ 735482 w 1373429"/>
                <a:gd name="connsiteY22" fmla="*/ 676046 h 1372819"/>
                <a:gd name="connsiteX23" fmla="*/ 735482 w 1373429"/>
                <a:gd name="connsiteY23" fmla="*/ 676351 h 1372819"/>
                <a:gd name="connsiteX24" fmla="*/ 717803 w 1373429"/>
                <a:gd name="connsiteY24" fmla="*/ 681228 h 1372819"/>
                <a:gd name="connsiteX25" fmla="*/ 693724 w 1373429"/>
                <a:gd name="connsiteY25" fmla="*/ 681228 h 1372819"/>
                <a:gd name="connsiteX26" fmla="*/ 776629 w 1373429"/>
                <a:gd name="connsiteY26" fmla="*/ 630631 h 1372819"/>
                <a:gd name="connsiteX27" fmla="*/ 776629 w 1373429"/>
                <a:gd name="connsiteY27" fmla="*/ 726338 h 1372819"/>
                <a:gd name="connsiteX28" fmla="*/ 790041 w 1373429"/>
                <a:gd name="connsiteY28" fmla="*/ 726338 h 1372819"/>
                <a:gd name="connsiteX29" fmla="*/ 790041 w 1373429"/>
                <a:gd name="connsiteY29" fmla="*/ 630631 h 1372819"/>
                <a:gd name="connsiteX30" fmla="*/ 679703 w 1373429"/>
                <a:gd name="connsiteY30" fmla="*/ 630631 h 1372819"/>
                <a:gd name="connsiteX31" fmla="*/ 679703 w 1373429"/>
                <a:gd name="connsiteY31" fmla="*/ 726338 h 1372819"/>
                <a:gd name="connsiteX32" fmla="*/ 693114 w 1373429"/>
                <a:gd name="connsiteY32" fmla="*/ 726338 h 1372819"/>
                <a:gd name="connsiteX33" fmla="*/ 693114 w 1373429"/>
                <a:gd name="connsiteY33" fmla="*/ 692810 h 1372819"/>
                <a:gd name="connsiteX34" fmla="*/ 719022 w 1373429"/>
                <a:gd name="connsiteY34" fmla="*/ 692810 h 1372819"/>
                <a:gd name="connsiteX35" fmla="*/ 737005 w 1373429"/>
                <a:gd name="connsiteY35" fmla="*/ 688847 h 1372819"/>
                <a:gd name="connsiteX36" fmla="*/ 749807 w 1373429"/>
                <a:gd name="connsiteY36" fmla="*/ 677875 h 1372819"/>
                <a:gd name="connsiteX37" fmla="*/ 754684 w 1373429"/>
                <a:gd name="connsiteY37" fmla="*/ 661720 h 1372819"/>
                <a:gd name="connsiteX38" fmla="*/ 749807 w 1373429"/>
                <a:gd name="connsiteY38" fmla="*/ 645566 h 1372819"/>
                <a:gd name="connsiteX39" fmla="*/ 737005 w 1373429"/>
                <a:gd name="connsiteY39" fmla="*/ 634593 h 1372819"/>
                <a:gd name="connsiteX40" fmla="*/ 719022 w 1373429"/>
                <a:gd name="connsiteY40" fmla="*/ 630631 h 1372819"/>
                <a:gd name="connsiteX41" fmla="*/ 600150 w 1373429"/>
                <a:gd name="connsiteY41" fmla="*/ 630631 h 1372819"/>
                <a:gd name="connsiteX42" fmla="*/ 558697 w 1373429"/>
                <a:gd name="connsiteY42" fmla="*/ 726338 h 1372819"/>
                <a:gd name="connsiteX43" fmla="*/ 572413 w 1373429"/>
                <a:gd name="connsiteY43" fmla="*/ 726338 h 1372819"/>
                <a:gd name="connsiteX44" fmla="*/ 581862 w 1373429"/>
                <a:gd name="connsiteY44" fmla="*/ 705307 h 1372819"/>
                <a:gd name="connsiteX45" fmla="*/ 631849 w 1373429"/>
                <a:gd name="connsiteY45" fmla="*/ 705307 h 1372819"/>
                <a:gd name="connsiteX46" fmla="*/ 641298 w 1373429"/>
                <a:gd name="connsiteY46" fmla="*/ 726338 h 1372819"/>
                <a:gd name="connsiteX47" fmla="*/ 655014 w 1373429"/>
                <a:gd name="connsiteY47" fmla="*/ 726338 h 1372819"/>
                <a:gd name="connsiteX48" fmla="*/ 613561 w 1373429"/>
                <a:gd name="connsiteY48" fmla="*/ 630631 h 1372819"/>
                <a:gd name="connsiteX49" fmla="*/ 685799 w 1373429"/>
                <a:gd name="connsiteY49" fmla="*/ 490727 h 1372819"/>
                <a:gd name="connsiteX50" fmla="*/ 611733 w 1373429"/>
                <a:gd name="connsiteY50" fmla="*/ 504748 h 1372819"/>
                <a:gd name="connsiteX51" fmla="*/ 505967 w 1373429"/>
                <a:gd name="connsiteY51" fmla="*/ 608075 h 1372819"/>
                <a:gd name="connsiteX52" fmla="*/ 535533 w 1373429"/>
                <a:gd name="connsiteY52" fmla="*/ 620877 h 1372819"/>
                <a:gd name="connsiteX53" fmla="*/ 623620 w 1373429"/>
                <a:gd name="connsiteY53" fmla="*/ 534923 h 1372819"/>
                <a:gd name="connsiteX54" fmla="*/ 746759 w 1373429"/>
                <a:gd name="connsiteY54" fmla="*/ 536447 h 1372819"/>
                <a:gd name="connsiteX55" fmla="*/ 832713 w 1373429"/>
                <a:gd name="connsiteY55" fmla="*/ 624535 h 1372819"/>
                <a:gd name="connsiteX56" fmla="*/ 831189 w 1373429"/>
                <a:gd name="connsiteY56" fmla="*/ 747674 h 1372819"/>
                <a:gd name="connsiteX57" fmla="*/ 619962 w 1373429"/>
                <a:gd name="connsiteY57" fmla="*/ 832103 h 1372819"/>
                <a:gd name="connsiteX58" fmla="*/ 607161 w 1373429"/>
                <a:gd name="connsiteY58" fmla="*/ 861669 h 1372819"/>
                <a:gd name="connsiteX59" fmla="*/ 683056 w 1373429"/>
                <a:gd name="connsiteY59" fmla="*/ 877214 h 1372819"/>
                <a:gd name="connsiteX60" fmla="*/ 860754 w 1373429"/>
                <a:gd name="connsiteY60" fmla="*/ 760171 h 1372819"/>
                <a:gd name="connsiteX61" fmla="*/ 861059 w 1373429"/>
                <a:gd name="connsiteY61" fmla="*/ 760171 h 1372819"/>
                <a:gd name="connsiteX62" fmla="*/ 862888 w 1373429"/>
                <a:gd name="connsiteY62" fmla="*/ 612343 h 1372819"/>
                <a:gd name="connsiteX63" fmla="*/ 759561 w 1373429"/>
                <a:gd name="connsiteY63" fmla="*/ 506577 h 1372819"/>
                <a:gd name="connsiteX64" fmla="*/ 685799 w 1373429"/>
                <a:gd name="connsiteY64" fmla="*/ 490727 h 1372819"/>
                <a:gd name="connsiteX65" fmla="*/ 624229 w 1373429"/>
                <a:gd name="connsiteY65" fmla="*/ 345033 h 1372819"/>
                <a:gd name="connsiteX66" fmla="*/ 749502 w 1373429"/>
                <a:gd name="connsiteY66" fmla="*/ 345033 h 1372819"/>
                <a:gd name="connsiteX67" fmla="*/ 757122 w 1373429"/>
                <a:gd name="connsiteY67" fmla="*/ 425805 h 1372819"/>
                <a:gd name="connsiteX68" fmla="*/ 819911 w 1373429"/>
                <a:gd name="connsiteY68" fmla="*/ 452323 h 1372819"/>
                <a:gd name="connsiteX69" fmla="*/ 883005 w 1373429"/>
                <a:gd name="connsiteY69" fmla="*/ 399897 h 1372819"/>
                <a:gd name="connsiteX70" fmla="*/ 927201 w 1373429"/>
                <a:gd name="connsiteY70" fmla="*/ 444093 h 1372819"/>
                <a:gd name="connsiteX71" fmla="*/ 971397 w 1373429"/>
                <a:gd name="connsiteY71" fmla="*/ 488289 h 1372819"/>
                <a:gd name="connsiteX72" fmla="*/ 917447 w 1373429"/>
                <a:gd name="connsiteY72" fmla="*/ 553516 h 1372819"/>
                <a:gd name="connsiteX73" fmla="*/ 940612 w 1373429"/>
                <a:gd name="connsiteY73" fmla="*/ 613257 h 1372819"/>
                <a:gd name="connsiteX74" fmla="*/ 1026565 w 1373429"/>
                <a:gd name="connsiteY74" fmla="*/ 621487 h 1372819"/>
                <a:gd name="connsiteX75" fmla="*/ 1026565 w 1373429"/>
                <a:gd name="connsiteY75" fmla="*/ 746759 h 1372819"/>
                <a:gd name="connsiteX76" fmla="*/ 936649 w 1373429"/>
                <a:gd name="connsiteY76" fmla="*/ 755294 h 1372819"/>
                <a:gd name="connsiteX77" fmla="*/ 912875 w 1373429"/>
                <a:gd name="connsiteY77" fmla="*/ 809243 h 1372819"/>
                <a:gd name="connsiteX78" fmla="*/ 912265 w 1373429"/>
                <a:gd name="connsiteY78" fmla="*/ 809548 h 1372819"/>
                <a:gd name="connsiteX79" fmla="*/ 971092 w 1373429"/>
                <a:gd name="connsiteY79" fmla="*/ 880262 h 1372819"/>
                <a:gd name="connsiteX80" fmla="*/ 926896 w 1373429"/>
                <a:gd name="connsiteY80" fmla="*/ 924458 h 1372819"/>
                <a:gd name="connsiteX81" fmla="*/ 882700 w 1373429"/>
                <a:gd name="connsiteY81" fmla="*/ 968654 h 1372819"/>
                <a:gd name="connsiteX82" fmla="*/ 809548 w 1373429"/>
                <a:gd name="connsiteY82" fmla="*/ 907999 h 1372819"/>
                <a:gd name="connsiteX83" fmla="*/ 758037 w 1373429"/>
                <a:gd name="connsiteY83" fmla="*/ 928725 h 1372819"/>
                <a:gd name="connsiteX84" fmla="*/ 749197 w 1373429"/>
                <a:gd name="connsiteY84" fmla="*/ 1023823 h 1372819"/>
                <a:gd name="connsiteX85" fmla="*/ 623925 w 1373429"/>
                <a:gd name="connsiteY85" fmla="*/ 1023823 h 1372819"/>
                <a:gd name="connsiteX86" fmla="*/ 615085 w 1373429"/>
                <a:gd name="connsiteY86" fmla="*/ 928725 h 1372819"/>
                <a:gd name="connsiteX87" fmla="*/ 563879 w 1373429"/>
                <a:gd name="connsiteY87" fmla="*/ 907999 h 1372819"/>
                <a:gd name="connsiteX88" fmla="*/ 490727 w 1373429"/>
                <a:gd name="connsiteY88" fmla="*/ 968349 h 1372819"/>
                <a:gd name="connsiteX89" fmla="*/ 446531 w 1373429"/>
                <a:gd name="connsiteY89" fmla="*/ 924153 h 1372819"/>
                <a:gd name="connsiteX90" fmla="*/ 402335 w 1373429"/>
                <a:gd name="connsiteY90" fmla="*/ 879957 h 1372819"/>
                <a:gd name="connsiteX91" fmla="*/ 461161 w 1373429"/>
                <a:gd name="connsiteY91" fmla="*/ 809243 h 1372819"/>
                <a:gd name="connsiteX92" fmla="*/ 437387 w 1373429"/>
                <a:gd name="connsiteY92" fmla="*/ 755294 h 1372819"/>
                <a:gd name="connsiteX93" fmla="*/ 347471 w 1373429"/>
                <a:gd name="connsiteY93" fmla="*/ 746759 h 1372819"/>
                <a:gd name="connsiteX94" fmla="*/ 347471 w 1373429"/>
                <a:gd name="connsiteY94" fmla="*/ 621487 h 1372819"/>
                <a:gd name="connsiteX95" fmla="*/ 433425 w 1373429"/>
                <a:gd name="connsiteY95" fmla="*/ 613867 h 1372819"/>
                <a:gd name="connsiteX96" fmla="*/ 456894 w 1373429"/>
                <a:gd name="connsiteY96" fmla="*/ 553821 h 1372819"/>
                <a:gd name="connsiteX97" fmla="*/ 402640 w 1373429"/>
                <a:gd name="connsiteY97" fmla="*/ 488594 h 1372819"/>
                <a:gd name="connsiteX98" fmla="*/ 446836 w 1373429"/>
                <a:gd name="connsiteY98" fmla="*/ 444398 h 1372819"/>
                <a:gd name="connsiteX99" fmla="*/ 491032 w 1373429"/>
                <a:gd name="connsiteY99" fmla="*/ 400202 h 1372819"/>
                <a:gd name="connsiteX100" fmla="*/ 554125 w 1373429"/>
                <a:gd name="connsiteY100" fmla="*/ 452627 h 1372819"/>
                <a:gd name="connsiteX101" fmla="*/ 616609 w 1373429"/>
                <a:gd name="connsiteY101" fmla="*/ 426110 h 1372819"/>
                <a:gd name="connsiteX102" fmla="*/ 205740 w 1373429"/>
                <a:gd name="connsiteY102" fmla="*/ 118567 h 1372819"/>
                <a:gd name="connsiteX103" fmla="*/ 190500 w 1373429"/>
                <a:gd name="connsiteY103" fmla="*/ 159715 h 1372819"/>
                <a:gd name="connsiteX104" fmla="*/ 431902 w 1373429"/>
                <a:gd name="connsiteY104" fmla="*/ 401422 h 1372819"/>
                <a:gd name="connsiteX105" fmla="*/ 402641 w 1373429"/>
                <a:gd name="connsiteY105" fmla="*/ 430682 h 1372819"/>
                <a:gd name="connsiteX106" fmla="*/ 161544 w 1373429"/>
                <a:gd name="connsiteY106" fmla="*/ 189281 h 1372819"/>
                <a:gd name="connsiteX107" fmla="*/ 121310 w 1373429"/>
                <a:gd name="connsiteY107" fmla="*/ 205130 h 1372819"/>
                <a:gd name="connsiteX108" fmla="*/ 121310 w 1373429"/>
                <a:gd name="connsiteY108" fmla="*/ 1167689 h 1372819"/>
                <a:gd name="connsiteX109" fmla="*/ 160934 w 1373429"/>
                <a:gd name="connsiteY109" fmla="*/ 1183234 h 1372819"/>
                <a:gd name="connsiteX110" fmla="*/ 402336 w 1373429"/>
                <a:gd name="connsiteY110" fmla="*/ 941527 h 1372819"/>
                <a:gd name="connsiteX111" fmla="*/ 431597 w 1373429"/>
                <a:gd name="connsiteY111" fmla="*/ 970788 h 1372819"/>
                <a:gd name="connsiteX112" fmla="*/ 189890 w 1373429"/>
                <a:gd name="connsiteY112" fmla="*/ 1212799 h 1372819"/>
                <a:gd name="connsiteX113" fmla="*/ 205435 w 1373429"/>
                <a:gd name="connsiteY113" fmla="*/ 1254557 h 1372819"/>
                <a:gd name="connsiteX114" fmla="*/ 205435 w 1373429"/>
                <a:gd name="connsiteY114" fmla="*/ 1253642 h 1372819"/>
                <a:gd name="connsiteX115" fmla="*/ 585521 w 1373429"/>
                <a:gd name="connsiteY115" fmla="*/ 1253642 h 1372819"/>
                <a:gd name="connsiteX116" fmla="*/ 668122 w 1373429"/>
                <a:gd name="connsiteY116" fmla="*/ 1168299 h 1372819"/>
                <a:gd name="connsiteX117" fmla="*/ 668122 w 1373429"/>
                <a:gd name="connsiteY117" fmla="*/ 1063752 h 1372819"/>
                <a:gd name="connsiteX118" fmla="*/ 709270 w 1373429"/>
                <a:gd name="connsiteY118" fmla="*/ 1063752 h 1372819"/>
                <a:gd name="connsiteX119" fmla="*/ 709270 w 1373429"/>
                <a:gd name="connsiteY119" fmla="*/ 1168908 h 1372819"/>
                <a:gd name="connsiteX120" fmla="*/ 787908 w 1373429"/>
                <a:gd name="connsiteY120" fmla="*/ 1253642 h 1372819"/>
                <a:gd name="connsiteX121" fmla="*/ 1167994 w 1373429"/>
                <a:gd name="connsiteY121" fmla="*/ 1253642 h 1372819"/>
                <a:gd name="connsiteX122" fmla="*/ 1183455 w 1373429"/>
                <a:gd name="connsiteY122" fmla="*/ 1213020 h 1372819"/>
                <a:gd name="connsiteX123" fmla="*/ 1183843 w 1373429"/>
                <a:gd name="connsiteY123" fmla="*/ 1213409 h 1372819"/>
                <a:gd name="connsiteX124" fmla="*/ 1183539 w 1373429"/>
                <a:gd name="connsiteY124" fmla="*/ 1212799 h 1372819"/>
                <a:gd name="connsiteX125" fmla="*/ 1183455 w 1373429"/>
                <a:gd name="connsiteY125" fmla="*/ 1213020 h 1372819"/>
                <a:gd name="connsiteX126" fmla="*/ 940308 w 1373429"/>
                <a:gd name="connsiteY126" fmla="*/ 969569 h 1372819"/>
                <a:gd name="connsiteX127" fmla="*/ 969569 w 1373429"/>
                <a:gd name="connsiteY127" fmla="*/ 940308 h 1372819"/>
                <a:gd name="connsiteX128" fmla="*/ 1212799 w 1373429"/>
                <a:gd name="connsiteY128" fmla="*/ 1183843 h 1372819"/>
                <a:gd name="connsiteX129" fmla="*/ 1251509 w 1373429"/>
                <a:gd name="connsiteY129" fmla="*/ 1168603 h 1372819"/>
                <a:gd name="connsiteX130" fmla="*/ 1251509 w 1373429"/>
                <a:gd name="connsiteY130" fmla="*/ 205130 h 1372819"/>
                <a:gd name="connsiteX131" fmla="*/ 1212190 w 1373429"/>
                <a:gd name="connsiteY131" fmla="*/ 189281 h 1372819"/>
                <a:gd name="connsiteX132" fmla="*/ 972007 w 1373429"/>
                <a:gd name="connsiteY132" fmla="*/ 430073 h 1372819"/>
                <a:gd name="connsiteX133" fmla="*/ 942746 w 1373429"/>
                <a:gd name="connsiteY133" fmla="*/ 400812 h 1372819"/>
                <a:gd name="connsiteX134" fmla="*/ 1183234 w 1373429"/>
                <a:gd name="connsiteY134" fmla="*/ 159715 h 1372819"/>
                <a:gd name="connsiteX135" fmla="*/ 1167994 w 1373429"/>
                <a:gd name="connsiteY135" fmla="*/ 119482 h 1372819"/>
                <a:gd name="connsiteX136" fmla="*/ 788213 w 1373429"/>
                <a:gd name="connsiteY136" fmla="*/ 119482 h 1372819"/>
                <a:gd name="connsiteX137" fmla="*/ 709270 w 1373429"/>
                <a:gd name="connsiteY137" fmla="*/ 205740 h 1372819"/>
                <a:gd name="connsiteX138" fmla="*/ 709270 w 1373429"/>
                <a:gd name="connsiteY138" fmla="*/ 304800 h 1372819"/>
                <a:gd name="connsiteX139" fmla="*/ 668122 w 1373429"/>
                <a:gd name="connsiteY139" fmla="*/ 304800 h 1372819"/>
                <a:gd name="connsiteX140" fmla="*/ 668122 w 1373429"/>
                <a:gd name="connsiteY140" fmla="*/ 206654 h 1372819"/>
                <a:gd name="connsiteX141" fmla="*/ 585216 w 1373429"/>
                <a:gd name="connsiteY141" fmla="*/ 119482 h 1372819"/>
                <a:gd name="connsiteX142" fmla="*/ 205740 w 1373429"/>
                <a:gd name="connsiteY142" fmla="*/ 119482 h 1372819"/>
                <a:gd name="connsiteX143" fmla="*/ 686714 w 1373429"/>
                <a:gd name="connsiteY143" fmla="*/ 42977 h 1372819"/>
                <a:gd name="connsiteX144" fmla="*/ 623621 w 1373429"/>
                <a:gd name="connsiteY144" fmla="*/ 106070 h 1372819"/>
                <a:gd name="connsiteX145" fmla="*/ 686714 w 1373429"/>
                <a:gd name="connsiteY145" fmla="*/ 169164 h 1372819"/>
                <a:gd name="connsiteX146" fmla="*/ 749808 w 1373429"/>
                <a:gd name="connsiteY146" fmla="*/ 106070 h 1372819"/>
                <a:gd name="connsiteX147" fmla="*/ 686714 w 1373429"/>
                <a:gd name="connsiteY147" fmla="*/ 42977 h 1372819"/>
                <a:gd name="connsiteX148" fmla="*/ 1269187 w 1373429"/>
                <a:gd name="connsiteY148" fmla="*/ 41148 h 1372819"/>
                <a:gd name="connsiteX149" fmla="*/ 1206094 w 1373429"/>
                <a:gd name="connsiteY149" fmla="*/ 104242 h 1372819"/>
                <a:gd name="connsiteX150" fmla="*/ 1269187 w 1373429"/>
                <a:gd name="connsiteY150" fmla="*/ 167335 h 1372819"/>
                <a:gd name="connsiteX151" fmla="*/ 1332281 w 1373429"/>
                <a:gd name="connsiteY151" fmla="*/ 104242 h 1372819"/>
                <a:gd name="connsiteX152" fmla="*/ 1269187 w 1373429"/>
                <a:gd name="connsiteY152" fmla="*/ 41148 h 1372819"/>
                <a:gd name="connsiteX153" fmla="*/ 104242 w 1373429"/>
                <a:gd name="connsiteY153" fmla="*/ 41148 h 1372819"/>
                <a:gd name="connsiteX154" fmla="*/ 41148 w 1373429"/>
                <a:gd name="connsiteY154" fmla="*/ 104242 h 1372819"/>
                <a:gd name="connsiteX155" fmla="*/ 104242 w 1373429"/>
                <a:gd name="connsiteY155" fmla="*/ 167335 h 1372819"/>
                <a:gd name="connsiteX156" fmla="*/ 167335 w 1373429"/>
                <a:gd name="connsiteY156" fmla="*/ 104242 h 1372819"/>
                <a:gd name="connsiteX157" fmla="*/ 104242 w 1373429"/>
                <a:gd name="connsiteY157" fmla="*/ 41148 h 1372819"/>
                <a:gd name="connsiteX158" fmla="*/ 104242 w 1373429"/>
                <a:gd name="connsiteY158" fmla="*/ 0 h 1372819"/>
                <a:gd name="connsiteX159" fmla="*/ 205435 w 1373429"/>
                <a:gd name="connsiteY159" fmla="*/ 89916 h 1372819"/>
                <a:gd name="connsiteX160" fmla="*/ 205435 w 1373429"/>
                <a:gd name="connsiteY160" fmla="*/ 89002 h 1372819"/>
                <a:gd name="connsiteX161" fmla="*/ 585826 w 1373429"/>
                <a:gd name="connsiteY161" fmla="*/ 89002 h 1372819"/>
                <a:gd name="connsiteX162" fmla="*/ 686714 w 1373429"/>
                <a:gd name="connsiteY162" fmla="*/ 1524 h 1372819"/>
                <a:gd name="connsiteX163" fmla="*/ 787603 w 1373429"/>
                <a:gd name="connsiteY163" fmla="*/ 89002 h 1372819"/>
                <a:gd name="connsiteX164" fmla="*/ 1167994 w 1373429"/>
                <a:gd name="connsiteY164" fmla="*/ 89002 h 1372819"/>
                <a:gd name="connsiteX165" fmla="*/ 1269187 w 1373429"/>
                <a:gd name="connsiteY165" fmla="*/ 0 h 1372819"/>
                <a:gd name="connsiteX166" fmla="*/ 1373429 w 1373429"/>
                <a:gd name="connsiteY166" fmla="*/ 104242 h 1372819"/>
                <a:gd name="connsiteX167" fmla="*/ 1281684 w 1373429"/>
                <a:gd name="connsiteY167" fmla="*/ 206045 h 1372819"/>
                <a:gd name="connsiteX168" fmla="*/ 1281684 w 1373429"/>
                <a:gd name="connsiteY168" fmla="*/ 1166774 h 1372819"/>
                <a:gd name="connsiteX169" fmla="*/ 1373429 w 1373429"/>
                <a:gd name="connsiteY169" fmla="*/ 1268578 h 1372819"/>
                <a:gd name="connsiteX170" fmla="*/ 1269187 w 1373429"/>
                <a:gd name="connsiteY170" fmla="*/ 1372819 h 1372819"/>
                <a:gd name="connsiteX171" fmla="*/ 1167994 w 1373429"/>
                <a:gd name="connsiteY171" fmla="*/ 1283818 h 1372819"/>
                <a:gd name="connsiteX172" fmla="*/ 787908 w 1373429"/>
                <a:gd name="connsiteY172" fmla="*/ 1283818 h 1372819"/>
                <a:gd name="connsiteX173" fmla="*/ 686714 w 1373429"/>
                <a:gd name="connsiteY173" fmla="*/ 1372819 h 1372819"/>
                <a:gd name="connsiteX174" fmla="*/ 585521 w 1373429"/>
                <a:gd name="connsiteY174" fmla="*/ 1283818 h 1372819"/>
                <a:gd name="connsiteX175" fmla="*/ 205435 w 1373429"/>
                <a:gd name="connsiteY175" fmla="*/ 1283818 h 1372819"/>
                <a:gd name="connsiteX176" fmla="*/ 205435 w 1373429"/>
                <a:gd name="connsiteY176" fmla="*/ 1282903 h 1372819"/>
                <a:gd name="connsiteX177" fmla="*/ 104242 w 1373429"/>
                <a:gd name="connsiteY177" fmla="*/ 1372819 h 1372819"/>
                <a:gd name="connsiteX178" fmla="*/ 0 w 1373429"/>
                <a:gd name="connsiteY178" fmla="*/ 1268578 h 1372819"/>
                <a:gd name="connsiteX179" fmla="*/ 90830 w 1373429"/>
                <a:gd name="connsiteY179" fmla="*/ 1167079 h 1372819"/>
                <a:gd name="connsiteX180" fmla="*/ 90830 w 1373429"/>
                <a:gd name="connsiteY180" fmla="*/ 205740 h 1372819"/>
                <a:gd name="connsiteX181" fmla="*/ 0 w 1373429"/>
                <a:gd name="connsiteY181" fmla="*/ 104242 h 1372819"/>
                <a:gd name="connsiteX182" fmla="*/ 104242 w 1373429"/>
                <a:gd name="connsiteY182" fmla="*/ 0 h 137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1373429" h="1372819">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18" name="Group 17">
            <a:extLst>
              <a:ext uri="{FF2B5EF4-FFF2-40B4-BE49-F238E27FC236}">
                <a16:creationId xmlns:a16="http://schemas.microsoft.com/office/drawing/2014/main" id="{9E18BC2E-15B6-A4A2-7851-D87766BE6BE3}"/>
              </a:ext>
            </a:extLst>
          </p:cNvPr>
          <p:cNvGrpSpPr/>
          <p:nvPr/>
        </p:nvGrpSpPr>
        <p:grpSpPr>
          <a:xfrm>
            <a:off x="3462881" y="5528331"/>
            <a:ext cx="1344725" cy="216064"/>
            <a:chOff x="3604782" y="5211713"/>
            <a:chExt cx="1344725" cy="216064"/>
          </a:xfrm>
        </p:grpSpPr>
        <p:grpSp>
          <p:nvGrpSpPr>
            <p:cNvPr id="19" name="Group 18">
              <a:extLst>
                <a:ext uri="{FF2B5EF4-FFF2-40B4-BE49-F238E27FC236}">
                  <a16:creationId xmlns:a16="http://schemas.microsoft.com/office/drawing/2014/main" id="{15CAE8B6-5357-96C6-2A04-A74DF3E44C15}"/>
                </a:ext>
              </a:extLst>
            </p:cNvPr>
            <p:cNvGrpSpPr/>
            <p:nvPr/>
          </p:nvGrpSpPr>
          <p:grpSpPr>
            <a:xfrm>
              <a:off x="4468307" y="5211713"/>
              <a:ext cx="481200" cy="216000"/>
              <a:chOff x="9559097" y="5270063"/>
              <a:chExt cx="481200" cy="216000"/>
            </a:xfrm>
          </p:grpSpPr>
          <p:sp>
            <p:nvSpPr>
              <p:cNvPr id="29" name="Google Shape;1557;p2">
                <a:extLst>
                  <a:ext uri="{FF2B5EF4-FFF2-40B4-BE49-F238E27FC236}">
                    <a16:creationId xmlns:a16="http://schemas.microsoft.com/office/drawing/2014/main" id="{01DED620-30DD-2A1B-19BD-579EBE8736A0}"/>
                  </a:ext>
                </a:extLst>
              </p:cNvPr>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30" name="Google Shape;1622;p2">
                <a:extLst>
                  <a:ext uri="{FF2B5EF4-FFF2-40B4-BE49-F238E27FC236}">
                    <a16:creationId xmlns:a16="http://schemas.microsoft.com/office/drawing/2014/main" id="{0D68EAE8-754F-A6F8-DE52-1A364F3DF4DD}"/>
                  </a:ext>
                </a:extLst>
              </p:cNvPr>
              <p:cNvSpPr>
                <a:spLocks noChangeAspect="1"/>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0" name="Group 19">
              <a:extLst>
                <a:ext uri="{FF2B5EF4-FFF2-40B4-BE49-F238E27FC236}">
                  <a16:creationId xmlns:a16="http://schemas.microsoft.com/office/drawing/2014/main" id="{79D2DCDF-8BE5-1EAE-A4A7-8C9C8FB5434C}"/>
                </a:ext>
              </a:extLst>
            </p:cNvPr>
            <p:cNvGrpSpPr/>
            <p:nvPr/>
          </p:nvGrpSpPr>
          <p:grpSpPr>
            <a:xfrm>
              <a:off x="4059181" y="5211713"/>
              <a:ext cx="437400" cy="216000"/>
              <a:chOff x="9895949" y="1413332"/>
              <a:chExt cx="437400" cy="216000"/>
            </a:xfrm>
          </p:grpSpPr>
          <p:sp>
            <p:nvSpPr>
              <p:cNvPr id="27" name="Google Shape;1558;p2">
                <a:extLst>
                  <a:ext uri="{FF2B5EF4-FFF2-40B4-BE49-F238E27FC236}">
                    <a16:creationId xmlns:a16="http://schemas.microsoft.com/office/drawing/2014/main" id="{08A07F60-1EC2-C91A-1C7B-453591621DFB}"/>
                  </a:ext>
                </a:extLst>
              </p:cNvPr>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28" name="Google Shape;1623;p2">
                <a:extLst>
                  <a:ext uri="{FF2B5EF4-FFF2-40B4-BE49-F238E27FC236}">
                    <a16:creationId xmlns:a16="http://schemas.microsoft.com/office/drawing/2014/main" id="{3660E930-58E3-83EC-8933-DFAF297A6AB2}"/>
                  </a:ext>
                </a:extLst>
              </p:cNvPr>
              <p:cNvSpPr>
                <a:spLocks noChangeAspect="1"/>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1" name="Group 20">
              <a:extLst>
                <a:ext uri="{FF2B5EF4-FFF2-40B4-BE49-F238E27FC236}">
                  <a16:creationId xmlns:a16="http://schemas.microsoft.com/office/drawing/2014/main" id="{2CC2DFFE-94ED-2727-254A-1ED70C8BE0A6}"/>
                </a:ext>
              </a:extLst>
            </p:cNvPr>
            <p:cNvGrpSpPr/>
            <p:nvPr/>
          </p:nvGrpSpPr>
          <p:grpSpPr>
            <a:xfrm>
              <a:off x="3604782" y="5211777"/>
              <a:ext cx="481200" cy="216000"/>
              <a:chOff x="8526343" y="2145622"/>
              <a:chExt cx="481200" cy="216000"/>
            </a:xfrm>
          </p:grpSpPr>
          <p:sp>
            <p:nvSpPr>
              <p:cNvPr id="22" name="Google Shape;1557;p2">
                <a:extLst>
                  <a:ext uri="{FF2B5EF4-FFF2-40B4-BE49-F238E27FC236}">
                    <a16:creationId xmlns:a16="http://schemas.microsoft.com/office/drawing/2014/main" id="{398C0790-C5F6-A326-5DEF-289BDC67D7CE}"/>
                  </a:ext>
                </a:extLst>
              </p:cNvPr>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nvGrpSpPr>
              <p:cNvPr id="23" name="Google Shape;1618;p2">
                <a:extLst>
                  <a:ext uri="{FF2B5EF4-FFF2-40B4-BE49-F238E27FC236}">
                    <a16:creationId xmlns:a16="http://schemas.microsoft.com/office/drawing/2014/main" id="{A9D99B5F-770A-4732-3534-CDEB91C64B38}"/>
                  </a:ext>
                </a:extLst>
              </p:cNvPr>
              <p:cNvGrpSpPr>
                <a:grpSpLocks noChangeAspect="1"/>
              </p:cNvGrpSpPr>
              <p:nvPr/>
            </p:nvGrpSpPr>
            <p:grpSpPr>
              <a:xfrm>
                <a:off x="8658941" y="2145622"/>
                <a:ext cx="216005" cy="216000"/>
                <a:chOff x="3822556" y="5087301"/>
                <a:chExt cx="611339" cy="557273"/>
              </a:xfrm>
            </p:grpSpPr>
            <p:sp>
              <p:nvSpPr>
                <p:cNvPr id="24" name="Google Shape;1619;p2">
                  <a:extLst>
                    <a:ext uri="{FF2B5EF4-FFF2-40B4-BE49-F238E27FC236}">
                      <a16:creationId xmlns:a16="http://schemas.microsoft.com/office/drawing/2014/main" id="{C1BA66C9-672B-587E-DA57-2DA7BE732BE2}"/>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5" name="Google Shape;1620;p2">
                  <a:extLst>
                    <a:ext uri="{FF2B5EF4-FFF2-40B4-BE49-F238E27FC236}">
                      <a16:creationId xmlns:a16="http://schemas.microsoft.com/office/drawing/2014/main" id="{3D0A2491-A2F5-4E72-4431-AFAEBA379007}"/>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6" name="Google Shape;1621;p2">
                  <a:extLst>
                    <a:ext uri="{FF2B5EF4-FFF2-40B4-BE49-F238E27FC236}">
                      <a16:creationId xmlns:a16="http://schemas.microsoft.com/office/drawing/2014/main" id="{1D2E878D-CAA4-8B29-C0C9-A1ECD1058154}"/>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sp>
        <p:nvSpPr>
          <p:cNvPr id="31" name="Google Shape;6428;g341ab2b14b8_2_916">
            <a:extLst>
              <a:ext uri="{FF2B5EF4-FFF2-40B4-BE49-F238E27FC236}">
                <a16:creationId xmlns:a16="http://schemas.microsoft.com/office/drawing/2014/main" id="{9F5C2099-7CB1-80A9-DB3F-8B0AC5274789}"/>
              </a:ext>
            </a:extLst>
          </p:cNvPr>
          <p:cNvSpPr/>
          <p:nvPr/>
        </p:nvSpPr>
        <p:spPr>
          <a:xfrm rot="10800000">
            <a:off x="261721" y="1600200"/>
            <a:ext cx="7865918" cy="2773888"/>
          </a:xfrm>
          <a:prstGeom prst="roundRect">
            <a:avLst>
              <a:gd name="adj" fmla="val 4329"/>
            </a:avLst>
          </a:prstGeom>
          <a:noFill/>
          <a:ln w="19050" cap="rnd" cmpd="sng">
            <a:solidFill>
              <a:schemeClr val="accent1"/>
            </a:solidFill>
            <a:prstDash val="sysDot"/>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798"/>
              <a:buFont typeface="Arial"/>
              <a:buNone/>
              <a:tabLst/>
              <a:defRPr/>
            </a:pPr>
            <a:r>
              <a:rPr kumimoji="0" lang="en-US" sz="1598" b="0" i="0" u="none" strike="noStrike" kern="1200" cap="none" spc="0" normalizeH="0" baseline="0" noProof="0" dirty="0">
                <a:ln>
                  <a:noFill/>
                </a:ln>
                <a:solidFill>
                  <a:srgbClr val="FFFFFF"/>
                </a:solidFill>
                <a:effectLst/>
                <a:uLnTx/>
                <a:uFillTx/>
                <a:latin typeface="Arial"/>
                <a:ea typeface="Arial"/>
                <a:cs typeface="Arial"/>
                <a:sym typeface="Arial"/>
              </a:rPr>
              <a:t>			</a:t>
            </a:r>
            <a:endParaRPr kumimoji="0" sz="1598"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2" name="Google Shape;6429;g341ab2b14b8_2_916">
            <a:extLst>
              <a:ext uri="{FF2B5EF4-FFF2-40B4-BE49-F238E27FC236}">
                <a16:creationId xmlns:a16="http://schemas.microsoft.com/office/drawing/2014/main" id="{1EBEBB36-95FB-0530-E8AC-437387ED240F}"/>
              </a:ext>
            </a:extLst>
          </p:cNvPr>
          <p:cNvSpPr txBox="1"/>
          <p:nvPr/>
        </p:nvSpPr>
        <p:spPr>
          <a:xfrm>
            <a:off x="410491" y="3237365"/>
            <a:ext cx="1059600" cy="294300"/>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TKG</a:t>
            </a:r>
            <a:b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Service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3" name="Google Shape;6430;g341ab2b14b8_2_916">
            <a:extLst>
              <a:ext uri="{FF2B5EF4-FFF2-40B4-BE49-F238E27FC236}">
                <a16:creationId xmlns:a16="http://schemas.microsoft.com/office/drawing/2014/main" id="{01566289-25B5-079C-48BD-8565B5739FA7}"/>
              </a:ext>
            </a:extLst>
          </p:cNvPr>
          <p:cNvSpPr/>
          <p:nvPr/>
        </p:nvSpPr>
        <p:spPr>
          <a:xfrm>
            <a:off x="768614" y="3225299"/>
            <a:ext cx="357600" cy="244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4" name="Google Shape;6431;g341ab2b14b8_2_916">
            <a:extLst>
              <a:ext uri="{FF2B5EF4-FFF2-40B4-BE49-F238E27FC236}">
                <a16:creationId xmlns:a16="http://schemas.microsoft.com/office/drawing/2014/main" id="{E999035B-3811-C0BB-F67B-CC4D59F5894F}"/>
              </a:ext>
            </a:extLst>
          </p:cNvPr>
          <p:cNvSpPr/>
          <p:nvPr/>
        </p:nvSpPr>
        <p:spPr>
          <a:xfrm>
            <a:off x="5416870" y="3815576"/>
            <a:ext cx="184500" cy="4500"/>
          </a:xfrm>
          <a:prstGeom prst="rightArrow">
            <a:avLst>
              <a:gd name="adj1" fmla="val 50000"/>
              <a:gd name="adj2" fmla="val 50000"/>
            </a:avLst>
          </a:prstGeom>
          <a:solidFill>
            <a:srgbClr val="F2F2F2"/>
          </a:solidFill>
          <a:ln w="19050" cap="flat" cmpd="sng">
            <a:solidFill>
              <a:srgbClr val="0193C2"/>
            </a:solidFill>
            <a:prstDash val="solid"/>
            <a:round/>
            <a:headEnd type="none" w="sm" len="sm"/>
            <a:tailEnd type="none" w="sm" len="sm"/>
          </a:ln>
        </p:spPr>
        <p:txBody>
          <a:bodyPr spcFirstLastPara="1" wrap="square" lIns="91375" tIns="91375" rIns="91375" bIns="913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35" name="Google Shape;6507;g341ab2b14b8_2_916">
            <a:extLst>
              <a:ext uri="{FF2B5EF4-FFF2-40B4-BE49-F238E27FC236}">
                <a16:creationId xmlns:a16="http://schemas.microsoft.com/office/drawing/2014/main" id="{985F8D37-2CFB-8619-25AE-1874DABC3ECD}"/>
              </a:ext>
            </a:extLst>
          </p:cNvPr>
          <p:cNvGrpSpPr/>
          <p:nvPr/>
        </p:nvGrpSpPr>
        <p:grpSpPr>
          <a:xfrm>
            <a:off x="3011470" y="3372703"/>
            <a:ext cx="1051619" cy="864396"/>
            <a:chOff x="7037124" y="3307853"/>
            <a:chExt cx="1311900" cy="1020900"/>
          </a:xfrm>
        </p:grpSpPr>
        <p:sp>
          <p:nvSpPr>
            <p:cNvPr id="36" name="Google Shape;6508;g341ab2b14b8_2_916">
              <a:extLst>
                <a:ext uri="{FF2B5EF4-FFF2-40B4-BE49-F238E27FC236}">
                  <a16:creationId xmlns:a16="http://schemas.microsoft.com/office/drawing/2014/main" id="{A71A5271-0F56-D306-8781-DF630DF2E06A}"/>
                </a:ext>
              </a:extLst>
            </p:cNvPr>
            <p:cNvSpPr/>
            <p:nvPr/>
          </p:nvSpPr>
          <p:spPr>
            <a:xfrm>
              <a:off x="7037124"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7" name="Google Shape;6509;g341ab2b14b8_2_916">
              <a:extLst>
                <a:ext uri="{FF2B5EF4-FFF2-40B4-BE49-F238E27FC236}">
                  <a16:creationId xmlns:a16="http://schemas.microsoft.com/office/drawing/2014/main" id="{BF337129-7EA2-559E-BD0C-2F43ED341A59}"/>
                </a:ext>
              </a:extLst>
            </p:cNvPr>
            <p:cNvSpPr/>
            <p:nvPr/>
          </p:nvSpPr>
          <p:spPr>
            <a:xfrm>
              <a:off x="7147815" y="3318810"/>
              <a:ext cx="1090500" cy="4014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Network Service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8" name="Google Shape;6510;g341ab2b14b8_2_916">
              <a:extLst>
                <a:ext uri="{FF2B5EF4-FFF2-40B4-BE49-F238E27FC236}">
                  <a16:creationId xmlns:a16="http://schemas.microsoft.com/office/drawing/2014/main" id="{1CDFF18F-EE7F-4F53-AED4-D329AA66E5AC}"/>
                </a:ext>
              </a:extLst>
            </p:cNvPr>
            <p:cNvSpPr/>
            <p:nvPr/>
          </p:nvSpPr>
          <p:spPr>
            <a:xfrm>
              <a:off x="7493406" y="3789189"/>
              <a:ext cx="422660" cy="418749"/>
            </a:xfrm>
            <a:custGeom>
              <a:avLst/>
              <a:gdLst/>
              <a:ahLst/>
              <a:cxnLst/>
              <a:rect l="l" t="t" r="r" b="b"/>
              <a:pathLst>
                <a:path w="1134658" h="1124158" extrusionOk="0">
                  <a:moveTo>
                    <a:pt x="7193" y="95826"/>
                  </a:moveTo>
                  <a:cubicBezTo>
                    <a:pt x="14347" y="65926"/>
                    <a:pt x="44430" y="47491"/>
                    <a:pt x="74330" y="54645"/>
                  </a:cubicBezTo>
                  <a:cubicBezTo>
                    <a:pt x="103771" y="61707"/>
                    <a:pt x="122023" y="90965"/>
                    <a:pt x="115694" y="120406"/>
                  </a:cubicBezTo>
                  <a:lnTo>
                    <a:pt x="290232" y="215976"/>
                  </a:lnTo>
                  <a:lnTo>
                    <a:pt x="290232" y="365016"/>
                  </a:lnTo>
                  <a:cubicBezTo>
                    <a:pt x="279776" y="371620"/>
                    <a:pt x="269779" y="379049"/>
                    <a:pt x="260424" y="387120"/>
                  </a:cubicBezTo>
                  <a:lnTo>
                    <a:pt x="260424" y="233585"/>
                  </a:lnTo>
                  <a:lnTo>
                    <a:pt x="101753" y="146729"/>
                  </a:lnTo>
                  <a:cubicBezTo>
                    <a:pt x="88546" y="160762"/>
                    <a:pt x="68552" y="167733"/>
                    <a:pt x="48374" y="162872"/>
                  </a:cubicBezTo>
                  <a:cubicBezTo>
                    <a:pt x="18566" y="155718"/>
                    <a:pt x="39" y="125726"/>
                    <a:pt x="7193" y="95826"/>
                  </a:cubicBezTo>
                  <a:close/>
                  <a:moveTo>
                    <a:pt x="491918" y="109767"/>
                  </a:moveTo>
                  <a:cubicBezTo>
                    <a:pt x="492377" y="109859"/>
                    <a:pt x="492927" y="109859"/>
                    <a:pt x="493386" y="109951"/>
                  </a:cubicBezTo>
                  <a:lnTo>
                    <a:pt x="502099" y="323835"/>
                  </a:lnTo>
                  <a:cubicBezTo>
                    <a:pt x="510445" y="309344"/>
                    <a:pt x="519984" y="295861"/>
                    <a:pt x="530256" y="283296"/>
                  </a:cubicBezTo>
                  <a:lnTo>
                    <a:pt x="523102" y="108116"/>
                  </a:lnTo>
                  <a:cubicBezTo>
                    <a:pt x="540345" y="102063"/>
                    <a:pt x="554378" y="87755"/>
                    <a:pt x="558963" y="68586"/>
                  </a:cubicBezTo>
                  <a:cubicBezTo>
                    <a:pt x="566117" y="38686"/>
                    <a:pt x="547682" y="8695"/>
                    <a:pt x="517782" y="1541"/>
                  </a:cubicBezTo>
                  <a:cubicBezTo>
                    <a:pt x="487883" y="-5613"/>
                    <a:pt x="457891" y="12822"/>
                    <a:pt x="450737" y="42722"/>
                  </a:cubicBezTo>
                  <a:cubicBezTo>
                    <a:pt x="443583" y="72622"/>
                    <a:pt x="462018" y="102613"/>
                    <a:pt x="491918" y="109767"/>
                  </a:cubicBezTo>
                  <a:close/>
                  <a:moveTo>
                    <a:pt x="1042955" y="1018959"/>
                  </a:moveTo>
                  <a:cubicBezTo>
                    <a:pt x="1035342" y="1015107"/>
                    <a:pt x="1027363" y="1013273"/>
                    <a:pt x="1019384" y="1012998"/>
                  </a:cubicBezTo>
                  <a:lnTo>
                    <a:pt x="979212" y="888262"/>
                  </a:lnTo>
                  <a:cubicBezTo>
                    <a:pt x="974442" y="888629"/>
                    <a:pt x="969765" y="889088"/>
                    <a:pt x="964904" y="889088"/>
                  </a:cubicBezTo>
                  <a:cubicBezTo>
                    <a:pt x="964904" y="889088"/>
                    <a:pt x="961785" y="889088"/>
                    <a:pt x="960226" y="888996"/>
                  </a:cubicBezTo>
                  <a:cubicBezTo>
                    <a:pt x="958759" y="888996"/>
                    <a:pt x="954540" y="888996"/>
                    <a:pt x="948119" y="888905"/>
                  </a:cubicBezTo>
                  <a:lnTo>
                    <a:pt x="990309" y="1019968"/>
                  </a:lnTo>
                  <a:cubicBezTo>
                    <a:pt x="981046" y="1025104"/>
                    <a:pt x="973250" y="1032992"/>
                    <a:pt x="968022" y="1043081"/>
                  </a:cubicBezTo>
                  <a:cubicBezTo>
                    <a:pt x="953989" y="1070413"/>
                    <a:pt x="964812" y="1103981"/>
                    <a:pt x="992144" y="1118014"/>
                  </a:cubicBezTo>
                  <a:cubicBezTo>
                    <a:pt x="1019475" y="1132047"/>
                    <a:pt x="1053044" y="1121224"/>
                    <a:pt x="1067077" y="1093892"/>
                  </a:cubicBezTo>
                  <a:cubicBezTo>
                    <a:pt x="1081109" y="1066561"/>
                    <a:pt x="1070287" y="1032992"/>
                    <a:pt x="1042955" y="1018959"/>
                  </a:cubicBezTo>
                  <a:close/>
                  <a:moveTo>
                    <a:pt x="603171" y="980347"/>
                  </a:moveTo>
                  <a:lnTo>
                    <a:pt x="603171" y="890005"/>
                  </a:lnTo>
                  <a:cubicBezTo>
                    <a:pt x="593541" y="890005"/>
                    <a:pt x="583910" y="890097"/>
                    <a:pt x="574188" y="890097"/>
                  </a:cubicBezTo>
                  <a:cubicBezTo>
                    <a:pt x="573913" y="890097"/>
                    <a:pt x="573638" y="890097"/>
                    <a:pt x="573363" y="890097"/>
                  </a:cubicBezTo>
                  <a:lnTo>
                    <a:pt x="573363" y="980347"/>
                  </a:lnTo>
                  <a:cubicBezTo>
                    <a:pt x="554469" y="985574"/>
                    <a:pt x="538877" y="1000433"/>
                    <a:pt x="533925" y="1020794"/>
                  </a:cubicBezTo>
                  <a:cubicBezTo>
                    <a:pt x="526771" y="1050694"/>
                    <a:pt x="545206" y="1080685"/>
                    <a:pt x="575106" y="1087839"/>
                  </a:cubicBezTo>
                  <a:cubicBezTo>
                    <a:pt x="605005" y="1094993"/>
                    <a:pt x="634997" y="1076558"/>
                    <a:pt x="642151" y="1046658"/>
                  </a:cubicBezTo>
                  <a:cubicBezTo>
                    <a:pt x="649213" y="1017492"/>
                    <a:pt x="631787" y="988418"/>
                    <a:pt x="603171" y="980347"/>
                  </a:cubicBezTo>
                  <a:close/>
                  <a:moveTo>
                    <a:pt x="196589" y="891197"/>
                  </a:moveTo>
                  <a:cubicBezTo>
                    <a:pt x="188976" y="891197"/>
                    <a:pt x="183382" y="891197"/>
                    <a:pt x="179896" y="891197"/>
                  </a:cubicBezTo>
                  <a:lnTo>
                    <a:pt x="86345" y="984749"/>
                  </a:lnTo>
                  <a:cubicBezTo>
                    <a:pt x="78824" y="980897"/>
                    <a:pt x="70386" y="978512"/>
                    <a:pt x="61306" y="978512"/>
                  </a:cubicBezTo>
                  <a:cubicBezTo>
                    <a:pt x="30581" y="978512"/>
                    <a:pt x="5634" y="1003459"/>
                    <a:pt x="5634" y="1034185"/>
                  </a:cubicBezTo>
                  <a:cubicBezTo>
                    <a:pt x="5634" y="1064910"/>
                    <a:pt x="30581" y="1089857"/>
                    <a:pt x="61306" y="1089857"/>
                  </a:cubicBezTo>
                  <a:cubicBezTo>
                    <a:pt x="92031" y="1089857"/>
                    <a:pt x="116978" y="1064910"/>
                    <a:pt x="116978" y="1034185"/>
                  </a:cubicBezTo>
                  <a:cubicBezTo>
                    <a:pt x="116978" y="1023362"/>
                    <a:pt x="113768" y="1013365"/>
                    <a:pt x="108449" y="1004835"/>
                  </a:cubicBezTo>
                  <a:lnTo>
                    <a:pt x="221994" y="891197"/>
                  </a:lnTo>
                  <a:cubicBezTo>
                    <a:pt x="212089" y="891197"/>
                    <a:pt x="203559" y="891197"/>
                    <a:pt x="196589" y="891197"/>
                  </a:cubicBezTo>
                  <a:close/>
                  <a:moveTo>
                    <a:pt x="797611" y="130037"/>
                  </a:moveTo>
                  <a:lnTo>
                    <a:pt x="990584" y="130037"/>
                  </a:lnTo>
                  <a:cubicBezTo>
                    <a:pt x="996546" y="147555"/>
                    <a:pt x="1010946" y="161771"/>
                    <a:pt x="1030206" y="166357"/>
                  </a:cubicBezTo>
                  <a:cubicBezTo>
                    <a:pt x="1060106" y="173511"/>
                    <a:pt x="1090098" y="155076"/>
                    <a:pt x="1097252" y="125176"/>
                  </a:cubicBezTo>
                  <a:cubicBezTo>
                    <a:pt x="1104406" y="95276"/>
                    <a:pt x="1085970" y="65284"/>
                    <a:pt x="1056071" y="58131"/>
                  </a:cubicBezTo>
                  <a:cubicBezTo>
                    <a:pt x="1026171" y="50977"/>
                    <a:pt x="996179" y="69412"/>
                    <a:pt x="989025" y="99312"/>
                  </a:cubicBezTo>
                  <a:cubicBezTo>
                    <a:pt x="988934" y="99587"/>
                    <a:pt x="988934" y="99954"/>
                    <a:pt x="988934" y="100229"/>
                  </a:cubicBezTo>
                  <a:lnTo>
                    <a:pt x="767803" y="100229"/>
                  </a:lnTo>
                  <a:lnTo>
                    <a:pt x="767803" y="184975"/>
                  </a:lnTo>
                  <a:cubicBezTo>
                    <a:pt x="777892" y="186259"/>
                    <a:pt x="787798" y="188277"/>
                    <a:pt x="797611" y="190662"/>
                  </a:cubicBezTo>
                  <a:lnTo>
                    <a:pt x="797611" y="130037"/>
                  </a:lnTo>
                  <a:close/>
                  <a:moveTo>
                    <a:pt x="957658" y="859188"/>
                  </a:moveTo>
                  <a:cubicBezTo>
                    <a:pt x="955457" y="859188"/>
                    <a:pt x="948853" y="859096"/>
                    <a:pt x="938489" y="859096"/>
                  </a:cubicBezTo>
                  <a:cubicBezTo>
                    <a:pt x="829162" y="859096"/>
                    <a:pt x="303806" y="861389"/>
                    <a:pt x="193287" y="861389"/>
                  </a:cubicBezTo>
                  <a:cubicBezTo>
                    <a:pt x="182831" y="861389"/>
                    <a:pt x="176044" y="861389"/>
                    <a:pt x="173751" y="861298"/>
                  </a:cubicBezTo>
                  <a:cubicBezTo>
                    <a:pt x="81942" y="858821"/>
                    <a:pt x="-2071" y="774442"/>
                    <a:pt x="39" y="682174"/>
                  </a:cubicBezTo>
                  <a:cubicBezTo>
                    <a:pt x="2240" y="591374"/>
                    <a:pt x="76348" y="519101"/>
                    <a:pt x="166322" y="519101"/>
                  </a:cubicBezTo>
                  <a:cubicBezTo>
                    <a:pt x="167698" y="519101"/>
                    <a:pt x="169074" y="519101"/>
                    <a:pt x="170358" y="519193"/>
                  </a:cubicBezTo>
                  <a:cubicBezTo>
                    <a:pt x="184482" y="519468"/>
                    <a:pt x="198331" y="521394"/>
                    <a:pt x="211355" y="525063"/>
                  </a:cubicBezTo>
                  <a:cubicBezTo>
                    <a:pt x="231900" y="429218"/>
                    <a:pt x="315729" y="358229"/>
                    <a:pt x="415609" y="358229"/>
                  </a:cubicBezTo>
                  <a:cubicBezTo>
                    <a:pt x="417352" y="358229"/>
                    <a:pt x="419095" y="358229"/>
                    <a:pt x="420746" y="358321"/>
                  </a:cubicBezTo>
                  <a:cubicBezTo>
                    <a:pt x="451196" y="359146"/>
                    <a:pt x="479720" y="366117"/>
                    <a:pt x="505492" y="378590"/>
                  </a:cubicBezTo>
                  <a:cubicBezTo>
                    <a:pt x="543280" y="281095"/>
                    <a:pt x="631053" y="212857"/>
                    <a:pt x="732492" y="212857"/>
                  </a:cubicBezTo>
                  <a:cubicBezTo>
                    <a:pt x="734510" y="212857"/>
                    <a:pt x="736528" y="212857"/>
                    <a:pt x="738546" y="212949"/>
                  </a:cubicBezTo>
                  <a:cubicBezTo>
                    <a:pt x="864015" y="215976"/>
                    <a:pt x="965087" y="321909"/>
                    <a:pt x="977285" y="456091"/>
                  </a:cubicBezTo>
                  <a:cubicBezTo>
                    <a:pt x="1067443" y="464713"/>
                    <a:pt x="1137332" y="553862"/>
                    <a:pt x="1134580" y="661721"/>
                  </a:cubicBezTo>
                  <a:cubicBezTo>
                    <a:pt x="1132196" y="771323"/>
                    <a:pt x="1054695" y="859372"/>
                    <a:pt x="961418" y="859372"/>
                  </a:cubicBezTo>
                  <a:cubicBezTo>
                    <a:pt x="960318" y="859280"/>
                    <a:pt x="958942" y="859280"/>
                    <a:pt x="957658" y="859188"/>
                  </a:cubicBezTo>
                  <a:close/>
                  <a:moveTo>
                    <a:pt x="938489" y="829380"/>
                  </a:moveTo>
                  <a:cubicBezTo>
                    <a:pt x="949220" y="829380"/>
                    <a:pt x="956007" y="829380"/>
                    <a:pt x="958300" y="829472"/>
                  </a:cubicBezTo>
                  <a:cubicBezTo>
                    <a:pt x="959492" y="829472"/>
                    <a:pt x="960593" y="829472"/>
                    <a:pt x="961602" y="829472"/>
                  </a:cubicBezTo>
                  <a:cubicBezTo>
                    <a:pt x="1038644" y="829472"/>
                    <a:pt x="1102938" y="753897"/>
                    <a:pt x="1105048" y="660987"/>
                  </a:cubicBezTo>
                  <a:cubicBezTo>
                    <a:pt x="1107340" y="569821"/>
                    <a:pt x="1050109" y="492870"/>
                    <a:pt x="974717" y="485716"/>
                  </a:cubicBezTo>
                  <a:lnTo>
                    <a:pt x="950137" y="483331"/>
                  </a:lnTo>
                  <a:lnTo>
                    <a:pt x="947936" y="458751"/>
                  </a:lnTo>
                  <a:cubicBezTo>
                    <a:pt x="936930" y="338235"/>
                    <a:pt x="846772" y="245325"/>
                    <a:pt x="738087" y="242757"/>
                  </a:cubicBezTo>
                  <a:cubicBezTo>
                    <a:pt x="736253" y="242665"/>
                    <a:pt x="734510" y="242665"/>
                    <a:pt x="732767" y="242665"/>
                  </a:cubicBezTo>
                  <a:cubicBezTo>
                    <a:pt x="646278" y="242665"/>
                    <a:pt x="568135" y="300264"/>
                    <a:pt x="533558" y="389321"/>
                  </a:cubicBezTo>
                  <a:lnTo>
                    <a:pt x="521910" y="419496"/>
                  </a:lnTo>
                  <a:lnTo>
                    <a:pt x="492835" y="405372"/>
                  </a:lnTo>
                  <a:cubicBezTo>
                    <a:pt x="470640" y="394641"/>
                    <a:pt x="446151" y="388771"/>
                    <a:pt x="420287" y="388037"/>
                  </a:cubicBezTo>
                  <a:cubicBezTo>
                    <a:pt x="418911" y="388037"/>
                    <a:pt x="417444" y="387945"/>
                    <a:pt x="415976" y="387945"/>
                  </a:cubicBezTo>
                  <a:cubicBezTo>
                    <a:pt x="332330" y="387945"/>
                    <a:pt x="258681" y="448204"/>
                    <a:pt x="240888" y="531208"/>
                  </a:cubicBezTo>
                  <a:lnTo>
                    <a:pt x="234285" y="562116"/>
                  </a:lnTo>
                  <a:lnTo>
                    <a:pt x="203834" y="553678"/>
                  </a:lnTo>
                  <a:cubicBezTo>
                    <a:pt x="193287" y="550743"/>
                    <a:pt x="182006" y="549184"/>
                    <a:pt x="170174" y="548909"/>
                  </a:cubicBezTo>
                  <a:cubicBezTo>
                    <a:pt x="168890" y="548909"/>
                    <a:pt x="167790" y="548909"/>
                    <a:pt x="166689" y="548909"/>
                  </a:cubicBezTo>
                  <a:cubicBezTo>
                    <a:pt x="93224" y="548909"/>
                    <a:pt x="31956" y="609076"/>
                    <a:pt x="30214" y="682908"/>
                  </a:cubicBezTo>
                  <a:cubicBezTo>
                    <a:pt x="28471" y="757199"/>
                    <a:pt x="98818" y="829472"/>
                    <a:pt x="174944" y="831581"/>
                  </a:cubicBezTo>
                  <a:cubicBezTo>
                    <a:pt x="176961" y="831581"/>
                    <a:pt x="183473" y="831673"/>
                    <a:pt x="193654" y="831673"/>
                  </a:cubicBezTo>
                  <a:cubicBezTo>
                    <a:pt x="248959" y="831673"/>
                    <a:pt x="411024" y="831123"/>
                    <a:pt x="567768" y="830572"/>
                  </a:cubicBezTo>
                  <a:cubicBezTo>
                    <a:pt x="723045" y="829930"/>
                    <a:pt x="883917" y="829380"/>
                    <a:pt x="938489" y="829380"/>
                  </a:cubicBezTo>
                  <a:close/>
                </a:path>
              </a:pathLst>
            </a:custGeom>
            <a:solidFill>
              <a:schemeClr val="accent2"/>
            </a:solidFill>
            <a:ln>
              <a:noFill/>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6"/>
                <a:buFont typeface="Arial"/>
                <a:buNone/>
                <a:tabLst/>
                <a:defRPr/>
              </a:pPr>
              <a:endParaRPr kumimoji="0" sz="1795" b="0" i="0" u="none" strike="noStrike" kern="1200" cap="none" spc="0" normalizeH="0" baseline="0" noProof="0" dirty="0">
                <a:ln>
                  <a:noFill/>
                </a:ln>
                <a:solidFill>
                  <a:srgbClr val="717074"/>
                </a:solidFill>
                <a:effectLst/>
                <a:uLnTx/>
                <a:uFillTx/>
                <a:latin typeface="Arial"/>
                <a:ea typeface="Arial"/>
                <a:cs typeface="Arial"/>
                <a:sym typeface="Arial"/>
              </a:endParaRPr>
            </a:p>
          </p:txBody>
        </p:sp>
      </p:grpSp>
      <p:grpSp>
        <p:nvGrpSpPr>
          <p:cNvPr id="39" name="Google Shape;6511;g341ab2b14b8_2_916">
            <a:extLst>
              <a:ext uri="{FF2B5EF4-FFF2-40B4-BE49-F238E27FC236}">
                <a16:creationId xmlns:a16="http://schemas.microsoft.com/office/drawing/2014/main" id="{81A1B736-2E4B-3D44-05F2-7A54660F9B82}"/>
              </a:ext>
            </a:extLst>
          </p:cNvPr>
          <p:cNvGrpSpPr/>
          <p:nvPr/>
        </p:nvGrpSpPr>
        <p:grpSpPr>
          <a:xfrm>
            <a:off x="6644899" y="3372703"/>
            <a:ext cx="1051500" cy="868800"/>
            <a:chOff x="10063041" y="3571756"/>
            <a:chExt cx="1051500" cy="868800"/>
          </a:xfrm>
        </p:grpSpPr>
        <p:sp>
          <p:nvSpPr>
            <p:cNvPr id="40" name="Google Shape;6512;g341ab2b14b8_2_916">
              <a:extLst>
                <a:ext uri="{FF2B5EF4-FFF2-40B4-BE49-F238E27FC236}">
                  <a16:creationId xmlns:a16="http://schemas.microsoft.com/office/drawing/2014/main" id="{D382DA9C-0EF0-30E9-E634-068976C64859}"/>
                </a:ext>
              </a:extLst>
            </p:cNvPr>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41" name="Google Shape;6513;g341ab2b14b8_2_916">
              <a:extLst>
                <a:ext uri="{FF2B5EF4-FFF2-40B4-BE49-F238E27FC236}">
                  <a16:creationId xmlns:a16="http://schemas.microsoft.com/office/drawing/2014/main" id="{F5C31517-D1F9-BC17-E3E0-12CF5D5A15AE}"/>
                </a:ext>
              </a:extLst>
            </p:cNvPr>
            <p:cNvPicPr preferRelativeResize="0"/>
            <p:nvPr/>
          </p:nvPicPr>
          <p:blipFill rotWithShape="1">
            <a:blip r:embed="rId4">
              <a:alphaModFix/>
            </a:blip>
            <a:srcRect/>
            <a:stretch/>
          </p:blipFill>
          <p:spPr>
            <a:xfrm>
              <a:off x="10402218" y="3906647"/>
              <a:ext cx="422600" cy="422600"/>
            </a:xfrm>
            <a:prstGeom prst="rect">
              <a:avLst/>
            </a:prstGeom>
            <a:noFill/>
            <a:ln>
              <a:noFill/>
            </a:ln>
          </p:spPr>
        </p:pic>
        <p:sp>
          <p:nvSpPr>
            <p:cNvPr id="42" name="Google Shape;6514;g341ab2b14b8_2_916">
              <a:extLst>
                <a:ext uri="{FF2B5EF4-FFF2-40B4-BE49-F238E27FC236}">
                  <a16:creationId xmlns:a16="http://schemas.microsoft.com/office/drawing/2014/main" id="{6379AFA8-09A4-C67D-1697-84ECF208A75F}"/>
                </a:ext>
              </a:extLst>
            </p:cNvPr>
            <p:cNvSpPr txBox="1"/>
            <p:nvPr/>
          </p:nvSpPr>
          <p:spPr>
            <a:xfrm>
              <a:off x="10146332" y="3619975"/>
              <a:ext cx="962400" cy="1617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Image Registry</a:t>
              </a:r>
              <a:endParaRPr kumimoji="0" sz="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43" name="Google Shape;6515;g341ab2b14b8_2_916">
            <a:extLst>
              <a:ext uri="{FF2B5EF4-FFF2-40B4-BE49-F238E27FC236}">
                <a16:creationId xmlns:a16="http://schemas.microsoft.com/office/drawing/2014/main" id="{46EF0EAE-9273-5E4A-4F70-23F990CA6A0F}"/>
              </a:ext>
            </a:extLst>
          </p:cNvPr>
          <p:cNvGrpSpPr/>
          <p:nvPr/>
        </p:nvGrpSpPr>
        <p:grpSpPr>
          <a:xfrm>
            <a:off x="5396439" y="3372703"/>
            <a:ext cx="1051619" cy="864396"/>
            <a:chOff x="7682466" y="3571756"/>
            <a:chExt cx="1051619" cy="864396"/>
          </a:xfrm>
        </p:grpSpPr>
        <p:grpSp>
          <p:nvGrpSpPr>
            <p:cNvPr id="44" name="Google Shape;6516;g341ab2b14b8_2_916">
              <a:extLst>
                <a:ext uri="{FF2B5EF4-FFF2-40B4-BE49-F238E27FC236}">
                  <a16:creationId xmlns:a16="http://schemas.microsoft.com/office/drawing/2014/main" id="{1E10AF46-D0A1-1B5B-32C7-15AF0CA9A053}"/>
                </a:ext>
              </a:extLst>
            </p:cNvPr>
            <p:cNvGrpSpPr/>
            <p:nvPr/>
          </p:nvGrpSpPr>
          <p:grpSpPr>
            <a:xfrm>
              <a:off x="7682466" y="3571756"/>
              <a:ext cx="1051619" cy="864396"/>
              <a:chOff x="8393511" y="3307853"/>
              <a:chExt cx="1311900" cy="1020900"/>
            </a:xfrm>
          </p:grpSpPr>
          <p:sp>
            <p:nvSpPr>
              <p:cNvPr id="52" name="Google Shape;6517;g341ab2b14b8_2_916">
                <a:extLst>
                  <a:ext uri="{FF2B5EF4-FFF2-40B4-BE49-F238E27FC236}">
                    <a16:creationId xmlns:a16="http://schemas.microsoft.com/office/drawing/2014/main" id="{51FC8DBE-2EFF-0745-B6E3-51B51A1570F7}"/>
                  </a:ext>
                </a:extLst>
              </p:cNvPr>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3" name="Google Shape;6518;g341ab2b14b8_2_916">
                <a:extLst>
                  <a:ext uri="{FF2B5EF4-FFF2-40B4-BE49-F238E27FC236}">
                    <a16:creationId xmlns:a16="http://schemas.microsoft.com/office/drawing/2014/main" id="{D000219F-B3DE-EE1C-D7C7-C74E4AF3EEAE}"/>
                  </a:ext>
                </a:extLst>
              </p:cNvPr>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Backup Service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45" name="Google Shape;6519;g341ab2b14b8_2_916" descr="Application">
              <a:extLst>
                <a:ext uri="{FF2B5EF4-FFF2-40B4-BE49-F238E27FC236}">
                  <a16:creationId xmlns:a16="http://schemas.microsoft.com/office/drawing/2014/main" id="{410403B0-8C3A-5B91-F188-C965909590F2}"/>
                </a:ext>
              </a:extLst>
            </p:cNvPr>
            <p:cNvGrpSpPr/>
            <p:nvPr/>
          </p:nvGrpSpPr>
          <p:grpSpPr>
            <a:xfrm>
              <a:off x="7817085" y="4000259"/>
              <a:ext cx="310692" cy="339773"/>
              <a:chOff x="530908" y="707686"/>
              <a:chExt cx="600836" cy="600837"/>
            </a:xfrm>
          </p:grpSpPr>
          <p:sp>
            <p:nvSpPr>
              <p:cNvPr id="48" name="Google Shape;6520;g341ab2b14b8_2_916">
                <a:extLst>
                  <a:ext uri="{FF2B5EF4-FFF2-40B4-BE49-F238E27FC236}">
                    <a16:creationId xmlns:a16="http://schemas.microsoft.com/office/drawing/2014/main" id="{106D39F8-77AB-4CDE-0807-223D4797DE11}"/>
                  </a:ext>
                </a:extLst>
              </p:cNvPr>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rgbClr val="0193C2"/>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endParaRPr kumimoji="0" sz="1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49" name="Google Shape;6521;g341ab2b14b8_2_916">
                <a:extLst>
                  <a:ext uri="{FF2B5EF4-FFF2-40B4-BE49-F238E27FC236}">
                    <a16:creationId xmlns:a16="http://schemas.microsoft.com/office/drawing/2014/main" id="{5FB85F4C-B16A-77F8-687D-53C90A74C6A8}"/>
                  </a:ext>
                </a:extLst>
              </p:cNvPr>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rgbClr val="0193C2"/>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endParaRPr kumimoji="0" sz="17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50" name="Google Shape;6522;g341ab2b14b8_2_916">
                <a:extLst>
                  <a:ext uri="{FF2B5EF4-FFF2-40B4-BE49-F238E27FC236}">
                    <a16:creationId xmlns:a16="http://schemas.microsoft.com/office/drawing/2014/main" id="{6FBAC69B-0A2A-1B95-4AFF-95FD556818FF}"/>
                  </a:ext>
                </a:extLst>
              </p:cNvPr>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rgbClr val="0193C2"/>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endParaRPr kumimoji="0" sz="17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51" name="Google Shape;6523;g341ab2b14b8_2_916">
                <a:extLst>
                  <a:ext uri="{FF2B5EF4-FFF2-40B4-BE49-F238E27FC236}">
                    <a16:creationId xmlns:a16="http://schemas.microsoft.com/office/drawing/2014/main" id="{87B2F52D-91F3-029B-F527-D50335BE5A9D}"/>
                  </a:ext>
                </a:extLst>
              </p:cNvPr>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rgbClr val="0193C2"/>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endParaRPr kumimoji="0" sz="1700" b="0" i="0" u="none" strike="noStrike" kern="1200" cap="none" spc="0" normalizeH="0" baseline="0" noProof="0" dirty="0">
                  <a:ln>
                    <a:noFill/>
                  </a:ln>
                  <a:solidFill>
                    <a:srgbClr val="717074"/>
                  </a:solidFill>
                  <a:effectLst/>
                  <a:uLnTx/>
                  <a:uFillTx/>
                  <a:latin typeface="Arial"/>
                  <a:ea typeface="Arial"/>
                  <a:cs typeface="Arial"/>
                  <a:sym typeface="Arial"/>
                </a:endParaRPr>
              </a:p>
            </p:txBody>
          </p:sp>
        </p:grpSp>
        <p:pic>
          <p:nvPicPr>
            <p:cNvPr id="46" name="Google Shape;6524;g341ab2b14b8_2_916" descr="vSAN Database&#10;">
              <a:extLst>
                <a:ext uri="{FF2B5EF4-FFF2-40B4-BE49-F238E27FC236}">
                  <a16:creationId xmlns:a16="http://schemas.microsoft.com/office/drawing/2014/main" id="{261F160D-E7ED-1B9B-9E3B-8D7630AA76B4}"/>
                </a:ext>
              </a:extLst>
            </p:cNvPr>
            <p:cNvPicPr preferRelativeResize="0"/>
            <p:nvPr/>
          </p:nvPicPr>
          <p:blipFill rotWithShape="1">
            <a:blip r:embed="rId5">
              <a:alphaModFix/>
            </a:blip>
            <a:srcRect/>
            <a:stretch/>
          </p:blipFill>
          <p:spPr>
            <a:xfrm>
              <a:off x="8329876" y="4022214"/>
              <a:ext cx="339877" cy="339792"/>
            </a:xfrm>
            <a:prstGeom prst="rect">
              <a:avLst/>
            </a:prstGeom>
            <a:solidFill>
              <a:srgbClr val="FFFFFF"/>
            </a:solidFill>
            <a:ln>
              <a:noFill/>
            </a:ln>
          </p:spPr>
        </p:pic>
        <p:cxnSp>
          <p:nvCxnSpPr>
            <p:cNvPr id="47" name="Google Shape;6525;g341ab2b14b8_2_916">
              <a:extLst>
                <a:ext uri="{FF2B5EF4-FFF2-40B4-BE49-F238E27FC236}">
                  <a16:creationId xmlns:a16="http://schemas.microsoft.com/office/drawing/2014/main" id="{ACB4BD98-3689-E4D7-99E6-C37D5602DBD0}"/>
                </a:ext>
              </a:extLst>
            </p:cNvPr>
            <p:cNvCxnSpPr/>
            <p:nvPr/>
          </p:nvCxnSpPr>
          <p:spPr>
            <a:xfrm>
              <a:off x="8176652" y="4173396"/>
              <a:ext cx="200100" cy="0"/>
            </a:xfrm>
            <a:prstGeom prst="straightConnector1">
              <a:avLst/>
            </a:prstGeom>
            <a:noFill/>
            <a:ln w="9525" cap="flat" cmpd="sng">
              <a:solidFill>
                <a:srgbClr val="0193C2"/>
              </a:solidFill>
              <a:prstDash val="solid"/>
              <a:round/>
              <a:headEnd type="none" w="sm" len="sm"/>
              <a:tailEnd type="triangle" w="med" len="med"/>
            </a:ln>
          </p:spPr>
        </p:cxnSp>
      </p:grpSp>
      <p:grpSp>
        <p:nvGrpSpPr>
          <p:cNvPr id="54" name="Google Shape;6526;g341ab2b14b8_2_916">
            <a:extLst>
              <a:ext uri="{FF2B5EF4-FFF2-40B4-BE49-F238E27FC236}">
                <a16:creationId xmlns:a16="http://schemas.microsoft.com/office/drawing/2014/main" id="{75B86DCC-1919-1055-DAB1-B48AF568899C}"/>
              </a:ext>
            </a:extLst>
          </p:cNvPr>
          <p:cNvGrpSpPr/>
          <p:nvPr/>
        </p:nvGrpSpPr>
        <p:grpSpPr>
          <a:xfrm>
            <a:off x="1852887" y="3372703"/>
            <a:ext cx="1051517" cy="864294"/>
            <a:chOff x="5343601" y="3571756"/>
            <a:chExt cx="1051517" cy="864294"/>
          </a:xfrm>
        </p:grpSpPr>
        <p:grpSp>
          <p:nvGrpSpPr>
            <p:cNvPr id="55" name="Google Shape;6527;g341ab2b14b8_2_916">
              <a:extLst>
                <a:ext uri="{FF2B5EF4-FFF2-40B4-BE49-F238E27FC236}">
                  <a16:creationId xmlns:a16="http://schemas.microsoft.com/office/drawing/2014/main" id="{76E92B3F-1898-9ECD-C61F-0D593C875700}"/>
                </a:ext>
              </a:extLst>
            </p:cNvPr>
            <p:cNvGrpSpPr/>
            <p:nvPr/>
          </p:nvGrpSpPr>
          <p:grpSpPr>
            <a:xfrm>
              <a:off x="5343601" y="3571756"/>
              <a:ext cx="1051517" cy="864294"/>
              <a:chOff x="5677911" y="3307853"/>
              <a:chExt cx="1314725" cy="1020900"/>
            </a:xfrm>
          </p:grpSpPr>
          <p:sp>
            <p:nvSpPr>
              <p:cNvPr id="57" name="Google Shape;6528;g341ab2b14b8_2_916">
                <a:extLst>
                  <a:ext uri="{FF2B5EF4-FFF2-40B4-BE49-F238E27FC236}">
                    <a16:creationId xmlns:a16="http://schemas.microsoft.com/office/drawing/2014/main" id="{5BF0AB40-AB7B-3D45-ED78-443A7A3A27B2}"/>
                  </a:ext>
                </a:extLst>
              </p:cNvPr>
              <p:cNvSpPr/>
              <p:nvPr/>
            </p:nvSpPr>
            <p:spPr>
              <a:xfrm>
                <a:off x="5680736"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8" name="Google Shape;6529;g341ab2b14b8_2_916">
                <a:extLst>
                  <a:ext uri="{FF2B5EF4-FFF2-40B4-BE49-F238E27FC236}">
                    <a16:creationId xmlns:a16="http://schemas.microsoft.com/office/drawing/2014/main" id="{6B2001D8-B0EA-8D8F-DEEA-FF262A68FE3D}"/>
                  </a:ext>
                </a:extLst>
              </p:cNvPr>
              <p:cNvSpPr/>
              <p:nvPr/>
            </p:nvSpPr>
            <p:spPr>
              <a:xfrm>
                <a:off x="5677911" y="3313168"/>
                <a:ext cx="1311900" cy="4020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VM Service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56" name="Google Shape;6530;g341ab2b14b8_2_916">
              <a:extLst>
                <a:ext uri="{FF2B5EF4-FFF2-40B4-BE49-F238E27FC236}">
                  <a16:creationId xmlns:a16="http://schemas.microsoft.com/office/drawing/2014/main" id="{D8E382B8-7ED9-4B04-682A-C0B84BB6EBA9}"/>
                </a:ext>
              </a:extLst>
            </p:cNvPr>
            <p:cNvSpPr/>
            <p:nvPr/>
          </p:nvSpPr>
          <p:spPr>
            <a:xfrm>
              <a:off x="5724925" y="3998562"/>
              <a:ext cx="340450" cy="340450"/>
            </a:xfrm>
            <a:custGeom>
              <a:avLst/>
              <a:gdLst/>
              <a:ahLst/>
              <a:cxnLst/>
              <a:rect l="l" t="t" r="r" b="b"/>
              <a:pathLst>
                <a:path w="384" h="384" extrusionOk="0">
                  <a:moveTo>
                    <a:pt x="368" y="16"/>
                  </a:moveTo>
                  <a:cubicBezTo>
                    <a:pt x="368" y="368"/>
                    <a:pt x="368" y="368"/>
                    <a:pt x="368" y="368"/>
                  </a:cubicBezTo>
                  <a:cubicBezTo>
                    <a:pt x="16" y="368"/>
                    <a:pt x="16" y="368"/>
                    <a:pt x="16" y="368"/>
                  </a:cubicBezTo>
                  <a:cubicBezTo>
                    <a:pt x="16" y="16"/>
                    <a:pt x="16" y="16"/>
                    <a:pt x="16" y="16"/>
                  </a:cubicBezTo>
                  <a:cubicBezTo>
                    <a:pt x="368" y="16"/>
                    <a:pt x="368" y="16"/>
                    <a:pt x="368" y="16"/>
                  </a:cubicBezTo>
                  <a:moveTo>
                    <a:pt x="384" y="0"/>
                  </a:moveTo>
                  <a:cubicBezTo>
                    <a:pt x="0" y="0"/>
                    <a:pt x="0" y="0"/>
                    <a:pt x="0" y="0"/>
                  </a:cubicBezTo>
                  <a:cubicBezTo>
                    <a:pt x="0" y="384"/>
                    <a:pt x="0" y="384"/>
                    <a:pt x="0" y="384"/>
                  </a:cubicBezTo>
                  <a:cubicBezTo>
                    <a:pt x="384" y="384"/>
                    <a:pt x="384" y="384"/>
                    <a:pt x="384" y="384"/>
                  </a:cubicBezTo>
                  <a:cubicBezTo>
                    <a:pt x="384" y="0"/>
                    <a:pt x="384" y="0"/>
                    <a:pt x="384" y="0"/>
                  </a:cubicBezTo>
                  <a:close/>
                  <a:moveTo>
                    <a:pt x="115" y="241"/>
                  </a:moveTo>
                  <a:cubicBezTo>
                    <a:pt x="121" y="241"/>
                    <a:pt x="125" y="237"/>
                    <a:pt x="127" y="231"/>
                  </a:cubicBezTo>
                  <a:cubicBezTo>
                    <a:pt x="127" y="231"/>
                    <a:pt x="127" y="231"/>
                    <a:pt x="159" y="160"/>
                  </a:cubicBezTo>
                  <a:cubicBezTo>
                    <a:pt x="159" y="159"/>
                    <a:pt x="160" y="157"/>
                    <a:pt x="160" y="154"/>
                  </a:cubicBezTo>
                  <a:cubicBezTo>
                    <a:pt x="160" y="149"/>
                    <a:pt x="155" y="144"/>
                    <a:pt x="149" y="144"/>
                  </a:cubicBezTo>
                  <a:cubicBezTo>
                    <a:pt x="144" y="144"/>
                    <a:pt x="141" y="148"/>
                    <a:pt x="139" y="152"/>
                  </a:cubicBezTo>
                  <a:cubicBezTo>
                    <a:pt x="139" y="152"/>
                    <a:pt x="139" y="152"/>
                    <a:pt x="115" y="214"/>
                  </a:cubicBezTo>
                  <a:cubicBezTo>
                    <a:pt x="115" y="214"/>
                    <a:pt x="115" y="214"/>
                    <a:pt x="91" y="152"/>
                  </a:cubicBezTo>
                  <a:cubicBezTo>
                    <a:pt x="89" y="148"/>
                    <a:pt x="86" y="144"/>
                    <a:pt x="80" y="144"/>
                  </a:cubicBezTo>
                  <a:cubicBezTo>
                    <a:pt x="74" y="144"/>
                    <a:pt x="69" y="149"/>
                    <a:pt x="69" y="154"/>
                  </a:cubicBezTo>
                  <a:cubicBezTo>
                    <a:pt x="69" y="157"/>
                    <a:pt x="70" y="158"/>
                    <a:pt x="71" y="160"/>
                  </a:cubicBezTo>
                  <a:cubicBezTo>
                    <a:pt x="71" y="160"/>
                    <a:pt x="71" y="160"/>
                    <a:pt x="102" y="231"/>
                  </a:cubicBezTo>
                  <a:cubicBezTo>
                    <a:pt x="105" y="237"/>
                    <a:pt x="108" y="241"/>
                    <a:pt x="114" y="241"/>
                  </a:cubicBezTo>
                  <a:cubicBezTo>
                    <a:pt x="114" y="241"/>
                    <a:pt x="114" y="241"/>
                    <a:pt x="115" y="241"/>
                  </a:cubicBezTo>
                  <a:close/>
                  <a:moveTo>
                    <a:pt x="177" y="155"/>
                  </a:moveTo>
                  <a:cubicBezTo>
                    <a:pt x="177" y="155"/>
                    <a:pt x="177" y="155"/>
                    <a:pt x="177" y="155"/>
                  </a:cubicBezTo>
                  <a:cubicBezTo>
                    <a:pt x="177" y="230"/>
                    <a:pt x="177" y="230"/>
                    <a:pt x="177" y="230"/>
                  </a:cubicBezTo>
                  <a:cubicBezTo>
                    <a:pt x="177" y="236"/>
                    <a:pt x="182" y="240"/>
                    <a:pt x="188" y="240"/>
                  </a:cubicBezTo>
                  <a:cubicBezTo>
                    <a:pt x="194" y="240"/>
                    <a:pt x="198" y="236"/>
                    <a:pt x="198" y="230"/>
                  </a:cubicBezTo>
                  <a:cubicBezTo>
                    <a:pt x="198" y="230"/>
                    <a:pt x="198" y="230"/>
                    <a:pt x="198" y="186"/>
                  </a:cubicBezTo>
                  <a:cubicBezTo>
                    <a:pt x="198" y="172"/>
                    <a:pt x="206" y="163"/>
                    <a:pt x="218" y="163"/>
                  </a:cubicBezTo>
                  <a:cubicBezTo>
                    <a:pt x="230" y="163"/>
                    <a:pt x="237" y="172"/>
                    <a:pt x="237" y="186"/>
                  </a:cubicBezTo>
                  <a:cubicBezTo>
                    <a:pt x="237" y="186"/>
                    <a:pt x="237" y="186"/>
                    <a:pt x="237" y="230"/>
                  </a:cubicBezTo>
                  <a:cubicBezTo>
                    <a:pt x="237" y="236"/>
                    <a:pt x="242" y="240"/>
                    <a:pt x="248" y="240"/>
                  </a:cubicBezTo>
                  <a:cubicBezTo>
                    <a:pt x="254" y="240"/>
                    <a:pt x="259" y="236"/>
                    <a:pt x="259" y="230"/>
                  </a:cubicBezTo>
                  <a:cubicBezTo>
                    <a:pt x="259" y="230"/>
                    <a:pt x="259" y="230"/>
                    <a:pt x="259" y="186"/>
                  </a:cubicBezTo>
                  <a:cubicBezTo>
                    <a:pt x="259" y="172"/>
                    <a:pt x="267" y="163"/>
                    <a:pt x="278" y="163"/>
                  </a:cubicBezTo>
                  <a:cubicBezTo>
                    <a:pt x="290" y="163"/>
                    <a:pt x="297" y="171"/>
                    <a:pt x="297" y="186"/>
                  </a:cubicBezTo>
                  <a:cubicBezTo>
                    <a:pt x="297" y="186"/>
                    <a:pt x="297" y="186"/>
                    <a:pt x="297" y="230"/>
                  </a:cubicBezTo>
                  <a:cubicBezTo>
                    <a:pt x="297" y="236"/>
                    <a:pt x="302" y="240"/>
                    <a:pt x="308" y="240"/>
                  </a:cubicBezTo>
                  <a:cubicBezTo>
                    <a:pt x="314" y="240"/>
                    <a:pt x="318" y="236"/>
                    <a:pt x="318" y="230"/>
                  </a:cubicBezTo>
                  <a:cubicBezTo>
                    <a:pt x="318" y="230"/>
                    <a:pt x="318" y="230"/>
                    <a:pt x="318" y="180"/>
                  </a:cubicBezTo>
                  <a:cubicBezTo>
                    <a:pt x="318" y="157"/>
                    <a:pt x="306" y="144"/>
                    <a:pt x="286" y="144"/>
                  </a:cubicBezTo>
                  <a:cubicBezTo>
                    <a:pt x="272" y="144"/>
                    <a:pt x="262" y="150"/>
                    <a:pt x="254" y="160"/>
                  </a:cubicBezTo>
                  <a:cubicBezTo>
                    <a:pt x="250" y="150"/>
                    <a:pt x="240" y="144"/>
                    <a:pt x="227" y="144"/>
                  </a:cubicBezTo>
                  <a:cubicBezTo>
                    <a:pt x="212" y="144"/>
                    <a:pt x="204" y="152"/>
                    <a:pt x="198" y="160"/>
                  </a:cubicBezTo>
                  <a:cubicBezTo>
                    <a:pt x="198" y="160"/>
                    <a:pt x="198" y="160"/>
                    <a:pt x="198" y="155"/>
                  </a:cubicBezTo>
                  <a:cubicBezTo>
                    <a:pt x="198" y="149"/>
                    <a:pt x="194" y="145"/>
                    <a:pt x="188" y="145"/>
                  </a:cubicBezTo>
                  <a:cubicBezTo>
                    <a:pt x="182" y="145"/>
                    <a:pt x="177" y="149"/>
                    <a:pt x="177" y="15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1200" cap="none" spc="0" normalizeH="0" baseline="0" noProof="0" dirty="0">
                <a:ln>
                  <a:noFill/>
                </a:ln>
                <a:solidFill>
                  <a:srgbClr val="717074"/>
                </a:solidFill>
                <a:effectLst/>
                <a:uLnTx/>
                <a:uFillTx/>
                <a:latin typeface="Arial"/>
                <a:ea typeface="Arial"/>
                <a:cs typeface="Arial"/>
                <a:sym typeface="Arial"/>
              </a:endParaRPr>
            </a:p>
          </p:txBody>
        </p:sp>
      </p:grpSp>
      <p:grpSp>
        <p:nvGrpSpPr>
          <p:cNvPr id="59" name="Google Shape;6531;g341ab2b14b8_2_916">
            <a:extLst>
              <a:ext uri="{FF2B5EF4-FFF2-40B4-BE49-F238E27FC236}">
                <a16:creationId xmlns:a16="http://schemas.microsoft.com/office/drawing/2014/main" id="{34867C0A-CD83-1F28-9449-CECACDBF6F65}"/>
              </a:ext>
            </a:extLst>
          </p:cNvPr>
          <p:cNvGrpSpPr/>
          <p:nvPr/>
        </p:nvGrpSpPr>
        <p:grpSpPr>
          <a:xfrm>
            <a:off x="683599" y="3376591"/>
            <a:ext cx="1051619" cy="864294"/>
            <a:chOff x="2995027" y="3575644"/>
            <a:chExt cx="1051619" cy="864294"/>
          </a:xfrm>
        </p:grpSpPr>
        <p:grpSp>
          <p:nvGrpSpPr>
            <p:cNvPr id="60" name="Google Shape;6532;g341ab2b14b8_2_916">
              <a:extLst>
                <a:ext uri="{FF2B5EF4-FFF2-40B4-BE49-F238E27FC236}">
                  <a16:creationId xmlns:a16="http://schemas.microsoft.com/office/drawing/2014/main" id="{750DB219-408C-790E-4573-BB694B36D352}"/>
                </a:ext>
              </a:extLst>
            </p:cNvPr>
            <p:cNvGrpSpPr/>
            <p:nvPr/>
          </p:nvGrpSpPr>
          <p:grpSpPr>
            <a:xfrm>
              <a:off x="2995027" y="3575644"/>
              <a:ext cx="1051619" cy="864294"/>
              <a:chOff x="2967962" y="3307853"/>
              <a:chExt cx="1311900" cy="1020900"/>
            </a:xfrm>
          </p:grpSpPr>
          <p:sp>
            <p:nvSpPr>
              <p:cNvPr id="64" name="Google Shape;6533;g341ab2b14b8_2_916">
                <a:extLst>
                  <a:ext uri="{FF2B5EF4-FFF2-40B4-BE49-F238E27FC236}">
                    <a16:creationId xmlns:a16="http://schemas.microsoft.com/office/drawing/2014/main" id="{E5C4198D-5CC6-A93F-356E-9CF3DE7B2E26}"/>
                  </a:ext>
                </a:extLst>
              </p:cNvPr>
              <p:cNvSpPr/>
              <p:nvPr/>
            </p:nvSpPr>
            <p:spPr>
              <a:xfrm>
                <a:off x="2967962"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5" name="Google Shape;6534;g341ab2b14b8_2_916">
                <a:extLst>
                  <a:ext uri="{FF2B5EF4-FFF2-40B4-BE49-F238E27FC236}">
                    <a16:creationId xmlns:a16="http://schemas.microsoft.com/office/drawing/2014/main" id="{D7FEEBDD-5FA7-E62E-176A-360BE7450618}"/>
                  </a:ext>
                </a:extLst>
              </p:cNvPr>
              <p:cNvSpPr txBox="1"/>
              <p:nvPr/>
            </p:nvSpPr>
            <p:spPr>
              <a:xfrm>
                <a:off x="2990321" y="3314416"/>
                <a:ext cx="1289400" cy="458100"/>
              </a:xfrm>
              <a:prstGeom prst="rect">
                <a:avLst/>
              </a:prstGeom>
              <a:noFill/>
              <a:ln>
                <a:noFill/>
              </a:ln>
            </p:spPr>
            <p:txBody>
              <a:bodyPr spcFirstLastPara="1" wrap="square" lIns="91400" tIns="91400" rIns="91400" bIns="91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sz="800" b="0" i="0" u="none" strike="noStrike" kern="1200" cap="none" spc="0" normalizeH="0" baseline="0" noProof="0" dirty="0">
                    <a:ln>
                      <a:noFill/>
                    </a:ln>
                    <a:solidFill>
                      <a:srgbClr val="1B1D36"/>
                    </a:solidFill>
                    <a:effectLst/>
                    <a:uLnTx/>
                    <a:uFillTx/>
                    <a:latin typeface="Arial"/>
                    <a:ea typeface="Arial"/>
                    <a:cs typeface="Arial"/>
                    <a:sym typeface="Arial"/>
                  </a:rPr>
                  <a:t>vSphere Kubernetes Service (VKS)</a:t>
                </a:r>
                <a:endParaRPr kumimoji="0" sz="800" b="0" i="0" u="none" strike="noStrike" kern="1200" cap="none" spc="0" normalizeH="0" baseline="0" noProof="0" dirty="0">
                  <a:ln>
                    <a:noFill/>
                  </a:ln>
                  <a:solidFill>
                    <a:srgbClr val="1B1D36"/>
                  </a:solidFill>
                  <a:effectLst/>
                  <a:uLnTx/>
                  <a:uFillTx/>
                  <a:latin typeface="Arial"/>
                  <a:ea typeface="Arial"/>
                  <a:cs typeface="Arial"/>
                  <a:sym typeface="Arial"/>
                </a:endParaRPr>
              </a:p>
            </p:txBody>
          </p:sp>
        </p:grpSp>
        <p:pic>
          <p:nvPicPr>
            <p:cNvPr id="61" name="Google Shape;6535;g341ab2b14b8_2_916">
              <a:extLst>
                <a:ext uri="{FF2B5EF4-FFF2-40B4-BE49-F238E27FC236}">
                  <a16:creationId xmlns:a16="http://schemas.microsoft.com/office/drawing/2014/main" id="{4CEC76B6-23FB-14B0-1EFA-9431ADEC81DB}"/>
                </a:ext>
              </a:extLst>
            </p:cNvPr>
            <p:cNvPicPr preferRelativeResize="0"/>
            <p:nvPr/>
          </p:nvPicPr>
          <p:blipFill rotWithShape="1">
            <a:blip r:embed="rId6">
              <a:alphaModFix/>
            </a:blip>
            <a:srcRect/>
            <a:stretch/>
          </p:blipFill>
          <p:spPr>
            <a:xfrm>
              <a:off x="3398948" y="4022187"/>
              <a:ext cx="339875" cy="339875"/>
            </a:xfrm>
            <a:prstGeom prst="rect">
              <a:avLst/>
            </a:prstGeom>
            <a:noFill/>
            <a:ln>
              <a:noFill/>
            </a:ln>
          </p:spPr>
        </p:pic>
        <p:sp>
          <p:nvSpPr>
            <p:cNvPr id="62" name="Google Shape;6536;g341ab2b14b8_2_916">
              <a:extLst>
                <a:ext uri="{FF2B5EF4-FFF2-40B4-BE49-F238E27FC236}">
                  <a16:creationId xmlns:a16="http://schemas.microsoft.com/office/drawing/2014/main" id="{8788B7AC-999D-019B-8A8B-C68FBA6D2911}"/>
                </a:ext>
              </a:extLst>
            </p:cNvPr>
            <p:cNvSpPr/>
            <p:nvPr/>
          </p:nvSpPr>
          <p:spPr>
            <a:xfrm>
              <a:off x="3354028" y="4030180"/>
              <a:ext cx="200096" cy="315780"/>
            </a:xfrm>
            <a:custGeom>
              <a:avLst/>
              <a:gdLst/>
              <a:ahLst/>
              <a:cxnLst/>
              <a:rect l="l" t="t" r="r" b="b"/>
              <a:pathLst>
                <a:path w="168857" h="254661" extrusionOk="0">
                  <a:moveTo>
                    <a:pt x="130750" y="0"/>
                  </a:moveTo>
                  <a:lnTo>
                    <a:pt x="168857" y="18455"/>
                  </a:lnTo>
                  <a:lnTo>
                    <a:pt x="160847" y="22166"/>
                  </a:lnTo>
                  <a:lnTo>
                    <a:pt x="130750" y="7659"/>
                  </a:lnTo>
                  <a:lnTo>
                    <a:pt x="32004" y="55254"/>
                  </a:lnTo>
                  <a:lnTo>
                    <a:pt x="7659" y="162207"/>
                  </a:lnTo>
                  <a:lnTo>
                    <a:pt x="76043" y="247823"/>
                  </a:lnTo>
                  <a:lnTo>
                    <a:pt x="109554" y="247823"/>
                  </a:lnTo>
                  <a:lnTo>
                    <a:pt x="115177" y="254661"/>
                  </a:lnTo>
                  <a:lnTo>
                    <a:pt x="72487" y="254661"/>
                  </a:lnTo>
                  <a:lnTo>
                    <a:pt x="0" y="163848"/>
                  </a:lnTo>
                  <a:lnTo>
                    <a:pt x="25986" y="5060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 name="Google Shape;6537;g341ab2b14b8_2_916">
              <a:extLst>
                <a:ext uri="{FF2B5EF4-FFF2-40B4-BE49-F238E27FC236}">
                  <a16:creationId xmlns:a16="http://schemas.microsoft.com/office/drawing/2014/main" id="{7F346D72-4659-FB6C-7031-61F131172D16}"/>
                </a:ext>
              </a:extLst>
            </p:cNvPr>
            <p:cNvSpPr/>
            <p:nvPr/>
          </p:nvSpPr>
          <p:spPr>
            <a:xfrm>
              <a:off x="3297920" y="4023483"/>
              <a:ext cx="200096" cy="315780"/>
            </a:xfrm>
            <a:custGeom>
              <a:avLst/>
              <a:gdLst/>
              <a:ahLst/>
              <a:cxnLst/>
              <a:rect l="l" t="t" r="r" b="b"/>
              <a:pathLst>
                <a:path w="168857" h="254661" extrusionOk="0">
                  <a:moveTo>
                    <a:pt x="130750" y="0"/>
                  </a:moveTo>
                  <a:lnTo>
                    <a:pt x="168857" y="18455"/>
                  </a:lnTo>
                  <a:lnTo>
                    <a:pt x="160847" y="22166"/>
                  </a:lnTo>
                  <a:lnTo>
                    <a:pt x="130750" y="7659"/>
                  </a:lnTo>
                  <a:lnTo>
                    <a:pt x="32004" y="55254"/>
                  </a:lnTo>
                  <a:lnTo>
                    <a:pt x="7659" y="162207"/>
                  </a:lnTo>
                  <a:lnTo>
                    <a:pt x="76043" y="247823"/>
                  </a:lnTo>
                  <a:lnTo>
                    <a:pt x="109554" y="247823"/>
                  </a:lnTo>
                  <a:lnTo>
                    <a:pt x="115177" y="254661"/>
                  </a:lnTo>
                  <a:lnTo>
                    <a:pt x="72487" y="254661"/>
                  </a:lnTo>
                  <a:lnTo>
                    <a:pt x="0" y="163848"/>
                  </a:lnTo>
                  <a:lnTo>
                    <a:pt x="25986" y="5060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66" name="Google Shape;6617;g341ab2b14b8_2_916">
            <a:extLst>
              <a:ext uri="{FF2B5EF4-FFF2-40B4-BE49-F238E27FC236}">
                <a16:creationId xmlns:a16="http://schemas.microsoft.com/office/drawing/2014/main" id="{D59E4A00-888F-2A14-49EC-7523C1263F68}"/>
              </a:ext>
            </a:extLst>
          </p:cNvPr>
          <p:cNvGrpSpPr/>
          <p:nvPr/>
        </p:nvGrpSpPr>
        <p:grpSpPr>
          <a:xfrm>
            <a:off x="4847274" y="1945451"/>
            <a:ext cx="1051517" cy="864294"/>
            <a:chOff x="5343601" y="3571756"/>
            <a:chExt cx="1051517" cy="864294"/>
          </a:xfrm>
        </p:grpSpPr>
        <p:grpSp>
          <p:nvGrpSpPr>
            <p:cNvPr id="67" name="Google Shape;6618;g341ab2b14b8_2_916">
              <a:extLst>
                <a:ext uri="{FF2B5EF4-FFF2-40B4-BE49-F238E27FC236}">
                  <a16:creationId xmlns:a16="http://schemas.microsoft.com/office/drawing/2014/main" id="{B7D68E96-4F93-09C3-D504-CEFE1C000433}"/>
                </a:ext>
              </a:extLst>
            </p:cNvPr>
            <p:cNvGrpSpPr/>
            <p:nvPr/>
          </p:nvGrpSpPr>
          <p:grpSpPr>
            <a:xfrm>
              <a:off x="5343601" y="3571756"/>
              <a:ext cx="1051517" cy="864294"/>
              <a:chOff x="5677911" y="3307853"/>
              <a:chExt cx="1314725" cy="1020900"/>
            </a:xfrm>
          </p:grpSpPr>
          <p:sp>
            <p:nvSpPr>
              <p:cNvPr id="71" name="Google Shape;6619;g341ab2b14b8_2_916">
                <a:extLst>
                  <a:ext uri="{FF2B5EF4-FFF2-40B4-BE49-F238E27FC236}">
                    <a16:creationId xmlns:a16="http://schemas.microsoft.com/office/drawing/2014/main" id="{FC68BB60-9801-D2F4-76E3-64B375211308}"/>
                  </a:ext>
                </a:extLst>
              </p:cNvPr>
              <p:cNvSpPr/>
              <p:nvPr/>
            </p:nvSpPr>
            <p:spPr>
              <a:xfrm>
                <a:off x="5680736" y="3307853"/>
                <a:ext cx="1311900" cy="1020900"/>
              </a:xfrm>
              <a:prstGeom prst="roundRect">
                <a:avLst>
                  <a:gd name="adj" fmla="val 6270"/>
                </a:avLst>
              </a:prstGeom>
              <a:solidFill>
                <a:schemeClr val="lt1"/>
              </a:solidFill>
              <a:ln w="12700" cap="flat" cmpd="sng">
                <a:solidFill>
                  <a:srgbClr val="005C8A">
                    <a:alpha val="50187"/>
                  </a:srgbClr>
                </a:solidFill>
                <a:prstDash val="sysDot"/>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72" name="Google Shape;6620;g341ab2b14b8_2_916">
                <a:extLst>
                  <a:ext uri="{FF2B5EF4-FFF2-40B4-BE49-F238E27FC236}">
                    <a16:creationId xmlns:a16="http://schemas.microsoft.com/office/drawing/2014/main" id="{AE7343AB-536B-90DE-5B1B-34B8A0844615}"/>
                  </a:ext>
                </a:extLst>
              </p:cNvPr>
              <p:cNvSpPr/>
              <p:nvPr/>
            </p:nvSpPr>
            <p:spPr>
              <a:xfrm>
                <a:off x="5677911" y="3313168"/>
                <a:ext cx="1311900" cy="4020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Operators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68" name="Google Shape;6621;g341ab2b14b8_2_916">
              <a:extLst>
                <a:ext uri="{FF2B5EF4-FFF2-40B4-BE49-F238E27FC236}">
                  <a16:creationId xmlns:a16="http://schemas.microsoft.com/office/drawing/2014/main" id="{B5C27D7F-2D99-1094-4C3A-5B14A000C401}"/>
                </a:ext>
              </a:extLst>
            </p:cNvPr>
            <p:cNvGrpSpPr/>
            <p:nvPr/>
          </p:nvGrpSpPr>
          <p:grpSpPr>
            <a:xfrm>
              <a:off x="5675839" y="4003193"/>
              <a:ext cx="340454" cy="340427"/>
              <a:chOff x="5622261" y="3790312"/>
              <a:chExt cx="340454" cy="340427"/>
            </a:xfrm>
          </p:grpSpPr>
          <p:sp>
            <p:nvSpPr>
              <p:cNvPr id="69" name="Google Shape;6622;g341ab2b14b8_2_916">
                <a:extLst>
                  <a:ext uri="{FF2B5EF4-FFF2-40B4-BE49-F238E27FC236}">
                    <a16:creationId xmlns:a16="http://schemas.microsoft.com/office/drawing/2014/main" id="{9F05AD2C-6B40-FCA9-1710-67882612CE52}"/>
                  </a:ext>
                </a:extLst>
              </p:cNvPr>
              <p:cNvSpPr/>
              <p:nvPr/>
            </p:nvSpPr>
            <p:spPr>
              <a:xfrm>
                <a:off x="5693714" y="3861767"/>
                <a:ext cx="197089" cy="197089"/>
              </a:xfrm>
              <a:custGeom>
                <a:avLst/>
                <a:gdLst/>
                <a:ahLst/>
                <a:cxnLst/>
                <a:rect l="l" t="t" r="r" b="b"/>
                <a:pathLst>
                  <a:path w="640940" h="640940" extrusionOk="0">
                    <a:moveTo>
                      <a:pt x="320471" y="640941"/>
                    </a:moveTo>
                    <a:cubicBezTo>
                      <a:pt x="312403" y="640941"/>
                      <a:pt x="305859" y="634397"/>
                      <a:pt x="305859" y="626329"/>
                    </a:cubicBezTo>
                    <a:cubicBezTo>
                      <a:pt x="305859" y="618262"/>
                      <a:pt x="312403" y="611718"/>
                      <a:pt x="320471" y="611718"/>
                    </a:cubicBezTo>
                    <a:cubicBezTo>
                      <a:pt x="481109" y="611718"/>
                      <a:pt x="611807" y="481020"/>
                      <a:pt x="611807" y="320381"/>
                    </a:cubicBezTo>
                    <a:cubicBezTo>
                      <a:pt x="611807" y="159742"/>
                      <a:pt x="481109" y="29044"/>
                      <a:pt x="320471" y="29044"/>
                    </a:cubicBezTo>
                    <a:cubicBezTo>
                      <a:pt x="159832" y="29044"/>
                      <a:pt x="29134" y="159742"/>
                      <a:pt x="29134" y="320381"/>
                    </a:cubicBezTo>
                    <a:cubicBezTo>
                      <a:pt x="29134" y="328449"/>
                      <a:pt x="22590" y="334993"/>
                      <a:pt x="14522" y="334993"/>
                    </a:cubicBezTo>
                    <a:cubicBezTo>
                      <a:pt x="6454" y="334993"/>
                      <a:pt x="0" y="328538"/>
                      <a:pt x="0" y="320471"/>
                    </a:cubicBezTo>
                    <a:cubicBezTo>
                      <a:pt x="0" y="143786"/>
                      <a:pt x="143786" y="0"/>
                      <a:pt x="320471" y="0"/>
                    </a:cubicBezTo>
                    <a:cubicBezTo>
                      <a:pt x="497155" y="0"/>
                      <a:pt x="640941" y="143786"/>
                      <a:pt x="640941" y="320471"/>
                    </a:cubicBezTo>
                    <a:cubicBezTo>
                      <a:pt x="640941" y="497155"/>
                      <a:pt x="497155" y="640941"/>
                      <a:pt x="320471" y="64094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0" name="Google Shape;6623;g341ab2b14b8_2_916">
                <a:extLst>
                  <a:ext uri="{FF2B5EF4-FFF2-40B4-BE49-F238E27FC236}">
                    <a16:creationId xmlns:a16="http://schemas.microsoft.com/office/drawing/2014/main" id="{E7B09EED-8347-0312-CDAC-0DD17EF06F99}"/>
                  </a:ext>
                </a:extLst>
              </p:cNvPr>
              <p:cNvSpPr/>
              <p:nvPr/>
            </p:nvSpPr>
            <p:spPr>
              <a:xfrm>
                <a:off x="5622261" y="3790312"/>
                <a:ext cx="340454" cy="340427"/>
              </a:xfrm>
              <a:custGeom>
                <a:avLst/>
                <a:gdLst/>
                <a:ahLst/>
                <a:cxnLst/>
                <a:rect l="l" t="t" r="r" b="b"/>
                <a:pathLst>
                  <a:path w="1107169" h="1107079" extrusionOk="0">
                    <a:moveTo>
                      <a:pt x="643003" y="1107080"/>
                    </a:moveTo>
                    <a:lnTo>
                      <a:pt x="458699" y="1107080"/>
                    </a:lnTo>
                    <a:lnTo>
                      <a:pt x="454754" y="1098833"/>
                    </a:lnTo>
                    <a:cubicBezTo>
                      <a:pt x="448659" y="1086193"/>
                      <a:pt x="442832" y="1067458"/>
                      <a:pt x="437005" y="1041552"/>
                    </a:cubicBezTo>
                    <a:cubicBezTo>
                      <a:pt x="432165" y="1020575"/>
                      <a:pt x="427951" y="1004709"/>
                      <a:pt x="424455" y="994221"/>
                    </a:cubicBezTo>
                    <a:cubicBezTo>
                      <a:pt x="363947" y="967507"/>
                      <a:pt x="340819" y="957019"/>
                      <a:pt x="331496" y="952537"/>
                    </a:cubicBezTo>
                    <a:cubicBezTo>
                      <a:pt x="319216" y="957019"/>
                      <a:pt x="304962" y="964190"/>
                      <a:pt x="288916" y="974051"/>
                    </a:cubicBezTo>
                    <a:cubicBezTo>
                      <a:pt x="265520" y="988483"/>
                      <a:pt x="249384" y="997717"/>
                      <a:pt x="239613" y="1002019"/>
                    </a:cubicBezTo>
                    <a:lnTo>
                      <a:pt x="232352" y="1005246"/>
                    </a:lnTo>
                    <a:lnTo>
                      <a:pt x="225719" y="1000944"/>
                    </a:lnTo>
                    <a:cubicBezTo>
                      <a:pt x="210031" y="990724"/>
                      <a:pt x="169961" y="952716"/>
                      <a:pt x="103178" y="884678"/>
                    </a:cubicBezTo>
                    <a:lnTo>
                      <a:pt x="97262" y="878672"/>
                    </a:lnTo>
                    <a:lnTo>
                      <a:pt x="99503" y="870604"/>
                    </a:lnTo>
                    <a:cubicBezTo>
                      <a:pt x="101564" y="862895"/>
                      <a:pt x="109184" y="844608"/>
                      <a:pt x="149613" y="774687"/>
                    </a:cubicBezTo>
                    <a:cubicBezTo>
                      <a:pt x="146654" y="767516"/>
                      <a:pt x="140738" y="753800"/>
                      <a:pt x="128995" y="727804"/>
                    </a:cubicBezTo>
                    <a:cubicBezTo>
                      <a:pt x="120748" y="708800"/>
                      <a:pt x="114921" y="691230"/>
                      <a:pt x="111604" y="675274"/>
                    </a:cubicBezTo>
                    <a:cubicBezTo>
                      <a:pt x="98068" y="672943"/>
                      <a:pt x="82291" y="669358"/>
                      <a:pt x="64453" y="664517"/>
                    </a:cubicBezTo>
                    <a:cubicBezTo>
                      <a:pt x="38994" y="657077"/>
                      <a:pt x="21335" y="652326"/>
                      <a:pt x="11833" y="650443"/>
                    </a:cubicBezTo>
                    <a:lnTo>
                      <a:pt x="0" y="648202"/>
                    </a:lnTo>
                    <a:lnTo>
                      <a:pt x="0" y="454037"/>
                    </a:lnTo>
                    <a:lnTo>
                      <a:pt x="11295" y="451438"/>
                    </a:lnTo>
                    <a:cubicBezTo>
                      <a:pt x="19452" y="449555"/>
                      <a:pt x="36484" y="444804"/>
                      <a:pt x="61853" y="437364"/>
                    </a:cubicBezTo>
                    <a:cubicBezTo>
                      <a:pt x="80050" y="432075"/>
                      <a:pt x="95738" y="428310"/>
                      <a:pt x="109363" y="426069"/>
                    </a:cubicBezTo>
                    <a:cubicBezTo>
                      <a:pt x="114204" y="416298"/>
                      <a:pt x="121286" y="400431"/>
                      <a:pt x="130340" y="378828"/>
                    </a:cubicBezTo>
                    <a:cubicBezTo>
                      <a:pt x="138856" y="358389"/>
                      <a:pt x="146654" y="342433"/>
                      <a:pt x="154005" y="330421"/>
                    </a:cubicBezTo>
                    <a:cubicBezTo>
                      <a:pt x="124961" y="276456"/>
                      <a:pt x="110080" y="255211"/>
                      <a:pt x="102640" y="246874"/>
                    </a:cubicBezTo>
                    <a:lnTo>
                      <a:pt x="95021" y="238269"/>
                    </a:lnTo>
                    <a:lnTo>
                      <a:pt x="101564" y="228856"/>
                    </a:lnTo>
                    <a:cubicBezTo>
                      <a:pt x="112232" y="213438"/>
                      <a:pt x="152123" y="172202"/>
                      <a:pt x="223478" y="102730"/>
                    </a:cubicBezTo>
                    <a:lnTo>
                      <a:pt x="230828" y="95558"/>
                    </a:lnTo>
                    <a:lnTo>
                      <a:pt x="240062" y="100041"/>
                    </a:lnTo>
                    <a:cubicBezTo>
                      <a:pt x="279773" y="119314"/>
                      <a:pt x="311506" y="137332"/>
                      <a:pt x="334544" y="153557"/>
                    </a:cubicBezTo>
                    <a:cubicBezTo>
                      <a:pt x="390750" y="129174"/>
                      <a:pt x="416656" y="119762"/>
                      <a:pt x="430013" y="116266"/>
                    </a:cubicBezTo>
                    <a:cubicBezTo>
                      <a:pt x="432344" y="107929"/>
                      <a:pt x="436378" y="93228"/>
                      <a:pt x="443280" y="67232"/>
                    </a:cubicBezTo>
                    <a:cubicBezTo>
                      <a:pt x="449286" y="44283"/>
                      <a:pt x="454754" y="25100"/>
                      <a:pt x="459326" y="10309"/>
                    </a:cubicBezTo>
                    <a:lnTo>
                      <a:pt x="462374" y="0"/>
                    </a:lnTo>
                    <a:lnTo>
                      <a:pt x="649098" y="0"/>
                    </a:lnTo>
                    <a:lnTo>
                      <a:pt x="652774" y="9143"/>
                    </a:lnTo>
                    <a:cubicBezTo>
                      <a:pt x="658869" y="24203"/>
                      <a:pt x="668820" y="58178"/>
                      <a:pt x="683252" y="113039"/>
                    </a:cubicBezTo>
                    <a:cubicBezTo>
                      <a:pt x="690603" y="116087"/>
                      <a:pt x="704318" y="121465"/>
                      <a:pt x="729776" y="131057"/>
                    </a:cubicBezTo>
                    <a:cubicBezTo>
                      <a:pt x="750125" y="138676"/>
                      <a:pt x="765902" y="146296"/>
                      <a:pt x="777824" y="154184"/>
                    </a:cubicBezTo>
                    <a:cubicBezTo>
                      <a:pt x="789568" y="150061"/>
                      <a:pt x="802924" y="143069"/>
                      <a:pt x="817895" y="133208"/>
                    </a:cubicBezTo>
                    <a:cubicBezTo>
                      <a:pt x="841829" y="118417"/>
                      <a:pt x="858323" y="109184"/>
                      <a:pt x="868632" y="104881"/>
                    </a:cubicBezTo>
                    <a:lnTo>
                      <a:pt x="875534" y="102013"/>
                    </a:lnTo>
                    <a:lnTo>
                      <a:pt x="881899" y="105867"/>
                    </a:lnTo>
                    <a:cubicBezTo>
                      <a:pt x="901351" y="117700"/>
                      <a:pt x="923045" y="136704"/>
                      <a:pt x="948413" y="164045"/>
                    </a:cubicBezTo>
                    <a:cubicBezTo>
                      <a:pt x="975844" y="192282"/>
                      <a:pt x="995924" y="211645"/>
                      <a:pt x="1008025" y="221147"/>
                    </a:cubicBezTo>
                    <a:lnTo>
                      <a:pt x="1017617" y="228767"/>
                    </a:lnTo>
                    <a:lnTo>
                      <a:pt x="1011790" y="239524"/>
                    </a:lnTo>
                    <a:cubicBezTo>
                      <a:pt x="988932" y="281745"/>
                      <a:pt x="971182" y="312492"/>
                      <a:pt x="957736" y="333110"/>
                    </a:cubicBezTo>
                    <a:cubicBezTo>
                      <a:pt x="978981" y="394067"/>
                      <a:pt x="988394" y="420153"/>
                      <a:pt x="992607" y="430999"/>
                    </a:cubicBezTo>
                    <a:cubicBezTo>
                      <a:pt x="1007308" y="433061"/>
                      <a:pt x="1024251" y="436916"/>
                      <a:pt x="1043165" y="442563"/>
                    </a:cubicBezTo>
                    <a:cubicBezTo>
                      <a:pt x="1068355" y="449914"/>
                      <a:pt x="1086014" y="454665"/>
                      <a:pt x="1095426" y="456547"/>
                    </a:cubicBezTo>
                    <a:lnTo>
                      <a:pt x="1107170" y="458878"/>
                    </a:lnTo>
                    <a:lnTo>
                      <a:pt x="1107170" y="653043"/>
                    </a:lnTo>
                    <a:lnTo>
                      <a:pt x="1095875" y="655642"/>
                    </a:lnTo>
                    <a:cubicBezTo>
                      <a:pt x="1090048" y="656987"/>
                      <a:pt x="1076512" y="660573"/>
                      <a:pt x="1045317" y="669716"/>
                    </a:cubicBezTo>
                    <a:cubicBezTo>
                      <a:pt x="1027298" y="674915"/>
                      <a:pt x="1011253" y="678770"/>
                      <a:pt x="997627" y="681101"/>
                    </a:cubicBezTo>
                    <a:cubicBezTo>
                      <a:pt x="993683" y="688900"/>
                      <a:pt x="987408" y="702973"/>
                      <a:pt x="977816" y="728521"/>
                    </a:cubicBezTo>
                    <a:cubicBezTo>
                      <a:pt x="970196" y="749587"/>
                      <a:pt x="962398" y="765723"/>
                      <a:pt x="953971" y="777287"/>
                    </a:cubicBezTo>
                    <a:cubicBezTo>
                      <a:pt x="958991" y="785803"/>
                      <a:pt x="966611" y="799070"/>
                      <a:pt x="976830" y="816908"/>
                    </a:cubicBezTo>
                    <a:cubicBezTo>
                      <a:pt x="987587" y="835823"/>
                      <a:pt x="997089" y="850614"/>
                      <a:pt x="1005157" y="861012"/>
                    </a:cubicBezTo>
                    <a:lnTo>
                      <a:pt x="1011701" y="869439"/>
                    </a:lnTo>
                    <a:lnTo>
                      <a:pt x="1005605" y="878224"/>
                    </a:lnTo>
                    <a:cubicBezTo>
                      <a:pt x="994938" y="893732"/>
                      <a:pt x="955316" y="934967"/>
                      <a:pt x="884499" y="1004350"/>
                    </a:cubicBezTo>
                    <a:lnTo>
                      <a:pt x="877238" y="1011432"/>
                    </a:lnTo>
                    <a:lnTo>
                      <a:pt x="868094" y="1007039"/>
                    </a:lnTo>
                    <a:cubicBezTo>
                      <a:pt x="836450" y="992069"/>
                      <a:pt x="805076" y="974141"/>
                      <a:pt x="774777" y="953882"/>
                    </a:cubicBezTo>
                    <a:cubicBezTo>
                      <a:pt x="742147" y="972169"/>
                      <a:pt x="710503" y="984629"/>
                      <a:pt x="680652" y="991083"/>
                    </a:cubicBezTo>
                    <a:cubicBezTo>
                      <a:pt x="676529" y="999420"/>
                      <a:pt x="671240" y="1013673"/>
                      <a:pt x="665682" y="1037787"/>
                    </a:cubicBezTo>
                    <a:cubicBezTo>
                      <a:pt x="658780" y="1067727"/>
                      <a:pt x="652774" y="1087717"/>
                      <a:pt x="647126" y="1098922"/>
                    </a:cubicBezTo>
                    <a:lnTo>
                      <a:pt x="643003" y="1107080"/>
                    </a:lnTo>
                    <a:close/>
                    <a:moveTo>
                      <a:pt x="477434" y="1077946"/>
                    </a:moveTo>
                    <a:lnTo>
                      <a:pt x="624357" y="1077946"/>
                    </a:lnTo>
                    <a:cubicBezTo>
                      <a:pt x="627495" y="1069430"/>
                      <a:pt x="631708" y="1055177"/>
                      <a:pt x="637176" y="1031332"/>
                    </a:cubicBezTo>
                    <a:cubicBezTo>
                      <a:pt x="643630" y="1003543"/>
                      <a:pt x="650622" y="983643"/>
                      <a:pt x="658601" y="970645"/>
                    </a:cubicBezTo>
                    <a:lnTo>
                      <a:pt x="662007" y="965087"/>
                    </a:lnTo>
                    <a:lnTo>
                      <a:pt x="668371" y="963921"/>
                    </a:lnTo>
                    <a:cubicBezTo>
                      <a:pt x="699298" y="958274"/>
                      <a:pt x="732824" y="944917"/>
                      <a:pt x="767874" y="924300"/>
                    </a:cubicBezTo>
                    <a:lnTo>
                      <a:pt x="775852" y="919638"/>
                    </a:lnTo>
                    <a:lnTo>
                      <a:pt x="783472" y="924838"/>
                    </a:lnTo>
                    <a:cubicBezTo>
                      <a:pt x="811978" y="944380"/>
                      <a:pt x="841470" y="961680"/>
                      <a:pt x="871321" y="976382"/>
                    </a:cubicBezTo>
                    <a:cubicBezTo>
                      <a:pt x="934877" y="913991"/>
                      <a:pt x="963204" y="883871"/>
                      <a:pt x="975306" y="869618"/>
                    </a:cubicBezTo>
                    <a:cubicBezTo>
                      <a:pt x="968045" y="859309"/>
                      <a:pt x="960067" y="846401"/>
                      <a:pt x="951461" y="831251"/>
                    </a:cubicBezTo>
                    <a:cubicBezTo>
                      <a:pt x="932995" y="798801"/>
                      <a:pt x="926272" y="787506"/>
                      <a:pt x="923851" y="783741"/>
                    </a:cubicBezTo>
                    <a:lnTo>
                      <a:pt x="917756" y="774149"/>
                    </a:lnTo>
                    <a:lnTo>
                      <a:pt x="925644" y="765902"/>
                    </a:lnTo>
                    <a:cubicBezTo>
                      <a:pt x="931202" y="760075"/>
                      <a:pt x="940077" y="747077"/>
                      <a:pt x="950386" y="718392"/>
                    </a:cubicBezTo>
                    <a:cubicBezTo>
                      <a:pt x="961501" y="688989"/>
                      <a:pt x="969748" y="669985"/>
                      <a:pt x="975844" y="660124"/>
                    </a:cubicBezTo>
                    <a:lnTo>
                      <a:pt x="979430" y="654298"/>
                    </a:lnTo>
                    <a:lnTo>
                      <a:pt x="986242" y="653401"/>
                    </a:lnTo>
                    <a:cubicBezTo>
                      <a:pt x="999958" y="651519"/>
                      <a:pt x="1017079" y="647664"/>
                      <a:pt x="1037069" y="641837"/>
                    </a:cubicBezTo>
                    <a:cubicBezTo>
                      <a:pt x="1054460" y="636728"/>
                      <a:pt x="1068086" y="632873"/>
                      <a:pt x="1077946" y="630184"/>
                    </a:cubicBezTo>
                    <a:lnTo>
                      <a:pt x="1077946" y="482454"/>
                    </a:lnTo>
                    <a:cubicBezTo>
                      <a:pt x="1067458" y="479854"/>
                      <a:pt x="1053205" y="475910"/>
                      <a:pt x="1034739" y="470531"/>
                    </a:cubicBezTo>
                    <a:cubicBezTo>
                      <a:pt x="1016093" y="464974"/>
                      <a:pt x="999868" y="461298"/>
                      <a:pt x="986153" y="459505"/>
                    </a:cubicBezTo>
                    <a:cubicBezTo>
                      <a:pt x="971720" y="463001"/>
                      <a:pt x="971541" y="462464"/>
                      <a:pt x="927616" y="335710"/>
                    </a:cubicBezTo>
                    <a:lnTo>
                      <a:pt x="925196" y="328807"/>
                    </a:lnTo>
                    <a:lnTo>
                      <a:pt x="929320" y="322712"/>
                    </a:lnTo>
                    <a:cubicBezTo>
                      <a:pt x="941421" y="304873"/>
                      <a:pt x="958543" y="275739"/>
                      <a:pt x="980326" y="235938"/>
                    </a:cubicBezTo>
                    <a:cubicBezTo>
                      <a:pt x="967418" y="224553"/>
                      <a:pt x="949937" y="207432"/>
                      <a:pt x="927168" y="183946"/>
                    </a:cubicBezTo>
                    <a:cubicBezTo>
                      <a:pt x="906640" y="161894"/>
                      <a:pt x="888533" y="145399"/>
                      <a:pt x="873024" y="134732"/>
                    </a:cubicBezTo>
                    <a:cubicBezTo>
                      <a:pt x="863881" y="139304"/>
                      <a:pt x="850614" y="147013"/>
                      <a:pt x="833492" y="157591"/>
                    </a:cubicBezTo>
                    <a:cubicBezTo>
                      <a:pt x="813592" y="170679"/>
                      <a:pt x="795125" y="179643"/>
                      <a:pt x="779080" y="184035"/>
                    </a:cubicBezTo>
                    <a:lnTo>
                      <a:pt x="772087" y="185918"/>
                    </a:lnTo>
                    <a:lnTo>
                      <a:pt x="766350" y="181525"/>
                    </a:lnTo>
                    <a:cubicBezTo>
                      <a:pt x="756400" y="173906"/>
                      <a:pt x="740623" y="166017"/>
                      <a:pt x="719468" y="158039"/>
                    </a:cubicBezTo>
                    <a:cubicBezTo>
                      <a:pt x="689706" y="146834"/>
                      <a:pt x="671778" y="139752"/>
                      <a:pt x="664875" y="136615"/>
                    </a:cubicBezTo>
                    <a:lnTo>
                      <a:pt x="658601" y="133746"/>
                    </a:lnTo>
                    <a:lnTo>
                      <a:pt x="656897" y="127112"/>
                    </a:lnTo>
                    <a:cubicBezTo>
                      <a:pt x="644527" y="79871"/>
                      <a:pt x="635204" y="46972"/>
                      <a:pt x="629108" y="28954"/>
                    </a:cubicBezTo>
                    <a:lnTo>
                      <a:pt x="483888" y="28954"/>
                    </a:lnTo>
                    <a:cubicBezTo>
                      <a:pt x="480123" y="41594"/>
                      <a:pt x="475910" y="56923"/>
                      <a:pt x="471338" y="74493"/>
                    </a:cubicBezTo>
                    <a:cubicBezTo>
                      <a:pt x="462822" y="106405"/>
                      <a:pt x="457444" y="126126"/>
                      <a:pt x="455292" y="133029"/>
                    </a:cubicBezTo>
                    <a:lnTo>
                      <a:pt x="452244" y="142800"/>
                    </a:lnTo>
                    <a:lnTo>
                      <a:pt x="442025" y="143427"/>
                    </a:lnTo>
                    <a:cubicBezTo>
                      <a:pt x="438888" y="143607"/>
                      <a:pt x="422125" y="147013"/>
                      <a:pt x="338399" y="183587"/>
                    </a:cubicBezTo>
                    <a:lnTo>
                      <a:pt x="330600" y="186993"/>
                    </a:lnTo>
                    <a:lnTo>
                      <a:pt x="323787" y="181884"/>
                    </a:lnTo>
                    <a:cubicBezTo>
                      <a:pt x="303528" y="166645"/>
                      <a:pt x="274126" y="149433"/>
                      <a:pt x="236386" y="130698"/>
                    </a:cubicBezTo>
                    <a:cubicBezTo>
                      <a:pt x="172920" y="192641"/>
                      <a:pt x="144324" y="222671"/>
                      <a:pt x="132043" y="237103"/>
                    </a:cubicBezTo>
                    <a:cubicBezTo>
                      <a:pt x="144593" y="254135"/>
                      <a:pt x="161625" y="282910"/>
                      <a:pt x="183677" y="324235"/>
                    </a:cubicBezTo>
                    <a:lnTo>
                      <a:pt x="187890" y="332124"/>
                    </a:lnTo>
                    <a:lnTo>
                      <a:pt x="182780" y="339475"/>
                    </a:lnTo>
                    <a:cubicBezTo>
                      <a:pt x="175250" y="350232"/>
                      <a:pt x="166645" y="367264"/>
                      <a:pt x="157053" y="390122"/>
                    </a:cubicBezTo>
                    <a:cubicBezTo>
                      <a:pt x="145041" y="418539"/>
                      <a:pt x="136704" y="437005"/>
                      <a:pt x="131415" y="446418"/>
                    </a:cubicBezTo>
                    <a:lnTo>
                      <a:pt x="127919" y="452782"/>
                    </a:lnTo>
                    <a:lnTo>
                      <a:pt x="120748" y="453768"/>
                    </a:lnTo>
                    <a:cubicBezTo>
                      <a:pt x="107033" y="455651"/>
                      <a:pt x="89911" y="459505"/>
                      <a:pt x="69921" y="465332"/>
                    </a:cubicBezTo>
                    <a:cubicBezTo>
                      <a:pt x="52261" y="470531"/>
                      <a:pt x="38725" y="474386"/>
                      <a:pt x="29044" y="476986"/>
                    </a:cubicBezTo>
                    <a:lnTo>
                      <a:pt x="29044" y="624716"/>
                    </a:lnTo>
                    <a:cubicBezTo>
                      <a:pt x="39622" y="627315"/>
                      <a:pt x="53875" y="631260"/>
                      <a:pt x="72252" y="636638"/>
                    </a:cubicBezTo>
                    <a:cubicBezTo>
                      <a:pt x="93497" y="642375"/>
                      <a:pt x="111604" y="646320"/>
                      <a:pt x="125947" y="648202"/>
                    </a:cubicBezTo>
                    <a:lnTo>
                      <a:pt x="136883" y="649636"/>
                    </a:lnTo>
                    <a:lnTo>
                      <a:pt x="138497" y="660573"/>
                    </a:lnTo>
                    <a:cubicBezTo>
                      <a:pt x="140828" y="676708"/>
                      <a:pt x="146565" y="695443"/>
                      <a:pt x="155529" y="716240"/>
                    </a:cubicBezTo>
                    <a:cubicBezTo>
                      <a:pt x="173995" y="757117"/>
                      <a:pt x="178029" y="767426"/>
                      <a:pt x="179374" y="771550"/>
                    </a:cubicBezTo>
                    <a:lnTo>
                      <a:pt x="181436" y="777824"/>
                    </a:lnTo>
                    <a:lnTo>
                      <a:pt x="178119" y="783562"/>
                    </a:lnTo>
                    <a:cubicBezTo>
                      <a:pt x="147730" y="835823"/>
                      <a:pt x="135270" y="860026"/>
                      <a:pt x="130340" y="871142"/>
                    </a:cubicBezTo>
                    <a:cubicBezTo>
                      <a:pt x="192641" y="934429"/>
                      <a:pt x="221685" y="961322"/>
                      <a:pt x="235042" y="971989"/>
                    </a:cubicBezTo>
                    <a:cubicBezTo>
                      <a:pt x="244006" y="967328"/>
                      <a:pt x="256825" y="959798"/>
                      <a:pt x="273408" y="949489"/>
                    </a:cubicBezTo>
                    <a:cubicBezTo>
                      <a:pt x="294295" y="936670"/>
                      <a:pt x="312223" y="928065"/>
                      <a:pt x="328180" y="923134"/>
                    </a:cubicBezTo>
                    <a:lnTo>
                      <a:pt x="334813" y="921073"/>
                    </a:lnTo>
                    <a:lnTo>
                      <a:pt x="340550" y="924927"/>
                    </a:lnTo>
                    <a:cubicBezTo>
                      <a:pt x="342612" y="926093"/>
                      <a:pt x="359286" y="933981"/>
                      <a:pt x="441756" y="970286"/>
                    </a:cubicBezTo>
                    <a:lnTo>
                      <a:pt x="447314" y="972706"/>
                    </a:lnTo>
                    <a:lnTo>
                      <a:pt x="449465" y="978354"/>
                    </a:lnTo>
                    <a:cubicBezTo>
                      <a:pt x="453768" y="989559"/>
                      <a:pt x="458878" y="1008115"/>
                      <a:pt x="465153" y="1035097"/>
                    </a:cubicBezTo>
                    <a:cubicBezTo>
                      <a:pt x="469456" y="1053205"/>
                      <a:pt x="473490" y="1067548"/>
                      <a:pt x="477434" y="107794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dirty="0">
                  <a:ln>
                    <a:noFill/>
                  </a:ln>
                  <a:solidFill>
                    <a:srgbClr val="717074"/>
                  </a:solidFill>
                  <a:effectLst/>
                  <a:uLnTx/>
                  <a:uFillTx/>
                  <a:latin typeface="Arial"/>
                  <a:ea typeface="Arial"/>
                  <a:cs typeface="Arial"/>
                  <a:sym typeface="Arial"/>
                </a:endParaRPr>
              </a:p>
            </p:txBody>
          </p:sp>
        </p:grpSp>
      </p:grpSp>
      <p:grpSp>
        <p:nvGrpSpPr>
          <p:cNvPr id="73" name="Google Shape;6627;g341ab2b14b8_2_916">
            <a:extLst>
              <a:ext uri="{FF2B5EF4-FFF2-40B4-BE49-F238E27FC236}">
                <a16:creationId xmlns:a16="http://schemas.microsoft.com/office/drawing/2014/main" id="{0BA20834-2CE0-E633-B088-D2295B5E34E4}"/>
              </a:ext>
            </a:extLst>
          </p:cNvPr>
          <p:cNvGrpSpPr/>
          <p:nvPr/>
        </p:nvGrpSpPr>
        <p:grpSpPr>
          <a:xfrm>
            <a:off x="2413985" y="1945448"/>
            <a:ext cx="1051500" cy="864300"/>
            <a:chOff x="8884225" y="3571523"/>
            <a:chExt cx="1051500" cy="864300"/>
          </a:xfrm>
        </p:grpSpPr>
        <p:sp>
          <p:nvSpPr>
            <p:cNvPr id="74" name="Google Shape;6628;g341ab2b14b8_2_916">
              <a:extLst>
                <a:ext uri="{FF2B5EF4-FFF2-40B4-BE49-F238E27FC236}">
                  <a16:creationId xmlns:a16="http://schemas.microsoft.com/office/drawing/2014/main" id="{658964AA-3DA8-7A30-9FED-E4E078A5F0D6}"/>
                </a:ext>
              </a:extLst>
            </p:cNvPr>
            <p:cNvSpPr/>
            <p:nvPr/>
          </p:nvSpPr>
          <p:spPr>
            <a:xfrm>
              <a:off x="8884225" y="3571523"/>
              <a:ext cx="1051500" cy="864300"/>
            </a:xfrm>
            <a:prstGeom prst="roundRect">
              <a:avLst>
                <a:gd name="adj" fmla="val 6270"/>
              </a:avLst>
            </a:prstGeom>
            <a:solidFill>
              <a:schemeClr val="lt1"/>
            </a:solidFill>
            <a:ln w="12700" cap="flat" cmpd="sng">
              <a:solidFill>
                <a:srgbClr val="005C8A">
                  <a:alpha val="49801"/>
                </a:srgbClr>
              </a:solidFill>
              <a:prstDash val="sysDot"/>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75" name="Google Shape;6629;g341ab2b14b8_2_916">
              <a:extLst>
                <a:ext uri="{FF2B5EF4-FFF2-40B4-BE49-F238E27FC236}">
                  <a16:creationId xmlns:a16="http://schemas.microsoft.com/office/drawing/2014/main" id="{E473C80A-0013-564E-6505-70F6A55B48E9}"/>
                </a:ext>
              </a:extLst>
            </p:cNvPr>
            <p:cNvPicPr preferRelativeResize="0"/>
            <p:nvPr/>
          </p:nvPicPr>
          <p:blipFill rotWithShape="1">
            <a:blip r:embed="rId7">
              <a:alphaModFix/>
            </a:blip>
            <a:srcRect/>
            <a:stretch/>
          </p:blipFill>
          <p:spPr>
            <a:xfrm>
              <a:off x="9201511" y="3961740"/>
              <a:ext cx="411793" cy="411793"/>
            </a:xfrm>
            <a:prstGeom prst="rect">
              <a:avLst/>
            </a:prstGeom>
            <a:noFill/>
            <a:ln>
              <a:noFill/>
            </a:ln>
          </p:spPr>
        </p:pic>
        <p:sp>
          <p:nvSpPr>
            <p:cNvPr id="76" name="Google Shape;6630;g341ab2b14b8_2_916">
              <a:extLst>
                <a:ext uri="{FF2B5EF4-FFF2-40B4-BE49-F238E27FC236}">
                  <a16:creationId xmlns:a16="http://schemas.microsoft.com/office/drawing/2014/main" id="{7E0CD794-C742-8B5D-51F7-8CE1F4014B70}"/>
                </a:ext>
              </a:extLst>
            </p:cNvPr>
            <p:cNvSpPr txBox="1"/>
            <p:nvPr/>
          </p:nvSpPr>
          <p:spPr>
            <a:xfrm>
              <a:off x="8947803" y="3579303"/>
              <a:ext cx="962400" cy="3399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Certificate Management</a:t>
              </a:r>
              <a:endParaRPr kumimoji="0" sz="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77" name="Google Shape;6631;g341ab2b14b8_2_916">
            <a:extLst>
              <a:ext uri="{FF2B5EF4-FFF2-40B4-BE49-F238E27FC236}">
                <a16:creationId xmlns:a16="http://schemas.microsoft.com/office/drawing/2014/main" id="{5D5FA6B7-3F08-0F5F-209C-6623005D2085}"/>
              </a:ext>
            </a:extLst>
          </p:cNvPr>
          <p:cNvGrpSpPr/>
          <p:nvPr/>
        </p:nvGrpSpPr>
        <p:grpSpPr>
          <a:xfrm>
            <a:off x="4177239" y="3372703"/>
            <a:ext cx="1051619" cy="864396"/>
            <a:chOff x="7682466" y="3571756"/>
            <a:chExt cx="1051619" cy="864396"/>
          </a:xfrm>
        </p:grpSpPr>
        <p:grpSp>
          <p:nvGrpSpPr>
            <p:cNvPr id="78" name="Google Shape;6632;g341ab2b14b8_2_916">
              <a:extLst>
                <a:ext uri="{FF2B5EF4-FFF2-40B4-BE49-F238E27FC236}">
                  <a16:creationId xmlns:a16="http://schemas.microsoft.com/office/drawing/2014/main" id="{79E5621B-0010-E008-1D48-0939EFE52A1F}"/>
                </a:ext>
              </a:extLst>
            </p:cNvPr>
            <p:cNvGrpSpPr/>
            <p:nvPr/>
          </p:nvGrpSpPr>
          <p:grpSpPr>
            <a:xfrm>
              <a:off x="7682466" y="3571756"/>
              <a:ext cx="1051619" cy="864396"/>
              <a:chOff x="8393511" y="3307853"/>
              <a:chExt cx="1311900" cy="1020900"/>
            </a:xfrm>
          </p:grpSpPr>
          <p:sp>
            <p:nvSpPr>
              <p:cNvPr id="80" name="Google Shape;6633;g341ab2b14b8_2_916">
                <a:extLst>
                  <a:ext uri="{FF2B5EF4-FFF2-40B4-BE49-F238E27FC236}">
                    <a16:creationId xmlns:a16="http://schemas.microsoft.com/office/drawing/2014/main" id="{7D74647C-33D2-2C5A-DC79-A44CF3B12D13}"/>
                  </a:ext>
                </a:extLst>
              </p:cNvPr>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1" name="Google Shape;6634;g341ab2b14b8_2_916">
                <a:extLst>
                  <a:ext uri="{FF2B5EF4-FFF2-40B4-BE49-F238E27FC236}">
                    <a16:creationId xmlns:a16="http://schemas.microsoft.com/office/drawing/2014/main" id="{10A95B71-1BE6-9944-4D72-F91C381C18ED}"/>
                  </a:ext>
                </a:extLst>
              </p:cNvPr>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Storage and Data Services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pic>
          <p:nvPicPr>
            <p:cNvPr id="79" name="Google Shape;6635;g341ab2b14b8_2_916" descr="vSAN Database&#10;">
              <a:extLst>
                <a:ext uri="{FF2B5EF4-FFF2-40B4-BE49-F238E27FC236}">
                  <a16:creationId xmlns:a16="http://schemas.microsoft.com/office/drawing/2014/main" id="{776728E9-F4F0-EE56-8C0B-91D3CBF849EF}"/>
                </a:ext>
              </a:extLst>
            </p:cNvPr>
            <p:cNvPicPr preferRelativeResize="0"/>
            <p:nvPr/>
          </p:nvPicPr>
          <p:blipFill rotWithShape="1">
            <a:blip r:embed="rId5">
              <a:alphaModFix/>
            </a:blip>
            <a:srcRect/>
            <a:stretch/>
          </p:blipFill>
          <p:spPr>
            <a:xfrm>
              <a:off x="8025076" y="3946014"/>
              <a:ext cx="339877" cy="339792"/>
            </a:xfrm>
            <a:prstGeom prst="rect">
              <a:avLst/>
            </a:prstGeom>
            <a:solidFill>
              <a:srgbClr val="FFFFFF"/>
            </a:solidFill>
            <a:ln>
              <a:noFill/>
            </a:ln>
          </p:spPr>
        </p:pic>
      </p:grpSp>
      <p:grpSp>
        <p:nvGrpSpPr>
          <p:cNvPr id="82" name="Google Shape;6636;g341ab2b14b8_2_916">
            <a:extLst>
              <a:ext uri="{FF2B5EF4-FFF2-40B4-BE49-F238E27FC236}">
                <a16:creationId xmlns:a16="http://schemas.microsoft.com/office/drawing/2014/main" id="{B75861F3-E5C3-CD79-C28D-563C918ADDE5}"/>
              </a:ext>
            </a:extLst>
          </p:cNvPr>
          <p:cNvGrpSpPr/>
          <p:nvPr/>
        </p:nvGrpSpPr>
        <p:grpSpPr>
          <a:xfrm>
            <a:off x="3630474" y="1945448"/>
            <a:ext cx="1051500" cy="864300"/>
            <a:chOff x="8884225" y="3571523"/>
            <a:chExt cx="1051500" cy="864300"/>
          </a:xfrm>
        </p:grpSpPr>
        <p:sp>
          <p:nvSpPr>
            <p:cNvPr id="83" name="Google Shape;6637;g341ab2b14b8_2_916">
              <a:extLst>
                <a:ext uri="{FF2B5EF4-FFF2-40B4-BE49-F238E27FC236}">
                  <a16:creationId xmlns:a16="http://schemas.microsoft.com/office/drawing/2014/main" id="{D978FC57-129A-B782-D24C-FAEB08AB5564}"/>
                </a:ext>
              </a:extLst>
            </p:cNvPr>
            <p:cNvSpPr/>
            <p:nvPr/>
          </p:nvSpPr>
          <p:spPr>
            <a:xfrm>
              <a:off x="8884225" y="3571523"/>
              <a:ext cx="1051500" cy="864300"/>
            </a:xfrm>
            <a:prstGeom prst="roundRect">
              <a:avLst>
                <a:gd name="adj" fmla="val 6270"/>
              </a:avLst>
            </a:prstGeom>
            <a:solidFill>
              <a:schemeClr val="lt1"/>
            </a:solidFill>
            <a:ln w="12700" cap="flat" cmpd="sng">
              <a:solidFill>
                <a:srgbClr val="005C8A">
                  <a:alpha val="50012"/>
                </a:srgbClr>
              </a:solidFill>
              <a:prstDash val="sysDot"/>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4" name="Google Shape;6638;g341ab2b14b8_2_916">
              <a:extLst>
                <a:ext uri="{FF2B5EF4-FFF2-40B4-BE49-F238E27FC236}">
                  <a16:creationId xmlns:a16="http://schemas.microsoft.com/office/drawing/2014/main" id="{F323F01C-4A60-E9EA-D3E4-A625DC871963}"/>
                </a:ext>
              </a:extLst>
            </p:cNvPr>
            <p:cNvSpPr/>
            <p:nvPr/>
          </p:nvSpPr>
          <p:spPr>
            <a:xfrm>
              <a:off x="9333228" y="4074049"/>
              <a:ext cx="123273" cy="183220"/>
            </a:xfrm>
            <a:custGeom>
              <a:avLst/>
              <a:gdLst/>
              <a:ahLst/>
              <a:cxnLst/>
              <a:rect l="l" t="t" r="r" b="b"/>
              <a:pathLst>
                <a:path w="184678"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4678" y="151158"/>
                    <a:pt x="169499" y="123962"/>
                    <a:pt x="146731" y="107518"/>
                  </a:cubicBezTo>
                  <a:close/>
                  <a:moveTo>
                    <a:pt x="53759" y="55024"/>
                  </a:moveTo>
                  <a:cubicBezTo>
                    <a:pt x="53759" y="33520"/>
                    <a:pt x="68938" y="15812"/>
                    <a:pt x="87912" y="15812"/>
                  </a:cubicBezTo>
                  <a:lnTo>
                    <a:pt x="96134" y="15812"/>
                  </a:lnTo>
                  <a:cubicBezTo>
                    <a:pt x="115108" y="15812"/>
                    <a:pt x="130287" y="33520"/>
                    <a:pt x="130287" y="55024"/>
                  </a:cubicBezTo>
                  <a:lnTo>
                    <a:pt x="130287" y="98031"/>
                  </a:lnTo>
                  <a:cubicBezTo>
                    <a:pt x="118902" y="92972"/>
                    <a:pt x="105621" y="89809"/>
                    <a:pt x="91707" y="89809"/>
                  </a:cubicBezTo>
                  <a:cubicBezTo>
                    <a:pt x="77793" y="89809"/>
                    <a:pt x="65143" y="92972"/>
                    <a:pt x="53127" y="98031"/>
                  </a:cubicBezTo>
                  <a:lnTo>
                    <a:pt x="53127" y="55024"/>
                  </a:lnTo>
                  <a:close/>
                  <a:moveTo>
                    <a:pt x="92339" y="258676"/>
                  </a:moveTo>
                  <a:cubicBezTo>
                    <a:pt x="49964" y="258676"/>
                    <a:pt x="15812" y="224523"/>
                    <a:pt x="15812" y="182148"/>
                  </a:cubicBezTo>
                  <a:cubicBezTo>
                    <a:pt x="15812" y="139774"/>
                    <a:pt x="49964" y="105621"/>
                    <a:pt x="92339" y="105621"/>
                  </a:cubicBezTo>
                  <a:cubicBezTo>
                    <a:pt x="134714" y="105621"/>
                    <a:pt x="168867" y="139774"/>
                    <a:pt x="168867" y="182148"/>
                  </a:cubicBezTo>
                  <a:cubicBezTo>
                    <a:pt x="168867" y="224523"/>
                    <a:pt x="134714" y="258676"/>
                    <a:pt x="92339" y="258676"/>
                  </a:cubicBezTo>
                  <a:close/>
                </a:path>
              </a:pathLst>
            </a:custGeom>
            <a:gradFill>
              <a:gsLst>
                <a:gs pos="0">
                  <a:srgbClr val="6C4B94"/>
                </a:gs>
                <a:gs pos="25000">
                  <a:srgbClr val="005C8A"/>
                </a:gs>
                <a:gs pos="50000">
                  <a:srgbClr val="0098C7"/>
                </a:gs>
                <a:gs pos="75000">
                  <a:srgbClr val="007B8C"/>
                </a:gs>
                <a:gs pos="100000">
                  <a:srgbClr val="61A60E"/>
                </a:gs>
              </a:gsLst>
              <a:lin ang="0" scaled="0"/>
            </a:gra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5" name="Google Shape;6639;g341ab2b14b8_2_916">
              <a:extLst>
                <a:ext uri="{FF2B5EF4-FFF2-40B4-BE49-F238E27FC236}">
                  <a16:creationId xmlns:a16="http://schemas.microsoft.com/office/drawing/2014/main" id="{4C93D67B-A5A6-BBCB-25DD-41236B349371}"/>
                </a:ext>
              </a:extLst>
            </p:cNvPr>
            <p:cNvSpPr/>
            <p:nvPr/>
          </p:nvSpPr>
          <p:spPr>
            <a:xfrm>
              <a:off x="9224614" y="3965018"/>
              <a:ext cx="340266" cy="400636"/>
            </a:xfrm>
            <a:custGeom>
              <a:avLst/>
              <a:gdLst/>
              <a:ahLst/>
              <a:cxnLst/>
              <a:rect l="l" t="t" r="r" b="b"/>
              <a:pathLst>
                <a:path w="509762" h="600204" extrusionOk="0">
                  <a:moveTo>
                    <a:pt x="254881" y="600205"/>
                  </a:moveTo>
                  <a:lnTo>
                    <a:pt x="246027" y="597042"/>
                  </a:lnTo>
                  <a:cubicBezTo>
                    <a:pt x="235908" y="593248"/>
                    <a:pt x="0" y="500908"/>
                    <a:pt x="0" y="264368"/>
                  </a:cubicBezTo>
                  <a:lnTo>
                    <a:pt x="0" y="111313"/>
                  </a:lnTo>
                  <a:lnTo>
                    <a:pt x="18974" y="106253"/>
                  </a:lnTo>
                  <a:cubicBezTo>
                    <a:pt x="58186" y="95501"/>
                    <a:pt x="97399" y="82220"/>
                    <a:pt x="134714" y="65143"/>
                  </a:cubicBezTo>
                  <a:cubicBezTo>
                    <a:pt x="171397" y="49332"/>
                    <a:pt x="207447" y="30358"/>
                    <a:pt x="240967" y="8854"/>
                  </a:cubicBezTo>
                  <a:lnTo>
                    <a:pt x="254881" y="0"/>
                  </a:lnTo>
                  <a:lnTo>
                    <a:pt x="268796" y="8854"/>
                  </a:lnTo>
                  <a:cubicBezTo>
                    <a:pt x="302948" y="30358"/>
                    <a:pt x="338366" y="49332"/>
                    <a:pt x="375049" y="65143"/>
                  </a:cubicBezTo>
                  <a:cubicBezTo>
                    <a:pt x="412364" y="81587"/>
                    <a:pt x="450944" y="95501"/>
                    <a:pt x="490789" y="106253"/>
                  </a:cubicBezTo>
                  <a:lnTo>
                    <a:pt x="509763" y="111313"/>
                  </a:lnTo>
                  <a:lnTo>
                    <a:pt x="509763" y="264368"/>
                  </a:lnTo>
                  <a:cubicBezTo>
                    <a:pt x="509763" y="496481"/>
                    <a:pt x="289667" y="587555"/>
                    <a:pt x="263103" y="597042"/>
                  </a:cubicBezTo>
                  <a:lnTo>
                    <a:pt x="263103" y="597675"/>
                  </a:lnTo>
                  <a:lnTo>
                    <a:pt x="254881" y="600205"/>
                  </a:lnTo>
                  <a:close/>
                  <a:moveTo>
                    <a:pt x="15812" y="123330"/>
                  </a:moveTo>
                  <a:lnTo>
                    <a:pt x="15812" y="264368"/>
                  </a:lnTo>
                  <a:cubicBezTo>
                    <a:pt x="15812" y="490789"/>
                    <a:pt x="242232" y="578701"/>
                    <a:pt x="251719" y="582496"/>
                  </a:cubicBezTo>
                  <a:lnTo>
                    <a:pt x="254881" y="583761"/>
                  </a:lnTo>
                  <a:lnTo>
                    <a:pt x="259941" y="581863"/>
                  </a:lnTo>
                  <a:cubicBezTo>
                    <a:pt x="273855" y="576804"/>
                    <a:pt x="493951" y="488259"/>
                    <a:pt x="493951" y="264368"/>
                  </a:cubicBezTo>
                  <a:lnTo>
                    <a:pt x="493951" y="123330"/>
                  </a:lnTo>
                  <a:lnTo>
                    <a:pt x="486362" y="121432"/>
                  </a:lnTo>
                  <a:cubicBezTo>
                    <a:pt x="446517" y="110681"/>
                    <a:pt x="406672" y="96766"/>
                    <a:pt x="368724" y="79690"/>
                  </a:cubicBezTo>
                  <a:cubicBezTo>
                    <a:pt x="331409" y="63246"/>
                    <a:pt x="294726" y="44272"/>
                    <a:pt x="260574" y="22769"/>
                  </a:cubicBezTo>
                  <a:lnTo>
                    <a:pt x="254881" y="18974"/>
                  </a:lnTo>
                  <a:lnTo>
                    <a:pt x="249822" y="22136"/>
                  </a:lnTo>
                  <a:cubicBezTo>
                    <a:pt x="215036" y="43640"/>
                    <a:pt x="178986" y="63246"/>
                    <a:pt x="141671" y="79690"/>
                  </a:cubicBezTo>
                  <a:cubicBezTo>
                    <a:pt x="103723" y="96766"/>
                    <a:pt x="63878" y="110681"/>
                    <a:pt x="23401" y="121432"/>
                  </a:cubicBezTo>
                  <a:lnTo>
                    <a:pt x="15812" y="123330"/>
                  </a:lnTo>
                  <a:close/>
                </a:path>
              </a:pathLst>
            </a:custGeom>
            <a:gradFill>
              <a:gsLst>
                <a:gs pos="0">
                  <a:srgbClr val="6C4B94"/>
                </a:gs>
                <a:gs pos="25000">
                  <a:srgbClr val="005C8A"/>
                </a:gs>
                <a:gs pos="50000">
                  <a:srgbClr val="0098C7"/>
                </a:gs>
                <a:gs pos="75000">
                  <a:srgbClr val="007B8C"/>
                </a:gs>
                <a:gs pos="100000">
                  <a:srgbClr val="61A60E"/>
                </a:gs>
              </a:gsLst>
              <a:lin ang="0" scaled="0"/>
            </a:gra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6" name="Google Shape;6640;g341ab2b14b8_2_916">
              <a:extLst>
                <a:ext uri="{FF2B5EF4-FFF2-40B4-BE49-F238E27FC236}">
                  <a16:creationId xmlns:a16="http://schemas.microsoft.com/office/drawing/2014/main" id="{727F9DF5-5488-6065-92E8-DCB7B7A9CF3D}"/>
                </a:ext>
              </a:extLst>
            </p:cNvPr>
            <p:cNvSpPr txBox="1"/>
            <p:nvPr/>
          </p:nvSpPr>
          <p:spPr>
            <a:xfrm>
              <a:off x="8947803" y="3579303"/>
              <a:ext cx="962400" cy="3399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Secret Store</a:t>
              </a:r>
              <a:endParaRPr kumimoji="0" sz="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87" name="Google Shape;6432;g341ab2b14b8_2_916">
            <a:extLst>
              <a:ext uri="{FF2B5EF4-FFF2-40B4-BE49-F238E27FC236}">
                <a16:creationId xmlns:a16="http://schemas.microsoft.com/office/drawing/2014/main" id="{C7807879-CC1B-FB3C-3BB2-FC22CEC880B6}"/>
              </a:ext>
            </a:extLst>
          </p:cNvPr>
          <p:cNvSpPr txBox="1"/>
          <p:nvPr/>
        </p:nvSpPr>
        <p:spPr>
          <a:xfrm>
            <a:off x="3323752" y="1416888"/>
            <a:ext cx="1624456" cy="369302"/>
          </a:xfrm>
          <a:prstGeom prst="rect">
            <a:avLst/>
          </a:prstGeom>
          <a:solidFill>
            <a:schemeClr val="lt1"/>
          </a:solid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Supervisor Services</a:t>
            </a:r>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88" name="Graphic 87" descr="Badge Follow outline">
            <a:extLst>
              <a:ext uri="{FF2B5EF4-FFF2-40B4-BE49-F238E27FC236}">
                <a16:creationId xmlns:a16="http://schemas.microsoft.com/office/drawing/2014/main" id="{0A6146D4-F2D9-3125-EFA4-620372C5CC3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63302" y="2934105"/>
            <a:ext cx="324000" cy="324000"/>
          </a:xfrm>
          <a:prstGeom prst="rect">
            <a:avLst/>
          </a:prstGeom>
        </p:spPr>
      </p:pic>
    </p:spTree>
    <p:extLst>
      <p:ext uri="{BB962C8B-B14F-4D97-AF65-F5344CB8AC3E}">
        <p14:creationId xmlns:p14="http://schemas.microsoft.com/office/powerpoint/2010/main" val="3909157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sosceles Triangle 241">
            <a:extLst>
              <a:ext uri="{FF2B5EF4-FFF2-40B4-BE49-F238E27FC236}">
                <a16:creationId xmlns:a16="http://schemas.microsoft.com/office/drawing/2014/main" id="{6FF351AA-8EDD-066D-B0CA-0E6CC395C8A4}"/>
              </a:ext>
              <a:ext uri="{C183D7F6-B498-43B3-948B-1728B52AA6E4}">
                <adec:decorative xmlns:adec="http://schemas.microsoft.com/office/drawing/2017/decorative" val="1"/>
              </a:ext>
            </a:extLst>
          </p:cNvPr>
          <p:cNvSpPr/>
          <p:nvPr/>
        </p:nvSpPr>
        <p:spPr>
          <a:xfrm rot="16200000">
            <a:off x="1067799" y="3028589"/>
            <a:ext cx="4242816" cy="1286958"/>
          </a:xfrm>
          <a:prstGeom prst="triangle">
            <a:avLst>
              <a:gd name="adj" fmla="val 50667"/>
            </a:avLst>
          </a:prstGeom>
          <a:gradFill flip="none" rotWithShape="1">
            <a:gsLst>
              <a:gs pos="100000">
                <a:schemeClr val="bg1"/>
              </a:gs>
              <a:gs pos="0">
                <a:schemeClr val="accent5"/>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3888A2D4-0383-D28F-1371-DEF74BFB9A88}"/>
              </a:ext>
            </a:extLst>
          </p:cNvPr>
          <p:cNvSpPr>
            <a:spLocks noGrp="1"/>
          </p:cNvSpPr>
          <p:nvPr>
            <p:ph type="title"/>
          </p:nvPr>
        </p:nvSpPr>
        <p:spPr/>
        <p:txBody>
          <a:bodyPr/>
          <a:lstStyle/>
          <a:p>
            <a:r>
              <a:rPr lang="en-US" dirty="0"/>
              <a:t>Enable vSphere Supervisor during Workload Domain creation</a:t>
            </a:r>
          </a:p>
        </p:txBody>
      </p:sp>
      <p:sp>
        <p:nvSpPr>
          <p:cNvPr id="3" name="Subtitle 2">
            <a:extLst>
              <a:ext uri="{FF2B5EF4-FFF2-40B4-BE49-F238E27FC236}">
                <a16:creationId xmlns:a16="http://schemas.microsoft.com/office/drawing/2014/main" id="{4E3F92A2-F249-4F03-2835-6F802630910F}"/>
              </a:ext>
            </a:extLst>
          </p:cNvPr>
          <p:cNvSpPr>
            <a:spLocks noGrp="1"/>
          </p:cNvSpPr>
          <p:nvPr>
            <p:ph type="subTitle" idx="1"/>
          </p:nvPr>
        </p:nvSpPr>
        <p:spPr/>
        <p:txBody>
          <a:bodyPr/>
          <a:lstStyle/>
          <a:p>
            <a:r>
              <a:rPr lang="en-US" dirty="0"/>
              <a:t>Providing consumption ready environments at scale</a:t>
            </a:r>
          </a:p>
        </p:txBody>
      </p:sp>
      <p:grpSp>
        <p:nvGrpSpPr>
          <p:cNvPr id="6" name="Google Shape;4278;p12">
            <a:extLst>
              <a:ext uri="{FF2B5EF4-FFF2-40B4-BE49-F238E27FC236}">
                <a16:creationId xmlns:a16="http://schemas.microsoft.com/office/drawing/2014/main" id="{39A7312D-880F-E9D0-C438-2D4BA3F268FB}"/>
              </a:ext>
            </a:extLst>
          </p:cNvPr>
          <p:cNvGrpSpPr>
            <a:grpSpLocks noChangeAspect="1"/>
          </p:cNvGrpSpPr>
          <p:nvPr/>
        </p:nvGrpSpPr>
        <p:grpSpPr>
          <a:xfrm flipH="1">
            <a:off x="1140717" y="2970067"/>
            <a:ext cx="1405009" cy="1404000"/>
            <a:chOff x="898194" y="2461390"/>
            <a:chExt cx="713079" cy="713079"/>
          </a:xfrm>
        </p:grpSpPr>
        <p:pic>
          <p:nvPicPr>
            <p:cNvPr id="7" name="Google Shape;4279;p12">
              <a:extLst>
                <a:ext uri="{FF2B5EF4-FFF2-40B4-BE49-F238E27FC236}">
                  <a16:creationId xmlns:a16="http://schemas.microsoft.com/office/drawing/2014/main" id="{37BBEBA7-92D0-055D-388C-4C0B87AAE5FD}"/>
                </a:ext>
              </a:extLst>
            </p:cNvPr>
            <p:cNvPicPr preferRelativeResize="0"/>
            <p:nvPr/>
          </p:nvPicPr>
          <p:blipFill rotWithShape="1">
            <a:blip r:embed="rId3">
              <a:alphaModFix/>
            </a:blip>
            <a:srcRect l="36748" t="-5054" r="3986" b="43604"/>
            <a:stretch/>
          </p:blipFill>
          <p:spPr>
            <a:xfrm>
              <a:off x="898194" y="2461390"/>
              <a:ext cx="713079" cy="713079"/>
            </a:xfrm>
            <a:prstGeom prst="ellipse">
              <a:avLst/>
            </a:prstGeom>
            <a:solidFill>
              <a:schemeClr val="lt1"/>
            </a:solidFill>
            <a:ln>
              <a:noFill/>
            </a:ln>
          </p:spPr>
        </p:pic>
        <p:sp>
          <p:nvSpPr>
            <p:cNvPr id="8" name="Google Shape;4280;p12">
              <a:extLst>
                <a:ext uri="{FF2B5EF4-FFF2-40B4-BE49-F238E27FC236}">
                  <a16:creationId xmlns:a16="http://schemas.microsoft.com/office/drawing/2014/main" id="{EEFB8814-0E63-DB91-5865-362F1F554471}"/>
                </a:ext>
              </a:extLst>
            </p:cNvPr>
            <p:cNvSpPr/>
            <p:nvPr/>
          </p:nvSpPr>
          <p:spPr>
            <a:xfrm>
              <a:off x="898194" y="2461390"/>
              <a:ext cx="713079" cy="713079"/>
            </a:xfrm>
            <a:prstGeom prst="ellipse">
              <a:avLst/>
            </a:prstGeom>
            <a:noFill/>
            <a:ln w="25400" cap="flat" cmpd="sng">
              <a:gradFill>
                <a:gsLst>
                  <a:gs pos="0">
                    <a:schemeClr val="accent5"/>
                  </a:gs>
                  <a:gs pos="100000">
                    <a:schemeClr val="accent4"/>
                  </a:gs>
                </a:gsLst>
                <a:lin ang="0" scaled="0"/>
              </a:gra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pic>
        <p:nvPicPr>
          <p:cNvPr id="11" name="Picture 10">
            <a:extLst>
              <a:ext uri="{FF2B5EF4-FFF2-40B4-BE49-F238E27FC236}">
                <a16:creationId xmlns:a16="http://schemas.microsoft.com/office/drawing/2014/main" id="{A645C6DD-710B-5AC3-17AB-FAA389224E38}"/>
              </a:ext>
            </a:extLst>
          </p:cNvPr>
          <p:cNvPicPr>
            <a:picLocks noChangeAspect="1"/>
          </p:cNvPicPr>
          <p:nvPr/>
        </p:nvPicPr>
        <p:blipFill>
          <a:blip r:embed="rId4"/>
          <a:stretch>
            <a:fillRect/>
          </a:stretch>
        </p:blipFill>
        <p:spPr>
          <a:xfrm>
            <a:off x="3832686" y="1550661"/>
            <a:ext cx="7012432" cy="4242816"/>
          </a:xfrm>
          <a:prstGeom prst="rect">
            <a:avLst/>
          </a:prstGeom>
          <a:ln w="15875">
            <a:solidFill>
              <a:schemeClr val="accent5"/>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83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57332-7435-9EB0-C4A0-82E6157223A9}"/>
            </a:ext>
          </a:extLst>
        </p:cNvPr>
        <p:cNvGrpSpPr/>
        <p:nvPr/>
      </p:nvGrpSpPr>
      <p:grpSpPr>
        <a:xfrm>
          <a:off x="0" y="0"/>
          <a:ext cx="0" cy="0"/>
          <a:chOff x="0" y="0"/>
          <a:chExt cx="0" cy="0"/>
        </a:xfrm>
      </p:grpSpPr>
      <p:sp>
        <p:nvSpPr>
          <p:cNvPr id="495" name="Google Shape;1556;p2">
            <a:extLst>
              <a:ext uri="{FF2B5EF4-FFF2-40B4-BE49-F238E27FC236}">
                <a16:creationId xmlns:a16="http://schemas.microsoft.com/office/drawing/2014/main" id="{E2B646F7-AB13-054F-E75F-EB77C6FF6130}"/>
              </a:ext>
            </a:extLst>
          </p:cNvPr>
          <p:cNvSpPr/>
          <p:nvPr/>
        </p:nvSpPr>
        <p:spPr>
          <a:xfrm>
            <a:off x="698269" y="4796817"/>
            <a:ext cx="6700058"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4" name="Google Shape;2573;g341ab2b14b8_2_916">
            <a:extLst>
              <a:ext uri="{FF2B5EF4-FFF2-40B4-BE49-F238E27FC236}">
                <a16:creationId xmlns:a16="http://schemas.microsoft.com/office/drawing/2014/main" id="{98EEF312-6BF6-4CB1-16A8-6A755741A15D}"/>
              </a:ext>
            </a:extLst>
          </p:cNvPr>
          <p:cNvGrpSpPr/>
          <p:nvPr/>
        </p:nvGrpSpPr>
        <p:grpSpPr>
          <a:xfrm>
            <a:off x="201606" y="4008121"/>
            <a:ext cx="7436648" cy="448438"/>
            <a:chOff x="6457" y="3088548"/>
            <a:chExt cx="12175910" cy="421612"/>
          </a:xfrm>
        </p:grpSpPr>
        <p:pic>
          <p:nvPicPr>
            <p:cNvPr id="15" name="Google Shape;2574;g341ab2b14b8_2_916">
              <a:extLst>
                <a:ext uri="{FF2B5EF4-FFF2-40B4-BE49-F238E27FC236}">
                  <a16:creationId xmlns:a16="http://schemas.microsoft.com/office/drawing/2014/main" id="{CE95BC27-F236-2EC6-5D3E-BF780A2A0A72}"/>
                </a:ext>
              </a:extLst>
            </p:cNvPr>
            <p:cNvPicPr preferRelativeResize="0"/>
            <p:nvPr/>
          </p:nvPicPr>
          <p:blipFill rotWithShape="1">
            <a:blip r:embed="rId3">
              <a:alphaModFix amt="34000"/>
            </a:blip>
            <a:srcRect t="50513"/>
            <a:stretch/>
          </p:blipFill>
          <p:spPr>
            <a:xfrm>
              <a:off x="6457" y="3101668"/>
              <a:ext cx="12175910" cy="408492"/>
            </a:xfrm>
            <a:prstGeom prst="rect">
              <a:avLst/>
            </a:prstGeom>
            <a:noFill/>
            <a:ln>
              <a:noFill/>
            </a:ln>
          </p:spPr>
        </p:pic>
        <p:sp>
          <p:nvSpPr>
            <p:cNvPr id="16" name="Google Shape;2575;g341ab2b14b8_2_916">
              <a:extLst>
                <a:ext uri="{FF2B5EF4-FFF2-40B4-BE49-F238E27FC236}">
                  <a16:creationId xmlns:a16="http://schemas.microsoft.com/office/drawing/2014/main" id="{E9D65FDB-D307-20A0-943B-69020EC7B03E}"/>
                </a:ext>
              </a:extLst>
            </p:cNvPr>
            <p:cNvSpPr/>
            <p:nvPr/>
          </p:nvSpPr>
          <p:spPr>
            <a:xfrm rot="-5400000" flipH="1">
              <a:off x="6246689" y="-2240202"/>
              <a:ext cx="18300" cy="10675800"/>
            </a:xfrm>
            <a:prstGeom prst="rect">
              <a:avLst/>
            </a:prstGeom>
            <a:gradFill>
              <a:gsLst>
                <a:gs pos="0">
                  <a:srgbClr val="6C4B8F">
                    <a:alpha val="0"/>
                  </a:srgbClr>
                </a:gs>
                <a:gs pos="10000">
                  <a:srgbClr val="6C4B8F"/>
                </a:gs>
                <a:gs pos="22000">
                  <a:srgbClr val="005B84"/>
                </a:gs>
                <a:gs pos="41000">
                  <a:srgbClr val="005B84"/>
                </a:gs>
                <a:gs pos="60000">
                  <a:srgbClr val="41D1FE"/>
                </a:gs>
                <a:gs pos="90000">
                  <a:srgbClr val="007A86"/>
                </a:gs>
                <a:gs pos="100000">
                  <a:srgbClr val="007A86">
                    <a:alpha val="0"/>
                  </a:srgbClr>
                </a:gs>
              </a:gsLst>
              <a:lin ang="5400012"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2" name="Title 1">
            <a:extLst>
              <a:ext uri="{FF2B5EF4-FFF2-40B4-BE49-F238E27FC236}">
                <a16:creationId xmlns:a16="http://schemas.microsoft.com/office/drawing/2014/main" id="{72F5BA4F-E7D1-4657-58CF-E3BE499EA49B}"/>
              </a:ext>
            </a:extLst>
          </p:cNvPr>
          <p:cNvSpPr>
            <a:spLocks noGrp="1"/>
          </p:cNvSpPr>
          <p:nvPr>
            <p:ph type="title"/>
          </p:nvPr>
        </p:nvSpPr>
        <p:spPr/>
        <p:txBody>
          <a:bodyPr/>
          <a:lstStyle/>
          <a:p>
            <a:r>
              <a:rPr lang="en-US" dirty="0"/>
              <a:t>vSphere Supervisor</a:t>
            </a:r>
          </a:p>
        </p:txBody>
      </p:sp>
      <p:sp>
        <p:nvSpPr>
          <p:cNvPr id="182" name="Subtitle 181">
            <a:extLst>
              <a:ext uri="{FF2B5EF4-FFF2-40B4-BE49-F238E27FC236}">
                <a16:creationId xmlns:a16="http://schemas.microsoft.com/office/drawing/2014/main" id="{0EAA581C-F6E9-B634-9631-42DEEF7F91A9}"/>
              </a:ext>
            </a:extLst>
          </p:cNvPr>
          <p:cNvSpPr>
            <a:spLocks noGrp="1"/>
          </p:cNvSpPr>
          <p:nvPr>
            <p:ph type="subTitle" idx="10"/>
          </p:nvPr>
        </p:nvSpPr>
        <p:spPr/>
        <p:txBody>
          <a:bodyPr/>
          <a:lstStyle/>
          <a:p>
            <a:r>
              <a:rPr lang="en-US" dirty="0"/>
              <a:t>Focus on what you need, not how to get there</a:t>
            </a:r>
          </a:p>
        </p:txBody>
      </p:sp>
      <p:sp>
        <p:nvSpPr>
          <p:cNvPr id="7" name="Text Placeholder 6">
            <a:extLst>
              <a:ext uri="{FF2B5EF4-FFF2-40B4-BE49-F238E27FC236}">
                <a16:creationId xmlns:a16="http://schemas.microsoft.com/office/drawing/2014/main" id="{6C456921-CF27-F6D3-E4F5-A5A46FB37759}"/>
              </a:ext>
            </a:extLst>
          </p:cNvPr>
          <p:cNvSpPr>
            <a:spLocks noGrp="1"/>
          </p:cNvSpPr>
          <p:nvPr>
            <p:ph type="body" sz="quarter" idx="17"/>
          </p:nvPr>
        </p:nvSpPr>
        <p:spPr/>
        <p:txBody>
          <a:bodyPr/>
          <a:lstStyle/>
          <a:p>
            <a:r>
              <a:rPr lang="en-US" b="1" dirty="0"/>
              <a:t>vSphere Supervisor </a:t>
            </a:r>
            <a:r>
              <a:rPr lang="en-US" dirty="0"/>
              <a:t>is an integrated </a:t>
            </a:r>
            <a:r>
              <a:rPr lang="en-US" b="1" dirty="0"/>
              <a:t>Kubernetes-based Declarative API</a:t>
            </a:r>
          </a:p>
          <a:p>
            <a:r>
              <a:rPr lang="en-US" dirty="0"/>
              <a:t>Define </a:t>
            </a:r>
            <a:r>
              <a:rPr lang="en-US" b="1" dirty="0"/>
              <a:t>what</a:t>
            </a:r>
            <a:r>
              <a:rPr lang="en-US" dirty="0"/>
              <a:t> you want, let the system figure out </a:t>
            </a:r>
            <a:r>
              <a:rPr lang="en-US" b="1" dirty="0"/>
              <a:t>how to </a:t>
            </a:r>
            <a:r>
              <a:rPr lang="en-US" dirty="0"/>
              <a:t>make it happen</a:t>
            </a:r>
          </a:p>
          <a:p>
            <a:r>
              <a:rPr lang="en-US" dirty="0"/>
              <a:t>Deploy </a:t>
            </a:r>
            <a:r>
              <a:rPr lang="en-US" b="1" dirty="0"/>
              <a:t>Kubernetes Clusters </a:t>
            </a:r>
            <a:r>
              <a:rPr lang="en-US" dirty="0"/>
              <a:t>with </a:t>
            </a:r>
            <a:r>
              <a:rPr lang="en-US" b="1" dirty="0"/>
              <a:t>vSphere Kubernetes Service</a:t>
            </a:r>
          </a:p>
          <a:p>
            <a:r>
              <a:rPr lang="en-US" dirty="0"/>
              <a:t>Deploy </a:t>
            </a:r>
            <a:r>
              <a:rPr lang="en-US" b="1" dirty="0"/>
              <a:t>Virtual Machines </a:t>
            </a:r>
            <a:r>
              <a:rPr lang="en-US" dirty="0"/>
              <a:t>with </a:t>
            </a:r>
            <a:r>
              <a:rPr lang="en-US" b="1" dirty="0"/>
              <a:t>VM Service</a:t>
            </a:r>
          </a:p>
          <a:p>
            <a:r>
              <a:rPr lang="en-US" dirty="0"/>
              <a:t>Add additional Supervisor Services to </a:t>
            </a:r>
            <a:r>
              <a:rPr lang="en-US" b="1" dirty="0"/>
              <a:t>extend the capabilities </a:t>
            </a:r>
            <a:r>
              <a:rPr lang="en-US" dirty="0"/>
              <a:t>of the platform</a:t>
            </a:r>
          </a:p>
        </p:txBody>
      </p:sp>
      <p:sp>
        <p:nvSpPr>
          <p:cNvPr id="83" name="Rectangle: Rounded Corners 82">
            <a:extLst>
              <a:ext uri="{FF2B5EF4-FFF2-40B4-BE49-F238E27FC236}">
                <a16:creationId xmlns:a16="http://schemas.microsoft.com/office/drawing/2014/main" id="{A0CE08D4-FD51-ABE5-0B61-012A22AC5D42}"/>
              </a:ext>
            </a:extLst>
          </p:cNvPr>
          <p:cNvSpPr/>
          <p:nvPr/>
        </p:nvSpPr>
        <p:spPr>
          <a:xfrm>
            <a:off x="1111116" y="3200027"/>
            <a:ext cx="1814370" cy="317647"/>
          </a:xfrm>
          <a:prstGeom prst="roundRect">
            <a:avLst/>
          </a:prstGeom>
          <a:solidFill>
            <a:schemeClr val="accent5"/>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vSphere </a:t>
            </a:r>
            <a:b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Namespace</a:t>
            </a:r>
          </a:p>
        </p:txBody>
      </p:sp>
      <p:grpSp>
        <p:nvGrpSpPr>
          <p:cNvPr id="399" name="Google Shape;1627;p2">
            <a:extLst>
              <a:ext uri="{FF2B5EF4-FFF2-40B4-BE49-F238E27FC236}">
                <a16:creationId xmlns:a16="http://schemas.microsoft.com/office/drawing/2014/main" id="{7DDDAB2E-ED2D-B1B1-DBAC-1D90CFE637C9}"/>
              </a:ext>
            </a:extLst>
          </p:cNvPr>
          <p:cNvGrpSpPr/>
          <p:nvPr/>
        </p:nvGrpSpPr>
        <p:grpSpPr>
          <a:xfrm>
            <a:off x="3935724" y="3593561"/>
            <a:ext cx="257998" cy="353203"/>
            <a:chOff x="5000233" y="3506447"/>
            <a:chExt cx="283795" cy="388519"/>
          </a:xfrm>
        </p:grpSpPr>
        <p:sp>
          <p:nvSpPr>
            <p:cNvPr id="400" name="Google Shape;1628;p2">
              <a:extLst>
                <a:ext uri="{FF2B5EF4-FFF2-40B4-BE49-F238E27FC236}">
                  <a16:creationId xmlns:a16="http://schemas.microsoft.com/office/drawing/2014/main" id="{FEDA7678-86E8-0C79-2E2B-65F3A69E7904}"/>
                </a:ext>
              </a:extLst>
            </p:cNvPr>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22745"/>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401" name="Google Shape;1629;p2">
              <a:extLst>
                <a:ext uri="{FF2B5EF4-FFF2-40B4-BE49-F238E27FC236}">
                  <a16:creationId xmlns:a16="http://schemas.microsoft.com/office/drawing/2014/main" id="{BCDD607F-DA2A-416F-E213-AC69C81CAE5D}"/>
                </a:ext>
              </a:extLst>
            </p:cNvPr>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47843"/>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402" name="Google Shape;1630;p2">
              <a:extLst>
                <a:ext uri="{FF2B5EF4-FFF2-40B4-BE49-F238E27FC236}">
                  <a16:creationId xmlns:a16="http://schemas.microsoft.com/office/drawing/2014/main" id="{B682E161-E8C5-3095-7186-03DA238C80BC}"/>
                </a:ext>
              </a:extLst>
            </p:cNvPr>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grpSp>
        <p:nvGrpSpPr>
          <p:cNvPr id="213" name="Google Shape;1627;p2">
            <a:extLst>
              <a:ext uri="{FF2B5EF4-FFF2-40B4-BE49-F238E27FC236}">
                <a16:creationId xmlns:a16="http://schemas.microsoft.com/office/drawing/2014/main" id="{90D7A03B-F40B-25B5-2C2B-C06C17C54A9E}"/>
              </a:ext>
            </a:extLst>
          </p:cNvPr>
          <p:cNvGrpSpPr/>
          <p:nvPr/>
        </p:nvGrpSpPr>
        <p:grpSpPr>
          <a:xfrm>
            <a:off x="1885510" y="3596352"/>
            <a:ext cx="257998" cy="353203"/>
            <a:chOff x="5000233" y="3506447"/>
            <a:chExt cx="283795" cy="388519"/>
          </a:xfrm>
        </p:grpSpPr>
        <p:sp>
          <p:nvSpPr>
            <p:cNvPr id="214" name="Google Shape;1628;p2">
              <a:extLst>
                <a:ext uri="{FF2B5EF4-FFF2-40B4-BE49-F238E27FC236}">
                  <a16:creationId xmlns:a16="http://schemas.microsoft.com/office/drawing/2014/main" id="{0A4AB706-B92B-38D4-F8D9-2EDE39927A57}"/>
                </a:ext>
              </a:extLst>
            </p:cNvPr>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22745"/>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215" name="Google Shape;1629;p2">
              <a:extLst>
                <a:ext uri="{FF2B5EF4-FFF2-40B4-BE49-F238E27FC236}">
                  <a16:creationId xmlns:a16="http://schemas.microsoft.com/office/drawing/2014/main" id="{ED6136C5-A4DD-C93D-E851-9F36AF99EB34}"/>
                </a:ext>
              </a:extLst>
            </p:cNvPr>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47843"/>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216" name="Google Shape;1630;p2">
              <a:extLst>
                <a:ext uri="{FF2B5EF4-FFF2-40B4-BE49-F238E27FC236}">
                  <a16:creationId xmlns:a16="http://schemas.microsoft.com/office/drawing/2014/main" id="{B8F5E485-6BCD-89EE-3C95-6568943E059F}"/>
                </a:ext>
              </a:extLst>
            </p:cNvPr>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grpSp>
        <p:nvGrpSpPr>
          <p:cNvPr id="185" name="Group 184">
            <a:extLst>
              <a:ext uri="{FF2B5EF4-FFF2-40B4-BE49-F238E27FC236}">
                <a16:creationId xmlns:a16="http://schemas.microsoft.com/office/drawing/2014/main" id="{1340086A-0FF8-C9E6-EA10-CECB442A20FF}"/>
              </a:ext>
            </a:extLst>
          </p:cNvPr>
          <p:cNvGrpSpPr/>
          <p:nvPr/>
        </p:nvGrpSpPr>
        <p:grpSpPr>
          <a:xfrm>
            <a:off x="1193671" y="1586246"/>
            <a:ext cx="1557833" cy="1364965"/>
            <a:chOff x="805150" y="1625512"/>
            <a:chExt cx="1557833" cy="1364965"/>
          </a:xfrm>
        </p:grpSpPr>
        <p:sp>
          <p:nvSpPr>
            <p:cNvPr id="171" name="Rectangle: Rounded Corners 44">
              <a:extLst>
                <a:ext uri="{FF2B5EF4-FFF2-40B4-BE49-F238E27FC236}">
                  <a16:creationId xmlns:a16="http://schemas.microsoft.com/office/drawing/2014/main" id="{C5B61477-C84B-9837-2D7E-27CF8A95DCED}"/>
                </a:ext>
              </a:extLst>
            </p:cNvPr>
            <p:cNvSpPr/>
            <p:nvPr/>
          </p:nvSpPr>
          <p:spPr>
            <a:xfrm>
              <a:off x="805150" y="1625512"/>
              <a:ext cx="1557833" cy="1364965"/>
            </a:xfrm>
            <a:prstGeom prst="roundRect">
              <a:avLst>
                <a:gd name="adj" fmla="val 3683"/>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grpSp>
          <p:nvGrpSpPr>
            <p:cNvPr id="183" name="Group 182">
              <a:extLst>
                <a:ext uri="{FF2B5EF4-FFF2-40B4-BE49-F238E27FC236}">
                  <a16:creationId xmlns:a16="http://schemas.microsoft.com/office/drawing/2014/main" id="{B742AA9D-1F54-94D8-49F0-B47B06E25B6A}"/>
                </a:ext>
              </a:extLst>
            </p:cNvPr>
            <p:cNvGrpSpPr>
              <a:grpSpLocks noChangeAspect="1"/>
            </p:cNvGrpSpPr>
            <p:nvPr/>
          </p:nvGrpSpPr>
          <p:grpSpPr>
            <a:xfrm>
              <a:off x="987548" y="1738474"/>
              <a:ext cx="1174334" cy="972000"/>
              <a:chOff x="3325948" y="1424891"/>
              <a:chExt cx="1694347" cy="1402415"/>
            </a:xfrm>
          </p:grpSpPr>
          <p:sp>
            <p:nvSpPr>
              <p:cNvPr id="40" name="Rectangle 39">
                <a:extLst>
                  <a:ext uri="{FF2B5EF4-FFF2-40B4-BE49-F238E27FC236}">
                    <a16:creationId xmlns:a16="http://schemas.microsoft.com/office/drawing/2014/main" id="{1FAAB488-6E71-8BC2-5A20-06551A8B87B4}"/>
                  </a:ext>
                  <a:ext uri="{C183D7F6-B498-43B3-948B-1728B52AA6E4}">
                    <adec:decorative xmlns:adec="http://schemas.microsoft.com/office/drawing/2017/decorative" val="1"/>
                  </a:ext>
                </a:extLst>
              </p:cNvPr>
              <p:cNvSpPr/>
              <p:nvPr/>
            </p:nvSpPr>
            <p:spPr>
              <a:xfrm>
                <a:off x="4297641" y="1533016"/>
                <a:ext cx="528559"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3" name="Rectangle 42">
                <a:extLst>
                  <a:ext uri="{FF2B5EF4-FFF2-40B4-BE49-F238E27FC236}">
                    <a16:creationId xmlns:a16="http://schemas.microsoft.com/office/drawing/2014/main" id="{39B6BAFF-D17B-442D-D433-5E98C501AB60}"/>
                  </a:ext>
                  <a:ext uri="{C183D7F6-B498-43B3-948B-1728B52AA6E4}">
                    <adec:decorative xmlns:adec="http://schemas.microsoft.com/office/drawing/2017/decorative" val="1"/>
                  </a:ext>
                </a:extLst>
              </p:cNvPr>
              <p:cNvSpPr/>
              <p:nvPr/>
            </p:nvSpPr>
            <p:spPr>
              <a:xfrm>
                <a:off x="4297642" y="2297981"/>
                <a:ext cx="474562"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163" name="Picture 162">
                <a:extLst>
                  <a:ext uri="{FF2B5EF4-FFF2-40B4-BE49-F238E27FC236}">
                    <a16:creationId xmlns:a16="http://schemas.microsoft.com/office/drawing/2014/main" id="{CE3C9BD8-77DC-8320-D0A9-8206E3660DA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03144" y="1496410"/>
                <a:ext cx="392596" cy="392595"/>
              </a:xfrm>
              <a:prstGeom prst="rect">
                <a:avLst/>
              </a:prstGeom>
            </p:spPr>
          </p:pic>
          <p:sp>
            <p:nvSpPr>
              <p:cNvPr id="164" name="TextBox 163">
                <a:extLst>
                  <a:ext uri="{FF2B5EF4-FFF2-40B4-BE49-F238E27FC236}">
                    <a16:creationId xmlns:a16="http://schemas.microsoft.com/office/drawing/2014/main" id="{90757F74-F53F-C35E-5B68-6E7164D43595}"/>
                  </a:ext>
                </a:extLst>
              </p:cNvPr>
              <p:cNvSpPr txBox="1"/>
              <p:nvPr/>
            </p:nvSpPr>
            <p:spPr>
              <a:xfrm>
                <a:off x="3954242" y="1532844"/>
                <a:ext cx="886800" cy="319726"/>
              </a:xfrm>
              <a:prstGeom prst="rect">
                <a:avLst/>
              </a:prstGeom>
            </p:spPr>
            <p:txBody>
              <a:bodyPr wrap="square" lIns="0" tIns="0" rIns="0" bIns="0" rtlCol="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36DE6"/>
                    </a:solidFill>
                    <a:effectLst/>
                    <a:uLnTx/>
                    <a:uFillTx/>
                    <a:latin typeface="Arial" panose="020B0604020202020204"/>
                    <a:ea typeface="+mn-ea"/>
                    <a:cs typeface="+mn-cs"/>
                  </a:rPr>
                  <a:t>Kubernetes Applications</a:t>
                </a:r>
              </a:p>
            </p:txBody>
          </p:sp>
          <p:sp>
            <p:nvSpPr>
              <p:cNvPr id="165" name="Rectangle 164">
                <a:extLst>
                  <a:ext uri="{FF2B5EF4-FFF2-40B4-BE49-F238E27FC236}">
                    <a16:creationId xmlns:a16="http://schemas.microsoft.com/office/drawing/2014/main" id="{C6B178DC-5D33-5B24-7D88-EE8B0CEA343E}"/>
                  </a:ext>
                </a:extLst>
              </p:cNvPr>
              <p:cNvSpPr/>
              <p:nvPr/>
            </p:nvSpPr>
            <p:spPr>
              <a:xfrm>
                <a:off x="3331847" y="1424891"/>
                <a:ext cx="1680883" cy="535632"/>
              </a:xfrm>
              <a:prstGeom prst="rect">
                <a:avLst/>
              </a:prstGeom>
              <a:ln w="10795">
                <a:solidFill>
                  <a:schemeClr val="accent2"/>
                </a:solidFill>
                <a:prstDash val="sysDot"/>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67" name="Rectangle: Rounded Corners 48">
                <a:extLst>
                  <a:ext uri="{FF2B5EF4-FFF2-40B4-BE49-F238E27FC236}">
                    <a16:creationId xmlns:a16="http://schemas.microsoft.com/office/drawing/2014/main" id="{20A1F94B-1E17-5936-D470-1B34F4F16AC7}"/>
                  </a:ext>
                </a:extLst>
              </p:cNvPr>
              <p:cNvSpPr/>
              <p:nvPr/>
            </p:nvSpPr>
            <p:spPr>
              <a:xfrm>
                <a:off x="3325948"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68" name="Rectangle: Rounded Corners 49">
                <a:extLst>
                  <a:ext uri="{FF2B5EF4-FFF2-40B4-BE49-F238E27FC236}">
                    <a16:creationId xmlns:a16="http://schemas.microsoft.com/office/drawing/2014/main" id="{C97C8A4A-E530-E4C3-DF69-F2F82256DABA}"/>
                  </a:ext>
                </a:extLst>
              </p:cNvPr>
              <p:cNvSpPr/>
              <p:nvPr/>
            </p:nvSpPr>
            <p:spPr>
              <a:xfrm>
                <a:off x="3912452"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69" name="Rectangle: Rounded Corners 50">
                <a:extLst>
                  <a:ext uri="{FF2B5EF4-FFF2-40B4-BE49-F238E27FC236}">
                    <a16:creationId xmlns:a16="http://schemas.microsoft.com/office/drawing/2014/main" id="{379CEE69-F3D7-5D9F-E0FC-348F840B5569}"/>
                  </a:ext>
                </a:extLst>
              </p:cNvPr>
              <p:cNvSpPr/>
              <p:nvPr/>
            </p:nvSpPr>
            <p:spPr>
              <a:xfrm>
                <a:off x="4498957" y="2547405"/>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70" name="Rectangle: Rounded Corners 51">
                <a:extLst>
                  <a:ext uri="{FF2B5EF4-FFF2-40B4-BE49-F238E27FC236}">
                    <a16:creationId xmlns:a16="http://schemas.microsoft.com/office/drawing/2014/main" id="{871D66C8-3BCC-FA22-D65A-2FD947222D2F}"/>
                  </a:ext>
                </a:extLst>
              </p:cNvPr>
              <p:cNvSpPr/>
              <p:nvPr/>
            </p:nvSpPr>
            <p:spPr>
              <a:xfrm>
                <a:off x="3325949" y="2040092"/>
                <a:ext cx="1694346" cy="285650"/>
              </a:xfrm>
              <a:prstGeom prst="roundRect">
                <a:avLst>
                  <a:gd name="adj" fmla="val 50000"/>
                </a:avLst>
              </a:prstGeom>
              <a:solidFill>
                <a:schemeClr val="tx2">
                  <a:lumMod val="75000"/>
                  <a:lumOff val="25000"/>
                </a:schemeClr>
              </a:solidFill>
              <a:ln w="12700">
                <a:miter lim="400000"/>
              </a:ln>
            </p:spPr>
            <p:txBody>
              <a:bodyPr lIns="0" tIns="18283" rIns="0" bIns="0" anchor="ctr"/>
              <a:lstStyle/>
              <a:p>
                <a:pPr marL="0" marR="0" lvl="0" indent="0" algn="ctr" defTabSz="914400" rtl="0" eaLnBrk="1" fontAlgn="auto" latinLnBrk="0" hangingPunct="0">
                  <a:lnSpc>
                    <a:spcPct val="8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Arial" panose="020B0604020202020204"/>
                    <a:ea typeface="+mn-ea"/>
                    <a:cs typeface="+mn-cs"/>
                  </a:rPr>
                  <a:t>Control Plane</a:t>
                </a:r>
              </a:p>
            </p:txBody>
          </p:sp>
          <p:cxnSp>
            <p:nvCxnSpPr>
              <p:cNvPr id="177" name="Straight Connector 176">
                <a:extLst>
                  <a:ext uri="{FF2B5EF4-FFF2-40B4-BE49-F238E27FC236}">
                    <a16:creationId xmlns:a16="http://schemas.microsoft.com/office/drawing/2014/main" id="{39BE4D52-1593-C901-ABEE-11A9DC529969}"/>
                  </a:ext>
                </a:extLst>
              </p:cNvPr>
              <p:cNvCxnSpPr>
                <a:cxnSpLocks/>
              </p:cNvCxnSpPr>
              <p:nvPr/>
            </p:nvCxnSpPr>
            <p:spPr bwMode="gray">
              <a:xfrm>
                <a:off x="4186614" y="2313793"/>
                <a:ext cx="0" cy="240408"/>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D15035F7-81C1-087A-9BBB-FC5D442FF318}"/>
                  </a:ext>
                </a:extLst>
              </p:cNvPr>
              <p:cNvCxnSpPr>
                <a:cxnSpLocks/>
              </p:cNvCxnSpPr>
              <p:nvPr/>
            </p:nvCxnSpPr>
            <p:spPr bwMode="gray">
              <a:xfrm>
                <a:off x="3603836"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34BBF250-0A6C-AD4A-1CAB-0146A5CAC55E}"/>
                  </a:ext>
                </a:extLst>
              </p:cNvPr>
              <p:cNvCxnSpPr>
                <a:cxnSpLocks/>
              </p:cNvCxnSpPr>
              <p:nvPr/>
            </p:nvCxnSpPr>
            <p:spPr bwMode="gray">
              <a:xfrm>
                <a:off x="4769392"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622348C0-1A98-9B4B-5757-B9973590C811}"/>
                  </a:ext>
                </a:extLst>
              </p:cNvPr>
              <p:cNvCxnSpPr>
                <a:cxnSpLocks/>
              </p:cNvCxnSpPr>
              <p:nvPr/>
            </p:nvCxnSpPr>
            <p:spPr bwMode="gray">
              <a:xfrm>
                <a:off x="3599903" y="2431944"/>
                <a:ext cx="1172301" cy="0"/>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84" name="TextBox 183">
              <a:extLst>
                <a:ext uri="{FF2B5EF4-FFF2-40B4-BE49-F238E27FC236}">
                  <a16:creationId xmlns:a16="http://schemas.microsoft.com/office/drawing/2014/main" id="{0AB6EEFF-E5FE-C388-5E89-D29E9A8DA94D}"/>
                </a:ext>
              </a:extLst>
            </p:cNvPr>
            <p:cNvSpPr txBox="1"/>
            <p:nvPr/>
          </p:nvSpPr>
          <p:spPr>
            <a:xfrm>
              <a:off x="805150" y="2760707"/>
              <a:ext cx="1557833"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Kubernetes Cluster</a:t>
              </a:r>
            </a:p>
          </p:txBody>
        </p:sp>
      </p:grpSp>
      <p:grpSp>
        <p:nvGrpSpPr>
          <p:cNvPr id="186" name="Group 185">
            <a:extLst>
              <a:ext uri="{FF2B5EF4-FFF2-40B4-BE49-F238E27FC236}">
                <a16:creationId xmlns:a16="http://schemas.microsoft.com/office/drawing/2014/main" id="{27A6BE7E-62EF-8B98-5DCF-90F8438CD606}"/>
              </a:ext>
            </a:extLst>
          </p:cNvPr>
          <p:cNvGrpSpPr/>
          <p:nvPr/>
        </p:nvGrpSpPr>
        <p:grpSpPr>
          <a:xfrm>
            <a:off x="1318638" y="1670601"/>
            <a:ext cx="1557833" cy="1364965"/>
            <a:chOff x="805150" y="1625512"/>
            <a:chExt cx="1557833" cy="1364965"/>
          </a:xfrm>
        </p:grpSpPr>
        <p:sp>
          <p:nvSpPr>
            <p:cNvPr id="187" name="Rectangle: Rounded Corners 44">
              <a:extLst>
                <a:ext uri="{FF2B5EF4-FFF2-40B4-BE49-F238E27FC236}">
                  <a16:creationId xmlns:a16="http://schemas.microsoft.com/office/drawing/2014/main" id="{E9C2F322-FFB1-E976-833D-0EDC5647B76C}"/>
                </a:ext>
              </a:extLst>
            </p:cNvPr>
            <p:cNvSpPr/>
            <p:nvPr/>
          </p:nvSpPr>
          <p:spPr>
            <a:xfrm>
              <a:off x="805150" y="1625512"/>
              <a:ext cx="1557833" cy="1364965"/>
            </a:xfrm>
            <a:prstGeom prst="roundRect">
              <a:avLst>
                <a:gd name="adj" fmla="val 3683"/>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grpSp>
          <p:nvGrpSpPr>
            <p:cNvPr id="188" name="Group 187">
              <a:extLst>
                <a:ext uri="{FF2B5EF4-FFF2-40B4-BE49-F238E27FC236}">
                  <a16:creationId xmlns:a16="http://schemas.microsoft.com/office/drawing/2014/main" id="{A29F4CD0-F25F-C9A3-BD76-2DCFCD1966D7}"/>
                </a:ext>
              </a:extLst>
            </p:cNvPr>
            <p:cNvGrpSpPr>
              <a:grpSpLocks noChangeAspect="1"/>
            </p:cNvGrpSpPr>
            <p:nvPr/>
          </p:nvGrpSpPr>
          <p:grpSpPr>
            <a:xfrm>
              <a:off x="987548" y="1738474"/>
              <a:ext cx="1174334" cy="972000"/>
              <a:chOff x="3325948" y="1424891"/>
              <a:chExt cx="1694347" cy="1402415"/>
            </a:xfrm>
          </p:grpSpPr>
          <p:sp>
            <p:nvSpPr>
              <p:cNvPr id="190" name="Rectangle 189">
                <a:extLst>
                  <a:ext uri="{FF2B5EF4-FFF2-40B4-BE49-F238E27FC236}">
                    <a16:creationId xmlns:a16="http://schemas.microsoft.com/office/drawing/2014/main" id="{20DB6CE7-F658-514E-4D7E-9373B49B9C68}"/>
                  </a:ext>
                  <a:ext uri="{C183D7F6-B498-43B3-948B-1728B52AA6E4}">
                    <adec:decorative xmlns:adec="http://schemas.microsoft.com/office/drawing/2017/decorative" val="1"/>
                  </a:ext>
                </a:extLst>
              </p:cNvPr>
              <p:cNvSpPr/>
              <p:nvPr/>
            </p:nvSpPr>
            <p:spPr>
              <a:xfrm>
                <a:off x="4297641" y="1533016"/>
                <a:ext cx="528559"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1" name="Rectangle 190">
                <a:extLst>
                  <a:ext uri="{FF2B5EF4-FFF2-40B4-BE49-F238E27FC236}">
                    <a16:creationId xmlns:a16="http://schemas.microsoft.com/office/drawing/2014/main" id="{7BB89C56-C915-CF50-2B65-6CA0EDE6D08A}"/>
                  </a:ext>
                  <a:ext uri="{C183D7F6-B498-43B3-948B-1728B52AA6E4}">
                    <adec:decorative xmlns:adec="http://schemas.microsoft.com/office/drawing/2017/decorative" val="1"/>
                  </a:ext>
                </a:extLst>
              </p:cNvPr>
              <p:cNvSpPr/>
              <p:nvPr/>
            </p:nvSpPr>
            <p:spPr>
              <a:xfrm>
                <a:off x="4297642" y="2297981"/>
                <a:ext cx="474562"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192" name="Picture 191">
                <a:extLst>
                  <a:ext uri="{FF2B5EF4-FFF2-40B4-BE49-F238E27FC236}">
                    <a16:creationId xmlns:a16="http://schemas.microsoft.com/office/drawing/2014/main" id="{D5680823-0FAD-0906-ADE8-3D1DA84CB2A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03144" y="1496410"/>
                <a:ext cx="392596" cy="392595"/>
              </a:xfrm>
              <a:prstGeom prst="rect">
                <a:avLst/>
              </a:prstGeom>
            </p:spPr>
          </p:pic>
          <p:sp>
            <p:nvSpPr>
              <p:cNvPr id="193" name="TextBox 192">
                <a:extLst>
                  <a:ext uri="{FF2B5EF4-FFF2-40B4-BE49-F238E27FC236}">
                    <a16:creationId xmlns:a16="http://schemas.microsoft.com/office/drawing/2014/main" id="{093BECCC-0162-BAB3-AA08-9AEF6E4181DB}"/>
                  </a:ext>
                </a:extLst>
              </p:cNvPr>
              <p:cNvSpPr txBox="1"/>
              <p:nvPr/>
            </p:nvSpPr>
            <p:spPr>
              <a:xfrm>
                <a:off x="4000893" y="1545256"/>
                <a:ext cx="886800" cy="319726"/>
              </a:xfrm>
              <a:prstGeom prst="rect">
                <a:avLst/>
              </a:prstGeom>
            </p:spPr>
            <p:txBody>
              <a:bodyPr wrap="square" lIns="0" tIns="0" rIns="0" bIns="0" rtlCol="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36DE6"/>
                    </a:solidFill>
                    <a:effectLst/>
                    <a:uLnTx/>
                    <a:uFillTx/>
                    <a:latin typeface="Arial" panose="020B0604020202020204"/>
                    <a:ea typeface="+mn-ea"/>
                    <a:cs typeface="+mn-cs"/>
                  </a:rPr>
                  <a:t>Kubernetes Applications</a:t>
                </a:r>
              </a:p>
            </p:txBody>
          </p:sp>
          <p:sp>
            <p:nvSpPr>
              <p:cNvPr id="194" name="Rectangle 193">
                <a:extLst>
                  <a:ext uri="{FF2B5EF4-FFF2-40B4-BE49-F238E27FC236}">
                    <a16:creationId xmlns:a16="http://schemas.microsoft.com/office/drawing/2014/main" id="{3E2F8D38-C1AE-11A9-C4A4-3459320F683A}"/>
                  </a:ext>
                </a:extLst>
              </p:cNvPr>
              <p:cNvSpPr/>
              <p:nvPr/>
            </p:nvSpPr>
            <p:spPr>
              <a:xfrm>
                <a:off x="3331847" y="1424891"/>
                <a:ext cx="1680883" cy="535632"/>
              </a:xfrm>
              <a:prstGeom prst="rect">
                <a:avLst/>
              </a:prstGeom>
              <a:ln w="10795">
                <a:solidFill>
                  <a:schemeClr val="accent2"/>
                </a:solidFill>
                <a:prstDash val="sysDot"/>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5" name="Rectangle: Rounded Corners 48">
                <a:extLst>
                  <a:ext uri="{FF2B5EF4-FFF2-40B4-BE49-F238E27FC236}">
                    <a16:creationId xmlns:a16="http://schemas.microsoft.com/office/drawing/2014/main" id="{56E205FF-F3E6-72D7-1BB4-7853A98D53AF}"/>
                  </a:ext>
                </a:extLst>
              </p:cNvPr>
              <p:cNvSpPr/>
              <p:nvPr/>
            </p:nvSpPr>
            <p:spPr>
              <a:xfrm>
                <a:off x="3325948"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96" name="Rectangle: Rounded Corners 49">
                <a:extLst>
                  <a:ext uri="{FF2B5EF4-FFF2-40B4-BE49-F238E27FC236}">
                    <a16:creationId xmlns:a16="http://schemas.microsoft.com/office/drawing/2014/main" id="{ECCDD672-F2C2-766F-7188-3F25E3C47A33}"/>
                  </a:ext>
                </a:extLst>
              </p:cNvPr>
              <p:cNvSpPr/>
              <p:nvPr/>
            </p:nvSpPr>
            <p:spPr>
              <a:xfrm>
                <a:off x="3912452"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97" name="Rectangle: Rounded Corners 50">
                <a:extLst>
                  <a:ext uri="{FF2B5EF4-FFF2-40B4-BE49-F238E27FC236}">
                    <a16:creationId xmlns:a16="http://schemas.microsoft.com/office/drawing/2014/main" id="{5891A569-D1B8-B1AE-CDB1-41FD9C627807}"/>
                  </a:ext>
                </a:extLst>
              </p:cNvPr>
              <p:cNvSpPr/>
              <p:nvPr/>
            </p:nvSpPr>
            <p:spPr>
              <a:xfrm>
                <a:off x="4498957" y="2547405"/>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98" name="Rectangle: Rounded Corners 51">
                <a:extLst>
                  <a:ext uri="{FF2B5EF4-FFF2-40B4-BE49-F238E27FC236}">
                    <a16:creationId xmlns:a16="http://schemas.microsoft.com/office/drawing/2014/main" id="{C4AE8F28-62FD-BB01-06D2-7C66E0557DE9}"/>
                  </a:ext>
                </a:extLst>
              </p:cNvPr>
              <p:cNvSpPr/>
              <p:nvPr/>
            </p:nvSpPr>
            <p:spPr>
              <a:xfrm>
                <a:off x="3325949" y="2040092"/>
                <a:ext cx="1694346" cy="285650"/>
              </a:xfrm>
              <a:prstGeom prst="roundRect">
                <a:avLst>
                  <a:gd name="adj" fmla="val 50000"/>
                </a:avLst>
              </a:prstGeom>
              <a:solidFill>
                <a:schemeClr val="tx2">
                  <a:lumMod val="75000"/>
                  <a:lumOff val="25000"/>
                </a:schemeClr>
              </a:solidFill>
              <a:ln w="12700">
                <a:miter lim="400000"/>
              </a:ln>
            </p:spPr>
            <p:txBody>
              <a:bodyPr lIns="0" tIns="18283" rIns="0" bIns="0" anchor="ctr"/>
              <a:lstStyle/>
              <a:p>
                <a:pPr marL="0" marR="0" lvl="0" indent="0" algn="ctr" defTabSz="914400" rtl="0" eaLnBrk="1" fontAlgn="auto" latinLnBrk="0" hangingPunct="0">
                  <a:lnSpc>
                    <a:spcPct val="8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Arial" panose="020B0604020202020204"/>
                    <a:ea typeface="+mn-ea"/>
                    <a:cs typeface="+mn-cs"/>
                  </a:rPr>
                  <a:t>Control Plane</a:t>
                </a:r>
              </a:p>
            </p:txBody>
          </p:sp>
          <p:cxnSp>
            <p:nvCxnSpPr>
              <p:cNvPr id="199" name="Straight Connector 198">
                <a:extLst>
                  <a:ext uri="{FF2B5EF4-FFF2-40B4-BE49-F238E27FC236}">
                    <a16:creationId xmlns:a16="http://schemas.microsoft.com/office/drawing/2014/main" id="{75F0FD87-DB90-652D-0248-640645863FD5}"/>
                  </a:ext>
                </a:extLst>
              </p:cNvPr>
              <p:cNvCxnSpPr>
                <a:cxnSpLocks/>
              </p:cNvCxnSpPr>
              <p:nvPr/>
            </p:nvCxnSpPr>
            <p:spPr bwMode="gray">
              <a:xfrm>
                <a:off x="4186614" y="2313793"/>
                <a:ext cx="0" cy="240408"/>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E126537D-D674-7323-836C-286A2E291CCD}"/>
                  </a:ext>
                </a:extLst>
              </p:cNvPr>
              <p:cNvCxnSpPr>
                <a:cxnSpLocks/>
              </p:cNvCxnSpPr>
              <p:nvPr/>
            </p:nvCxnSpPr>
            <p:spPr bwMode="gray">
              <a:xfrm>
                <a:off x="3603836"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D7EA65E8-A517-6073-6D32-BA61CDB1D5F9}"/>
                  </a:ext>
                </a:extLst>
              </p:cNvPr>
              <p:cNvCxnSpPr>
                <a:cxnSpLocks/>
              </p:cNvCxnSpPr>
              <p:nvPr/>
            </p:nvCxnSpPr>
            <p:spPr bwMode="gray">
              <a:xfrm>
                <a:off x="4769392"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7CF0F3E7-3126-C855-655D-F69AC8CB1906}"/>
                  </a:ext>
                </a:extLst>
              </p:cNvPr>
              <p:cNvCxnSpPr>
                <a:cxnSpLocks/>
              </p:cNvCxnSpPr>
              <p:nvPr/>
            </p:nvCxnSpPr>
            <p:spPr bwMode="gray">
              <a:xfrm>
                <a:off x="3599903" y="2431944"/>
                <a:ext cx="1172301" cy="0"/>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89" name="TextBox 188">
              <a:extLst>
                <a:ext uri="{FF2B5EF4-FFF2-40B4-BE49-F238E27FC236}">
                  <a16:creationId xmlns:a16="http://schemas.microsoft.com/office/drawing/2014/main" id="{094076EA-7B8C-5AB7-B3FE-FC1CB5F47B9A}"/>
                </a:ext>
              </a:extLst>
            </p:cNvPr>
            <p:cNvSpPr txBox="1"/>
            <p:nvPr/>
          </p:nvSpPr>
          <p:spPr>
            <a:xfrm>
              <a:off x="805150" y="2760707"/>
              <a:ext cx="1557833"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Kubernetes Cluster</a:t>
              </a:r>
            </a:p>
          </p:txBody>
        </p:sp>
      </p:grpSp>
      <p:sp>
        <p:nvSpPr>
          <p:cNvPr id="204" name="Rectangle: Rounded Corners 121">
            <a:extLst>
              <a:ext uri="{FF2B5EF4-FFF2-40B4-BE49-F238E27FC236}">
                <a16:creationId xmlns:a16="http://schemas.microsoft.com/office/drawing/2014/main" id="{504F3175-2F93-C126-EAB5-ED985B210CE6}"/>
              </a:ext>
            </a:extLst>
          </p:cNvPr>
          <p:cNvSpPr/>
          <p:nvPr/>
        </p:nvSpPr>
        <p:spPr>
          <a:xfrm>
            <a:off x="3470188" y="1938538"/>
            <a:ext cx="838270" cy="741471"/>
          </a:xfrm>
          <a:prstGeom prst="roundRect">
            <a:avLst>
              <a:gd name="adj" fmla="val 7399"/>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54864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005C8A"/>
                </a:solidFill>
                <a:effectLst/>
                <a:uLnTx/>
                <a:uFillTx/>
                <a:latin typeface="Metropolis Semi Bold" panose="00000700000000000000" pitchFamily="2" charset="0"/>
                <a:ea typeface="+mn-ea"/>
                <a:cs typeface="+mn-cs"/>
              </a:rPr>
              <a:t>VM</a:t>
            </a:r>
          </a:p>
        </p:txBody>
      </p:sp>
      <p:grpSp>
        <p:nvGrpSpPr>
          <p:cNvPr id="205" name="Group 204">
            <a:extLst>
              <a:ext uri="{FF2B5EF4-FFF2-40B4-BE49-F238E27FC236}">
                <a16:creationId xmlns:a16="http://schemas.microsoft.com/office/drawing/2014/main" id="{033BFBFF-9A96-9E58-C559-CF038FACEA02}"/>
              </a:ext>
              <a:ext uri="{C183D7F6-B498-43B3-948B-1728B52AA6E4}">
                <adec:decorative xmlns:adec="http://schemas.microsoft.com/office/drawing/2017/decorative" val="1"/>
              </a:ext>
            </a:extLst>
          </p:cNvPr>
          <p:cNvGrpSpPr/>
          <p:nvPr/>
        </p:nvGrpSpPr>
        <p:grpSpPr>
          <a:xfrm>
            <a:off x="3740451" y="2070200"/>
            <a:ext cx="297739" cy="292247"/>
            <a:chOff x="1465490" y="3219301"/>
            <a:chExt cx="438300" cy="438301"/>
          </a:xfrm>
        </p:grpSpPr>
        <p:sp>
          <p:nvSpPr>
            <p:cNvPr id="206" name="Oval 205">
              <a:extLst>
                <a:ext uri="{FF2B5EF4-FFF2-40B4-BE49-F238E27FC236}">
                  <a16:creationId xmlns:a16="http://schemas.microsoft.com/office/drawing/2014/main" id="{56EAC070-3DDB-A3B7-3E4A-B5A086F3169A}"/>
                </a:ext>
              </a:extLst>
            </p:cNvPr>
            <p:cNvSpPr/>
            <p:nvPr/>
          </p:nvSpPr>
          <p:spPr>
            <a:xfrm>
              <a:off x="1465490" y="3219301"/>
              <a:ext cx="438300" cy="438301"/>
            </a:xfrm>
            <a:prstGeom prst="ellipse">
              <a:avLst/>
            </a:prstGeom>
            <a:no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207" name="Graphic 1">
              <a:extLst>
                <a:ext uri="{FF2B5EF4-FFF2-40B4-BE49-F238E27FC236}">
                  <a16:creationId xmlns:a16="http://schemas.microsoft.com/office/drawing/2014/main" id="{2A0339A5-48B2-C635-2DF0-EF57DF66C08C}"/>
                </a:ext>
              </a:extLst>
            </p:cNvPr>
            <p:cNvGrpSpPr/>
            <p:nvPr/>
          </p:nvGrpSpPr>
          <p:grpSpPr>
            <a:xfrm>
              <a:off x="1561461" y="3315270"/>
              <a:ext cx="245369" cy="245370"/>
              <a:chOff x="979296" y="1541158"/>
              <a:chExt cx="1054511" cy="1054515"/>
            </a:xfrm>
            <a:solidFill>
              <a:schemeClr val="tx2"/>
            </a:solidFill>
          </p:grpSpPr>
          <p:sp>
            <p:nvSpPr>
              <p:cNvPr id="208" name="Freeform: Shape 815">
                <a:extLst>
                  <a:ext uri="{FF2B5EF4-FFF2-40B4-BE49-F238E27FC236}">
                    <a16:creationId xmlns:a16="http://schemas.microsoft.com/office/drawing/2014/main" id="{2774D1C2-DB04-3E43-45E1-DAEF6EF196C5}"/>
                  </a:ext>
                </a:extLst>
              </p:cNvPr>
              <p:cNvSpPr/>
              <p:nvPr/>
            </p:nvSpPr>
            <p:spPr>
              <a:xfrm>
                <a:off x="979296" y="1541158"/>
                <a:ext cx="1054511" cy="1054515"/>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209" name="Graphic 1">
                <a:extLst>
                  <a:ext uri="{FF2B5EF4-FFF2-40B4-BE49-F238E27FC236}">
                    <a16:creationId xmlns:a16="http://schemas.microsoft.com/office/drawing/2014/main" id="{D2AD6D6A-20BD-01AD-120F-2C114B80FD39}"/>
                  </a:ext>
                </a:extLst>
              </p:cNvPr>
              <p:cNvGrpSpPr/>
              <p:nvPr/>
            </p:nvGrpSpPr>
            <p:grpSpPr>
              <a:xfrm>
                <a:off x="1296246" y="2002748"/>
                <a:ext cx="390297" cy="146863"/>
                <a:chOff x="1296246" y="2002748"/>
                <a:chExt cx="390297" cy="146863"/>
              </a:xfrm>
              <a:grpFill/>
            </p:grpSpPr>
            <p:sp>
              <p:nvSpPr>
                <p:cNvPr id="210" name="Freeform: Shape 817">
                  <a:extLst>
                    <a:ext uri="{FF2B5EF4-FFF2-40B4-BE49-F238E27FC236}">
                      <a16:creationId xmlns:a16="http://schemas.microsoft.com/office/drawing/2014/main" id="{C48D77FE-F651-BF8A-CC9E-3A0AA0366739}"/>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11" name="Freeform: Shape 818">
                  <a:extLst>
                    <a:ext uri="{FF2B5EF4-FFF2-40B4-BE49-F238E27FC236}">
                      <a16:creationId xmlns:a16="http://schemas.microsoft.com/office/drawing/2014/main" id="{610FB6B4-6536-ED01-F123-E91704064698}"/>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sp>
        <p:nvSpPr>
          <p:cNvPr id="212" name="Rectangle: Rounded Corners 121">
            <a:extLst>
              <a:ext uri="{FF2B5EF4-FFF2-40B4-BE49-F238E27FC236}">
                <a16:creationId xmlns:a16="http://schemas.microsoft.com/office/drawing/2014/main" id="{69D36DA8-380F-4B52-2E47-0C0432B9D819}"/>
              </a:ext>
            </a:extLst>
          </p:cNvPr>
          <p:cNvSpPr/>
          <p:nvPr/>
        </p:nvSpPr>
        <p:spPr>
          <a:xfrm>
            <a:off x="3605797" y="2043016"/>
            <a:ext cx="838270" cy="741471"/>
          </a:xfrm>
          <a:prstGeom prst="roundRect">
            <a:avLst>
              <a:gd name="adj" fmla="val 7399"/>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54864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005C8A"/>
                </a:solidFill>
                <a:effectLst/>
                <a:uLnTx/>
                <a:uFillTx/>
                <a:latin typeface="Metropolis Semi Bold" panose="00000700000000000000" pitchFamily="2" charset="0"/>
                <a:ea typeface="+mn-ea"/>
                <a:cs typeface="+mn-cs"/>
              </a:rPr>
              <a:t>VM</a:t>
            </a:r>
          </a:p>
        </p:txBody>
      </p:sp>
      <p:grpSp>
        <p:nvGrpSpPr>
          <p:cNvPr id="218" name="Group 217">
            <a:extLst>
              <a:ext uri="{FF2B5EF4-FFF2-40B4-BE49-F238E27FC236}">
                <a16:creationId xmlns:a16="http://schemas.microsoft.com/office/drawing/2014/main" id="{E81D516D-46E0-1F91-76A8-0626B4542A64}"/>
              </a:ext>
              <a:ext uri="{C183D7F6-B498-43B3-948B-1728B52AA6E4}">
                <adec:decorative xmlns:adec="http://schemas.microsoft.com/office/drawing/2017/decorative" val="1"/>
              </a:ext>
            </a:extLst>
          </p:cNvPr>
          <p:cNvGrpSpPr/>
          <p:nvPr/>
        </p:nvGrpSpPr>
        <p:grpSpPr>
          <a:xfrm>
            <a:off x="3892851" y="2222600"/>
            <a:ext cx="297739" cy="292247"/>
            <a:chOff x="1465490" y="3219301"/>
            <a:chExt cx="438300" cy="438301"/>
          </a:xfrm>
        </p:grpSpPr>
        <p:sp>
          <p:nvSpPr>
            <p:cNvPr id="225" name="Oval 224">
              <a:extLst>
                <a:ext uri="{FF2B5EF4-FFF2-40B4-BE49-F238E27FC236}">
                  <a16:creationId xmlns:a16="http://schemas.microsoft.com/office/drawing/2014/main" id="{911AE29F-8EAD-A1BD-182C-437FA9840660}"/>
                </a:ext>
              </a:extLst>
            </p:cNvPr>
            <p:cNvSpPr/>
            <p:nvPr/>
          </p:nvSpPr>
          <p:spPr>
            <a:xfrm>
              <a:off x="1465490" y="3219301"/>
              <a:ext cx="438300" cy="438301"/>
            </a:xfrm>
            <a:prstGeom prst="ellipse">
              <a:avLst/>
            </a:prstGeom>
            <a:no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226" name="Graphic 1">
              <a:extLst>
                <a:ext uri="{FF2B5EF4-FFF2-40B4-BE49-F238E27FC236}">
                  <a16:creationId xmlns:a16="http://schemas.microsoft.com/office/drawing/2014/main" id="{499E084F-C706-6703-E199-A9BD7ABED0D2}"/>
                </a:ext>
              </a:extLst>
            </p:cNvPr>
            <p:cNvGrpSpPr/>
            <p:nvPr/>
          </p:nvGrpSpPr>
          <p:grpSpPr>
            <a:xfrm>
              <a:off x="1561461" y="3315270"/>
              <a:ext cx="245369" cy="245370"/>
              <a:chOff x="979296" y="1541158"/>
              <a:chExt cx="1054511" cy="1054515"/>
            </a:xfrm>
            <a:solidFill>
              <a:schemeClr val="tx2"/>
            </a:solidFill>
          </p:grpSpPr>
          <p:sp>
            <p:nvSpPr>
              <p:cNvPr id="227" name="Freeform: Shape 815">
                <a:extLst>
                  <a:ext uri="{FF2B5EF4-FFF2-40B4-BE49-F238E27FC236}">
                    <a16:creationId xmlns:a16="http://schemas.microsoft.com/office/drawing/2014/main" id="{1520162C-9001-F2E1-1126-2C1AB7A5B1A6}"/>
                  </a:ext>
                </a:extLst>
              </p:cNvPr>
              <p:cNvSpPr/>
              <p:nvPr/>
            </p:nvSpPr>
            <p:spPr>
              <a:xfrm>
                <a:off x="979296" y="1541158"/>
                <a:ext cx="1054511" cy="1054515"/>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228" name="Graphic 1">
                <a:extLst>
                  <a:ext uri="{FF2B5EF4-FFF2-40B4-BE49-F238E27FC236}">
                    <a16:creationId xmlns:a16="http://schemas.microsoft.com/office/drawing/2014/main" id="{ECBCC027-80A7-586E-332B-FC3BF4AFC85C}"/>
                  </a:ext>
                </a:extLst>
              </p:cNvPr>
              <p:cNvGrpSpPr/>
              <p:nvPr/>
            </p:nvGrpSpPr>
            <p:grpSpPr>
              <a:xfrm>
                <a:off x="1296246" y="2002748"/>
                <a:ext cx="390297" cy="146863"/>
                <a:chOff x="1296246" y="2002748"/>
                <a:chExt cx="390297" cy="146863"/>
              </a:xfrm>
              <a:grpFill/>
            </p:grpSpPr>
            <p:sp>
              <p:nvSpPr>
                <p:cNvPr id="229" name="Freeform: Shape 817">
                  <a:extLst>
                    <a:ext uri="{FF2B5EF4-FFF2-40B4-BE49-F238E27FC236}">
                      <a16:creationId xmlns:a16="http://schemas.microsoft.com/office/drawing/2014/main" id="{ED868EF4-23B5-65FB-4C36-23E7EEEA72C4}"/>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0" name="Freeform: Shape 818">
                  <a:extLst>
                    <a:ext uri="{FF2B5EF4-FFF2-40B4-BE49-F238E27FC236}">
                      <a16:creationId xmlns:a16="http://schemas.microsoft.com/office/drawing/2014/main" id="{A347C874-13B1-65A0-A24B-2ED684F8E826}"/>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sp>
        <p:nvSpPr>
          <p:cNvPr id="231" name="Rectangle: Rounded Corners 121">
            <a:extLst>
              <a:ext uri="{FF2B5EF4-FFF2-40B4-BE49-F238E27FC236}">
                <a16:creationId xmlns:a16="http://schemas.microsoft.com/office/drawing/2014/main" id="{0BEB739B-D9A4-7112-990A-FADAC1922CE8}"/>
              </a:ext>
            </a:extLst>
          </p:cNvPr>
          <p:cNvSpPr/>
          <p:nvPr/>
        </p:nvSpPr>
        <p:spPr>
          <a:xfrm>
            <a:off x="3774988" y="2143586"/>
            <a:ext cx="838270" cy="741471"/>
          </a:xfrm>
          <a:prstGeom prst="roundRect">
            <a:avLst>
              <a:gd name="adj" fmla="val 7399"/>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54864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VM</a:t>
            </a:r>
          </a:p>
        </p:txBody>
      </p:sp>
      <p:grpSp>
        <p:nvGrpSpPr>
          <p:cNvPr id="232" name="Group 231">
            <a:extLst>
              <a:ext uri="{FF2B5EF4-FFF2-40B4-BE49-F238E27FC236}">
                <a16:creationId xmlns:a16="http://schemas.microsoft.com/office/drawing/2014/main" id="{9CF295EE-01E7-3293-04ED-9E149D38D69D}"/>
              </a:ext>
              <a:ext uri="{C183D7F6-B498-43B3-948B-1728B52AA6E4}">
                <adec:decorative xmlns:adec="http://schemas.microsoft.com/office/drawing/2017/decorative" val="1"/>
              </a:ext>
            </a:extLst>
          </p:cNvPr>
          <p:cNvGrpSpPr/>
          <p:nvPr/>
        </p:nvGrpSpPr>
        <p:grpSpPr>
          <a:xfrm>
            <a:off x="4045251" y="2275248"/>
            <a:ext cx="297739" cy="292247"/>
            <a:chOff x="1465490" y="3219301"/>
            <a:chExt cx="438300" cy="438301"/>
          </a:xfrm>
        </p:grpSpPr>
        <p:sp>
          <p:nvSpPr>
            <p:cNvPr id="233" name="Oval 232">
              <a:extLst>
                <a:ext uri="{FF2B5EF4-FFF2-40B4-BE49-F238E27FC236}">
                  <a16:creationId xmlns:a16="http://schemas.microsoft.com/office/drawing/2014/main" id="{110EEE4E-2BB9-5316-6D45-13D6388644DC}"/>
                </a:ext>
              </a:extLst>
            </p:cNvPr>
            <p:cNvSpPr/>
            <p:nvPr/>
          </p:nvSpPr>
          <p:spPr>
            <a:xfrm>
              <a:off x="1465490" y="3219301"/>
              <a:ext cx="438300" cy="438301"/>
            </a:xfrm>
            <a:prstGeom prst="ellipse">
              <a:avLst/>
            </a:prstGeom>
            <a:no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234" name="Graphic 1">
              <a:extLst>
                <a:ext uri="{FF2B5EF4-FFF2-40B4-BE49-F238E27FC236}">
                  <a16:creationId xmlns:a16="http://schemas.microsoft.com/office/drawing/2014/main" id="{80C44E65-0D04-0463-6676-C044EC2D2BFC}"/>
                </a:ext>
              </a:extLst>
            </p:cNvPr>
            <p:cNvGrpSpPr/>
            <p:nvPr/>
          </p:nvGrpSpPr>
          <p:grpSpPr>
            <a:xfrm>
              <a:off x="1561461" y="3315270"/>
              <a:ext cx="245369" cy="245370"/>
              <a:chOff x="979296" y="1541158"/>
              <a:chExt cx="1054511" cy="1054515"/>
            </a:xfrm>
            <a:solidFill>
              <a:schemeClr val="tx2"/>
            </a:solidFill>
          </p:grpSpPr>
          <p:sp>
            <p:nvSpPr>
              <p:cNvPr id="235" name="Freeform: Shape 815">
                <a:extLst>
                  <a:ext uri="{FF2B5EF4-FFF2-40B4-BE49-F238E27FC236}">
                    <a16:creationId xmlns:a16="http://schemas.microsoft.com/office/drawing/2014/main" id="{F7B5687D-328D-4052-1E97-8095DC9B7210}"/>
                  </a:ext>
                </a:extLst>
              </p:cNvPr>
              <p:cNvSpPr/>
              <p:nvPr/>
            </p:nvSpPr>
            <p:spPr>
              <a:xfrm>
                <a:off x="979296" y="1541158"/>
                <a:ext cx="1054511" cy="1054515"/>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236" name="Graphic 1">
                <a:extLst>
                  <a:ext uri="{FF2B5EF4-FFF2-40B4-BE49-F238E27FC236}">
                    <a16:creationId xmlns:a16="http://schemas.microsoft.com/office/drawing/2014/main" id="{8FB7C3C4-1040-244C-ABDE-648D98EA59AA}"/>
                  </a:ext>
                </a:extLst>
              </p:cNvPr>
              <p:cNvGrpSpPr/>
              <p:nvPr/>
            </p:nvGrpSpPr>
            <p:grpSpPr>
              <a:xfrm>
                <a:off x="1296246" y="2002748"/>
                <a:ext cx="390297" cy="146863"/>
                <a:chOff x="1296246" y="2002748"/>
                <a:chExt cx="390297" cy="146863"/>
              </a:xfrm>
              <a:grpFill/>
            </p:grpSpPr>
            <p:sp>
              <p:nvSpPr>
                <p:cNvPr id="237" name="Freeform: Shape 817">
                  <a:extLst>
                    <a:ext uri="{FF2B5EF4-FFF2-40B4-BE49-F238E27FC236}">
                      <a16:creationId xmlns:a16="http://schemas.microsoft.com/office/drawing/2014/main" id="{04AEA84B-1FD7-FD7A-D078-B9A619A1CD39}"/>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8" name="Freeform: Shape 818">
                  <a:extLst>
                    <a:ext uri="{FF2B5EF4-FFF2-40B4-BE49-F238E27FC236}">
                      <a16:creationId xmlns:a16="http://schemas.microsoft.com/office/drawing/2014/main" id="{896792EA-C965-645D-A82B-2F1CFCEB89C0}"/>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sp>
        <p:nvSpPr>
          <p:cNvPr id="11" name="Rectangle: Rounded Corners 82">
            <a:extLst>
              <a:ext uri="{FF2B5EF4-FFF2-40B4-BE49-F238E27FC236}">
                <a16:creationId xmlns:a16="http://schemas.microsoft.com/office/drawing/2014/main" id="{6D2927CA-CE46-00F1-5F57-C561DD2159E7}"/>
              </a:ext>
            </a:extLst>
          </p:cNvPr>
          <p:cNvSpPr/>
          <p:nvPr/>
        </p:nvSpPr>
        <p:spPr>
          <a:xfrm>
            <a:off x="3139547" y="3196769"/>
            <a:ext cx="1814370" cy="317647"/>
          </a:xfrm>
          <a:prstGeom prst="roundRect">
            <a:avLst/>
          </a:prstGeom>
          <a:solidFill>
            <a:schemeClr val="accent5"/>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vSphere </a:t>
            </a:r>
            <a:b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Namespace</a:t>
            </a:r>
          </a:p>
        </p:txBody>
      </p:sp>
      <p:grpSp>
        <p:nvGrpSpPr>
          <p:cNvPr id="219" name="Google Shape;1627;p2">
            <a:extLst>
              <a:ext uri="{FF2B5EF4-FFF2-40B4-BE49-F238E27FC236}">
                <a16:creationId xmlns:a16="http://schemas.microsoft.com/office/drawing/2014/main" id="{FD35FFE0-3D0B-CC93-2F4C-0B97AF6438D3}"/>
              </a:ext>
            </a:extLst>
          </p:cNvPr>
          <p:cNvGrpSpPr/>
          <p:nvPr/>
        </p:nvGrpSpPr>
        <p:grpSpPr>
          <a:xfrm>
            <a:off x="6133652" y="3593562"/>
            <a:ext cx="257998" cy="353203"/>
            <a:chOff x="5000233" y="3506447"/>
            <a:chExt cx="283795" cy="388519"/>
          </a:xfrm>
        </p:grpSpPr>
        <p:sp>
          <p:nvSpPr>
            <p:cNvPr id="220" name="Google Shape;1628;p2">
              <a:extLst>
                <a:ext uri="{FF2B5EF4-FFF2-40B4-BE49-F238E27FC236}">
                  <a16:creationId xmlns:a16="http://schemas.microsoft.com/office/drawing/2014/main" id="{53BBE5B7-8942-ACB4-6169-1EA00FF3E818}"/>
                </a:ext>
              </a:extLst>
            </p:cNvPr>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22745"/>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221" name="Google Shape;1629;p2">
              <a:extLst>
                <a:ext uri="{FF2B5EF4-FFF2-40B4-BE49-F238E27FC236}">
                  <a16:creationId xmlns:a16="http://schemas.microsoft.com/office/drawing/2014/main" id="{C01E1848-0640-011B-DE9C-C700C659CE88}"/>
                </a:ext>
              </a:extLst>
            </p:cNvPr>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47843"/>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222" name="Google Shape;1630;p2">
              <a:extLst>
                <a:ext uri="{FF2B5EF4-FFF2-40B4-BE49-F238E27FC236}">
                  <a16:creationId xmlns:a16="http://schemas.microsoft.com/office/drawing/2014/main" id="{7E77A39D-336D-B450-B6D8-433F84B09936}"/>
                </a:ext>
              </a:extLst>
            </p:cNvPr>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grpSp>
        <p:nvGrpSpPr>
          <p:cNvPr id="3" name="Group 2">
            <a:extLst>
              <a:ext uri="{FF2B5EF4-FFF2-40B4-BE49-F238E27FC236}">
                <a16:creationId xmlns:a16="http://schemas.microsoft.com/office/drawing/2014/main" id="{9726FAF2-EC14-DC9A-2947-F9D506D32806}"/>
              </a:ext>
            </a:extLst>
          </p:cNvPr>
          <p:cNvGrpSpPr/>
          <p:nvPr/>
        </p:nvGrpSpPr>
        <p:grpSpPr>
          <a:xfrm>
            <a:off x="5147593" y="1429148"/>
            <a:ext cx="1885133" cy="1853518"/>
            <a:chOff x="5178265" y="1668775"/>
            <a:chExt cx="1885133" cy="1853518"/>
          </a:xfrm>
        </p:grpSpPr>
        <p:sp>
          <p:nvSpPr>
            <p:cNvPr id="406" name="Rectangle: Rounded Corners 85">
              <a:extLst>
                <a:ext uri="{FF2B5EF4-FFF2-40B4-BE49-F238E27FC236}">
                  <a16:creationId xmlns:a16="http://schemas.microsoft.com/office/drawing/2014/main" id="{3870D041-7924-7C75-F13C-C56092762B23}"/>
                </a:ext>
              </a:extLst>
            </p:cNvPr>
            <p:cNvSpPr/>
            <p:nvPr/>
          </p:nvSpPr>
          <p:spPr>
            <a:xfrm>
              <a:off x="5269139" y="1668775"/>
              <a:ext cx="1650545" cy="1364965"/>
            </a:xfrm>
            <a:prstGeom prst="roundRect">
              <a:avLst>
                <a:gd name="adj" fmla="val 3604"/>
              </a:avLst>
            </a:prstGeom>
            <a:solidFill>
              <a:schemeClr val="bg1"/>
            </a:solidFill>
            <a:ln w="19050">
              <a:solidFill>
                <a:schemeClr val="accent2">
                  <a:alpha val="24904"/>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08" name="Rectangle 407">
              <a:extLst>
                <a:ext uri="{FF2B5EF4-FFF2-40B4-BE49-F238E27FC236}">
                  <a16:creationId xmlns:a16="http://schemas.microsoft.com/office/drawing/2014/main" id="{097A72D1-FB75-C25F-3B43-2F23D731B931}"/>
                </a:ext>
                <a:ext uri="{C183D7F6-B498-43B3-948B-1728B52AA6E4}">
                  <adec:decorative xmlns:adec="http://schemas.microsoft.com/office/drawing/2017/decorative" val="1"/>
                </a:ext>
              </a:extLst>
            </p:cNvPr>
            <p:cNvSpPr/>
            <p:nvPr/>
          </p:nvSpPr>
          <p:spPr>
            <a:xfrm>
              <a:off x="5457906" y="1993138"/>
              <a:ext cx="1286640" cy="749075"/>
            </a:xfrm>
            <a:prstGeom prst="rect">
              <a:avLst/>
            </a:prstGeom>
            <a:solidFill>
              <a:schemeClr val="bg1"/>
            </a:solidFill>
            <a:ln w="127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27432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Metropolis Semi Bold" panose="00000700000000000000" pitchFamily="2" charset="0"/>
                <a:ea typeface="+mn-ea"/>
                <a:cs typeface="+mn-cs"/>
              </a:endParaRPr>
            </a:p>
          </p:txBody>
        </p:sp>
        <p:sp>
          <p:nvSpPr>
            <p:cNvPr id="409" name="Oval 408">
              <a:extLst>
                <a:ext uri="{FF2B5EF4-FFF2-40B4-BE49-F238E27FC236}">
                  <a16:creationId xmlns:a16="http://schemas.microsoft.com/office/drawing/2014/main" id="{6479BB9F-75C4-8567-8E3D-2EC0035D0202}"/>
                </a:ext>
                <a:ext uri="{C183D7F6-B498-43B3-948B-1728B52AA6E4}">
                  <adec:decorative xmlns:adec="http://schemas.microsoft.com/office/drawing/2017/decorative" val="1"/>
                </a:ext>
              </a:extLst>
            </p:cNvPr>
            <p:cNvSpPr/>
            <p:nvPr/>
          </p:nvSpPr>
          <p:spPr>
            <a:xfrm>
              <a:off x="5951107" y="1848675"/>
              <a:ext cx="292829" cy="293258"/>
            </a:xfrm>
            <a:prstGeom prst="ellipse">
              <a:avLst/>
            </a:prstGeom>
            <a:blipFill>
              <a:blip r:embed="rId5"/>
              <a:stretch>
                <a:fillRect l="-1488" t="-1" r="1" b="-466"/>
              </a:stretch>
            </a:blip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Rectangle: Rounded Corners 82">
              <a:extLst>
                <a:ext uri="{FF2B5EF4-FFF2-40B4-BE49-F238E27FC236}">
                  <a16:creationId xmlns:a16="http://schemas.microsoft.com/office/drawing/2014/main" id="{A7868839-EFF8-EB92-C917-4C9B16931054}"/>
                </a:ext>
              </a:extLst>
            </p:cNvPr>
            <p:cNvSpPr/>
            <p:nvPr/>
          </p:nvSpPr>
          <p:spPr>
            <a:xfrm>
              <a:off x="5178265" y="3204646"/>
              <a:ext cx="1885133" cy="317647"/>
            </a:xfrm>
            <a:prstGeom prst="roundRect">
              <a:avLst/>
            </a:prstGeom>
            <a:solidFill>
              <a:schemeClr val="accent2">
                <a:alpha val="24673"/>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7" name="Rectangle: Rounded Corners 50">
              <a:extLst>
                <a:ext uri="{FF2B5EF4-FFF2-40B4-BE49-F238E27FC236}">
                  <a16:creationId xmlns:a16="http://schemas.microsoft.com/office/drawing/2014/main" id="{6A383B93-192F-66BA-DDD9-B459442CF2FC}"/>
                </a:ext>
              </a:extLst>
            </p:cNvPr>
            <p:cNvSpPr/>
            <p:nvPr/>
          </p:nvSpPr>
          <p:spPr>
            <a:xfrm>
              <a:off x="5515204"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18" name="Rectangle: Rounded Corners 50">
              <a:extLst>
                <a:ext uri="{FF2B5EF4-FFF2-40B4-BE49-F238E27FC236}">
                  <a16:creationId xmlns:a16="http://schemas.microsoft.com/office/drawing/2014/main" id="{71FD4DE6-4E56-6DAC-4451-D72CF9427863}"/>
                </a:ext>
              </a:extLst>
            </p:cNvPr>
            <p:cNvSpPr/>
            <p:nvPr/>
          </p:nvSpPr>
          <p:spPr>
            <a:xfrm>
              <a:off x="5932682"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19" name="Rectangle: Rounded Corners 50">
              <a:extLst>
                <a:ext uri="{FF2B5EF4-FFF2-40B4-BE49-F238E27FC236}">
                  <a16:creationId xmlns:a16="http://schemas.microsoft.com/office/drawing/2014/main" id="{5115AA2F-6D6B-7DC7-A489-B6F2AEA168A5}"/>
                </a:ext>
              </a:extLst>
            </p:cNvPr>
            <p:cNvSpPr/>
            <p:nvPr/>
          </p:nvSpPr>
          <p:spPr>
            <a:xfrm>
              <a:off x="6346056"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0" name="Rectangle: Rounded Corners 50">
              <a:extLst>
                <a:ext uri="{FF2B5EF4-FFF2-40B4-BE49-F238E27FC236}">
                  <a16:creationId xmlns:a16="http://schemas.microsoft.com/office/drawing/2014/main" id="{53D4FA0E-C0BA-F326-0984-A8673082DE89}"/>
                </a:ext>
              </a:extLst>
            </p:cNvPr>
            <p:cNvSpPr/>
            <p:nvPr/>
          </p:nvSpPr>
          <p:spPr>
            <a:xfrm>
              <a:off x="5509007"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1" name="Rectangle: Rounded Corners 50">
              <a:extLst>
                <a:ext uri="{FF2B5EF4-FFF2-40B4-BE49-F238E27FC236}">
                  <a16:creationId xmlns:a16="http://schemas.microsoft.com/office/drawing/2014/main" id="{A64E4793-5D51-3610-CF64-26C89AD4DA1D}"/>
                </a:ext>
              </a:extLst>
            </p:cNvPr>
            <p:cNvSpPr/>
            <p:nvPr/>
          </p:nvSpPr>
          <p:spPr>
            <a:xfrm>
              <a:off x="5926485"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2" name="Rectangle: Rounded Corners 50">
              <a:extLst>
                <a:ext uri="{FF2B5EF4-FFF2-40B4-BE49-F238E27FC236}">
                  <a16:creationId xmlns:a16="http://schemas.microsoft.com/office/drawing/2014/main" id="{95025AD3-BDD8-1E73-974A-44381AD51D93}"/>
                </a:ext>
              </a:extLst>
            </p:cNvPr>
            <p:cNvSpPr/>
            <p:nvPr/>
          </p:nvSpPr>
          <p:spPr>
            <a:xfrm>
              <a:off x="6339859"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3" name="TextBox 22">
              <a:extLst>
                <a:ext uri="{FF2B5EF4-FFF2-40B4-BE49-F238E27FC236}">
                  <a16:creationId xmlns:a16="http://schemas.microsoft.com/office/drawing/2014/main" id="{7FA4AE7A-A3FB-D3D8-44CC-1E33F0A27FF1}"/>
                </a:ext>
              </a:extLst>
            </p:cNvPr>
            <p:cNvSpPr txBox="1"/>
            <p:nvPr/>
          </p:nvSpPr>
          <p:spPr>
            <a:xfrm>
              <a:off x="5322309" y="2800032"/>
              <a:ext cx="1557833"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vSphere Pods</a:t>
              </a:r>
            </a:p>
          </p:txBody>
        </p:sp>
      </p:grpSp>
      <p:sp>
        <p:nvSpPr>
          <p:cNvPr id="63" name="Google Shape;1562;p2">
            <a:extLst>
              <a:ext uri="{FF2B5EF4-FFF2-40B4-BE49-F238E27FC236}">
                <a16:creationId xmlns:a16="http://schemas.microsoft.com/office/drawing/2014/main" id="{91B54AA9-1A89-7A63-2496-B13694D3368C}"/>
              </a:ext>
            </a:extLst>
          </p:cNvPr>
          <p:cNvSpPr/>
          <p:nvPr/>
        </p:nvSpPr>
        <p:spPr>
          <a:xfrm>
            <a:off x="775740" y="4585571"/>
            <a:ext cx="6547773"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482" name="TextBox 481">
            <a:extLst>
              <a:ext uri="{FF2B5EF4-FFF2-40B4-BE49-F238E27FC236}">
                <a16:creationId xmlns:a16="http://schemas.microsoft.com/office/drawing/2014/main" id="{7B0ED3AE-04E3-2297-B5B4-5415C1EE8F66}"/>
              </a:ext>
            </a:extLst>
          </p:cNvPr>
          <p:cNvSpPr txBox="1"/>
          <p:nvPr/>
        </p:nvSpPr>
        <p:spPr>
          <a:xfrm>
            <a:off x="3615085" y="4696886"/>
            <a:ext cx="866659"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Supervisor</a:t>
            </a:r>
          </a:p>
        </p:txBody>
      </p:sp>
      <p:sp>
        <p:nvSpPr>
          <p:cNvPr id="483" name="TextBox 482">
            <a:extLst>
              <a:ext uri="{FF2B5EF4-FFF2-40B4-BE49-F238E27FC236}">
                <a16:creationId xmlns:a16="http://schemas.microsoft.com/office/drawing/2014/main" id="{7E6A0F49-F599-25DE-2F20-8E070C92C488}"/>
              </a:ext>
            </a:extLst>
          </p:cNvPr>
          <p:cNvSpPr txBox="1"/>
          <p:nvPr/>
        </p:nvSpPr>
        <p:spPr>
          <a:xfrm>
            <a:off x="1386899" y="4102911"/>
            <a:ext cx="1255221"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D36"/>
                </a:solidFill>
                <a:effectLst/>
                <a:uLnTx/>
                <a:uFillTx/>
                <a:latin typeface="Arial" panose="020B0604020202020204"/>
                <a:ea typeface="+mn-ea"/>
                <a:cs typeface="+mn-cs"/>
              </a:rPr>
              <a:t>Kubernetes Service (VKS)</a:t>
            </a:r>
          </a:p>
        </p:txBody>
      </p:sp>
      <p:sp>
        <p:nvSpPr>
          <p:cNvPr id="484" name="TextBox 483">
            <a:extLst>
              <a:ext uri="{FF2B5EF4-FFF2-40B4-BE49-F238E27FC236}">
                <a16:creationId xmlns:a16="http://schemas.microsoft.com/office/drawing/2014/main" id="{DFD3D78C-D7A3-23D9-EAEA-6056E6AD7BAE}"/>
              </a:ext>
            </a:extLst>
          </p:cNvPr>
          <p:cNvSpPr txBox="1"/>
          <p:nvPr/>
        </p:nvSpPr>
        <p:spPr>
          <a:xfrm>
            <a:off x="3416682" y="4104200"/>
            <a:ext cx="1255221" cy="1692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D36"/>
                </a:solidFill>
                <a:effectLst/>
                <a:uLnTx/>
                <a:uFillTx/>
                <a:latin typeface="Arial" panose="020B0604020202020204"/>
                <a:ea typeface="+mn-ea"/>
                <a:cs typeface="+mn-cs"/>
              </a:rPr>
              <a:t>VM Service</a:t>
            </a:r>
          </a:p>
        </p:txBody>
      </p:sp>
      <p:sp>
        <p:nvSpPr>
          <p:cNvPr id="485" name="TextBox 484">
            <a:extLst>
              <a:ext uri="{FF2B5EF4-FFF2-40B4-BE49-F238E27FC236}">
                <a16:creationId xmlns:a16="http://schemas.microsoft.com/office/drawing/2014/main" id="{8FA47615-3044-C80F-33D8-B4A9F12536D6}"/>
              </a:ext>
            </a:extLst>
          </p:cNvPr>
          <p:cNvSpPr txBox="1"/>
          <p:nvPr/>
        </p:nvSpPr>
        <p:spPr>
          <a:xfrm>
            <a:off x="5625139" y="4097654"/>
            <a:ext cx="1255221"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D36"/>
                </a:solidFill>
                <a:effectLst/>
                <a:uLnTx/>
                <a:uFillTx/>
                <a:latin typeface="Arial" panose="020B0604020202020204"/>
                <a:ea typeface="+mn-ea"/>
                <a:cs typeface="+mn-cs"/>
              </a:rPr>
              <a:t>Supervisor Service (i.e. Harbor)</a:t>
            </a:r>
          </a:p>
        </p:txBody>
      </p:sp>
      <p:sp>
        <p:nvSpPr>
          <p:cNvPr id="489" name="Rectangle: Rounded Corners 130">
            <a:extLst>
              <a:ext uri="{FF2B5EF4-FFF2-40B4-BE49-F238E27FC236}">
                <a16:creationId xmlns:a16="http://schemas.microsoft.com/office/drawing/2014/main" id="{0DB97765-44E4-CE69-5017-B995F65A31CC}"/>
              </a:ext>
              <a:ext uri="{C183D7F6-B498-43B3-948B-1728B52AA6E4}">
                <adec:decorative xmlns:adec="http://schemas.microsoft.com/office/drawing/2017/decorative" val="1"/>
              </a:ext>
            </a:extLst>
          </p:cNvPr>
          <p:cNvSpPr/>
          <p:nvPr/>
        </p:nvSpPr>
        <p:spPr>
          <a:xfrm>
            <a:off x="827750" y="4648218"/>
            <a:ext cx="1814370" cy="304750"/>
          </a:xfrm>
          <a:prstGeom prst="roundRect">
            <a:avLst>
              <a:gd name="adj" fmla="val 50000"/>
            </a:avLst>
          </a:prstGeom>
          <a:solidFill>
            <a:schemeClr val="bg1"/>
          </a:solidFill>
          <a:ln w="12700">
            <a:solidFill>
              <a:schemeClr val="accent5"/>
            </a:solidFill>
            <a:prstDash val="sysDot"/>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dirty="0">
              <a:ln>
                <a:noFill/>
              </a:ln>
              <a:solidFill>
                <a:srgbClr val="61A60E"/>
              </a:solidFill>
              <a:effectLst/>
              <a:uLnTx/>
              <a:uFillTx/>
              <a:latin typeface="Arial" panose="020B0604020202020204"/>
              <a:ea typeface="+mn-ea"/>
              <a:cs typeface="+mn-cs"/>
            </a:endParaRPr>
          </a:p>
        </p:txBody>
      </p:sp>
      <p:sp>
        <p:nvSpPr>
          <p:cNvPr id="490" name="TextBox 489">
            <a:extLst>
              <a:ext uri="{FF2B5EF4-FFF2-40B4-BE49-F238E27FC236}">
                <a16:creationId xmlns:a16="http://schemas.microsoft.com/office/drawing/2014/main" id="{5F97D4DB-643A-4B39-4B84-C0C8B674B2C3}"/>
              </a:ext>
            </a:extLst>
          </p:cNvPr>
          <p:cNvSpPr txBox="1"/>
          <p:nvPr/>
        </p:nvSpPr>
        <p:spPr>
          <a:xfrm>
            <a:off x="1152413" y="4707121"/>
            <a:ext cx="1438968" cy="17921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Supervisor Control Plane</a:t>
            </a:r>
          </a:p>
        </p:txBody>
      </p:sp>
      <p:grpSp>
        <p:nvGrpSpPr>
          <p:cNvPr id="494" name="Group 493">
            <a:extLst>
              <a:ext uri="{FF2B5EF4-FFF2-40B4-BE49-F238E27FC236}">
                <a16:creationId xmlns:a16="http://schemas.microsoft.com/office/drawing/2014/main" id="{7DFC795A-568E-BCE8-A17F-73D9E7BDD748}"/>
              </a:ext>
            </a:extLst>
          </p:cNvPr>
          <p:cNvGrpSpPr/>
          <p:nvPr/>
        </p:nvGrpSpPr>
        <p:grpSpPr>
          <a:xfrm>
            <a:off x="842294" y="4658939"/>
            <a:ext cx="288000" cy="288000"/>
            <a:chOff x="456349" y="4375620"/>
            <a:chExt cx="288000" cy="288000"/>
          </a:xfrm>
        </p:grpSpPr>
        <p:sp>
          <p:nvSpPr>
            <p:cNvPr id="493" name="Freeform: Shape 79">
              <a:extLst>
                <a:ext uri="{FF2B5EF4-FFF2-40B4-BE49-F238E27FC236}">
                  <a16:creationId xmlns:a16="http://schemas.microsoft.com/office/drawing/2014/main" id="{1CAB5BC2-43AA-203C-79BA-26597A1979B1}"/>
                </a:ext>
              </a:extLst>
            </p:cNvPr>
            <p:cNvSpPr/>
            <p:nvPr/>
          </p:nvSpPr>
          <p:spPr>
            <a:xfrm>
              <a:off x="456349" y="4375620"/>
              <a:ext cx="288000" cy="288000"/>
            </a:xfrm>
            <a:custGeom>
              <a:avLst/>
              <a:gdLst>
                <a:gd name="connsiteX0" fmla="*/ 619503 w 1237269"/>
                <a:gd name="connsiteY0" fmla="*/ 0 h 1237269"/>
                <a:gd name="connsiteX1" fmla="*/ 1237270 w 1237269"/>
                <a:gd name="connsiteY1" fmla="*/ 617767 h 1237269"/>
                <a:gd name="connsiteX2" fmla="*/ 1237270 w 1237269"/>
                <a:gd name="connsiteY2" fmla="*/ 619503 h 1237269"/>
                <a:gd name="connsiteX3" fmla="*/ 619503 w 1237269"/>
                <a:gd name="connsiteY3" fmla="*/ 1237270 h 1237269"/>
                <a:gd name="connsiteX4" fmla="*/ 617767 w 1237269"/>
                <a:gd name="connsiteY4" fmla="*/ 1237270 h 1237269"/>
                <a:gd name="connsiteX5" fmla="*/ 0 w 1237269"/>
                <a:gd name="connsiteY5" fmla="*/ 619503 h 1237269"/>
                <a:gd name="connsiteX6" fmla="*/ 0 w 1237269"/>
                <a:gd name="connsiteY6" fmla="*/ 617767 h 1237269"/>
                <a:gd name="connsiteX7" fmla="*/ 617767 w 1237269"/>
                <a:gd name="connsiteY7" fmla="*/ 0 h 123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269" h="1237269">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92" name="Freeform: Shape 80">
              <a:extLst>
                <a:ext uri="{FF2B5EF4-FFF2-40B4-BE49-F238E27FC236}">
                  <a16:creationId xmlns:a16="http://schemas.microsoft.com/office/drawing/2014/main" id="{0714EFB2-6679-980D-60CB-7956586BD7FA}"/>
                </a:ext>
              </a:extLst>
            </p:cNvPr>
            <p:cNvSpPr>
              <a:spLocks noChangeAspect="1"/>
            </p:cNvSpPr>
            <p:nvPr/>
          </p:nvSpPr>
          <p:spPr>
            <a:xfrm>
              <a:off x="501068" y="4430830"/>
              <a:ext cx="204951" cy="180919"/>
            </a:xfrm>
            <a:custGeom>
              <a:avLst/>
              <a:gdLst>
                <a:gd name="connsiteX0" fmla="*/ 1269187 w 1373429"/>
                <a:gd name="connsiteY0" fmla="*/ 1205789 h 1372819"/>
                <a:gd name="connsiteX1" fmla="*/ 1206094 w 1373429"/>
                <a:gd name="connsiteY1" fmla="*/ 1268882 h 1372819"/>
                <a:gd name="connsiteX2" fmla="*/ 1269187 w 1373429"/>
                <a:gd name="connsiteY2" fmla="*/ 1331976 h 1372819"/>
                <a:gd name="connsiteX3" fmla="*/ 1332281 w 1373429"/>
                <a:gd name="connsiteY3" fmla="*/ 1268882 h 1372819"/>
                <a:gd name="connsiteX4" fmla="*/ 1269187 w 1373429"/>
                <a:gd name="connsiteY4" fmla="*/ 1205789 h 1372819"/>
                <a:gd name="connsiteX5" fmla="*/ 686714 w 1373429"/>
                <a:gd name="connsiteY5" fmla="*/ 1205789 h 1372819"/>
                <a:gd name="connsiteX6" fmla="*/ 623621 w 1373429"/>
                <a:gd name="connsiteY6" fmla="*/ 1268882 h 1372819"/>
                <a:gd name="connsiteX7" fmla="*/ 686714 w 1373429"/>
                <a:gd name="connsiteY7" fmla="*/ 1331976 h 1372819"/>
                <a:gd name="connsiteX8" fmla="*/ 749808 w 1373429"/>
                <a:gd name="connsiteY8" fmla="*/ 1268882 h 1372819"/>
                <a:gd name="connsiteX9" fmla="*/ 686714 w 1373429"/>
                <a:gd name="connsiteY9" fmla="*/ 1205789 h 1372819"/>
                <a:gd name="connsiteX10" fmla="*/ 104242 w 1373429"/>
                <a:gd name="connsiteY10" fmla="*/ 1205789 h 1372819"/>
                <a:gd name="connsiteX11" fmla="*/ 41148 w 1373429"/>
                <a:gd name="connsiteY11" fmla="*/ 1268882 h 1372819"/>
                <a:gd name="connsiteX12" fmla="*/ 104242 w 1373429"/>
                <a:gd name="connsiteY12" fmla="*/ 1331976 h 1372819"/>
                <a:gd name="connsiteX13" fmla="*/ 167335 w 1373429"/>
                <a:gd name="connsiteY13" fmla="*/ 1268882 h 1372819"/>
                <a:gd name="connsiteX14" fmla="*/ 104242 w 1373429"/>
                <a:gd name="connsiteY14" fmla="*/ 1205789 h 1372819"/>
                <a:gd name="connsiteX15" fmla="*/ 607466 w 1373429"/>
                <a:gd name="connsiteY15" fmla="*/ 647090 h 1372819"/>
                <a:gd name="connsiteX16" fmla="*/ 627887 w 1373429"/>
                <a:gd name="connsiteY16" fmla="*/ 693420 h 1372819"/>
                <a:gd name="connsiteX17" fmla="*/ 587044 w 1373429"/>
                <a:gd name="connsiteY17" fmla="*/ 693420 h 1372819"/>
                <a:gd name="connsiteX18" fmla="*/ 693724 w 1373429"/>
                <a:gd name="connsiteY18" fmla="*/ 644042 h 1372819"/>
                <a:gd name="connsiteX19" fmla="*/ 717803 w 1373429"/>
                <a:gd name="connsiteY19" fmla="*/ 644042 h 1372819"/>
                <a:gd name="connsiteX20" fmla="*/ 735482 w 1373429"/>
                <a:gd name="connsiteY20" fmla="*/ 648919 h 1372819"/>
                <a:gd name="connsiteX21" fmla="*/ 742187 w 1373429"/>
                <a:gd name="connsiteY21" fmla="*/ 662330 h 1372819"/>
                <a:gd name="connsiteX22" fmla="*/ 735482 w 1373429"/>
                <a:gd name="connsiteY22" fmla="*/ 676046 h 1372819"/>
                <a:gd name="connsiteX23" fmla="*/ 735482 w 1373429"/>
                <a:gd name="connsiteY23" fmla="*/ 676351 h 1372819"/>
                <a:gd name="connsiteX24" fmla="*/ 717803 w 1373429"/>
                <a:gd name="connsiteY24" fmla="*/ 681228 h 1372819"/>
                <a:gd name="connsiteX25" fmla="*/ 693724 w 1373429"/>
                <a:gd name="connsiteY25" fmla="*/ 681228 h 1372819"/>
                <a:gd name="connsiteX26" fmla="*/ 776629 w 1373429"/>
                <a:gd name="connsiteY26" fmla="*/ 630631 h 1372819"/>
                <a:gd name="connsiteX27" fmla="*/ 776629 w 1373429"/>
                <a:gd name="connsiteY27" fmla="*/ 726338 h 1372819"/>
                <a:gd name="connsiteX28" fmla="*/ 790041 w 1373429"/>
                <a:gd name="connsiteY28" fmla="*/ 726338 h 1372819"/>
                <a:gd name="connsiteX29" fmla="*/ 790041 w 1373429"/>
                <a:gd name="connsiteY29" fmla="*/ 630631 h 1372819"/>
                <a:gd name="connsiteX30" fmla="*/ 679703 w 1373429"/>
                <a:gd name="connsiteY30" fmla="*/ 630631 h 1372819"/>
                <a:gd name="connsiteX31" fmla="*/ 679703 w 1373429"/>
                <a:gd name="connsiteY31" fmla="*/ 726338 h 1372819"/>
                <a:gd name="connsiteX32" fmla="*/ 693114 w 1373429"/>
                <a:gd name="connsiteY32" fmla="*/ 726338 h 1372819"/>
                <a:gd name="connsiteX33" fmla="*/ 693114 w 1373429"/>
                <a:gd name="connsiteY33" fmla="*/ 692810 h 1372819"/>
                <a:gd name="connsiteX34" fmla="*/ 719022 w 1373429"/>
                <a:gd name="connsiteY34" fmla="*/ 692810 h 1372819"/>
                <a:gd name="connsiteX35" fmla="*/ 737005 w 1373429"/>
                <a:gd name="connsiteY35" fmla="*/ 688847 h 1372819"/>
                <a:gd name="connsiteX36" fmla="*/ 749807 w 1373429"/>
                <a:gd name="connsiteY36" fmla="*/ 677875 h 1372819"/>
                <a:gd name="connsiteX37" fmla="*/ 754684 w 1373429"/>
                <a:gd name="connsiteY37" fmla="*/ 661720 h 1372819"/>
                <a:gd name="connsiteX38" fmla="*/ 749807 w 1373429"/>
                <a:gd name="connsiteY38" fmla="*/ 645566 h 1372819"/>
                <a:gd name="connsiteX39" fmla="*/ 737005 w 1373429"/>
                <a:gd name="connsiteY39" fmla="*/ 634593 h 1372819"/>
                <a:gd name="connsiteX40" fmla="*/ 719022 w 1373429"/>
                <a:gd name="connsiteY40" fmla="*/ 630631 h 1372819"/>
                <a:gd name="connsiteX41" fmla="*/ 600150 w 1373429"/>
                <a:gd name="connsiteY41" fmla="*/ 630631 h 1372819"/>
                <a:gd name="connsiteX42" fmla="*/ 558697 w 1373429"/>
                <a:gd name="connsiteY42" fmla="*/ 726338 h 1372819"/>
                <a:gd name="connsiteX43" fmla="*/ 572413 w 1373429"/>
                <a:gd name="connsiteY43" fmla="*/ 726338 h 1372819"/>
                <a:gd name="connsiteX44" fmla="*/ 581862 w 1373429"/>
                <a:gd name="connsiteY44" fmla="*/ 705307 h 1372819"/>
                <a:gd name="connsiteX45" fmla="*/ 631849 w 1373429"/>
                <a:gd name="connsiteY45" fmla="*/ 705307 h 1372819"/>
                <a:gd name="connsiteX46" fmla="*/ 641298 w 1373429"/>
                <a:gd name="connsiteY46" fmla="*/ 726338 h 1372819"/>
                <a:gd name="connsiteX47" fmla="*/ 655014 w 1373429"/>
                <a:gd name="connsiteY47" fmla="*/ 726338 h 1372819"/>
                <a:gd name="connsiteX48" fmla="*/ 613561 w 1373429"/>
                <a:gd name="connsiteY48" fmla="*/ 630631 h 1372819"/>
                <a:gd name="connsiteX49" fmla="*/ 685799 w 1373429"/>
                <a:gd name="connsiteY49" fmla="*/ 490727 h 1372819"/>
                <a:gd name="connsiteX50" fmla="*/ 611733 w 1373429"/>
                <a:gd name="connsiteY50" fmla="*/ 504748 h 1372819"/>
                <a:gd name="connsiteX51" fmla="*/ 505967 w 1373429"/>
                <a:gd name="connsiteY51" fmla="*/ 608075 h 1372819"/>
                <a:gd name="connsiteX52" fmla="*/ 535533 w 1373429"/>
                <a:gd name="connsiteY52" fmla="*/ 620877 h 1372819"/>
                <a:gd name="connsiteX53" fmla="*/ 623620 w 1373429"/>
                <a:gd name="connsiteY53" fmla="*/ 534923 h 1372819"/>
                <a:gd name="connsiteX54" fmla="*/ 746759 w 1373429"/>
                <a:gd name="connsiteY54" fmla="*/ 536447 h 1372819"/>
                <a:gd name="connsiteX55" fmla="*/ 832713 w 1373429"/>
                <a:gd name="connsiteY55" fmla="*/ 624535 h 1372819"/>
                <a:gd name="connsiteX56" fmla="*/ 831189 w 1373429"/>
                <a:gd name="connsiteY56" fmla="*/ 747674 h 1372819"/>
                <a:gd name="connsiteX57" fmla="*/ 619962 w 1373429"/>
                <a:gd name="connsiteY57" fmla="*/ 832103 h 1372819"/>
                <a:gd name="connsiteX58" fmla="*/ 607161 w 1373429"/>
                <a:gd name="connsiteY58" fmla="*/ 861669 h 1372819"/>
                <a:gd name="connsiteX59" fmla="*/ 683056 w 1373429"/>
                <a:gd name="connsiteY59" fmla="*/ 877214 h 1372819"/>
                <a:gd name="connsiteX60" fmla="*/ 860754 w 1373429"/>
                <a:gd name="connsiteY60" fmla="*/ 760171 h 1372819"/>
                <a:gd name="connsiteX61" fmla="*/ 861059 w 1373429"/>
                <a:gd name="connsiteY61" fmla="*/ 760171 h 1372819"/>
                <a:gd name="connsiteX62" fmla="*/ 862888 w 1373429"/>
                <a:gd name="connsiteY62" fmla="*/ 612343 h 1372819"/>
                <a:gd name="connsiteX63" fmla="*/ 759561 w 1373429"/>
                <a:gd name="connsiteY63" fmla="*/ 506577 h 1372819"/>
                <a:gd name="connsiteX64" fmla="*/ 685799 w 1373429"/>
                <a:gd name="connsiteY64" fmla="*/ 490727 h 1372819"/>
                <a:gd name="connsiteX65" fmla="*/ 624229 w 1373429"/>
                <a:gd name="connsiteY65" fmla="*/ 345033 h 1372819"/>
                <a:gd name="connsiteX66" fmla="*/ 749502 w 1373429"/>
                <a:gd name="connsiteY66" fmla="*/ 345033 h 1372819"/>
                <a:gd name="connsiteX67" fmla="*/ 757122 w 1373429"/>
                <a:gd name="connsiteY67" fmla="*/ 425805 h 1372819"/>
                <a:gd name="connsiteX68" fmla="*/ 819911 w 1373429"/>
                <a:gd name="connsiteY68" fmla="*/ 452323 h 1372819"/>
                <a:gd name="connsiteX69" fmla="*/ 883005 w 1373429"/>
                <a:gd name="connsiteY69" fmla="*/ 399897 h 1372819"/>
                <a:gd name="connsiteX70" fmla="*/ 927201 w 1373429"/>
                <a:gd name="connsiteY70" fmla="*/ 444093 h 1372819"/>
                <a:gd name="connsiteX71" fmla="*/ 971397 w 1373429"/>
                <a:gd name="connsiteY71" fmla="*/ 488289 h 1372819"/>
                <a:gd name="connsiteX72" fmla="*/ 917447 w 1373429"/>
                <a:gd name="connsiteY72" fmla="*/ 553516 h 1372819"/>
                <a:gd name="connsiteX73" fmla="*/ 940612 w 1373429"/>
                <a:gd name="connsiteY73" fmla="*/ 613257 h 1372819"/>
                <a:gd name="connsiteX74" fmla="*/ 1026565 w 1373429"/>
                <a:gd name="connsiteY74" fmla="*/ 621487 h 1372819"/>
                <a:gd name="connsiteX75" fmla="*/ 1026565 w 1373429"/>
                <a:gd name="connsiteY75" fmla="*/ 746759 h 1372819"/>
                <a:gd name="connsiteX76" fmla="*/ 936649 w 1373429"/>
                <a:gd name="connsiteY76" fmla="*/ 755294 h 1372819"/>
                <a:gd name="connsiteX77" fmla="*/ 912875 w 1373429"/>
                <a:gd name="connsiteY77" fmla="*/ 809243 h 1372819"/>
                <a:gd name="connsiteX78" fmla="*/ 912265 w 1373429"/>
                <a:gd name="connsiteY78" fmla="*/ 809548 h 1372819"/>
                <a:gd name="connsiteX79" fmla="*/ 971092 w 1373429"/>
                <a:gd name="connsiteY79" fmla="*/ 880262 h 1372819"/>
                <a:gd name="connsiteX80" fmla="*/ 926896 w 1373429"/>
                <a:gd name="connsiteY80" fmla="*/ 924458 h 1372819"/>
                <a:gd name="connsiteX81" fmla="*/ 882700 w 1373429"/>
                <a:gd name="connsiteY81" fmla="*/ 968654 h 1372819"/>
                <a:gd name="connsiteX82" fmla="*/ 809548 w 1373429"/>
                <a:gd name="connsiteY82" fmla="*/ 907999 h 1372819"/>
                <a:gd name="connsiteX83" fmla="*/ 758037 w 1373429"/>
                <a:gd name="connsiteY83" fmla="*/ 928725 h 1372819"/>
                <a:gd name="connsiteX84" fmla="*/ 749197 w 1373429"/>
                <a:gd name="connsiteY84" fmla="*/ 1023823 h 1372819"/>
                <a:gd name="connsiteX85" fmla="*/ 623925 w 1373429"/>
                <a:gd name="connsiteY85" fmla="*/ 1023823 h 1372819"/>
                <a:gd name="connsiteX86" fmla="*/ 615085 w 1373429"/>
                <a:gd name="connsiteY86" fmla="*/ 928725 h 1372819"/>
                <a:gd name="connsiteX87" fmla="*/ 563879 w 1373429"/>
                <a:gd name="connsiteY87" fmla="*/ 907999 h 1372819"/>
                <a:gd name="connsiteX88" fmla="*/ 490727 w 1373429"/>
                <a:gd name="connsiteY88" fmla="*/ 968349 h 1372819"/>
                <a:gd name="connsiteX89" fmla="*/ 446531 w 1373429"/>
                <a:gd name="connsiteY89" fmla="*/ 924153 h 1372819"/>
                <a:gd name="connsiteX90" fmla="*/ 402335 w 1373429"/>
                <a:gd name="connsiteY90" fmla="*/ 879957 h 1372819"/>
                <a:gd name="connsiteX91" fmla="*/ 461161 w 1373429"/>
                <a:gd name="connsiteY91" fmla="*/ 809243 h 1372819"/>
                <a:gd name="connsiteX92" fmla="*/ 437387 w 1373429"/>
                <a:gd name="connsiteY92" fmla="*/ 755294 h 1372819"/>
                <a:gd name="connsiteX93" fmla="*/ 347471 w 1373429"/>
                <a:gd name="connsiteY93" fmla="*/ 746759 h 1372819"/>
                <a:gd name="connsiteX94" fmla="*/ 347471 w 1373429"/>
                <a:gd name="connsiteY94" fmla="*/ 621487 h 1372819"/>
                <a:gd name="connsiteX95" fmla="*/ 433425 w 1373429"/>
                <a:gd name="connsiteY95" fmla="*/ 613867 h 1372819"/>
                <a:gd name="connsiteX96" fmla="*/ 456894 w 1373429"/>
                <a:gd name="connsiteY96" fmla="*/ 553821 h 1372819"/>
                <a:gd name="connsiteX97" fmla="*/ 402640 w 1373429"/>
                <a:gd name="connsiteY97" fmla="*/ 488594 h 1372819"/>
                <a:gd name="connsiteX98" fmla="*/ 446836 w 1373429"/>
                <a:gd name="connsiteY98" fmla="*/ 444398 h 1372819"/>
                <a:gd name="connsiteX99" fmla="*/ 491032 w 1373429"/>
                <a:gd name="connsiteY99" fmla="*/ 400202 h 1372819"/>
                <a:gd name="connsiteX100" fmla="*/ 554125 w 1373429"/>
                <a:gd name="connsiteY100" fmla="*/ 452627 h 1372819"/>
                <a:gd name="connsiteX101" fmla="*/ 616609 w 1373429"/>
                <a:gd name="connsiteY101" fmla="*/ 426110 h 1372819"/>
                <a:gd name="connsiteX102" fmla="*/ 205740 w 1373429"/>
                <a:gd name="connsiteY102" fmla="*/ 118567 h 1372819"/>
                <a:gd name="connsiteX103" fmla="*/ 190500 w 1373429"/>
                <a:gd name="connsiteY103" fmla="*/ 159715 h 1372819"/>
                <a:gd name="connsiteX104" fmla="*/ 431902 w 1373429"/>
                <a:gd name="connsiteY104" fmla="*/ 401422 h 1372819"/>
                <a:gd name="connsiteX105" fmla="*/ 402641 w 1373429"/>
                <a:gd name="connsiteY105" fmla="*/ 430682 h 1372819"/>
                <a:gd name="connsiteX106" fmla="*/ 161544 w 1373429"/>
                <a:gd name="connsiteY106" fmla="*/ 189281 h 1372819"/>
                <a:gd name="connsiteX107" fmla="*/ 121310 w 1373429"/>
                <a:gd name="connsiteY107" fmla="*/ 205130 h 1372819"/>
                <a:gd name="connsiteX108" fmla="*/ 121310 w 1373429"/>
                <a:gd name="connsiteY108" fmla="*/ 1167689 h 1372819"/>
                <a:gd name="connsiteX109" fmla="*/ 160934 w 1373429"/>
                <a:gd name="connsiteY109" fmla="*/ 1183234 h 1372819"/>
                <a:gd name="connsiteX110" fmla="*/ 402336 w 1373429"/>
                <a:gd name="connsiteY110" fmla="*/ 941527 h 1372819"/>
                <a:gd name="connsiteX111" fmla="*/ 431597 w 1373429"/>
                <a:gd name="connsiteY111" fmla="*/ 970788 h 1372819"/>
                <a:gd name="connsiteX112" fmla="*/ 189890 w 1373429"/>
                <a:gd name="connsiteY112" fmla="*/ 1212799 h 1372819"/>
                <a:gd name="connsiteX113" fmla="*/ 205435 w 1373429"/>
                <a:gd name="connsiteY113" fmla="*/ 1254557 h 1372819"/>
                <a:gd name="connsiteX114" fmla="*/ 205435 w 1373429"/>
                <a:gd name="connsiteY114" fmla="*/ 1253642 h 1372819"/>
                <a:gd name="connsiteX115" fmla="*/ 585521 w 1373429"/>
                <a:gd name="connsiteY115" fmla="*/ 1253642 h 1372819"/>
                <a:gd name="connsiteX116" fmla="*/ 668122 w 1373429"/>
                <a:gd name="connsiteY116" fmla="*/ 1168299 h 1372819"/>
                <a:gd name="connsiteX117" fmla="*/ 668122 w 1373429"/>
                <a:gd name="connsiteY117" fmla="*/ 1063752 h 1372819"/>
                <a:gd name="connsiteX118" fmla="*/ 709270 w 1373429"/>
                <a:gd name="connsiteY118" fmla="*/ 1063752 h 1372819"/>
                <a:gd name="connsiteX119" fmla="*/ 709270 w 1373429"/>
                <a:gd name="connsiteY119" fmla="*/ 1168908 h 1372819"/>
                <a:gd name="connsiteX120" fmla="*/ 787908 w 1373429"/>
                <a:gd name="connsiteY120" fmla="*/ 1253642 h 1372819"/>
                <a:gd name="connsiteX121" fmla="*/ 1167994 w 1373429"/>
                <a:gd name="connsiteY121" fmla="*/ 1253642 h 1372819"/>
                <a:gd name="connsiteX122" fmla="*/ 1183455 w 1373429"/>
                <a:gd name="connsiteY122" fmla="*/ 1213020 h 1372819"/>
                <a:gd name="connsiteX123" fmla="*/ 1183843 w 1373429"/>
                <a:gd name="connsiteY123" fmla="*/ 1213409 h 1372819"/>
                <a:gd name="connsiteX124" fmla="*/ 1183539 w 1373429"/>
                <a:gd name="connsiteY124" fmla="*/ 1212799 h 1372819"/>
                <a:gd name="connsiteX125" fmla="*/ 1183455 w 1373429"/>
                <a:gd name="connsiteY125" fmla="*/ 1213020 h 1372819"/>
                <a:gd name="connsiteX126" fmla="*/ 940308 w 1373429"/>
                <a:gd name="connsiteY126" fmla="*/ 969569 h 1372819"/>
                <a:gd name="connsiteX127" fmla="*/ 969569 w 1373429"/>
                <a:gd name="connsiteY127" fmla="*/ 940308 h 1372819"/>
                <a:gd name="connsiteX128" fmla="*/ 1212799 w 1373429"/>
                <a:gd name="connsiteY128" fmla="*/ 1183843 h 1372819"/>
                <a:gd name="connsiteX129" fmla="*/ 1251509 w 1373429"/>
                <a:gd name="connsiteY129" fmla="*/ 1168603 h 1372819"/>
                <a:gd name="connsiteX130" fmla="*/ 1251509 w 1373429"/>
                <a:gd name="connsiteY130" fmla="*/ 205130 h 1372819"/>
                <a:gd name="connsiteX131" fmla="*/ 1212190 w 1373429"/>
                <a:gd name="connsiteY131" fmla="*/ 189281 h 1372819"/>
                <a:gd name="connsiteX132" fmla="*/ 972007 w 1373429"/>
                <a:gd name="connsiteY132" fmla="*/ 430073 h 1372819"/>
                <a:gd name="connsiteX133" fmla="*/ 942746 w 1373429"/>
                <a:gd name="connsiteY133" fmla="*/ 400812 h 1372819"/>
                <a:gd name="connsiteX134" fmla="*/ 1183234 w 1373429"/>
                <a:gd name="connsiteY134" fmla="*/ 159715 h 1372819"/>
                <a:gd name="connsiteX135" fmla="*/ 1167994 w 1373429"/>
                <a:gd name="connsiteY135" fmla="*/ 119482 h 1372819"/>
                <a:gd name="connsiteX136" fmla="*/ 788213 w 1373429"/>
                <a:gd name="connsiteY136" fmla="*/ 119482 h 1372819"/>
                <a:gd name="connsiteX137" fmla="*/ 709270 w 1373429"/>
                <a:gd name="connsiteY137" fmla="*/ 205740 h 1372819"/>
                <a:gd name="connsiteX138" fmla="*/ 709270 w 1373429"/>
                <a:gd name="connsiteY138" fmla="*/ 304800 h 1372819"/>
                <a:gd name="connsiteX139" fmla="*/ 668122 w 1373429"/>
                <a:gd name="connsiteY139" fmla="*/ 304800 h 1372819"/>
                <a:gd name="connsiteX140" fmla="*/ 668122 w 1373429"/>
                <a:gd name="connsiteY140" fmla="*/ 206654 h 1372819"/>
                <a:gd name="connsiteX141" fmla="*/ 585216 w 1373429"/>
                <a:gd name="connsiteY141" fmla="*/ 119482 h 1372819"/>
                <a:gd name="connsiteX142" fmla="*/ 205740 w 1373429"/>
                <a:gd name="connsiteY142" fmla="*/ 119482 h 1372819"/>
                <a:gd name="connsiteX143" fmla="*/ 686714 w 1373429"/>
                <a:gd name="connsiteY143" fmla="*/ 42977 h 1372819"/>
                <a:gd name="connsiteX144" fmla="*/ 623621 w 1373429"/>
                <a:gd name="connsiteY144" fmla="*/ 106070 h 1372819"/>
                <a:gd name="connsiteX145" fmla="*/ 686714 w 1373429"/>
                <a:gd name="connsiteY145" fmla="*/ 169164 h 1372819"/>
                <a:gd name="connsiteX146" fmla="*/ 749808 w 1373429"/>
                <a:gd name="connsiteY146" fmla="*/ 106070 h 1372819"/>
                <a:gd name="connsiteX147" fmla="*/ 686714 w 1373429"/>
                <a:gd name="connsiteY147" fmla="*/ 42977 h 1372819"/>
                <a:gd name="connsiteX148" fmla="*/ 1269187 w 1373429"/>
                <a:gd name="connsiteY148" fmla="*/ 41148 h 1372819"/>
                <a:gd name="connsiteX149" fmla="*/ 1206094 w 1373429"/>
                <a:gd name="connsiteY149" fmla="*/ 104242 h 1372819"/>
                <a:gd name="connsiteX150" fmla="*/ 1269187 w 1373429"/>
                <a:gd name="connsiteY150" fmla="*/ 167335 h 1372819"/>
                <a:gd name="connsiteX151" fmla="*/ 1332281 w 1373429"/>
                <a:gd name="connsiteY151" fmla="*/ 104242 h 1372819"/>
                <a:gd name="connsiteX152" fmla="*/ 1269187 w 1373429"/>
                <a:gd name="connsiteY152" fmla="*/ 41148 h 1372819"/>
                <a:gd name="connsiteX153" fmla="*/ 104242 w 1373429"/>
                <a:gd name="connsiteY153" fmla="*/ 41148 h 1372819"/>
                <a:gd name="connsiteX154" fmla="*/ 41148 w 1373429"/>
                <a:gd name="connsiteY154" fmla="*/ 104242 h 1372819"/>
                <a:gd name="connsiteX155" fmla="*/ 104242 w 1373429"/>
                <a:gd name="connsiteY155" fmla="*/ 167335 h 1372819"/>
                <a:gd name="connsiteX156" fmla="*/ 167335 w 1373429"/>
                <a:gd name="connsiteY156" fmla="*/ 104242 h 1372819"/>
                <a:gd name="connsiteX157" fmla="*/ 104242 w 1373429"/>
                <a:gd name="connsiteY157" fmla="*/ 41148 h 1372819"/>
                <a:gd name="connsiteX158" fmla="*/ 104242 w 1373429"/>
                <a:gd name="connsiteY158" fmla="*/ 0 h 1372819"/>
                <a:gd name="connsiteX159" fmla="*/ 205435 w 1373429"/>
                <a:gd name="connsiteY159" fmla="*/ 89916 h 1372819"/>
                <a:gd name="connsiteX160" fmla="*/ 205435 w 1373429"/>
                <a:gd name="connsiteY160" fmla="*/ 89002 h 1372819"/>
                <a:gd name="connsiteX161" fmla="*/ 585826 w 1373429"/>
                <a:gd name="connsiteY161" fmla="*/ 89002 h 1372819"/>
                <a:gd name="connsiteX162" fmla="*/ 686714 w 1373429"/>
                <a:gd name="connsiteY162" fmla="*/ 1524 h 1372819"/>
                <a:gd name="connsiteX163" fmla="*/ 787603 w 1373429"/>
                <a:gd name="connsiteY163" fmla="*/ 89002 h 1372819"/>
                <a:gd name="connsiteX164" fmla="*/ 1167994 w 1373429"/>
                <a:gd name="connsiteY164" fmla="*/ 89002 h 1372819"/>
                <a:gd name="connsiteX165" fmla="*/ 1269187 w 1373429"/>
                <a:gd name="connsiteY165" fmla="*/ 0 h 1372819"/>
                <a:gd name="connsiteX166" fmla="*/ 1373429 w 1373429"/>
                <a:gd name="connsiteY166" fmla="*/ 104242 h 1372819"/>
                <a:gd name="connsiteX167" fmla="*/ 1281684 w 1373429"/>
                <a:gd name="connsiteY167" fmla="*/ 206045 h 1372819"/>
                <a:gd name="connsiteX168" fmla="*/ 1281684 w 1373429"/>
                <a:gd name="connsiteY168" fmla="*/ 1166774 h 1372819"/>
                <a:gd name="connsiteX169" fmla="*/ 1373429 w 1373429"/>
                <a:gd name="connsiteY169" fmla="*/ 1268578 h 1372819"/>
                <a:gd name="connsiteX170" fmla="*/ 1269187 w 1373429"/>
                <a:gd name="connsiteY170" fmla="*/ 1372819 h 1372819"/>
                <a:gd name="connsiteX171" fmla="*/ 1167994 w 1373429"/>
                <a:gd name="connsiteY171" fmla="*/ 1283818 h 1372819"/>
                <a:gd name="connsiteX172" fmla="*/ 787908 w 1373429"/>
                <a:gd name="connsiteY172" fmla="*/ 1283818 h 1372819"/>
                <a:gd name="connsiteX173" fmla="*/ 686714 w 1373429"/>
                <a:gd name="connsiteY173" fmla="*/ 1372819 h 1372819"/>
                <a:gd name="connsiteX174" fmla="*/ 585521 w 1373429"/>
                <a:gd name="connsiteY174" fmla="*/ 1283818 h 1372819"/>
                <a:gd name="connsiteX175" fmla="*/ 205435 w 1373429"/>
                <a:gd name="connsiteY175" fmla="*/ 1283818 h 1372819"/>
                <a:gd name="connsiteX176" fmla="*/ 205435 w 1373429"/>
                <a:gd name="connsiteY176" fmla="*/ 1282903 h 1372819"/>
                <a:gd name="connsiteX177" fmla="*/ 104242 w 1373429"/>
                <a:gd name="connsiteY177" fmla="*/ 1372819 h 1372819"/>
                <a:gd name="connsiteX178" fmla="*/ 0 w 1373429"/>
                <a:gd name="connsiteY178" fmla="*/ 1268578 h 1372819"/>
                <a:gd name="connsiteX179" fmla="*/ 90830 w 1373429"/>
                <a:gd name="connsiteY179" fmla="*/ 1167079 h 1372819"/>
                <a:gd name="connsiteX180" fmla="*/ 90830 w 1373429"/>
                <a:gd name="connsiteY180" fmla="*/ 205740 h 1372819"/>
                <a:gd name="connsiteX181" fmla="*/ 0 w 1373429"/>
                <a:gd name="connsiteY181" fmla="*/ 104242 h 1372819"/>
                <a:gd name="connsiteX182" fmla="*/ 104242 w 1373429"/>
                <a:gd name="connsiteY182" fmla="*/ 0 h 137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1373429" h="1372819">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496" name="Group 495">
            <a:extLst>
              <a:ext uri="{FF2B5EF4-FFF2-40B4-BE49-F238E27FC236}">
                <a16:creationId xmlns:a16="http://schemas.microsoft.com/office/drawing/2014/main" id="{46083EF4-6E31-1A41-11B4-E51CD31C7EF4}"/>
              </a:ext>
            </a:extLst>
          </p:cNvPr>
          <p:cNvGrpSpPr/>
          <p:nvPr/>
        </p:nvGrpSpPr>
        <p:grpSpPr>
          <a:xfrm>
            <a:off x="3390766" y="5203835"/>
            <a:ext cx="1344725" cy="216064"/>
            <a:chOff x="3604782" y="5211713"/>
            <a:chExt cx="1344725" cy="216064"/>
          </a:xfrm>
        </p:grpSpPr>
        <p:grpSp>
          <p:nvGrpSpPr>
            <p:cNvPr id="497" name="Group 496">
              <a:extLst>
                <a:ext uri="{FF2B5EF4-FFF2-40B4-BE49-F238E27FC236}">
                  <a16:creationId xmlns:a16="http://schemas.microsoft.com/office/drawing/2014/main" id="{054DD59E-325E-2EF6-D0B2-550BA228EC81}"/>
                </a:ext>
              </a:extLst>
            </p:cNvPr>
            <p:cNvGrpSpPr/>
            <p:nvPr/>
          </p:nvGrpSpPr>
          <p:grpSpPr>
            <a:xfrm>
              <a:off x="4468307" y="5211713"/>
              <a:ext cx="481200" cy="216000"/>
              <a:chOff x="9559097" y="5270063"/>
              <a:chExt cx="481200" cy="216000"/>
            </a:xfrm>
          </p:grpSpPr>
          <p:sp>
            <p:nvSpPr>
              <p:cNvPr id="69" name="Google Shape;1557;p2">
                <a:extLst>
                  <a:ext uri="{FF2B5EF4-FFF2-40B4-BE49-F238E27FC236}">
                    <a16:creationId xmlns:a16="http://schemas.microsoft.com/office/drawing/2014/main" id="{9279462C-1CC8-9A77-D98D-C9A681EFDF36}"/>
                  </a:ext>
                </a:extLst>
              </p:cNvPr>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70" name="Google Shape;1622;p2">
                <a:extLst>
                  <a:ext uri="{FF2B5EF4-FFF2-40B4-BE49-F238E27FC236}">
                    <a16:creationId xmlns:a16="http://schemas.microsoft.com/office/drawing/2014/main" id="{6C62A26F-5522-8D47-A4AD-F11C729E03CC}"/>
                  </a:ext>
                </a:extLst>
              </p:cNvPr>
              <p:cNvSpPr>
                <a:spLocks noChangeAspect="1"/>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498" name="Group 497">
              <a:extLst>
                <a:ext uri="{FF2B5EF4-FFF2-40B4-BE49-F238E27FC236}">
                  <a16:creationId xmlns:a16="http://schemas.microsoft.com/office/drawing/2014/main" id="{F8ABC044-1353-E8C6-A061-763384484AE5}"/>
                </a:ext>
              </a:extLst>
            </p:cNvPr>
            <p:cNvGrpSpPr/>
            <p:nvPr/>
          </p:nvGrpSpPr>
          <p:grpSpPr>
            <a:xfrm>
              <a:off x="4059181" y="5211713"/>
              <a:ext cx="437400" cy="216000"/>
              <a:chOff x="9895949" y="1413332"/>
              <a:chExt cx="437400" cy="216000"/>
            </a:xfrm>
          </p:grpSpPr>
          <p:sp>
            <p:nvSpPr>
              <p:cNvPr id="67" name="Google Shape;1558;p2">
                <a:extLst>
                  <a:ext uri="{FF2B5EF4-FFF2-40B4-BE49-F238E27FC236}">
                    <a16:creationId xmlns:a16="http://schemas.microsoft.com/office/drawing/2014/main" id="{9AD4596A-88F9-A339-E186-6E62C2BE44F1}"/>
                  </a:ext>
                </a:extLst>
              </p:cNvPr>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68" name="Google Shape;1623;p2">
                <a:extLst>
                  <a:ext uri="{FF2B5EF4-FFF2-40B4-BE49-F238E27FC236}">
                    <a16:creationId xmlns:a16="http://schemas.microsoft.com/office/drawing/2014/main" id="{34FE2565-6C15-8375-112D-818CD30AC4C3}"/>
                  </a:ext>
                </a:extLst>
              </p:cNvPr>
              <p:cNvSpPr>
                <a:spLocks noChangeAspect="1"/>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499" name="Group 498">
              <a:extLst>
                <a:ext uri="{FF2B5EF4-FFF2-40B4-BE49-F238E27FC236}">
                  <a16:creationId xmlns:a16="http://schemas.microsoft.com/office/drawing/2014/main" id="{FF9AB215-C09B-444A-6A9C-6274E503E837}"/>
                </a:ext>
              </a:extLst>
            </p:cNvPr>
            <p:cNvGrpSpPr/>
            <p:nvPr/>
          </p:nvGrpSpPr>
          <p:grpSpPr>
            <a:xfrm>
              <a:off x="3604782" y="5211777"/>
              <a:ext cx="481200" cy="216000"/>
              <a:chOff x="8526343" y="2145622"/>
              <a:chExt cx="481200" cy="216000"/>
            </a:xfrm>
          </p:grpSpPr>
          <p:sp>
            <p:nvSpPr>
              <p:cNvPr id="500" name="Google Shape;1557;p2">
                <a:extLst>
                  <a:ext uri="{FF2B5EF4-FFF2-40B4-BE49-F238E27FC236}">
                    <a16:creationId xmlns:a16="http://schemas.microsoft.com/office/drawing/2014/main" id="{5F86FC4F-80CC-FDC2-BCBC-A1A02C575EA9}"/>
                  </a:ext>
                </a:extLst>
              </p:cNvPr>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nvGrpSpPr>
              <p:cNvPr id="501" name="Google Shape;1618;p2">
                <a:extLst>
                  <a:ext uri="{FF2B5EF4-FFF2-40B4-BE49-F238E27FC236}">
                    <a16:creationId xmlns:a16="http://schemas.microsoft.com/office/drawing/2014/main" id="{E74D2AB0-C8B8-73D8-3704-4CBDA5F1019D}"/>
                  </a:ext>
                </a:extLst>
              </p:cNvPr>
              <p:cNvGrpSpPr>
                <a:grpSpLocks noChangeAspect="1"/>
              </p:cNvGrpSpPr>
              <p:nvPr/>
            </p:nvGrpSpPr>
            <p:grpSpPr>
              <a:xfrm>
                <a:off x="8658941" y="2145622"/>
                <a:ext cx="216005" cy="216000"/>
                <a:chOff x="3822556" y="5087301"/>
                <a:chExt cx="611339" cy="557273"/>
              </a:xfrm>
            </p:grpSpPr>
            <p:sp>
              <p:nvSpPr>
                <p:cNvPr id="64" name="Google Shape;1619;p2">
                  <a:extLst>
                    <a:ext uri="{FF2B5EF4-FFF2-40B4-BE49-F238E27FC236}">
                      <a16:creationId xmlns:a16="http://schemas.microsoft.com/office/drawing/2014/main" id="{5D83831D-ED21-CE33-194A-3FB07661D0C8}"/>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5" name="Google Shape;1620;p2">
                  <a:extLst>
                    <a:ext uri="{FF2B5EF4-FFF2-40B4-BE49-F238E27FC236}">
                      <a16:creationId xmlns:a16="http://schemas.microsoft.com/office/drawing/2014/main" id="{28C582D1-F171-4F88-C7C4-3AF197A3FF6E}"/>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6" name="Google Shape;1621;p2">
                  <a:extLst>
                    <a:ext uri="{FF2B5EF4-FFF2-40B4-BE49-F238E27FC236}">
                      <a16:creationId xmlns:a16="http://schemas.microsoft.com/office/drawing/2014/main" id="{AE1E50AF-B417-982C-186E-F6E8E64F2546}"/>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4" name="Group 3">
            <a:extLst>
              <a:ext uri="{FF2B5EF4-FFF2-40B4-BE49-F238E27FC236}">
                <a16:creationId xmlns:a16="http://schemas.microsoft.com/office/drawing/2014/main" id="{2F25144D-2BDC-C506-2D36-013352E16F54}"/>
              </a:ext>
            </a:extLst>
          </p:cNvPr>
          <p:cNvGrpSpPr/>
          <p:nvPr/>
        </p:nvGrpSpPr>
        <p:grpSpPr>
          <a:xfrm>
            <a:off x="5236842" y="1548890"/>
            <a:ext cx="1885133" cy="1854529"/>
            <a:chOff x="5158658" y="1668775"/>
            <a:chExt cx="1885133" cy="1854529"/>
          </a:xfrm>
        </p:grpSpPr>
        <p:sp>
          <p:nvSpPr>
            <p:cNvPr id="5" name="Rectangle: Rounded Corners 85">
              <a:extLst>
                <a:ext uri="{FF2B5EF4-FFF2-40B4-BE49-F238E27FC236}">
                  <a16:creationId xmlns:a16="http://schemas.microsoft.com/office/drawing/2014/main" id="{A6D3EE3A-8C5C-B532-29BD-0053A9FE977B}"/>
                </a:ext>
              </a:extLst>
            </p:cNvPr>
            <p:cNvSpPr/>
            <p:nvPr/>
          </p:nvSpPr>
          <p:spPr>
            <a:xfrm>
              <a:off x="5269139" y="1668775"/>
              <a:ext cx="1650545" cy="1364965"/>
            </a:xfrm>
            <a:prstGeom prst="roundRect">
              <a:avLst>
                <a:gd name="adj" fmla="val 3604"/>
              </a:avLst>
            </a:prstGeom>
            <a:solidFill>
              <a:schemeClr val="bg1"/>
            </a:solidFill>
            <a:ln w="19050">
              <a:solidFill>
                <a:schemeClr val="accent2">
                  <a:alpha val="49641"/>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DA860943-B4CD-3273-D5F4-FD9E21BBFEDE}"/>
                </a:ext>
                <a:ext uri="{C183D7F6-B498-43B3-948B-1728B52AA6E4}">
                  <adec:decorative xmlns:adec="http://schemas.microsoft.com/office/drawing/2017/decorative" val="1"/>
                </a:ext>
              </a:extLst>
            </p:cNvPr>
            <p:cNvSpPr/>
            <p:nvPr/>
          </p:nvSpPr>
          <p:spPr>
            <a:xfrm>
              <a:off x="5457906" y="1993138"/>
              <a:ext cx="1286640" cy="749075"/>
            </a:xfrm>
            <a:prstGeom prst="rect">
              <a:avLst/>
            </a:prstGeom>
            <a:solidFill>
              <a:schemeClr val="bg1"/>
            </a:solidFill>
            <a:ln w="127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27432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Metropolis Semi Bold" panose="00000700000000000000" pitchFamily="2" charset="0"/>
                <a:ea typeface="+mn-ea"/>
                <a:cs typeface="+mn-cs"/>
              </a:endParaRPr>
            </a:p>
          </p:txBody>
        </p:sp>
        <p:sp>
          <p:nvSpPr>
            <p:cNvPr id="8" name="Oval 7">
              <a:extLst>
                <a:ext uri="{FF2B5EF4-FFF2-40B4-BE49-F238E27FC236}">
                  <a16:creationId xmlns:a16="http://schemas.microsoft.com/office/drawing/2014/main" id="{B527262A-E276-0796-6A71-B8544B83EA14}"/>
                </a:ext>
                <a:ext uri="{C183D7F6-B498-43B3-948B-1728B52AA6E4}">
                  <adec:decorative xmlns:adec="http://schemas.microsoft.com/office/drawing/2017/decorative" val="1"/>
                </a:ext>
              </a:extLst>
            </p:cNvPr>
            <p:cNvSpPr/>
            <p:nvPr/>
          </p:nvSpPr>
          <p:spPr>
            <a:xfrm>
              <a:off x="5951107" y="1848675"/>
              <a:ext cx="292829" cy="293258"/>
            </a:xfrm>
            <a:prstGeom prst="ellipse">
              <a:avLst/>
            </a:prstGeom>
            <a:blipFill>
              <a:blip r:embed="rId5"/>
              <a:stretch>
                <a:fillRect l="-1488" t="-1" r="1" b="-466"/>
              </a:stretch>
            </a:blip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9" name="Rectangle: Rounded Corners 82">
              <a:extLst>
                <a:ext uri="{FF2B5EF4-FFF2-40B4-BE49-F238E27FC236}">
                  <a16:creationId xmlns:a16="http://schemas.microsoft.com/office/drawing/2014/main" id="{60C4EAEC-26A1-11C5-FE14-3113957A5800}"/>
                </a:ext>
              </a:extLst>
            </p:cNvPr>
            <p:cNvSpPr/>
            <p:nvPr/>
          </p:nvSpPr>
          <p:spPr>
            <a:xfrm>
              <a:off x="5158658" y="3205657"/>
              <a:ext cx="1885133" cy="317647"/>
            </a:xfrm>
            <a:prstGeom prst="roundRect">
              <a:avLst/>
            </a:prstGeom>
            <a:solidFill>
              <a:schemeClr val="accent2">
                <a:alpha val="49833"/>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 name="Rectangle: Rounded Corners 50">
              <a:extLst>
                <a:ext uri="{FF2B5EF4-FFF2-40B4-BE49-F238E27FC236}">
                  <a16:creationId xmlns:a16="http://schemas.microsoft.com/office/drawing/2014/main" id="{32B9AFA1-F893-CF6D-EA1B-22433A36537D}"/>
                </a:ext>
              </a:extLst>
            </p:cNvPr>
            <p:cNvSpPr/>
            <p:nvPr/>
          </p:nvSpPr>
          <p:spPr>
            <a:xfrm>
              <a:off x="5515204"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13" name="Rectangle: Rounded Corners 50">
              <a:extLst>
                <a:ext uri="{FF2B5EF4-FFF2-40B4-BE49-F238E27FC236}">
                  <a16:creationId xmlns:a16="http://schemas.microsoft.com/office/drawing/2014/main" id="{3C7E23A1-4BC0-8C1E-BB93-E7AA4A7DAD98}"/>
                </a:ext>
              </a:extLst>
            </p:cNvPr>
            <p:cNvSpPr/>
            <p:nvPr/>
          </p:nvSpPr>
          <p:spPr>
            <a:xfrm>
              <a:off x="5932682"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4" name="Rectangle: Rounded Corners 50">
              <a:extLst>
                <a:ext uri="{FF2B5EF4-FFF2-40B4-BE49-F238E27FC236}">
                  <a16:creationId xmlns:a16="http://schemas.microsoft.com/office/drawing/2014/main" id="{B031CA4D-A893-882B-57F4-85AB47790594}"/>
                </a:ext>
              </a:extLst>
            </p:cNvPr>
            <p:cNvSpPr/>
            <p:nvPr/>
          </p:nvSpPr>
          <p:spPr>
            <a:xfrm>
              <a:off x="6346056"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5" name="Rectangle: Rounded Corners 50">
              <a:extLst>
                <a:ext uri="{FF2B5EF4-FFF2-40B4-BE49-F238E27FC236}">
                  <a16:creationId xmlns:a16="http://schemas.microsoft.com/office/drawing/2014/main" id="{34BA6E87-0D46-CF85-082B-9B77806EF5A9}"/>
                </a:ext>
              </a:extLst>
            </p:cNvPr>
            <p:cNvSpPr/>
            <p:nvPr/>
          </p:nvSpPr>
          <p:spPr>
            <a:xfrm>
              <a:off x="5509007"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6" name="Rectangle: Rounded Corners 50">
              <a:extLst>
                <a:ext uri="{FF2B5EF4-FFF2-40B4-BE49-F238E27FC236}">
                  <a16:creationId xmlns:a16="http://schemas.microsoft.com/office/drawing/2014/main" id="{1F1D275A-43B9-791B-6D64-6825E7EB9BB1}"/>
                </a:ext>
              </a:extLst>
            </p:cNvPr>
            <p:cNvSpPr/>
            <p:nvPr/>
          </p:nvSpPr>
          <p:spPr>
            <a:xfrm>
              <a:off x="5926485"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7" name="Rectangle: Rounded Corners 50">
              <a:extLst>
                <a:ext uri="{FF2B5EF4-FFF2-40B4-BE49-F238E27FC236}">
                  <a16:creationId xmlns:a16="http://schemas.microsoft.com/office/drawing/2014/main" id="{42BD9ACD-208C-39E9-1617-483486A185B0}"/>
                </a:ext>
              </a:extLst>
            </p:cNvPr>
            <p:cNvSpPr/>
            <p:nvPr/>
          </p:nvSpPr>
          <p:spPr>
            <a:xfrm>
              <a:off x="6339859"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28" name="TextBox 27">
              <a:extLst>
                <a:ext uri="{FF2B5EF4-FFF2-40B4-BE49-F238E27FC236}">
                  <a16:creationId xmlns:a16="http://schemas.microsoft.com/office/drawing/2014/main" id="{05B95A02-A904-4CBB-EE5B-CF19E239980C}"/>
                </a:ext>
              </a:extLst>
            </p:cNvPr>
            <p:cNvSpPr txBox="1"/>
            <p:nvPr/>
          </p:nvSpPr>
          <p:spPr>
            <a:xfrm>
              <a:off x="5322309" y="2800032"/>
              <a:ext cx="1557833"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vSphere Pods</a:t>
              </a:r>
            </a:p>
          </p:txBody>
        </p:sp>
      </p:grpSp>
      <p:grpSp>
        <p:nvGrpSpPr>
          <p:cNvPr id="29" name="Group 28">
            <a:extLst>
              <a:ext uri="{FF2B5EF4-FFF2-40B4-BE49-F238E27FC236}">
                <a16:creationId xmlns:a16="http://schemas.microsoft.com/office/drawing/2014/main" id="{7CEA14C5-65D1-5298-D50C-DF69EC3958A5}"/>
              </a:ext>
            </a:extLst>
          </p:cNvPr>
          <p:cNvGrpSpPr/>
          <p:nvPr/>
        </p:nvGrpSpPr>
        <p:grpSpPr>
          <a:xfrm>
            <a:off x="5345698" y="1657746"/>
            <a:ext cx="1885133" cy="1854529"/>
            <a:chOff x="5158658" y="1668775"/>
            <a:chExt cx="1885133" cy="1854529"/>
          </a:xfrm>
        </p:grpSpPr>
        <p:sp>
          <p:nvSpPr>
            <p:cNvPr id="30" name="Rectangle: Rounded Corners 85">
              <a:extLst>
                <a:ext uri="{FF2B5EF4-FFF2-40B4-BE49-F238E27FC236}">
                  <a16:creationId xmlns:a16="http://schemas.microsoft.com/office/drawing/2014/main" id="{433E038F-20F3-59D8-787A-F6216F70C1DF}"/>
                </a:ext>
              </a:extLst>
            </p:cNvPr>
            <p:cNvSpPr/>
            <p:nvPr/>
          </p:nvSpPr>
          <p:spPr>
            <a:xfrm>
              <a:off x="5269139" y="1668775"/>
              <a:ext cx="1650545" cy="1364965"/>
            </a:xfrm>
            <a:prstGeom prst="roundRect">
              <a:avLst>
                <a:gd name="adj" fmla="val 3604"/>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1" name="Rectangle 30">
              <a:extLst>
                <a:ext uri="{FF2B5EF4-FFF2-40B4-BE49-F238E27FC236}">
                  <a16:creationId xmlns:a16="http://schemas.microsoft.com/office/drawing/2014/main" id="{90E75FB6-1370-6833-F09C-F0D479F8B2E5}"/>
                </a:ext>
                <a:ext uri="{C183D7F6-B498-43B3-948B-1728B52AA6E4}">
                  <adec:decorative xmlns:adec="http://schemas.microsoft.com/office/drawing/2017/decorative" val="1"/>
                </a:ext>
              </a:extLst>
            </p:cNvPr>
            <p:cNvSpPr/>
            <p:nvPr/>
          </p:nvSpPr>
          <p:spPr>
            <a:xfrm>
              <a:off x="5457906" y="1993138"/>
              <a:ext cx="1286640" cy="749075"/>
            </a:xfrm>
            <a:prstGeom prst="rect">
              <a:avLst/>
            </a:prstGeom>
            <a:solidFill>
              <a:schemeClr val="bg1"/>
            </a:solidFill>
            <a:ln w="12700">
              <a:solidFill>
                <a:schemeClr val="accent1"/>
              </a:solidFill>
              <a:prstDash val="sys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27432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Metropolis Semi Bold" panose="00000700000000000000" pitchFamily="2" charset="0"/>
                <a:ea typeface="+mn-ea"/>
                <a:cs typeface="+mn-cs"/>
              </a:endParaRPr>
            </a:p>
          </p:txBody>
        </p:sp>
        <p:sp>
          <p:nvSpPr>
            <p:cNvPr id="32" name="Oval 31">
              <a:extLst>
                <a:ext uri="{FF2B5EF4-FFF2-40B4-BE49-F238E27FC236}">
                  <a16:creationId xmlns:a16="http://schemas.microsoft.com/office/drawing/2014/main" id="{B8805ABE-1F5B-DED6-512E-F4D031B9F232}"/>
                </a:ext>
                <a:ext uri="{C183D7F6-B498-43B3-948B-1728B52AA6E4}">
                  <adec:decorative xmlns:adec="http://schemas.microsoft.com/office/drawing/2017/decorative" val="1"/>
                </a:ext>
              </a:extLst>
            </p:cNvPr>
            <p:cNvSpPr/>
            <p:nvPr/>
          </p:nvSpPr>
          <p:spPr>
            <a:xfrm>
              <a:off x="5951107" y="1848675"/>
              <a:ext cx="292829" cy="293258"/>
            </a:xfrm>
            <a:prstGeom prst="ellipse">
              <a:avLst/>
            </a:prstGeom>
            <a:blipFill>
              <a:blip r:embed="rId5"/>
              <a:stretch>
                <a:fillRect l="-1488" t="-1" r="1" b="-466"/>
              </a:stretch>
            </a:blip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3" name="Rectangle: Rounded Corners 82">
              <a:extLst>
                <a:ext uri="{FF2B5EF4-FFF2-40B4-BE49-F238E27FC236}">
                  <a16:creationId xmlns:a16="http://schemas.microsoft.com/office/drawing/2014/main" id="{34685736-FE78-6845-B22F-199C5871B9E1}"/>
                </a:ext>
              </a:extLst>
            </p:cNvPr>
            <p:cNvSpPr/>
            <p:nvPr/>
          </p:nvSpPr>
          <p:spPr>
            <a:xfrm>
              <a:off x="5158658" y="3205657"/>
              <a:ext cx="1885133" cy="317647"/>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Service vSphere </a:t>
              </a:r>
              <a:b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Namespace</a:t>
              </a:r>
            </a:p>
          </p:txBody>
        </p:sp>
        <p:sp>
          <p:nvSpPr>
            <p:cNvPr id="34" name="Rectangle: Rounded Corners 50">
              <a:extLst>
                <a:ext uri="{FF2B5EF4-FFF2-40B4-BE49-F238E27FC236}">
                  <a16:creationId xmlns:a16="http://schemas.microsoft.com/office/drawing/2014/main" id="{5906AF50-C745-CFEB-80AE-BDF1D5B21932}"/>
                </a:ext>
              </a:extLst>
            </p:cNvPr>
            <p:cNvSpPr/>
            <p:nvPr/>
          </p:nvSpPr>
          <p:spPr>
            <a:xfrm>
              <a:off x="5515204"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35" name="Rectangle: Rounded Corners 50">
              <a:extLst>
                <a:ext uri="{FF2B5EF4-FFF2-40B4-BE49-F238E27FC236}">
                  <a16:creationId xmlns:a16="http://schemas.microsoft.com/office/drawing/2014/main" id="{D8AFC627-9391-E279-6545-C094BF85FAA3}"/>
                </a:ext>
              </a:extLst>
            </p:cNvPr>
            <p:cNvSpPr/>
            <p:nvPr/>
          </p:nvSpPr>
          <p:spPr>
            <a:xfrm>
              <a:off x="5932682"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36" name="Rectangle: Rounded Corners 50">
              <a:extLst>
                <a:ext uri="{FF2B5EF4-FFF2-40B4-BE49-F238E27FC236}">
                  <a16:creationId xmlns:a16="http://schemas.microsoft.com/office/drawing/2014/main" id="{2BC46FFF-BF7B-4328-0580-BD286AD54CB9}"/>
                </a:ext>
              </a:extLst>
            </p:cNvPr>
            <p:cNvSpPr/>
            <p:nvPr/>
          </p:nvSpPr>
          <p:spPr>
            <a:xfrm>
              <a:off x="6346056" y="2463251"/>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37" name="Rectangle: Rounded Corners 50">
              <a:extLst>
                <a:ext uri="{FF2B5EF4-FFF2-40B4-BE49-F238E27FC236}">
                  <a16:creationId xmlns:a16="http://schemas.microsoft.com/office/drawing/2014/main" id="{46EFD197-FE27-6431-C39A-758D0F7B25CE}"/>
                </a:ext>
              </a:extLst>
            </p:cNvPr>
            <p:cNvSpPr/>
            <p:nvPr/>
          </p:nvSpPr>
          <p:spPr>
            <a:xfrm>
              <a:off x="5509007"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38" name="Rectangle: Rounded Corners 50">
              <a:extLst>
                <a:ext uri="{FF2B5EF4-FFF2-40B4-BE49-F238E27FC236}">
                  <a16:creationId xmlns:a16="http://schemas.microsoft.com/office/drawing/2014/main" id="{5C18F126-9E68-6F1E-FB75-69706891C7F9}"/>
                </a:ext>
              </a:extLst>
            </p:cNvPr>
            <p:cNvSpPr/>
            <p:nvPr/>
          </p:nvSpPr>
          <p:spPr>
            <a:xfrm>
              <a:off x="5926485"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39" name="Rectangle: Rounded Corners 50">
              <a:extLst>
                <a:ext uri="{FF2B5EF4-FFF2-40B4-BE49-F238E27FC236}">
                  <a16:creationId xmlns:a16="http://schemas.microsoft.com/office/drawing/2014/main" id="{F01B2352-10AE-640C-B5EC-B3C0A0994553}"/>
                </a:ext>
              </a:extLst>
            </p:cNvPr>
            <p:cNvSpPr/>
            <p:nvPr/>
          </p:nvSpPr>
          <p:spPr>
            <a:xfrm>
              <a:off x="6339859" y="2244325"/>
              <a:ext cx="361333" cy="193996"/>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Pod</a:t>
              </a:r>
            </a:p>
          </p:txBody>
        </p:sp>
        <p:sp>
          <p:nvSpPr>
            <p:cNvPr id="41" name="TextBox 40">
              <a:extLst>
                <a:ext uri="{FF2B5EF4-FFF2-40B4-BE49-F238E27FC236}">
                  <a16:creationId xmlns:a16="http://schemas.microsoft.com/office/drawing/2014/main" id="{0530164A-AA4B-4C9D-5B1E-2D45FA32AF6F}"/>
                </a:ext>
              </a:extLst>
            </p:cNvPr>
            <p:cNvSpPr txBox="1"/>
            <p:nvPr/>
          </p:nvSpPr>
          <p:spPr>
            <a:xfrm>
              <a:off x="5322309" y="2800032"/>
              <a:ext cx="1557833"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vSphere Pods</a:t>
              </a:r>
            </a:p>
          </p:txBody>
        </p:sp>
      </p:grpSp>
    </p:spTree>
    <p:extLst>
      <p:ext uri="{BB962C8B-B14F-4D97-AF65-F5344CB8AC3E}">
        <p14:creationId xmlns:p14="http://schemas.microsoft.com/office/powerpoint/2010/main" val="87068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7F0EF-4DF5-62EF-6583-B3ED69831F38}"/>
            </a:ext>
          </a:extLst>
        </p:cNvPr>
        <p:cNvGrpSpPr/>
        <p:nvPr/>
      </p:nvGrpSpPr>
      <p:grpSpPr>
        <a:xfrm>
          <a:off x="0" y="0"/>
          <a:ext cx="0" cy="0"/>
          <a:chOff x="0" y="0"/>
          <a:chExt cx="0" cy="0"/>
        </a:xfrm>
      </p:grpSpPr>
      <p:sp>
        <p:nvSpPr>
          <p:cNvPr id="207" name="Rounded Rectangle 206">
            <a:extLst>
              <a:ext uri="{FF2B5EF4-FFF2-40B4-BE49-F238E27FC236}">
                <a16:creationId xmlns:a16="http://schemas.microsoft.com/office/drawing/2014/main" id="{32F7ECCA-109F-ECD4-B317-BF9C814B149B}"/>
              </a:ext>
            </a:extLst>
          </p:cNvPr>
          <p:cNvSpPr/>
          <p:nvPr/>
        </p:nvSpPr>
        <p:spPr bwMode="gray">
          <a:xfrm>
            <a:off x="4055398" y="2403380"/>
            <a:ext cx="1765093" cy="250721"/>
          </a:xfrm>
          <a:prstGeom prst="roundRect">
            <a:avLst/>
          </a:prstGeom>
          <a:solidFill>
            <a:schemeClr val="accent2">
              <a:alpha val="49769"/>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06" name="Google Shape;1556;p2">
            <a:extLst>
              <a:ext uri="{FF2B5EF4-FFF2-40B4-BE49-F238E27FC236}">
                <a16:creationId xmlns:a16="http://schemas.microsoft.com/office/drawing/2014/main" id="{89EB0094-B511-C864-B3F8-575F9A2CD00D}"/>
              </a:ext>
            </a:extLst>
          </p:cNvPr>
          <p:cNvSpPr/>
          <p:nvPr/>
        </p:nvSpPr>
        <p:spPr>
          <a:xfrm>
            <a:off x="3776296" y="2509390"/>
            <a:ext cx="2327955" cy="2189761"/>
          </a:xfrm>
          <a:prstGeom prst="roundRect">
            <a:avLst>
              <a:gd name="adj" fmla="val 9132"/>
            </a:avLst>
          </a:prstGeom>
          <a:noFill/>
          <a:ln w="12700" cap="flat" cmpd="sng">
            <a:solidFill>
              <a:schemeClr val="accent2">
                <a:alpha val="49841"/>
              </a:schemeClr>
            </a:solidFill>
            <a:prstDash val="sysDot"/>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70DEC635-3B18-E26D-E26D-D1BAD7B61AF4}"/>
              </a:ext>
            </a:extLst>
          </p:cNvPr>
          <p:cNvSpPr>
            <a:spLocks noGrp="1"/>
          </p:cNvSpPr>
          <p:nvPr>
            <p:ph type="title"/>
          </p:nvPr>
        </p:nvSpPr>
        <p:spPr/>
        <p:txBody>
          <a:bodyPr/>
          <a:lstStyle/>
          <a:p>
            <a:r>
              <a:rPr lang="en-US" dirty="0"/>
              <a:t>Provide workload isolation with VPC based vSphere Namespace</a:t>
            </a:r>
          </a:p>
        </p:txBody>
      </p:sp>
      <p:sp>
        <p:nvSpPr>
          <p:cNvPr id="203" name="Subtitle 202">
            <a:extLst>
              <a:ext uri="{FF2B5EF4-FFF2-40B4-BE49-F238E27FC236}">
                <a16:creationId xmlns:a16="http://schemas.microsoft.com/office/drawing/2014/main" id="{E87DA92A-0BE6-0CD4-5D54-EE1F88CD6916}"/>
              </a:ext>
            </a:extLst>
          </p:cNvPr>
          <p:cNvSpPr>
            <a:spLocks noGrp="1"/>
          </p:cNvSpPr>
          <p:nvPr>
            <p:ph type="subTitle" idx="10"/>
          </p:nvPr>
        </p:nvSpPr>
        <p:spPr/>
        <p:txBody>
          <a:bodyPr/>
          <a:lstStyle/>
          <a:p>
            <a:r>
              <a:rPr lang="en-US" dirty="0"/>
              <a:t>Creating Network Tenancy</a:t>
            </a:r>
          </a:p>
        </p:txBody>
      </p:sp>
      <p:sp>
        <p:nvSpPr>
          <p:cNvPr id="205" name="Text Placeholder 204">
            <a:extLst>
              <a:ext uri="{FF2B5EF4-FFF2-40B4-BE49-F238E27FC236}">
                <a16:creationId xmlns:a16="http://schemas.microsoft.com/office/drawing/2014/main" id="{F657BF71-E54F-F2C2-98BC-FCA88460628E}"/>
              </a:ext>
            </a:extLst>
          </p:cNvPr>
          <p:cNvSpPr>
            <a:spLocks noGrp="1"/>
          </p:cNvSpPr>
          <p:nvPr>
            <p:ph type="body" sz="quarter" idx="20"/>
          </p:nvPr>
        </p:nvSpPr>
        <p:spPr/>
        <p:txBody>
          <a:bodyPr/>
          <a:lstStyle/>
          <a:p>
            <a:r>
              <a:rPr lang="en-US" sz="1600" b="1" dirty="0"/>
              <a:t>Isolate workloads</a:t>
            </a:r>
            <a:r>
              <a:rPr lang="en-US" sz="1600" dirty="0"/>
              <a:t> for apps, teams, or stages of development with vSphere Namespaces</a:t>
            </a:r>
          </a:p>
          <a:p>
            <a:r>
              <a:rPr lang="en-US" sz="1600" dirty="0"/>
              <a:t>Configure </a:t>
            </a:r>
            <a:r>
              <a:rPr lang="en-US" sz="1600" b="1" dirty="0"/>
              <a:t>VM Classes</a:t>
            </a:r>
            <a:r>
              <a:rPr lang="en-US" sz="1600" dirty="0"/>
              <a:t> and </a:t>
            </a:r>
            <a:r>
              <a:rPr lang="en-US" sz="1600" b="1" dirty="0"/>
              <a:t>Content Libraries</a:t>
            </a:r>
          </a:p>
          <a:p>
            <a:r>
              <a:rPr lang="en-US" sz="1600" dirty="0"/>
              <a:t>VPC integration provides </a:t>
            </a:r>
            <a:r>
              <a:rPr lang="en-US" sz="1600" b="1" dirty="0"/>
              <a:t>Network Tenancy</a:t>
            </a:r>
            <a:r>
              <a:rPr lang="en-US" sz="1600" dirty="0"/>
              <a:t> at Namespace Level</a:t>
            </a:r>
          </a:p>
          <a:p>
            <a:endParaRPr lang="en-US" dirty="0"/>
          </a:p>
        </p:txBody>
      </p:sp>
      <p:sp>
        <p:nvSpPr>
          <p:cNvPr id="4" name="Google Shape;2832;p4">
            <a:extLst>
              <a:ext uri="{FF2B5EF4-FFF2-40B4-BE49-F238E27FC236}">
                <a16:creationId xmlns:a16="http://schemas.microsoft.com/office/drawing/2014/main" id="{91650CDC-7BAD-5288-7BD6-FD289FDF9F02}"/>
              </a:ext>
            </a:extLst>
          </p:cNvPr>
          <p:cNvSpPr/>
          <p:nvPr/>
        </p:nvSpPr>
        <p:spPr>
          <a:xfrm>
            <a:off x="6448508" y="5822167"/>
            <a:ext cx="5649336"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 name="Google Shape;2839;p4">
            <a:extLst>
              <a:ext uri="{FF2B5EF4-FFF2-40B4-BE49-F238E27FC236}">
                <a16:creationId xmlns:a16="http://schemas.microsoft.com/office/drawing/2014/main" id="{746CB528-62BE-129C-1577-97A7F4730D13}"/>
              </a:ext>
            </a:extLst>
          </p:cNvPr>
          <p:cNvSpPr/>
          <p:nvPr/>
        </p:nvSpPr>
        <p:spPr>
          <a:xfrm>
            <a:off x="6599415" y="5129612"/>
            <a:ext cx="5410200" cy="317647"/>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vSphere </a:t>
            </a:r>
            <a:b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b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Namespace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Google Shape;2923;p4">
            <a:extLst>
              <a:ext uri="{FF2B5EF4-FFF2-40B4-BE49-F238E27FC236}">
                <a16:creationId xmlns:a16="http://schemas.microsoft.com/office/drawing/2014/main" id="{1104AB97-6F6A-5B3B-C4ED-A53BFF3F6330}"/>
              </a:ext>
            </a:extLst>
          </p:cNvPr>
          <p:cNvSpPr/>
          <p:nvPr/>
        </p:nvSpPr>
        <p:spPr>
          <a:xfrm>
            <a:off x="6599415" y="5610921"/>
            <a:ext cx="5423615"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4" name="Google Shape;2924;p4">
            <a:extLst>
              <a:ext uri="{FF2B5EF4-FFF2-40B4-BE49-F238E27FC236}">
                <a16:creationId xmlns:a16="http://schemas.microsoft.com/office/drawing/2014/main" id="{6A46B261-DECD-349F-F4D1-0877ED7A98F8}"/>
              </a:ext>
            </a:extLst>
          </p:cNvPr>
          <p:cNvSpPr txBox="1"/>
          <p:nvPr/>
        </p:nvSpPr>
        <p:spPr>
          <a:xfrm>
            <a:off x="8877892" y="5714445"/>
            <a:ext cx="866659"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Arial"/>
                <a:cs typeface="Arial"/>
                <a:sym typeface="Arial"/>
              </a:rPr>
              <a:t>Supervisor</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6" name="Google Shape;2928;p4">
            <a:extLst>
              <a:ext uri="{FF2B5EF4-FFF2-40B4-BE49-F238E27FC236}">
                <a16:creationId xmlns:a16="http://schemas.microsoft.com/office/drawing/2014/main" id="{8ABC0F13-FCDD-6E00-F005-E430BB69B275}"/>
              </a:ext>
            </a:extLst>
          </p:cNvPr>
          <p:cNvSpPr/>
          <p:nvPr/>
        </p:nvSpPr>
        <p:spPr>
          <a:xfrm>
            <a:off x="6640661" y="5661067"/>
            <a:ext cx="1814370" cy="304750"/>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7" name="Google Shape;2929;p4">
            <a:extLst>
              <a:ext uri="{FF2B5EF4-FFF2-40B4-BE49-F238E27FC236}">
                <a16:creationId xmlns:a16="http://schemas.microsoft.com/office/drawing/2014/main" id="{0F6F7060-A072-128A-776F-C67A766FD884}"/>
              </a:ext>
            </a:extLst>
          </p:cNvPr>
          <p:cNvSpPr txBox="1"/>
          <p:nvPr/>
        </p:nvSpPr>
        <p:spPr>
          <a:xfrm>
            <a:off x="6965324" y="5719970"/>
            <a:ext cx="1438968" cy="179216"/>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Supervisor 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8" name="Google Shape;2930;p4">
            <a:extLst>
              <a:ext uri="{FF2B5EF4-FFF2-40B4-BE49-F238E27FC236}">
                <a16:creationId xmlns:a16="http://schemas.microsoft.com/office/drawing/2014/main" id="{84DB0000-74D1-3C0C-0566-5C0DFB9E24EE}"/>
              </a:ext>
            </a:extLst>
          </p:cNvPr>
          <p:cNvGrpSpPr/>
          <p:nvPr/>
        </p:nvGrpSpPr>
        <p:grpSpPr>
          <a:xfrm>
            <a:off x="6655205" y="5671788"/>
            <a:ext cx="288000" cy="288000"/>
            <a:chOff x="456349" y="4375620"/>
            <a:chExt cx="288000" cy="288000"/>
          </a:xfrm>
        </p:grpSpPr>
        <p:sp>
          <p:nvSpPr>
            <p:cNvPr id="19" name="Google Shape;2931;p4">
              <a:extLst>
                <a:ext uri="{FF2B5EF4-FFF2-40B4-BE49-F238E27FC236}">
                  <a16:creationId xmlns:a16="http://schemas.microsoft.com/office/drawing/2014/main" id="{CA41FCCE-4952-43C6-B884-1CCE613926B8}"/>
                </a:ext>
              </a:extLst>
            </p:cNvPr>
            <p:cNvSpPr/>
            <p:nvPr/>
          </p:nvSpPr>
          <p:spPr>
            <a:xfrm>
              <a:off x="456349" y="4375620"/>
              <a:ext cx="288000" cy="28800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 name="Google Shape;2932;p4">
              <a:extLst>
                <a:ext uri="{FF2B5EF4-FFF2-40B4-BE49-F238E27FC236}">
                  <a16:creationId xmlns:a16="http://schemas.microsoft.com/office/drawing/2014/main" id="{0D52FDEB-C50B-0E41-9A54-DFD9DC627CF2}"/>
                </a:ext>
              </a:extLst>
            </p:cNvPr>
            <p:cNvSpPr/>
            <p:nvPr/>
          </p:nvSpPr>
          <p:spPr>
            <a:xfrm>
              <a:off x="501068" y="4430830"/>
              <a:ext cx="204951" cy="180919"/>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1" name="Google Shape;2933;p4">
            <a:extLst>
              <a:ext uri="{FF2B5EF4-FFF2-40B4-BE49-F238E27FC236}">
                <a16:creationId xmlns:a16="http://schemas.microsoft.com/office/drawing/2014/main" id="{590FB7C3-90C2-64B2-2166-52B3DF08B08E}"/>
              </a:ext>
            </a:extLst>
          </p:cNvPr>
          <p:cNvGrpSpPr/>
          <p:nvPr/>
        </p:nvGrpSpPr>
        <p:grpSpPr>
          <a:xfrm>
            <a:off x="8634568" y="6229185"/>
            <a:ext cx="1344725" cy="216064"/>
            <a:chOff x="3604782" y="5211713"/>
            <a:chExt cx="1344725" cy="216064"/>
          </a:xfrm>
        </p:grpSpPr>
        <p:grpSp>
          <p:nvGrpSpPr>
            <p:cNvPr id="22" name="Google Shape;2934;p4">
              <a:extLst>
                <a:ext uri="{FF2B5EF4-FFF2-40B4-BE49-F238E27FC236}">
                  <a16:creationId xmlns:a16="http://schemas.microsoft.com/office/drawing/2014/main" id="{E5CB442D-336A-7D9B-1797-9137B4213B71}"/>
                </a:ext>
              </a:extLst>
            </p:cNvPr>
            <p:cNvGrpSpPr/>
            <p:nvPr/>
          </p:nvGrpSpPr>
          <p:grpSpPr>
            <a:xfrm>
              <a:off x="4468307" y="5211713"/>
              <a:ext cx="481200" cy="216000"/>
              <a:chOff x="9559097" y="5270063"/>
              <a:chExt cx="481200" cy="216000"/>
            </a:xfrm>
          </p:grpSpPr>
          <p:sp>
            <p:nvSpPr>
              <p:cNvPr id="32" name="Google Shape;2935;p4">
                <a:extLst>
                  <a:ext uri="{FF2B5EF4-FFF2-40B4-BE49-F238E27FC236}">
                    <a16:creationId xmlns:a16="http://schemas.microsoft.com/office/drawing/2014/main" id="{018E3B17-69B6-B20F-D04B-F377DB7CF1A0}"/>
                  </a:ext>
                </a:extLst>
              </p:cNvPr>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33" name="Google Shape;2936;p4">
                <a:extLst>
                  <a:ext uri="{FF2B5EF4-FFF2-40B4-BE49-F238E27FC236}">
                    <a16:creationId xmlns:a16="http://schemas.microsoft.com/office/drawing/2014/main" id="{A9524BAC-CA10-6FC1-1E91-8D4DAE29BD45}"/>
                  </a:ext>
                </a:extLst>
              </p:cNvPr>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3" name="Google Shape;2937;p4">
              <a:extLst>
                <a:ext uri="{FF2B5EF4-FFF2-40B4-BE49-F238E27FC236}">
                  <a16:creationId xmlns:a16="http://schemas.microsoft.com/office/drawing/2014/main" id="{29A83A83-CD01-6794-2DF4-CC42C02698DF}"/>
                </a:ext>
              </a:extLst>
            </p:cNvPr>
            <p:cNvGrpSpPr/>
            <p:nvPr/>
          </p:nvGrpSpPr>
          <p:grpSpPr>
            <a:xfrm>
              <a:off x="4059181" y="5211713"/>
              <a:ext cx="437400" cy="216000"/>
              <a:chOff x="9895949" y="1413332"/>
              <a:chExt cx="437400" cy="216000"/>
            </a:xfrm>
          </p:grpSpPr>
          <p:sp>
            <p:nvSpPr>
              <p:cNvPr id="30" name="Google Shape;2938;p4">
                <a:extLst>
                  <a:ext uri="{FF2B5EF4-FFF2-40B4-BE49-F238E27FC236}">
                    <a16:creationId xmlns:a16="http://schemas.microsoft.com/office/drawing/2014/main" id="{D0869857-61D5-EC2A-DDF0-872CCE7A2691}"/>
                  </a:ext>
                </a:extLst>
              </p:cNvPr>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31" name="Google Shape;2939;p4">
                <a:extLst>
                  <a:ext uri="{FF2B5EF4-FFF2-40B4-BE49-F238E27FC236}">
                    <a16:creationId xmlns:a16="http://schemas.microsoft.com/office/drawing/2014/main" id="{482F880A-6C40-D3E3-9826-E8E1C85FDD8A}"/>
                  </a:ext>
                </a:extLst>
              </p:cNvPr>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4" name="Google Shape;2940;p4">
              <a:extLst>
                <a:ext uri="{FF2B5EF4-FFF2-40B4-BE49-F238E27FC236}">
                  <a16:creationId xmlns:a16="http://schemas.microsoft.com/office/drawing/2014/main" id="{B46C1198-3706-7859-3853-797D6BB268AC}"/>
                </a:ext>
              </a:extLst>
            </p:cNvPr>
            <p:cNvGrpSpPr/>
            <p:nvPr/>
          </p:nvGrpSpPr>
          <p:grpSpPr>
            <a:xfrm>
              <a:off x="3604782" y="5211777"/>
              <a:ext cx="481200" cy="216000"/>
              <a:chOff x="8526343" y="2145622"/>
              <a:chExt cx="481200" cy="216000"/>
            </a:xfrm>
          </p:grpSpPr>
          <p:sp>
            <p:nvSpPr>
              <p:cNvPr id="25" name="Google Shape;2941;p4">
                <a:extLst>
                  <a:ext uri="{FF2B5EF4-FFF2-40B4-BE49-F238E27FC236}">
                    <a16:creationId xmlns:a16="http://schemas.microsoft.com/office/drawing/2014/main" id="{692E2E14-042B-D23F-EBE3-5887FBC821FE}"/>
                  </a:ext>
                </a:extLst>
              </p:cNvPr>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nvGrpSpPr>
              <p:cNvPr id="26" name="Google Shape;2942;p4">
                <a:extLst>
                  <a:ext uri="{FF2B5EF4-FFF2-40B4-BE49-F238E27FC236}">
                    <a16:creationId xmlns:a16="http://schemas.microsoft.com/office/drawing/2014/main" id="{BE0561A9-048D-3110-C52A-003725648FAD}"/>
                  </a:ext>
                </a:extLst>
              </p:cNvPr>
              <p:cNvGrpSpPr/>
              <p:nvPr/>
            </p:nvGrpSpPr>
            <p:grpSpPr>
              <a:xfrm>
                <a:off x="8658941" y="2145622"/>
                <a:ext cx="216005" cy="216000"/>
                <a:chOff x="3822556" y="5087301"/>
                <a:chExt cx="611339" cy="557273"/>
              </a:xfrm>
            </p:grpSpPr>
            <p:sp>
              <p:nvSpPr>
                <p:cNvPr id="27" name="Google Shape;2943;p4">
                  <a:extLst>
                    <a:ext uri="{FF2B5EF4-FFF2-40B4-BE49-F238E27FC236}">
                      <a16:creationId xmlns:a16="http://schemas.microsoft.com/office/drawing/2014/main" id="{D58D2D7C-C365-9095-F1F7-E4F32CB8AF03}"/>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8" name="Google Shape;2944;p4">
                  <a:extLst>
                    <a:ext uri="{FF2B5EF4-FFF2-40B4-BE49-F238E27FC236}">
                      <a16:creationId xmlns:a16="http://schemas.microsoft.com/office/drawing/2014/main" id="{65D87EDE-231B-B704-9FF8-BC6743DD8106}"/>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9" name="Google Shape;2945;p4">
                  <a:extLst>
                    <a:ext uri="{FF2B5EF4-FFF2-40B4-BE49-F238E27FC236}">
                      <a16:creationId xmlns:a16="http://schemas.microsoft.com/office/drawing/2014/main" id="{6FD76A35-9DC2-D4E7-88B0-EAE4FE447FFC}"/>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34" name="Google Shape;3420;p8">
            <a:extLst>
              <a:ext uri="{FF2B5EF4-FFF2-40B4-BE49-F238E27FC236}">
                <a16:creationId xmlns:a16="http://schemas.microsoft.com/office/drawing/2014/main" id="{A6D65EA7-B09B-8260-246D-FC9965A09008}"/>
              </a:ext>
            </a:extLst>
          </p:cNvPr>
          <p:cNvGrpSpPr/>
          <p:nvPr/>
        </p:nvGrpSpPr>
        <p:grpSpPr>
          <a:xfrm>
            <a:off x="6640661" y="5166378"/>
            <a:ext cx="259961" cy="252000"/>
            <a:chOff x="6844091" y="3272403"/>
            <a:chExt cx="600837" cy="600837"/>
          </a:xfrm>
        </p:grpSpPr>
        <p:grpSp>
          <p:nvGrpSpPr>
            <p:cNvPr id="35" name="Google Shape;3421;p8" descr="Router&#10;">
              <a:extLst>
                <a:ext uri="{FF2B5EF4-FFF2-40B4-BE49-F238E27FC236}">
                  <a16:creationId xmlns:a16="http://schemas.microsoft.com/office/drawing/2014/main" id="{35F35962-4512-95F6-0059-6048AB78C977}"/>
                </a:ext>
              </a:extLst>
            </p:cNvPr>
            <p:cNvGrpSpPr/>
            <p:nvPr/>
          </p:nvGrpSpPr>
          <p:grpSpPr>
            <a:xfrm>
              <a:off x="6844091" y="3272403"/>
              <a:ext cx="600837" cy="600837"/>
              <a:chOff x="529959" y="1943518"/>
              <a:chExt cx="600837" cy="600837"/>
            </a:xfrm>
          </p:grpSpPr>
          <p:sp>
            <p:nvSpPr>
              <p:cNvPr id="38" name="Google Shape;3422;p8">
                <a:extLst>
                  <a:ext uri="{FF2B5EF4-FFF2-40B4-BE49-F238E27FC236}">
                    <a16:creationId xmlns:a16="http://schemas.microsoft.com/office/drawing/2014/main" id="{13C87E1D-A23E-69BD-7E5F-639829895B60}"/>
                  </a:ext>
                </a:extLst>
              </p:cNvPr>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9" name="Google Shape;3423;p8">
                <a:extLst>
                  <a:ext uri="{FF2B5EF4-FFF2-40B4-BE49-F238E27FC236}">
                    <a16:creationId xmlns:a16="http://schemas.microsoft.com/office/drawing/2014/main" id="{82B44DD5-3AEA-55E6-150C-010EA8670CE6}"/>
                  </a:ext>
                </a:extLst>
              </p:cNvPr>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0" name="Google Shape;3424;p8">
                <a:extLst>
                  <a:ext uri="{FF2B5EF4-FFF2-40B4-BE49-F238E27FC236}">
                    <a16:creationId xmlns:a16="http://schemas.microsoft.com/office/drawing/2014/main" id="{D421FC21-6CED-4CB6-A52F-0158D4CE8BCB}"/>
                  </a:ext>
                </a:extLst>
              </p:cNvPr>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36" name="Google Shape;3425;p8">
              <a:extLst>
                <a:ext uri="{FF2B5EF4-FFF2-40B4-BE49-F238E27FC236}">
                  <a16:creationId xmlns:a16="http://schemas.microsoft.com/office/drawing/2014/main" id="{A47FA053-6C6F-6B10-593E-3A260CB833E7}"/>
                </a:ext>
              </a:extLst>
            </p:cNvPr>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7" name="Google Shape;3426;p8">
              <a:extLst>
                <a:ext uri="{FF2B5EF4-FFF2-40B4-BE49-F238E27FC236}">
                  <a16:creationId xmlns:a16="http://schemas.microsoft.com/office/drawing/2014/main" id="{0B971DB2-3B0A-3486-0555-1DE955E80566}"/>
                </a:ext>
              </a:extLst>
            </p:cNvPr>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pic>
        <p:nvPicPr>
          <p:cNvPr id="49" name="Picture 48">
            <a:extLst>
              <a:ext uri="{FF2B5EF4-FFF2-40B4-BE49-F238E27FC236}">
                <a16:creationId xmlns:a16="http://schemas.microsoft.com/office/drawing/2014/main" id="{3BDFE731-6FF1-1EB3-E076-E1C52FAA3442}"/>
              </a:ext>
            </a:extLst>
          </p:cNvPr>
          <p:cNvPicPr>
            <a:picLocks noChangeAspect="1"/>
          </p:cNvPicPr>
          <p:nvPr/>
        </p:nvPicPr>
        <p:blipFill>
          <a:blip r:embed="rId3"/>
          <a:stretch>
            <a:fillRect/>
          </a:stretch>
        </p:blipFill>
        <p:spPr>
          <a:xfrm>
            <a:off x="6571306" y="1840166"/>
            <a:ext cx="5403739" cy="3029842"/>
          </a:xfrm>
          <a:prstGeom prst="rect">
            <a:avLst/>
          </a:prstGeom>
          <a:effectLst>
            <a:outerShdw blurRad="50800" dist="38100" dir="2700000" algn="tl" rotWithShape="0">
              <a:prstClr val="black">
                <a:alpha val="40000"/>
              </a:prstClr>
            </a:outerShdw>
          </a:effectLst>
        </p:spPr>
      </p:pic>
      <p:sp>
        <p:nvSpPr>
          <p:cNvPr id="51" name="Google Shape;1556;p2">
            <a:extLst>
              <a:ext uri="{FF2B5EF4-FFF2-40B4-BE49-F238E27FC236}">
                <a16:creationId xmlns:a16="http://schemas.microsoft.com/office/drawing/2014/main" id="{8B5D3839-4179-0B08-259F-08E0BB9176E1}"/>
              </a:ext>
            </a:extLst>
          </p:cNvPr>
          <p:cNvSpPr/>
          <p:nvPr/>
        </p:nvSpPr>
        <p:spPr>
          <a:xfrm>
            <a:off x="3623896" y="2607363"/>
            <a:ext cx="2327955" cy="2189761"/>
          </a:xfrm>
          <a:prstGeom prst="roundRect">
            <a:avLst>
              <a:gd name="adj" fmla="val 9132"/>
            </a:avLst>
          </a:prstGeom>
          <a:solidFill>
            <a:schemeClr val="bg1"/>
          </a:solidFill>
          <a:ln w="12700" cap="flat" cmpd="sng">
            <a:solidFill>
              <a:schemeClr val="accent1"/>
            </a:solidFill>
            <a:prstDash val="sysDot"/>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4" name="Rectangle: Rounded Corners 82">
            <a:extLst>
              <a:ext uri="{FF2B5EF4-FFF2-40B4-BE49-F238E27FC236}">
                <a16:creationId xmlns:a16="http://schemas.microsoft.com/office/drawing/2014/main" id="{F96D7472-CEB0-2817-3005-EFBB4F911009}"/>
              </a:ext>
            </a:extLst>
          </p:cNvPr>
          <p:cNvSpPr/>
          <p:nvPr/>
        </p:nvSpPr>
        <p:spPr>
          <a:xfrm>
            <a:off x="3787970" y="4172182"/>
            <a:ext cx="1992620" cy="135399"/>
          </a:xfrm>
          <a:prstGeom prst="roundRect">
            <a:avLst/>
          </a:prstGeom>
          <a:solidFill>
            <a:schemeClr val="accent1"/>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PrivateTGW Subnet</a:t>
            </a:r>
          </a:p>
        </p:txBody>
      </p:sp>
      <p:sp>
        <p:nvSpPr>
          <p:cNvPr id="55" name="Rectangle: Rounded Corners 82">
            <a:extLst>
              <a:ext uri="{FF2B5EF4-FFF2-40B4-BE49-F238E27FC236}">
                <a16:creationId xmlns:a16="http://schemas.microsoft.com/office/drawing/2014/main" id="{B5C9CB21-4187-2B7F-8B0D-3DB1B4A8595C}"/>
              </a:ext>
            </a:extLst>
          </p:cNvPr>
          <p:cNvSpPr/>
          <p:nvPr/>
        </p:nvSpPr>
        <p:spPr>
          <a:xfrm>
            <a:off x="3787970" y="3573901"/>
            <a:ext cx="1992620" cy="135399"/>
          </a:xfrm>
          <a:prstGeom prst="roundRect">
            <a:avLst/>
          </a:prstGeom>
          <a:solidFill>
            <a:schemeClr val="accent2"/>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External Subnet</a:t>
            </a:r>
          </a:p>
        </p:txBody>
      </p:sp>
      <p:sp>
        <p:nvSpPr>
          <p:cNvPr id="56" name="Rectangle: Rounded Corners 82">
            <a:extLst>
              <a:ext uri="{FF2B5EF4-FFF2-40B4-BE49-F238E27FC236}">
                <a16:creationId xmlns:a16="http://schemas.microsoft.com/office/drawing/2014/main" id="{5FBFAE6A-669E-0AC9-F31F-7CA795027ED1}"/>
              </a:ext>
            </a:extLst>
          </p:cNvPr>
          <p:cNvSpPr/>
          <p:nvPr/>
        </p:nvSpPr>
        <p:spPr>
          <a:xfrm>
            <a:off x="3789246" y="2973547"/>
            <a:ext cx="1992620" cy="135399"/>
          </a:xfrm>
          <a:prstGeom prst="roundRect">
            <a:avLst/>
          </a:prstGeom>
          <a:solidFill>
            <a:schemeClr val="accent5"/>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Private Subnet</a:t>
            </a:r>
          </a:p>
        </p:txBody>
      </p:sp>
      <p:sp>
        <p:nvSpPr>
          <p:cNvPr id="199" name="Rectangle: Rounded Corners 44">
            <a:extLst>
              <a:ext uri="{FF2B5EF4-FFF2-40B4-BE49-F238E27FC236}">
                <a16:creationId xmlns:a16="http://schemas.microsoft.com/office/drawing/2014/main" id="{EA52DE1C-ABE0-0346-3520-75706B671E6E}"/>
              </a:ext>
            </a:extLst>
          </p:cNvPr>
          <p:cNvSpPr/>
          <p:nvPr/>
        </p:nvSpPr>
        <p:spPr>
          <a:xfrm>
            <a:off x="3371063" y="2144481"/>
            <a:ext cx="2894013" cy="2730142"/>
          </a:xfrm>
          <a:prstGeom prst="roundRect">
            <a:avLst>
              <a:gd name="adj" fmla="val 3683"/>
            </a:avLst>
          </a:pr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rgbClr val="005C8A"/>
                </a:solidFill>
                <a:effectLst/>
                <a:uLnTx/>
                <a:uFillTx/>
                <a:latin typeface="Metropolis Semi Bold" panose="00000700000000000000" pitchFamily="2" charset="0"/>
                <a:ea typeface="+mn-ea"/>
                <a:cs typeface="+mn-cs"/>
              </a:rPr>
              <a:t> </a:t>
            </a:r>
          </a:p>
        </p:txBody>
      </p:sp>
      <p:sp>
        <p:nvSpPr>
          <p:cNvPr id="201" name="Rounded Rectangle 200">
            <a:extLst>
              <a:ext uri="{FF2B5EF4-FFF2-40B4-BE49-F238E27FC236}">
                <a16:creationId xmlns:a16="http://schemas.microsoft.com/office/drawing/2014/main" id="{DF58CF1E-450B-9FC6-1F3D-76EB6C63309C}"/>
              </a:ext>
            </a:extLst>
          </p:cNvPr>
          <p:cNvSpPr/>
          <p:nvPr/>
        </p:nvSpPr>
        <p:spPr bwMode="gray">
          <a:xfrm>
            <a:off x="4122900" y="2015490"/>
            <a:ext cx="1466510" cy="250721"/>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NSX Project</a:t>
            </a:r>
          </a:p>
        </p:txBody>
      </p:sp>
      <p:sp>
        <p:nvSpPr>
          <p:cNvPr id="202" name="Rounded Rectangle 201">
            <a:extLst>
              <a:ext uri="{FF2B5EF4-FFF2-40B4-BE49-F238E27FC236}">
                <a16:creationId xmlns:a16="http://schemas.microsoft.com/office/drawing/2014/main" id="{F16F6BD3-486E-53B4-5A2C-D1AEECDB4D34}"/>
              </a:ext>
            </a:extLst>
          </p:cNvPr>
          <p:cNvSpPr/>
          <p:nvPr/>
        </p:nvSpPr>
        <p:spPr bwMode="gray">
          <a:xfrm>
            <a:off x="3902998" y="2501353"/>
            <a:ext cx="1765093" cy="250721"/>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namespace-1 VPC</a:t>
            </a:r>
          </a:p>
        </p:txBody>
      </p:sp>
      <p:cxnSp>
        <p:nvCxnSpPr>
          <p:cNvPr id="209" name="Elbow Connector 208">
            <a:extLst>
              <a:ext uri="{FF2B5EF4-FFF2-40B4-BE49-F238E27FC236}">
                <a16:creationId xmlns:a16="http://schemas.microsoft.com/office/drawing/2014/main" id="{16A3F959-2C1F-CAEA-E258-D4B1CE014BC9}"/>
              </a:ext>
            </a:extLst>
          </p:cNvPr>
          <p:cNvCxnSpPr>
            <a:cxnSpLocks/>
            <a:stCxn id="51" idx="2"/>
            <a:endCxn id="8" idx="1"/>
          </p:cNvCxnSpPr>
          <p:nvPr/>
        </p:nvCxnSpPr>
        <p:spPr bwMode="gray">
          <a:xfrm rot="16200000" flipH="1">
            <a:off x="5447988" y="4137009"/>
            <a:ext cx="491312" cy="1811541"/>
          </a:xfrm>
          <a:prstGeom prst="bentConnector2">
            <a:avLst/>
          </a:prstGeom>
          <a:ln w="12700">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6" name="Picture Placeholder 104" descr="Virtual Machine&#10;">
            <a:extLst>
              <a:ext uri="{FF2B5EF4-FFF2-40B4-BE49-F238E27FC236}">
                <a16:creationId xmlns:a16="http://schemas.microsoft.com/office/drawing/2014/main" id="{5DF4A940-323A-1C5F-ED1D-EC62576DBC1A}"/>
              </a:ext>
            </a:extLst>
          </p:cNvPr>
          <p:cNvGrpSpPr>
            <a:grpSpLocks noChangeAspect="1"/>
          </p:cNvGrpSpPr>
          <p:nvPr/>
        </p:nvGrpSpPr>
        <p:grpSpPr>
          <a:xfrm>
            <a:off x="4122900" y="3233203"/>
            <a:ext cx="215999" cy="216000"/>
            <a:chOff x="5798589" y="1951740"/>
            <a:chExt cx="600836" cy="600837"/>
          </a:xfrm>
          <a:solidFill>
            <a:schemeClr val="accent2"/>
          </a:solidFill>
        </p:grpSpPr>
        <p:sp>
          <p:nvSpPr>
            <p:cNvPr id="7" name="Picture Placeholder 104">
              <a:extLst>
                <a:ext uri="{FF2B5EF4-FFF2-40B4-BE49-F238E27FC236}">
                  <a16:creationId xmlns:a16="http://schemas.microsoft.com/office/drawing/2014/main" id="{78D58396-5380-AA60-DF22-52D5E597DE62}"/>
                </a:ext>
              </a:extLst>
            </p:cNvPr>
            <p:cNvSpPr/>
            <p:nvPr/>
          </p:nvSpPr>
          <p:spPr>
            <a:xfrm>
              <a:off x="5798589" y="1951740"/>
              <a:ext cx="600836" cy="600837"/>
            </a:xfrm>
            <a:custGeom>
              <a:avLst/>
              <a:gdLst>
                <a:gd name="connsiteX0" fmla="*/ 514822 w 600836"/>
                <a:gd name="connsiteY0" fmla="*/ 600837 h 600837"/>
                <a:gd name="connsiteX1" fmla="*/ 0 w 600836"/>
                <a:gd name="connsiteY1" fmla="*/ 600837 h 600837"/>
                <a:gd name="connsiteX2" fmla="*/ 0 w 600836"/>
                <a:gd name="connsiteY2" fmla="*/ 0 h 600837"/>
                <a:gd name="connsiteX3" fmla="*/ 600837 w 600836"/>
                <a:gd name="connsiteY3" fmla="*/ 0 h 600837"/>
                <a:gd name="connsiteX4" fmla="*/ 600837 w 600836"/>
                <a:gd name="connsiteY4" fmla="*/ 595777 h 600837"/>
                <a:gd name="connsiteX5" fmla="*/ 585026 w 600836"/>
                <a:gd name="connsiteY5" fmla="*/ 595777 h 600837"/>
                <a:gd name="connsiteX6" fmla="*/ 585026 w 600836"/>
                <a:gd name="connsiteY6" fmla="*/ 15812 h 600837"/>
                <a:gd name="connsiteX7" fmla="*/ 15812 w 600836"/>
                <a:gd name="connsiteY7" fmla="*/ 15812 h 600837"/>
                <a:gd name="connsiteX8" fmla="*/ 15812 w 600836"/>
                <a:gd name="connsiteY8" fmla="*/ 585026 h 600837"/>
                <a:gd name="connsiteX9" fmla="*/ 514822 w 600836"/>
                <a:gd name="connsiteY9"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6" h="600837">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9" name="Picture Placeholder 104">
              <a:extLst>
                <a:ext uri="{FF2B5EF4-FFF2-40B4-BE49-F238E27FC236}">
                  <a16:creationId xmlns:a16="http://schemas.microsoft.com/office/drawing/2014/main" id="{B639D927-82E0-B33C-0331-29DD2F65916B}"/>
                </a:ext>
              </a:extLst>
            </p:cNvPr>
            <p:cNvGrpSpPr/>
            <p:nvPr/>
          </p:nvGrpSpPr>
          <p:grpSpPr>
            <a:xfrm>
              <a:off x="5978207" y="2214844"/>
              <a:ext cx="220728" cy="84117"/>
              <a:chOff x="5978207" y="2214844"/>
              <a:chExt cx="220728" cy="84117"/>
            </a:xfrm>
            <a:solidFill>
              <a:schemeClr val="accent2"/>
            </a:solidFill>
          </p:grpSpPr>
          <p:sp>
            <p:nvSpPr>
              <p:cNvPr id="10" name="Picture Placeholder 104">
                <a:extLst>
                  <a:ext uri="{FF2B5EF4-FFF2-40B4-BE49-F238E27FC236}">
                    <a16:creationId xmlns:a16="http://schemas.microsoft.com/office/drawing/2014/main" id="{5CCCE4B6-DDE8-6DDF-6586-FB23A94DAE2A}"/>
                  </a:ext>
                </a:extLst>
              </p:cNvPr>
              <p:cNvSpPr/>
              <p:nvPr/>
            </p:nvSpPr>
            <p:spPr>
              <a:xfrm>
                <a:off x="5978207" y="2216741"/>
                <a:ext cx="80322" cy="81587"/>
              </a:xfrm>
              <a:custGeom>
                <a:avLst/>
                <a:gdLst>
                  <a:gd name="connsiteX0" fmla="*/ 0 w 80322"/>
                  <a:gd name="connsiteY0" fmla="*/ 0 h 81587"/>
                  <a:gd name="connsiteX1" fmla="*/ 13282 w 80322"/>
                  <a:gd name="connsiteY1" fmla="*/ 0 h 81587"/>
                  <a:gd name="connsiteX2" fmla="*/ 40477 w 80322"/>
                  <a:gd name="connsiteY2" fmla="*/ 67673 h 81587"/>
                  <a:gd name="connsiteX3" fmla="*/ 67041 w 80322"/>
                  <a:gd name="connsiteY3" fmla="*/ 0 h 81587"/>
                  <a:gd name="connsiteX4" fmla="*/ 80322 w 80322"/>
                  <a:gd name="connsiteY4" fmla="*/ 0 h 81587"/>
                  <a:gd name="connsiteX5" fmla="*/ 46170 w 80322"/>
                  <a:gd name="connsiteY5" fmla="*/ 81587 h 81587"/>
                  <a:gd name="connsiteX6" fmla="*/ 34785 w 80322"/>
                  <a:gd name="connsiteY6" fmla="*/ 81587 h 81587"/>
                  <a:gd name="connsiteX7" fmla="*/ 0 w 80322"/>
                  <a:gd name="connsiteY7" fmla="*/ 0 h 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322" h="81587">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 name="Picture Placeholder 104">
                <a:extLst>
                  <a:ext uri="{FF2B5EF4-FFF2-40B4-BE49-F238E27FC236}">
                    <a16:creationId xmlns:a16="http://schemas.microsoft.com/office/drawing/2014/main" id="{8F2221C6-FF98-E885-377F-F56F40F85D5C}"/>
                  </a:ext>
                </a:extLst>
              </p:cNvPr>
              <p:cNvSpPr/>
              <p:nvPr/>
            </p:nvSpPr>
            <p:spPr>
              <a:xfrm>
                <a:off x="6081931" y="2214844"/>
                <a:ext cx="117005" cy="84117"/>
              </a:xfrm>
              <a:custGeom>
                <a:avLst/>
                <a:gdLst>
                  <a:gd name="connsiteX0" fmla="*/ 103091 w 117005"/>
                  <a:gd name="connsiteY0" fmla="*/ 4427 h 84117"/>
                  <a:gd name="connsiteX1" fmla="*/ 113210 w 117005"/>
                  <a:gd name="connsiteY1" fmla="*/ 15812 h 84117"/>
                  <a:gd name="connsiteX2" fmla="*/ 117005 w 117005"/>
                  <a:gd name="connsiteY2" fmla="*/ 32255 h 84117"/>
                  <a:gd name="connsiteX3" fmla="*/ 117005 w 117005"/>
                  <a:gd name="connsiteY3" fmla="*/ 84117 h 84117"/>
                  <a:gd name="connsiteX4" fmla="*/ 104988 w 117005"/>
                  <a:gd name="connsiteY4" fmla="*/ 84117 h 84117"/>
                  <a:gd name="connsiteX5" fmla="*/ 104988 w 117005"/>
                  <a:gd name="connsiteY5" fmla="*/ 33520 h 84117"/>
                  <a:gd name="connsiteX6" fmla="*/ 99929 w 117005"/>
                  <a:gd name="connsiteY6" fmla="*/ 17076 h 84117"/>
                  <a:gd name="connsiteX7" fmla="*/ 86647 w 117005"/>
                  <a:gd name="connsiteY7" fmla="*/ 10752 h 84117"/>
                  <a:gd name="connsiteX8" fmla="*/ 70836 w 117005"/>
                  <a:gd name="connsiteY8" fmla="*/ 16444 h 84117"/>
                  <a:gd name="connsiteX9" fmla="*/ 64511 w 117005"/>
                  <a:gd name="connsiteY9" fmla="*/ 31623 h 84117"/>
                  <a:gd name="connsiteX10" fmla="*/ 64511 w 117005"/>
                  <a:gd name="connsiteY10" fmla="*/ 83485 h 84117"/>
                  <a:gd name="connsiteX11" fmla="*/ 52494 w 117005"/>
                  <a:gd name="connsiteY11" fmla="*/ 83485 h 84117"/>
                  <a:gd name="connsiteX12" fmla="*/ 52494 w 117005"/>
                  <a:gd name="connsiteY12" fmla="*/ 32888 h 84117"/>
                  <a:gd name="connsiteX13" fmla="*/ 47435 w 117005"/>
                  <a:gd name="connsiteY13" fmla="*/ 16444 h 84117"/>
                  <a:gd name="connsiteX14" fmla="*/ 34153 w 117005"/>
                  <a:gd name="connsiteY14" fmla="*/ 10119 h 84117"/>
                  <a:gd name="connsiteX15" fmla="*/ 18341 w 117005"/>
                  <a:gd name="connsiteY15" fmla="*/ 15812 h 84117"/>
                  <a:gd name="connsiteX16" fmla="*/ 12017 w 117005"/>
                  <a:gd name="connsiteY16" fmla="*/ 30991 h 84117"/>
                  <a:gd name="connsiteX17" fmla="*/ 12017 w 117005"/>
                  <a:gd name="connsiteY17" fmla="*/ 82852 h 84117"/>
                  <a:gd name="connsiteX18" fmla="*/ 0 w 117005"/>
                  <a:gd name="connsiteY18" fmla="*/ 82852 h 84117"/>
                  <a:gd name="connsiteX19" fmla="*/ 0 w 117005"/>
                  <a:gd name="connsiteY19" fmla="*/ 1897 h 84117"/>
                  <a:gd name="connsiteX20" fmla="*/ 12017 w 117005"/>
                  <a:gd name="connsiteY20" fmla="*/ 1897 h 84117"/>
                  <a:gd name="connsiteX21" fmla="*/ 12017 w 117005"/>
                  <a:gd name="connsiteY21" fmla="*/ 13914 h 84117"/>
                  <a:gd name="connsiteX22" fmla="*/ 21504 w 117005"/>
                  <a:gd name="connsiteY22" fmla="*/ 3795 h 84117"/>
                  <a:gd name="connsiteX23" fmla="*/ 36050 w 117005"/>
                  <a:gd name="connsiteY23" fmla="*/ 0 h 84117"/>
                  <a:gd name="connsiteX24" fmla="*/ 53127 w 117005"/>
                  <a:gd name="connsiteY24" fmla="*/ 5060 h 84117"/>
                  <a:gd name="connsiteX25" fmla="*/ 63246 w 117005"/>
                  <a:gd name="connsiteY25" fmla="*/ 18974 h 84117"/>
                  <a:gd name="connsiteX26" fmla="*/ 72100 w 117005"/>
                  <a:gd name="connsiteY26" fmla="*/ 5060 h 84117"/>
                  <a:gd name="connsiteX27" fmla="*/ 88544 w 117005"/>
                  <a:gd name="connsiteY27" fmla="*/ 0 h 84117"/>
                  <a:gd name="connsiteX28" fmla="*/ 103091 w 117005"/>
                  <a:gd name="connsiteY28" fmla="*/ 4427 h 8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05" h="84117">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nvGrpSpPr>
          <p:cNvPr id="12" name="Picture Placeholder 104" descr="Virtual Machine&#10;">
            <a:extLst>
              <a:ext uri="{FF2B5EF4-FFF2-40B4-BE49-F238E27FC236}">
                <a16:creationId xmlns:a16="http://schemas.microsoft.com/office/drawing/2014/main" id="{BB518727-EA81-ED57-8DFB-E9C486576837}"/>
              </a:ext>
            </a:extLst>
          </p:cNvPr>
          <p:cNvGrpSpPr>
            <a:grpSpLocks noChangeAspect="1"/>
          </p:cNvGrpSpPr>
          <p:nvPr/>
        </p:nvGrpSpPr>
        <p:grpSpPr>
          <a:xfrm>
            <a:off x="4419223" y="3233203"/>
            <a:ext cx="215999" cy="216000"/>
            <a:chOff x="5798589" y="1951740"/>
            <a:chExt cx="600836" cy="600837"/>
          </a:xfrm>
          <a:solidFill>
            <a:schemeClr val="accent2"/>
          </a:solidFill>
        </p:grpSpPr>
        <p:sp>
          <p:nvSpPr>
            <p:cNvPr id="15" name="Picture Placeholder 104">
              <a:extLst>
                <a:ext uri="{FF2B5EF4-FFF2-40B4-BE49-F238E27FC236}">
                  <a16:creationId xmlns:a16="http://schemas.microsoft.com/office/drawing/2014/main" id="{614B5119-1051-3FC2-1795-43D9F3AFE483}"/>
                </a:ext>
              </a:extLst>
            </p:cNvPr>
            <p:cNvSpPr/>
            <p:nvPr/>
          </p:nvSpPr>
          <p:spPr>
            <a:xfrm>
              <a:off x="5798589" y="1951740"/>
              <a:ext cx="600836" cy="600837"/>
            </a:xfrm>
            <a:custGeom>
              <a:avLst/>
              <a:gdLst>
                <a:gd name="connsiteX0" fmla="*/ 514822 w 600836"/>
                <a:gd name="connsiteY0" fmla="*/ 600837 h 600837"/>
                <a:gd name="connsiteX1" fmla="*/ 0 w 600836"/>
                <a:gd name="connsiteY1" fmla="*/ 600837 h 600837"/>
                <a:gd name="connsiteX2" fmla="*/ 0 w 600836"/>
                <a:gd name="connsiteY2" fmla="*/ 0 h 600837"/>
                <a:gd name="connsiteX3" fmla="*/ 600837 w 600836"/>
                <a:gd name="connsiteY3" fmla="*/ 0 h 600837"/>
                <a:gd name="connsiteX4" fmla="*/ 600837 w 600836"/>
                <a:gd name="connsiteY4" fmla="*/ 595777 h 600837"/>
                <a:gd name="connsiteX5" fmla="*/ 585026 w 600836"/>
                <a:gd name="connsiteY5" fmla="*/ 595777 h 600837"/>
                <a:gd name="connsiteX6" fmla="*/ 585026 w 600836"/>
                <a:gd name="connsiteY6" fmla="*/ 15812 h 600837"/>
                <a:gd name="connsiteX7" fmla="*/ 15812 w 600836"/>
                <a:gd name="connsiteY7" fmla="*/ 15812 h 600837"/>
                <a:gd name="connsiteX8" fmla="*/ 15812 w 600836"/>
                <a:gd name="connsiteY8" fmla="*/ 585026 h 600837"/>
                <a:gd name="connsiteX9" fmla="*/ 514822 w 600836"/>
                <a:gd name="connsiteY9"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6" h="600837">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41" name="Picture Placeholder 104">
              <a:extLst>
                <a:ext uri="{FF2B5EF4-FFF2-40B4-BE49-F238E27FC236}">
                  <a16:creationId xmlns:a16="http://schemas.microsoft.com/office/drawing/2014/main" id="{3796739A-978F-D296-E92E-C8FA551EE407}"/>
                </a:ext>
              </a:extLst>
            </p:cNvPr>
            <p:cNvGrpSpPr/>
            <p:nvPr/>
          </p:nvGrpSpPr>
          <p:grpSpPr>
            <a:xfrm>
              <a:off x="5978207" y="2214844"/>
              <a:ext cx="220728" cy="84117"/>
              <a:chOff x="5978207" y="2214844"/>
              <a:chExt cx="220728" cy="84117"/>
            </a:xfrm>
            <a:solidFill>
              <a:schemeClr val="accent2"/>
            </a:solidFill>
          </p:grpSpPr>
          <p:sp>
            <p:nvSpPr>
              <p:cNvPr id="42" name="Picture Placeholder 104">
                <a:extLst>
                  <a:ext uri="{FF2B5EF4-FFF2-40B4-BE49-F238E27FC236}">
                    <a16:creationId xmlns:a16="http://schemas.microsoft.com/office/drawing/2014/main" id="{623CD9D5-3AC3-1C12-A83B-97D1403DC68D}"/>
                  </a:ext>
                </a:extLst>
              </p:cNvPr>
              <p:cNvSpPr/>
              <p:nvPr/>
            </p:nvSpPr>
            <p:spPr>
              <a:xfrm>
                <a:off x="5978207" y="2216741"/>
                <a:ext cx="80322" cy="81587"/>
              </a:xfrm>
              <a:custGeom>
                <a:avLst/>
                <a:gdLst>
                  <a:gd name="connsiteX0" fmla="*/ 0 w 80322"/>
                  <a:gd name="connsiteY0" fmla="*/ 0 h 81587"/>
                  <a:gd name="connsiteX1" fmla="*/ 13282 w 80322"/>
                  <a:gd name="connsiteY1" fmla="*/ 0 h 81587"/>
                  <a:gd name="connsiteX2" fmla="*/ 40477 w 80322"/>
                  <a:gd name="connsiteY2" fmla="*/ 67673 h 81587"/>
                  <a:gd name="connsiteX3" fmla="*/ 67041 w 80322"/>
                  <a:gd name="connsiteY3" fmla="*/ 0 h 81587"/>
                  <a:gd name="connsiteX4" fmla="*/ 80322 w 80322"/>
                  <a:gd name="connsiteY4" fmla="*/ 0 h 81587"/>
                  <a:gd name="connsiteX5" fmla="*/ 46170 w 80322"/>
                  <a:gd name="connsiteY5" fmla="*/ 81587 h 81587"/>
                  <a:gd name="connsiteX6" fmla="*/ 34785 w 80322"/>
                  <a:gd name="connsiteY6" fmla="*/ 81587 h 81587"/>
                  <a:gd name="connsiteX7" fmla="*/ 0 w 80322"/>
                  <a:gd name="connsiteY7" fmla="*/ 0 h 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322" h="81587">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3" name="Picture Placeholder 104">
                <a:extLst>
                  <a:ext uri="{FF2B5EF4-FFF2-40B4-BE49-F238E27FC236}">
                    <a16:creationId xmlns:a16="http://schemas.microsoft.com/office/drawing/2014/main" id="{44F4C921-83A6-5A42-F6D6-16CDEAC824DC}"/>
                  </a:ext>
                </a:extLst>
              </p:cNvPr>
              <p:cNvSpPr/>
              <p:nvPr/>
            </p:nvSpPr>
            <p:spPr>
              <a:xfrm>
                <a:off x="6081931" y="2214844"/>
                <a:ext cx="117005" cy="84117"/>
              </a:xfrm>
              <a:custGeom>
                <a:avLst/>
                <a:gdLst>
                  <a:gd name="connsiteX0" fmla="*/ 103091 w 117005"/>
                  <a:gd name="connsiteY0" fmla="*/ 4427 h 84117"/>
                  <a:gd name="connsiteX1" fmla="*/ 113210 w 117005"/>
                  <a:gd name="connsiteY1" fmla="*/ 15812 h 84117"/>
                  <a:gd name="connsiteX2" fmla="*/ 117005 w 117005"/>
                  <a:gd name="connsiteY2" fmla="*/ 32255 h 84117"/>
                  <a:gd name="connsiteX3" fmla="*/ 117005 w 117005"/>
                  <a:gd name="connsiteY3" fmla="*/ 84117 h 84117"/>
                  <a:gd name="connsiteX4" fmla="*/ 104988 w 117005"/>
                  <a:gd name="connsiteY4" fmla="*/ 84117 h 84117"/>
                  <a:gd name="connsiteX5" fmla="*/ 104988 w 117005"/>
                  <a:gd name="connsiteY5" fmla="*/ 33520 h 84117"/>
                  <a:gd name="connsiteX6" fmla="*/ 99929 w 117005"/>
                  <a:gd name="connsiteY6" fmla="*/ 17076 h 84117"/>
                  <a:gd name="connsiteX7" fmla="*/ 86647 w 117005"/>
                  <a:gd name="connsiteY7" fmla="*/ 10752 h 84117"/>
                  <a:gd name="connsiteX8" fmla="*/ 70836 w 117005"/>
                  <a:gd name="connsiteY8" fmla="*/ 16444 h 84117"/>
                  <a:gd name="connsiteX9" fmla="*/ 64511 w 117005"/>
                  <a:gd name="connsiteY9" fmla="*/ 31623 h 84117"/>
                  <a:gd name="connsiteX10" fmla="*/ 64511 w 117005"/>
                  <a:gd name="connsiteY10" fmla="*/ 83485 h 84117"/>
                  <a:gd name="connsiteX11" fmla="*/ 52494 w 117005"/>
                  <a:gd name="connsiteY11" fmla="*/ 83485 h 84117"/>
                  <a:gd name="connsiteX12" fmla="*/ 52494 w 117005"/>
                  <a:gd name="connsiteY12" fmla="*/ 32888 h 84117"/>
                  <a:gd name="connsiteX13" fmla="*/ 47435 w 117005"/>
                  <a:gd name="connsiteY13" fmla="*/ 16444 h 84117"/>
                  <a:gd name="connsiteX14" fmla="*/ 34153 w 117005"/>
                  <a:gd name="connsiteY14" fmla="*/ 10119 h 84117"/>
                  <a:gd name="connsiteX15" fmla="*/ 18341 w 117005"/>
                  <a:gd name="connsiteY15" fmla="*/ 15812 h 84117"/>
                  <a:gd name="connsiteX16" fmla="*/ 12017 w 117005"/>
                  <a:gd name="connsiteY16" fmla="*/ 30991 h 84117"/>
                  <a:gd name="connsiteX17" fmla="*/ 12017 w 117005"/>
                  <a:gd name="connsiteY17" fmla="*/ 82852 h 84117"/>
                  <a:gd name="connsiteX18" fmla="*/ 0 w 117005"/>
                  <a:gd name="connsiteY18" fmla="*/ 82852 h 84117"/>
                  <a:gd name="connsiteX19" fmla="*/ 0 w 117005"/>
                  <a:gd name="connsiteY19" fmla="*/ 1897 h 84117"/>
                  <a:gd name="connsiteX20" fmla="*/ 12017 w 117005"/>
                  <a:gd name="connsiteY20" fmla="*/ 1897 h 84117"/>
                  <a:gd name="connsiteX21" fmla="*/ 12017 w 117005"/>
                  <a:gd name="connsiteY21" fmla="*/ 13914 h 84117"/>
                  <a:gd name="connsiteX22" fmla="*/ 21504 w 117005"/>
                  <a:gd name="connsiteY22" fmla="*/ 3795 h 84117"/>
                  <a:gd name="connsiteX23" fmla="*/ 36050 w 117005"/>
                  <a:gd name="connsiteY23" fmla="*/ 0 h 84117"/>
                  <a:gd name="connsiteX24" fmla="*/ 53127 w 117005"/>
                  <a:gd name="connsiteY24" fmla="*/ 5060 h 84117"/>
                  <a:gd name="connsiteX25" fmla="*/ 63246 w 117005"/>
                  <a:gd name="connsiteY25" fmla="*/ 18974 h 84117"/>
                  <a:gd name="connsiteX26" fmla="*/ 72100 w 117005"/>
                  <a:gd name="connsiteY26" fmla="*/ 5060 h 84117"/>
                  <a:gd name="connsiteX27" fmla="*/ 88544 w 117005"/>
                  <a:gd name="connsiteY27" fmla="*/ 0 h 84117"/>
                  <a:gd name="connsiteX28" fmla="*/ 103091 w 117005"/>
                  <a:gd name="connsiteY28" fmla="*/ 4427 h 8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05" h="84117">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nvGrpSpPr>
          <p:cNvPr id="44" name="Picture Placeholder 104" descr="Virtual Machine&#10;">
            <a:extLst>
              <a:ext uri="{FF2B5EF4-FFF2-40B4-BE49-F238E27FC236}">
                <a16:creationId xmlns:a16="http://schemas.microsoft.com/office/drawing/2014/main" id="{B84C8DCE-1772-9944-4A92-81E0456F5E79}"/>
              </a:ext>
            </a:extLst>
          </p:cNvPr>
          <p:cNvGrpSpPr>
            <a:grpSpLocks noChangeAspect="1"/>
          </p:cNvGrpSpPr>
          <p:nvPr/>
        </p:nvGrpSpPr>
        <p:grpSpPr>
          <a:xfrm>
            <a:off x="4635222" y="3832741"/>
            <a:ext cx="215999" cy="216000"/>
            <a:chOff x="5798589" y="1951740"/>
            <a:chExt cx="600836" cy="600837"/>
          </a:xfrm>
          <a:solidFill>
            <a:schemeClr val="accent2"/>
          </a:solidFill>
        </p:grpSpPr>
        <p:sp>
          <p:nvSpPr>
            <p:cNvPr id="45" name="Picture Placeholder 104">
              <a:extLst>
                <a:ext uri="{FF2B5EF4-FFF2-40B4-BE49-F238E27FC236}">
                  <a16:creationId xmlns:a16="http://schemas.microsoft.com/office/drawing/2014/main" id="{16A40D7A-8818-C4EA-C614-FC50D22AC88E}"/>
                </a:ext>
              </a:extLst>
            </p:cNvPr>
            <p:cNvSpPr/>
            <p:nvPr/>
          </p:nvSpPr>
          <p:spPr>
            <a:xfrm>
              <a:off x="5798589" y="1951740"/>
              <a:ext cx="600836" cy="600837"/>
            </a:xfrm>
            <a:custGeom>
              <a:avLst/>
              <a:gdLst>
                <a:gd name="connsiteX0" fmla="*/ 514822 w 600836"/>
                <a:gd name="connsiteY0" fmla="*/ 600837 h 600837"/>
                <a:gd name="connsiteX1" fmla="*/ 0 w 600836"/>
                <a:gd name="connsiteY1" fmla="*/ 600837 h 600837"/>
                <a:gd name="connsiteX2" fmla="*/ 0 w 600836"/>
                <a:gd name="connsiteY2" fmla="*/ 0 h 600837"/>
                <a:gd name="connsiteX3" fmla="*/ 600837 w 600836"/>
                <a:gd name="connsiteY3" fmla="*/ 0 h 600837"/>
                <a:gd name="connsiteX4" fmla="*/ 600837 w 600836"/>
                <a:gd name="connsiteY4" fmla="*/ 595777 h 600837"/>
                <a:gd name="connsiteX5" fmla="*/ 585026 w 600836"/>
                <a:gd name="connsiteY5" fmla="*/ 595777 h 600837"/>
                <a:gd name="connsiteX6" fmla="*/ 585026 w 600836"/>
                <a:gd name="connsiteY6" fmla="*/ 15812 h 600837"/>
                <a:gd name="connsiteX7" fmla="*/ 15812 w 600836"/>
                <a:gd name="connsiteY7" fmla="*/ 15812 h 600837"/>
                <a:gd name="connsiteX8" fmla="*/ 15812 w 600836"/>
                <a:gd name="connsiteY8" fmla="*/ 585026 h 600837"/>
                <a:gd name="connsiteX9" fmla="*/ 514822 w 600836"/>
                <a:gd name="connsiteY9"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6" h="600837">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46" name="Picture Placeholder 104">
              <a:extLst>
                <a:ext uri="{FF2B5EF4-FFF2-40B4-BE49-F238E27FC236}">
                  <a16:creationId xmlns:a16="http://schemas.microsoft.com/office/drawing/2014/main" id="{36371FBC-1C36-AEA3-9C43-63365C76DB5A}"/>
                </a:ext>
              </a:extLst>
            </p:cNvPr>
            <p:cNvGrpSpPr/>
            <p:nvPr/>
          </p:nvGrpSpPr>
          <p:grpSpPr>
            <a:xfrm>
              <a:off x="5978207" y="2214844"/>
              <a:ext cx="220728" cy="84117"/>
              <a:chOff x="5978207" y="2214844"/>
              <a:chExt cx="220728" cy="84117"/>
            </a:xfrm>
            <a:solidFill>
              <a:schemeClr val="accent2"/>
            </a:solidFill>
          </p:grpSpPr>
          <p:sp>
            <p:nvSpPr>
              <p:cNvPr id="47" name="Picture Placeholder 104">
                <a:extLst>
                  <a:ext uri="{FF2B5EF4-FFF2-40B4-BE49-F238E27FC236}">
                    <a16:creationId xmlns:a16="http://schemas.microsoft.com/office/drawing/2014/main" id="{A1D5D052-1E1E-D9F8-634B-BF5053980669}"/>
                  </a:ext>
                </a:extLst>
              </p:cNvPr>
              <p:cNvSpPr/>
              <p:nvPr/>
            </p:nvSpPr>
            <p:spPr>
              <a:xfrm>
                <a:off x="5978207" y="2216741"/>
                <a:ext cx="80322" cy="81587"/>
              </a:xfrm>
              <a:custGeom>
                <a:avLst/>
                <a:gdLst>
                  <a:gd name="connsiteX0" fmla="*/ 0 w 80322"/>
                  <a:gd name="connsiteY0" fmla="*/ 0 h 81587"/>
                  <a:gd name="connsiteX1" fmla="*/ 13282 w 80322"/>
                  <a:gd name="connsiteY1" fmla="*/ 0 h 81587"/>
                  <a:gd name="connsiteX2" fmla="*/ 40477 w 80322"/>
                  <a:gd name="connsiteY2" fmla="*/ 67673 h 81587"/>
                  <a:gd name="connsiteX3" fmla="*/ 67041 w 80322"/>
                  <a:gd name="connsiteY3" fmla="*/ 0 h 81587"/>
                  <a:gd name="connsiteX4" fmla="*/ 80322 w 80322"/>
                  <a:gd name="connsiteY4" fmla="*/ 0 h 81587"/>
                  <a:gd name="connsiteX5" fmla="*/ 46170 w 80322"/>
                  <a:gd name="connsiteY5" fmla="*/ 81587 h 81587"/>
                  <a:gd name="connsiteX6" fmla="*/ 34785 w 80322"/>
                  <a:gd name="connsiteY6" fmla="*/ 81587 h 81587"/>
                  <a:gd name="connsiteX7" fmla="*/ 0 w 80322"/>
                  <a:gd name="connsiteY7" fmla="*/ 0 h 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322" h="81587">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8" name="Picture Placeholder 104">
                <a:extLst>
                  <a:ext uri="{FF2B5EF4-FFF2-40B4-BE49-F238E27FC236}">
                    <a16:creationId xmlns:a16="http://schemas.microsoft.com/office/drawing/2014/main" id="{90FA1531-3305-0143-2CBD-9990FE7868B4}"/>
                  </a:ext>
                </a:extLst>
              </p:cNvPr>
              <p:cNvSpPr/>
              <p:nvPr/>
            </p:nvSpPr>
            <p:spPr>
              <a:xfrm>
                <a:off x="6081931" y="2214844"/>
                <a:ext cx="117005" cy="84117"/>
              </a:xfrm>
              <a:custGeom>
                <a:avLst/>
                <a:gdLst>
                  <a:gd name="connsiteX0" fmla="*/ 103091 w 117005"/>
                  <a:gd name="connsiteY0" fmla="*/ 4427 h 84117"/>
                  <a:gd name="connsiteX1" fmla="*/ 113210 w 117005"/>
                  <a:gd name="connsiteY1" fmla="*/ 15812 h 84117"/>
                  <a:gd name="connsiteX2" fmla="*/ 117005 w 117005"/>
                  <a:gd name="connsiteY2" fmla="*/ 32255 h 84117"/>
                  <a:gd name="connsiteX3" fmla="*/ 117005 w 117005"/>
                  <a:gd name="connsiteY3" fmla="*/ 84117 h 84117"/>
                  <a:gd name="connsiteX4" fmla="*/ 104988 w 117005"/>
                  <a:gd name="connsiteY4" fmla="*/ 84117 h 84117"/>
                  <a:gd name="connsiteX5" fmla="*/ 104988 w 117005"/>
                  <a:gd name="connsiteY5" fmla="*/ 33520 h 84117"/>
                  <a:gd name="connsiteX6" fmla="*/ 99929 w 117005"/>
                  <a:gd name="connsiteY6" fmla="*/ 17076 h 84117"/>
                  <a:gd name="connsiteX7" fmla="*/ 86647 w 117005"/>
                  <a:gd name="connsiteY7" fmla="*/ 10752 h 84117"/>
                  <a:gd name="connsiteX8" fmla="*/ 70836 w 117005"/>
                  <a:gd name="connsiteY8" fmla="*/ 16444 h 84117"/>
                  <a:gd name="connsiteX9" fmla="*/ 64511 w 117005"/>
                  <a:gd name="connsiteY9" fmla="*/ 31623 h 84117"/>
                  <a:gd name="connsiteX10" fmla="*/ 64511 w 117005"/>
                  <a:gd name="connsiteY10" fmla="*/ 83485 h 84117"/>
                  <a:gd name="connsiteX11" fmla="*/ 52494 w 117005"/>
                  <a:gd name="connsiteY11" fmla="*/ 83485 h 84117"/>
                  <a:gd name="connsiteX12" fmla="*/ 52494 w 117005"/>
                  <a:gd name="connsiteY12" fmla="*/ 32888 h 84117"/>
                  <a:gd name="connsiteX13" fmla="*/ 47435 w 117005"/>
                  <a:gd name="connsiteY13" fmla="*/ 16444 h 84117"/>
                  <a:gd name="connsiteX14" fmla="*/ 34153 w 117005"/>
                  <a:gd name="connsiteY14" fmla="*/ 10119 h 84117"/>
                  <a:gd name="connsiteX15" fmla="*/ 18341 w 117005"/>
                  <a:gd name="connsiteY15" fmla="*/ 15812 h 84117"/>
                  <a:gd name="connsiteX16" fmla="*/ 12017 w 117005"/>
                  <a:gd name="connsiteY16" fmla="*/ 30991 h 84117"/>
                  <a:gd name="connsiteX17" fmla="*/ 12017 w 117005"/>
                  <a:gd name="connsiteY17" fmla="*/ 82852 h 84117"/>
                  <a:gd name="connsiteX18" fmla="*/ 0 w 117005"/>
                  <a:gd name="connsiteY18" fmla="*/ 82852 h 84117"/>
                  <a:gd name="connsiteX19" fmla="*/ 0 w 117005"/>
                  <a:gd name="connsiteY19" fmla="*/ 1897 h 84117"/>
                  <a:gd name="connsiteX20" fmla="*/ 12017 w 117005"/>
                  <a:gd name="connsiteY20" fmla="*/ 1897 h 84117"/>
                  <a:gd name="connsiteX21" fmla="*/ 12017 w 117005"/>
                  <a:gd name="connsiteY21" fmla="*/ 13914 h 84117"/>
                  <a:gd name="connsiteX22" fmla="*/ 21504 w 117005"/>
                  <a:gd name="connsiteY22" fmla="*/ 3795 h 84117"/>
                  <a:gd name="connsiteX23" fmla="*/ 36050 w 117005"/>
                  <a:gd name="connsiteY23" fmla="*/ 0 h 84117"/>
                  <a:gd name="connsiteX24" fmla="*/ 53127 w 117005"/>
                  <a:gd name="connsiteY24" fmla="*/ 5060 h 84117"/>
                  <a:gd name="connsiteX25" fmla="*/ 63246 w 117005"/>
                  <a:gd name="connsiteY25" fmla="*/ 18974 h 84117"/>
                  <a:gd name="connsiteX26" fmla="*/ 72100 w 117005"/>
                  <a:gd name="connsiteY26" fmla="*/ 5060 h 84117"/>
                  <a:gd name="connsiteX27" fmla="*/ 88544 w 117005"/>
                  <a:gd name="connsiteY27" fmla="*/ 0 h 84117"/>
                  <a:gd name="connsiteX28" fmla="*/ 103091 w 117005"/>
                  <a:gd name="connsiteY28" fmla="*/ 4427 h 8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05" h="84117">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nvGrpSpPr>
          <p:cNvPr id="50" name="Picture Placeholder 104" descr="Virtual Machine&#10;">
            <a:extLst>
              <a:ext uri="{FF2B5EF4-FFF2-40B4-BE49-F238E27FC236}">
                <a16:creationId xmlns:a16="http://schemas.microsoft.com/office/drawing/2014/main" id="{6DE81BC9-A76F-0448-1DE8-4D114DB78916}"/>
              </a:ext>
            </a:extLst>
          </p:cNvPr>
          <p:cNvGrpSpPr>
            <a:grpSpLocks noChangeAspect="1"/>
          </p:cNvGrpSpPr>
          <p:nvPr/>
        </p:nvGrpSpPr>
        <p:grpSpPr>
          <a:xfrm>
            <a:off x="4969123" y="3832741"/>
            <a:ext cx="215999" cy="216000"/>
            <a:chOff x="5798589" y="1951740"/>
            <a:chExt cx="600836" cy="600837"/>
          </a:xfrm>
          <a:solidFill>
            <a:schemeClr val="accent2"/>
          </a:solidFill>
        </p:grpSpPr>
        <p:sp>
          <p:nvSpPr>
            <p:cNvPr id="53" name="Picture Placeholder 104">
              <a:extLst>
                <a:ext uri="{FF2B5EF4-FFF2-40B4-BE49-F238E27FC236}">
                  <a16:creationId xmlns:a16="http://schemas.microsoft.com/office/drawing/2014/main" id="{50CE7B95-CBAE-252A-82A6-97E40F02FB9A}"/>
                </a:ext>
              </a:extLst>
            </p:cNvPr>
            <p:cNvSpPr/>
            <p:nvPr/>
          </p:nvSpPr>
          <p:spPr>
            <a:xfrm>
              <a:off x="5798589" y="1951740"/>
              <a:ext cx="600836" cy="600837"/>
            </a:xfrm>
            <a:custGeom>
              <a:avLst/>
              <a:gdLst>
                <a:gd name="connsiteX0" fmla="*/ 514822 w 600836"/>
                <a:gd name="connsiteY0" fmla="*/ 600837 h 600837"/>
                <a:gd name="connsiteX1" fmla="*/ 0 w 600836"/>
                <a:gd name="connsiteY1" fmla="*/ 600837 h 600837"/>
                <a:gd name="connsiteX2" fmla="*/ 0 w 600836"/>
                <a:gd name="connsiteY2" fmla="*/ 0 h 600837"/>
                <a:gd name="connsiteX3" fmla="*/ 600837 w 600836"/>
                <a:gd name="connsiteY3" fmla="*/ 0 h 600837"/>
                <a:gd name="connsiteX4" fmla="*/ 600837 w 600836"/>
                <a:gd name="connsiteY4" fmla="*/ 595777 h 600837"/>
                <a:gd name="connsiteX5" fmla="*/ 585026 w 600836"/>
                <a:gd name="connsiteY5" fmla="*/ 595777 h 600837"/>
                <a:gd name="connsiteX6" fmla="*/ 585026 w 600836"/>
                <a:gd name="connsiteY6" fmla="*/ 15812 h 600837"/>
                <a:gd name="connsiteX7" fmla="*/ 15812 w 600836"/>
                <a:gd name="connsiteY7" fmla="*/ 15812 h 600837"/>
                <a:gd name="connsiteX8" fmla="*/ 15812 w 600836"/>
                <a:gd name="connsiteY8" fmla="*/ 585026 h 600837"/>
                <a:gd name="connsiteX9" fmla="*/ 514822 w 600836"/>
                <a:gd name="connsiteY9"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6" h="600837">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61" name="Picture Placeholder 104">
              <a:extLst>
                <a:ext uri="{FF2B5EF4-FFF2-40B4-BE49-F238E27FC236}">
                  <a16:creationId xmlns:a16="http://schemas.microsoft.com/office/drawing/2014/main" id="{5A4CCADA-EAD6-CE5A-4F52-66DF3C47C20E}"/>
                </a:ext>
              </a:extLst>
            </p:cNvPr>
            <p:cNvGrpSpPr/>
            <p:nvPr/>
          </p:nvGrpSpPr>
          <p:grpSpPr>
            <a:xfrm>
              <a:off x="5978207" y="2214844"/>
              <a:ext cx="220728" cy="84117"/>
              <a:chOff x="5978207" y="2214844"/>
              <a:chExt cx="220728" cy="84117"/>
            </a:xfrm>
            <a:solidFill>
              <a:schemeClr val="accent2"/>
            </a:solidFill>
          </p:grpSpPr>
          <p:sp>
            <p:nvSpPr>
              <p:cNvPr id="62" name="Picture Placeholder 104">
                <a:extLst>
                  <a:ext uri="{FF2B5EF4-FFF2-40B4-BE49-F238E27FC236}">
                    <a16:creationId xmlns:a16="http://schemas.microsoft.com/office/drawing/2014/main" id="{D0C1C212-D778-A804-DB78-1359285ECE09}"/>
                  </a:ext>
                </a:extLst>
              </p:cNvPr>
              <p:cNvSpPr/>
              <p:nvPr/>
            </p:nvSpPr>
            <p:spPr>
              <a:xfrm>
                <a:off x="5978207" y="2216741"/>
                <a:ext cx="80322" cy="81587"/>
              </a:xfrm>
              <a:custGeom>
                <a:avLst/>
                <a:gdLst>
                  <a:gd name="connsiteX0" fmla="*/ 0 w 80322"/>
                  <a:gd name="connsiteY0" fmla="*/ 0 h 81587"/>
                  <a:gd name="connsiteX1" fmla="*/ 13282 w 80322"/>
                  <a:gd name="connsiteY1" fmla="*/ 0 h 81587"/>
                  <a:gd name="connsiteX2" fmla="*/ 40477 w 80322"/>
                  <a:gd name="connsiteY2" fmla="*/ 67673 h 81587"/>
                  <a:gd name="connsiteX3" fmla="*/ 67041 w 80322"/>
                  <a:gd name="connsiteY3" fmla="*/ 0 h 81587"/>
                  <a:gd name="connsiteX4" fmla="*/ 80322 w 80322"/>
                  <a:gd name="connsiteY4" fmla="*/ 0 h 81587"/>
                  <a:gd name="connsiteX5" fmla="*/ 46170 w 80322"/>
                  <a:gd name="connsiteY5" fmla="*/ 81587 h 81587"/>
                  <a:gd name="connsiteX6" fmla="*/ 34785 w 80322"/>
                  <a:gd name="connsiteY6" fmla="*/ 81587 h 81587"/>
                  <a:gd name="connsiteX7" fmla="*/ 0 w 80322"/>
                  <a:gd name="connsiteY7" fmla="*/ 0 h 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322" h="81587">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3" name="Picture Placeholder 104">
                <a:extLst>
                  <a:ext uri="{FF2B5EF4-FFF2-40B4-BE49-F238E27FC236}">
                    <a16:creationId xmlns:a16="http://schemas.microsoft.com/office/drawing/2014/main" id="{B6F93AE1-4395-AB0C-A16C-300D8DD892BF}"/>
                  </a:ext>
                </a:extLst>
              </p:cNvPr>
              <p:cNvSpPr/>
              <p:nvPr/>
            </p:nvSpPr>
            <p:spPr>
              <a:xfrm>
                <a:off x="6081931" y="2214844"/>
                <a:ext cx="117005" cy="84117"/>
              </a:xfrm>
              <a:custGeom>
                <a:avLst/>
                <a:gdLst>
                  <a:gd name="connsiteX0" fmla="*/ 103091 w 117005"/>
                  <a:gd name="connsiteY0" fmla="*/ 4427 h 84117"/>
                  <a:gd name="connsiteX1" fmla="*/ 113210 w 117005"/>
                  <a:gd name="connsiteY1" fmla="*/ 15812 h 84117"/>
                  <a:gd name="connsiteX2" fmla="*/ 117005 w 117005"/>
                  <a:gd name="connsiteY2" fmla="*/ 32255 h 84117"/>
                  <a:gd name="connsiteX3" fmla="*/ 117005 w 117005"/>
                  <a:gd name="connsiteY3" fmla="*/ 84117 h 84117"/>
                  <a:gd name="connsiteX4" fmla="*/ 104988 w 117005"/>
                  <a:gd name="connsiteY4" fmla="*/ 84117 h 84117"/>
                  <a:gd name="connsiteX5" fmla="*/ 104988 w 117005"/>
                  <a:gd name="connsiteY5" fmla="*/ 33520 h 84117"/>
                  <a:gd name="connsiteX6" fmla="*/ 99929 w 117005"/>
                  <a:gd name="connsiteY6" fmla="*/ 17076 h 84117"/>
                  <a:gd name="connsiteX7" fmla="*/ 86647 w 117005"/>
                  <a:gd name="connsiteY7" fmla="*/ 10752 h 84117"/>
                  <a:gd name="connsiteX8" fmla="*/ 70836 w 117005"/>
                  <a:gd name="connsiteY8" fmla="*/ 16444 h 84117"/>
                  <a:gd name="connsiteX9" fmla="*/ 64511 w 117005"/>
                  <a:gd name="connsiteY9" fmla="*/ 31623 h 84117"/>
                  <a:gd name="connsiteX10" fmla="*/ 64511 w 117005"/>
                  <a:gd name="connsiteY10" fmla="*/ 83485 h 84117"/>
                  <a:gd name="connsiteX11" fmla="*/ 52494 w 117005"/>
                  <a:gd name="connsiteY11" fmla="*/ 83485 h 84117"/>
                  <a:gd name="connsiteX12" fmla="*/ 52494 w 117005"/>
                  <a:gd name="connsiteY12" fmla="*/ 32888 h 84117"/>
                  <a:gd name="connsiteX13" fmla="*/ 47435 w 117005"/>
                  <a:gd name="connsiteY13" fmla="*/ 16444 h 84117"/>
                  <a:gd name="connsiteX14" fmla="*/ 34153 w 117005"/>
                  <a:gd name="connsiteY14" fmla="*/ 10119 h 84117"/>
                  <a:gd name="connsiteX15" fmla="*/ 18341 w 117005"/>
                  <a:gd name="connsiteY15" fmla="*/ 15812 h 84117"/>
                  <a:gd name="connsiteX16" fmla="*/ 12017 w 117005"/>
                  <a:gd name="connsiteY16" fmla="*/ 30991 h 84117"/>
                  <a:gd name="connsiteX17" fmla="*/ 12017 w 117005"/>
                  <a:gd name="connsiteY17" fmla="*/ 82852 h 84117"/>
                  <a:gd name="connsiteX18" fmla="*/ 0 w 117005"/>
                  <a:gd name="connsiteY18" fmla="*/ 82852 h 84117"/>
                  <a:gd name="connsiteX19" fmla="*/ 0 w 117005"/>
                  <a:gd name="connsiteY19" fmla="*/ 1897 h 84117"/>
                  <a:gd name="connsiteX20" fmla="*/ 12017 w 117005"/>
                  <a:gd name="connsiteY20" fmla="*/ 1897 h 84117"/>
                  <a:gd name="connsiteX21" fmla="*/ 12017 w 117005"/>
                  <a:gd name="connsiteY21" fmla="*/ 13914 h 84117"/>
                  <a:gd name="connsiteX22" fmla="*/ 21504 w 117005"/>
                  <a:gd name="connsiteY22" fmla="*/ 3795 h 84117"/>
                  <a:gd name="connsiteX23" fmla="*/ 36050 w 117005"/>
                  <a:gd name="connsiteY23" fmla="*/ 0 h 84117"/>
                  <a:gd name="connsiteX24" fmla="*/ 53127 w 117005"/>
                  <a:gd name="connsiteY24" fmla="*/ 5060 h 84117"/>
                  <a:gd name="connsiteX25" fmla="*/ 63246 w 117005"/>
                  <a:gd name="connsiteY25" fmla="*/ 18974 h 84117"/>
                  <a:gd name="connsiteX26" fmla="*/ 72100 w 117005"/>
                  <a:gd name="connsiteY26" fmla="*/ 5060 h 84117"/>
                  <a:gd name="connsiteX27" fmla="*/ 88544 w 117005"/>
                  <a:gd name="connsiteY27" fmla="*/ 0 h 84117"/>
                  <a:gd name="connsiteX28" fmla="*/ 103091 w 117005"/>
                  <a:gd name="connsiteY28" fmla="*/ 4427 h 8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05" h="84117">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nvGrpSpPr>
          <p:cNvPr id="64" name="Picture Placeholder 104" descr="Virtual Machine&#10;">
            <a:extLst>
              <a:ext uri="{FF2B5EF4-FFF2-40B4-BE49-F238E27FC236}">
                <a16:creationId xmlns:a16="http://schemas.microsoft.com/office/drawing/2014/main" id="{2DF85414-EBA8-5163-37C5-A833BE1C3D8D}"/>
              </a:ext>
            </a:extLst>
          </p:cNvPr>
          <p:cNvGrpSpPr>
            <a:grpSpLocks noChangeAspect="1"/>
          </p:cNvGrpSpPr>
          <p:nvPr/>
        </p:nvGrpSpPr>
        <p:grpSpPr>
          <a:xfrm>
            <a:off x="4122900" y="4442708"/>
            <a:ext cx="215999" cy="216000"/>
            <a:chOff x="5798589" y="1951740"/>
            <a:chExt cx="600836" cy="600837"/>
          </a:xfrm>
          <a:solidFill>
            <a:schemeClr val="accent2"/>
          </a:solidFill>
        </p:grpSpPr>
        <p:sp>
          <p:nvSpPr>
            <p:cNvPr id="66" name="Picture Placeholder 104">
              <a:extLst>
                <a:ext uri="{FF2B5EF4-FFF2-40B4-BE49-F238E27FC236}">
                  <a16:creationId xmlns:a16="http://schemas.microsoft.com/office/drawing/2014/main" id="{215C4590-B032-40AB-FE57-0BADA2F59E49}"/>
                </a:ext>
              </a:extLst>
            </p:cNvPr>
            <p:cNvSpPr/>
            <p:nvPr/>
          </p:nvSpPr>
          <p:spPr>
            <a:xfrm>
              <a:off x="5798589" y="1951740"/>
              <a:ext cx="600836" cy="600837"/>
            </a:xfrm>
            <a:custGeom>
              <a:avLst/>
              <a:gdLst>
                <a:gd name="connsiteX0" fmla="*/ 514822 w 600836"/>
                <a:gd name="connsiteY0" fmla="*/ 600837 h 600837"/>
                <a:gd name="connsiteX1" fmla="*/ 0 w 600836"/>
                <a:gd name="connsiteY1" fmla="*/ 600837 h 600837"/>
                <a:gd name="connsiteX2" fmla="*/ 0 w 600836"/>
                <a:gd name="connsiteY2" fmla="*/ 0 h 600837"/>
                <a:gd name="connsiteX3" fmla="*/ 600837 w 600836"/>
                <a:gd name="connsiteY3" fmla="*/ 0 h 600837"/>
                <a:gd name="connsiteX4" fmla="*/ 600837 w 600836"/>
                <a:gd name="connsiteY4" fmla="*/ 595777 h 600837"/>
                <a:gd name="connsiteX5" fmla="*/ 585026 w 600836"/>
                <a:gd name="connsiteY5" fmla="*/ 595777 h 600837"/>
                <a:gd name="connsiteX6" fmla="*/ 585026 w 600836"/>
                <a:gd name="connsiteY6" fmla="*/ 15812 h 600837"/>
                <a:gd name="connsiteX7" fmla="*/ 15812 w 600836"/>
                <a:gd name="connsiteY7" fmla="*/ 15812 h 600837"/>
                <a:gd name="connsiteX8" fmla="*/ 15812 w 600836"/>
                <a:gd name="connsiteY8" fmla="*/ 585026 h 600837"/>
                <a:gd name="connsiteX9" fmla="*/ 514822 w 600836"/>
                <a:gd name="connsiteY9"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6" h="600837">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68" name="Picture Placeholder 104">
              <a:extLst>
                <a:ext uri="{FF2B5EF4-FFF2-40B4-BE49-F238E27FC236}">
                  <a16:creationId xmlns:a16="http://schemas.microsoft.com/office/drawing/2014/main" id="{C5D6C376-4551-7B4B-8230-4E6CAC21C798}"/>
                </a:ext>
              </a:extLst>
            </p:cNvPr>
            <p:cNvGrpSpPr/>
            <p:nvPr/>
          </p:nvGrpSpPr>
          <p:grpSpPr>
            <a:xfrm>
              <a:off x="5978207" y="2214844"/>
              <a:ext cx="220728" cy="84117"/>
              <a:chOff x="5978207" y="2214844"/>
              <a:chExt cx="220728" cy="84117"/>
            </a:xfrm>
            <a:solidFill>
              <a:schemeClr val="accent2"/>
            </a:solidFill>
          </p:grpSpPr>
          <p:sp>
            <p:nvSpPr>
              <p:cNvPr id="110" name="Picture Placeholder 104">
                <a:extLst>
                  <a:ext uri="{FF2B5EF4-FFF2-40B4-BE49-F238E27FC236}">
                    <a16:creationId xmlns:a16="http://schemas.microsoft.com/office/drawing/2014/main" id="{C9C22A14-4A61-51FE-3210-3BD1E6E85B3C}"/>
                  </a:ext>
                </a:extLst>
              </p:cNvPr>
              <p:cNvSpPr/>
              <p:nvPr/>
            </p:nvSpPr>
            <p:spPr>
              <a:xfrm>
                <a:off x="5978207" y="2216741"/>
                <a:ext cx="80322" cy="81587"/>
              </a:xfrm>
              <a:custGeom>
                <a:avLst/>
                <a:gdLst>
                  <a:gd name="connsiteX0" fmla="*/ 0 w 80322"/>
                  <a:gd name="connsiteY0" fmla="*/ 0 h 81587"/>
                  <a:gd name="connsiteX1" fmla="*/ 13282 w 80322"/>
                  <a:gd name="connsiteY1" fmla="*/ 0 h 81587"/>
                  <a:gd name="connsiteX2" fmla="*/ 40477 w 80322"/>
                  <a:gd name="connsiteY2" fmla="*/ 67673 h 81587"/>
                  <a:gd name="connsiteX3" fmla="*/ 67041 w 80322"/>
                  <a:gd name="connsiteY3" fmla="*/ 0 h 81587"/>
                  <a:gd name="connsiteX4" fmla="*/ 80322 w 80322"/>
                  <a:gd name="connsiteY4" fmla="*/ 0 h 81587"/>
                  <a:gd name="connsiteX5" fmla="*/ 46170 w 80322"/>
                  <a:gd name="connsiteY5" fmla="*/ 81587 h 81587"/>
                  <a:gd name="connsiteX6" fmla="*/ 34785 w 80322"/>
                  <a:gd name="connsiteY6" fmla="*/ 81587 h 81587"/>
                  <a:gd name="connsiteX7" fmla="*/ 0 w 80322"/>
                  <a:gd name="connsiteY7" fmla="*/ 0 h 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322" h="81587">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1" name="Picture Placeholder 104">
                <a:extLst>
                  <a:ext uri="{FF2B5EF4-FFF2-40B4-BE49-F238E27FC236}">
                    <a16:creationId xmlns:a16="http://schemas.microsoft.com/office/drawing/2014/main" id="{A4E2BB83-B990-E683-2AB6-EBB9C5FBE2ED}"/>
                  </a:ext>
                </a:extLst>
              </p:cNvPr>
              <p:cNvSpPr/>
              <p:nvPr/>
            </p:nvSpPr>
            <p:spPr>
              <a:xfrm>
                <a:off x="6081931" y="2214844"/>
                <a:ext cx="117005" cy="84117"/>
              </a:xfrm>
              <a:custGeom>
                <a:avLst/>
                <a:gdLst>
                  <a:gd name="connsiteX0" fmla="*/ 103091 w 117005"/>
                  <a:gd name="connsiteY0" fmla="*/ 4427 h 84117"/>
                  <a:gd name="connsiteX1" fmla="*/ 113210 w 117005"/>
                  <a:gd name="connsiteY1" fmla="*/ 15812 h 84117"/>
                  <a:gd name="connsiteX2" fmla="*/ 117005 w 117005"/>
                  <a:gd name="connsiteY2" fmla="*/ 32255 h 84117"/>
                  <a:gd name="connsiteX3" fmla="*/ 117005 w 117005"/>
                  <a:gd name="connsiteY3" fmla="*/ 84117 h 84117"/>
                  <a:gd name="connsiteX4" fmla="*/ 104988 w 117005"/>
                  <a:gd name="connsiteY4" fmla="*/ 84117 h 84117"/>
                  <a:gd name="connsiteX5" fmla="*/ 104988 w 117005"/>
                  <a:gd name="connsiteY5" fmla="*/ 33520 h 84117"/>
                  <a:gd name="connsiteX6" fmla="*/ 99929 w 117005"/>
                  <a:gd name="connsiteY6" fmla="*/ 17076 h 84117"/>
                  <a:gd name="connsiteX7" fmla="*/ 86647 w 117005"/>
                  <a:gd name="connsiteY7" fmla="*/ 10752 h 84117"/>
                  <a:gd name="connsiteX8" fmla="*/ 70836 w 117005"/>
                  <a:gd name="connsiteY8" fmla="*/ 16444 h 84117"/>
                  <a:gd name="connsiteX9" fmla="*/ 64511 w 117005"/>
                  <a:gd name="connsiteY9" fmla="*/ 31623 h 84117"/>
                  <a:gd name="connsiteX10" fmla="*/ 64511 w 117005"/>
                  <a:gd name="connsiteY10" fmla="*/ 83485 h 84117"/>
                  <a:gd name="connsiteX11" fmla="*/ 52494 w 117005"/>
                  <a:gd name="connsiteY11" fmla="*/ 83485 h 84117"/>
                  <a:gd name="connsiteX12" fmla="*/ 52494 w 117005"/>
                  <a:gd name="connsiteY12" fmla="*/ 32888 h 84117"/>
                  <a:gd name="connsiteX13" fmla="*/ 47435 w 117005"/>
                  <a:gd name="connsiteY13" fmla="*/ 16444 h 84117"/>
                  <a:gd name="connsiteX14" fmla="*/ 34153 w 117005"/>
                  <a:gd name="connsiteY14" fmla="*/ 10119 h 84117"/>
                  <a:gd name="connsiteX15" fmla="*/ 18341 w 117005"/>
                  <a:gd name="connsiteY15" fmla="*/ 15812 h 84117"/>
                  <a:gd name="connsiteX16" fmla="*/ 12017 w 117005"/>
                  <a:gd name="connsiteY16" fmla="*/ 30991 h 84117"/>
                  <a:gd name="connsiteX17" fmla="*/ 12017 w 117005"/>
                  <a:gd name="connsiteY17" fmla="*/ 82852 h 84117"/>
                  <a:gd name="connsiteX18" fmla="*/ 0 w 117005"/>
                  <a:gd name="connsiteY18" fmla="*/ 82852 h 84117"/>
                  <a:gd name="connsiteX19" fmla="*/ 0 w 117005"/>
                  <a:gd name="connsiteY19" fmla="*/ 1897 h 84117"/>
                  <a:gd name="connsiteX20" fmla="*/ 12017 w 117005"/>
                  <a:gd name="connsiteY20" fmla="*/ 1897 h 84117"/>
                  <a:gd name="connsiteX21" fmla="*/ 12017 w 117005"/>
                  <a:gd name="connsiteY21" fmla="*/ 13914 h 84117"/>
                  <a:gd name="connsiteX22" fmla="*/ 21504 w 117005"/>
                  <a:gd name="connsiteY22" fmla="*/ 3795 h 84117"/>
                  <a:gd name="connsiteX23" fmla="*/ 36050 w 117005"/>
                  <a:gd name="connsiteY23" fmla="*/ 0 h 84117"/>
                  <a:gd name="connsiteX24" fmla="*/ 53127 w 117005"/>
                  <a:gd name="connsiteY24" fmla="*/ 5060 h 84117"/>
                  <a:gd name="connsiteX25" fmla="*/ 63246 w 117005"/>
                  <a:gd name="connsiteY25" fmla="*/ 18974 h 84117"/>
                  <a:gd name="connsiteX26" fmla="*/ 72100 w 117005"/>
                  <a:gd name="connsiteY26" fmla="*/ 5060 h 84117"/>
                  <a:gd name="connsiteX27" fmla="*/ 88544 w 117005"/>
                  <a:gd name="connsiteY27" fmla="*/ 0 h 84117"/>
                  <a:gd name="connsiteX28" fmla="*/ 103091 w 117005"/>
                  <a:gd name="connsiteY28" fmla="*/ 4427 h 8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05" h="84117">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nvGrpSpPr>
          <p:cNvPr id="117" name="Picture Placeholder 104" descr="Virtual Machine&#10;">
            <a:extLst>
              <a:ext uri="{FF2B5EF4-FFF2-40B4-BE49-F238E27FC236}">
                <a16:creationId xmlns:a16="http://schemas.microsoft.com/office/drawing/2014/main" id="{1B682695-AE41-73B2-418A-34CEB2961F03}"/>
              </a:ext>
            </a:extLst>
          </p:cNvPr>
          <p:cNvGrpSpPr>
            <a:grpSpLocks noChangeAspect="1"/>
          </p:cNvGrpSpPr>
          <p:nvPr/>
        </p:nvGrpSpPr>
        <p:grpSpPr>
          <a:xfrm>
            <a:off x="4665197" y="4442708"/>
            <a:ext cx="215999" cy="216000"/>
            <a:chOff x="5798589" y="1951740"/>
            <a:chExt cx="600836" cy="600837"/>
          </a:xfrm>
          <a:solidFill>
            <a:schemeClr val="accent2"/>
          </a:solidFill>
        </p:grpSpPr>
        <p:sp>
          <p:nvSpPr>
            <p:cNvPr id="118" name="Picture Placeholder 104">
              <a:extLst>
                <a:ext uri="{FF2B5EF4-FFF2-40B4-BE49-F238E27FC236}">
                  <a16:creationId xmlns:a16="http://schemas.microsoft.com/office/drawing/2014/main" id="{29FBFEE7-016C-A697-83C2-50EBA1499D34}"/>
                </a:ext>
              </a:extLst>
            </p:cNvPr>
            <p:cNvSpPr/>
            <p:nvPr/>
          </p:nvSpPr>
          <p:spPr>
            <a:xfrm>
              <a:off x="5798589" y="1951740"/>
              <a:ext cx="600836" cy="600837"/>
            </a:xfrm>
            <a:custGeom>
              <a:avLst/>
              <a:gdLst>
                <a:gd name="connsiteX0" fmla="*/ 514822 w 600836"/>
                <a:gd name="connsiteY0" fmla="*/ 600837 h 600837"/>
                <a:gd name="connsiteX1" fmla="*/ 0 w 600836"/>
                <a:gd name="connsiteY1" fmla="*/ 600837 h 600837"/>
                <a:gd name="connsiteX2" fmla="*/ 0 w 600836"/>
                <a:gd name="connsiteY2" fmla="*/ 0 h 600837"/>
                <a:gd name="connsiteX3" fmla="*/ 600837 w 600836"/>
                <a:gd name="connsiteY3" fmla="*/ 0 h 600837"/>
                <a:gd name="connsiteX4" fmla="*/ 600837 w 600836"/>
                <a:gd name="connsiteY4" fmla="*/ 595777 h 600837"/>
                <a:gd name="connsiteX5" fmla="*/ 585026 w 600836"/>
                <a:gd name="connsiteY5" fmla="*/ 595777 h 600837"/>
                <a:gd name="connsiteX6" fmla="*/ 585026 w 600836"/>
                <a:gd name="connsiteY6" fmla="*/ 15812 h 600837"/>
                <a:gd name="connsiteX7" fmla="*/ 15812 w 600836"/>
                <a:gd name="connsiteY7" fmla="*/ 15812 h 600837"/>
                <a:gd name="connsiteX8" fmla="*/ 15812 w 600836"/>
                <a:gd name="connsiteY8" fmla="*/ 585026 h 600837"/>
                <a:gd name="connsiteX9" fmla="*/ 514822 w 600836"/>
                <a:gd name="connsiteY9"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6" h="600837">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19" name="Picture Placeholder 104">
              <a:extLst>
                <a:ext uri="{FF2B5EF4-FFF2-40B4-BE49-F238E27FC236}">
                  <a16:creationId xmlns:a16="http://schemas.microsoft.com/office/drawing/2014/main" id="{BFA392AB-9CC0-90A4-8C0F-6C0749D4F087}"/>
                </a:ext>
              </a:extLst>
            </p:cNvPr>
            <p:cNvGrpSpPr/>
            <p:nvPr/>
          </p:nvGrpSpPr>
          <p:grpSpPr>
            <a:xfrm>
              <a:off x="5978207" y="2214844"/>
              <a:ext cx="220728" cy="84117"/>
              <a:chOff x="5978207" y="2214844"/>
              <a:chExt cx="220728" cy="84117"/>
            </a:xfrm>
            <a:solidFill>
              <a:schemeClr val="accent2"/>
            </a:solidFill>
          </p:grpSpPr>
          <p:sp>
            <p:nvSpPr>
              <p:cNvPr id="120" name="Picture Placeholder 104">
                <a:extLst>
                  <a:ext uri="{FF2B5EF4-FFF2-40B4-BE49-F238E27FC236}">
                    <a16:creationId xmlns:a16="http://schemas.microsoft.com/office/drawing/2014/main" id="{9DB99A55-1806-112E-3ED5-BCAFD048750D}"/>
                  </a:ext>
                </a:extLst>
              </p:cNvPr>
              <p:cNvSpPr/>
              <p:nvPr/>
            </p:nvSpPr>
            <p:spPr>
              <a:xfrm>
                <a:off x="5978207" y="2216741"/>
                <a:ext cx="80322" cy="81587"/>
              </a:xfrm>
              <a:custGeom>
                <a:avLst/>
                <a:gdLst>
                  <a:gd name="connsiteX0" fmla="*/ 0 w 80322"/>
                  <a:gd name="connsiteY0" fmla="*/ 0 h 81587"/>
                  <a:gd name="connsiteX1" fmla="*/ 13282 w 80322"/>
                  <a:gd name="connsiteY1" fmla="*/ 0 h 81587"/>
                  <a:gd name="connsiteX2" fmla="*/ 40477 w 80322"/>
                  <a:gd name="connsiteY2" fmla="*/ 67673 h 81587"/>
                  <a:gd name="connsiteX3" fmla="*/ 67041 w 80322"/>
                  <a:gd name="connsiteY3" fmla="*/ 0 h 81587"/>
                  <a:gd name="connsiteX4" fmla="*/ 80322 w 80322"/>
                  <a:gd name="connsiteY4" fmla="*/ 0 h 81587"/>
                  <a:gd name="connsiteX5" fmla="*/ 46170 w 80322"/>
                  <a:gd name="connsiteY5" fmla="*/ 81587 h 81587"/>
                  <a:gd name="connsiteX6" fmla="*/ 34785 w 80322"/>
                  <a:gd name="connsiteY6" fmla="*/ 81587 h 81587"/>
                  <a:gd name="connsiteX7" fmla="*/ 0 w 80322"/>
                  <a:gd name="connsiteY7" fmla="*/ 0 h 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322" h="81587">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1" name="Picture Placeholder 104">
                <a:extLst>
                  <a:ext uri="{FF2B5EF4-FFF2-40B4-BE49-F238E27FC236}">
                    <a16:creationId xmlns:a16="http://schemas.microsoft.com/office/drawing/2014/main" id="{D0436546-1FF6-5EDD-CE47-46FC94392441}"/>
                  </a:ext>
                </a:extLst>
              </p:cNvPr>
              <p:cNvSpPr/>
              <p:nvPr/>
            </p:nvSpPr>
            <p:spPr>
              <a:xfrm>
                <a:off x="6081931" y="2214844"/>
                <a:ext cx="117005" cy="84117"/>
              </a:xfrm>
              <a:custGeom>
                <a:avLst/>
                <a:gdLst>
                  <a:gd name="connsiteX0" fmla="*/ 103091 w 117005"/>
                  <a:gd name="connsiteY0" fmla="*/ 4427 h 84117"/>
                  <a:gd name="connsiteX1" fmla="*/ 113210 w 117005"/>
                  <a:gd name="connsiteY1" fmla="*/ 15812 h 84117"/>
                  <a:gd name="connsiteX2" fmla="*/ 117005 w 117005"/>
                  <a:gd name="connsiteY2" fmla="*/ 32255 h 84117"/>
                  <a:gd name="connsiteX3" fmla="*/ 117005 w 117005"/>
                  <a:gd name="connsiteY3" fmla="*/ 84117 h 84117"/>
                  <a:gd name="connsiteX4" fmla="*/ 104988 w 117005"/>
                  <a:gd name="connsiteY4" fmla="*/ 84117 h 84117"/>
                  <a:gd name="connsiteX5" fmla="*/ 104988 w 117005"/>
                  <a:gd name="connsiteY5" fmla="*/ 33520 h 84117"/>
                  <a:gd name="connsiteX6" fmla="*/ 99929 w 117005"/>
                  <a:gd name="connsiteY6" fmla="*/ 17076 h 84117"/>
                  <a:gd name="connsiteX7" fmla="*/ 86647 w 117005"/>
                  <a:gd name="connsiteY7" fmla="*/ 10752 h 84117"/>
                  <a:gd name="connsiteX8" fmla="*/ 70836 w 117005"/>
                  <a:gd name="connsiteY8" fmla="*/ 16444 h 84117"/>
                  <a:gd name="connsiteX9" fmla="*/ 64511 w 117005"/>
                  <a:gd name="connsiteY9" fmla="*/ 31623 h 84117"/>
                  <a:gd name="connsiteX10" fmla="*/ 64511 w 117005"/>
                  <a:gd name="connsiteY10" fmla="*/ 83485 h 84117"/>
                  <a:gd name="connsiteX11" fmla="*/ 52494 w 117005"/>
                  <a:gd name="connsiteY11" fmla="*/ 83485 h 84117"/>
                  <a:gd name="connsiteX12" fmla="*/ 52494 w 117005"/>
                  <a:gd name="connsiteY12" fmla="*/ 32888 h 84117"/>
                  <a:gd name="connsiteX13" fmla="*/ 47435 w 117005"/>
                  <a:gd name="connsiteY13" fmla="*/ 16444 h 84117"/>
                  <a:gd name="connsiteX14" fmla="*/ 34153 w 117005"/>
                  <a:gd name="connsiteY14" fmla="*/ 10119 h 84117"/>
                  <a:gd name="connsiteX15" fmla="*/ 18341 w 117005"/>
                  <a:gd name="connsiteY15" fmla="*/ 15812 h 84117"/>
                  <a:gd name="connsiteX16" fmla="*/ 12017 w 117005"/>
                  <a:gd name="connsiteY16" fmla="*/ 30991 h 84117"/>
                  <a:gd name="connsiteX17" fmla="*/ 12017 w 117005"/>
                  <a:gd name="connsiteY17" fmla="*/ 82852 h 84117"/>
                  <a:gd name="connsiteX18" fmla="*/ 0 w 117005"/>
                  <a:gd name="connsiteY18" fmla="*/ 82852 h 84117"/>
                  <a:gd name="connsiteX19" fmla="*/ 0 w 117005"/>
                  <a:gd name="connsiteY19" fmla="*/ 1897 h 84117"/>
                  <a:gd name="connsiteX20" fmla="*/ 12017 w 117005"/>
                  <a:gd name="connsiteY20" fmla="*/ 1897 h 84117"/>
                  <a:gd name="connsiteX21" fmla="*/ 12017 w 117005"/>
                  <a:gd name="connsiteY21" fmla="*/ 13914 h 84117"/>
                  <a:gd name="connsiteX22" fmla="*/ 21504 w 117005"/>
                  <a:gd name="connsiteY22" fmla="*/ 3795 h 84117"/>
                  <a:gd name="connsiteX23" fmla="*/ 36050 w 117005"/>
                  <a:gd name="connsiteY23" fmla="*/ 0 h 84117"/>
                  <a:gd name="connsiteX24" fmla="*/ 53127 w 117005"/>
                  <a:gd name="connsiteY24" fmla="*/ 5060 h 84117"/>
                  <a:gd name="connsiteX25" fmla="*/ 63246 w 117005"/>
                  <a:gd name="connsiteY25" fmla="*/ 18974 h 84117"/>
                  <a:gd name="connsiteX26" fmla="*/ 72100 w 117005"/>
                  <a:gd name="connsiteY26" fmla="*/ 5060 h 84117"/>
                  <a:gd name="connsiteX27" fmla="*/ 88544 w 117005"/>
                  <a:gd name="connsiteY27" fmla="*/ 0 h 84117"/>
                  <a:gd name="connsiteX28" fmla="*/ 103091 w 117005"/>
                  <a:gd name="connsiteY28" fmla="*/ 4427 h 8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05" h="84117">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cxnSp>
        <p:nvCxnSpPr>
          <p:cNvPr id="123" name="Straight Connector 122">
            <a:extLst>
              <a:ext uri="{FF2B5EF4-FFF2-40B4-BE49-F238E27FC236}">
                <a16:creationId xmlns:a16="http://schemas.microsoft.com/office/drawing/2014/main" id="{DC0BF841-5F03-5E6A-9132-61922E0880EC}"/>
              </a:ext>
            </a:extLst>
          </p:cNvPr>
          <p:cNvCxnSpPr/>
          <p:nvPr/>
        </p:nvCxnSpPr>
        <p:spPr bwMode="gray">
          <a:xfrm>
            <a:off x="4224760" y="3108946"/>
            <a:ext cx="0" cy="124257"/>
          </a:xfrm>
          <a:prstGeom prst="line">
            <a:avLst/>
          </a:prstGeom>
          <a:ln>
            <a:tailEnd type="none"/>
          </a:ln>
        </p:spPr>
        <p:style>
          <a:lnRef idx="1">
            <a:schemeClr val="accent2"/>
          </a:lnRef>
          <a:fillRef idx="0">
            <a:schemeClr val="accent2"/>
          </a:fillRef>
          <a:effectRef idx="0">
            <a:schemeClr val="accent2"/>
          </a:effectRef>
          <a:fontRef idx="minor">
            <a:schemeClr val="tx1"/>
          </a:fontRef>
        </p:style>
      </p:cxnSp>
      <p:cxnSp>
        <p:nvCxnSpPr>
          <p:cNvPr id="125" name="Straight Connector 124">
            <a:extLst>
              <a:ext uri="{FF2B5EF4-FFF2-40B4-BE49-F238E27FC236}">
                <a16:creationId xmlns:a16="http://schemas.microsoft.com/office/drawing/2014/main" id="{6F1560E5-9189-C7D1-E159-0569A4A4BB51}"/>
              </a:ext>
            </a:extLst>
          </p:cNvPr>
          <p:cNvCxnSpPr/>
          <p:nvPr/>
        </p:nvCxnSpPr>
        <p:spPr bwMode="gray">
          <a:xfrm>
            <a:off x="4521083" y="3108946"/>
            <a:ext cx="0" cy="124257"/>
          </a:xfrm>
          <a:prstGeom prst="line">
            <a:avLst/>
          </a:prstGeom>
          <a:ln>
            <a:tailEnd type="none"/>
          </a:ln>
        </p:spPr>
        <p:style>
          <a:lnRef idx="1">
            <a:schemeClr val="accent2"/>
          </a:lnRef>
          <a:fillRef idx="0">
            <a:schemeClr val="accent2"/>
          </a:fillRef>
          <a:effectRef idx="0">
            <a:schemeClr val="accent2"/>
          </a:effectRef>
          <a:fontRef idx="minor">
            <a:schemeClr val="tx1"/>
          </a:fontRef>
        </p:style>
      </p:cxnSp>
      <p:cxnSp>
        <p:nvCxnSpPr>
          <p:cNvPr id="127" name="Straight Connector 126">
            <a:extLst>
              <a:ext uri="{FF2B5EF4-FFF2-40B4-BE49-F238E27FC236}">
                <a16:creationId xmlns:a16="http://schemas.microsoft.com/office/drawing/2014/main" id="{4A889D49-BAEC-9BB2-2C0F-1C58E2835FE4}"/>
              </a:ext>
            </a:extLst>
          </p:cNvPr>
          <p:cNvCxnSpPr>
            <a:cxnSpLocks/>
          </p:cNvCxnSpPr>
          <p:nvPr/>
        </p:nvCxnSpPr>
        <p:spPr bwMode="gray">
          <a:xfrm>
            <a:off x="4752196" y="3709300"/>
            <a:ext cx="1264" cy="123441"/>
          </a:xfrm>
          <a:prstGeom prst="line">
            <a:avLst/>
          </a:prstGeom>
          <a:ln>
            <a:tailEnd type="none"/>
          </a:ln>
        </p:spPr>
        <p:style>
          <a:lnRef idx="1">
            <a:schemeClr val="accent2"/>
          </a:lnRef>
          <a:fillRef idx="0">
            <a:schemeClr val="accent2"/>
          </a:fillRef>
          <a:effectRef idx="0">
            <a:schemeClr val="accent2"/>
          </a:effectRef>
          <a:fontRef idx="minor">
            <a:schemeClr val="tx1"/>
          </a:fontRef>
        </p:style>
      </p:cxnSp>
      <p:cxnSp>
        <p:nvCxnSpPr>
          <p:cNvPr id="193" name="Straight Connector 192">
            <a:extLst>
              <a:ext uri="{FF2B5EF4-FFF2-40B4-BE49-F238E27FC236}">
                <a16:creationId xmlns:a16="http://schemas.microsoft.com/office/drawing/2014/main" id="{11BFC64E-4931-BA19-62E4-51574178F090}"/>
              </a:ext>
            </a:extLst>
          </p:cNvPr>
          <p:cNvCxnSpPr/>
          <p:nvPr/>
        </p:nvCxnSpPr>
        <p:spPr bwMode="gray">
          <a:xfrm>
            <a:off x="5075972" y="3702243"/>
            <a:ext cx="0" cy="130498"/>
          </a:xfrm>
          <a:prstGeom prst="line">
            <a:avLst/>
          </a:prstGeom>
          <a:ln>
            <a:tailEnd type="none"/>
          </a:ln>
        </p:spPr>
        <p:style>
          <a:lnRef idx="1">
            <a:schemeClr val="accent2"/>
          </a:lnRef>
          <a:fillRef idx="0">
            <a:schemeClr val="accent2"/>
          </a:fillRef>
          <a:effectRef idx="0">
            <a:schemeClr val="accent2"/>
          </a:effectRef>
          <a:fontRef idx="minor">
            <a:schemeClr val="tx1"/>
          </a:fontRef>
        </p:style>
      </p:cxnSp>
      <p:cxnSp>
        <p:nvCxnSpPr>
          <p:cNvPr id="195" name="Straight Connector 194">
            <a:extLst>
              <a:ext uri="{FF2B5EF4-FFF2-40B4-BE49-F238E27FC236}">
                <a16:creationId xmlns:a16="http://schemas.microsoft.com/office/drawing/2014/main" id="{0D64911A-0557-A4C2-98B1-D8F8E8FDBAD9}"/>
              </a:ext>
            </a:extLst>
          </p:cNvPr>
          <p:cNvCxnSpPr/>
          <p:nvPr/>
        </p:nvCxnSpPr>
        <p:spPr bwMode="gray">
          <a:xfrm>
            <a:off x="4224760" y="4307581"/>
            <a:ext cx="0" cy="135127"/>
          </a:xfrm>
          <a:prstGeom prst="line">
            <a:avLst/>
          </a:prstGeom>
          <a:ln>
            <a:tailEnd type="none"/>
          </a:ln>
        </p:spPr>
        <p:style>
          <a:lnRef idx="1">
            <a:schemeClr val="accent2"/>
          </a:lnRef>
          <a:fillRef idx="0">
            <a:schemeClr val="accent2"/>
          </a:fillRef>
          <a:effectRef idx="0">
            <a:schemeClr val="accent2"/>
          </a:effectRef>
          <a:fontRef idx="minor">
            <a:schemeClr val="tx1"/>
          </a:fontRef>
        </p:style>
      </p:cxnSp>
      <p:cxnSp>
        <p:nvCxnSpPr>
          <p:cNvPr id="200" name="Straight Connector 199">
            <a:extLst>
              <a:ext uri="{FF2B5EF4-FFF2-40B4-BE49-F238E27FC236}">
                <a16:creationId xmlns:a16="http://schemas.microsoft.com/office/drawing/2014/main" id="{BE2958A4-19F8-677D-46DF-853804092D24}"/>
              </a:ext>
            </a:extLst>
          </p:cNvPr>
          <p:cNvCxnSpPr>
            <a:stCxn id="54" idx="2"/>
          </p:cNvCxnSpPr>
          <p:nvPr/>
        </p:nvCxnSpPr>
        <p:spPr bwMode="gray">
          <a:xfrm>
            <a:off x="4784280" y="4307581"/>
            <a:ext cx="1264" cy="135127"/>
          </a:xfrm>
          <a:prstGeom prst="line">
            <a:avLst/>
          </a:prstGeom>
          <a:ln>
            <a:tailEnd type="non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81686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17828-23AE-F5E9-9778-8A350F6A80C1}"/>
              </a:ext>
            </a:extLst>
          </p:cNvPr>
          <p:cNvSpPr>
            <a:spLocks noGrp="1"/>
          </p:cNvSpPr>
          <p:nvPr>
            <p:ph type="title"/>
          </p:nvPr>
        </p:nvSpPr>
        <p:spPr/>
        <p:txBody>
          <a:bodyPr/>
          <a:lstStyle/>
          <a:p>
            <a:r>
              <a:rPr lang="en-US" dirty="0"/>
              <a:t>Easily deploy Kubernetes clusters with vSphere Kubernetes Service</a:t>
            </a:r>
          </a:p>
        </p:txBody>
      </p:sp>
      <p:sp>
        <p:nvSpPr>
          <p:cNvPr id="5" name="Subtitle 4">
            <a:extLst>
              <a:ext uri="{FF2B5EF4-FFF2-40B4-BE49-F238E27FC236}">
                <a16:creationId xmlns:a16="http://schemas.microsoft.com/office/drawing/2014/main" id="{566AB73C-F76D-82C5-4C7F-0EA46CEC088B}"/>
              </a:ext>
            </a:extLst>
          </p:cNvPr>
          <p:cNvSpPr>
            <a:spLocks noGrp="1"/>
          </p:cNvSpPr>
          <p:nvPr>
            <p:ph type="subTitle" idx="10"/>
          </p:nvPr>
        </p:nvSpPr>
        <p:spPr/>
        <p:txBody>
          <a:bodyPr/>
          <a:lstStyle/>
          <a:p>
            <a:r>
              <a:rPr lang="en-US" dirty="0"/>
              <a:t>Fully conformant Kubernetes clusters on demand in minutes</a:t>
            </a:r>
          </a:p>
        </p:txBody>
      </p:sp>
      <p:sp>
        <p:nvSpPr>
          <p:cNvPr id="7" name="Text Placeholder 6">
            <a:extLst>
              <a:ext uri="{FF2B5EF4-FFF2-40B4-BE49-F238E27FC236}">
                <a16:creationId xmlns:a16="http://schemas.microsoft.com/office/drawing/2014/main" id="{3793FDD5-345B-2B1A-947C-1648EF022AE7}"/>
              </a:ext>
            </a:extLst>
          </p:cNvPr>
          <p:cNvSpPr>
            <a:spLocks noGrp="1"/>
          </p:cNvSpPr>
          <p:nvPr>
            <p:ph type="body" sz="quarter" idx="20"/>
          </p:nvPr>
        </p:nvSpPr>
        <p:spPr/>
        <p:txBody>
          <a:bodyPr/>
          <a:lstStyle/>
          <a:p>
            <a:r>
              <a:rPr lang="en-US" sz="1600" dirty="0"/>
              <a:t>Rapid delivery of </a:t>
            </a:r>
            <a:r>
              <a:rPr lang="en-US" sz="1600" b="1" dirty="0"/>
              <a:t>decoupled VKS releases</a:t>
            </a:r>
          </a:p>
          <a:p>
            <a:r>
              <a:rPr lang="en-US" sz="1600" dirty="0"/>
              <a:t>Support for </a:t>
            </a:r>
            <a:r>
              <a:rPr lang="en-US" sz="1600" b="1" dirty="0"/>
              <a:t>Kubernetes 1.32</a:t>
            </a:r>
          </a:p>
          <a:p>
            <a:r>
              <a:rPr lang="en-US" sz="1600" dirty="0"/>
              <a:t>Bootstrapped with </a:t>
            </a:r>
            <a:r>
              <a:rPr lang="en-US" sz="1600" b="1" dirty="0"/>
              <a:t>Cluster API</a:t>
            </a:r>
          </a:p>
          <a:p>
            <a:r>
              <a:rPr lang="en-US" sz="1600" b="1" dirty="0"/>
              <a:t>Photon OS</a:t>
            </a:r>
            <a:r>
              <a:rPr lang="en-US" sz="1600" dirty="0"/>
              <a:t>, </a:t>
            </a:r>
            <a:r>
              <a:rPr lang="en-US" sz="1600" b="1" dirty="0"/>
              <a:t>Ubuntu</a:t>
            </a:r>
            <a:r>
              <a:rPr lang="en-US" sz="1600" dirty="0"/>
              <a:t>, and </a:t>
            </a:r>
            <a:r>
              <a:rPr lang="en-US" sz="1600" b="1" dirty="0"/>
              <a:t>Windows</a:t>
            </a:r>
            <a:r>
              <a:rPr lang="en-US" sz="1600" dirty="0"/>
              <a:t> support</a:t>
            </a:r>
          </a:p>
          <a:p>
            <a:r>
              <a:rPr lang="en-US" sz="1600" b="1" dirty="0"/>
              <a:t>Easy deployment </a:t>
            </a:r>
            <a:r>
              <a:rPr lang="en-US" sz="1600" dirty="0"/>
              <a:t>and</a:t>
            </a:r>
            <a:r>
              <a:rPr lang="en-US" sz="1600" b="1" dirty="0"/>
              <a:t> scaling</a:t>
            </a:r>
          </a:p>
        </p:txBody>
      </p:sp>
      <p:sp>
        <p:nvSpPr>
          <p:cNvPr id="8" name="Google Shape;2832;p4">
            <a:extLst>
              <a:ext uri="{FF2B5EF4-FFF2-40B4-BE49-F238E27FC236}">
                <a16:creationId xmlns:a16="http://schemas.microsoft.com/office/drawing/2014/main" id="{93B11032-6050-CDB4-2C14-82505911AD71}"/>
              </a:ext>
            </a:extLst>
          </p:cNvPr>
          <p:cNvSpPr/>
          <p:nvPr/>
        </p:nvSpPr>
        <p:spPr>
          <a:xfrm>
            <a:off x="4113272" y="5114869"/>
            <a:ext cx="6700058"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9" name="Google Shape;2833;p4">
            <a:extLst>
              <a:ext uri="{FF2B5EF4-FFF2-40B4-BE49-F238E27FC236}">
                <a16:creationId xmlns:a16="http://schemas.microsoft.com/office/drawing/2014/main" id="{ED6195A2-00C9-9845-1C45-A0FBA09755B1}"/>
              </a:ext>
            </a:extLst>
          </p:cNvPr>
          <p:cNvGrpSpPr/>
          <p:nvPr/>
        </p:nvGrpSpPr>
        <p:grpSpPr>
          <a:xfrm>
            <a:off x="3616609" y="4326173"/>
            <a:ext cx="7436648" cy="448438"/>
            <a:chOff x="6457" y="3088548"/>
            <a:chExt cx="12175910" cy="421612"/>
          </a:xfrm>
        </p:grpSpPr>
        <p:pic>
          <p:nvPicPr>
            <p:cNvPr id="10" name="Google Shape;2834;p4">
              <a:extLst>
                <a:ext uri="{FF2B5EF4-FFF2-40B4-BE49-F238E27FC236}">
                  <a16:creationId xmlns:a16="http://schemas.microsoft.com/office/drawing/2014/main" id="{6242A4BA-0761-27E8-1471-3E1B5FFBE113}"/>
                </a:ext>
              </a:extLst>
            </p:cNvPr>
            <p:cNvPicPr preferRelativeResize="0"/>
            <p:nvPr/>
          </p:nvPicPr>
          <p:blipFill rotWithShape="1">
            <a:blip r:embed="rId3">
              <a:alphaModFix amt="34000"/>
            </a:blip>
            <a:srcRect t="50513"/>
            <a:stretch/>
          </p:blipFill>
          <p:spPr>
            <a:xfrm>
              <a:off x="6457" y="3101668"/>
              <a:ext cx="12175910" cy="408492"/>
            </a:xfrm>
            <a:prstGeom prst="rect">
              <a:avLst/>
            </a:prstGeom>
            <a:noFill/>
            <a:ln>
              <a:noFill/>
            </a:ln>
          </p:spPr>
        </p:pic>
        <p:sp>
          <p:nvSpPr>
            <p:cNvPr id="11" name="Google Shape;2835;p4">
              <a:extLst>
                <a:ext uri="{FF2B5EF4-FFF2-40B4-BE49-F238E27FC236}">
                  <a16:creationId xmlns:a16="http://schemas.microsoft.com/office/drawing/2014/main" id="{0476969C-6484-DB7E-EEB5-9EA2F6520B32}"/>
                </a:ext>
              </a:extLst>
            </p:cNvPr>
            <p:cNvSpPr/>
            <p:nvPr/>
          </p:nvSpPr>
          <p:spPr>
            <a:xfrm rot="-5400000" flipH="1">
              <a:off x="6246689" y="-2240202"/>
              <a:ext cx="18300" cy="10675800"/>
            </a:xfrm>
            <a:prstGeom prst="rect">
              <a:avLst/>
            </a:prstGeom>
            <a:gradFill>
              <a:gsLst>
                <a:gs pos="0">
                  <a:srgbClr val="6C4B8F">
                    <a:alpha val="0"/>
                  </a:srgbClr>
                </a:gs>
                <a:gs pos="10000">
                  <a:srgbClr val="6C4B8F"/>
                </a:gs>
                <a:gs pos="22000">
                  <a:srgbClr val="005B84"/>
                </a:gs>
                <a:gs pos="41000">
                  <a:srgbClr val="005B84"/>
                </a:gs>
                <a:gs pos="60000">
                  <a:srgbClr val="41D1FE"/>
                </a:gs>
                <a:gs pos="90000">
                  <a:srgbClr val="007A86"/>
                </a:gs>
                <a:gs pos="100000">
                  <a:srgbClr val="007A86">
                    <a:alpha val="0"/>
                  </a:srgbClr>
                </a:gs>
              </a:gsLst>
              <a:lin ang="5400012"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12" name="Google Shape;2839;p4">
            <a:extLst>
              <a:ext uri="{FF2B5EF4-FFF2-40B4-BE49-F238E27FC236}">
                <a16:creationId xmlns:a16="http://schemas.microsoft.com/office/drawing/2014/main" id="{23EB18D5-E772-87CC-183D-AFE496024CA5}"/>
              </a:ext>
            </a:extLst>
          </p:cNvPr>
          <p:cNvSpPr/>
          <p:nvPr/>
        </p:nvSpPr>
        <p:spPr>
          <a:xfrm>
            <a:off x="4526119" y="3518079"/>
            <a:ext cx="1814370" cy="317647"/>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vSphere </a:t>
            </a:r>
            <a:b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b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Namespace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7" name="Google Shape;2844;p4">
            <a:extLst>
              <a:ext uri="{FF2B5EF4-FFF2-40B4-BE49-F238E27FC236}">
                <a16:creationId xmlns:a16="http://schemas.microsoft.com/office/drawing/2014/main" id="{B6931744-13C5-7916-CD1A-777BD69F70AE}"/>
              </a:ext>
            </a:extLst>
          </p:cNvPr>
          <p:cNvGrpSpPr/>
          <p:nvPr/>
        </p:nvGrpSpPr>
        <p:grpSpPr>
          <a:xfrm>
            <a:off x="5300513" y="3914404"/>
            <a:ext cx="257998" cy="353203"/>
            <a:chOff x="5000233" y="3506447"/>
            <a:chExt cx="283795" cy="388519"/>
          </a:xfrm>
        </p:grpSpPr>
        <p:sp>
          <p:nvSpPr>
            <p:cNvPr id="18" name="Google Shape;2845;p4">
              <a:extLst>
                <a:ext uri="{FF2B5EF4-FFF2-40B4-BE49-F238E27FC236}">
                  <a16:creationId xmlns:a16="http://schemas.microsoft.com/office/drawing/2014/main" id="{DC787701-CCD7-16C2-6DDD-F44D74DB3613}"/>
                </a:ext>
              </a:extLst>
            </p:cNvPr>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22352"/>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9" name="Google Shape;2846;p4">
              <a:extLst>
                <a:ext uri="{FF2B5EF4-FFF2-40B4-BE49-F238E27FC236}">
                  <a16:creationId xmlns:a16="http://schemas.microsoft.com/office/drawing/2014/main" id="{1F37BC44-6570-8E0E-85C2-1EEDE2807ECB}"/>
                </a:ext>
              </a:extLst>
            </p:cNvPr>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47450"/>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20" name="Google Shape;2847;p4">
              <a:extLst>
                <a:ext uri="{FF2B5EF4-FFF2-40B4-BE49-F238E27FC236}">
                  <a16:creationId xmlns:a16="http://schemas.microsoft.com/office/drawing/2014/main" id="{5AE6994C-071C-C2C9-7C51-EF0FE19F5646}"/>
                </a:ext>
              </a:extLst>
            </p:cNvPr>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grpSp>
        <p:nvGrpSpPr>
          <p:cNvPr id="21" name="Google Shape;2848;p4">
            <a:extLst>
              <a:ext uri="{FF2B5EF4-FFF2-40B4-BE49-F238E27FC236}">
                <a16:creationId xmlns:a16="http://schemas.microsoft.com/office/drawing/2014/main" id="{DF4CCED8-9601-0CEE-A5E7-D6DC2C7369E2}"/>
              </a:ext>
            </a:extLst>
          </p:cNvPr>
          <p:cNvGrpSpPr/>
          <p:nvPr/>
        </p:nvGrpSpPr>
        <p:grpSpPr>
          <a:xfrm>
            <a:off x="4608674" y="1904298"/>
            <a:ext cx="1557833" cy="1364965"/>
            <a:chOff x="805150" y="1625512"/>
            <a:chExt cx="1557833" cy="1364965"/>
          </a:xfrm>
        </p:grpSpPr>
        <p:sp>
          <p:nvSpPr>
            <p:cNvPr id="22" name="Google Shape;2849;p4">
              <a:extLst>
                <a:ext uri="{FF2B5EF4-FFF2-40B4-BE49-F238E27FC236}">
                  <a16:creationId xmlns:a16="http://schemas.microsoft.com/office/drawing/2014/main" id="{9BE73315-E853-579B-DF9A-D31B1304EFBB}"/>
                </a:ext>
              </a:extLst>
            </p:cNvPr>
            <p:cNvSpPr/>
            <p:nvPr/>
          </p:nvSpPr>
          <p:spPr>
            <a:xfrm>
              <a:off x="805150" y="1625512"/>
              <a:ext cx="1557833" cy="1364965"/>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nvGrpSpPr>
            <p:cNvPr id="23" name="Google Shape;2850;p4">
              <a:extLst>
                <a:ext uri="{FF2B5EF4-FFF2-40B4-BE49-F238E27FC236}">
                  <a16:creationId xmlns:a16="http://schemas.microsoft.com/office/drawing/2014/main" id="{292F493C-0F32-791E-62C3-23316A79D927}"/>
                </a:ext>
              </a:extLst>
            </p:cNvPr>
            <p:cNvGrpSpPr/>
            <p:nvPr/>
          </p:nvGrpSpPr>
          <p:grpSpPr>
            <a:xfrm>
              <a:off x="987548" y="1738474"/>
              <a:ext cx="1174334" cy="972000"/>
              <a:chOff x="3325948" y="1424891"/>
              <a:chExt cx="1694347" cy="1402415"/>
            </a:xfrm>
          </p:grpSpPr>
          <p:sp>
            <p:nvSpPr>
              <p:cNvPr id="25" name="Google Shape;2851;p4">
                <a:extLst>
                  <a:ext uri="{FF2B5EF4-FFF2-40B4-BE49-F238E27FC236}">
                    <a16:creationId xmlns:a16="http://schemas.microsoft.com/office/drawing/2014/main" id="{77E5D3A2-8932-6222-06E1-64209DF9CA99}"/>
                  </a:ext>
                </a:extLst>
              </p:cNvPr>
              <p:cNvSpPr/>
              <p:nvPr/>
            </p:nvSpPr>
            <p:spPr>
              <a:xfrm>
                <a:off x="4297641" y="1533016"/>
                <a:ext cx="528559"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6" name="Google Shape;2852;p4">
                <a:extLst>
                  <a:ext uri="{FF2B5EF4-FFF2-40B4-BE49-F238E27FC236}">
                    <a16:creationId xmlns:a16="http://schemas.microsoft.com/office/drawing/2014/main" id="{CE29C59C-ADE4-110B-948B-8CB261AB7FA6}"/>
                  </a:ext>
                </a:extLst>
              </p:cNvPr>
              <p:cNvSpPr/>
              <p:nvPr/>
            </p:nvSpPr>
            <p:spPr>
              <a:xfrm>
                <a:off x="4297642" y="2297981"/>
                <a:ext cx="474562"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27" name="Google Shape;2853;p4">
                <a:extLst>
                  <a:ext uri="{FF2B5EF4-FFF2-40B4-BE49-F238E27FC236}">
                    <a16:creationId xmlns:a16="http://schemas.microsoft.com/office/drawing/2014/main" id="{9CFEE516-1844-3C06-6047-2EC645714216}"/>
                  </a:ext>
                </a:extLst>
              </p:cNvPr>
              <p:cNvPicPr preferRelativeResize="0"/>
              <p:nvPr/>
            </p:nvPicPr>
            <p:blipFill rotWithShape="1">
              <a:blip r:embed="rId4">
                <a:alphaModFix/>
              </a:blip>
              <a:srcRect/>
              <a:stretch/>
            </p:blipFill>
            <p:spPr>
              <a:xfrm>
                <a:off x="3503144" y="1496410"/>
                <a:ext cx="392596" cy="392595"/>
              </a:xfrm>
              <a:prstGeom prst="rect">
                <a:avLst/>
              </a:prstGeom>
              <a:noFill/>
              <a:ln>
                <a:noFill/>
              </a:ln>
            </p:spPr>
          </p:pic>
          <p:sp>
            <p:nvSpPr>
              <p:cNvPr id="28" name="Google Shape;2854;p4">
                <a:extLst>
                  <a:ext uri="{FF2B5EF4-FFF2-40B4-BE49-F238E27FC236}">
                    <a16:creationId xmlns:a16="http://schemas.microsoft.com/office/drawing/2014/main" id="{9F057680-66E0-50B7-1E04-6775F3F6A749}"/>
                  </a:ext>
                </a:extLst>
              </p:cNvPr>
              <p:cNvSpPr txBox="1"/>
              <p:nvPr/>
            </p:nvSpPr>
            <p:spPr>
              <a:xfrm>
                <a:off x="3954242" y="1532844"/>
                <a:ext cx="886800" cy="31972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36DE6"/>
                    </a:solidFill>
                    <a:effectLst/>
                    <a:uLnTx/>
                    <a:uFillTx/>
                    <a:latin typeface="Arial"/>
                    <a:ea typeface="Arial"/>
                    <a:cs typeface="Arial"/>
                    <a:sym typeface="Arial"/>
                  </a:rPr>
                  <a:t>Kubernetes Applications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9" name="Google Shape;2855;p4">
                <a:extLst>
                  <a:ext uri="{FF2B5EF4-FFF2-40B4-BE49-F238E27FC236}">
                    <a16:creationId xmlns:a16="http://schemas.microsoft.com/office/drawing/2014/main" id="{AFFD255D-EDBA-332E-637A-E26BF5EDC266}"/>
                  </a:ext>
                </a:extLst>
              </p:cNvPr>
              <p:cNvSpPr/>
              <p:nvPr/>
            </p:nvSpPr>
            <p:spPr>
              <a:xfrm>
                <a:off x="3331847" y="1424891"/>
                <a:ext cx="1680883" cy="535632"/>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0" name="Google Shape;2856;p4">
                <a:extLst>
                  <a:ext uri="{FF2B5EF4-FFF2-40B4-BE49-F238E27FC236}">
                    <a16:creationId xmlns:a16="http://schemas.microsoft.com/office/drawing/2014/main" id="{F879825E-B753-A3AB-376D-D2E21DB8C243}"/>
                  </a:ext>
                </a:extLst>
              </p:cNvPr>
              <p:cNvSpPr/>
              <p:nvPr/>
            </p:nvSpPr>
            <p:spPr>
              <a:xfrm>
                <a:off x="3325948"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Node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1" name="Google Shape;2857;p4">
                <a:extLst>
                  <a:ext uri="{FF2B5EF4-FFF2-40B4-BE49-F238E27FC236}">
                    <a16:creationId xmlns:a16="http://schemas.microsoft.com/office/drawing/2014/main" id="{DA9BF87F-AE87-7760-F261-35F546FE2DB2}"/>
                  </a:ext>
                </a:extLst>
              </p:cNvPr>
              <p:cNvSpPr/>
              <p:nvPr/>
            </p:nvSpPr>
            <p:spPr>
              <a:xfrm>
                <a:off x="3912452"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Node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2" name="Google Shape;2858;p4">
                <a:extLst>
                  <a:ext uri="{FF2B5EF4-FFF2-40B4-BE49-F238E27FC236}">
                    <a16:creationId xmlns:a16="http://schemas.microsoft.com/office/drawing/2014/main" id="{B9FFAA28-2171-28CE-C3C7-F10278801E6E}"/>
                  </a:ext>
                </a:extLst>
              </p:cNvPr>
              <p:cNvSpPr/>
              <p:nvPr/>
            </p:nvSpPr>
            <p:spPr>
              <a:xfrm>
                <a:off x="4498957" y="2547405"/>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Node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3" name="Google Shape;2859;p4">
                <a:extLst>
                  <a:ext uri="{FF2B5EF4-FFF2-40B4-BE49-F238E27FC236}">
                    <a16:creationId xmlns:a16="http://schemas.microsoft.com/office/drawing/2014/main" id="{FF961DB1-29C3-D07D-6A8C-25DAE460AE53}"/>
                  </a:ext>
                </a:extLst>
              </p:cNvPr>
              <p:cNvSpPr/>
              <p:nvPr/>
            </p:nvSpPr>
            <p:spPr>
              <a:xfrm>
                <a:off x="3325949" y="2040092"/>
                <a:ext cx="1694346" cy="28565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34" name="Google Shape;2860;p4">
                <a:extLst>
                  <a:ext uri="{FF2B5EF4-FFF2-40B4-BE49-F238E27FC236}">
                    <a16:creationId xmlns:a16="http://schemas.microsoft.com/office/drawing/2014/main" id="{04570FF1-9406-4354-FB97-9FF359EB4632}"/>
                  </a:ext>
                </a:extLst>
              </p:cNvPr>
              <p:cNvCxnSpPr/>
              <p:nvPr/>
            </p:nvCxnSpPr>
            <p:spPr>
              <a:xfrm>
                <a:off x="4186614" y="2313793"/>
                <a:ext cx="0" cy="240408"/>
              </a:xfrm>
              <a:prstGeom prst="straightConnector1">
                <a:avLst/>
              </a:prstGeom>
              <a:noFill/>
              <a:ln w="10775" cap="flat" cmpd="sng">
                <a:solidFill>
                  <a:schemeClr val="accent2"/>
                </a:solidFill>
                <a:prstDash val="solid"/>
                <a:miter lim="800000"/>
                <a:headEnd type="none" w="sm" len="sm"/>
                <a:tailEnd type="none" w="sm" len="sm"/>
              </a:ln>
            </p:spPr>
          </p:cxnSp>
          <p:cxnSp>
            <p:nvCxnSpPr>
              <p:cNvPr id="35" name="Google Shape;2861;p4">
                <a:extLst>
                  <a:ext uri="{FF2B5EF4-FFF2-40B4-BE49-F238E27FC236}">
                    <a16:creationId xmlns:a16="http://schemas.microsoft.com/office/drawing/2014/main" id="{554B8F17-2243-2284-4E7D-14854A1BDA70}"/>
                  </a:ext>
                </a:extLst>
              </p:cNvPr>
              <p:cNvCxnSpPr/>
              <p:nvPr/>
            </p:nvCxnSpPr>
            <p:spPr>
              <a:xfrm>
                <a:off x="3603836"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36" name="Google Shape;2862;p4">
                <a:extLst>
                  <a:ext uri="{FF2B5EF4-FFF2-40B4-BE49-F238E27FC236}">
                    <a16:creationId xmlns:a16="http://schemas.microsoft.com/office/drawing/2014/main" id="{88CD1580-A897-149E-2345-BACE3596387E}"/>
                  </a:ext>
                </a:extLst>
              </p:cNvPr>
              <p:cNvCxnSpPr/>
              <p:nvPr/>
            </p:nvCxnSpPr>
            <p:spPr>
              <a:xfrm>
                <a:off x="4769392"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37" name="Google Shape;2863;p4">
                <a:extLst>
                  <a:ext uri="{FF2B5EF4-FFF2-40B4-BE49-F238E27FC236}">
                    <a16:creationId xmlns:a16="http://schemas.microsoft.com/office/drawing/2014/main" id="{24CEEC92-5D5C-DBAC-29F6-F82695AAB0CD}"/>
                  </a:ext>
                </a:extLst>
              </p:cNvPr>
              <p:cNvCxnSpPr/>
              <p:nvPr/>
            </p:nvCxnSpPr>
            <p:spPr>
              <a:xfrm>
                <a:off x="3599903" y="2431944"/>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24" name="Google Shape;2864;p4">
              <a:extLst>
                <a:ext uri="{FF2B5EF4-FFF2-40B4-BE49-F238E27FC236}">
                  <a16:creationId xmlns:a16="http://schemas.microsoft.com/office/drawing/2014/main" id="{B601099A-767E-FC19-3379-30C165B93314}"/>
                </a:ext>
              </a:extLst>
            </p:cNvPr>
            <p:cNvSpPr txBox="1"/>
            <p:nvPr/>
          </p:nvSpPr>
          <p:spPr>
            <a:xfrm>
              <a:off x="805150" y="2760707"/>
              <a:ext cx="1557833" cy="16158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Kubernetes Cluster</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38" name="Google Shape;2865;p4">
            <a:extLst>
              <a:ext uri="{FF2B5EF4-FFF2-40B4-BE49-F238E27FC236}">
                <a16:creationId xmlns:a16="http://schemas.microsoft.com/office/drawing/2014/main" id="{ABCDF611-FBF5-8C81-E841-8E37D1297036}"/>
              </a:ext>
            </a:extLst>
          </p:cNvPr>
          <p:cNvGrpSpPr/>
          <p:nvPr/>
        </p:nvGrpSpPr>
        <p:grpSpPr>
          <a:xfrm>
            <a:off x="4733641" y="1988653"/>
            <a:ext cx="1557833" cy="1364965"/>
            <a:chOff x="805150" y="1625512"/>
            <a:chExt cx="1557833" cy="1364965"/>
          </a:xfrm>
        </p:grpSpPr>
        <p:sp>
          <p:nvSpPr>
            <p:cNvPr id="39" name="Google Shape;2866;p4">
              <a:extLst>
                <a:ext uri="{FF2B5EF4-FFF2-40B4-BE49-F238E27FC236}">
                  <a16:creationId xmlns:a16="http://schemas.microsoft.com/office/drawing/2014/main" id="{C51B71B9-D903-09EC-6D0B-1DA34467FA89}"/>
                </a:ext>
              </a:extLst>
            </p:cNvPr>
            <p:cNvSpPr/>
            <p:nvPr/>
          </p:nvSpPr>
          <p:spPr>
            <a:xfrm>
              <a:off x="805150" y="1625512"/>
              <a:ext cx="1557833" cy="1364965"/>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nvGrpSpPr>
            <p:cNvPr id="40" name="Google Shape;2867;p4">
              <a:extLst>
                <a:ext uri="{FF2B5EF4-FFF2-40B4-BE49-F238E27FC236}">
                  <a16:creationId xmlns:a16="http://schemas.microsoft.com/office/drawing/2014/main" id="{72604A81-566A-74F0-2520-45B1C0E4F2AA}"/>
                </a:ext>
              </a:extLst>
            </p:cNvPr>
            <p:cNvGrpSpPr/>
            <p:nvPr/>
          </p:nvGrpSpPr>
          <p:grpSpPr>
            <a:xfrm>
              <a:off x="987548" y="1738474"/>
              <a:ext cx="1174334" cy="972000"/>
              <a:chOff x="3325948" y="1424891"/>
              <a:chExt cx="1694347" cy="1402415"/>
            </a:xfrm>
          </p:grpSpPr>
          <p:sp>
            <p:nvSpPr>
              <p:cNvPr id="42" name="Google Shape;2868;p4">
                <a:extLst>
                  <a:ext uri="{FF2B5EF4-FFF2-40B4-BE49-F238E27FC236}">
                    <a16:creationId xmlns:a16="http://schemas.microsoft.com/office/drawing/2014/main" id="{0AF7DD21-862C-7633-0A97-16B3E532C6BB}"/>
                  </a:ext>
                </a:extLst>
              </p:cNvPr>
              <p:cNvSpPr/>
              <p:nvPr/>
            </p:nvSpPr>
            <p:spPr>
              <a:xfrm>
                <a:off x="4297641" y="1533016"/>
                <a:ext cx="528559"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3" name="Google Shape;2869;p4">
                <a:extLst>
                  <a:ext uri="{FF2B5EF4-FFF2-40B4-BE49-F238E27FC236}">
                    <a16:creationId xmlns:a16="http://schemas.microsoft.com/office/drawing/2014/main" id="{629A8E9C-4B76-8122-08B7-AE1C1A6A976E}"/>
                  </a:ext>
                </a:extLst>
              </p:cNvPr>
              <p:cNvSpPr/>
              <p:nvPr/>
            </p:nvSpPr>
            <p:spPr>
              <a:xfrm>
                <a:off x="4297642" y="2297981"/>
                <a:ext cx="474562"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44" name="Google Shape;2870;p4">
                <a:extLst>
                  <a:ext uri="{FF2B5EF4-FFF2-40B4-BE49-F238E27FC236}">
                    <a16:creationId xmlns:a16="http://schemas.microsoft.com/office/drawing/2014/main" id="{1B2D3F89-A465-4615-9B88-7A0F675BB3C7}"/>
                  </a:ext>
                </a:extLst>
              </p:cNvPr>
              <p:cNvPicPr preferRelativeResize="0"/>
              <p:nvPr/>
            </p:nvPicPr>
            <p:blipFill rotWithShape="1">
              <a:blip r:embed="rId4">
                <a:alphaModFix/>
              </a:blip>
              <a:srcRect/>
              <a:stretch/>
            </p:blipFill>
            <p:spPr>
              <a:xfrm>
                <a:off x="3503144" y="1496410"/>
                <a:ext cx="392596" cy="392595"/>
              </a:xfrm>
              <a:prstGeom prst="rect">
                <a:avLst/>
              </a:prstGeom>
              <a:noFill/>
              <a:ln>
                <a:noFill/>
              </a:ln>
            </p:spPr>
          </p:pic>
          <p:sp>
            <p:nvSpPr>
              <p:cNvPr id="45" name="Google Shape;2871;p4">
                <a:extLst>
                  <a:ext uri="{FF2B5EF4-FFF2-40B4-BE49-F238E27FC236}">
                    <a16:creationId xmlns:a16="http://schemas.microsoft.com/office/drawing/2014/main" id="{94D918D9-A722-E938-C7E7-AF91E22BAA01}"/>
                  </a:ext>
                </a:extLst>
              </p:cNvPr>
              <p:cNvSpPr txBox="1"/>
              <p:nvPr/>
            </p:nvSpPr>
            <p:spPr>
              <a:xfrm>
                <a:off x="4000893" y="1545256"/>
                <a:ext cx="886800" cy="31972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36DE6"/>
                    </a:solidFill>
                    <a:effectLst/>
                    <a:uLnTx/>
                    <a:uFillTx/>
                    <a:latin typeface="Arial"/>
                    <a:ea typeface="Arial"/>
                    <a:cs typeface="Arial"/>
                    <a:sym typeface="Arial"/>
                  </a:rPr>
                  <a:t>Kubernetes Applications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6" name="Google Shape;2872;p4">
                <a:extLst>
                  <a:ext uri="{FF2B5EF4-FFF2-40B4-BE49-F238E27FC236}">
                    <a16:creationId xmlns:a16="http://schemas.microsoft.com/office/drawing/2014/main" id="{C93504F3-7AF8-4A2C-C0CB-F51DCB46533B}"/>
                  </a:ext>
                </a:extLst>
              </p:cNvPr>
              <p:cNvSpPr/>
              <p:nvPr/>
            </p:nvSpPr>
            <p:spPr>
              <a:xfrm>
                <a:off x="3331847" y="1424891"/>
                <a:ext cx="1680883" cy="535632"/>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7" name="Google Shape;2873;p4">
                <a:extLst>
                  <a:ext uri="{FF2B5EF4-FFF2-40B4-BE49-F238E27FC236}">
                    <a16:creationId xmlns:a16="http://schemas.microsoft.com/office/drawing/2014/main" id="{47048DDE-657D-2720-16E3-F8EF831784C3}"/>
                  </a:ext>
                </a:extLst>
              </p:cNvPr>
              <p:cNvSpPr/>
              <p:nvPr/>
            </p:nvSpPr>
            <p:spPr>
              <a:xfrm>
                <a:off x="3325948" y="2547405"/>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mn-ea"/>
                    <a:cs typeface="Arial"/>
                    <a:sym typeface="Arial"/>
                  </a:rPr>
                  <a:t>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8" name="Google Shape;2874;p4">
                <a:extLst>
                  <a:ext uri="{FF2B5EF4-FFF2-40B4-BE49-F238E27FC236}">
                    <a16:creationId xmlns:a16="http://schemas.microsoft.com/office/drawing/2014/main" id="{2650D2A3-706B-52BC-7FC1-F5743AE0A39B}"/>
                  </a:ext>
                </a:extLst>
              </p:cNvPr>
              <p:cNvSpPr/>
              <p:nvPr/>
            </p:nvSpPr>
            <p:spPr>
              <a:xfrm>
                <a:off x="3912452"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9" name="Google Shape;2875;p4">
                <a:extLst>
                  <a:ext uri="{FF2B5EF4-FFF2-40B4-BE49-F238E27FC236}">
                    <a16:creationId xmlns:a16="http://schemas.microsoft.com/office/drawing/2014/main" id="{77545E25-78CF-AD4F-C6ED-F859D19F781C}"/>
                  </a:ext>
                </a:extLst>
              </p:cNvPr>
              <p:cNvSpPr/>
              <p:nvPr/>
            </p:nvSpPr>
            <p:spPr>
              <a:xfrm>
                <a:off x="4498957" y="2547404"/>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a:ea typeface="Arial"/>
                    <a:cs typeface="Arial"/>
                    <a:sym typeface="Arial"/>
                  </a:rPr>
                  <a:t>N</a:t>
                </a:r>
                <a:endParaRPr kumimoji="0"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0" name="Google Shape;2876;p4">
                <a:extLst>
                  <a:ext uri="{FF2B5EF4-FFF2-40B4-BE49-F238E27FC236}">
                    <a16:creationId xmlns:a16="http://schemas.microsoft.com/office/drawing/2014/main" id="{6E7154A1-D16A-EDD7-5BF9-3EECB2F80EB6}"/>
                  </a:ext>
                </a:extLst>
              </p:cNvPr>
              <p:cNvSpPr/>
              <p:nvPr/>
            </p:nvSpPr>
            <p:spPr>
              <a:xfrm>
                <a:off x="3325949" y="2040092"/>
                <a:ext cx="1694346" cy="28565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51" name="Google Shape;2877;p4">
                <a:extLst>
                  <a:ext uri="{FF2B5EF4-FFF2-40B4-BE49-F238E27FC236}">
                    <a16:creationId xmlns:a16="http://schemas.microsoft.com/office/drawing/2014/main" id="{38813C77-9976-850C-1163-583949579F5B}"/>
                  </a:ext>
                </a:extLst>
              </p:cNvPr>
              <p:cNvCxnSpPr/>
              <p:nvPr/>
            </p:nvCxnSpPr>
            <p:spPr>
              <a:xfrm>
                <a:off x="4186614" y="2313793"/>
                <a:ext cx="0" cy="240408"/>
              </a:xfrm>
              <a:prstGeom prst="straightConnector1">
                <a:avLst/>
              </a:prstGeom>
              <a:noFill/>
              <a:ln w="10775" cap="flat" cmpd="sng">
                <a:solidFill>
                  <a:schemeClr val="accent2"/>
                </a:solidFill>
                <a:prstDash val="solid"/>
                <a:miter lim="800000"/>
                <a:headEnd type="none" w="sm" len="sm"/>
                <a:tailEnd type="none" w="sm" len="sm"/>
              </a:ln>
            </p:spPr>
          </p:cxnSp>
          <p:cxnSp>
            <p:nvCxnSpPr>
              <p:cNvPr id="52" name="Google Shape;2878;p4">
                <a:extLst>
                  <a:ext uri="{FF2B5EF4-FFF2-40B4-BE49-F238E27FC236}">
                    <a16:creationId xmlns:a16="http://schemas.microsoft.com/office/drawing/2014/main" id="{79B586A2-B9D6-2DC7-1D49-EEEB253CC6CE}"/>
                  </a:ext>
                </a:extLst>
              </p:cNvPr>
              <p:cNvCxnSpPr/>
              <p:nvPr/>
            </p:nvCxnSpPr>
            <p:spPr>
              <a:xfrm>
                <a:off x="3603836"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53" name="Google Shape;2879;p4">
                <a:extLst>
                  <a:ext uri="{FF2B5EF4-FFF2-40B4-BE49-F238E27FC236}">
                    <a16:creationId xmlns:a16="http://schemas.microsoft.com/office/drawing/2014/main" id="{7A70F959-6F7E-18FC-4F63-AB6F189AA4F3}"/>
                  </a:ext>
                </a:extLst>
              </p:cNvPr>
              <p:cNvCxnSpPr/>
              <p:nvPr/>
            </p:nvCxnSpPr>
            <p:spPr>
              <a:xfrm>
                <a:off x="4769392"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54" name="Google Shape;2880;p4">
                <a:extLst>
                  <a:ext uri="{FF2B5EF4-FFF2-40B4-BE49-F238E27FC236}">
                    <a16:creationId xmlns:a16="http://schemas.microsoft.com/office/drawing/2014/main" id="{40DBB20F-CC8C-52B2-F31E-9F022EB1F672}"/>
                  </a:ext>
                </a:extLst>
              </p:cNvPr>
              <p:cNvCxnSpPr/>
              <p:nvPr/>
            </p:nvCxnSpPr>
            <p:spPr>
              <a:xfrm>
                <a:off x="3599903" y="2431944"/>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41" name="Google Shape;2881;p4">
              <a:extLst>
                <a:ext uri="{FF2B5EF4-FFF2-40B4-BE49-F238E27FC236}">
                  <a16:creationId xmlns:a16="http://schemas.microsoft.com/office/drawing/2014/main" id="{A473CB5D-A85F-A518-9A79-DB672BE5E642}"/>
                </a:ext>
              </a:extLst>
            </p:cNvPr>
            <p:cNvSpPr txBox="1"/>
            <p:nvPr/>
          </p:nvSpPr>
          <p:spPr>
            <a:xfrm>
              <a:off x="805150" y="2760707"/>
              <a:ext cx="1557833" cy="16158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Kubernetes Cluster</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sp>
        <p:nvSpPr>
          <p:cNvPr id="96" name="Google Shape;2923;p4">
            <a:extLst>
              <a:ext uri="{FF2B5EF4-FFF2-40B4-BE49-F238E27FC236}">
                <a16:creationId xmlns:a16="http://schemas.microsoft.com/office/drawing/2014/main" id="{7F6C0C9E-FE95-AC24-2F5A-06FBB674CBD4}"/>
              </a:ext>
            </a:extLst>
          </p:cNvPr>
          <p:cNvSpPr/>
          <p:nvPr/>
        </p:nvSpPr>
        <p:spPr>
          <a:xfrm>
            <a:off x="4190743" y="4903623"/>
            <a:ext cx="6547773"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7" name="Google Shape;2924;p4">
            <a:extLst>
              <a:ext uri="{FF2B5EF4-FFF2-40B4-BE49-F238E27FC236}">
                <a16:creationId xmlns:a16="http://schemas.microsoft.com/office/drawing/2014/main" id="{35361A11-FD85-011A-E26C-34F6C9E0142F}"/>
              </a:ext>
            </a:extLst>
          </p:cNvPr>
          <p:cNvSpPr txBox="1"/>
          <p:nvPr/>
        </p:nvSpPr>
        <p:spPr>
          <a:xfrm>
            <a:off x="7030088" y="5014938"/>
            <a:ext cx="866659"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Arial"/>
                <a:cs typeface="Arial"/>
                <a:sym typeface="Arial"/>
              </a:rPr>
              <a:t>Supervisor</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8" name="Google Shape;2925;p4">
            <a:extLst>
              <a:ext uri="{FF2B5EF4-FFF2-40B4-BE49-F238E27FC236}">
                <a16:creationId xmlns:a16="http://schemas.microsoft.com/office/drawing/2014/main" id="{B63A73AE-61D2-1700-D956-EC65718FCC40}"/>
              </a:ext>
            </a:extLst>
          </p:cNvPr>
          <p:cNvSpPr txBox="1"/>
          <p:nvPr/>
        </p:nvSpPr>
        <p:spPr>
          <a:xfrm>
            <a:off x="4283035" y="4501570"/>
            <a:ext cx="2458266" cy="16927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D36"/>
                </a:solidFill>
                <a:effectLst/>
                <a:uLnTx/>
                <a:uFillTx/>
                <a:latin typeface="Arial"/>
                <a:ea typeface="Arial"/>
                <a:cs typeface="Arial"/>
                <a:sym typeface="Arial"/>
              </a:rPr>
              <a:t>vSphere Kubernetes Service (VKS)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1" name="Google Shape;2928;p4">
            <a:extLst>
              <a:ext uri="{FF2B5EF4-FFF2-40B4-BE49-F238E27FC236}">
                <a16:creationId xmlns:a16="http://schemas.microsoft.com/office/drawing/2014/main" id="{7987435B-4CAF-A03B-584B-7581AF69A07A}"/>
              </a:ext>
            </a:extLst>
          </p:cNvPr>
          <p:cNvSpPr/>
          <p:nvPr/>
        </p:nvSpPr>
        <p:spPr>
          <a:xfrm>
            <a:off x="4242753" y="4966270"/>
            <a:ext cx="1814370" cy="304750"/>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02" name="Google Shape;2929;p4">
            <a:extLst>
              <a:ext uri="{FF2B5EF4-FFF2-40B4-BE49-F238E27FC236}">
                <a16:creationId xmlns:a16="http://schemas.microsoft.com/office/drawing/2014/main" id="{01DA44B3-F45D-54A5-1909-11FC4D5BEBB2}"/>
              </a:ext>
            </a:extLst>
          </p:cNvPr>
          <p:cNvSpPr txBox="1"/>
          <p:nvPr/>
        </p:nvSpPr>
        <p:spPr>
          <a:xfrm>
            <a:off x="4567416" y="5025173"/>
            <a:ext cx="1438968" cy="179216"/>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Supervisor 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03" name="Google Shape;2930;p4">
            <a:extLst>
              <a:ext uri="{FF2B5EF4-FFF2-40B4-BE49-F238E27FC236}">
                <a16:creationId xmlns:a16="http://schemas.microsoft.com/office/drawing/2014/main" id="{2C1D8A2B-B72C-8FFB-A2BC-1671E52D04FF}"/>
              </a:ext>
            </a:extLst>
          </p:cNvPr>
          <p:cNvGrpSpPr/>
          <p:nvPr/>
        </p:nvGrpSpPr>
        <p:grpSpPr>
          <a:xfrm>
            <a:off x="4257297" y="4976991"/>
            <a:ext cx="288000" cy="288000"/>
            <a:chOff x="456349" y="4375620"/>
            <a:chExt cx="288000" cy="288000"/>
          </a:xfrm>
        </p:grpSpPr>
        <p:sp>
          <p:nvSpPr>
            <p:cNvPr id="104" name="Google Shape;2931;p4">
              <a:extLst>
                <a:ext uri="{FF2B5EF4-FFF2-40B4-BE49-F238E27FC236}">
                  <a16:creationId xmlns:a16="http://schemas.microsoft.com/office/drawing/2014/main" id="{83F49442-D6FC-02AB-753F-F4FED3842B3A}"/>
                </a:ext>
              </a:extLst>
            </p:cNvPr>
            <p:cNvSpPr/>
            <p:nvPr/>
          </p:nvSpPr>
          <p:spPr>
            <a:xfrm>
              <a:off x="456349" y="4375620"/>
              <a:ext cx="288000" cy="28800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05" name="Google Shape;2932;p4">
              <a:extLst>
                <a:ext uri="{FF2B5EF4-FFF2-40B4-BE49-F238E27FC236}">
                  <a16:creationId xmlns:a16="http://schemas.microsoft.com/office/drawing/2014/main" id="{0E760832-CF53-E848-2D76-E3D3852E9D4E}"/>
                </a:ext>
              </a:extLst>
            </p:cNvPr>
            <p:cNvSpPr/>
            <p:nvPr/>
          </p:nvSpPr>
          <p:spPr>
            <a:xfrm>
              <a:off x="501068" y="4430830"/>
              <a:ext cx="204951" cy="180919"/>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06" name="Google Shape;2933;p4">
            <a:extLst>
              <a:ext uri="{FF2B5EF4-FFF2-40B4-BE49-F238E27FC236}">
                <a16:creationId xmlns:a16="http://schemas.microsoft.com/office/drawing/2014/main" id="{58335E6B-717F-758D-0321-6FDA8A9FF346}"/>
              </a:ext>
            </a:extLst>
          </p:cNvPr>
          <p:cNvGrpSpPr/>
          <p:nvPr/>
        </p:nvGrpSpPr>
        <p:grpSpPr>
          <a:xfrm>
            <a:off x="6805769" y="5521887"/>
            <a:ext cx="1344725" cy="216064"/>
            <a:chOff x="3604782" y="5211713"/>
            <a:chExt cx="1344725" cy="216064"/>
          </a:xfrm>
        </p:grpSpPr>
        <p:grpSp>
          <p:nvGrpSpPr>
            <p:cNvPr id="107" name="Google Shape;2934;p4">
              <a:extLst>
                <a:ext uri="{FF2B5EF4-FFF2-40B4-BE49-F238E27FC236}">
                  <a16:creationId xmlns:a16="http://schemas.microsoft.com/office/drawing/2014/main" id="{03EB0ADD-81B5-336C-BD17-A3F57FCBCE09}"/>
                </a:ext>
              </a:extLst>
            </p:cNvPr>
            <p:cNvGrpSpPr/>
            <p:nvPr/>
          </p:nvGrpSpPr>
          <p:grpSpPr>
            <a:xfrm>
              <a:off x="4468307" y="5211713"/>
              <a:ext cx="481200" cy="216000"/>
              <a:chOff x="9559097" y="5270063"/>
              <a:chExt cx="481200" cy="216000"/>
            </a:xfrm>
          </p:grpSpPr>
          <p:sp>
            <p:nvSpPr>
              <p:cNvPr id="117" name="Google Shape;2935;p4">
                <a:extLst>
                  <a:ext uri="{FF2B5EF4-FFF2-40B4-BE49-F238E27FC236}">
                    <a16:creationId xmlns:a16="http://schemas.microsoft.com/office/drawing/2014/main" id="{336B344F-09AB-6B25-8597-072669206B8C}"/>
                  </a:ext>
                </a:extLst>
              </p:cNvPr>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18" name="Google Shape;2936;p4">
                <a:extLst>
                  <a:ext uri="{FF2B5EF4-FFF2-40B4-BE49-F238E27FC236}">
                    <a16:creationId xmlns:a16="http://schemas.microsoft.com/office/drawing/2014/main" id="{9F4E61E4-70F4-F10C-2887-38B0F921D008}"/>
                  </a:ext>
                </a:extLst>
              </p:cNvPr>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08" name="Google Shape;2937;p4">
              <a:extLst>
                <a:ext uri="{FF2B5EF4-FFF2-40B4-BE49-F238E27FC236}">
                  <a16:creationId xmlns:a16="http://schemas.microsoft.com/office/drawing/2014/main" id="{3CB478D1-C80A-0FF5-9ED3-065F540B1659}"/>
                </a:ext>
              </a:extLst>
            </p:cNvPr>
            <p:cNvGrpSpPr/>
            <p:nvPr/>
          </p:nvGrpSpPr>
          <p:grpSpPr>
            <a:xfrm>
              <a:off x="4059181" y="5211713"/>
              <a:ext cx="437400" cy="216000"/>
              <a:chOff x="9895949" y="1413332"/>
              <a:chExt cx="437400" cy="216000"/>
            </a:xfrm>
          </p:grpSpPr>
          <p:sp>
            <p:nvSpPr>
              <p:cNvPr id="115" name="Google Shape;2938;p4">
                <a:extLst>
                  <a:ext uri="{FF2B5EF4-FFF2-40B4-BE49-F238E27FC236}">
                    <a16:creationId xmlns:a16="http://schemas.microsoft.com/office/drawing/2014/main" id="{198D3759-2E73-E91B-EE00-55B833BA7E74}"/>
                  </a:ext>
                </a:extLst>
              </p:cNvPr>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16" name="Google Shape;2939;p4">
                <a:extLst>
                  <a:ext uri="{FF2B5EF4-FFF2-40B4-BE49-F238E27FC236}">
                    <a16:creationId xmlns:a16="http://schemas.microsoft.com/office/drawing/2014/main" id="{5B14FE7D-0859-D8B1-67B3-B730AEEFD2F2}"/>
                  </a:ext>
                </a:extLst>
              </p:cNvPr>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09" name="Google Shape;2940;p4">
              <a:extLst>
                <a:ext uri="{FF2B5EF4-FFF2-40B4-BE49-F238E27FC236}">
                  <a16:creationId xmlns:a16="http://schemas.microsoft.com/office/drawing/2014/main" id="{3662ECFA-04B7-5B9A-DC44-6DCFAD0A78C1}"/>
                </a:ext>
              </a:extLst>
            </p:cNvPr>
            <p:cNvGrpSpPr/>
            <p:nvPr/>
          </p:nvGrpSpPr>
          <p:grpSpPr>
            <a:xfrm>
              <a:off x="3604782" y="5211777"/>
              <a:ext cx="481200" cy="216000"/>
              <a:chOff x="8526343" y="2145622"/>
              <a:chExt cx="481200" cy="216000"/>
            </a:xfrm>
          </p:grpSpPr>
          <p:sp>
            <p:nvSpPr>
              <p:cNvPr id="110" name="Google Shape;2941;p4">
                <a:extLst>
                  <a:ext uri="{FF2B5EF4-FFF2-40B4-BE49-F238E27FC236}">
                    <a16:creationId xmlns:a16="http://schemas.microsoft.com/office/drawing/2014/main" id="{0E38202D-3E96-8874-3373-21788A08D2D1}"/>
                  </a:ext>
                </a:extLst>
              </p:cNvPr>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nvGrpSpPr>
              <p:cNvPr id="111" name="Google Shape;2942;p4">
                <a:extLst>
                  <a:ext uri="{FF2B5EF4-FFF2-40B4-BE49-F238E27FC236}">
                    <a16:creationId xmlns:a16="http://schemas.microsoft.com/office/drawing/2014/main" id="{D77B4E57-0E03-925F-4A8B-0F67B9015897}"/>
                  </a:ext>
                </a:extLst>
              </p:cNvPr>
              <p:cNvGrpSpPr/>
              <p:nvPr/>
            </p:nvGrpSpPr>
            <p:grpSpPr>
              <a:xfrm>
                <a:off x="8658941" y="2145622"/>
                <a:ext cx="216005" cy="216000"/>
                <a:chOff x="3822556" y="5087301"/>
                <a:chExt cx="611339" cy="557273"/>
              </a:xfrm>
            </p:grpSpPr>
            <p:sp>
              <p:nvSpPr>
                <p:cNvPr id="112" name="Google Shape;2943;p4">
                  <a:extLst>
                    <a:ext uri="{FF2B5EF4-FFF2-40B4-BE49-F238E27FC236}">
                      <a16:creationId xmlns:a16="http://schemas.microsoft.com/office/drawing/2014/main" id="{9C8BA8CC-4FDF-9411-B9C7-FA91223DA38E}"/>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3" name="Google Shape;2944;p4">
                  <a:extLst>
                    <a:ext uri="{FF2B5EF4-FFF2-40B4-BE49-F238E27FC236}">
                      <a16:creationId xmlns:a16="http://schemas.microsoft.com/office/drawing/2014/main" id="{6294947C-4A71-B1B4-841D-391BB672F7B7}"/>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4" name="Google Shape;2945;p4">
                  <a:extLst>
                    <a:ext uri="{FF2B5EF4-FFF2-40B4-BE49-F238E27FC236}">
                      <a16:creationId xmlns:a16="http://schemas.microsoft.com/office/drawing/2014/main" id="{C2C8DC87-AD5E-EA6D-3FF0-01ECC241B66E}"/>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119" name="Google Shape;3420;p8">
            <a:extLst>
              <a:ext uri="{FF2B5EF4-FFF2-40B4-BE49-F238E27FC236}">
                <a16:creationId xmlns:a16="http://schemas.microsoft.com/office/drawing/2014/main" id="{E5D7798D-406E-52E0-9E35-3DC20BB640BD}"/>
              </a:ext>
            </a:extLst>
          </p:cNvPr>
          <p:cNvGrpSpPr/>
          <p:nvPr/>
        </p:nvGrpSpPr>
        <p:grpSpPr>
          <a:xfrm>
            <a:off x="4567416" y="3540800"/>
            <a:ext cx="259961" cy="252000"/>
            <a:chOff x="6844091" y="3272403"/>
            <a:chExt cx="600837" cy="600837"/>
          </a:xfrm>
        </p:grpSpPr>
        <p:grpSp>
          <p:nvGrpSpPr>
            <p:cNvPr id="120" name="Google Shape;3421;p8" descr="Router&#10;">
              <a:extLst>
                <a:ext uri="{FF2B5EF4-FFF2-40B4-BE49-F238E27FC236}">
                  <a16:creationId xmlns:a16="http://schemas.microsoft.com/office/drawing/2014/main" id="{1D25344C-5126-19E8-A40E-8445C4729626}"/>
                </a:ext>
              </a:extLst>
            </p:cNvPr>
            <p:cNvGrpSpPr/>
            <p:nvPr/>
          </p:nvGrpSpPr>
          <p:grpSpPr>
            <a:xfrm>
              <a:off x="6844091" y="3272403"/>
              <a:ext cx="600837" cy="600837"/>
              <a:chOff x="529959" y="1943518"/>
              <a:chExt cx="600837" cy="600837"/>
            </a:xfrm>
          </p:grpSpPr>
          <p:sp>
            <p:nvSpPr>
              <p:cNvPr id="123" name="Google Shape;3422;p8">
                <a:extLst>
                  <a:ext uri="{FF2B5EF4-FFF2-40B4-BE49-F238E27FC236}">
                    <a16:creationId xmlns:a16="http://schemas.microsoft.com/office/drawing/2014/main" id="{BE832A49-B512-EEE8-6ADB-E232380B5A74}"/>
                  </a:ext>
                </a:extLst>
              </p:cNvPr>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4" name="Google Shape;3423;p8">
                <a:extLst>
                  <a:ext uri="{FF2B5EF4-FFF2-40B4-BE49-F238E27FC236}">
                    <a16:creationId xmlns:a16="http://schemas.microsoft.com/office/drawing/2014/main" id="{AB0A4735-1C9D-7667-0DEC-8A2F4D2C7542}"/>
                  </a:ext>
                </a:extLst>
              </p:cNvPr>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5" name="Google Shape;3424;p8">
                <a:extLst>
                  <a:ext uri="{FF2B5EF4-FFF2-40B4-BE49-F238E27FC236}">
                    <a16:creationId xmlns:a16="http://schemas.microsoft.com/office/drawing/2014/main" id="{858A65EE-B819-AB52-6D33-39484BB2FD10}"/>
                  </a:ext>
                </a:extLst>
              </p:cNvPr>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21" name="Google Shape;3425;p8">
              <a:extLst>
                <a:ext uri="{FF2B5EF4-FFF2-40B4-BE49-F238E27FC236}">
                  <a16:creationId xmlns:a16="http://schemas.microsoft.com/office/drawing/2014/main" id="{296A372C-B303-063B-8188-5249C22CB2AC}"/>
                </a:ext>
              </a:extLst>
            </p:cNvPr>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2" name="Google Shape;3426;p8">
              <a:extLst>
                <a:ext uri="{FF2B5EF4-FFF2-40B4-BE49-F238E27FC236}">
                  <a16:creationId xmlns:a16="http://schemas.microsoft.com/office/drawing/2014/main" id="{9833263C-BD3E-D7FE-A07B-8E3E8F1C3676}"/>
                </a:ext>
              </a:extLst>
            </p:cNvPr>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38" name="TextBox 137">
            <a:extLst>
              <a:ext uri="{FF2B5EF4-FFF2-40B4-BE49-F238E27FC236}">
                <a16:creationId xmlns:a16="http://schemas.microsoft.com/office/drawing/2014/main" id="{6676E33C-745A-C97A-C6DD-456E441DE45D}"/>
              </a:ext>
            </a:extLst>
          </p:cNvPr>
          <p:cNvSpPr txBox="1"/>
          <p:nvPr/>
        </p:nvSpPr>
        <p:spPr>
          <a:xfrm>
            <a:off x="18050003" y="1045922"/>
            <a:ext cx="4814253" cy="553998"/>
          </a:xfrm>
          <a:prstGeom prst="rect">
            <a:avLst/>
          </a:prstGeom>
          <a:noFill/>
          <a:ln>
            <a:solidFill>
              <a:schemeClr val="tx2"/>
            </a:solid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B1D3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B1D36"/>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88103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67CC2-A89D-A5F5-90B1-9A330DFD7D22}"/>
              </a:ext>
            </a:extLst>
          </p:cNvPr>
          <p:cNvSpPr>
            <a:spLocks noGrp="1"/>
          </p:cNvSpPr>
          <p:nvPr>
            <p:ph type="title"/>
          </p:nvPr>
        </p:nvSpPr>
        <p:spPr/>
        <p:txBody>
          <a:bodyPr/>
          <a:lstStyle/>
          <a:p>
            <a:r>
              <a:rPr lang="en-US" dirty="0"/>
              <a:t>Modernize Virtual Machine Management with VM Service</a:t>
            </a:r>
          </a:p>
        </p:txBody>
      </p:sp>
      <p:sp>
        <p:nvSpPr>
          <p:cNvPr id="5" name="Subtitle 4">
            <a:extLst>
              <a:ext uri="{FF2B5EF4-FFF2-40B4-BE49-F238E27FC236}">
                <a16:creationId xmlns:a16="http://schemas.microsoft.com/office/drawing/2014/main" id="{CF2F9801-FB82-708F-7701-3EE29E88F171}"/>
              </a:ext>
            </a:extLst>
          </p:cNvPr>
          <p:cNvSpPr>
            <a:spLocks noGrp="1"/>
          </p:cNvSpPr>
          <p:nvPr>
            <p:ph type="subTitle" idx="10"/>
          </p:nvPr>
        </p:nvSpPr>
        <p:spPr/>
        <p:txBody>
          <a:bodyPr/>
          <a:lstStyle/>
          <a:p>
            <a:r>
              <a:rPr lang="en-US" dirty="0"/>
              <a:t>Define Desired State for improved lifecycle </a:t>
            </a:r>
          </a:p>
        </p:txBody>
      </p:sp>
      <p:sp>
        <p:nvSpPr>
          <p:cNvPr id="7" name="Text Placeholder 6">
            <a:extLst>
              <a:ext uri="{FF2B5EF4-FFF2-40B4-BE49-F238E27FC236}">
                <a16:creationId xmlns:a16="http://schemas.microsoft.com/office/drawing/2014/main" id="{60027144-FE2C-637D-FFF3-7DB3CFFF664D}"/>
              </a:ext>
            </a:extLst>
          </p:cNvPr>
          <p:cNvSpPr>
            <a:spLocks noGrp="1"/>
          </p:cNvSpPr>
          <p:nvPr>
            <p:ph type="body" sz="quarter" idx="20"/>
          </p:nvPr>
        </p:nvSpPr>
        <p:spPr/>
        <p:txBody>
          <a:bodyPr/>
          <a:lstStyle/>
          <a:p>
            <a:r>
              <a:rPr lang="en-US" sz="1600" dirty="0"/>
              <a:t>Define Desired State of a Virtual Machine and manage it with the </a:t>
            </a:r>
            <a:r>
              <a:rPr lang="en-US" sz="1600" b="1" dirty="0"/>
              <a:t>same Declarative API</a:t>
            </a:r>
          </a:p>
          <a:p>
            <a:r>
              <a:rPr lang="en-US" sz="1600" dirty="0"/>
              <a:t>Deploy from </a:t>
            </a:r>
            <a:r>
              <a:rPr lang="en-US" sz="1600" b="1" dirty="0"/>
              <a:t>OVF</a:t>
            </a:r>
            <a:r>
              <a:rPr lang="en-US" sz="1600" dirty="0"/>
              <a:t> or </a:t>
            </a:r>
            <a:r>
              <a:rPr lang="en-US" sz="1600" b="1" dirty="0"/>
              <a:t>ISO</a:t>
            </a:r>
          </a:p>
          <a:p>
            <a:r>
              <a:rPr lang="en-US" sz="1600" dirty="0"/>
              <a:t>Define resources, devices and reservations with </a:t>
            </a:r>
            <a:r>
              <a:rPr lang="en-US" sz="1600" b="1" dirty="0"/>
              <a:t>VMclass</a:t>
            </a:r>
          </a:p>
          <a:p>
            <a:endParaRPr lang="en-US" sz="1600" b="1" dirty="0"/>
          </a:p>
        </p:txBody>
      </p:sp>
      <p:sp>
        <p:nvSpPr>
          <p:cNvPr id="116" name="Google Shape;2832;p4">
            <a:extLst>
              <a:ext uri="{FF2B5EF4-FFF2-40B4-BE49-F238E27FC236}">
                <a16:creationId xmlns:a16="http://schemas.microsoft.com/office/drawing/2014/main" id="{8D357D84-E002-D06E-9AAC-17C303736D43}"/>
              </a:ext>
            </a:extLst>
          </p:cNvPr>
          <p:cNvSpPr/>
          <p:nvPr/>
        </p:nvSpPr>
        <p:spPr>
          <a:xfrm>
            <a:off x="4113272" y="5114869"/>
            <a:ext cx="6700058"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17" name="Google Shape;2833;p4">
            <a:extLst>
              <a:ext uri="{FF2B5EF4-FFF2-40B4-BE49-F238E27FC236}">
                <a16:creationId xmlns:a16="http://schemas.microsoft.com/office/drawing/2014/main" id="{816CD9B2-3592-A8B9-751B-AE08FBA72DB5}"/>
              </a:ext>
            </a:extLst>
          </p:cNvPr>
          <p:cNvGrpSpPr/>
          <p:nvPr/>
        </p:nvGrpSpPr>
        <p:grpSpPr>
          <a:xfrm>
            <a:off x="3616609" y="4326173"/>
            <a:ext cx="7436648" cy="448438"/>
            <a:chOff x="6457" y="3088548"/>
            <a:chExt cx="12175910" cy="421612"/>
          </a:xfrm>
        </p:grpSpPr>
        <p:pic>
          <p:nvPicPr>
            <p:cNvPr id="118" name="Google Shape;2834;p4">
              <a:extLst>
                <a:ext uri="{FF2B5EF4-FFF2-40B4-BE49-F238E27FC236}">
                  <a16:creationId xmlns:a16="http://schemas.microsoft.com/office/drawing/2014/main" id="{61C1927A-024C-14CE-8920-1646EA18F0A9}"/>
                </a:ext>
              </a:extLst>
            </p:cNvPr>
            <p:cNvPicPr preferRelativeResize="0"/>
            <p:nvPr/>
          </p:nvPicPr>
          <p:blipFill rotWithShape="1">
            <a:blip r:embed="rId3">
              <a:alphaModFix amt="34000"/>
            </a:blip>
            <a:srcRect t="50513"/>
            <a:stretch/>
          </p:blipFill>
          <p:spPr>
            <a:xfrm>
              <a:off x="6457" y="3101668"/>
              <a:ext cx="12175910" cy="408492"/>
            </a:xfrm>
            <a:prstGeom prst="rect">
              <a:avLst/>
            </a:prstGeom>
            <a:noFill/>
            <a:ln>
              <a:noFill/>
            </a:ln>
          </p:spPr>
        </p:pic>
        <p:sp>
          <p:nvSpPr>
            <p:cNvPr id="119" name="Google Shape;2835;p4">
              <a:extLst>
                <a:ext uri="{FF2B5EF4-FFF2-40B4-BE49-F238E27FC236}">
                  <a16:creationId xmlns:a16="http://schemas.microsoft.com/office/drawing/2014/main" id="{07C88EE9-9E5F-6D41-8256-C307F71011E7}"/>
                </a:ext>
              </a:extLst>
            </p:cNvPr>
            <p:cNvSpPr/>
            <p:nvPr/>
          </p:nvSpPr>
          <p:spPr>
            <a:xfrm rot="-5400000" flipH="1">
              <a:off x="6246689" y="-2240202"/>
              <a:ext cx="18300" cy="10675800"/>
            </a:xfrm>
            <a:prstGeom prst="rect">
              <a:avLst/>
            </a:prstGeom>
            <a:gradFill>
              <a:gsLst>
                <a:gs pos="0">
                  <a:srgbClr val="6C4B8F">
                    <a:alpha val="0"/>
                  </a:srgbClr>
                </a:gs>
                <a:gs pos="10000">
                  <a:srgbClr val="6C4B8F"/>
                </a:gs>
                <a:gs pos="22000">
                  <a:srgbClr val="005B84"/>
                </a:gs>
                <a:gs pos="41000">
                  <a:srgbClr val="005B84"/>
                </a:gs>
                <a:gs pos="60000">
                  <a:srgbClr val="41D1FE"/>
                </a:gs>
                <a:gs pos="90000">
                  <a:srgbClr val="007A86"/>
                </a:gs>
                <a:gs pos="100000">
                  <a:srgbClr val="007A86">
                    <a:alpha val="0"/>
                  </a:srgbClr>
                </a:gs>
              </a:gsLst>
              <a:lin ang="5400012"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159" name="Google Shape;2923;p4">
            <a:extLst>
              <a:ext uri="{FF2B5EF4-FFF2-40B4-BE49-F238E27FC236}">
                <a16:creationId xmlns:a16="http://schemas.microsoft.com/office/drawing/2014/main" id="{6EF387DE-A1A0-B55C-E7EC-83065CB6D40A}"/>
              </a:ext>
            </a:extLst>
          </p:cNvPr>
          <p:cNvSpPr/>
          <p:nvPr/>
        </p:nvSpPr>
        <p:spPr>
          <a:xfrm>
            <a:off x="4190743" y="4903623"/>
            <a:ext cx="6547773"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0" name="Google Shape;2924;p4">
            <a:extLst>
              <a:ext uri="{FF2B5EF4-FFF2-40B4-BE49-F238E27FC236}">
                <a16:creationId xmlns:a16="http://schemas.microsoft.com/office/drawing/2014/main" id="{19914C20-0D3F-142B-BAAF-EC15F8783082}"/>
              </a:ext>
            </a:extLst>
          </p:cNvPr>
          <p:cNvSpPr txBox="1"/>
          <p:nvPr/>
        </p:nvSpPr>
        <p:spPr>
          <a:xfrm>
            <a:off x="7030088" y="5014938"/>
            <a:ext cx="866659"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Arial"/>
                <a:cs typeface="Arial"/>
                <a:sym typeface="Arial"/>
              </a:rPr>
              <a:t>Supervisor</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62" name="Google Shape;2928;p4">
            <a:extLst>
              <a:ext uri="{FF2B5EF4-FFF2-40B4-BE49-F238E27FC236}">
                <a16:creationId xmlns:a16="http://schemas.microsoft.com/office/drawing/2014/main" id="{7C4468EB-4350-FE26-8E50-0F09C123ABAE}"/>
              </a:ext>
            </a:extLst>
          </p:cNvPr>
          <p:cNvSpPr/>
          <p:nvPr/>
        </p:nvSpPr>
        <p:spPr>
          <a:xfrm>
            <a:off x="4242753" y="4966270"/>
            <a:ext cx="1814370" cy="304750"/>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63" name="Google Shape;2929;p4">
            <a:extLst>
              <a:ext uri="{FF2B5EF4-FFF2-40B4-BE49-F238E27FC236}">
                <a16:creationId xmlns:a16="http://schemas.microsoft.com/office/drawing/2014/main" id="{C26C42DF-AB2D-34F4-944C-5ACD32C14073}"/>
              </a:ext>
            </a:extLst>
          </p:cNvPr>
          <p:cNvSpPr txBox="1"/>
          <p:nvPr/>
        </p:nvSpPr>
        <p:spPr>
          <a:xfrm>
            <a:off x="4567416" y="5025173"/>
            <a:ext cx="1438968" cy="179216"/>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Supervisor 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64" name="Google Shape;2930;p4">
            <a:extLst>
              <a:ext uri="{FF2B5EF4-FFF2-40B4-BE49-F238E27FC236}">
                <a16:creationId xmlns:a16="http://schemas.microsoft.com/office/drawing/2014/main" id="{E3B81240-0EDD-6A7A-097A-886515CAA29E}"/>
              </a:ext>
            </a:extLst>
          </p:cNvPr>
          <p:cNvGrpSpPr/>
          <p:nvPr/>
        </p:nvGrpSpPr>
        <p:grpSpPr>
          <a:xfrm>
            <a:off x="4257297" y="4976991"/>
            <a:ext cx="288000" cy="288000"/>
            <a:chOff x="456349" y="4375620"/>
            <a:chExt cx="288000" cy="288000"/>
          </a:xfrm>
        </p:grpSpPr>
        <p:sp>
          <p:nvSpPr>
            <p:cNvPr id="165" name="Google Shape;2931;p4">
              <a:extLst>
                <a:ext uri="{FF2B5EF4-FFF2-40B4-BE49-F238E27FC236}">
                  <a16:creationId xmlns:a16="http://schemas.microsoft.com/office/drawing/2014/main" id="{1A354A39-6B4C-07E0-028A-4594FE0538ED}"/>
                </a:ext>
              </a:extLst>
            </p:cNvPr>
            <p:cNvSpPr/>
            <p:nvPr/>
          </p:nvSpPr>
          <p:spPr>
            <a:xfrm>
              <a:off x="456349" y="4375620"/>
              <a:ext cx="288000" cy="28800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66" name="Google Shape;2932;p4">
              <a:extLst>
                <a:ext uri="{FF2B5EF4-FFF2-40B4-BE49-F238E27FC236}">
                  <a16:creationId xmlns:a16="http://schemas.microsoft.com/office/drawing/2014/main" id="{5C32B7C7-DEA6-6834-6D71-AC05E8B22585}"/>
                </a:ext>
              </a:extLst>
            </p:cNvPr>
            <p:cNvSpPr/>
            <p:nvPr/>
          </p:nvSpPr>
          <p:spPr>
            <a:xfrm>
              <a:off x="501068" y="4430830"/>
              <a:ext cx="204951" cy="180919"/>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67" name="Google Shape;2933;p4">
            <a:extLst>
              <a:ext uri="{FF2B5EF4-FFF2-40B4-BE49-F238E27FC236}">
                <a16:creationId xmlns:a16="http://schemas.microsoft.com/office/drawing/2014/main" id="{2B696DD2-5998-8208-D55E-9378D40B6846}"/>
              </a:ext>
            </a:extLst>
          </p:cNvPr>
          <p:cNvGrpSpPr/>
          <p:nvPr/>
        </p:nvGrpSpPr>
        <p:grpSpPr>
          <a:xfrm>
            <a:off x="6805769" y="5521887"/>
            <a:ext cx="1344725" cy="216064"/>
            <a:chOff x="3604782" y="5211713"/>
            <a:chExt cx="1344725" cy="216064"/>
          </a:xfrm>
        </p:grpSpPr>
        <p:grpSp>
          <p:nvGrpSpPr>
            <p:cNvPr id="168" name="Google Shape;2934;p4">
              <a:extLst>
                <a:ext uri="{FF2B5EF4-FFF2-40B4-BE49-F238E27FC236}">
                  <a16:creationId xmlns:a16="http://schemas.microsoft.com/office/drawing/2014/main" id="{8F68B905-72E8-1643-2D28-53B53C92FDE6}"/>
                </a:ext>
              </a:extLst>
            </p:cNvPr>
            <p:cNvGrpSpPr/>
            <p:nvPr/>
          </p:nvGrpSpPr>
          <p:grpSpPr>
            <a:xfrm>
              <a:off x="4468307" y="5211713"/>
              <a:ext cx="481200" cy="216000"/>
              <a:chOff x="9559097" y="5270063"/>
              <a:chExt cx="481200" cy="216000"/>
            </a:xfrm>
          </p:grpSpPr>
          <p:sp>
            <p:nvSpPr>
              <p:cNvPr id="178" name="Google Shape;2935;p4">
                <a:extLst>
                  <a:ext uri="{FF2B5EF4-FFF2-40B4-BE49-F238E27FC236}">
                    <a16:creationId xmlns:a16="http://schemas.microsoft.com/office/drawing/2014/main" id="{8A59E10C-556F-7C9C-BBC9-321392DFF44B}"/>
                  </a:ext>
                </a:extLst>
              </p:cNvPr>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79" name="Google Shape;2936;p4">
                <a:extLst>
                  <a:ext uri="{FF2B5EF4-FFF2-40B4-BE49-F238E27FC236}">
                    <a16:creationId xmlns:a16="http://schemas.microsoft.com/office/drawing/2014/main" id="{37E140E9-FA61-62CE-57E0-D80E3F41D602}"/>
                  </a:ext>
                </a:extLst>
              </p:cNvPr>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69" name="Google Shape;2937;p4">
              <a:extLst>
                <a:ext uri="{FF2B5EF4-FFF2-40B4-BE49-F238E27FC236}">
                  <a16:creationId xmlns:a16="http://schemas.microsoft.com/office/drawing/2014/main" id="{3A87A8CA-74F1-33B2-A5C2-4E03FAB5DA4C}"/>
                </a:ext>
              </a:extLst>
            </p:cNvPr>
            <p:cNvGrpSpPr/>
            <p:nvPr/>
          </p:nvGrpSpPr>
          <p:grpSpPr>
            <a:xfrm>
              <a:off x="4059181" y="5211713"/>
              <a:ext cx="437400" cy="216000"/>
              <a:chOff x="9895949" y="1413332"/>
              <a:chExt cx="437400" cy="216000"/>
            </a:xfrm>
          </p:grpSpPr>
          <p:sp>
            <p:nvSpPr>
              <p:cNvPr id="176" name="Google Shape;2938;p4">
                <a:extLst>
                  <a:ext uri="{FF2B5EF4-FFF2-40B4-BE49-F238E27FC236}">
                    <a16:creationId xmlns:a16="http://schemas.microsoft.com/office/drawing/2014/main" id="{E6872D34-C0BA-2893-B2C7-7FD73786E8B6}"/>
                  </a:ext>
                </a:extLst>
              </p:cNvPr>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77" name="Google Shape;2939;p4">
                <a:extLst>
                  <a:ext uri="{FF2B5EF4-FFF2-40B4-BE49-F238E27FC236}">
                    <a16:creationId xmlns:a16="http://schemas.microsoft.com/office/drawing/2014/main" id="{4E858623-0C74-68EE-6DF8-3BC126CB102F}"/>
                  </a:ext>
                </a:extLst>
              </p:cNvPr>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70" name="Google Shape;2940;p4">
              <a:extLst>
                <a:ext uri="{FF2B5EF4-FFF2-40B4-BE49-F238E27FC236}">
                  <a16:creationId xmlns:a16="http://schemas.microsoft.com/office/drawing/2014/main" id="{CB3D4DA8-EE31-FE27-B4A4-2BEE6D153757}"/>
                </a:ext>
              </a:extLst>
            </p:cNvPr>
            <p:cNvGrpSpPr/>
            <p:nvPr/>
          </p:nvGrpSpPr>
          <p:grpSpPr>
            <a:xfrm>
              <a:off x="3604782" y="5211777"/>
              <a:ext cx="481200" cy="216000"/>
              <a:chOff x="8526343" y="2145622"/>
              <a:chExt cx="481200" cy="216000"/>
            </a:xfrm>
          </p:grpSpPr>
          <p:sp>
            <p:nvSpPr>
              <p:cNvPr id="171" name="Google Shape;2941;p4">
                <a:extLst>
                  <a:ext uri="{FF2B5EF4-FFF2-40B4-BE49-F238E27FC236}">
                    <a16:creationId xmlns:a16="http://schemas.microsoft.com/office/drawing/2014/main" id="{EB795B0F-1AA4-1A0B-0FAD-7C449214CC75}"/>
                  </a:ext>
                </a:extLst>
              </p:cNvPr>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nvGrpSpPr>
              <p:cNvPr id="172" name="Google Shape;2942;p4">
                <a:extLst>
                  <a:ext uri="{FF2B5EF4-FFF2-40B4-BE49-F238E27FC236}">
                    <a16:creationId xmlns:a16="http://schemas.microsoft.com/office/drawing/2014/main" id="{23DD2CB9-7F51-85AA-EAA4-A0A5C74D297C}"/>
                  </a:ext>
                </a:extLst>
              </p:cNvPr>
              <p:cNvGrpSpPr/>
              <p:nvPr/>
            </p:nvGrpSpPr>
            <p:grpSpPr>
              <a:xfrm>
                <a:off x="8658941" y="2145622"/>
                <a:ext cx="216005" cy="216000"/>
                <a:chOff x="3822556" y="5087301"/>
                <a:chExt cx="611339" cy="557273"/>
              </a:xfrm>
            </p:grpSpPr>
            <p:sp>
              <p:nvSpPr>
                <p:cNvPr id="173" name="Google Shape;2943;p4">
                  <a:extLst>
                    <a:ext uri="{FF2B5EF4-FFF2-40B4-BE49-F238E27FC236}">
                      <a16:creationId xmlns:a16="http://schemas.microsoft.com/office/drawing/2014/main" id="{DB784D27-C5AC-45A2-051A-E7F54B348E60}"/>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74" name="Google Shape;2944;p4">
                  <a:extLst>
                    <a:ext uri="{FF2B5EF4-FFF2-40B4-BE49-F238E27FC236}">
                      <a16:creationId xmlns:a16="http://schemas.microsoft.com/office/drawing/2014/main" id="{0C549F05-47D1-186E-CAF6-6B69A7182827}"/>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75" name="Google Shape;2945;p4">
                  <a:extLst>
                    <a:ext uri="{FF2B5EF4-FFF2-40B4-BE49-F238E27FC236}">
                      <a16:creationId xmlns:a16="http://schemas.microsoft.com/office/drawing/2014/main" id="{DC703521-8EB7-EB74-5222-4BBB0902CAB6}"/>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187" name="Google Shape;2840;p4">
            <a:extLst>
              <a:ext uri="{FF2B5EF4-FFF2-40B4-BE49-F238E27FC236}">
                <a16:creationId xmlns:a16="http://schemas.microsoft.com/office/drawing/2014/main" id="{13CE0508-93F5-AD6E-C685-8C9D905B1CD5}"/>
              </a:ext>
            </a:extLst>
          </p:cNvPr>
          <p:cNvGrpSpPr/>
          <p:nvPr/>
        </p:nvGrpSpPr>
        <p:grpSpPr>
          <a:xfrm>
            <a:off x="7350723" y="3910798"/>
            <a:ext cx="257998" cy="353203"/>
            <a:chOff x="5000233" y="3506447"/>
            <a:chExt cx="283795" cy="388519"/>
          </a:xfrm>
        </p:grpSpPr>
        <p:sp>
          <p:nvSpPr>
            <p:cNvPr id="188" name="Google Shape;2841;p4">
              <a:extLst>
                <a:ext uri="{FF2B5EF4-FFF2-40B4-BE49-F238E27FC236}">
                  <a16:creationId xmlns:a16="http://schemas.microsoft.com/office/drawing/2014/main" id="{E797AC67-9D56-934C-2B15-25383D4DDB75}"/>
                </a:ext>
              </a:extLst>
            </p:cNvPr>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22352"/>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89" name="Google Shape;2842;p4">
              <a:extLst>
                <a:ext uri="{FF2B5EF4-FFF2-40B4-BE49-F238E27FC236}">
                  <a16:creationId xmlns:a16="http://schemas.microsoft.com/office/drawing/2014/main" id="{E29B414E-4248-D7BD-F0FE-9D22D0569DE1}"/>
                </a:ext>
              </a:extLst>
            </p:cNvPr>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47450"/>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90" name="Google Shape;2843;p4">
              <a:extLst>
                <a:ext uri="{FF2B5EF4-FFF2-40B4-BE49-F238E27FC236}">
                  <a16:creationId xmlns:a16="http://schemas.microsoft.com/office/drawing/2014/main" id="{5D193F9B-667D-21E2-6C24-0EA298DFA44B}"/>
                </a:ext>
              </a:extLst>
            </p:cNvPr>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grpSp>
        <p:nvGrpSpPr>
          <p:cNvPr id="191" name="Google Shape;2882;p4">
            <a:extLst>
              <a:ext uri="{FF2B5EF4-FFF2-40B4-BE49-F238E27FC236}">
                <a16:creationId xmlns:a16="http://schemas.microsoft.com/office/drawing/2014/main" id="{56F6F4E0-DD02-9469-FF12-3B06037F3099}"/>
              </a:ext>
            </a:extLst>
          </p:cNvPr>
          <p:cNvGrpSpPr/>
          <p:nvPr/>
        </p:nvGrpSpPr>
        <p:grpSpPr>
          <a:xfrm>
            <a:off x="6885187" y="2255775"/>
            <a:ext cx="1143070" cy="946519"/>
            <a:chOff x="2558676" y="1416583"/>
            <a:chExt cx="1143070" cy="946519"/>
          </a:xfrm>
        </p:grpSpPr>
        <p:sp>
          <p:nvSpPr>
            <p:cNvPr id="192" name="Google Shape;2883;p4">
              <a:extLst>
                <a:ext uri="{FF2B5EF4-FFF2-40B4-BE49-F238E27FC236}">
                  <a16:creationId xmlns:a16="http://schemas.microsoft.com/office/drawing/2014/main" id="{EE530748-D804-22B0-2013-3B470909DD57}"/>
                </a:ext>
              </a:extLst>
            </p:cNvPr>
            <p:cNvSpPr/>
            <p:nvPr/>
          </p:nvSpPr>
          <p:spPr>
            <a:xfrm>
              <a:off x="2558676" y="1416583"/>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5C8A"/>
                  </a:solidFill>
                  <a:effectLst/>
                  <a:uLnTx/>
                  <a:uFillTx/>
                  <a:latin typeface="Arial"/>
                  <a:ea typeface="Arial"/>
                  <a:cs typeface="Arial"/>
                  <a:sym typeface="Arial"/>
                </a:rPr>
                <a:t>VM</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93" name="Google Shape;2884;p4">
              <a:extLst>
                <a:ext uri="{FF2B5EF4-FFF2-40B4-BE49-F238E27FC236}">
                  <a16:creationId xmlns:a16="http://schemas.microsoft.com/office/drawing/2014/main" id="{3B8543A7-2078-7EBA-0133-9C1DB3D7E0C1}"/>
                </a:ext>
              </a:extLst>
            </p:cNvPr>
            <p:cNvGrpSpPr/>
            <p:nvPr/>
          </p:nvGrpSpPr>
          <p:grpSpPr>
            <a:xfrm>
              <a:off x="2828939" y="1548245"/>
              <a:ext cx="297739" cy="292247"/>
              <a:chOff x="1465490" y="3219301"/>
              <a:chExt cx="438300" cy="438301"/>
            </a:xfrm>
          </p:grpSpPr>
          <p:sp>
            <p:nvSpPr>
              <p:cNvPr id="210" name="Google Shape;2885;p4">
                <a:extLst>
                  <a:ext uri="{FF2B5EF4-FFF2-40B4-BE49-F238E27FC236}">
                    <a16:creationId xmlns:a16="http://schemas.microsoft.com/office/drawing/2014/main" id="{E8F7EB5D-D9F4-9E21-9D55-B3E1AF298157}"/>
                  </a:ext>
                </a:extLst>
              </p:cNvPr>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211" name="Google Shape;2886;p4">
                <a:extLst>
                  <a:ext uri="{FF2B5EF4-FFF2-40B4-BE49-F238E27FC236}">
                    <a16:creationId xmlns:a16="http://schemas.microsoft.com/office/drawing/2014/main" id="{1656B206-B809-4AA4-E36E-FE95FC302FC7}"/>
                  </a:ext>
                </a:extLst>
              </p:cNvPr>
              <p:cNvGrpSpPr/>
              <p:nvPr/>
            </p:nvGrpSpPr>
            <p:grpSpPr>
              <a:xfrm>
                <a:off x="1561461" y="3315270"/>
                <a:ext cx="245369" cy="245370"/>
                <a:chOff x="979296" y="1541158"/>
                <a:chExt cx="1054511" cy="1054515"/>
              </a:xfrm>
            </p:grpSpPr>
            <p:sp>
              <p:nvSpPr>
                <p:cNvPr id="212" name="Google Shape;2887;p4">
                  <a:extLst>
                    <a:ext uri="{FF2B5EF4-FFF2-40B4-BE49-F238E27FC236}">
                      <a16:creationId xmlns:a16="http://schemas.microsoft.com/office/drawing/2014/main" id="{98948719-EFBC-46EC-E91D-53EB2173DFC2}"/>
                    </a:ext>
                  </a:extLst>
                </p:cNvPr>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213" name="Google Shape;2888;p4">
                  <a:extLst>
                    <a:ext uri="{FF2B5EF4-FFF2-40B4-BE49-F238E27FC236}">
                      <a16:creationId xmlns:a16="http://schemas.microsoft.com/office/drawing/2014/main" id="{F4C5D8DE-0D74-4675-C7F1-E819B521F091}"/>
                    </a:ext>
                  </a:extLst>
                </p:cNvPr>
                <p:cNvGrpSpPr/>
                <p:nvPr/>
              </p:nvGrpSpPr>
              <p:grpSpPr>
                <a:xfrm>
                  <a:off x="1296246" y="2002748"/>
                  <a:ext cx="390297" cy="146863"/>
                  <a:chOff x="1296246" y="2002748"/>
                  <a:chExt cx="390297" cy="146863"/>
                </a:xfrm>
              </p:grpSpPr>
              <p:sp>
                <p:nvSpPr>
                  <p:cNvPr id="214" name="Google Shape;2889;p4">
                    <a:extLst>
                      <a:ext uri="{FF2B5EF4-FFF2-40B4-BE49-F238E27FC236}">
                        <a16:creationId xmlns:a16="http://schemas.microsoft.com/office/drawing/2014/main" id="{5443B1F8-5BA0-D708-A756-2335EE29211D}"/>
                      </a:ext>
                    </a:extLst>
                  </p:cNvPr>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5" name="Google Shape;2890;p4">
                    <a:extLst>
                      <a:ext uri="{FF2B5EF4-FFF2-40B4-BE49-F238E27FC236}">
                        <a16:creationId xmlns:a16="http://schemas.microsoft.com/office/drawing/2014/main" id="{A66B6CB1-7742-A634-1ABB-86BE1419BB6E}"/>
                      </a:ext>
                    </a:extLst>
                  </p:cNvPr>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sp>
          <p:nvSpPr>
            <p:cNvPr id="194" name="Google Shape;2891;p4">
              <a:extLst>
                <a:ext uri="{FF2B5EF4-FFF2-40B4-BE49-F238E27FC236}">
                  <a16:creationId xmlns:a16="http://schemas.microsoft.com/office/drawing/2014/main" id="{01443079-6E2A-6735-A222-D43959C576AB}"/>
                </a:ext>
              </a:extLst>
            </p:cNvPr>
            <p:cNvSpPr/>
            <p:nvPr/>
          </p:nvSpPr>
          <p:spPr>
            <a:xfrm>
              <a:off x="2694285" y="1521061"/>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5C8A"/>
                  </a:solidFill>
                  <a:effectLst/>
                  <a:uLnTx/>
                  <a:uFillTx/>
                  <a:latin typeface="Arial"/>
                  <a:ea typeface="Arial"/>
                  <a:cs typeface="Arial"/>
                  <a:sym typeface="Arial"/>
                </a:rPr>
                <a:t>VM</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95" name="Google Shape;2892;p4">
              <a:extLst>
                <a:ext uri="{FF2B5EF4-FFF2-40B4-BE49-F238E27FC236}">
                  <a16:creationId xmlns:a16="http://schemas.microsoft.com/office/drawing/2014/main" id="{B3786180-AC6B-3D7B-B831-F3F730C4AAFD}"/>
                </a:ext>
              </a:extLst>
            </p:cNvPr>
            <p:cNvGrpSpPr/>
            <p:nvPr/>
          </p:nvGrpSpPr>
          <p:grpSpPr>
            <a:xfrm>
              <a:off x="2981339" y="1700645"/>
              <a:ext cx="297739" cy="292247"/>
              <a:chOff x="1465490" y="3219301"/>
              <a:chExt cx="438300" cy="438301"/>
            </a:xfrm>
          </p:grpSpPr>
          <p:sp>
            <p:nvSpPr>
              <p:cNvPr id="204" name="Google Shape;2893;p4">
                <a:extLst>
                  <a:ext uri="{FF2B5EF4-FFF2-40B4-BE49-F238E27FC236}">
                    <a16:creationId xmlns:a16="http://schemas.microsoft.com/office/drawing/2014/main" id="{A7F852FC-540D-A15E-FB9F-68C3D7D656D1}"/>
                  </a:ext>
                </a:extLst>
              </p:cNvPr>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205" name="Google Shape;2894;p4">
                <a:extLst>
                  <a:ext uri="{FF2B5EF4-FFF2-40B4-BE49-F238E27FC236}">
                    <a16:creationId xmlns:a16="http://schemas.microsoft.com/office/drawing/2014/main" id="{B1ED5FF9-FBFC-A1C1-758D-E0C1206C6F82}"/>
                  </a:ext>
                </a:extLst>
              </p:cNvPr>
              <p:cNvGrpSpPr/>
              <p:nvPr/>
            </p:nvGrpSpPr>
            <p:grpSpPr>
              <a:xfrm>
                <a:off x="1561461" y="3315270"/>
                <a:ext cx="245369" cy="245370"/>
                <a:chOff x="979296" y="1541158"/>
                <a:chExt cx="1054511" cy="1054515"/>
              </a:xfrm>
            </p:grpSpPr>
            <p:sp>
              <p:nvSpPr>
                <p:cNvPr id="206" name="Google Shape;2895;p4">
                  <a:extLst>
                    <a:ext uri="{FF2B5EF4-FFF2-40B4-BE49-F238E27FC236}">
                      <a16:creationId xmlns:a16="http://schemas.microsoft.com/office/drawing/2014/main" id="{F81BF9F4-6AF8-16F0-717B-928802F68ACF}"/>
                    </a:ext>
                  </a:extLst>
                </p:cNvPr>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207" name="Google Shape;2896;p4">
                  <a:extLst>
                    <a:ext uri="{FF2B5EF4-FFF2-40B4-BE49-F238E27FC236}">
                      <a16:creationId xmlns:a16="http://schemas.microsoft.com/office/drawing/2014/main" id="{C9243276-EDF9-5B06-F2B4-BB3F4A53B267}"/>
                    </a:ext>
                  </a:extLst>
                </p:cNvPr>
                <p:cNvGrpSpPr/>
                <p:nvPr/>
              </p:nvGrpSpPr>
              <p:grpSpPr>
                <a:xfrm>
                  <a:off x="1296246" y="2002748"/>
                  <a:ext cx="390297" cy="146863"/>
                  <a:chOff x="1296246" y="2002748"/>
                  <a:chExt cx="390297" cy="146863"/>
                </a:xfrm>
              </p:grpSpPr>
              <p:sp>
                <p:nvSpPr>
                  <p:cNvPr id="208" name="Google Shape;2897;p4">
                    <a:extLst>
                      <a:ext uri="{FF2B5EF4-FFF2-40B4-BE49-F238E27FC236}">
                        <a16:creationId xmlns:a16="http://schemas.microsoft.com/office/drawing/2014/main" id="{1733D57E-C7CE-2294-39B9-971FF49D0AF5}"/>
                      </a:ext>
                    </a:extLst>
                  </p:cNvPr>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9" name="Google Shape;2898;p4">
                    <a:extLst>
                      <a:ext uri="{FF2B5EF4-FFF2-40B4-BE49-F238E27FC236}">
                        <a16:creationId xmlns:a16="http://schemas.microsoft.com/office/drawing/2014/main" id="{6EC6F59F-50BE-C2C7-82FC-518D25CD35F0}"/>
                      </a:ext>
                    </a:extLst>
                  </p:cNvPr>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sp>
          <p:nvSpPr>
            <p:cNvPr id="196" name="Google Shape;2899;p4">
              <a:extLst>
                <a:ext uri="{FF2B5EF4-FFF2-40B4-BE49-F238E27FC236}">
                  <a16:creationId xmlns:a16="http://schemas.microsoft.com/office/drawing/2014/main" id="{E7006270-FFD4-E64C-96B5-0124CA97543C}"/>
                </a:ext>
              </a:extLst>
            </p:cNvPr>
            <p:cNvSpPr/>
            <p:nvPr/>
          </p:nvSpPr>
          <p:spPr>
            <a:xfrm>
              <a:off x="2863476" y="1621631"/>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VM</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97" name="Google Shape;2900;p4">
              <a:extLst>
                <a:ext uri="{FF2B5EF4-FFF2-40B4-BE49-F238E27FC236}">
                  <a16:creationId xmlns:a16="http://schemas.microsoft.com/office/drawing/2014/main" id="{45927038-A93A-DB2D-B1FF-9742053ACEDE}"/>
                </a:ext>
              </a:extLst>
            </p:cNvPr>
            <p:cNvGrpSpPr/>
            <p:nvPr/>
          </p:nvGrpSpPr>
          <p:grpSpPr>
            <a:xfrm>
              <a:off x="3133739" y="1753293"/>
              <a:ext cx="297739" cy="292247"/>
              <a:chOff x="1465490" y="3219301"/>
              <a:chExt cx="438300" cy="438301"/>
            </a:xfrm>
          </p:grpSpPr>
          <p:sp>
            <p:nvSpPr>
              <p:cNvPr id="198" name="Google Shape;2901;p4">
                <a:extLst>
                  <a:ext uri="{FF2B5EF4-FFF2-40B4-BE49-F238E27FC236}">
                    <a16:creationId xmlns:a16="http://schemas.microsoft.com/office/drawing/2014/main" id="{A3480D23-C427-6804-5C8C-A00D1AFBDA48}"/>
                  </a:ext>
                </a:extLst>
              </p:cNvPr>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199" name="Google Shape;2902;p4">
                <a:extLst>
                  <a:ext uri="{FF2B5EF4-FFF2-40B4-BE49-F238E27FC236}">
                    <a16:creationId xmlns:a16="http://schemas.microsoft.com/office/drawing/2014/main" id="{BB473215-1CAF-6725-CCE4-9577DCC4C14A}"/>
                  </a:ext>
                </a:extLst>
              </p:cNvPr>
              <p:cNvGrpSpPr/>
              <p:nvPr/>
            </p:nvGrpSpPr>
            <p:grpSpPr>
              <a:xfrm>
                <a:off x="1561461" y="3315270"/>
                <a:ext cx="245369" cy="245370"/>
                <a:chOff x="979296" y="1541158"/>
                <a:chExt cx="1054511" cy="1054515"/>
              </a:xfrm>
            </p:grpSpPr>
            <p:sp>
              <p:nvSpPr>
                <p:cNvPr id="200" name="Google Shape;2903;p4">
                  <a:extLst>
                    <a:ext uri="{FF2B5EF4-FFF2-40B4-BE49-F238E27FC236}">
                      <a16:creationId xmlns:a16="http://schemas.microsoft.com/office/drawing/2014/main" id="{4584264E-C29D-4906-2578-0C31D6413746}"/>
                    </a:ext>
                  </a:extLst>
                </p:cNvPr>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201" name="Google Shape;2904;p4">
                  <a:extLst>
                    <a:ext uri="{FF2B5EF4-FFF2-40B4-BE49-F238E27FC236}">
                      <a16:creationId xmlns:a16="http://schemas.microsoft.com/office/drawing/2014/main" id="{858C18AC-1B88-A137-A195-B0C0AD01F043}"/>
                    </a:ext>
                  </a:extLst>
                </p:cNvPr>
                <p:cNvGrpSpPr/>
                <p:nvPr/>
              </p:nvGrpSpPr>
              <p:grpSpPr>
                <a:xfrm>
                  <a:off x="1296246" y="2002748"/>
                  <a:ext cx="390297" cy="146863"/>
                  <a:chOff x="1296246" y="2002748"/>
                  <a:chExt cx="390297" cy="146863"/>
                </a:xfrm>
              </p:grpSpPr>
              <p:sp>
                <p:nvSpPr>
                  <p:cNvPr id="202" name="Google Shape;2905;p4">
                    <a:extLst>
                      <a:ext uri="{FF2B5EF4-FFF2-40B4-BE49-F238E27FC236}">
                        <a16:creationId xmlns:a16="http://schemas.microsoft.com/office/drawing/2014/main" id="{1CD42C7C-6AAC-3E17-A824-9CFD6D62E7A2}"/>
                      </a:ext>
                    </a:extLst>
                  </p:cNvPr>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3" name="Google Shape;2906;p4">
                    <a:extLst>
                      <a:ext uri="{FF2B5EF4-FFF2-40B4-BE49-F238E27FC236}">
                        <a16:creationId xmlns:a16="http://schemas.microsoft.com/office/drawing/2014/main" id="{9F199E82-0F3F-A1D0-806A-64F6CA49C017}"/>
                      </a:ext>
                    </a:extLst>
                  </p:cNvPr>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sp>
        <p:nvSpPr>
          <p:cNvPr id="216" name="Google Shape;2910;p4">
            <a:extLst>
              <a:ext uri="{FF2B5EF4-FFF2-40B4-BE49-F238E27FC236}">
                <a16:creationId xmlns:a16="http://schemas.microsoft.com/office/drawing/2014/main" id="{4226CFA7-E5EE-551C-A895-6DCAC847546A}"/>
              </a:ext>
            </a:extLst>
          </p:cNvPr>
          <p:cNvSpPr/>
          <p:nvPr/>
        </p:nvSpPr>
        <p:spPr>
          <a:xfrm>
            <a:off x="6554546" y="3514006"/>
            <a:ext cx="1814370" cy="317647"/>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vSphere </a:t>
            </a:r>
            <a:b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b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Namespace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17" name="Google Shape;2926;p4">
            <a:extLst>
              <a:ext uri="{FF2B5EF4-FFF2-40B4-BE49-F238E27FC236}">
                <a16:creationId xmlns:a16="http://schemas.microsoft.com/office/drawing/2014/main" id="{0289E03F-0D8C-6EBB-A8B0-08DF1B9D6B10}"/>
              </a:ext>
            </a:extLst>
          </p:cNvPr>
          <p:cNvSpPr txBox="1"/>
          <p:nvPr/>
        </p:nvSpPr>
        <p:spPr>
          <a:xfrm>
            <a:off x="6851257" y="4535509"/>
            <a:ext cx="1255221" cy="16927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D36"/>
                </a:solidFill>
                <a:effectLst/>
                <a:uLnTx/>
                <a:uFillTx/>
                <a:latin typeface="Arial"/>
                <a:ea typeface="Arial"/>
                <a:cs typeface="Arial"/>
                <a:sym typeface="Arial"/>
              </a:rPr>
              <a:t>VM Service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218" name="Google Shape;3420;p8">
            <a:extLst>
              <a:ext uri="{FF2B5EF4-FFF2-40B4-BE49-F238E27FC236}">
                <a16:creationId xmlns:a16="http://schemas.microsoft.com/office/drawing/2014/main" id="{8651D7A1-362A-FD72-5D37-8D2B893F7236}"/>
              </a:ext>
            </a:extLst>
          </p:cNvPr>
          <p:cNvGrpSpPr/>
          <p:nvPr/>
        </p:nvGrpSpPr>
        <p:grpSpPr>
          <a:xfrm>
            <a:off x="6604597" y="3543912"/>
            <a:ext cx="259961" cy="252000"/>
            <a:chOff x="6844091" y="3272403"/>
            <a:chExt cx="600837" cy="600837"/>
          </a:xfrm>
        </p:grpSpPr>
        <p:grpSp>
          <p:nvGrpSpPr>
            <p:cNvPr id="219" name="Google Shape;3421;p8" descr="Router&#10;">
              <a:extLst>
                <a:ext uri="{FF2B5EF4-FFF2-40B4-BE49-F238E27FC236}">
                  <a16:creationId xmlns:a16="http://schemas.microsoft.com/office/drawing/2014/main" id="{D0ADE951-0A9E-E7E2-A5B6-ADEEF63A29B3}"/>
                </a:ext>
              </a:extLst>
            </p:cNvPr>
            <p:cNvGrpSpPr/>
            <p:nvPr/>
          </p:nvGrpSpPr>
          <p:grpSpPr>
            <a:xfrm>
              <a:off x="6844091" y="3272403"/>
              <a:ext cx="600837" cy="600837"/>
              <a:chOff x="529959" y="1943518"/>
              <a:chExt cx="600837" cy="600837"/>
            </a:xfrm>
          </p:grpSpPr>
          <p:sp>
            <p:nvSpPr>
              <p:cNvPr id="222" name="Google Shape;3422;p8">
                <a:extLst>
                  <a:ext uri="{FF2B5EF4-FFF2-40B4-BE49-F238E27FC236}">
                    <a16:creationId xmlns:a16="http://schemas.microsoft.com/office/drawing/2014/main" id="{6358ACF2-1F2C-1153-D397-81944E839261}"/>
                  </a:ext>
                </a:extLst>
              </p:cNvPr>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3" name="Google Shape;3423;p8">
                <a:extLst>
                  <a:ext uri="{FF2B5EF4-FFF2-40B4-BE49-F238E27FC236}">
                    <a16:creationId xmlns:a16="http://schemas.microsoft.com/office/drawing/2014/main" id="{DB9364BC-B691-09FB-2AA0-F4758A3F644A}"/>
                  </a:ext>
                </a:extLst>
              </p:cNvPr>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4" name="Google Shape;3424;p8">
                <a:extLst>
                  <a:ext uri="{FF2B5EF4-FFF2-40B4-BE49-F238E27FC236}">
                    <a16:creationId xmlns:a16="http://schemas.microsoft.com/office/drawing/2014/main" id="{2369DA3D-CCCD-87A7-F91A-93E1E39D6CEA}"/>
                  </a:ext>
                </a:extLst>
              </p:cNvPr>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20" name="Google Shape;3425;p8">
              <a:extLst>
                <a:ext uri="{FF2B5EF4-FFF2-40B4-BE49-F238E27FC236}">
                  <a16:creationId xmlns:a16="http://schemas.microsoft.com/office/drawing/2014/main" id="{5CE72B11-FAA4-8992-139B-B2A88E1D5291}"/>
                </a:ext>
              </a:extLst>
            </p:cNvPr>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1" name="Google Shape;3426;p8">
              <a:extLst>
                <a:ext uri="{FF2B5EF4-FFF2-40B4-BE49-F238E27FC236}">
                  <a16:creationId xmlns:a16="http://schemas.microsoft.com/office/drawing/2014/main" id="{1608991A-F823-A432-9A17-FDBE6FA4CCB8}"/>
                </a:ext>
              </a:extLst>
            </p:cNvPr>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2097842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258E5-3C30-22A9-F9B2-CEFC8836FB5A}"/>
              </a:ext>
            </a:extLst>
          </p:cNvPr>
          <p:cNvSpPr>
            <a:spLocks noGrp="1"/>
          </p:cNvSpPr>
          <p:nvPr>
            <p:ph type="title"/>
          </p:nvPr>
        </p:nvSpPr>
        <p:spPr/>
        <p:txBody>
          <a:bodyPr/>
          <a:lstStyle/>
          <a:p>
            <a:r>
              <a:rPr lang="en-US" dirty="0"/>
              <a:t>Simplify Secret Management with Secret Store</a:t>
            </a:r>
          </a:p>
        </p:txBody>
      </p:sp>
      <p:sp>
        <p:nvSpPr>
          <p:cNvPr id="3" name="Subtitle 2">
            <a:extLst>
              <a:ext uri="{FF2B5EF4-FFF2-40B4-BE49-F238E27FC236}">
                <a16:creationId xmlns:a16="http://schemas.microsoft.com/office/drawing/2014/main" id="{91AF7371-7D02-F7D2-C588-D83219750F09}"/>
              </a:ext>
            </a:extLst>
          </p:cNvPr>
          <p:cNvSpPr>
            <a:spLocks noGrp="1"/>
          </p:cNvSpPr>
          <p:nvPr>
            <p:ph type="subTitle" idx="10"/>
          </p:nvPr>
        </p:nvSpPr>
        <p:spPr/>
        <p:txBody>
          <a:bodyPr/>
          <a:lstStyle/>
          <a:p>
            <a:r>
              <a:rPr lang="en-US" dirty="0"/>
              <a:t>Introducing Secret Store Supervisor Service</a:t>
            </a:r>
          </a:p>
        </p:txBody>
      </p:sp>
      <p:sp>
        <p:nvSpPr>
          <p:cNvPr id="6" name="Text Placeholder 5">
            <a:extLst>
              <a:ext uri="{FF2B5EF4-FFF2-40B4-BE49-F238E27FC236}">
                <a16:creationId xmlns:a16="http://schemas.microsoft.com/office/drawing/2014/main" id="{AED4EC0D-2EDB-CEE4-C4F3-F1E0BFF4D6F0}"/>
              </a:ext>
            </a:extLst>
          </p:cNvPr>
          <p:cNvSpPr>
            <a:spLocks noGrp="1"/>
          </p:cNvSpPr>
          <p:nvPr>
            <p:ph type="body" sz="quarter" idx="20"/>
          </p:nvPr>
        </p:nvSpPr>
        <p:spPr/>
        <p:txBody>
          <a:bodyPr/>
          <a:lstStyle/>
          <a:p>
            <a:r>
              <a:rPr lang="en-US" sz="1600" dirty="0"/>
              <a:t>Centralized Secret Store for Secret Management</a:t>
            </a:r>
          </a:p>
          <a:p>
            <a:r>
              <a:rPr lang="en-US" sz="1600" dirty="0"/>
              <a:t>Secret Injection into VMs, vSphere Pods and Kubernetes Pods</a:t>
            </a:r>
          </a:p>
          <a:p>
            <a:r>
              <a:rPr lang="en-US" sz="1600" dirty="0"/>
              <a:t>Encrypted Secrets by Default</a:t>
            </a:r>
          </a:p>
          <a:p>
            <a:r>
              <a:rPr lang="en-US" sz="1600" dirty="0"/>
              <a:t>vSphere namespace level isolation</a:t>
            </a:r>
          </a:p>
          <a:p>
            <a:endParaRPr lang="en-US" sz="1600" dirty="0"/>
          </a:p>
        </p:txBody>
      </p:sp>
      <p:sp>
        <p:nvSpPr>
          <p:cNvPr id="7" name="Google Shape;2832;p4">
            <a:extLst>
              <a:ext uri="{FF2B5EF4-FFF2-40B4-BE49-F238E27FC236}">
                <a16:creationId xmlns:a16="http://schemas.microsoft.com/office/drawing/2014/main" id="{4766FA2D-F81F-C794-F37A-35DFB106552D}"/>
              </a:ext>
            </a:extLst>
          </p:cNvPr>
          <p:cNvSpPr/>
          <p:nvPr/>
        </p:nvSpPr>
        <p:spPr>
          <a:xfrm>
            <a:off x="4131935" y="5711209"/>
            <a:ext cx="6700058"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8" name="Google Shape;2833;p4">
            <a:extLst>
              <a:ext uri="{FF2B5EF4-FFF2-40B4-BE49-F238E27FC236}">
                <a16:creationId xmlns:a16="http://schemas.microsoft.com/office/drawing/2014/main" id="{9462812D-C84F-360F-28D3-546708DB44C2}"/>
              </a:ext>
            </a:extLst>
          </p:cNvPr>
          <p:cNvGrpSpPr/>
          <p:nvPr/>
        </p:nvGrpSpPr>
        <p:grpSpPr>
          <a:xfrm>
            <a:off x="3635272" y="4922513"/>
            <a:ext cx="7436648" cy="448438"/>
            <a:chOff x="6457" y="3088548"/>
            <a:chExt cx="12175910" cy="421612"/>
          </a:xfrm>
        </p:grpSpPr>
        <p:pic>
          <p:nvPicPr>
            <p:cNvPr id="9" name="Google Shape;2834;p4">
              <a:extLst>
                <a:ext uri="{FF2B5EF4-FFF2-40B4-BE49-F238E27FC236}">
                  <a16:creationId xmlns:a16="http://schemas.microsoft.com/office/drawing/2014/main" id="{365E2B7D-D0EA-605F-4497-F3BA3FC5BBC3}"/>
                </a:ext>
              </a:extLst>
            </p:cNvPr>
            <p:cNvPicPr preferRelativeResize="0"/>
            <p:nvPr/>
          </p:nvPicPr>
          <p:blipFill rotWithShape="1">
            <a:blip r:embed="rId3">
              <a:alphaModFix amt="34000"/>
            </a:blip>
            <a:srcRect t="50513"/>
            <a:stretch/>
          </p:blipFill>
          <p:spPr>
            <a:xfrm>
              <a:off x="6457" y="3101668"/>
              <a:ext cx="12175910" cy="408492"/>
            </a:xfrm>
            <a:prstGeom prst="rect">
              <a:avLst/>
            </a:prstGeom>
            <a:noFill/>
            <a:ln>
              <a:noFill/>
            </a:ln>
          </p:spPr>
        </p:pic>
        <p:sp>
          <p:nvSpPr>
            <p:cNvPr id="10" name="Google Shape;2835;p4">
              <a:extLst>
                <a:ext uri="{FF2B5EF4-FFF2-40B4-BE49-F238E27FC236}">
                  <a16:creationId xmlns:a16="http://schemas.microsoft.com/office/drawing/2014/main" id="{47BEA7EC-2DE8-82CD-999A-26BC4A6FCF0F}"/>
                </a:ext>
              </a:extLst>
            </p:cNvPr>
            <p:cNvSpPr/>
            <p:nvPr/>
          </p:nvSpPr>
          <p:spPr>
            <a:xfrm rot="-5400000" flipH="1">
              <a:off x="6246689" y="-2240202"/>
              <a:ext cx="18300" cy="10675800"/>
            </a:xfrm>
            <a:prstGeom prst="rect">
              <a:avLst/>
            </a:prstGeom>
            <a:gradFill>
              <a:gsLst>
                <a:gs pos="0">
                  <a:srgbClr val="6C4B8F">
                    <a:alpha val="0"/>
                  </a:srgbClr>
                </a:gs>
                <a:gs pos="10000">
                  <a:srgbClr val="6C4B8F"/>
                </a:gs>
                <a:gs pos="22000">
                  <a:srgbClr val="005B84"/>
                </a:gs>
                <a:gs pos="41000">
                  <a:srgbClr val="005B84"/>
                </a:gs>
                <a:gs pos="60000">
                  <a:srgbClr val="41D1FE"/>
                </a:gs>
                <a:gs pos="90000">
                  <a:srgbClr val="007A86"/>
                </a:gs>
                <a:gs pos="100000">
                  <a:srgbClr val="007A86">
                    <a:alpha val="0"/>
                  </a:srgbClr>
                </a:gs>
              </a:gsLst>
              <a:lin ang="5400012"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11" name="Google Shape;2839;p4">
            <a:extLst>
              <a:ext uri="{FF2B5EF4-FFF2-40B4-BE49-F238E27FC236}">
                <a16:creationId xmlns:a16="http://schemas.microsoft.com/office/drawing/2014/main" id="{221ABC9E-4084-BCC3-28B4-FF42D2C7FBB3}"/>
              </a:ext>
            </a:extLst>
          </p:cNvPr>
          <p:cNvSpPr/>
          <p:nvPr/>
        </p:nvSpPr>
        <p:spPr>
          <a:xfrm>
            <a:off x="4544782" y="4114419"/>
            <a:ext cx="1814370" cy="317647"/>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vSphere </a:t>
            </a:r>
            <a:b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b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Namespace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20" name="Google Shape;2848;p4">
            <a:extLst>
              <a:ext uri="{FF2B5EF4-FFF2-40B4-BE49-F238E27FC236}">
                <a16:creationId xmlns:a16="http://schemas.microsoft.com/office/drawing/2014/main" id="{87683BC2-1E47-DFD7-ABF8-DCCF4EA54831}"/>
              </a:ext>
            </a:extLst>
          </p:cNvPr>
          <p:cNvGrpSpPr/>
          <p:nvPr/>
        </p:nvGrpSpPr>
        <p:grpSpPr>
          <a:xfrm>
            <a:off x="4627337" y="2500638"/>
            <a:ext cx="1557833" cy="1364965"/>
            <a:chOff x="805150" y="1625512"/>
            <a:chExt cx="1557833" cy="1364965"/>
          </a:xfrm>
        </p:grpSpPr>
        <p:sp>
          <p:nvSpPr>
            <p:cNvPr id="21" name="Google Shape;2849;p4">
              <a:extLst>
                <a:ext uri="{FF2B5EF4-FFF2-40B4-BE49-F238E27FC236}">
                  <a16:creationId xmlns:a16="http://schemas.microsoft.com/office/drawing/2014/main" id="{83BC6FC5-14A7-05E3-3233-B6DD31829DF3}"/>
                </a:ext>
              </a:extLst>
            </p:cNvPr>
            <p:cNvSpPr/>
            <p:nvPr/>
          </p:nvSpPr>
          <p:spPr>
            <a:xfrm>
              <a:off x="805150" y="1625512"/>
              <a:ext cx="1557833" cy="1364965"/>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nvGrpSpPr>
            <p:cNvPr id="22" name="Google Shape;2850;p4">
              <a:extLst>
                <a:ext uri="{FF2B5EF4-FFF2-40B4-BE49-F238E27FC236}">
                  <a16:creationId xmlns:a16="http://schemas.microsoft.com/office/drawing/2014/main" id="{F5A880A4-8361-752D-788B-417C889EDE6B}"/>
                </a:ext>
              </a:extLst>
            </p:cNvPr>
            <p:cNvGrpSpPr/>
            <p:nvPr/>
          </p:nvGrpSpPr>
          <p:grpSpPr>
            <a:xfrm>
              <a:off x="987548" y="1738474"/>
              <a:ext cx="1174334" cy="972000"/>
              <a:chOff x="3325948" y="1424891"/>
              <a:chExt cx="1694347" cy="1402415"/>
            </a:xfrm>
          </p:grpSpPr>
          <p:sp>
            <p:nvSpPr>
              <p:cNvPr id="24" name="Google Shape;2851;p4">
                <a:extLst>
                  <a:ext uri="{FF2B5EF4-FFF2-40B4-BE49-F238E27FC236}">
                    <a16:creationId xmlns:a16="http://schemas.microsoft.com/office/drawing/2014/main" id="{334C26D9-C77C-6961-CFE6-CD9EA4EABC8A}"/>
                  </a:ext>
                </a:extLst>
              </p:cNvPr>
              <p:cNvSpPr/>
              <p:nvPr/>
            </p:nvSpPr>
            <p:spPr>
              <a:xfrm>
                <a:off x="4297641" y="1533016"/>
                <a:ext cx="528559"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5" name="Google Shape;2852;p4">
                <a:extLst>
                  <a:ext uri="{FF2B5EF4-FFF2-40B4-BE49-F238E27FC236}">
                    <a16:creationId xmlns:a16="http://schemas.microsoft.com/office/drawing/2014/main" id="{25B5CD3C-8A2A-FA92-9C96-78EB0BE1B737}"/>
                  </a:ext>
                </a:extLst>
              </p:cNvPr>
              <p:cNvSpPr/>
              <p:nvPr/>
            </p:nvSpPr>
            <p:spPr>
              <a:xfrm>
                <a:off x="4297642" y="2297981"/>
                <a:ext cx="474562"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26" name="Google Shape;2853;p4">
                <a:extLst>
                  <a:ext uri="{FF2B5EF4-FFF2-40B4-BE49-F238E27FC236}">
                    <a16:creationId xmlns:a16="http://schemas.microsoft.com/office/drawing/2014/main" id="{F65C1AF4-6D36-E428-AA2E-AF81C2F08343}"/>
                  </a:ext>
                </a:extLst>
              </p:cNvPr>
              <p:cNvPicPr preferRelativeResize="0"/>
              <p:nvPr/>
            </p:nvPicPr>
            <p:blipFill rotWithShape="1">
              <a:blip r:embed="rId4">
                <a:alphaModFix/>
              </a:blip>
              <a:srcRect/>
              <a:stretch/>
            </p:blipFill>
            <p:spPr>
              <a:xfrm>
                <a:off x="3503144" y="1496410"/>
                <a:ext cx="392596" cy="392595"/>
              </a:xfrm>
              <a:prstGeom prst="rect">
                <a:avLst/>
              </a:prstGeom>
              <a:noFill/>
              <a:ln>
                <a:noFill/>
              </a:ln>
            </p:spPr>
          </p:pic>
          <p:sp>
            <p:nvSpPr>
              <p:cNvPr id="27" name="Google Shape;2854;p4">
                <a:extLst>
                  <a:ext uri="{FF2B5EF4-FFF2-40B4-BE49-F238E27FC236}">
                    <a16:creationId xmlns:a16="http://schemas.microsoft.com/office/drawing/2014/main" id="{5EB5A2D3-79CA-7426-D69B-A546AF6F9D5A}"/>
                  </a:ext>
                </a:extLst>
              </p:cNvPr>
              <p:cNvSpPr txBox="1"/>
              <p:nvPr/>
            </p:nvSpPr>
            <p:spPr>
              <a:xfrm>
                <a:off x="3954242" y="1532844"/>
                <a:ext cx="886800" cy="31972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36DE6"/>
                    </a:solidFill>
                    <a:effectLst/>
                    <a:uLnTx/>
                    <a:uFillTx/>
                    <a:latin typeface="Arial"/>
                    <a:ea typeface="Arial"/>
                    <a:cs typeface="Arial"/>
                    <a:sym typeface="Arial"/>
                  </a:rPr>
                  <a:t>Kubernetes Applications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8" name="Google Shape;2855;p4">
                <a:extLst>
                  <a:ext uri="{FF2B5EF4-FFF2-40B4-BE49-F238E27FC236}">
                    <a16:creationId xmlns:a16="http://schemas.microsoft.com/office/drawing/2014/main" id="{39705593-447B-03C4-CC8D-24899783F223}"/>
                  </a:ext>
                </a:extLst>
              </p:cNvPr>
              <p:cNvSpPr/>
              <p:nvPr/>
            </p:nvSpPr>
            <p:spPr>
              <a:xfrm>
                <a:off x="3331847" y="1424891"/>
                <a:ext cx="1680883" cy="535632"/>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9" name="Google Shape;2856;p4">
                <a:extLst>
                  <a:ext uri="{FF2B5EF4-FFF2-40B4-BE49-F238E27FC236}">
                    <a16:creationId xmlns:a16="http://schemas.microsoft.com/office/drawing/2014/main" id="{9E0F7D92-4B39-E66B-31E9-910017106A11}"/>
                  </a:ext>
                </a:extLst>
              </p:cNvPr>
              <p:cNvSpPr/>
              <p:nvPr/>
            </p:nvSpPr>
            <p:spPr>
              <a:xfrm>
                <a:off x="3325948"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Node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0" name="Google Shape;2857;p4">
                <a:extLst>
                  <a:ext uri="{FF2B5EF4-FFF2-40B4-BE49-F238E27FC236}">
                    <a16:creationId xmlns:a16="http://schemas.microsoft.com/office/drawing/2014/main" id="{CAEBD8DE-4994-F18A-1E9B-C4F7CFF18437}"/>
                  </a:ext>
                </a:extLst>
              </p:cNvPr>
              <p:cNvSpPr/>
              <p:nvPr/>
            </p:nvSpPr>
            <p:spPr>
              <a:xfrm>
                <a:off x="3912452"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Node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1" name="Google Shape;2858;p4">
                <a:extLst>
                  <a:ext uri="{FF2B5EF4-FFF2-40B4-BE49-F238E27FC236}">
                    <a16:creationId xmlns:a16="http://schemas.microsoft.com/office/drawing/2014/main" id="{AAAA632E-9C61-2E2A-5A25-4AB00227D56F}"/>
                  </a:ext>
                </a:extLst>
              </p:cNvPr>
              <p:cNvSpPr/>
              <p:nvPr/>
            </p:nvSpPr>
            <p:spPr>
              <a:xfrm>
                <a:off x="4498957" y="2547405"/>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Node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2" name="Google Shape;2859;p4">
                <a:extLst>
                  <a:ext uri="{FF2B5EF4-FFF2-40B4-BE49-F238E27FC236}">
                    <a16:creationId xmlns:a16="http://schemas.microsoft.com/office/drawing/2014/main" id="{F8065F24-18D4-425C-4E3E-B82ADE16FA92}"/>
                  </a:ext>
                </a:extLst>
              </p:cNvPr>
              <p:cNvSpPr/>
              <p:nvPr/>
            </p:nvSpPr>
            <p:spPr>
              <a:xfrm>
                <a:off x="3325949" y="2040092"/>
                <a:ext cx="1694346" cy="28565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33" name="Google Shape;2860;p4">
                <a:extLst>
                  <a:ext uri="{FF2B5EF4-FFF2-40B4-BE49-F238E27FC236}">
                    <a16:creationId xmlns:a16="http://schemas.microsoft.com/office/drawing/2014/main" id="{264698DD-E140-31F9-D456-DB5774E4ED4B}"/>
                  </a:ext>
                </a:extLst>
              </p:cNvPr>
              <p:cNvCxnSpPr/>
              <p:nvPr/>
            </p:nvCxnSpPr>
            <p:spPr>
              <a:xfrm>
                <a:off x="4186614" y="2313793"/>
                <a:ext cx="0" cy="240408"/>
              </a:xfrm>
              <a:prstGeom prst="straightConnector1">
                <a:avLst/>
              </a:prstGeom>
              <a:noFill/>
              <a:ln w="10775" cap="flat" cmpd="sng">
                <a:solidFill>
                  <a:schemeClr val="accent2"/>
                </a:solidFill>
                <a:prstDash val="solid"/>
                <a:miter lim="800000"/>
                <a:headEnd type="none" w="sm" len="sm"/>
                <a:tailEnd type="none" w="sm" len="sm"/>
              </a:ln>
            </p:spPr>
          </p:cxnSp>
          <p:cxnSp>
            <p:nvCxnSpPr>
              <p:cNvPr id="34" name="Google Shape;2861;p4">
                <a:extLst>
                  <a:ext uri="{FF2B5EF4-FFF2-40B4-BE49-F238E27FC236}">
                    <a16:creationId xmlns:a16="http://schemas.microsoft.com/office/drawing/2014/main" id="{EFD7D3D3-7A8E-B024-B9C1-C33B1B0B0E08}"/>
                  </a:ext>
                </a:extLst>
              </p:cNvPr>
              <p:cNvCxnSpPr/>
              <p:nvPr/>
            </p:nvCxnSpPr>
            <p:spPr>
              <a:xfrm>
                <a:off x="3603836"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35" name="Google Shape;2862;p4">
                <a:extLst>
                  <a:ext uri="{FF2B5EF4-FFF2-40B4-BE49-F238E27FC236}">
                    <a16:creationId xmlns:a16="http://schemas.microsoft.com/office/drawing/2014/main" id="{FDE08D24-25FD-A1B1-58AB-97E71E711A49}"/>
                  </a:ext>
                </a:extLst>
              </p:cNvPr>
              <p:cNvCxnSpPr/>
              <p:nvPr/>
            </p:nvCxnSpPr>
            <p:spPr>
              <a:xfrm>
                <a:off x="4769392"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36" name="Google Shape;2863;p4">
                <a:extLst>
                  <a:ext uri="{FF2B5EF4-FFF2-40B4-BE49-F238E27FC236}">
                    <a16:creationId xmlns:a16="http://schemas.microsoft.com/office/drawing/2014/main" id="{E36F1257-DF25-12B7-776F-E4ADD90597FC}"/>
                  </a:ext>
                </a:extLst>
              </p:cNvPr>
              <p:cNvCxnSpPr/>
              <p:nvPr/>
            </p:nvCxnSpPr>
            <p:spPr>
              <a:xfrm>
                <a:off x="3599903" y="2431944"/>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23" name="Google Shape;2864;p4">
              <a:extLst>
                <a:ext uri="{FF2B5EF4-FFF2-40B4-BE49-F238E27FC236}">
                  <a16:creationId xmlns:a16="http://schemas.microsoft.com/office/drawing/2014/main" id="{F647E373-0479-BB1B-6FD3-794CD86CBDED}"/>
                </a:ext>
              </a:extLst>
            </p:cNvPr>
            <p:cNvSpPr txBox="1"/>
            <p:nvPr/>
          </p:nvSpPr>
          <p:spPr>
            <a:xfrm>
              <a:off x="805150" y="2760707"/>
              <a:ext cx="1557833" cy="16158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Kubernetes Cluster</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37" name="Google Shape;2865;p4">
            <a:extLst>
              <a:ext uri="{FF2B5EF4-FFF2-40B4-BE49-F238E27FC236}">
                <a16:creationId xmlns:a16="http://schemas.microsoft.com/office/drawing/2014/main" id="{CF301B00-7F64-149D-5C4D-674F14AC87B8}"/>
              </a:ext>
            </a:extLst>
          </p:cNvPr>
          <p:cNvGrpSpPr/>
          <p:nvPr/>
        </p:nvGrpSpPr>
        <p:grpSpPr>
          <a:xfrm>
            <a:off x="4752304" y="2584993"/>
            <a:ext cx="1557833" cy="1364965"/>
            <a:chOff x="805150" y="1625512"/>
            <a:chExt cx="1557833" cy="1364965"/>
          </a:xfrm>
        </p:grpSpPr>
        <p:sp>
          <p:nvSpPr>
            <p:cNvPr id="38" name="Google Shape;2866;p4">
              <a:extLst>
                <a:ext uri="{FF2B5EF4-FFF2-40B4-BE49-F238E27FC236}">
                  <a16:creationId xmlns:a16="http://schemas.microsoft.com/office/drawing/2014/main" id="{93CCF7D9-36FF-7E64-9A0E-184F149E4E1E}"/>
                </a:ext>
              </a:extLst>
            </p:cNvPr>
            <p:cNvSpPr/>
            <p:nvPr/>
          </p:nvSpPr>
          <p:spPr>
            <a:xfrm>
              <a:off x="805150" y="1625512"/>
              <a:ext cx="1557833" cy="1364965"/>
            </a:xfrm>
            <a:prstGeom prst="roundRect">
              <a:avLst>
                <a:gd name="adj" fmla="val 3683"/>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nvGrpSpPr>
            <p:cNvPr id="39" name="Google Shape;2867;p4">
              <a:extLst>
                <a:ext uri="{FF2B5EF4-FFF2-40B4-BE49-F238E27FC236}">
                  <a16:creationId xmlns:a16="http://schemas.microsoft.com/office/drawing/2014/main" id="{A1460879-3064-0457-E57B-94FA67C453E4}"/>
                </a:ext>
              </a:extLst>
            </p:cNvPr>
            <p:cNvGrpSpPr/>
            <p:nvPr/>
          </p:nvGrpSpPr>
          <p:grpSpPr>
            <a:xfrm>
              <a:off x="987548" y="1738474"/>
              <a:ext cx="1174334" cy="972000"/>
              <a:chOff x="3325948" y="1424891"/>
              <a:chExt cx="1694347" cy="1402415"/>
            </a:xfrm>
          </p:grpSpPr>
          <p:sp>
            <p:nvSpPr>
              <p:cNvPr id="41" name="Google Shape;2868;p4">
                <a:extLst>
                  <a:ext uri="{FF2B5EF4-FFF2-40B4-BE49-F238E27FC236}">
                    <a16:creationId xmlns:a16="http://schemas.microsoft.com/office/drawing/2014/main" id="{85B46B14-50E5-9E32-069D-1B41E30A381F}"/>
                  </a:ext>
                </a:extLst>
              </p:cNvPr>
              <p:cNvSpPr/>
              <p:nvPr/>
            </p:nvSpPr>
            <p:spPr>
              <a:xfrm>
                <a:off x="4297641" y="1533016"/>
                <a:ext cx="528559"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2" name="Google Shape;2869;p4">
                <a:extLst>
                  <a:ext uri="{FF2B5EF4-FFF2-40B4-BE49-F238E27FC236}">
                    <a16:creationId xmlns:a16="http://schemas.microsoft.com/office/drawing/2014/main" id="{82F5A6AE-6D68-3CB4-F4B8-97F5ACADAB39}"/>
                  </a:ext>
                </a:extLst>
              </p:cNvPr>
              <p:cNvSpPr/>
              <p:nvPr/>
            </p:nvSpPr>
            <p:spPr>
              <a:xfrm>
                <a:off x="4297642" y="2297981"/>
                <a:ext cx="474562"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43" name="Google Shape;2870;p4">
                <a:extLst>
                  <a:ext uri="{FF2B5EF4-FFF2-40B4-BE49-F238E27FC236}">
                    <a16:creationId xmlns:a16="http://schemas.microsoft.com/office/drawing/2014/main" id="{5BCE2A4F-34CA-9BE4-BFAD-14792D4178B3}"/>
                  </a:ext>
                </a:extLst>
              </p:cNvPr>
              <p:cNvPicPr preferRelativeResize="0"/>
              <p:nvPr/>
            </p:nvPicPr>
            <p:blipFill rotWithShape="1">
              <a:blip r:embed="rId4">
                <a:alphaModFix/>
              </a:blip>
              <a:srcRect/>
              <a:stretch/>
            </p:blipFill>
            <p:spPr>
              <a:xfrm>
                <a:off x="3503144" y="1496410"/>
                <a:ext cx="392596" cy="392595"/>
              </a:xfrm>
              <a:prstGeom prst="rect">
                <a:avLst/>
              </a:prstGeom>
              <a:noFill/>
              <a:ln>
                <a:noFill/>
              </a:ln>
            </p:spPr>
          </p:pic>
          <p:sp>
            <p:nvSpPr>
              <p:cNvPr id="44" name="Google Shape;2871;p4">
                <a:extLst>
                  <a:ext uri="{FF2B5EF4-FFF2-40B4-BE49-F238E27FC236}">
                    <a16:creationId xmlns:a16="http://schemas.microsoft.com/office/drawing/2014/main" id="{94D9FEB1-E265-8C87-A853-7B810E2F14D8}"/>
                  </a:ext>
                </a:extLst>
              </p:cNvPr>
              <p:cNvSpPr txBox="1"/>
              <p:nvPr/>
            </p:nvSpPr>
            <p:spPr>
              <a:xfrm>
                <a:off x="4000893" y="1545256"/>
                <a:ext cx="886800" cy="31972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36DE6"/>
                    </a:solidFill>
                    <a:effectLst/>
                    <a:uLnTx/>
                    <a:uFillTx/>
                    <a:latin typeface="Arial"/>
                    <a:ea typeface="Arial"/>
                    <a:cs typeface="Arial"/>
                    <a:sym typeface="Arial"/>
                  </a:rPr>
                  <a:t>Kubernetes Applications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5" name="Google Shape;2872;p4">
                <a:extLst>
                  <a:ext uri="{FF2B5EF4-FFF2-40B4-BE49-F238E27FC236}">
                    <a16:creationId xmlns:a16="http://schemas.microsoft.com/office/drawing/2014/main" id="{53604209-EDF7-E2D2-45EE-2B2779F534F8}"/>
                  </a:ext>
                </a:extLst>
              </p:cNvPr>
              <p:cNvSpPr/>
              <p:nvPr/>
            </p:nvSpPr>
            <p:spPr>
              <a:xfrm>
                <a:off x="3331847" y="1424891"/>
                <a:ext cx="1680883" cy="535632"/>
              </a:xfrm>
              <a:prstGeom prst="rect">
                <a:avLst/>
              </a:prstGeom>
              <a:noFill/>
              <a:ln w="10775" cap="flat" cmpd="sng">
                <a:solidFill>
                  <a:schemeClr val="accent2"/>
                </a:solidFill>
                <a:prstDash val="dot"/>
                <a:miter lim="800000"/>
                <a:headEnd type="none" w="sm" len="sm"/>
                <a:tailEnd type="none" w="sm" len="sm"/>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6" name="Google Shape;2873;p4">
                <a:extLst>
                  <a:ext uri="{FF2B5EF4-FFF2-40B4-BE49-F238E27FC236}">
                    <a16:creationId xmlns:a16="http://schemas.microsoft.com/office/drawing/2014/main" id="{3A1F1462-B49D-16CC-2D70-D3189292879B}"/>
                  </a:ext>
                </a:extLst>
              </p:cNvPr>
              <p:cNvSpPr/>
              <p:nvPr/>
            </p:nvSpPr>
            <p:spPr>
              <a:xfrm>
                <a:off x="3325948"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7" name="Google Shape;2874;p4">
                <a:extLst>
                  <a:ext uri="{FF2B5EF4-FFF2-40B4-BE49-F238E27FC236}">
                    <a16:creationId xmlns:a16="http://schemas.microsoft.com/office/drawing/2014/main" id="{03C6C1A0-3D2B-C57B-0A96-E7B5092B8D3F}"/>
                  </a:ext>
                </a:extLst>
              </p:cNvPr>
              <p:cNvSpPr/>
              <p:nvPr/>
            </p:nvSpPr>
            <p:spPr>
              <a:xfrm>
                <a:off x="3912452" y="2547406"/>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8" name="Google Shape;2875;p4">
                <a:extLst>
                  <a:ext uri="{FF2B5EF4-FFF2-40B4-BE49-F238E27FC236}">
                    <a16:creationId xmlns:a16="http://schemas.microsoft.com/office/drawing/2014/main" id="{81C6FD65-8C43-1F82-9D50-3EC4BBF6B1C9}"/>
                  </a:ext>
                </a:extLst>
              </p:cNvPr>
              <p:cNvSpPr/>
              <p:nvPr/>
            </p:nvSpPr>
            <p:spPr>
              <a:xfrm>
                <a:off x="4498957" y="2547405"/>
                <a:ext cx="521337" cy="279900"/>
              </a:xfrm>
              <a:prstGeom prst="roundRect">
                <a:avLst>
                  <a:gd name="adj" fmla="val 50000"/>
                </a:avLst>
              </a:prstGeom>
              <a:solidFill>
                <a:srgbClr val="3E417C"/>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9" name="Google Shape;2876;p4">
                <a:extLst>
                  <a:ext uri="{FF2B5EF4-FFF2-40B4-BE49-F238E27FC236}">
                    <a16:creationId xmlns:a16="http://schemas.microsoft.com/office/drawing/2014/main" id="{4921DB5A-11F7-6851-7C27-A2314CA1B510}"/>
                  </a:ext>
                </a:extLst>
              </p:cNvPr>
              <p:cNvSpPr/>
              <p:nvPr/>
            </p:nvSpPr>
            <p:spPr>
              <a:xfrm>
                <a:off x="3325949" y="2040092"/>
                <a:ext cx="1694346" cy="285650"/>
              </a:xfrm>
              <a:prstGeom prst="roundRect">
                <a:avLst>
                  <a:gd name="adj" fmla="val 50000"/>
                </a:avLst>
              </a:prstGeom>
              <a:solidFill>
                <a:srgbClr val="3E417C"/>
              </a:solidFill>
              <a:ln>
                <a:noFill/>
              </a:ln>
            </p:spPr>
            <p:txBody>
              <a:bodyPr spcFirstLastPara="1" wrap="square" lIns="0" tIns="18275" rIns="0" bIns="0" anchor="ctr" anchorCtr="0">
                <a:no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50" name="Google Shape;2877;p4">
                <a:extLst>
                  <a:ext uri="{FF2B5EF4-FFF2-40B4-BE49-F238E27FC236}">
                    <a16:creationId xmlns:a16="http://schemas.microsoft.com/office/drawing/2014/main" id="{A93EB8E0-07B3-A5CA-D6D6-E6A867BD7CBF}"/>
                  </a:ext>
                </a:extLst>
              </p:cNvPr>
              <p:cNvCxnSpPr/>
              <p:nvPr/>
            </p:nvCxnSpPr>
            <p:spPr>
              <a:xfrm>
                <a:off x="4186614" y="2313793"/>
                <a:ext cx="0" cy="240408"/>
              </a:xfrm>
              <a:prstGeom prst="straightConnector1">
                <a:avLst/>
              </a:prstGeom>
              <a:noFill/>
              <a:ln w="10775" cap="flat" cmpd="sng">
                <a:solidFill>
                  <a:schemeClr val="accent2"/>
                </a:solidFill>
                <a:prstDash val="solid"/>
                <a:miter lim="800000"/>
                <a:headEnd type="none" w="sm" len="sm"/>
                <a:tailEnd type="none" w="sm" len="sm"/>
              </a:ln>
            </p:spPr>
          </p:cxnSp>
          <p:cxnSp>
            <p:nvCxnSpPr>
              <p:cNvPr id="51" name="Google Shape;2878;p4">
                <a:extLst>
                  <a:ext uri="{FF2B5EF4-FFF2-40B4-BE49-F238E27FC236}">
                    <a16:creationId xmlns:a16="http://schemas.microsoft.com/office/drawing/2014/main" id="{807D2E26-F1A7-D120-110B-CFC092663880}"/>
                  </a:ext>
                </a:extLst>
              </p:cNvPr>
              <p:cNvCxnSpPr/>
              <p:nvPr/>
            </p:nvCxnSpPr>
            <p:spPr>
              <a:xfrm>
                <a:off x="3603836"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52" name="Google Shape;2879;p4">
                <a:extLst>
                  <a:ext uri="{FF2B5EF4-FFF2-40B4-BE49-F238E27FC236}">
                    <a16:creationId xmlns:a16="http://schemas.microsoft.com/office/drawing/2014/main" id="{FE47CB5E-1C48-61CA-7782-94E87A225549}"/>
                  </a:ext>
                </a:extLst>
              </p:cNvPr>
              <p:cNvCxnSpPr/>
              <p:nvPr/>
            </p:nvCxnSpPr>
            <p:spPr>
              <a:xfrm>
                <a:off x="4769392" y="2432789"/>
                <a:ext cx="0" cy="121412"/>
              </a:xfrm>
              <a:prstGeom prst="straightConnector1">
                <a:avLst/>
              </a:prstGeom>
              <a:noFill/>
              <a:ln w="10775" cap="flat" cmpd="sng">
                <a:solidFill>
                  <a:schemeClr val="accent2"/>
                </a:solidFill>
                <a:prstDash val="solid"/>
                <a:miter lim="800000"/>
                <a:headEnd type="none" w="sm" len="sm"/>
                <a:tailEnd type="none" w="sm" len="sm"/>
              </a:ln>
            </p:spPr>
          </p:cxnSp>
          <p:cxnSp>
            <p:nvCxnSpPr>
              <p:cNvPr id="53" name="Google Shape;2880;p4">
                <a:extLst>
                  <a:ext uri="{FF2B5EF4-FFF2-40B4-BE49-F238E27FC236}">
                    <a16:creationId xmlns:a16="http://schemas.microsoft.com/office/drawing/2014/main" id="{FAC9B3F3-7027-0127-35D3-4F54B642BE3F}"/>
                  </a:ext>
                </a:extLst>
              </p:cNvPr>
              <p:cNvCxnSpPr/>
              <p:nvPr/>
            </p:nvCxnSpPr>
            <p:spPr>
              <a:xfrm>
                <a:off x="3599903" y="2431944"/>
                <a:ext cx="1172301" cy="0"/>
              </a:xfrm>
              <a:prstGeom prst="straightConnector1">
                <a:avLst/>
              </a:prstGeom>
              <a:noFill/>
              <a:ln w="10775" cap="flat" cmpd="sng">
                <a:solidFill>
                  <a:schemeClr val="accent2"/>
                </a:solidFill>
                <a:prstDash val="solid"/>
                <a:miter lim="800000"/>
                <a:headEnd type="none" w="sm" len="sm"/>
                <a:tailEnd type="none" w="sm" len="sm"/>
              </a:ln>
            </p:spPr>
          </p:cxnSp>
        </p:grpSp>
        <p:sp>
          <p:nvSpPr>
            <p:cNvPr id="40" name="Google Shape;2881;p4">
              <a:extLst>
                <a:ext uri="{FF2B5EF4-FFF2-40B4-BE49-F238E27FC236}">
                  <a16:creationId xmlns:a16="http://schemas.microsoft.com/office/drawing/2014/main" id="{85A2E8DC-885D-8703-5692-0AC7EC8A3488}"/>
                </a:ext>
              </a:extLst>
            </p:cNvPr>
            <p:cNvSpPr txBox="1"/>
            <p:nvPr/>
          </p:nvSpPr>
          <p:spPr>
            <a:xfrm>
              <a:off x="805150" y="2760707"/>
              <a:ext cx="1557833" cy="16158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Kubernetes Cluster</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54" name="Google Shape;2882;p4">
            <a:extLst>
              <a:ext uri="{FF2B5EF4-FFF2-40B4-BE49-F238E27FC236}">
                <a16:creationId xmlns:a16="http://schemas.microsoft.com/office/drawing/2014/main" id="{D93C4885-138C-8DAE-7A4D-7E7941E5EA58}"/>
              </a:ext>
            </a:extLst>
          </p:cNvPr>
          <p:cNvGrpSpPr/>
          <p:nvPr/>
        </p:nvGrpSpPr>
        <p:grpSpPr>
          <a:xfrm>
            <a:off x="6903854" y="2852930"/>
            <a:ext cx="1143070" cy="946519"/>
            <a:chOff x="2558676" y="1416583"/>
            <a:chExt cx="1143070" cy="946519"/>
          </a:xfrm>
        </p:grpSpPr>
        <p:sp>
          <p:nvSpPr>
            <p:cNvPr id="55" name="Google Shape;2883;p4">
              <a:extLst>
                <a:ext uri="{FF2B5EF4-FFF2-40B4-BE49-F238E27FC236}">
                  <a16:creationId xmlns:a16="http://schemas.microsoft.com/office/drawing/2014/main" id="{D9A1EADF-E34A-21A9-3AC3-9124CE7975E2}"/>
                </a:ext>
              </a:extLst>
            </p:cNvPr>
            <p:cNvSpPr/>
            <p:nvPr/>
          </p:nvSpPr>
          <p:spPr>
            <a:xfrm>
              <a:off x="2558676" y="1416583"/>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5C8A"/>
                  </a:solidFill>
                  <a:effectLst/>
                  <a:uLnTx/>
                  <a:uFillTx/>
                  <a:latin typeface="Arial"/>
                  <a:ea typeface="Arial"/>
                  <a:cs typeface="Arial"/>
                  <a:sym typeface="Arial"/>
                </a:rPr>
                <a:t>VM</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56" name="Google Shape;2884;p4">
              <a:extLst>
                <a:ext uri="{FF2B5EF4-FFF2-40B4-BE49-F238E27FC236}">
                  <a16:creationId xmlns:a16="http://schemas.microsoft.com/office/drawing/2014/main" id="{C362FC3E-388E-1E62-C30E-53043E6FE327}"/>
                </a:ext>
              </a:extLst>
            </p:cNvPr>
            <p:cNvGrpSpPr/>
            <p:nvPr/>
          </p:nvGrpSpPr>
          <p:grpSpPr>
            <a:xfrm>
              <a:off x="2828939" y="1548245"/>
              <a:ext cx="297739" cy="292247"/>
              <a:chOff x="1465490" y="3219301"/>
              <a:chExt cx="438300" cy="438301"/>
            </a:xfrm>
          </p:grpSpPr>
          <p:sp>
            <p:nvSpPr>
              <p:cNvPr id="73" name="Google Shape;2885;p4">
                <a:extLst>
                  <a:ext uri="{FF2B5EF4-FFF2-40B4-BE49-F238E27FC236}">
                    <a16:creationId xmlns:a16="http://schemas.microsoft.com/office/drawing/2014/main" id="{480D1B11-7154-A9D6-2FAC-853BCE7E1A1D}"/>
                  </a:ext>
                </a:extLst>
              </p:cNvPr>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74" name="Google Shape;2886;p4">
                <a:extLst>
                  <a:ext uri="{FF2B5EF4-FFF2-40B4-BE49-F238E27FC236}">
                    <a16:creationId xmlns:a16="http://schemas.microsoft.com/office/drawing/2014/main" id="{561A3995-2085-1589-8E00-C61E1A1EFE6A}"/>
                  </a:ext>
                </a:extLst>
              </p:cNvPr>
              <p:cNvGrpSpPr/>
              <p:nvPr/>
            </p:nvGrpSpPr>
            <p:grpSpPr>
              <a:xfrm>
                <a:off x="1561461" y="3315270"/>
                <a:ext cx="245369" cy="245370"/>
                <a:chOff x="979296" y="1541158"/>
                <a:chExt cx="1054511" cy="1054515"/>
              </a:xfrm>
            </p:grpSpPr>
            <p:sp>
              <p:nvSpPr>
                <p:cNvPr id="75" name="Google Shape;2887;p4">
                  <a:extLst>
                    <a:ext uri="{FF2B5EF4-FFF2-40B4-BE49-F238E27FC236}">
                      <a16:creationId xmlns:a16="http://schemas.microsoft.com/office/drawing/2014/main" id="{7FFFF1F9-65BC-9F17-1EEC-BF5F64DC0310}"/>
                    </a:ext>
                  </a:extLst>
                </p:cNvPr>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76" name="Google Shape;2888;p4">
                  <a:extLst>
                    <a:ext uri="{FF2B5EF4-FFF2-40B4-BE49-F238E27FC236}">
                      <a16:creationId xmlns:a16="http://schemas.microsoft.com/office/drawing/2014/main" id="{08169420-B4C0-BB6D-FC5F-4F0DBB50AF0C}"/>
                    </a:ext>
                  </a:extLst>
                </p:cNvPr>
                <p:cNvGrpSpPr/>
                <p:nvPr/>
              </p:nvGrpSpPr>
              <p:grpSpPr>
                <a:xfrm>
                  <a:off x="1296246" y="2002748"/>
                  <a:ext cx="390297" cy="146863"/>
                  <a:chOff x="1296246" y="2002748"/>
                  <a:chExt cx="390297" cy="146863"/>
                </a:xfrm>
              </p:grpSpPr>
              <p:sp>
                <p:nvSpPr>
                  <p:cNvPr id="77" name="Google Shape;2889;p4">
                    <a:extLst>
                      <a:ext uri="{FF2B5EF4-FFF2-40B4-BE49-F238E27FC236}">
                        <a16:creationId xmlns:a16="http://schemas.microsoft.com/office/drawing/2014/main" id="{C6C9665F-F718-C5BD-C824-23CA0D253282}"/>
                      </a:ext>
                    </a:extLst>
                  </p:cNvPr>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8" name="Google Shape;2890;p4">
                    <a:extLst>
                      <a:ext uri="{FF2B5EF4-FFF2-40B4-BE49-F238E27FC236}">
                        <a16:creationId xmlns:a16="http://schemas.microsoft.com/office/drawing/2014/main" id="{32B72136-1892-0CB3-7560-37A337542167}"/>
                      </a:ext>
                    </a:extLst>
                  </p:cNvPr>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sp>
          <p:nvSpPr>
            <p:cNvPr id="57" name="Google Shape;2891;p4">
              <a:extLst>
                <a:ext uri="{FF2B5EF4-FFF2-40B4-BE49-F238E27FC236}">
                  <a16:creationId xmlns:a16="http://schemas.microsoft.com/office/drawing/2014/main" id="{BFE69D54-163E-81BA-BE4B-2D4314812302}"/>
                </a:ext>
              </a:extLst>
            </p:cNvPr>
            <p:cNvSpPr/>
            <p:nvPr/>
          </p:nvSpPr>
          <p:spPr>
            <a:xfrm>
              <a:off x="2694285" y="1521061"/>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5C8A"/>
                  </a:solidFill>
                  <a:effectLst/>
                  <a:uLnTx/>
                  <a:uFillTx/>
                  <a:latin typeface="Arial"/>
                  <a:ea typeface="Arial"/>
                  <a:cs typeface="Arial"/>
                  <a:sym typeface="Arial"/>
                </a:rPr>
                <a:t>VM</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58" name="Google Shape;2892;p4">
              <a:extLst>
                <a:ext uri="{FF2B5EF4-FFF2-40B4-BE49-F238E27FC236}">
                  <a16:creationId xmlns:a16="http://schemas.microsoft.com/office/drawing/2014/main" id="{38BE8806-DC06-B74E-AC0F-3D97E51F5683}"/>
                </a:ext>
              </a:extLst>
            </p:cNvPr>
            <p:cNvGrpSpPr/>
            <p:nvPr/>
          </p:nvGrpSpPr>
          <p:grpSpPr>
            <a:xfrm>
              <a:off x="2981339" y="1700645"/>
              <a:ext cx="297739" cy="292247"/>
              <a:chOff x="1465490" y="3219301"/>
              <a:chExt cx="438300" cy="438301"/>
            </a:xfrm>
          </p:grpSpPr>
          <p:sp>
            <p:nvSpPr>
              <p:cNvPr id="67" name="Google Shape;2893;p4">
                <a:extLst>
                  <a:ext uri="{FF2B5EF4-FFF2-40B4-BE49-F238E27FC236}">
                    <a16:creationId xmlns:a16="http://schemas.microsoft.com/office/drawing/2014/main" id="{4EF5EA0E-6354-694E-A261-9145C9825437}"/>
                  </a:ext>
                </a:extLst>
              </p:cNvPr>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68" name="Google Shape;2894;p4">
                <a:extLst>
                  <a:ext uri="{FF2B5EF4-FFF2-40B4-BE49-F238E27FC236}">
                    <a16:creationId xmlns:a16="http://schemas.microsoft.com/office/drawing/2014/main" id="{04D92A47-81BA-6E14-AB80-3AD8CA85EB31}"/>
                  </a:ext>
                </a:extLst>
              </p:cNvPr>
              <p:cNvGrpSpPr/>
              <p:nvPr/>
            </p:nvGrpSpPr>
            <p:grpSpPr>
              <a:xfrm>
                <a:off x="1561461" y="3315270"/>
                <a:ext cx="245369" cy="245370"/>
                <a:chOff x="979296" y="1541158"/>
                <a:chExt cx="1054511" cy="1054515"/>
              </a:xfrm>
            </p:grpSpPr>
            <p:sp>
              <p:nvSpPr>
                <p:cNvPr id="69" name="Google Shape;2895;p4">
                  <a:extLst>
                    <a:ext uri="{FF2B5EF4-FFF2-40B4-BE49-F238E27FC236}">
                      <a16:creationId xmlns:a16="http://schemas.microsoft.com/office/drawing/2014/main" id="{32D04861-3884-872E-FD16-7C09D3902ADC}"/>
                    </a:ext>
                  </a:extLst>
                </p:cNvPr>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70" name="Google Shape;2896;p4">
                  <a:extLst>
                    <a:ext uri="{FF2B5EF4-FFF2-40B4-BE49-F238E27FC236}">
                      <a16:creationId xmlns:a16="http://schemas.microsoft.com/office/drawing/2014/main" id="{9BE5F464-9D4C-0D0A-FD9E-84570F80F4FC}"/>
                    </a:ext>
                  </a:extLst>
                </p:cNvPr>
                <p:cNvGrpSpPr/>
                <p:nvPr/>
              </p:nvGrpSpPr>
              <p:grpSpPr>
                <a:xfrm>
                  <a:off x="1296246" y="2002748"/>
                  <a:ext cx="390297" cy="146863"/>
                  <a:chOff x="1296246" y="2002748"/>
                  <a:chExt cx="390297" cy="146863"/>
                </a:xfrm>
              </p:grpSpPr>
              <p:sp>
                <p:nvSpPr>
                  <p:cNvPr id="71" name="Google Shape;2897;p4">
                    <a:extLst>
                      <a:ext uri="{FF2B5EF4-FFF2-40B4-BE49-F238E27FC236}">
                        <a16:creationId xmlns:a16="http://schemas.microsoft.com/office/drawing/2014/main" id="{A8BE0218-FA87-7866-BF48-2E103061FFB9}"/>
                      </a:ext>
                    </a:extLst>
                  </p:cNvPr>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2" name="Google Shape;2898;p4">
                    <a:extLst>
                      <a:ext uri="{FF2B5EF4-FFF2-40B4-BE49-F238E27FC236}">
                        <a16:creationId xmlns:a16="http://schemas.microsoft.com/office/drawing/2014/main" id="{8555954B-98F8-6BAC-2916-9423A5055C02}"/>
                      </a:ext>
                    </a:extLst>
                  </p:cNvPr>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sp>
          <p:nvSpPr>
            <p:cNvPr id="59" name="Google Shape;2899;p4">
              <a:extLst>
                <a:ext uri="{FF2B5EF4-FFF2-40B4-BE49-F238E27FC236}">
                  <a16:creationId xmlns:a16="http://schemas.microsoft.com/office/drawing/2014/main" id="{3C76A7D9-2B1C-3773-3D8B-1FF6DDC5CE55}"/>
                </a:ext>
              </a:extLst>
            </p:cNvPr>
            <p:cNvSpPr/>
            <p:nvPr/>
          </p:nvSpPr>
          <p:spPr>
            <a:xfrm>
              <a:off x="2863476" y="1621631"/>
              <a:ext cx="838270" cy="741471"/>
            </a:xfrm>
            <a:prstGeom prst="roundRect">
              <a:avLst>
                <a:gd name="adj" fmla="val 7399"/>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548625"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VM</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60" name="Google Shape;2900;p4">
              <a:extLst>
                <a:ext uri="{FF2B5EF4-FFF2-40B4-BE49-F238E27FC236}">
                  <a16:creationId xmlns:a16="http://schemas.microsoft.com/office/drawing/2014/main" id="{ECABE8BA-6C57-0D06-0A78-AE8136BB44A4}"/>
                </a:ext>
              </a:extLst>
            </p:cNvPr>
            <p:cNvGrpSpPr/>
            <p:nvPr/>
          </p:nvGrpSpPr>
          <p:grpSpPr>
            <a:xfrm>
              <a:off x="3133739" y="1753293"/>
              <a:ext cx="297739" cy="292247"/>
              <a:chOff x="1465490" y="3219301"/>
              <a:chExt cx="438300" cy="438301"/>
            </a:xfrm>
          </p:grpSpPr>
          <p:sp>
            <p:nvSpPr>
              <p:cNvPr id="61" name="Google Shape;2901;p4">
                <a:extLst>
                  <a:ext uri="{FF2B5EF4-FFF2-40B4-BE49-F238E27FC236}">
                    <a16:creationId xmlns:a16="http://schemas.microsoft.com/office/drawing/2014/main" id="{7362F4A4-FF1D-9703-64B1-D5C6A989F7ED}"/>
                  </a:ext>
                </a:extLst>
              </p:cNvPr>
              <p:cNvSpPr/>
              <p:nvPr/>
            </p:nvSpPr>
            <p:spPr>
              <a:xfrm>
                <a:off x="1465490" y="3219301"/>
                <a:ext cx="438300" cy="438301"/>
              </a:xfrm>
              <a:prstGeom prst="ellipse">
                <a:avLst/>
              </a:prstGeom>
              <a:noFill/>
              <a:ln w="9525" cap="flat" cmpd="sng">
                <a:solidFill>
                  <a:schemeClr val="accent2"/>
                </a:solidFill>
                <a:prstDash val="solid"/>
                <a:round/>
                <a:headEnd type="none" w="sm" len="sm"/>
                <a:tailEnd type="none" w="sm" len="sm"/>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62" name="Google Shape;2902;p4">
                <a:extLst>
                  <a:ext uri="{FF2B5EF4-FFF2-40B4-BE49-F238E27FC236}">
                    <a16:creationId xmlns:a16="http://schemas.microsoft.com/office/drawing/2014/main" id="{F5030FD3-2EF4-54BA-AAF0-DD4F68FE56E1}"/>
                  </a:ext>
                </a:extLst>
              </p:cNvPr>
              <p:cNvGrpSpPr/>
              <p:nvPr/>
            </p:nvGrpSpPr>
            <p:grpSpPr>
              <a:xfrm>
                <a:off x="1561461" y="3315270"/>
                <a:ext cx="245369" cy="245370"/>
                <a:chOff x="979296" y="1541158"/>
                <a:chExt cx="1054511" cy="1054515"/>
              </a:xfrm>
            </p:grpSpPr>
            <p:sp>
              <p:nvSpPr>
                <p:cNvPr id="63" name="Google Shape;2903;p4">
                  <a:extLst>
                    <a:ext uri="{FF2B5EF4-FFF2-40B4-BE49-F238E27FC236}">
                      <a16:creationId xmlns:a16="http://schemas.microsoft.com/office/drawing/2014/main" id="{5C67CF89-7C4A-A2BC-4D21-F119FD4CCDDB}"/>
                    </a:ext>
                  </a:extLst>
                </p:cNvPr>
                <p:cNvSpPr/>
                <p:nvPr/>
              </p:nvSpPr>
              <p:spPr>
                <a:xfrm>
                  <a:off x="979296" y="1541158"/>
                  <a:ext cx="1054511" cy="1054515"/>
                </a:xfrm>
                <a:custGeom>
                  <a:avLst/>
                  <a:gdLst/>
                  <a:ahLst/>
                  <a:cxnLst/>
                  <a:rect l="l" t="t" r="r" b="b"/>
                  <a:pathLst>
                    <a:path w="1054510" h="1054510" extrusionOk="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64" name="Google Shape;2904;p4">
                  <a:extLst>
                    <a:ext uri="{FF2B5EF4-FFF2-40B4-BE49-F238E27FC236}">
                      <a16:creationId xmlns:a16="http://schemas.microsoft.com/office/drawing/2014/main" id="{718DA952-81E8-391B-BD86-B9003B5BEB35}"/>
                    </a:ext>
                  </a:extLst>
                </p:cNvPr>
                <p:cNvGrpSpPr/>
                <p:nvPr/>
              </p:nvGrpSpPr>
              <p:grpSpPr>
                <a:xfrm>
                  <a:off x="1296246" y="2002748"/>
                  <a:ext cx="390297" cy="146863"/>
                  <a:chOff x="1296246" y="2002748"/>
                  <a:chExt cx="390297" cy="146863"/>
                </a:xfrm>
              </p:grpSpPr>
              <p:sp>
                <p:nvSpPr>
                  <p:cNvPr id="65" name="Google Shape;2905;p4">
                    <a:extLst>
                      <a:ext uri="{FF2B5EF4-FFF2-40B4-BE49-F238E27FC236}">
                        <a16:creationId xmlns:a16="http://schemas.microsoft.com/office/drawing/2014/main" id="{977C9078-3EE4-3CFF-7DAA-831E20A3A69F}"/>
                      </a:ext>
                    </a:extLst>
                  </p:cNvPr>
                  <p:cNvSpPr/>
                  <p:nvPr/>
                </p:nvSpPr>
                <p:spPr>
                  <a:xfrm>
                    <a:off x="1296246" y="2006164"/>
                    <a:ext cx="141227" cy="143447"/>
                  </a:xfrm>
                  <a:custGeom>
                    <a:avLst/>
                    <a:gdLst/>
                    <a:ahLst/>
                    <a:cxnLst/>
                    <a:rect l="l" t="t" r="r" b="b"/>
                    <a:pathLst>
                      <a:path w="141227" h="143447" extrusionOk="0">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6" name="Google Shape;2906;p4">
                    <a:extLst>
                      <a:ext uri="{FF2B5EF4-FFF2-40B4-BE49-F238E27FC236}">
                        <a16:creationId xmlns:a16="http://schemas.microsoft.com/office/drawing/2014/main" id="{043579E5-754C-5455-3AA9-663CA89CF77A}"/>
                      </a:ext>
                    </a:extLst>
                  </p:cNvPr>
                  <p:cNvSpPr/>
                  <p:nvPr/>
                </p:nvSpPr>
                <p:spPr>
                  <a:xfrm>
                    <a:off x="1480252" y="2002748"/>
                    <a:ext cx="206291" cy="146863"/>
                  </a:xfrm>
                  <a:custGeom>
                    <a:avLst/>
                    <a:gdLst/>
                    <a:ahLst/>
                    <a:cxnLst/>
                    <a:rect l="l" t="t" r="r" b="b"/>
                    <a:pathLst>
                      <a:path w="206291" h="146863" extrusionOk="0">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a:noFill/>
                  </a:ln>
                </p:spPr>
                <p:txBody>
                  <a:bodyPr spcFirstLastPara="1" wrap="square" lIns="87700" tIns="43850" rIns="87700" bIns="4385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sp>
        <p:nvSpPr>
          <p:cNvPr id="79" name="Google Shape;2907;p4">
            <a:extLst>
              <a:ext uri="{FF2B5EF4-FFF2-40B4-BE49-F238E27FC236}">
                <a16:creationId xmlns:a16="http://schemas.microsoft.com/office/drawing/2014/main" id="{81ADC291-7193-DAD5-6233-5D1DB7E9BEDD}"/>
              </a:ext>
            </a:extLst>
          </p:cNvPr>
          <p:cNvSpPr/>
          <p:nvPr/>
        </p:nvSpPr>
        <p:spPr>
          <a:xfrm>
            <a:off x="8702805" y="2583167"/>
            <a:ext cx="1650545" cy="1364965"/>
          </a:xfrm>
          <a:prstGeom prst="roundRect">
            <a:avLst>
              <a:gd name="adj" fmla="val 3604"/>
            </a:avLst>
          </a:prstGeom>
          <a:solidFill>
            <a:schemeClr val="lt1"/>
          </a:solidFill>
          <a:ln w="19050" cap="flat" cmpd="sng">
            <a:solidFill>
              <a:schemeClr val="accent2"/>
            </a:solidFill>
            <a:prstDash val="solid"/>
            <a:round/>
            <a:headEnd type="none" w="sm" len="sm"/>
            <a:tailEnd type="none" w="sm" len="sm"/>
          </a:ln>
        </p:spPr>
        <p:txBody>
          <a:bodyPr spcFirstLastPara="1" wrap="square" lIns="91400" tIns="1371600" rIns="91400" bIns="2743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0" name="Google Shape;2908;p4">
            <a:extLst>
              <a:ext uri="{FF2B5EF4-FFF2-40B4-BE49-F238E27FC236}">
                <a16:creationId xmlns:a16="http://schemas.microsoft.com/office/drawing/2014/main" id="{64304CF6-DB2B-F42F-4722-A07F228016AB}"/>
              </a:ext>
            </a:extLst>
          </p:cNvPr>
          <p:cNvSpPr/>
          <p:nvPr/>
        </p:nvSpPr>
        <p:spPr>
          <a:xfrm>
            <a:off x="8891572" y="2907530"/>
            <a:ext cx="1286640" cy="749075"/>
          </a:xfrm>
          <a:prstGeom prst="rect">
            <a:avLst/>
          </a:prstGeom>
          <a:solidFill>
            <a:schemeClr val="lt1"/>
          </a:solidFill>
          <a:ln w="12700" cap="flat" cmpd="sng">
            <a:solidFill>
              <a:schemeClr val="accent1"/>
            </a:solidFill>
            <a:prstDash val="dot"/>
            <a:round/>
            <a:headEnd type="none" w="sm" len="sm"/>
            <a:tailEnd type="none" w="sm" len="sm"/>
          </a:ln>
        </p:spPr>
        <p:txBody>
          <a:bodyPr spcFirstLastPara="1" wrap="square" lIns="0" tIns="0" rIns="27430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1" name="Google Shape;2910;p4">
            <a:extLst>
              <a:ext uri="{FF2B5EF4-FFF2-40B4-BE49-F238E27FC236}">
                <a16:creationId xmlns:a16="http://schemas.microsoft.com/office/drawing/2014/main" id="{DFB12D4C-9974-89F4-A8EE-D9EDFC220B98}"/>
              </a:ext>
            </a:extLst>
          </p:cNvPr>
          <p:cNvSpPr/>
          <p:nvPr/>
        </p:nvSpPr>
        <p:spPr>
          <a:xfrm>
            <a:off x="6573213" y="4111161"/>
            <a:ext cx="1814370" cy="317647"/>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vSphere </a:t>
            </a:r>
            <a:b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b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Namespace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2" name="Google Shape;2911;p4">
            <a:extLst>
              <a:ext uri="{FF2B5EF4-FFF2-40B4-BE49-F238E27FC236}">
                <a16:creationId xmlns:a16="http://schemas.microsoft.com/office/drawing/2014/main" id="{04A74C2A-349F-1597-9EB9-001113B3E928}"/>
              </a:ext>
            </a:extLst>
          </p:cNvPr>
          <p:cNvSpPr/>
          <p:nvPr/>
        </p:nvSpPr>
        <p:spPr>
          <a:xfrm>
            <a:off x="8592324" y="4120049"/>
            <a:ext cx="1885133" cy="317647"/>
          </a:xfrm>
          <a:prstGeom prst="roundRect">
            <a:avLst>
              <a:gd name="adj" fmla="val 16667"/>
            </a:avLst>
          </a:prstGeom>
          <a:solidFill>
            <a:schemeClr val="accent2"/>
          </a:solidFill>
          <a:ln>
            <a:noFill/>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Service vSphere </a:t>
            </a:r>
            <a:b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b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Namespace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83" name="Google Shape;2912;p4">
            <a:extLst>
              <a:ext uri="{FF2B5EF4-FFF2-40B4-BE49-F238E27FC236}">
                <a16:creationId xmlns:a16="http://schemas.microsoft.com/office/drawing/2014/main" id="{BF2A6A1E-EE20-66A8-D3D4-69623F20A8B6}"/>
              </a:ext>
            </a:extLst>
          </p:cNvPr>
          <p:cNvGrpSpPr/>
          <p:nvPr/>
        </p:nvGrpSpPr>
        <p:grpSpPr>
          <a:xfrm>
            <a:off x="9405890" y="4507954"/>
            <a:ext cx="257998" cy="353203"/>
            <a:chOff x="5000233" y="3506447"/>
            <a:chExt cx="283795" cy="388519"/>
          </a:xfrm>
        </p:grpSpPr>
        <p:sp>
          <p:nvSpPr>
            <p:cNvPr id="84" name="Google Shape;2913;p4">
              <a:extLst>
                <a:ext uri="{FF2B5EF4-FFF2-40B4-BE49-F238E27FC236}">
                  <a16:creationId xmlns:a16="http://schemas.microsoft.com/office/drawing/2014/main" id="{CDCB854D-B140-1B13-1669-68AE230840FF}"/>
                </a:ext>
              </a:extLst>
            </p:cNvPr>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22352"/>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85" name="Google Shape;2914;p4">
              <a:extLst>
                <a:ext uri="{FF2B5EF4-FFF2-40B4-BE49-F238E27FC236}">
                  <a16:creationId xmlns:a16="http://schemas.microsoft.com/office/drawing/2014/main" id="{A650689C-0FCB-6F0F-2B6B-30A03BA4967D}"/>
                </a:ext>
              </a:extLst>
            </p:cNvPr>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47450"/>
              </a:schemeClr>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86" name="Google Shape;2915;p4">
              <a:extLst>
                <a:ext uri="{FF2B5EF4-FFF2-40B4-BE49-F238E27FC236}">
                  <a16:creationId xmlns:a16="http://schemas.microsoft.com/office/drawing/2014/main" id="{3AC9743F-069E-96A5-0A9E-2D29AD3DC49A}"/>
                </a:ext>
              </a:extLst>
            </p:cNvPr>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sp>
        <p:nvSpPr>
          <p:cNvPr id="87" name="Google Shape;2916;p4">
            <a:extLst>
              <a:ext uri="{FF2B5EF4-FFF2-40B4-BE49-F238E27FC236}">
                <a16:creationId xmlns:a16="http://schemas.microsoft.com/office/drawing/2014/main" id="{247A278F-F040-C079-42CE-B5E75E30407B}"/>
              </a:ext>
            </a:extLst>
          </p:cNvPr>
          <p:cNvSpPr/>
          <p:nvPr/>
        </p:nvSpPr>
        <p:spPr>
          <a:xfrm>
            <a:off x="8948870" y="3377643"/>
            <a:ext cx="361333" cy="193996"/>
          </a:xfrm>
          <a:prstGeom prst="roundRect">
            <a:avLst>
              <a:gd name="adj" fmla="val 50000"/>
            </a:avLst>
          </a:prstGeom>
          <a:solidFill>
            <a:schemeClr val="accent1"/>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P</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8" name="Google Shape;2917;p4">
            <a:extLst>
              <a:ext uri="{FF2B5EF4-FFF2-40B4-BE49-F238E27FC236}">
                <a16:creationId xmlns:a16="http://schemas.microsoft.com/office/drawing/2014/main" id="{3484FD88-D13C-54A0-09E4-BA4697F26D52}"/>
              </a:ext>
            </a:extLst>
          </p:cNvPr>
          <p:cNvSpPr/>
          <p:nvPr/>
        </p:nvSpPr>
        <p:spPr>
          <a:xfrm>
            <a:off x="9366348" y="3377643"/>
            <a:ext cx="361333" cy="193996"/>
          </a:xfrm>
          <a:prstGeom prst="roundRect">
            <a:avLst>
              <a:gd name="adj" fmla="val 50000"/>
            </a:avLst>
          </a:prstGeom>
          <a:solidFill>
            <a:schemeClr val="accent1"/>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P</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9" name="Google Shape;2918;p4">
            <a:extLst>
              <a:ext uri="{FF2B5EF4-FFF2-40B4-BE49-F238E27FC236}">
                <a16:creationId xmlns:a16="http://schemas.microsoft.com/office/drawing/2014/main" id="{8F351B67-82CC-BCE6-2FFF-877C24023102}"/>
              </a:ext>
            </a:extLst>
          </p:cNvPr>
          <p:cNvSpPr/>
          <p:nvPr/>
        </p:nvSpPr>
        <p:spPr>
          <a:xfrm>
            <a:off x="9779722" y="3377643"/>
            <a:ext cx="361333" cy="193996"/>
          </a:xfrm>
          <a:prstGeom prst="roundRect">
            <a:avLst>
              <a:gd name="adj" fmla="val 50000"/>
            </a:avLst>
          </a:prstGeom>
          <a:solidFill>
            <a:schemeClr val="accent1"/>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P</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0" name="Google Shape;2919;p4">
            <a:extLst>
              <a:ext uri="{FF2B5EF4-FFF2-40B4-BE49-F238E27FC236}">
                <a16:creationId xmlns:a16="http://schemas.microsoft.com/office/drawing/2014/main" id="{EF9990A2-542F-86A3-AB60-247E9BF419B9}"/>
              </a:ext>
            </a:extLst>
          </p:cNvPr>
          <p:cNvSpPr/>
          <p:nvPr/>
        </p:nvSpPr>
        <p:spPr>
          <a:xfrm>
            <a:off x="8942673" y="3158717"/>
            <a:ext cx="361333" cy="193996"/>
          </a:xfrm>
          <a:prstGeom prst="roundRect">
            <a:avLst>
              <a:gd name="adj" fmla="val 50000"/>
            </a:avLst>
          </a:prstGeom>
          <a:solidFill>
            <a:schemeClr val="accent1"/>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a:ea typeface="Arial"/>
                <a:cs typeface="Arial"/>
                <a:sym typeface="Arial"/>
              </a:rPr>
              <a:t>P</a:t>
            </a:r>
            <a:endParaRPr kumimoji="0"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1" name="Google Shape;2920;p4">
            <a:extLst>
              <a:ext uri="{FF2B5EF4-FFF2-40B4-BE49-F238E27FC236}">
                <a16:creationId xmlns:a16="http://schemas.microsoft.com/office/drawing/2014/main" id="{94B094CF-36F9-72D9-815F-9B6EA657C133}"/>
              </a:ext>
            </a:extLst>
          </p:cNvPr>
          <p:cNvSpPr/>
          <p:nvPr/>
        </p:nvSpPr>
        <p:spPr>
          <a:xfrm>
            <a:off x="9360151" y="3158717"/>
            <a:ext cx="361333" cy="193996"/>
          </a:xfrm>
          <a:prstGeom prst="roundRect">
            <a:avLst>
              <a:gd name="adj" fmla="val 50000"/>
            </a:avLst>
          </a:prstGeom>
          <a:solidFill>
            <a:schemeClr val="accent1"/>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P</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2" name="Google Shape;2921;p4">
            <a:extLst>
              <a:ext uri="{FF2B5EF4-FFF2-40B4-BE49-F238E27FC236}">
                <a16:creationId xmlns:a16="http://schemas.microsoft.com/office/drawing/2014/main" id="{AF8E7BE7-EBC5-16A0-04F8-F5ECA4C0D15A}"/>
              </a:ext>
            </a:extLst>
          </p:cNvPr>
          <p:cNvSpPr/>
          <p:nvPr/>
        </p:nvSpPr>
        <p:spPr>
          <a:xfrm>
            <a:off x="9773525" y="3158717"/>
            <a:ext cx="361333" cy="193996"/>
          </a:xfrm>
          <a:prstGeom prst="roundRect">
            <a:avLst>
              <a:gd name="adj" fmla="val 50000"/>
            </a:avLst>
          </a:prstGeom>
          <a:solidFill>
            <a:schemeClr val="accent1"/>
          </a:solidFill>
          <a:ln>
            <a:noFill/>
          </a:ln>
        </p:spPr>
        <p:txBody>
          <a:bodyPr spcFirstLastPara="1" wrap="square" lIns="77700" tIns="38850" rIns="77700" bIns="38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Arial"/>
                <a:cs typeface="Arial"/>
                <a:sym typeface="Arial"/>
              </a:rPr>
              <a:t>P</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3" name="Google Shape;2922;p4">
            <a:extLst>
              <a:ext uri="{FF2B5EF4-FFF2-40B4-BE49-F238E27FC236}">
                <a16:creationId xmlns:a16="http://schemas.microsoft.com/office/drawing/2014/main" id="{8B16625D-7C9B-B594-6DC2-AEC3F0F20293}"/>
              </a:ext>
            </a:extLst>
          </p:cNvPr>
          <p:cNvSpPr txBox="1"/>
          <p:nvPr/>
        </p:nvSpPr>
        <p:spPr>
          <a:xfrm>
            <a:off x="8755975" y="3714424"/>
            <a:ext cx="1557833" cy="16158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vSphere Pods</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4" name="Google Shape;2923;p4">
            <a:extLst>
              <a:ext uri="{FF2B5EF4-FFF2-40B4-BE49-F238E27FC236}">
                <a16:creationId xmlns:a16="http://schemas.microsoft.com/office/drawing/2014/main" id="{B9500B02-1CCA-2D40-99A0-DE38990919F3}"/>
              </a:ext>
            </a:extLst>
          </p:cNvPr>
          <p:cNvSpPr/>
          <p:nvPr/>
        </p:nvSpPr>
        <p:spPr>
          <a:xfrm>
            <a:off x="4209406" y="5499963"/>
            <a:ext cx="6547773"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95" name="Google Shape;2924;p4">
            <a:extLst>
              <a:ext uri="{FF2B5EF4-FFF2-40B4-BE49-F238E27FC236}">
                <a16:creationId xmlns:a16="http://schemas.microsoft.com/office/drawing/2014/main" id="{7086C98C-F6D8-DF68-84DD-91B5F94DFEE0}"/>
              </a:ext>
            </a:extLst>
          </p:cNvPr>
          <p:cNvSpPr txBox="1"/>
          <p:nvPr/>
        </p:nvSpPr>
        <p:spPr>
          <a:xfrm>
            <a:off x="7048751" y="5611278"/>
            <a:ext cx="866659" cy="21544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Arial"/>
                <a:cs typeface="Arial"/>
                <a:sym typeface="Arial"/>
              </a:rPr>
              <a:t>Supervisor</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8" name="Google Shape;2927;p4">
            <a:extLst>
              <a:ext uri="{FF2B5EF4-FFF2-40B4-BE49-F238E27FC236}">
                <a16:creationId xmlns:a16="http://schemas.microsoft.com/office/drawing/2014/main" id="{81BEEFE3-53B0-86B7-A2B2-4447D33735DE}"/>
              </a:ext>
            </a:extLst>
          </p:cNvPr>
          <p:cNvSpPr txBox="1"/>
          <p:nvPr/>
        </p:nvSpPr>
        <p:spPr>
          <a:xfrm>
            <a:off x="8907279" y="5115574"/>
            <a:ext cx="1255221" cy="16927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D36"/>
                </a:solidFill>
                <a:effectLst/>
                <a:uLnTx/>
                <a:uFillTx/>
                <a:latin typeface="Arial"/>
                <a:ea typeface="Arial"/>
                <a:cs typeface="Arial"/>
                <a:sym typeface="Arial"/>
              </a:rPr>
              <a:t>Secret Store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9" name="Google Shape;2928;p4">
            <a:extLst>
              <a:ext uri="{FF2B5EF4-FFF2-40B4-BE49-F238E27FC236}">
                <a16:creationId xmlns:a16="http://schemas.microsoft.com/office/drawing/2014/main" id="{3E8BD44B-71BB-6EDF-E681-C0C69AA7D43F}"/>
              </a:ext>
            </a:extLst>
          </p:cNvPr>
          <p:cNvSpPr/>
          <p:nvPr/>
        </p:nvSpPr>
        <p:spPr>
          <a:xfrm>
            <a:off x="4261416" y="5562610"/>
            <a:ext cx="1814370" cy="304750"/>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00" name="Google Shape;2929;p4">
            <a:extLst>
              <a:ext uri="{FF2B5EF4-FFF2-40B4-BE49-F238E27FC236}">
                <a16:creationId xmlns:a16="http://schemas.microsoft.com/office/drawing/2014/main" id="{AE88F879-AF40-2477-B018-667B962E1C82}"/>
              </a:ext>
            </a:extLst>
          </p:cNvPr>
          <p:cNvSpPr txBox="1"/>
          <p:nvPr/>
        </p:nvSpPr>
        <p:spPr>
          <a:xfrm>
            <a:off x="4586079" y="5621513"/>
            <a:ext cx="1438968" cy="179216"/>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Supervisor 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01" name="Google Shape;2930;p4">
            <a:extLst>
              <a:ext uri="{FF2B5EF4-FFF2-40B4-BE49-F238E27FC236}">
                <a16:creationId xmlns:a16="http://schemas.microsoft.com/office/drawing/2014/main" id="{A9A06B94-7BB8-E179-70DB-5CE5BD2AA4C9}"/>
              </a:ext>
            </a:extLst>
          </p:cNvPr>
          <p:cNvGrpSpPr/>
          <p:nvPr/>
        </p:nvGrpSpPr>
        <p:grpSpPr>
          <a:xfrm>
            <a:off x="4275960" y="5573331"/>
            <a:ext cx="288000" cy="288000"/>
            <a:chOff x="456349" y="4375620"/>
            <a:chExt cx="288000" cy="288000"/>
          </a:xfrm>
        </p:grpSpPr>
        <p:sp>
          <p:nvSpPr>
            <p:cNvPr id="102" name="Google Shape;2931;p4">
              <a:extLst>
                <a:ext uri="{FF2B5EF4-FFF2-40B4-BE49-F238E27FC236}">
                  <a16:creationId xmlns:a16="http://schemas.microsoft.com/office/drawing/2014/main" id="{A89EA8A5-184E-63B1-0321-F9884E892080}"/>
                </a:ext>
              </a:extLst>
            </p:cNvPr>
            <p:cNvSpPr/>
            <p:nvPr/>
          </p:nvSpPr>
          <p:spPr>
            <a:xfrm>
              <a:off x="456349" y="4375620"/>
              <a:ext cx="288000" cy="288000"/>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03" name="Google Shape;2932;p4">
              <a:extLst>
                <a:ext uri="{FF2B5EF4-FFF2-40B4-BE49-F238E27FC236}">
                  <a16:creationId xmlns:a16="http://schemas.microsoft.com/office/drawing/2014/main" id="{2FFB8929-ABED-F1AA-4F21-3E9538FEF733}"/>
                </a:ext>
              </a:extLst>
            </p:cNvPr>
            <p:cNvSpPr/>
            <p:nvPr/>
          </p:nvSpPr>
          <p:spPr>
            <a:xfrm>
              <a:off x="501068" y="4430830"/>
              <a:ext cx="204951" cy="180919"/>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04" name="Google Shape;2933;p4">
            <a:extLst>
              <a:ext uri="{FF2B5EF4-FFF2-40B4-BE49-F238E27FC236}">
                <a16:creationId xmlns:a16="http://schemas.microsoft.com/office/drawing/2014/main" id="{DFD93DB7-7652-8443-8C6D-D5B609552957}"/>
              </a:ext>
            </a:extLst>
          </p:cNvPr>
          <p:cNvGrpSpPr/>
          <p:nvPr/>
        </p:nvGrpSpPr>
        <p:grpSpPr>
          <a:xfrm>
            <a:off x="6824432" y="6118227"/>
            <a:ext cx="1344725" cy="216064"/>
            <a:chOff x="3604782" y="5211713"/>
            <a:chExt cx="1344725" cy="216064"/>
          </a:xfrm>
        </p:grpSpPr>
        <p:grpSp>
          <p:nvGrpSpPr>
            <p:cNvPr id="105" name="Google Shape;2934;p4">
              <a:extLst>
                <a:ext uri="{FF2B5EF4-FFF2-40B4-BE49-F238E27FC236}">
                  <a16:creationId xmlns:a16="http://schemas.microsoft.com/office/drawing/2014/main" id="{261EEAD2-A3B3-63DD-9FA4-AD1700C9B6A2}"/>
                </a:ext>
              </a:extLst>
            </p:cNvPr>
            <p:cNvGrpSpPr/>
            <p:nvPr/>
          </p:nvGrpSpPr>
          <p:grpSpPr>
            <a:xfrm>
              <a:off x="4468307" y="5211713"/>
              <a:ext cx="481200" cy="216000"/>
              <a:chOff x="9559097" y="5270063"/>
              <a:chExt cx="481200" cy="216000"/>
            </a:xfrm>
          </p:grpSpPr>
          <p:sp>
            <p:nvSpPr>
              <p:cNvPr id="115" name="Google Shape;2935;p4">
                <a:extLst>
                  <a:ext uri="{FF2B5EF4-FFF2-40B4-BE49-F238E27FC236}">
                    <a16:creationId xmlns:a16="http://schemas.microsoft.com/office/drawing/2014/main" id="{EA7AEABC-A027-806D-6A31-6ADFE284FB20}"/>
                  </a:ext>
                </a:extLst>
              </p:cNvPr>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16" name="Google Shape;2936;p4">
                <a:extLst>
                  <a:ext uri="{FF2B5EF4-FFF2-40B4-BE49-F238E27FC236}">
                    <a16:creationId xmlns:a16="http://schemas.microsoft.com/office/drawing/2014/main" id="{E2594E0A-C898-C95D-6E32-90D942542DCD}"/>
                  </a:ext>
                </a:extLst>
              </p:cNvPr>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06" name="Google Shape;2937;p4">
              <a:extLst>
                <a:ext uri="{FF2B5EF4-FFF2-40B4-BE49-F238E27FC236}">
                  <a16:creationId xmlns:a16="http://schemas.microsoft.com/office/drawing/2014/main" id="{3759A4E0-6A82-C9EA-B93B-08CDF6EB3676}"/>
                </a:ext>
              </a:extLst>
            </p:cNvPr>
            <p:cNvGrpSpPr/>
            <p:nvPr/>
          </p:nvGrpSpPr>
          <p:grpSpPr>
            <a:xfrm>
              <a:off x="4059181" y="5211713"/>
              <a:ext cx="437400" cy="216000"/>
              <a:chOff x="9895949" y="1413332"/>
              <a:chExt cx="437400" cy="216000"/>
            </a:xfrm>
          </p:grpSpPr>
          <p:sp>
            <p:nvSpPr>
              <p:cNvPr id="113" name="Google Shape;2938;p4">
                <a:extLst>
                  <a:ext uri="{FF2B5EF4-FFF2-40B4-BE49-F238E27FC236}">
                    <a16:creationId xmlns:a16="http://schemas.microsoft.com/office/drawing/2014/main" id="{14229045-2B3F-ECC6-E8C7-73386FFD10D0}"/>
                  </a:ext>
                </a:extLst>
              </p:cNvPr>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114" name="Google Shape;2939;p4">
                <a:extLst>
                  <a:ext uri="{FF2B5EF4-FFF2-40B4-BE49-F238E27FC236}">
                    <a16:creationId xmlns:a16="http://schemas.microsoft.com/office/drawing/2014/main" id="{4BCC9FDA-F14E-2D24-83FD-5493155EAC52}"/>
                  </a:ext>
                </a:extLst>
              </p:cNvPr>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07" name="Google Shape;2940;p4">
              <a:extLst>
                <a:ext uri="{FF2B5EF4-FFF2-40B4-BE49-F238E27FC236}">
                  <a16:creationId xmlns:a16="http://schemas.microsoft.com/office/drawing/2014/main" id="{2235D0AC-1655-8A67-D929-2BA948A1EAC5}"/>
                </a:ext>
              </a:extLst>
            </p:cNvPr>
            <p:cNvGrpSpPr/>
            <p:nvPr/>
          </p:nvGrpSpPr>
          <p:grpSpPr>
            <a:xfrm>
              <a:off x="3604782" y="5211777"/>
              <a:ext cx="481200" cy="216000"/>
              <a:chOff x="8526343" y="2145622"/>
              <a:chExt cx="481200" cy="216000"/>
            </a:xfrm>
          </p:grpSpPr>
          <p:sp>
            <p:nvSpPr>
              <p:cNvPr id="108" name="Google Shape;2941;p4">
                <a:extLst>
                  <a:ext uri="{FF2B5EF4-FFF2-40B4-BE49-F238E27FC236}">
                    <a16:creationId xmlns:a16="http://schemas.microsoft.com/office/drawing/2014/main" id="{69853C86-2324-D8B3-70D3-12A922F04891}"/>
                  </a:ext>
                </a:extLst>
              </p:cNvPr>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nvGrpSpPr>
              <p:cNvPr id="109" name="Google Shape;2942;p4">
                <a:extLst>
                  <a:ext uri="{FF2B5EF4-FFF2-40B4-BE49-F238E27FC236}">
                    <a16:creationId xmlns:a16="http://schemas.microsoft.com/office/drawing/2014/main" id="{032872F1-49DD-85F8-65AB-3B3D7DA48C90}"/>
                  </a:ext>
                </a:extLst>
              </p:cNvPr>
              <p:cNvGrpSpPr/>
              <p:nvPr/>
            </p:nvGrpSpPr>
            <p:grpSpPr>
              <a:xfrm>
                <a:off x="8658941" y="2145622"/>
                <a:ext cx="216005" cy="216000"/>
                <a:chOff x="3822556" y="5087301"/>
                <a:chExt cx="611339" cy="557273"/>
              </a:xfrm>
            </p:grpSpPr>
            <p:sp>
              <p:nvSpPr>
                <p:cNvPr id="110" name="Google Shape;2943;p4">
                  <a:extLst>
                    <a:ext uri="{FF2B5EF4-FFF2-40B4-BE49-F238E27FC236}">
                      <a16:creationId xmlns:a16="http://schemas.microsoft.com/office/drawing/2014/main" id="{06C63CF1-1FBA-59C2-CEE4-74E8251F1D5B}"/>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1" name="Google Shape;2944;p4">
                  <a:extLst>
                    <a:ext uri="{FF2B5EF4-FFF2-40B4-BE49-F238E27FC236}">
                      <a16:creationId xmlns:a16="http://schemas.microsoft.com/office/drawing/2014/main" id="{F4006BB4-C6EC-F6F7-BA69-32AF8D8533AB}"/>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2" name="Google Shape;2945;p4">
                  <a:extLst>
                    <a:ext uri="{FF2B5EF4-FFF2-40B4-BE49-F238E27FC236}">
                      <a16:creationId xmlns:a16="http://schemas.microsoft.com/office/drawing/2014/main" id="{185E6C6D-D6F8-231D-D92A-B8DA644716C6}"/>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117" name="Google Shape;3420;p8">
            <a:extLst>
              <a:ext uri="{FF2B5EF4-FFF2-40B4-BE49-F238E27FC236}">
                <a16:creationId xmlns:a16="http://schemas.microsoft.com/office/drawing/2014/main" id="{DF5BEAB1-5BF2-2B8C-92F8-0ED1269A1E55}"/>
              </a:ext>
            </a:extLst>
          </p:cNvPr>
          <p:cNvGrpSpPr/>
          <p:nvPr/>
        </p:nvGrpSpPr>
        <p:grpSpPr>
          <a:xfrm>
            <a:off x="6604597" y="4141067"/>
            <a:ext cx="259961" cy="252000"/>
            <a:chOff x="6844091" y="3272403"/>
            <a:chExt cx="600837" cy="600837"/>
          </a:xfrm>
        </p:grpSpPr>
        <p:grpSp>
          <p:nvGrpSpPr>
            <p:cNvPr id="118" name="Google Shape;3421;p8" descr="Router&#10;">
              <a:extLst>
                <a:ext uri="{FF2B5EF4-FFF2-40B4-BE49-F238E27FC236}">
                  <a16:creationId xmlns:a16="http://schemas.microsoft.com/office/drawing/2014/main" id="{2578FFA9-93CF-4854-0651-C7AE16E51CB4}"/>
                </a:ext>
              </a:extLst>
            </p:cNvPr>
            <p:cNvGrpSpPr/>
            <p:nvPr/>
          </p:nvGrpSpPr>
          <p:grpSpPr>
            <a:xfrm>
              <a:off x="6844091" y="3272403"/>
              <a:ext cx="600837" cy="600837"/>
              <a:chOff x="529959" y="1943518"/>
              <a:chExt cx="600837" cy="600837"/>
            </a:xfrm>
          </p:grpSpPr>
          <p:sp>
            <p:nvSpPr>
              <p:cNvPr id="121" name="Google Shape;3422;p8">
                <a:extLst>
                  <a:ext uri="{FF2B5EF4-FFF2-40B4-BE49-F238E27FC236}">
                    <a16:creationId xmlns:a16="http://schemas.microsoft.com/office/drawing/2014/main" id="{9178F201-540C-50FC-6B32-1E1CF2CF5659}"/>
                  </a:ext>
                </a:extLst>
              </p:cNvPr>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2" name="Google Shape;3423;p8">
                <a:extLst>
                  <a:ext uri="{FF2B5EF4-FFF2-40B4-BE49-F238E27FC236}">
                    <a16:creationId xmlns:a16="http://schemas.microsoft.com/office/drawing/2014/main" id="{3142EA97-47D4-6BAF-69A8-70740F0CC60A}"/>
                  </a:ext>
                </a:extLst>
              </p:cNvPr>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3" name="Google Shape;3424;p8">
                <a:extLst>
                  <a:ext uri="{FF2B5EF4-FFF2-40B4-BE49-F238E27FC236}">
                    <a16:creationId xmlns:a16="http://schemas.microsoft.com/office/drawing/2014/main" id="{46B27392-4807-75A0-E577-76CB8691EBA2}"/>
                  </a:ext>
                </a:extLst>
              </p:cNvPr>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19" name="Google Shape;3425;p8">
              <a:extLst>
                <a:ext uri="{FF2B5EF4-FFF2-40B4-BE49-F238E27FC236}">
                  <a16:creationId xmlns:a16="http://schemas.microsoft.com/office/drawing/2014/main" id="{AD36C409-007F-4774-F398-6BEDBB1F13F1}"/>
                </a:ext>
              </a:extLst>
            </p:cNvPr>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0" name="Google Shape;3426;p8">
              <a:extLst>
                <a:ext uri="{FF2B5EF4-FFF2-40B4-BE49-F238E27FC236}">
                  <a16:creationId xmlns:a16="http://schemas.microsoft.com/office/drawing/2014/main" id="{EFC35189-2088-F08C-8E87-DA90216D3638}"/>
                </a:ext>
              </a:extLst>
            </p:cNvPr>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24" name="Google Shape;3420;p8">
            <a:extLst>
              <a:ext uri="{FF2B5EF4-FFF2-40B4-BE49-F238E27FC236}">
                <a16:creationId xmlns:a16="http://schemas.microsoft.com/office/drawing/2014/main" id="{5C86071F-7A3A-B709-376D-2150E562B769}"/>
              </a:ext>
            </a:extLst>
          </p:cNvPr>
          <p:cNvGrpSpPr/>
          <p:nvPr/>
        </p:nvGrpSpPr>
        <p:grpSpPr>
          <a:xfrm>
            <a:off x="4573638" y="4144179"/>
            <a:ext cx="259961" cy="252000"/>
            <a:chOff x="6844091" y="3272403"/>
            <a:chExt cx="600837" cy="600837"/>
          </a:xfrm>
        </p:grpSpPr>
        <p:grpSp>
          <p:nvGrpSpPr>
            <p:cNvPr id="125" name="Google Shape;3421;p8" descr="Router&#10;">
              <a:extLst>
                <a:ext uri="{FF2B5EF4-FFF2-40B4-BE49-F238E27FC236}">
                  <a16:creationId xmlns:a16="http://schemas.microsoft.com/office/drawing/2014/main" id="{44DDB38A-72C4-47F4-B270-274E67E0EAA7}"/>
                </a:ext>
              </a:extLst>
            </p:cNvPr>
            <p:cNvGrpSpPr/>
            <p:nvPr/>
          </p:nvGrpSpPr>
          <p:grpSpPr>
            <a:xfrm>
              <a:off x="6844091" y="3272403"/>
              <a:ext cx="600837" cy="600837"/>
              <a:chOff x="529959" y="1943518"/>
              <a:chExt cx="600837" cy="600837"/>
            </a:xfrm>
          </p:grpSpPr>
          <p:sp>
            <p:nvSpPr>
              <p:cNvPr id="128" name="Google Shape;3422;p8">
                <a:extLst>
                  <a:ext uri="{FF2B5EF4-FFF2-40B4-BE49-F238E27FC236}">
                    <a16:creationId xmlns:a16="http://schemas.microsoft.com/office/drawing/2014/main" id="{DB4F3217-C6E3-8C04-8441-2697F5CEEEE9}"/>
                  </a:ext>
                </a:extLst>
              </p:cNvPr>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9" name="Google Shape;3423;p8">
                <a:extLst>
                  <a:ext uri="{FF2B5EF4-FFF2-40B4-BE49-F238E27FC236}">
                    <a16:creationId xmlns:a16="http://schemas.microsoft.com/office/drawing/2014/main" id="{3DE6DD1D-83F4-79D8-DAE5-5802405F62C7}"/>
                  </a:ext>
                </a:extLst>
              </p:cNvPr>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30" name="Google Shape;3424;p8">
                <a:extLst>
                  <a:ext uri="{FF2B5EF4-FFF2-40B4-BE49-F238E27FC236}">
                    <a16:creationId xmlns:a16="http://schemas.microsoft.com/office/drawing/2014/main" id="{2EFB8562-821A-9658-A0A8-F2E4109DD12C}"/>
                  </a:ext>
                </a:extLst>
              </p:cNvPr>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26" name="Google Shape;3425;p8">
              <a:extLst>
                <a:ext uri="{FF2B5EF4-FFF2-40B4-BE49-F238E27FC236}">
                  <a16:creationId xmlns:a16="http://schemas.microsoft.com/office/drawing/2014/main" id="{FBC23205-FEB2-7068-B524-AC7DEFA67311}"/>
                </a:ext>
              </a:extLst>
            </p:cNvPr>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7" name="Google Shape;3426;p8">
              <a:extLst>
                <a:ext uri="{FF2B5EF4-FFF2-40B4-BE49-F238E27FC236}">
                  <a16:creationId xmlns:a16="http://schemas.microsoft.com/office/drawing/2014/main" id="{2D59DB39-C126-410F-6E35-93222005A5AD}"/>
                </a:ext>
              </a:extLst>
            </p:cNvPr>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31" name="Google Shape;3420;p8">
            <a:extLst>
              <a:ext uri="{FF2B5EF4-FFF2-40B4-BE49-F238E27FC236}">
                <a16:creationId xmlns:a16="http://schemas.microsoft.com/office/drawing/2014/main" id="{C0F21E9A-A97A-7A07-7365-F5C572748EF8}"/>
              </a:ext>
            </a:extLst>
          </p:cNvPr>
          <p:cNvGrpSpPr/>
          <p:nvPr/>
        </p:nvGrpSpPr>
        <p:grpSpPr>
          <a:xfrm>
            <a:off x="8623117" y="4162840"/>
            <a:ext cx="259961" cy="252000"/>
            <a:chOff x="6844091" y="3272403"/>
            <a:chExt cx="600837" cy="600837"/>
          </a:xfrm>
        </p:grpSpPr>
        <p:grpSp>
          <p:nvGrpSpPr>
            <p:cNvPr id="132" name="Google Shape;3421;p8" descr="Router&#10;">
              <a:extLst>
                <a:ext uri="{FF2B5EF4-FFF2-40B4-BE49-F238E27FC236}">
                  <a16:creationId xmlns:a16="http://schemas.microsoft.com/office/drawing/2014/main" id="{1AD52696-EA6F-9035-55FE-28F1FBD98487}"/>
                </a:ext>
              </a:extLst>
            </p:cNvPr>
            <p:cNvGrpSpPr/>
            <p:nvPr/>
          </p:nvGrpSpPr>
          <p:grpSpPr>
            <a:xfrm>
              <a:off x="6844091" y="3272403"/>
              <a:ext cx="600837" cy="600837"/>
              <a:chOff x="529959" y="1943518"/>
              <a:chExt cx="600837" cy="600837"/>
            </a:xfrm>
          </p:grpSpPr>
          <p:sp>
            <p:nvSpPr>
              <p:cNvPr id="135" name="Google Shape;3422;p8">
                <a:extLst>
                  <a:ext uri="{FF2B5EF4-FFF2-40B4-BE49-F238E27FC236}">
                    <a16:creationId xmlns:a16="http://schemas.microsoft.com/office/drawing/2014/main" id="{F5392A6F-1C23-EC75-B8F7-63A5CCE47E66}"/>
                  </a:ext>
                </a:extLst>
              </p:cNvPr>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36" name="Google Shape;3423;p8">
                <a:extLst>
                  <a:ext uri="{FF2B5EF4-FFF2-40B4-BE49-F238E27FC236}">
                    <a16:creationId xmlns:a16="http://schemas.microsoft.com/office/drawing/2014/main" id="{52E5FA36-0C83-D4BB-4726-28E1B63909AA}"/>
                  </a:ext>
                </a:extLst>
              </p:cNvPr>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37" name="Google Shape;3424;p8">
                <a:extLst>
                  <a:ext uri="{FF2B5EF4-FFF2-40B4-BE49-F238E27FC236}">
                    <a16:creationId xmlns:a16="http://schemas.microsoft.com/office/drawing/2014/main" id="{934CCC5C-BC5F-88D8-D5F4-030B49195EAC}"/>
                  </a:ext>
                </a:extLst>
              </p:cNvPr>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33" name="Google Shape;3425;p8">
              <a:extLst>
                <a:ext uri="{FF2B5EF4-FFF2-40B4-BE49-F238E27FC236}">
                  <a16:creationId xmlns:a16="http://schemas.microsoft.com/office/drawing/2014/main" id="{80619CEA-334A-89D0-7C17-822FB91DC148}"/>
                </a:ext>
              </a:extLst>
            </p:cNvPr>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34" name="Google Shape;3426;p8">
              <a:extLst>
                <a:ext uri="{FF2B5EF4-FFF2-40B4-BE49-F238E27FC236}">
                  <a16:creationId xmlns:a16="http://schemas.microsoft.com/office/drawing/2014/main" id="{B3CE892D-FF33-66C6-72DB-687E90AA2DDF}"/>
                </a:ext>
              </a:extLst>
            </p:cNvPr>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40" name="Google Shape;2821;p3">
            <a:extLst>
              <a:ext uri="{FF2B5EF4-FFF2-40B4-BE49-F238E27FC236}">
                <a16:creationId xmlns:a16="http://schemas.microsoft.com/office/drawing/2014/main" id="{D362BBB1-C375-DEA5-B13F-3BE0FD1F0E83}"/>
              </a:ext>
            </a:extLst>
          </p:cNvPr>
          <p:cNvGrpSpPr/>
          <p:nvPr/>
        </p:nvGrpSpPr>
        <p:grpSpPr>
          <a:xfrm>
            <a:off x="9359712" y="2679482"/>
            <a:ext cx="340266" cy="400636"/>
            <a:chOff x="9224614" y="3965018"/>
            <a:chExt cx="340266" cy="400636"/>
          </a:xfrm>
        </p:grpSpPr>
        <p:sp>
          <p:nvSpPr>
            <p:cNvPr id="142" name="Google Shape;2823;p3">
              <a:extLst>
                <a:ext uri="{FF2B5EF4-FFF2-40B4-BE49-F238E27FC236}">
                  <a16:creationId xmlns:a16="http://schemas.microsoft.com/office/drawing/2014/main" id="{6BCC4503-C40F-B19F-1F7A-1D9A62C595ED}"/>
                </a:ext>
              </a:extLst>
            </p:cNvPr>
            <p:cNvSpPr/>
            <p:nvPr/>
          </p:nvSpPr>
          <p:spPr>
            <a:xfrm>
              <a:off x="9333228" y="4074049"/>
              <a:ext cx="123273" cy="183220"/>
            </a:xfrm>
            <a:custGeom>
              <a:avLst/>
              <a:gdLst/>
              <a:ahLst/>
              <a:cxnLst/>
              <a:rect l="l" t="t" r="r" b="b"/>
              <a:pathLst>
                <a:path w="184678"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4678" y="151158"/>
                    <a:pt x="169499" y="123962"/>
                    <a:pt x="146731" y="107518"/>
                  </a:cubicBezTo>
                  <a:close/>
                  <a:moveTo>
                    <a:pt x="53759" y="55024"/>
                  </a:moveTo>
                  <a:cubicBezTo>
                    <a:pt x="53759" y="33520"/>
                    <a:pt x="68938" y="15812"/>
                    <a:pt x="87912" y="15812"/>
                  </a:cubicBezTo>
                  <a:lnTo>
                    <a:pt x="96134" y="15812"/>
                  </a:lnTo>
                  <a:cubicBezTo>
                    <a:pt x="115108" y="15812"/>
                    <a:pt x="130287" y="33520"/>
                    <a:pt x="130287" y="55024"/>
                  </a:cubicBezTo>
                  <a:lnTo>
                    <a:pt x="130287" y="98031"/>
                  </a:lnTo>
                  <a:cubicBezTo>
                    <a:pt x="118902" y="92972"/>
                    <a:pt x="105621" y="89809"/>
                    <a:pt x="91707" y="89809"/>
                  </a:cubicBezTo>
                  <a:cubicBezTo>
                    <a:pt x="77793" y="89809"/>
                    <a:pt x="65143" y="92972"/>
                    <a:pt x="53127" y="98031"/>
                  </a:cubicBezTo>
                  <a:lnTo>
                    <a:pt x="53127" y="55024"/>
                  </a:lnTo>
                  <a:close/>
                  <a:moveTo>
                    <a:pt x="92339" y="258676"/>
                  </a:moveTo>
                  <a:cubicBezTo>
                    <a:pt x="49964" y="258676"/>
                    <a:pt x="15812" y="224523"/>
                    <a:pt x="15812" y="182148"/>
                  </a:cubicBezTo>
                  <a:cubicBezTo>
                    <a:pt x="15812" y="139774"/>
                    <a:pt x="49964" y="105621"/>
                    <a:pt x="92339" y="105621"/>
                  </a:cubicBezTo>
                  <a:cubicBezTo>
                    <a:pt x="134714" y="105621"/>
                    <a:pt x="168867" y="139774"/>
                    <a:pt x="168867" y="182148"/>
                  </a:cubicBezTo>
                  <a:cubicBezTo>
                    <a:pt x="168867" y="224523"/>
                    <a:pt x="134714" y="258676"/>
                    <a:pt x="92339" y="258676"/>
                  </a:cubicBezTo>
                  <a:close/>
                </a:path>
              </a:pathLst>
            </a:custGeom>
            <a:gradFill>
              <a:gsLst>
                <a:gs pos="0">
                  <a:srgbClr val="6C4B94"/>
                </a:gs>
                <a:gs pos="25000">
                  <a:srgbClr val="005C8A"/>
                </a:gs>
                <a:gs pos="50000">
                  <a:srgbClr val="0098C7"/>
                </a:gs>
                <a:gs pos="75000">
                  <a:srgbClr val="007B8C"/>
                </a:gs>
                <a:gs pos="100000">
                  <a:srgbClr val="61A60E"/>
                </a:gs>
              </a:gsLst>
              <a:lin ang="0" scaled="0"/>
            </a:gra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43" name="Google Shape;2824;p3">
              <a:extLst>
                <a:ext uri="{FF2B5EF4-FFF2-40B4-BE49-F238E27FC236}">
                  <a16:creationId xmlns:a16="http://schemas.microsoft.com/office/drawing/2014/main" id="{02E8C412-7A5B-CB70-E8B9-E01EA776C151}"/>
                </a:ext>
              </a:extLst>
            </p:cNvPr>
            <p:cNvSpPr/>
            <p:nvPr/>
          </p:nvSpPr>
          <p:spPr>
            <a:xfrm>
              <a:off x="9224614" y="3965018"/>
              <a:ext cx="340266" cy="400636"/>
            </a:xfrm>
            <a:custGeom>
              <a:avLst/>
              <a:gdLst/>
              <a:ahLst/>
              <a:cxnLst/>
              <a:rect l="l" t="t" r="r" b="b"/>
              <a:pathLst>
                <a:path w="509762" h="600204" extrusionOk="0">
                  <a:moveTo>
                    <a:pt x="254881" y="600205"/>
                  </a:moveTo>
                  <a:lnTo>
                    <a:pt x="246027" y="597042"/>
                  </a:lnTo>
                  <a:cubicBezTo>
                    <a:pt x="235908" y="593248"/>
                    <a:pt x="0" y="500908"/>
                    <a:pt x="0" y="264368"/>
                  </a:cubicBezTo>
                  <a:lnTo>
                    <a:pt x="0" y="111313"/>
                  </a:lnTo>
                  <a:lnTo>
                    <a:pt x="18974" y="106253"/>
                  </a:lnTo>
                  <a:cubicBezTo>
                    <a:pt x="58186" y="95501"/>
                    <a:pt x="97399" y="82220"/>
                    <a:pt x="134714" y="65143"/>
                  </a:cubicBezTo>
                  <a:cubicBezTo>
                    <a:pt x="171397" y="49332"/>
                    <a:pt x="207447" y="30358"/>
                    <a:pt x="240967" y="8854"/>
                  </a:cubicBezTo>
                  <a:lnTo>
                    <a:pt x="254881" y="0"/>
                  </a:lnTo>
                  <a:lnTo>
                    <a:pt x="268796" y="8854"/>
                  </a:lnTo>
                  <a:cubicBezTo>
                    <a:pt x="302948" y="30358"/>
                    <a:pt x="338366" y="49332"/>
                    <a:pt x="375049" y="65143"/>
                  </a:cubicBezTo>
                  <a:cubicBezTo>
                    <a:pt x="412364" y="81587"/>
                    <a:pt x="450944" y="95501"/>
                    <a:pt x="490789" y="106253"/>
                  </a:cubicBezTo>
                  <a:lnTo>
                    <a:pt x="509763" y="111313"/>
                  </a:lnTo>
                  <a:lnTo>
                    <a:pt x="509763" y="264368"/>
                  </a:lnTo>
                  <a:cubicBezTo>
                    <a:pt x="509763" y="496481"/>
                    <a:pt x="289667" y="587555"/>
                    <a:pt x="263103" y="597042"/>
                  </a:cubicBezTo>
                  <a:lnTo>
                    <a:pt x="263103" y="597675"/>
                  </a:lnTo>
                  <a:lnTo>
                    <a:pt x="254881" y="600205"/>
                  </a:lnTo>
                  <a:close/>
                  <a:moveTo>
                    <a:pt x="15812" y="123330"/>
                  </a:moveTo>
                  <a:lnTo>
                    <a:pt x="15812" y="264368"/>
                  </a:lnTo>
                  <a:cubicBezTo>
                    <a:pt x="15812" y="490789"/>
                    <a:pt x="242232" y="578701"/>
                    <a:pt x="251719" y="582496"/>
                  </a:cubicBezTo>
                  <a:lnTo>
                    <a:pt x="254881" y="583761"/>
                  </a:lnTo>
                  <a:lnTo>
                    <a:pt x="259941" y="581863"/>
                  </a:lnTo>
                  <a:cubicBezTo>
                    <a:pt x="273855" y="576804"/>
                    <a:pt x="493951" y="488259"/>
                    <a:pt x="493951" y="264368"/>
                  </a:cubicBezTo>
                  <a:lnTo>
                    <a:pt x="493951" y="123330"/>
                  </a:lnTo>
                  <a:lnTo>
                    <a:pt x="486362" y="121432"/>
                  </a:lnTo>
                  <a:cubicBezTo>
                    <a:pt x="446517" y="110681"/>
                    <a:pt x="406672" y="96766"/>
                    <a:pt x="368724" y="79690"/>
                  </a:cubicBezTo>
                  <a:cubicBezTo>
                    <a:pt x="331409" y="63246"/>
                    <a:pt x="294726" y="44272"/>
                    <a:pt x="260574" y="22769"/>
                  </a:cubicBezTo>
                  <a:lnTo>
                    <a:pt x="254881" y="18974"/>
                  </a:lnTo>
                  <a:lnTo>
                    <a:pt x="249822" y="22136"/>
                  </a:lnTo>
                  <a:cubicBezTo>
                    <a:pt x="215036" y="43640"/>
                    <a:pt x="178986" y="63246"/>
                    <a:pt x="141671" y="79690"/>
                  </a:cubicBezTo>
                  <a:cubicBezTo>
                    <a:pt x="103723" y="96766"/>
                    <a:pt x="63878" y="110681"/>
                    <a:pt x="23401" y="121432"/>
                  </a:cubicBezTo>
                  <a:lnTo>
                    <a:pt x="15812" y="123330"/>
                  </a:lnTo>
                  <a:close/>
                </a:path>
              </a:pathLst>
            </a:custGeom>
            <a:gradFill>
              <a:gsLst>
                <a:gs pos="0">
                  <a:srgbClr val="6C4B94"/>
                </a:gs>
                <a:gs pos="25000">
                  <a:srgbClr val="005C8A"/>
                </a:gs>
                <a:gs pos="50000">
                  <a:srgbClr val="0098C7"/>
                </a:gs>
                <a:gs pos="75000">
                  <a:srgbClr val="007B8C"/>
                </a:gs>
                <a:gs pos="100000">
                  <a:srgbClr val="61A60E"/>
                </a:gs>
              </a:gsLst>
              <a:lin ang="0" scaled="0"/>
            </a:gra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46" name="Freeform: Shape 144">
            <a:extLst>
              <a:ext uri="{FF2B5EF4-FFF2-40B4-BE49-F238E27FC236}">
                <a16:creationId xmlns:a16="http://schemas.microsoft.com/office/drawing/2014/main" id="{21DB43A3-43C1-D675-81B0-4657B446A891}"/>
              </a:ext>
              <a:ext uri="{C183D7F6-B498-43B3-948B-1728B52AA6E4}">
                <adec:decorative xmlns:adec="http://schemas.microsoft.com/office/drawing/2017/decorative" val="1"/>
              </a:ext>
            </a:extLst>
          </p:cNvPr>
          <p:cNvSpPr/>
          <p:nvPr/>
        </p:nvSpPr>
        <p:spPr>
          <a:xfrm rot="10800000" flipH="1">
            <a:off x="9544991" y="2077395"/>
            <a:ext cx="45719" cy="502288"/>
          </a:xfrm>
          <a:custGeom>
            <a:avLst/>
            <a:gdLst>
              <a:gd name="connsiteX0" fmla="*/ 0 w 7821"/>
              <a:gd name="connsiteY0" fmla="*/ 0 h 677563"/>
              <a:gd name="connsiteX1" fmla="*/ 0 w 7821"/>
              <a:gd name="connsiteY1" fmla="*/ 677563 h 677563"/>
            </a:gdLst>
            <a:ahLst/>
            <a:cxnLst>
              <a:cxn ang="0">
                <a:pos x="connsiteX0" y="connsiteY0"/>
              </a:cxn>
              <a:cxn ang="0">
                <a:pos x="connsiteX1" y="connsiteY1"/>
              </a:cxn>
            </a:cxnLst>
            <a:rect l="l" t="t" r="r" b="b"/>
            <a:pathLst>
              <a:path w="7821" h="677563">
                <a:moveTo>
                  <a:pt x="0" y="0"/>
                </a:moveTo>
                <a:lnTo>
                  <a:pt x="0" y="677563"/>
                </a:lnTo>
              </a:path>
            </a:pathLst>
          </a:custGeom>
          <a:noFill/>
          <a:ln w="190500" cap="flat">
            <a:gradFill flip="none" rotWithShape="1">
              <a:gsLst>
                <a:gs pos="0">
                  <a:schemeClr val="accent5"/>
                </a:gs>
                <a:gs pos="100000">
                  <a:schemeClr val="accent3">
                    <a:alpha val="50000"/>
                  </a:schemeClr>
                </a:gs>
              </a:gsLst>
              <a:lin ang="16200000" scaled="1"/>
              <a:tileRect/>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48" name="Picture 147">
            <a:extLst>
              <a:ext uri="{FF2B5EF4-FFF2-40B4-BE49-F238E27FC236}">
                <a16:creationId xmlns:a16="http://schemas.microsoft.com/office/drawing/2014/main" id="{CAA3B87E-8F0C-A1DA-8E03-E83BD4491EB2}"/>
              </a:ext>
            </a:extLst>
          </p:cNvPr>
          <p:cNvPicPr>
            <a:picLocks noChangeAspect="1"/>
          </p:cNvPicPr>
          <p:nvPr/>
        </p:nvPicPr>
        <p:blipFill>
          <a:blip r:embed="rId5"/>
          <a:stretch>
            <a:fillRect/>
          </a:stretch>
        </p:blipFill>
        <p:spPr>
          <a:xfrm>
            <a:off x="8605480" y="775272"/>
            <a:ext cx="1883067" cy="1312262"/>
          </a:xfrm>
          <a:prstGeom prst="rect">
            <a:avLst/>
          </a:prstGeom>
          <a:ln>
            <a:solidFill>
              <a:schemeClr val="accent5"/>
            </a:solidFill>
          </a:ln>
          <a:effectLst>
            <a:outerShdw blurRad="50800" dist="38100" dir="2700000" algn="tl" rotWithShape="0">
              <a:prstClr val="black">
                <a:alpha val="40000"/>
              </a:prstClr>
            </a:outerShdw>
          </a:effectLst>
        </p:spPr>
      </p:pic>
      <p:pic>
        <p:nvPicPr>
          <p:cNvPr id="149" name="Picture 148">
            <a:extLst>
              <a:ext uri="{FF2B5EF4-FFF2-40B4-BE49-F238E27FC236}">
                <a16:creationId xmlns:a16="http://schemas.microsoft.com/office/drawing/2014/main" id="{34155131-4A08-D1BB-CDE7-A096FC1486B1}"/>
              </a:ext>
            </a:extLst>
          </p:cNvPr>
          <p:cNvPicPr>
            <a:picLocks noChangeAspect="1"/>
          </p:cNvPicPr>
          <p:nvPr/>
        </p:nvPicPr>
        <p:blipFill>
          <a:blip r:embed="rId6"/>
          <a:srcRect r="64716" b="65520"/>
          <a:stretch/>
        </p:blipFill>
        <p:spPr>
          <a:xfrm>
            <a:off x="10004183" y="1025774"/>
            <a:ext cx="2035734" cy="1387264"/>
          </a:xfrm>
          <a:prstGeom prst="rect">
            <a:avLst/>
          </a:prstGeom>
          <a:ln>
            <a:solidFill>
              <a:schemeClr val="accent5"/>
            </a:solidFill>
          </a:ln>
          <a:effectLst>
            <a:outerShdw blurRad="50800" dist="38100" dir="2700000" algn="tl" rotWithShape="0">
              <a:prstClr val="black">
                <a:alpha val="40000"/>
              </a:prstClr>
            </a:outerShdw>
          </a:effectLst>
        </p:spPr>
      </p:pic>
      <p:cxnSp>
        <p:nvCxnSpPr>
          <p:cNvPr id="154" name="Curved Connector 153">
            <a:extLst>
              <a:ext uri="{FF2B5EF4-FFF2-40B4-BE49-F238E27FC236}">
                <a16:creationId xmlns:a16="http://schemas.microsoft.com/office/drawing/2014/main" id="{8FD9E7E7-13FF-8A4F-73A7-EFC091DEC5EF}"/>
              </a:ext>
            </a:extLst>
          </p:cNvPr>
          <p:cNvCxnSpPr>
            <a:cxnSpLocks/>
            <a:stCxn id="148" idx="1"/>
            <a:endCxn id="38" idx="3"/>
          </p:cNvCxnSpPr>
          <p:nvPr/>
        </p:nvCxnSpPr>
        <p:spPr bwMode="gray">
          <a:xfrm rot="10800000" flipV="1">
            <a:off x="6310138" y="1431402"/>
            <a:ext cx="2295343" cy="1836073"/>
          </a:xfrm>
          <a:prstGeom prst="curvedConnector3">
            <a:avLst>
              <a:gd name="adj1" fmla="val 74068"/>
            </a:avLst>
          </a:prstGeom>
          <a:ln w="15875">
            <a:tailEnd type="triangle"/>
          </a:ln>
        </p:spPr>
        <p:style>
          <a:lnRef idx="1">
            <a:schemeClr val="accent2"/>
          </a:lnRef>
          <a:fillRef idx="0">
            <a:schemeClr val="accent2"/>
          </a:fillRef>
          <a:effectRef idx="0">
            <a:schemeClr val="accent2"/>
          </a:effectRef>
          <a:fontRef idx="minor">
            <a:schemeClr val="tx1"/>
          </a:fontRef>
        </p:style>
      </p:cxnSp>
      <p:cxnSp>
        <p:nvCxnSpPr>
          <p:cNvPr id="158" name="Curved Connector 157">
            <a:extLst>
              <a:ext uri="{FF2B5EF4-FFF2-40B4-BE49-F238E27FC236}">
                <a16:creationId xmlns:a16="http://schemas.microsoft.com/office/drawing/2014/main" id="{AA911045-25EB-6445-BDFA-9BFB9A4BA361}"/>
              </a:ext>
            </a:extLst>
          </p:cNvPr>
          <p:cNvCxnSpPr>
            <a:stCxn id="148" idx="1"/>
            <a:endCxn id="59" idx="3"/>
          </p:cNvCxnSpPr>
          <p:nvPr/>
        </p:nvCxnSpPr>
        <p:spPr bwMode="gray">
          <a:xfrm rot="10800000" flipV="1">
            <a:off x="8046924" y="1431402"/>
            <a:ext cx="558556" cy="1997311"/>
          </a:xfrm>
          <a:prstGeom prst="curvedConnector3">
            <a:avLst/>
          </a:prstGeom>
          <a:ln w="15875">
            <a:tailEnd type="triangle"/>
          </a:ln>
        </p:spPr>
        <p:style>
          <a:lnRef idx="1">
            <a:schemeClr val="accent2"/>
          </a:lnRef>
          <a:fillRef idx="0">
            <a:schemeClr val="accent2"/>
          </a:fillRef>
          <a:effectRef idx="0">
            <a:schemeClr val="accent2"/>
          </a:effectRef>
          <a:fontRef idx="minor">
            <a:schemeClr val="tx1"/>
          </a:fontRef>
        </p:style>
      </p:cxnSp>
      <p:sp>
        <p:nvSpPr>
          <p:cNvPr id="159" name="TextBox 158">
            <a:extLst>
              <a:ext uri="{FF2B5EF4-FFF2-40B4-BE49-F238E27FC236}">
                <a16:creationId xmlns:a16="http://schemas.microsoft.com/office/drawing/2014/main" id="{98079571-81E1-8C4A-41A4-BCFC1AC64487}"/>
              </a:ext>
            </a:extLst>
          </p:cNvPr>
          <p:cNvSpPr txBox="1"/>
          <p:nvPr/>
        </p:nvSpPr>
        <p:spPr>
          <a:xfrm>
            <a:off x="7104285" y="1873821"/>
            <a:ext cx="1192339" cy="427425"/>
          </a:xfrm>
          <a:prstGeom prst="rect">
            <a:avLst/>
          </a:prstGeom>
          <a:noFill/>
        </p:spPr>
        <p:txBody>
          <a:bodyPr wrap="square" lIns="0" tIns="0" rIns="0" bIns="0"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D36"/>
                </a:solidFill>
                <a:effectLst/>
                <a:uLnTx/>
                <a:uFillTx/>
                <a:latin typeface="Courier New" panose="02070309020205020404" pitchFamily="49" charset="0"/>
                <a:ea typeface="+mn-ea"/>
                <a:cs typeface="Courier New" panose="02070309020205020404" pitchFamily="49" charset="0"/>
              </a:rPr>
              <a:t>Secret Injection</a:t>
            </a:r>
          </a:p>
        </p:txBody>
      </p:sp>
    </p:spTree>
    <p:extLst>
      <p:ext uri="{BB962C8B-B14F-4D97-AF65-F5344CB8AC3E}">
        <p14:creationId xmlns:p14="http://schemas.microsoft.com/office/powerpoint/2010/main" val="3806613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E4814-D3A6-6EAA-6FD7-4BB3D9DB1628}"/>
              </a:ext>
            </a:extLst>
          </p:cNvPr>
          <p:cNvSpPr>
            <a:spLocks noGrp="1"/>
          </p:cNvSpPr>
          <p:nvPr>
            <p:ph type="title"/>
          </p:nvPr>
        </p:nvSpPr>
        <p:spPr/>
        <p:txBody>
          <a:bodyPr/>
          <a:lstStyle/>
          <a:p>
            <a:r>
              <a:rPr lang="en-US" dirty="0"/>
              <a:t>Creating Isolation between Control Plane and Workloads</a:t>
            </a:r>
          </a:p>
        </p:txBody>
      </p:sp>
      <p:sp>
        <p:nvSpPr>
          <p:cNvPr id="5" name="Subtitle 4">
            <a:extLst>
              <a:ext uri="{FF2B5EF4-FFF2-40B4-BE49-F238E27FC236}">
                <a16:creationId xmlns:a16="http://schemas.microsoft.com/office/drawing/2014/main" id="{43DE0637-CABA-7793-3292-44EDC961DE44}"/>
              </a:ext>
            </a:extLst>
          </p:cNvPr>
          <p:cNvSpPr>
            <a:spLocks noGrp="1"/>
          </p:cNvSpPr>
          <p:nvPr>
            <p:ph type="subTitle" idx="10"/>
          </p:nvPr>
        </p:nvSpPr>
        <p:spPr/>
        <p:txBody>
          <a:bodyPr/>
          <a:lstStyle/>
          <a:p>
            <a:r>
              <a:rPr lang="en-US" dirty="0"/>
              <a:t>Introducing Management and Workload Zones</a:t>
            </a:r>
          </a:p>
        </p:txBody>
      </p:sp>
      <p:sp>
        <p:nvSpPr>
          <p:cNvPr id="7" name="Text Placeholder 6">
            <a:extLst>
              <a:ext uri="{FF2B5EF4-FFF2-40B4-BE49-F238E27FC236}">
                <a16:creationId xmlns:a16="http://schemas.microsoft.com/office/drawing/2014/main" id="{8E8F2145-B275-90F9-5A5C-9A94119085DE}"/>
              </a:ext>
            </a:extLst>
          </p:cNvPr>
          <p:cNvSpPr>
            <a:spLocks noGrp="1"/>
          </p:cNvSpPr>
          <p:nvPr>
            <p:ph type="body" sz="quarter" idx="17"/>
          </p:nvPr>
        </p:nvSpPr>
        <p:spPr/>
        <p:txBody>
          <a:bodyPr/>
          <a:lstStyle/>
          <a:p>
            <a:r>
              <a:rPr lang="en-US" b="1" dirty="0"/>
              <a:t>Separate</a:t>
            </a:r>
            <a:r>
              <a:rPr lang="en-US" dirty="0"/>
              <a:t> management </a:t>
            </a:r>
            <a:r>
              <a:rPr lang="en-US" b="1" dirty="0"/>
              <a:t>Control plane VMs</a:t>
            </a:r>
            <a:r>
              <a:rPr lang="en-US" dirty="0"/>
              <a:t> from </a:t>
            </a:r>
            <a:r>
              <a:rPr lang="en-US" b="1" dirty="0"/>
              <a:t>workload VMs and Kubernetes clusters</a:t>
            </a:r>
          </a:p>
          <a:p>
            <a:r>
              <a:rPr lang="en-US" dirty="0"/>
              <a:t>Easily </a:t>
            </a:r>
            <a:r>
              <a:rPr lang="en-US" b="1" dirty="0"/>
              <a:t>add capacity </a:t>
            </a:r>
            <a:r>
              <a:rPr lang="en-US" dirty="0"/>
              <a:t>to vSphere Supervisor with vSphere Zones</a:t>
            </a:r>
          </a:p>
          <a:p>
            <a:r>
              <a:rPr lang="en-US" dirty="0"/>
              <a:t>vSphere namespaces can span one or more vSphere Zone</a:t>
            </a:r>
          </a:p>
          <a:p>
            <a:r>
              <a:rPr lang="en-US" b="1" dirty="0"/>
              <a:t>Add additional Zones to vSphere Namespace</a:t>
            </a:r>
          </a:p>
          <a:p>
            <a:endParaRPr lang="en-US" dirty="0"/>
          </a:p>
        </p:txBody>
      </p:sp>
      <p:cxnSp>
        <p:nvCxnSpPr>
          <p:cNvPr id="8" name="Straight Connector 7">
            <a:extLst>
              <a:ext uri="{FF2B5EF4-FFF2-40B4-BE49-F238E27FC236}">
                <a16:creationId xmlns:a16="http://schemas.microsoft.com/office/drawing/2014/main" id="{95781199-A2B9-81C5-D8AF-8A801194600F}"/>
              </a:ext>
              <a:ext uri="{C183D7F6-B498-43B3-948B-1728B52AA6E4}">
                <adec:decorative xmlns:adec="http://schemas.microsoft.com/office/drawing/2017/decorative" val="1"/>
              </a:ext>
            </a:extLst>
          </p:cNvPr>
          <p:cNvCxnSpPr>
            <a:cxnSpLocks/>
          </p:cNvCxnSpPr>
          <p:nvPr/>
        </p:nvCxnSpPr>
        <p:spPr bwMode="gray">
          <a:xfrm>
            <a:off x="4585686" y="5791362"/>
            <a:ext cx="3063805" cy="0"/>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411FD4E-5491-05C1-533F-59EE05C9EA93}"/>
              </a:ext>
              <a:ext uri="{C183D7F6-B498-43B3-948B-1728B52AA6E4}">
                <adec:decorative xmlns:adec="http://schemas.microsoft.com/office/drawing/2017/decorative" val="1"/>
              </a:ext>
            </a:extLst>
          </p:cNvPr>
          <p:cNvCxnSpPr>
            <a:cxnSpLocks/>
          </p:cNvCxnSpPr>
          <p:nvPr/>
        </p:nvCxnSpPr>
        <p:spPr bwMode="gray">
          <a:xfrm>
            <a:off x="656704" y="5791362"/>
            <a:ext cx="3819008" cy="0"/>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 name="Google Shape;1556;p2">
            <a:extLst>
              <a:ext uri="{FF2B5EF4-FFF2-40B4-BE49-F238E27FC236}">
                <a16:creationId xmlns:a16="http://schemas.microsoft.com/office/drawing/2014/main" id="{272FB732-47B4-D436-806C-AF562C5C7DA6}"/>
              </a:ext>
            </a:extLst>
          </p:cNvPr>
          <p:cNvSpPr/>
          <p:nvPr/>
        </p:nvSpPr>
        <p:spPr>
          <a:xfrm>
            <a:off x="4585686" y="4795721"/>
            <a:ext cx="3063805"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 name="Google Shape;1556;p2">
            <a:extLst>
              <a:ext uri="{FF2B5EF4-FFF2-40B4-BE49-F238E27FC236}">
                <a16:creationId xmlns:a16="http://schemas.microsoft.com/office/drawing/2014/main" id="{93554A64-FD86-50CD-11C3-75E1FA35AE68}"/>
              </a:ext>
            </a:extLst>
          </p:cNvPr>
          <p:cNvSpPr/>
          <p:nvPr/>
        </p:nvSpPr>
        <p:spPr>
          <a:xfrm>
            <a:off x="656704" y="4796817"/>
            <a:ext cx="3835059" cy="513172"/>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 name="Google Shape;1562;p2">
            <a:extLst>
              <a:ext uri="{FF2B5EF4-FFF2-40B4-BE49-F238E27FC236}">
                <a16:creationId xmlns:a16="http://schemas.microsoft.com/office/drawing/2014/main" id="{0898325F-3606-F3F9-6E05-1DFE4039ADD0}"/>
              </a:ext>
            </a:extLst>
          </p:cNvPr>
          <p:cNvSpPr/>
          <p:nvPr/>
        </p:nvSpPr>
        <p:spPr>
          <a:xfrm>
            <a:off x="775740" y="4585571"/>
            <a:ext cx="6772215"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3" name="TextBox 12">
            <a:extLst>
              <a:ext uri="{FF2B5EF4-FFF2-40B4-BE49-F238E27FC236}">
                <a16:creationId xmlns:a16="http://schemas.microsoft.com/office/drawing/2014/main" id="{6FE211F3-75CF-5477-A072-BCCED0259762}"/>
              </a:ext>
            </a:extLst>
          </p:cNvPr>
          <p:cNvSpPr txBox="1"/>
          <p:nvPr/>
        </p:nvSpPr>
        <p:spPr>
          <a:xfrm>
            <a:off x="4154179" y="4714982"/>
            <a:ext cx="895117"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Supervisor</a:t>
            </a:r>
          </a:p>
        </p:txBody>
      </p:sp>
      <p:sp>
        <p:nvSpPr>
          <p:cNvPr id="14" name="Rectangle: Rounded Corners 130">
            <a:extLst>
              <a:ext uri="{FF2B5EF4-FFF2-40B4-BE49-F238E27FC236}">
                <a16:creationId xmlns:a16="http://schemas.microsoft.com/office/drawing/2014/main" id="{B591A35B-F380-EDBF-DC9E-F4479C68FDC7}"/>
              </a:ext>
              <a:ext uri="{C183D7F6-B498-43B3-948B-1728B52AA6E4}">
                <adec:decorative xmlns:adec="http://schemas.microsoft.com/office/drawing/2017/decorative" val="1"/>
              </a:ext>
            </a:extLst>
          </p:cNvPr>
          <p:cNvSpPr/>
          <p:nvPr/>
        </p:nvSpPr>
        <p:spPr>
          <a:xfrm>
            <a:off x="827748" y="4648218"/>
            <a:ext cx="2680223" cy="304750"/>
          </a:xfrm>
          <a:prstGeom prst="roundRect">
            <a:avLst>
              <a:gd name="adj" fmla="val 50000"/>
            </a:avLst>
          </a:prstGeom>
          <a:solidFill>
            <a:schemeClr val="bg1"/>
          </a:solidFill>
          <a:ln w="12700">
            <a:solidFill>
              <a:schemeClr val="accent5"/>
            </a:solidFill>
            <a:prstDash val="sysDot"/>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900" b="0" i="0" u="none" strike="noStrike" kern="1200" cap="none" spc="0" normalizeH="0" baseline="0" noProof="0" dirty="0">
              <a:ln>
                <a:noFill/>
              </a:ln>
              <a:solidFill>
                <a:srgbClr val="61A60E"/>
              </a:solidFill>
              <a:effectLst/>
              <a:uLnTx/>
              <a:uFillTx/>
              <a:latin typeface="Arial" panose="020B0604020202020204"/>
              <a:ea typeface="+mn-ea"/>
              <a:cs typeface="+mn-cs"/>
            </a:endParaRPr>
          </a:p>
        </p:txBody>
      </p:sp>
      <p:sp>
        <p:nvSpPr>
          <p:cNvPr id="15" name="TextBox 14">
            <a:extLst>
              <a:ext uri="{FF2B5EF4-FFF2-40B4-BE49-F238E27FC236}">
                <a16:creationId xmlns:a16="http://schemas.microsoft.com/office/drawing/2014/main" id="{756F3EA8-1064-6D34-36D7-F8667D7B6D81}"/>
              </a:ext>
            </a:extLst>
          </p:cNvPr>
          <p:cNvSpPr txBox="1"/>
          <p:nvPr/>
        </p:nvSpPr>
        <p:spPr>
          <a:xfrm>
            <a:off x="1152413" y="4707121"/>
            <a:ext cx="1438968" cy="17921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Supervisor Control Plane</a:t>
            </a:r>
          </a:p>
        </p:txBody>
      </p:sp>
      <p:grpSp>
        <p:nvGrpSpPr>
          <p:cNvPr id="16" name="Group 15">
            <a:extLst>
              <a:ext uri="{FF2B5EF4-FFF2-40B4-BE49-F238E27FC236}">
                <a16:creationId xmlns:a16="http://schemas.microsoft.com/office/drawing/2014/main" id="{4E603887-82E4-9733-24C8-9E06DD462BBA}"/>
              </a:ext>
            </a:extLst>
          </p:cNvPr>
          <p:cNvGrpSpPr/>
          <p:nvPr/>
        </p:nvGrpSpPr>
        <p:grpSpPr>
          <a:xfrm>
            <a:off x="842294" y="4658939"/>
            <a:ext cx="288000" cy="288000"/>
            <a:chOff x="456349" y="4375620"/>
            <a:chExt cx="288000" cy="288000"/>
          </a:xfrm>
        </p:grpSpPr>
        <p:sp>
          <p:nvSpPr>
            <p:cNvPr id="17" name="Freeform: Shape 79">
              <a:extLst>
                <a:ext uri="{FF2B5EF4-FFF2-40B4-BE49-F238E27FC236}">
                  <a16:creationId xmlns:a16="http://schemas.microsoft.com/office/drawing/2014/main" id="{E903034A-C590-5290-5DE8-55346298DA45}"/>
                </a:ext>
              </a:extLst>
            </p:cNvPr>
            <p:cNvSpPr/>
            <p:nvPr/>
          </p:nvSpPr>
          <p:spPr>
            <a:xfrm>
              <a:off x="456349" y="4375620"/>
              <a:ext cx="288000" cy="288000"/>
            </a:xfrm>
            <a:custGeom>
              <a:avLst/>
              <a:gdLst>
                <a:gd name="connsiteX0" fmla="*/ 619503 w 1237269"/>
                <a:gd name="connsiteY0" fmla="*/ 0 h 1237269"/>
                <a:gd name="connsiteX1" fmla="*/ 1237270 w 1237269"/>
                <a:gd name="connsiteY1" fmla="*/ 617767 h 1237269"/>
                <a:gd name="connsiteX2" fmla="*/ 1237270 w 1237269"/>
                <a:gd name="connsiteY2" fmla="*/ 619503 h 1237269"/>
                <a:gd name="connsiteX3" fmla="*/ 619503 w 1237269"/>
                <a:gd name="connsiteY3" fmla="*/ 1237270 h 1237269"/>
                <a:gd name="connsiteX4" fmla="*/ 617767 w 1237269"/>
                <a:gd name="connsiteY4" fmla="*/ 1237270 h 1237269"/>
                <a:gd name="connsiteX5" fmla="*/ 0 w 1237269"/>
                <a:gd name="connsiteY5" fmla="*/ 619503 h 1237269"/>
                <a:gd name="connsiteX6" fmla="*/ 0 w 1237269"/>
                <a:gd name="connsiteY6" fmla="*/ 617767 h 1237269"/>
                <a:gd name="connsiteX7" fmla="*/ 617767 w 1237269"/>
                <a:gd name="connsiteY7" fmla="*/ 0 h 123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269" h="1237269">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 name="Freeform: Shape 80">
              <a:extLst>
                <a:ext uri="{FF2B5EF4-FFF2-40B4-BE49-F238E27FC236}">
                  <a16:creationId xmlns:a16="http://schemas.microsoft.com/office/drawing/2014/main" id="{2CAB9DEF-F615-79C3-6172-7FB1A3D3CF11}"/>
                </a:ext>
              </a:extLst>
            </p:cNvPr>
            <p:cNvSpPr>
              <a:spLocks noChangeAspect="1"/>
            </p:cNvSpPr>
            <p:nvPr/>
          </p:nvSpPr>
          <p:spPr>
            <a:xfrm>
              <a:off x="501068" y="4430830"/>
              <a:ext cx="204951" cy="180919"/>
            </a:xfrm>
            <a:custGeom>
              <a:avLst/>
              <a:gdLst>
                <a:gd name="connsiteX0" fmla="*/ 1269187 w 1373429"/>
                <a:gd name="connsiteY0" fmla="*/ 1205789 h 1372819"/>
                <a:gd name="connsiteX1" fmla="*/ 1206094 w 1373429"/>
                <a:gd name="connsiteY1" fmla="*/ 1268882 h 1372819"/>
                <a:gd name="connsiteX2" fmla="*/ 1269187 w 1373429"/>
                <a:gd name="connsiteY2" fmla="*/ 1331976 h 1372819"/>
                <a:gd name="connsiteX3" fmla="*/ 1332281 w 1373429"/>
                <a:gd name="connsiteY3" fmla="*/ 1268882 h 1372819"/>
                <a:gd name="connsiteX4" fmla="*/ 1269187 w 1373429"/>
                <a:gd name="connsiteY4" fmla="*/ 1205789 h 1372819"/>
                <a:gd name="connsiteX5" fmla="*/ 686714 w 1373429"/>
                <a:gd name="connsiteY5" fmla="*/ 1205789 h 1372819"/>
                <a:gd name="connsiteX6" fmla="*/ 623621 w 1373429"/>
                <a:gd name="connsiteY6" fmla="*/ 1268882 h 1372819"/>
                <a:gd name="connsiteX7" fmla="*/ 686714 w 1373429"/>
                <a:gd name="connsiteY7" fmla="*/ 1331976 h 1372819"/>
                <a:gd name="connsiteX8" fmla="*/ 749808 w 1373429"/>
                <a:gd name="connsiteY8" fmla="*/ 1268882 h 1372819"/>
                <a:gd name="connsiteX9" fmla="*/ 686714 w 1373429"/>
                <a:gd name="connsiteY9" fmla="*/ 1205789 h 1372819"/>
                <a:gd name="connsiteX10" fmla="*/ 104242 w 1373429"/>
                <a:gd name="connsiteY10" fmla="*/ 1205789 h 1372819"/>
                <a:gd name="connsiteX11" fmla="*/ 41148 w 1373429"/>
                <a:gd name="connsiteY11" fmla="*/ 1268882 h 1372819"/>
                <a:gd name="connsiteX12" fmla="*/ 104242 w 1373429"/>
                <a:gd name="connsiteY12" fmla="*/ 1331976 h 1372819"/>
                <a:gd name="connsiteX13" fmla="*/ 167335 w 1373429"/>
                <a:gd name="connsiteY13" fmla="*/ 1268882 h 1372819"/>
                <a:gd name="connsiteX14" fmla="*/ 104242 w 1373429"/>
                <a:gd name="connsiteY14" fmla="*/ 1205789 h 1372819"/>
                <a:gd name="connsiteX15" fmla="*/ 607466 w 1373429"/>
                <a:gd name="connsiteY15" fmla="*/ 647090 h 1372819"/>
                <a:gd name="connsiteX16" fmla="*/ 627887 w 1373429"/>
                <a:gd name="connsiteY16" fmla="*/ 693420 h 1372819"/>
                <a:gd name="connsiteX17" fmla="*/ 587044 w 1373429"/>
                <a:gd name="connsiteY17" fmla="*/ 693420 h 1372819"/>
                <a:gd name="connsiteX18" fmla="*/ 693724 w 1373429"/>
                <a:gd name="connsiteY18" fmla="*/ 644042 h 1372819"/>
                <a:gd name="connsiteX19" fmla="*/ 717803 w 1373429"/>
                <a:gd name="connsiteY19" fmla="*/ 644042 h 1372819"/>
                <a:gd name="connsiteX20" fmla="*/ 735482 w 1373429"/>
                <a:gd name="connsiteY20" fmla="*/ 648919 h 1372819"/>
                <a:gd name="connsiteX21" fmla="*/ 742187 w 1373429"/>
                <a:gd name="connsiteY21" fmla="*/ 662330 h 1372819"/>
                <a:gd name="connsiteX22" fmla="*/ 735482 w 1373429"/>
                <a:gd name="connsiteY22" fmla="*/ 676046 h 1372819"/>
                <a:gd name="connsiteX23" fmla="*/ 735482 w 1373429"/>
                <a:gd name="connsiteY23" fmla="*/ 676351 h 1372819"/>
                <a:gd name="connsiteX24" fmla="*/ 717803 w 1373429"/>
                <a:gd name="connsiteY24" fmla="*/ 681228 h 1372819"/>
                <a:gd name="connsiteX25" fmla="*/ 693724 w 1373429"/>
                <a:gd name="connsiteY25" fmla="*/ 681228 h 1372819"/>
                <a:gd name="connsiteX26" fmla="*/ 776629 w 1373429"/>
                <a:gd name="connsiteY26" fmla="*/ 630631 h 1372819"/>
                <a:gd name="connsiteX27" fmla="*/ 776629 w 1373429"/>
                <a:gd name="connsiteY27" fmla="*/ 726338 h 1372819"/>
                <a:gd name="connsiteX28" fmla="*/ 790041 w 1373429"/>
                <a:gd name="connsiteY28" fmla="*/ 726338 h 1372819"/>
                <a:gd name="connsiteX29" fmla="*/ 790041 w 1373429"/>
                <a:gd name="connsiteY29" fmla="*/ 630631 h 1372819"/>
                <a:gd name="connsiteX30" fmla="*/ 679703 w 1373429"/>
                <a:gd name="connsiteY30" fmla="*/ 630631 h 1372819"/>
                <a:gd name="connsiteX31" fmla="*/ 679703 w 1373429"/>
                <a:gd name="connsiteY31" fmla="*/ 726338 h 1372819"/>
                <a:gd name="connsiteX32" fmla="*/ 693114 w 1373429"/>
                <a:gd name="connsiteY32" fmla="*/ 726338 h 1372819"/>
                <a:gd name="connsiteX33" fmla="*/ 693114 w 1373429"/>
                <a:gd name="connsiteY33" fmla="*/ 692810 h 1372819"/>
                <a:gd name="connsiteX34" fmla="*/ 719022 w 1373429"/>
                <a:gd name="connsiteY34" fmla="*/ 692810 h 1372819"/>
                <a:gd name="connsiteX35" fmla="*/ 737005 w 1373429"/>
                <a:gd name="connsiteY35" fmla="*/ 688847 h 1372819"/>
                <a:gd name="connsiteX36" fmla="*/ 749807 w 1373429"/>
                <a:gd name="connsiteY36" fmla="*/ 677875 h 1372819"/>
                <a:gd name="connsiteX37" fmla="*/ 754684 w 1373429"/>
                <a:gd name="connsiteY37" fmla="*/ 661720 h 1372819"/>
                <a:gd name="connsiteX38" fmla="*/ 749807 w 1373429"/>
                <a:gd name="connsiteY38" fmla="*/ 645566 h 1372819"/>
                <a:gd name="connsiteX39" fmla="*/ 737005 w 1373429"/>
                <a:gd name="connsiteY39" fmla="*/ 634593 h 1372819"/>
                <a:gd name="connsiteX40" fmla="*/ 719022 w 1373429"/>
                <a:gd name="connsiteY40" fmla="*/ 630631 h 1372819"/>
                <a:gd name="connsiteX41" fmla="*/ 600150 w 1373429"/>
                <a:gd name="connsiteY41" fmla="*/ 630631 h 1372819"/>
                <a:gd name="connsiteX42" fmla="*/ 558697 w 1373429"/>
                <a:gd name="connsiteY42" fmla="*/ 726338 h 1372819"/>
                <a:gd name="connsiteX43" fmla="*/ 572413 w 1373429"/>
                <a:gd name="connsiteY43" fmla="*/ 726338 h 1372819"/>
                <a:gd name="connsiteX44" fmla="*/ 581862 w 1373429"/>
                <a:gd name="connsiteY44" fmla="*/ 705307 h 1372819"/>
                <a:gd name="connsiteX45" fmla="*/ 631849 w 1373429"/>
                <a:gd name="connsiteY45" fmla="*/ 705307 h 1372819"/>
                <a:gd name="connsiteX46" fmla="*/ 641298 w 1373429"/>
                <a:gd name="connsiteY46" fmla="*/ 726338 h 1372819"/>
                <a:gd name="connsiteX47" fmla="*/ 655014 w 1373429"/>
                <a:gd name="connsiteY47" fmla="*/ 726338 h 1372819"/>
                <a:gd name="connsiteX48" fmla="*/ 613561 w 1373429"/>
                <a:gd name="connsiteY48" fmla="*/ 630631 h 1372819"/>
                <a:gd name="connsiteX49" fmla="*/ 685799 w 1373429"/>
                <a:gd name="connsiteY49" fmla="*/ 490727 h 1372819"/>
                <a:gd name="connsiteX50" fmla="*/ 611733 w 1373429"/>
                <a:gd name="connsiteY50" fmla="*/ 504748 h 1372819"/>
                <a:gd name="connsiteX51" fmla="*/ 505967 w 1373429"/>
                <a:gd name="connsiteY51" fmla="*/ 608075 h 1372819"/>
                <a:gd name="connsiteX52" fmla="*/ 535533 w 1373429"/>
                <a:gd name="connsiteY52" fmla="*/ 620877 h 1372819"/>
                <a:gd name="connsiteX53" fmla="*/ 623620 w 1373429"/>
                <a:gd name="connsiteY53" fmla="*/ 534923 h 1372819"/>
                <a:gd name="connsiteX54" fmla="*/ 746759 w 1373429"/>
                <a:gd name="connsiteY54" fmla="*/ 536447 h 1372819"/>
                <a:gd name="connsiteX55" fmla="*/ 832713 w 1373429"/>
                <a:gd name="connsiteY55" fmla="*/ 624535 h 1372819"/>
                <a:gd name="connsiteX56" fmla="*/ 831189 w 1373429"/>
                <a:gd name="connsiteY56" fmla="*/ 747674 h 1372819"/>
                <a:gd name="connsiteX57" fmla="*/ 619962 w 1373429"/>
                <a:gd name="connsiteY57" fmla="*/ 832103 h 1372819"/>
                <a:gd name="connsiteX58" fmla="*/ 607161 w 1373429"/>
                <a:gd name="connsiteY58" fmla="*/ 861669 h 1372819"/>
                <a:gd name="connsiteX59" fmla="*/ 683056 w 1373429"/>
                <a:gd name="connsiteY59" fmla="*/ 877214 h 1372819"/>
                <a:gd name="connsiteX60" fmla="*/ 860754 w 1373429"/>
                <a:gd name="connsiteY60" fmla="*/ 760171 h 1372819"/>
                <a:gd name="connsiteX61" fmla="*/ 861059 w 1373429"/>
                <a:gd name="connsiteY61" fmla="*/ 760171 h 1372819"/>
                <a:gd name="connsiteX62" fmla="*/ 862888 w 1373429"/>
                <a:gd name="connsiteY62" fmla="*/ 612343 h 1372819"/>
                <a:gd name="connsiteX63" fmla="*/ 759561 w 1373429"/>
                <a:gd name="connsiteY63" fmla="*/ 506577 h 1372819"/>
                <a:gd name="connsiteX64" fmla="*/ 685799 w 1373429"/>
                <a:gd name="connsiteY64" fmla="*/ 490727 h 1372819"/>
                <a:gd name="connsiteX65" fmla="*/ 624229 w 1373429"/>
                <a:gd name="connsiteY65" fmla="*/ 345033 h 1372819"/>
                <a:gd name="connsiteX66" fmla="*/ 749502 w 1373429"/>
                <a:gd name="connsiteY66" fmla="*/ 345033 h 1372819"/>
                <a:gd name="connsiteX67" fmla="*/ 757122 w 1373429"/>
                <a:gd name="connsiteY67" fmla="*/ 425805 h 1372819"/>
                <a:gd name="connsiteX68" fmla="*/ 819911 w 1373429"/>
                <a:gd name="connsiteY68" fmla="*/ 452323 h 1372819"/>
                <a:gd name="connsiteX69" fmla="*/ 883005 w 1373429"/>
                <a:gd name="connsiteY69" fmla="*/ 399897 h 1372819"/>
                <a:gd name="connsiteX70" fmla="*/ 927201 w 1373429"/>
                <a:gd name="connsiteY70" fmla="*/ 444093 h 1372819"/>
                <a:gd name="connsiteX71" fmla="*/ 971397 w 1373429"/>
                <a:gd name="connsiteY71" fmla="*/ 488289 h 1372819"/>
                <a:gd name="connsiteX72" fmla="*/ 917447 w 1373429"/>
                <a:gd name="connsiteY72" fmla="*/ 553516 h 1372819"/>
                <a:gd name="connsiteX73" fmla="*/ 940612 w 1373429"/>
                <a:gd name="connsiteY73" fmla="*/ 613257 h 1372819"/>
                <a:gd name="connsiteX74" fmla="*/ 1026565 w 1373429"/>
                <a:gd name="connsiteY74" fmla="*/ 621487 h 1372819"/>
                <a:gd name="connsiteX75" fmla="*/ 1026565 w 1373429"/>
                <a:gd name="connsiteY75" fmla="*/ 746759 h 1372819"/>
                <a:gd name="connsiteX76" fmla="*/ 936649 w 1373429"/>
                <a:gd name="connsiteY76" fmla="*/ 755294 h 1372819"/>
                <a:gd name="connsiteX77" fmla="*/ 912875 w 1373429"/>
                <a:gd name="connsiteY77" fmla="*/ 809243 h 1372819"/>
                <a:gd name="connsiteX78" fmla="*/ 912265 w 1373429"/>
                <a:gd name="connsiteY78" fmla="*/ 809548 h 1372819"/>
                <a:gd name="connsiteX79" fmla="*/ 971092 w 1373429"/>
                <a:gd name="connsiteY79" fmla="*/ 880262 h 1372819"/>
                <a:gd name="connsiteX80" fmla="*/ 926896 w 1373429"/>
                <a:gd name="connsiteY80" fmla="*/ 924458 h 1372819"/>
                <a:gd name="connsiteX81" fmla="*/ 882700 w 1373429"/>
                <a:gd name="connsiteY81" fmla="*/ 968654 h 1372819"/>
                <a:gd name="connsiteX82" fmla="*/ 809548 w 1373429"/>
                <a:gd name="connsiteY82" fmla="*/ 907999 h 1372819"/>
                <a:gd name="connsiteX83" fmla="*/ 758037 w 1373429"/>
                <a:gd name="connsiteY83" fmla="*/ 928725 h 1372819"/>
                <a:gd name="connsiteX84" fmla="*/ 749197 w 1373429"/>
                <a:gd name="connsiteY84" fmla="*/ 1023823 h 1372819"/>
                <a:gd name="connsiteX85" fmla="*/ 623925 w 1373429"/>
                <a:gd name="connsiteY85" fmla="*/ 1023823 h 1372819"/>
                <a:gd name="connsiteX86" fmla="*/ 615085 w 1373429"/>
                <a:gd name="connsiteY86" fmla="*/ 928725 h 1372819"/>
                <a:gd name="connsiteX87" fmla="*/ 563879 w 1373429"/>
                <a:gd name="connsiteY87" fmla="*/ 907999 h 1372819"/>
                <a:gd name="connsiteX88" fmla="*/ 490727 w 1373429"/>
                <a:gd name="connsiteY88" fmla="*/ 968349 h 1372819"/>
                <a:gd name="connsiteX89" fmla="*/ 446531 w 1373429"/>
                <a:gd name="connsiteY89" fmla="*/ 924153 h 1372819"/>
                <a:gd name="connsiteX90" fmla="*/ 402335 w 1373429"/>
                <a:gd name="connsiteY90" fmla="*/ 879957 h 1372819"/>
                <a:gd name="connsiteX91" fmla="*/ 461161 w 1373429"/>
                <a:gd name="connsiteY91" fmla="*/ 809243 h 1372819"/>
                <a:gd name="connsiteX92" fmla="*/ 437387 w 1373429"/>
                <a:gd name="connsiteY92" fmla="*/ 755294 h 1372819"/>
                <a:gd name="connsiteX93" fmla="*/ 347471 w 1373429"/>
                <a:gd name="connsiteY93" fmla="*/ 746759 h 1372819"/>
                <a:gd name="connsiteX94" fmla="*/ 347471 w 1373429"/>
                <a:gd name="connsiteY94" fmla="*/ 621487 h 1372819"/>
                <a:gd name="connsiteX95" fmla="*/ 433425 w 1373429"/>
                <a:gd name="connsiteY95" fmla="*/ 613867 h 1372819"/>
                <a:gd name="connsiteX96" fmla="*/ 456894 w 1373429"/>
                <a:gd name="connsiteY96" fmla="*/ 553821 h 1372819"/>
                <a:gd name="connsiteX97" fmla="*/ 402640 w 1373429"/>
                <a:gd name="connsiteY97" fmla="*/ 488594 h 1372819"/>
                <a:gd name="connsiteX98" fmla="*/ 446836 w 1373429"/>
                <a:gd name="connsiteY98" fmla="*/ 444398 h 1372819"/>
                <a:gd name="connsiteX99" fmla="*/ 491032 w 1373429"/>
                <a:gd name="connsiteY99" fmla="*/ 400202 h 1372819"/>
                <a:gd name="connsiteX100" fmla="*/ 554125 w 1373429"/>
                <a:gd name="connsiteY100" fmla="*/ 452627 h 1372819"/>
                <a:gd name="connsiteX101" fmla="*/ 616609 w 1373429"/>
                <a:gd name="connsiteY101" fmla="*/ 426110 h 1372819"/>
                <a:gd name="connsiteX102" fmla="*/ 205740 w 1373429"/>
                <a:gd name="connsiteY102" fmla="*/ 118567 h 1372819"/>
                <a:gd name="connsiteX103" fmla="*/ 190500 w 1373429"/>
                <a:gd name="connsiteY103" fmla="*/ 159715 h 1372819"/>
                <a:gd name="connsiteX104" fmla="*/ 431902 w 1373429"/>
                <a:gd name="connsiteY104" fmla="*/ 401422 h 1372819"/>
                <a:gd name="connsiteX105" fmla="*/ 402641 w 1373429"/>
                <a:gd name="connsiteY105" fmla="*/ 430682 h 1372819"/>
                <a:gd name="connsiteX106" fmla="*/ 161544 w 1373429"/>
                <a:gd name="connsiteY106" fmla="*/ 189281 h 1372819"/>
                <a:gd name="connsiteX107" fmla="*/ 121310 w 1373429"/>
                <a:gd name="connsiteY107" fmla="*/ 205130 h 1372819"/>
                <a:gd name="connsiteX108" fmla="*/ 121310 w 1373429"/>
                <a:gd name="connsiteY108" fmla="*/ 1167689 h 1372819"/>
                <a:gd name="connsiteX109" fmla="*/ 160934 w 1373429"/>
                <a:gd name="connsiteY109" fmla="*/ 1183234 h 1372819"/>
                <a:gd name="connsiteX110" fmla="*/ 402336 w 1373429"/>
                <a:gd name="connsiteY110" fmla="*/ 941527 h 1372819"/>
                <a:gd name="connsiteX111" fmla="*/ 431597 w 1373429"/>
                <a:gd name="connsiteY111" fmla="*/ 970788 h 1372819"/>
                <a:gd name="connsiteX112" fmla="*/ 189890 w 1373429"/>
                <a:gd name="connsiteY112" fmla="*/ 1212799 h 1372819"/>
                <a:gd name="connsiteX113" fmla="*/ 205435 w 1373429"/>
                <a:gd name="connsiteY113" fmla="*/ 1254557 h 1372819"/>
                <a:gd name="connsiteX114" fmla="*/ 205435 w 1373429"/>
                <a:gd name="connsiteY114" fmla="*/ 1253642 h 1372819"/>
                <a:gd name="connsiteX115" fmla="*/ 585521 w 1373429"/>
                <a:gd name="connsiteY115" fmla="*/ 1253642 h 1372819"/>
                <a:gd name="connsiteX116" fmla="*/ 668122 w 1373429"/>
                <a:gd name="connsiteY116" fmla="*/ 1168299 h 1372819"/>
                <a:gd name="connsiteX117" fmla="*/ 668122 w 1373429"/>
                <a:gd name="connsiteY117" fmla="*/ 1063752 h 1372819"/>
                <a:gd name="connsiteX118" fmla="*/ 709270 w 1373429"/>
                <a:gd name="connsiteY118" fmla="*/ 1063752 h 1372819"/>
                <a:gd name="connsiteX119" fmla="*/ 709270 w 1373429"/>
                <a:gd name="connsiteY119" fmla="*/ 1168908 h 1372819"/>
                <a:gd name="connsiteX120" fmla="*/ 787908 w 1373429"/>
                <a:gd name="connsiteY120" fmla="*/ 1253642 h 1372819"/>
                <a:gd name="connsiteX121" fmla="*/ 1167994 w 1373429"/>
                <a:gd name="connsiteY121" fmla="*/ 1253642 h 1372819"/>
                <a:gd name="connsiteX122" fmla="*/ 1183455 w 1373429"/>
                <a:gd name="connsiteY122" fmla="*/ 1213020 h 1372819"/>
                <a:gd name="connsiteX123" fmla="*/ 1183843 w 1373429"/>
                <a:gd name="connsiteY123" fmla="*/ 1213409 h 1372819"/>
                <a:gd name="connsiteX124" fmla="*/ 1183539 w 1373429"/>
                <a:gd name="connsiteY124" fmla="*/ 1212799 h 1372819"/>
                <a:gd name="connsiteX125" fmla="*/ 1183455 w 1373429"/>
                <a:gd name="connsiteY125" fmla="*/ 1213020 h 1372819"/>
                <a:gd name="connsiteX126" fmla="*/ 940308 w 1373429"/>
                <a:gd name="connsiteY126" fmla="*/ 969569 h 1372819"/>
                <a:gd name="connsiteX127" fmla="*/ 969569 w 1373429"/>
                <a:gd name="connsiteY127" fmla="*/ 940308 h 1372819"/>
                <a:gd name="connsiteX128" fmla="*/ 1212799 w 1373429"/>
                <a:gd name="connsiteY128" fmla="*/ 1183843 h 1372819"/>
                <a:gd name="connsiteX129" fmla="*/ 1251509 w 1373429"/>
                <a:gd name="connsiteY129" fmla="*/ 1168603 h 1372819"/>
                <a:gd name="connsiteX130" fmla="*/ 1251509 w 1373429"/>
                <a:gd name="connsiteY130" fmla="*/ 205130 h 1372819"/>
                <a:gd name="connsiteX131" fmla="*/ 1212190 w 1373429"/>
                <a:gd name="connsiteY131" fmla="*/ 189281 h 1372819"/>
                <a:gd name="connsiteX132" fmla="*/ 972007 w 1373429"/>
                <a:gd name="connsiteY132" fmla="*/ 430073 h 1372819"/>
                <a:gd name="connsiteX133" fmla="*/ 942746 w 1373429"/>
                <a:gd name="connsiteY133" fmla="*/ 400812 h 1372819"/>
                <a:gd name="connsiteX134" fmla="*/ 1183234 w 1373429"/>
                <a:gd name="connsiteY134" fmla="*/ 159715 h 1372819"/>
                <a:gd name="connsiteX135" fmla="*/ 1167994 w 1373429"/>
                <a:gd name="connsiteY135" fmla="*/ 119482 h 1372819"/>
                <a:gd name="connsiteX136" fmla="*/ 788213 w 1373429"/>
                <a:gd name="connsiteY136" fmla="*/ 119482 h 1372819"/>
                <a:gd name="connsiteX137" fmla="*/ 709270 w 1373429"/>
                <a:gd name="connsiteY137" fmla="*/ 205740 h 1372819"/>
                <a:gd name="connsiteX138" fmla="*/ 709270 w 1373429"/>
                <a:gd name="connsiteY138" fmla="*/ 304800 h 1372819"/>
                <a:gd name="connsiteX139" fmla="*/ 668122 w 1373429"/>
                <a:gd name="connsiteY139" fmla="*/ 304800 h 1372819"/>
                <a:gd name="connsiteX140" fmla="*/ 668122 w 1373429"/>
                <a:gd name="connsiteY140" fmla="*/ 206654 h 1372819"/>
                <a:gd name="connsiteX141" fmla="*/ 585216 w 1373429"/>
                <a:gd name="connsiteY141" fmla="*/ 119482 h 1372819"/>
                <a:gd name="connsiteX142" fmla="*/ 205740 w 1373429"/>
                <a:gd name="connsiteY142" fmla="*/ 119482 h 1372819"/>
                <a:gd name="connsiteX143" fmla="*/ 686714 w 1373429"/>
                <a:gd name="connsiteY143" fmla="*/ 42977 h 1372819"/>
                <a:gd name="connsiteX144" fmla="*/ 623621 w 1373429"/>
                <a:gd name="connsiteY144" fmla="*/ 106070 h 1372819"/>
                <a:gd name="connsiteX145" fmla="*/ 686714 w 1373429"/>
                <a:gd name="connsiteY145" fmla="*/ 169164 h 1372819"/>
                <a:gd name="connsiteX146" fmla="*/ 749808 w 1373429"/>
                <a:gd name="connsiteY146" fmla="*/ 106070 h 1372819"/>
                <a:gd name="connsiteX147" fmla="*/ 686714 w 1373429"/>
                <a:gd name="connsiteY147" fmla="*/ 42977 h 1372819"/>
                <a:gd name="connsiteX148" fmla="*/ 1269187 w 1373429"/>
                <a:gd name="connsiteY148" fmla="*/ 41148 h 1372819"/>
                <a:gd name="connsiteX149" fmla="*/ 1206094 w 1373429"/>
                <a:gd name="connsiteY149" fmla="*/ 104242 h 1372819"/>
                <a:gd name="connsiteX150" fmla="*/ 1269187 w 1373429"/>
                <a:gd name="connsiteY150" fmla="*/ 167335 h 1372819"/>
                <a:gd name="connsiteX151" fmla="*/ 1332281 w 1373429"/>
                <a:gd name="connsiteY151" fmla="*/ 104242 h 1372819"/>
                <a:gd name="connsiteX152" fmla="*/ 1269187 w 1373429"/>
                <a:gd name="connsiteY152" fmla="*/ 41148 h 1372819"/>
                <a:gd name="connsiteX153" fmla="*/ 104242 w 1373429"/>
                <a:gd name="connsiteY153" fmla="*/ 41148 h 1372819"/>
                <a:gd name="connsiteX154" fmla="*/ 41148 w 1373429"/>
                <a:gd name="connsiteY154" fmla="*/ 104242 h 1372819"/>
                <a:gd name="connsiteX155" fmla="*/ 104242 w 1373429"/>
                <a:gd name="connsiteY155" fmla="*/ 167335 h 1372819"/>
                <a:gd name="connsiteX156" fmla="*/ 167335 w 1373429"/>
                <a:gd name="connsiteY156" fmla="*/ 104242 h 1372819"/>
                <a:gd name="connsiteX157" fmla="*/ 104242 w 1373429"/>
                <a:gd name="connsiteY157" fmla="*/ 41148 h 1372819"/>
                <a:gd name="connsiteX158" fmla="*/ 104242 w 1373429"/>
                <a:gd name="connsiteY158" fmla="*/ 0 h 1372819"/>
                <a:gd name="connsiteX159" fmla="*/ 205435 w 1373429"/>
                <a:gd name="connsiteY159" fmla="*/ 89916 h 1372819"/>
                <a:gd name="connsiteX160" fmla="*/ 205435 w 1373429"/>
                <a:gd name="connsiteY160" fmla="*/ 89002 h 1372819"/>
                <a:gd name="connsiteX161" fmla="*/ 585826 w 1373429"/>
                <a:gd name="connsiteY161" fmla="*/ 89002 h 1372819"/>
                <a:gd name="connsiteX162" fmla="*/ 686714 w 1373429"/>
                <a:gd name="connsiteY162" fmla="*/ 1524 h 1372819"/>
                <a:gd name="connsiteX163" fmla="*/ 787603 w 1373429"/>
                <a:gd name="connsiteY163" fmla="*/ 89002 h 1372819"/>
                <a:gd name="connsiteX164" fmla="*/ 1167994 w 1373429"/>
                <a:gd name="connsiteY164" fmla="*/ 89002 h 1372819"/>
                <a:gd name="connsiteX165" fmla="*/ 1269187 w 1373429"/>
                <a:gd name="connsiteY165" fmla="*/ 0 h 1372819"/>
                <a:gd name="connsiteX166" fmla="*/ 1373429 w 1373429"/>
                <a:gd name="connsiteY166" fmla="*/ 104242 h 1372819"/>
                <a:gd name="connsiteX167" fmla="*/ 1281684 w 1373429"/>
                <a:gd name="connsiteY167" fmla="*/ 206045 h 1372819"/>
                <a:gd name="connsiteX168" fmla="*/ 1281684 w 1373429"/>
                <a:gd name="connsiteY168" fmla="*/ 1166774 h 1372819"/>
                <a:gd name="connsiteX169" fmla="*/ 1373429 w 1373429"/>
                <a:gd name="connsiteY169" fmla="*/ 1268578 h 1372819"/>
                <a:gd name="connsiteX170" fmla="*/ 1269187 w 1373429"/>
                <a:gd name="connsiteY170" fmla="*/ 1372819 h 1372819"/>
                <a:gd name="connsiteX171" fmla="*/ 1167994 w 1373429"/>
                <a:gd name="connsiteY171" fmla="*/ 1283818 h 1372819"/>
                <a:gd name="connsiteX172" fmla="*/ 787908 w 1373429"/>
                <a:gd name="connsiteY172" fmla="*/ 1283818 h 1372819"/>
                <a:gd name="connsiteX173" fmla="*/ 686714 w 1373429"/>
                <a:gd name="connsiteY173" fmla="*/ 1372819 h 1372819"/>
                <a:gd name="connsiteX174" fmla="*/ 585521 w 1373429"/>
                <a:gd name="connsiteY174" fmla="*/ 1283818 h 1372819"/>
                <a:gd name="connsiteX175" fmla="*/ 205435 w 1373429"/>
                <a:gd name="connsiteY175" fmla="*/ 1283818 h 1372819"/>
                <a:gd name="connsiteX176" fmla="*/ 205435 w 1373429"/>
                <a:gd name="connsiteY176" fmla="*/ 1282903 h 1372819"/>
                <a:gd name="connsiteX177" fmla="*/ 104242 w 1373429"/>
                <a:gd name="connsiteY177" fmla="*/ 1372819 h 1372819"/>
                <a:gd name="connsiteX178" fmla="*/ 0 w 1373429"/>
                <a:gd name="connsiteY178" fmla="*/ 1268578 h 1372819"/>
                <a:gd name="connsiteX179" fmla="*/ 90830 w 1373429"/>
                <a:gd name="connsiteY179" fmla="*/ 1167079 h 1372819"/>
                <a:gd name="connsiteX180" fmla="*/ 90830 w 1373429"/>
                <a:gd name="connsiteY180" fmla="*/ 205740 h 1372819"/>
                <a:gd name="connsiteX181" fmla="*/ 0 w 1373429"/>
                <a:gd name="connsiteY181" fmla="*/ 104242 h 1372819"/>
                <a:gd name="connsiteX182" fmla="*/ 104242 w 1373429"/>
                <a:gd name="connsiteY182" fmla="*/ 0 h 137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1373429" h="1372819">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19" name="Group 18">
            <a:extLst>
              <a:ext uri="{FF2B5EF4-FFF2-40B4-BE49-F238E27FC236}">
                <a16:creationId xmlns:a16="http://schemas.microsoft.com/office/drawing/2014/main" id="{CCC151E2-8BEA-0969-3332-08F885ECCA7A}"/>
              </a:ext>
            </a:extLst>
          </p:cNvPr>
          <p:cNvGrpSpPr/>
          <p:nvPr/>
        </p:nvGrpSpPr>
        <p:grpSpPr>
          <a:xfrm>
            <a:off x="1901870" y="5201957"/>
            <a:ext cx="1344725" cy="216064"/>
            <a:chOff x="3604782" y="5211713"/>
            <a:chExt cx="1344725" cy="216064"/>
          </a:xfrm>
        </p:grpSpPr>
        <p:grpSp>
          <p:nvGrpSpPr>
            <p:cNvPr id="20" name="Group 19">
              <a:extLst>
                <a:ext uri="{FF2B5EF4-FFF2-40B4-BE49-F238E27FC236}">
                  <a16:creationId xmlns:a16="http://schemas.microsoft.com/office/drawing/2014/main" id="{7F54528B-4F15-CEF6-ECE5-631131E1493C}"/>
                </a:ext>
              </a:extLst>
            </p:cNvPr>
            <p:cNvGrpSpPr/>
            <p:nvPr/>
          </p:nvGrpSpPr>
          <p:grpSpPr>
            <a:xfrm>
              <a:off x="4468307" y="5211713"/>
              <a:ext cx="481200" cy="216000"/>
              <a:chOff x="9559097" y="5270063"/>
              <a:chExt cx="481200" cy="216000"/>
            </a:xfrm>
          </p:grpSpPr>
          <p:sp>
            <p:nvSpPr>
              <p:cNvPr id="30" name="Google Shape;1557;p2">
                <a:extLst>
                  <a:ext uri="{FF2B5EF4-FFF2-40B4-BE49-F238E27FC236}">
                    <a16:creationId xmlns:a16="http://schemas.microsoft.com/office/drawing/2014/main" id="{101D56BC-E272-D620-88D4-14F0BC3D491E}"/>
                  </a:ext>
                </a:extLst>
              </p:cNvPr>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31" name="Google Shape;1622;p2">
                <a:extLst>
                  <a:ext uri="{FF2B5EF4-FFF2-40B4-BE49-F238E27FC236}">
                    <a16:creationId xmlns:a16="http://schemas.microsoft.com/office/drawing/2014/main" id="{DC407ADD-55ED-9885-9F3F-3C022A94CB31}"/>
                  </a:ext>
                </a:extLst>
              </p:cNvPr>
              <p:cNvSpPr>
                <a:spLocks noChangeAspect="1"/>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1" name="Group 20">
              <a:extLst>
                <a:ext uri="{FF2B5EF4-FFF2-40B4-BE49-F238E27FC236}">
                  <a16:creationId xmlns:a16="http://schemas.microsoft.com/office/drawing/2014/main" id="{ECA5122E-A934-2034-9FCF-7FCA7497DF5A}"/>
                </a:ext>
              </a:extLst>
            </p:cNvPr>
            <p:cNvGrpSpPr/>
            <p:nvPr/>
          </p:nvGrpSpPr>
          <p:grpSpPr>
            <a:xfrm>
              <a:off x="4059181" y="5211713"/>
              <a:ext cx="437400" cy="216000"/>
              <a:chOff x="9895949" y="1413332"/>
              <a:chExt cx="437400" cy="216000"/>
            </a:xfrm>
          </p:grpSpPr>
          <p:sp>
            <p:nvSpPr>
              <p:cNvPr id="28" name="Google Shape;1558;p2">
                <a:extLst>
                  <a:ext uri="{FF2B5EF4-FFF2-40B4-BE49-F238E27FC236}">
                    <a16:creationId xmlns:a16="http://schemas.microsoft.com/office/drawing/2014/main" id="{6A10255D-6028-CA2E-F0BC-FBE1CD29EA90}"/>
                  </a:ext>
                </a:extLst>
              </p:cNvPr>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29" name="Google Shape;1623;p2">
                <a:extLst>
                  <a:ext uri="{FF2B5EF4-FFF2-40B4-BE49-F238E27FC236}">
                    <a16:creationId xmlns:a16="http://schemas.microsoft.com/office/drawing/2014/main" id="{019DA594-2ABC-0F34-7154-53BEF9E914CC}"/>
                  </a:ext>
                </a:extLst>
              </p:cNvPr>
              <p:cNvSpPr>
                <a:spLocks noChangeAspect="1"/>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2" name="Group 21">
              <a:extLst>
                <a:ext uri="{FF2B5EF4-FFF2-40B4-BE49-F238E27FC236}">
                  <a16:creationId xmlns:a16="http://schemas.microsoft.com/office/drawing/2014/main" id="{C6CC4856-8731-0C01-0B1A-A6C6F057B3FC}"/>
                </a:ext>
              </a:extLst>
            </p:cNvPr>
            <p:cNvGrpSpPr/>
            <p:nvPr/>
          </p:nvGrpSpPr>
          <p:grpSpPr>
            <a:xfrm>
              <a:off x="3604782" y="5211777"/>
              <a:ext cx="481200" cy="216000"/>
              <a:chOff x="8526343" y="2145622"/>
              <a:chExt cx="481200" cy="216000"/>
            </a:xfrm>
          </p:grpSpPr>
          <p:sp>
            <p:nvSpPr>
              <p:cNvPr id="23" name="Google Shape;1557;p2">
                <a:extLst>
                  <a:ext uri="{FF2B5EF4-FFF2-40B4-BE49-F238E27FC236}">
                    <a16:creationId xmlns:a16="http://schemas.microsoft.com/office/drawing/2014/main" id="{74079362-9C48-88BB-2AB1-BE1CF08DACB5}"/>
                  </a:ext>
                </a:extLst>
              </p:cNvPr>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nvGrpSpPr>
              <p:cNvPr id="24" name="Google Shape;1618;p2">
                <a:extLst>
                  <a:ext uri="{FF2B5EF4-FFF2-40B4-BE49-F238E27FC236}">
                    <a16:creationId xmlns:a16="http://schemas.microsoft.com/office/drawing/2014/main" id="{3FA7894D-818D-BB58-714A-E603181D80EC}"/>
                  </a:ext>
                </a:extLst>
              </p:cNvPr>
              <p:cNvGrpSpPr>
                <a:grpSpLocks noChangeAspect="1"/>
              </p:cNvGrpSpPr>
              <p:nvPr/>
            </p:nvGrpSpPr>
            <p:grpSpPr>
              <a:xfrm>
                <a:off x="8658941" y="2145622"/>
                <a:ext cx="216005" cy="216000"/>
                <a:chOff x="3822556" y="5087301"/>
                <a:chExt cx="611339" cy="557273"/>
              </a:xfrm>
            </p:grpSpPr>
            <p:sp>
              <p:nvSpPr>
                <p:cNvPr id="25" name="Google Shape;1619;p2">
                  <a:extLst>
                    <a:ext uri="{FF2B5EF4-FFF2-40B4-BE49-F238E27FC236}">
                      <a16:creationId xmlns:a16="http://schemas.microsoft.com/office/drawing/2014/main" id="{F38E2E4C-CA53-3E2E-2113-8C3E74D25C99}"/>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6" name="Google Shape;1620;p2">
                  <a:extLst>
                    <a:ext uri="{FF2B5EF4-FFF2-40B4-BE49-F238E27FC236}">
                      <a16:creationId xmlns:a16="http://schemas.microsoft.com/office/drawing/2014/main" id="{1FD0E3B5-FE03-D550-A0A3-8C7DD6A8DC0F}"/>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7" name="Google Shape;1621;p2">
                  <a:extLst>
                    <a:ext uri="{FF2B5EF4-FFF2-40B4-BE49-F238E27FC236}">
                      <a16:creationId xmlns:a16="http://schemas.microsoft.com/office/drawing/2014/main" id="{473CA93E-C38E-4079-279C-6DD52B811C41}"/>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32" name="Group 31">
            <a:extLst>
              <a:ext uri="{FF2B5EF4-FFF2-40B4-BE49-F238E27FC236}">
                <a16:creationId xmlns:a16="http://schemas.microsoft.com/office/drawing/2014/main" id="{B287859D-4C2F-B70B-A78C-FA95A7F9CA17}"/>
              </a:ext>
            </a:extLst>
          </p:cNvPr>
          <p:cNvGrpSpPr/>
          <p:nvPr/>
        </p:nvGrpSpPr>
        <p:grpSpPr>
          <a:xfrm>
            <a:off x="2643753" y="4681164"/>
            <a:ext cx="242955" cy="246888"/>
            <a:chOff x="9555686" y="4734395"/>
            <a:chExt cx="242955" cy="246888"/>
          </a:xfrm>
        </p:grpSpPr>
        <p:sp>
          <p:nvSpPr>
            <p:cNvPr id="33" name="Oval 32">
              <a:extLst>
                <a:ext uri="{FF2B5EF4-FFF2-40B4-BE49-F238E27FC236}">
                  <a16:creationId xmlns:a16="http://schemas.microsoft.com/office/drawing/2014/main" id="{A97BF5BA-7256-B9CC-7636-14795D75587C}"/>
                </a:ext>
              </a:extLst>
            </p:cNvPr>
            <p:cNvSpPr/>
            <p:nvPr/>
          </p:nvSpPr>
          <p:spPr>
            <a:xfrm>
              <a:off x="9555686" y="4734395"/>
              <a:ext cx="242955" cy="246888"/>
            </a:xfrm>
            <a:prstGeom prst="ellipse">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34" name="Graphic 1">
              <a:extLst>
                <a:ext uri="{FF2B5EF4-FFF2-40B4-BE49-F238E27FC236}">
                  <a16:creationId xmlns:a16="http://schemas.microsoft.com/office/drawing/2014/main" id="{82EB4E8B-87A4-EC87-774E-A67987DFC78A}"/>
                </a:ext>
              </a:extLst>
            </p:cNvPr>
            <p:cNvGrpSpPr/>
            <p:nvPr/>
          </p:nvGrpSpPr>
          <p:grpSpPr>
            <a:xfrm>
              <a:off x="9608884" y="4788452"/>
              <a:ext cx="136561" cy="138772"/>
              <a:chOff x="979296" y="1541155"/>
              <a:chExt cx="1058780" cy="1058780"/>
            </a:xfrm>
            <a:solidFill>
              <a:schemeClr val="accent5"/>
            </a:solidFill>
          </p:grpSpPr>
          <p:sp>
            <p:nvSpPr>
              <p:cNvPr id="35" name="Freeform: Shape 815">
                <a:extLst>
                  <a:ext uri="{FF2B5EF4-FFF2-40B4-BE49-F238E27FC236}">
                    <a16:creationId xmlns:a16="http://schemas.microsoft.com/office/drawing/2014/main" id="{7F692E67-9AA3-D2ED-C7F5-889A7640F0B1}"/>
                  </a:ext>
                </a:extLst>
              </p:cNvPr>
              <p:cNvSpPr/>
              <p:nvPr/>
            </p:nvSpPr>
            <p:spPr>
              <a:xfrm>
                <a:off x="979296" y="1541155"/>
                <a:ext cx="1054510" cy="1054510"/>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36" name="Graphic 1">
                <a:extLst>
                  <a:ext uri="{FF2B5EF4-FFF2-40B4-BE49-F238E27FC236}">
                    <a16:creationId xmlns:a16="http://schemas.microsoft.com/office/drawing/2014/main" id="{375D8506-8088-9389-84FD-7AE441DFE7FA}"/>
                  </a:ext>
                </a:extLst>
              </p:cNvPr>
              <p:cNvGrpSpPr/>
              <p:nvPr/>
            </p:nvGrpSpPr>
            <p:grpSpPr>
              <a:xfrm>
                <a:off x="1296246" y="2002748"/>
                <a:ext cx="390297" cy="146863"/>
                <a:chOff x="1296246" y="2002748"/>
                <a:chExt cx="390297" cy="146863"/>
              </a:xfrm>
              <a:grpFill/>
            </p:grpSpPr>
            <p:sp>
              <p:nvSpPr>
                <p:cNvPr id="37" name="Freeform: Shape 817">
                  <a:extLst>
                    <a:ext uri="{FF2B5EF4-FFF2-40B4-BE49-F238E27FC236}">
                      <a16:creationId xmlns:a16="http://schemas.microsoft.com/office/drawing/2014/main" id="{FDA331A8-2110-D4F7-857A-953E5241407F}"/>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8" name="Freeform: Shape 818">
                  <a:extLst>
                    <a:ext uri="{FF2B5EF4-FFF2-40B4-BE49-F238E27FC236}">
                      <a16:creationId xmlns:a16="http://schemas.microsoft.com/office/drawing/2014/main" id="{30B31CF7-F88F-568D-BB58-5E84690AC7FC}"/>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grpSp>
        <p:nvGrpSpPr>
          <p:cNvPr id="39" name="Group 38">
            <a:extLst>
              <a:ext uri="{FF2B5EF4-FFF2-40B4-BE49-F238E27FC236}">
                <a16:creationId xmlns:a16="http://schemas.microsoft.com/office/drawing/2014/main" id="{F6AC980F-2917-7FF4-C571-8E5F45EF2A4E}"/>
              </a:ext>
            </a:extLst>
          </p:cNvPr>
          <p:cNvGrpSpPr/>
          <p:nvPr/>
        </p:nvGrpSpPr>
        <p:grpSpPr>
          <a:xfrm>
            <a:off x="2927588" y="4681164"/>
            <a:ext cx="526791" cy="246888"/>
            <a:chOff x="9839521" y="4734395"/>
            <a:chExt cx="526791" cy="246888"/>
          </a:xfrm>
        </p:grpSpPr>
        <p:sp>
          <p:nvSpPr>
            <p:cNvPr id="40" name="Oval 39">
              <a:extLst>
                <a:ext uri="{FF2B5EF4-FFF2-40B4-BE49-F238E27FC236}">
                  <a16:creationId xmlns:a16="http://schemas.microsoft.com/office/drawing/2014/main" id="{EB312F18-8277-A57C-C909-8305E469C55F}"/>
                </a:ext>
              </a:extLst>
            </p:cNvPr>
            <p:cNvSpPr/>
            <p:nvPr/>
          </p:nvSpPr>
          <p:spPr>
            <a:xfrm>
              <a:off x="9839521" y="4734395"/>
              <a:ext cx="242955" cy="246888"/>
            </a:xfrm>
            <a:prstGeom prst="ellipse">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41" name="Graphic 1">
              <a:extLst>
                <a:ext uri="{FF2B5EF4-FFF2-40B4-BE49-F238E27FC236}">
                  <a16:creationId xmlns:a16="http://schemas.microsoft.com/office/drawing/2014/main" id="{A56840DF-10C1-0AED-9A81-A5BD93EC8433}"/>
                </a:ext>
              </a:extLst>
            </p:cNvPr>
            <p:cNvGrpSpPr/>
            <p:nvPr/>
          </p:nvGrpSpPr>
          <p:grpSpPr>
            <a:xfrm>
              <a:off x="9892719" y="4788452"/>
              <a:ext cx="136561" cy="138772"/>
              <a:chOff x="979296" y="1541155"/>
              <a:chExt cx="1058780" cy="1058780"/>
            </a:xfrm>
            <a:solidFill>
              <a:schemeClr val="accent5"/>
            </a:solidFill>
          </p:grpSpPr>
          <p:sp>
            <p:nvSpPr>
              <p:cNvPr id="48" name="Freeform: Shape 815">
                <a:extLst>
                  <a:ext uri="{FF2B5EF4-FFF2-40B4-BE49-F238E27FC236}">
                    <a16:creationId xmlns:a16="http://schemas.microsoft.com/office/drawing/2014/main" id="{9C5BEF22-6AF6-80E2-D94F-C2F7FA27E0BD}"/>
                  </a:ext>
                </a:extLst>
              </p:cNvPr>
              <p:cNvSpPr/>
              <p:nvPr/>
            </p:nvSpPr>
            <p:spPr>
              <a:xfrm>
                <a:off x="979296" y="1541155"/>
                <a:ext cx="1054510" cy="1054510"/>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49" name="Graphic 1">
                <a:extLst>
                  <a:ext uri="{FF2B5EF4-FFF2-40B4-BE49-F238E27FC236}">
                    <a16:creationId xmlns:a16="http://schemas.microsoft.com/office/drawing/2014/main" id="{C6EE4EDB-4CCD-9D8E-0C12-8C4E4C0D523C}"/>
                  </a:ext>
                </a:extLst>
              </p:cNvPr>
              <p:cNvGrpSpPr/>
              <p:nvPr/>
            </p:nvGrpSpPr>
            <p:grpSpPr>
              <a:xfrm>
                <a:off x="1296246" y="2002748"/>
                <a:ext cx="390297" cy="146863"/>
                <a:chOff x="1296246" y="2002748"/>
                <a:chExt cx="390297" cy="146863"/>
              </a:xfrm>
              <a:grpFill/>
            </p:grpSpPr>
            <p:sp>
              <p:nvSpPr>
                <p:cNvPr id="50" name="Freeform: Shape 817">
                  <a:extLst>
                    <a:ext uri="{FF2B5EF4-FFF2-40B4-BE49-F238E27FC236}">
                      <a16:creationId xmlns:a16="http://schemas.microsoft.com/office/drawing/2014/main" id="{0A5C4992-286D-368C-72ED-FD3B0929CB28}"/>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1" name="Freeform: Shape 818">
                  <a:extLst>
                    <a:ext uri="{FF2B5EF4-FFF2-40B4-BE49-F238E27FC236}">
                      <a16:creationId xmlns:a16="http://schemas.microsoft.com/office/drawing/2014/main" id="{9BFB95F7-615C-4B3B-C129-D29D588737F2}"/>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sp>
          <p:nvSpPr>
            <p:cNvPr id="42" name="Oval 41">
              <a:extLst>
                <a:ext uri="{FF2B5EF4-FFF2-40B4-BE49-F238E27FC236}">
                  <a16:creationId xmlns:a16="http://schemas.microsoft.com/office/drawing/2014/main" id="{A5E7CF8F-CD22-1A82-8F68-30B3FED6EED5}"/>
                </a:ext>
              </a:extLst>
            </p:cNvPr>
            <p:cNvSpPr/>
            <p:nvPr/>
          </p:nvSpPr>
          <p:spPr>
            <a:xfrm>
              <a:off x="10123357" y="4734395"/>
              <a:ext cx="242955" cy="246888"/>
            </a:xfrm>
            <a:prstGeom prst="ellipse">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43" name="Graphic 1">
              <a:extLst>
                <a:ext uri="{FF2B5EF4-FFF2-40B4-BE49-F238E27FC236}">
                  <a16:creationId xmlns:a16="http://schemas.microsoft.com/office/drawing/2014/main" id="{BD6A6FA5-90DB-D269-D1E5-9A4B9E5D8012}"/>
                </a:ext>
              </a:extLst>
            </p:cNvPr>
            <p:cNvGrpSpPr/>
            <p:nvPr/>
          </p:nvGrpSpPr>
          <p:grpSpPr>
            <a:xfrm>
              <a:off x="10176555" y="4788452"/>
              <a:ext cx="136561" cy="138772"/>
              <a:chOff x="979296" y="1541155"/>
              <a:chExt cx="1058780" cy="1058780"/>
            </a:xfrm>
            <a:solidFill>
              <a:schemeClr val="accent5"/>
            </a:solidFill>
          </p:grpSpPr>
          <p:sp>
            <p:nvSpPr>
              <p:cNvPr id="44" name="Freeform: Shape 815">
                <a:extLst>
                  <a:ext uri="{FF2B5EF4-FFF2-40B4-BE49-F238E27FC236}">
                    <a16:creationId xmlns:a16="http://schemas.microsoft.com/office/drawing/2014/main" id="{E33BCF6D-B4D0-71E3-A891-86D06C30F16F}"/>
                  </a:ext>
                </a:extLst>
              </p:cNvPr>
              <p:cNvSpPr/>
              <p:nvPr/>
            </p:nvSpPr>
            <p:spPr>
              <a:xfrm>
                <a:off x="979296" y="1541155"/>
                <a:ext cx="1054510" cy="1054510"/>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45" name="Graphic 1">
                <a:extLst>
                  <a:ext uri="{FF2B5EF4-FFF2-40B4-BE49-F238E27FC236}">
                    <a16:creationId xmlns:a16="http://schemas.microsoft.com/office/drawing/2014/main" id="{7400F1E5-5944-98CE-04AF-23C484E1651D}"/>
                  </a:ext>
                </a:extLst>
              </p:cNvPr>
              <p:cNvGrpSpPr/>
              <p:nvPr/>
            </p:nvGrpSpPr>
            <p:grpSpPr>
              <a:xfrm>
                <a:off x="1296246" y="2002748"/>
                <a:ext cx="390297" cy="146863"/>
                <a:chOff x="1296246" y="2002748"/>
                <a:chExt cx="390297" cy="146863"/>
              </a:xfrm>
              <a:grpFill/>
            </p:grpSpPr>
            <p:sp>
              <p:nvSpPr>
                <p:cNvPr id="46" name="Freeform: Shape 817">
                  <a:extLst>
                    <a:ext uri="{FF2B5EF4-FFF2-40B4-BE49-F238E27FC236}">
                      <a16:creationId xmlns:a16="http://schemas.microsoft.com/office/drawing/2014/main" id="{1D42118D-B76B-D175-6D6A-AB6CBFD1A89F}"/>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7" name="Freeform: Shape 818">
                  <a:extLst>
                    <a:ext uri="{FF2B5EF4-FFF2-40B4-BE49-F238E27FC236}">
                      <a16:creationId xmlns:a16="http://schemas.microsoft.com/office/drawing/2014/main" id="{B7440EB5-F8D6-8346-409F-5D5A4319997C}"/>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grpFill/>
                <a:ln w="3045"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grpSp>
        <p:nvGrpSpPr>
          <p:cNvPr id="52" name="Group 51">
            <a:extLst>
              <a:ext uri="{FF2B5EF4-FFF2-40B4-BE49-F238E27FC236}">
                <a16:creationId xmlns:a16="http://schemas.microsoft.com/office/drawing/2014/main" id="{36F5B933-2F07-2B49-5440-A35616B9A845}"/>
              </a:ext>
            </a:extLst>
          </p:cNvPr>
          <p:cNvGrpSpPr/>
          <p:nvPr/>
        </p:nvGrpSpPr>
        <p:grpSpPr>
          <a:xfrm>
            <a:off x="5468102" y="5198547"/>
            <a:ext cx="1344725" cy="216064"/>
            <a:chOff x="3604782" y="5211713"/>
            <a:chExt cx="1344725" cy="216064"/>
          </a:xfrm>
        </p:grpSpPr>
        <p:grpSp>
          <p:nvGrpSpPr>
            <p:cNvPr id="53" name="Group 52">
              <a:extLst>
                <a:ext uri="{FF2B5EF4-FFF2-40B4-BE49-F238E27FC236}">
                  <a16:creationId xmlns:a16="http://schemas.microsoft.com/office/drawing/2014/main" id="{3A09C5AD-84ED-1CA1-FC5E-2AB2EA562C81}"/>
                </a:ext>
              </a:extLst>
            </p:cNvPr>
            <p:cNvGrpSpPr/>
            <p:nvPr/>
          </p:nvGrpSpPr>
          <p:grpSpPr>
            <a:xfrm>
              <a:off x="4468307" y="5211713"/>
              <a:ext cx="481200" cy="216000"/>
              <a:chOff x="9559097" y="5270063"/>
              <a:chExt cx="481200" cy="216000"/>
            </a:xfrm>
          </p:grpSpPr>
          <p:sp>
            <p:nvSpPr>
              <p:cNvPr id="63" name="Google Shape;1557;p2">
                <a:extLst>
                  <a:ext uri="{FF2B5EF4-FFF2-40B4-BE49-F238E27FC236}">
                    <a16:creationId xmlns:a16="http://schemas.microsoft.com/office/drawing/2014/main" id="{5063C057-83E4-B705-F400-4F0A140206F3}"/>
                  </a:ext>
                </a:extLst>
              </p:cNvPr>
              <p:cNvSpPr/>
              <p:nvPr/>
            </p:nvSpPr>
            <p:spPr>
              <a:xfrm>
                <a:off x="9559097" y="531971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64" name="Google Shape;1622;p2">
                <a:extLst>
                  <a:ext uri="{FF2B5EF4-FFF2-40B4-BE49-F238E27FC236}">
                    <a16:creationId xmlns:a16="http://schemas.microsoft.com/office/drawing/2014/main" id="{F2AB1B28-4CB4-A08E-D4E7-5A8EC0158222}"/>
                  </a:ext>
                </a:extLst>
              </p:cNvPr>
              <p:cNvSpPr>
                <a:spLocks noChangeAspect="1"/>
              </p:cNvSpPr>
              <p:nvPr/>
            </p:nvSpPr>
            <p:spPr>
              <a:xfrm>
                <a:off x="9691694" y="5270063"/>
                <a:ext cx="216000" cy="21600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54" name="Group 53">
              <a:extLst>
                <a:ext uri="{FF2B5EF4-FFF2-40B4-BE49-F238E27FC236}">
                  <a16:creationId xmlns:a16="http://schemas.microsoft.com/office/drawing/2014/main" id="{E9890D89-5CD0-D960-FDAF-B08C954B6AF5}"/>
                </a:ext>
              </a:extLst>
            </p:cNvPr>
            <p:cNvGrpSpPr/>
            <p:nvPr/>
          </p:nvGrpSpPr>
          <p:grpSpPr>
            <a:xfrm>
              <a:off x="4059181" y="5211713"/>
              <a:ext cx="437400" cy="216000"/>
              <a:chOff x="9895949" y="1413332"/>
              <a:chExt cx="437400" cy="216000"/>
            </a:xfrm>
          </p:grpSpPr>
          <p:sp>
            <p:nvSpPr>
              <p:cNvPr id="61" name="Google Shape;1558;p2">
                <a:extLst>
                  <a:ext uri="{FF2B5EF4-FFF2-40B4-BE49-F238E27FC236}">
                    <a16:creationId xmlns:a16="http://schemas.microsoft.com/office/drawing/2014/main" id="{3617F368-9981-3AD9-DD0C-13E262CEC7B1}"/>
                  </a:ext>
                </a:extLst>
              </p:cNvPr>
              <p:cNvSpPr/>
              <p:nvPr/>
            </p:nvSpPr>
            <p:spPr>
              <a:xfrm>
                <a:off x="9895949" y="1462982"/>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62" name="Google Shape;1623;p2">
                <a:extLst>
                  <a:ext uri="{FF2B5EF4-FFF2-40B4-BE49-F238E27FC236}">
                    <a16:creationId xmlns:a16="http://schemas.microsoft.com/office/drawing/2014/main" id="{63CE2D74-4C68-B9A2-0775-DCCE91B3BA73}"/>
                  </a:ext>
                </a:extLst>
              </p:cNvPr>
              <p:cNvSpPr>
                <a:spLocks noChangeAspect="1"/>
              </p:cNvSpPr>
              <p:nvPr/>
            </p:nvSpPr>
            <p:spPr>
              <a:xfrm>
                <a:off x="10018018" y="1413332"/>
                <a:ext cx="193263" cy="21600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55" name="Group 54">
              <a:extLst>
                <a:ext uri="{FF2B5EF4-FFF2-40B4-BE49-F238E27FC236}">
                  <a16:creationId xmlns:a16="http://schemas.microsoft.com/office/drawing/2014/main" id="{D2EDCCB4-523D-F9C7-D79D-4A0ACEFFC1AD}"/>
                </a:ext>
              </a:extLst>
            </p:cNvPr>
            <p:cNvGrpSpPr/>
            <p:nvPr/>
          </p:nvGrpSpPr>
          <p:grpSpPr>
            <a:xfrm>
              <a:off x="3604782" y="5211777"/>
              <a:ext cx="481200" cy="216000"/>
              <a:chOff x="8526343" y="2145622"/>
              <a:chExt cx="481200" cy="216000"/>
            </a:xfrm>
          </p:grpSpPr>
          <p:sp>
            <p:nvSpPr>
              <p:cNvPr id="56" name="Google Shape;1557;p2">
                <a:extLst>
                  <a:ext uri="{FF2B5EF4-FFF2-40B4-BE49-F238E27FC236}">
                    <a16:creationId xmlns:a16="http://schemas.microsoft.com/office/drawing/2014/main" id="{DCF6FBD8-F7D6-13E1-3D63-F559E2597D10}"/>
                  </a:ext>
                </a:extLst>
              </p:cNvPr>
              <p:cNvSpPr/>
              <p:nvPr/>
            </p:nvSpPr>
            <p:spPr>
              <a:xfrm>
                <a:off x="8526343" y="2191830"/>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nvGrpSpPr>
              <p:cNvPr id="57" name="Google Shape;1618;p2">
                <a:extLst>
                  <a:ext uri="{FF2B5EF4-FFF2-40B4-BE49-F238E27FC236}">
                    <a16:creationId xmlns:a16="http://schemas.microsoft.com/office/drawing/2014/main" id="{D5548C05-D084-CD03-68BE-3B82704C1BD7}"/>
                  </a:ext>
                </a:extLst>
              </p:cNvPr>
              <p:cNvGrpSpPr>
                <a:grpSpLocks noChangeAspect="1"/>
              </p:cNvGrpSpPr>
              <p:nvPr/>
            </p:nvGrpSpPr>
            <p:grpSpPr>
              <a:xfrm>
                <a:off x="8658941" y="2145622"/>
                <a:ext cx="216005" cy="216000"/>
                <a:chOff x="3822556" y="5087301"/>
                <a:chExt cx="611339" cy="557273"/>
              </a:xfrm>
            </p:grpSpPr>
            <p:sp>
              <p:nvSpPr>
                <p:cNvPr id="58" name="Google Shape;1619;p2">
                  <a:extLst>
                    <a:ext uri="{FF2B5EF4-FFF2-40B4-BE49-F238E27FC236}">
                      <a16:creationId xmlns:a16="http://schemas.microsoft.com/office/drawing/2014/main" id="{6A88DAD6-6BD4-C44E-AEED-961EBFB37639}"/>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9" name="Google Shape;1620;p2">
                  <a:extLst>
                    <a:ext uri="{FF2B5EF4-FFF2-40B4-BE49-F238E27FC236}">
                      <a16:creationId xmlns:a16="http://schemas.microsoft.com/office/drawing/2014/main" id="{0D4A8A3A-2198-6058-B176-054E1E90B402}"/>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 name="Google Shape;1621;p2">
                  <a:extLst>
                    <a:ext uri="{FF2B5EF4-FFF2-40B4-BE49-F238E27FC236}">
                      <a16:creationId xmlns:a16="http://schemas.microsoft.com/office/drawing/2014/main" id="{77C6C763-5374-195B-BEE8-7CBD6C75EE0D}"/>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sp>
        <p:nvSpPr>
          <p:cNvPr id="65" name="Rectangle: Rounded Corners 82">
            <a:extLst>
              <a:ext uri="{FF2B5EF4-FFF2-40B4-BE49-F238E27FC236}">
                <a16:creationId xmlns:a16="http://schemas.microsoft.com/office/drawing/2014/main" id="{03DC80E1-BCB1-4532-7CB3-04F343136ED4}"/>
              </a:ext>
            </a:extLst>
          </p:cNvPr>
          <p:cNvSpPr/>
          <p:nvPr/>
        </p:nvSpPr>
        <p:spPr>
          <a:xfrm>
            <a:off x="775741" y="4290481"/>
            <a:ext cx="3605066" cy="209646"/>
          </a:xfrm>
          <a:prstGeom prst="roundRect">
            <a:avLst/>
          </a:prstGeom>
          <a:solidFill>
            <a:schemeClr val="accent5"/>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vSphere Namespace</a:t>
            </a:r>
          </a:p>
        </p:txBody>
      </p:sp>
      <p:sp>
        <p:nvSpPr>
          <p:cNvPr id="66" name="Rectangle: Rounded Corners 82">
            <a:extLst>
              <a:ext uri="{FF2B5EF4-FFF2-40B4-BE49-F238E27FC236}">
                <a16:creationId xmlns:a16="http://schemas.microsoft.com/office/drawing/2014/main" id="{714A543F-5F0D-C9E0-A1E5-D7D0A31A34F5}"/>
              </a:ext>
            </a:extLst>
          </p:cNvPr>
          <p:cNvSpPr/>
          <p:nvPr/>
        </p:nvSpPr>
        <p:spPr>
          <a:xfrm>
            <a:off x="4338668" y="4290481"/>
            <a:ext cx="3209287" cy="209646"/>
          </a:xfrm>
          <a:prstGeom prst="roundRect">
            <a:avLst/>
          </a:prstGeom>
          <a:noFill/>
          <a:ln w="12700">
            <a:solidFill>
              <a:schemeClr val="accent5">
                <a:alpha val="49910"/>
              </a:schemeClr>
            </a:solidFill>
            <a:prstDash val="sys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rPr>
              <a:t>+ zone</a:t>
            </a:r>
          </a:p>
        </p:txBody>
      </p:sp>
      <p:grpSp>
        <p:nvGrpSpPr>
          <p:cNvPr id="67" name="Group 66">
            <a:extLst>
              <a:ext uri="{FF2B5EF4-FFF2-40B4-BE49-F238E27FC236}">
                <a16:creationId xmlns:a16="http://schemas.microsoft.com/office/drawing/2014/main" id="{11C6C673-A63A-52AC-2209-AE0628A627C9}"/>
              </a:ext>
            </a:extLst>
          </p:cNvPr>
          <p:cNvGrpSpPr>
            <a:grpSpLocks noChangeAspect="1"/>
          </p:cNvGrpSpPr>
          <p:nvPr/>
        </p:nvGrpSpPr>
        <p:grpSpPr>
          <a:xfrm>
            <a:off x="4934114" y="3292162"/>
            <a:ext cx="1027166" cy="900000"/>
            <a:chOff x="805150" y="1625512"/>
            <a:chExt cx="1557833" cy="1364965"/>
          </a:xfrm>
        </p:grpSpPr>
        <p:sp>
          <p:nvSpPr>
            <p:cNvPr id="68" name="Rectangle: Rounded Corners 44">
              <a:extLst>
                <a:ext uri="{FF2B5EF4-FFF2-40B4-BE49-F238E27FC236}">
                  <a16:creationId xmlns:a16="http://schemas.microsoft.com/office/drawing/2014/main" id="{4C554088-AA04-16B2-B41F-160FB5A384D8}"/>
                </a:ext>
              </a:extLst>
            </p:cNvPr>
            <p:cNvSpPr/>
            <p:nvPr/>
          </p:nvSpPr>
          <p:spPr>
            <a:xfrm>
              <a:off x="805150" y="1625512"/>
              <a:ext cx="1557833" cy="1364965"/>
            </a:xfrm>
            <a:prstGeom prst="roundRect">
              <a:avLst>
                <a:gd name="adj" fmla="val 3683"/>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grpSp>
          <p:nvGrpSpPr>
            <p:cNvPr id="69" name="Group 68">
              <a:extLst>
                <a:ext uri="{FF2B5EF4-FFF2-40B4-BE49-F238E27FC236}">
                  <a16:creationId xmlns:a16="http://schemas.microsoft.com/office/drawing/2014/main" id="{31C734A2-0D61-381C-1286-5C745B52B4D2}"/>
                </a:ext>
              </a:extLst>
            </p:cNvPr>
            <p:cNvGrpSpPr>
              <a:grpSpLocks noChangeAspect="1"/>
            </p:cNvGrpSpPr>
            <p:nvPr/>
          </p:nvGrpSpPr>
          <p:grpSpPr>
            <a:xfrm>
              <a:off x="987548" y="1738474"/>
              <a:ext cx="1174334" cy="972000"/>
              <a:chOff x="3325948" y="1424891"/>
              <a:chExt cx="1694347" cy="1402415"/>
            </a:xfrm>
          </p:grpSpPr>
          <p:sp>
            <p:nvSpPr>
              <p:cNvPr id="71" name="Rectangle 70">
                <a:extLst>
                  <a:ext uri="{FF2B5EF4-FFF2-40B4-BE49-F238E27FC236}">
                    <a16:creationId xmlns:a16="http://schemas.microsoft.com/office/drawing/2014/main" id="{303A68D6-F11B-4AAF-087D-736037B44C05}"/>
                  </a:ext>
                  <a:ext uri="{C183D7F6-B498-43B3-948B-1728B52AA6E4}">
                    <adec:decorative xmlns:adec="http://schemas.microsoft.com/office/drawing/2017/decorative" val="1"/>
                  </a:ext>
                </a:extLst>
              </p:cNvPr>
              <p:cNvSpPr/>
              <p:nvPr/>
            </p:nvSpPr>
            <p:spPr>
              <a:xfrm>
                <a:off x="4297641" y="1533016"/>
                <a:ext cx="528559"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72" name="Rectangle 71">
                <a:extLst>
                  <a:ext uri="{FF2B5EF4-FFF2-40B4-BE49-F238E27FC236}">
                    <a16:creationId xmlns:a16="http://schemas.microsoft.com/office/drawing/2014/main" id="{AE19E47A-B004-2CDB-7F8F-8551890F832B}"/>
                  </a:ext>
                  <a:ext uri="{C183D7F6-B498-43B3-948B-1728B52AA6E4}">
                    <adec:decorative xmlns:adec="http://schemas.microsoft.com/office/drawing/2017/decorative" val="1"/>
                  </a:ext>
                </a:extLst>
              </p:cNvPr>
              <p:cNvSpPr/>
              <p:nvPr/>
            </p:nvSpPr>
            <p:spPr>
              <a:xfrm>
                <a:off x="4297642" y="2297981"/>
                <a:ext cx="474562"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73" name="Picture 72">
                <a:extLst>
                  <a:ext uri="{FF2B5EF4-FFF2-40B4-BE49-F238E27FC236}">
                    <a16:creationId xmlns:a16="http://schemas.microsoft.com/office/drawing/2014/main" id="{3F600BB9-DE88-CA53-BE1B-503CDCA0565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03144" y="1496410"/>
                <a:ext cx="392596" cy="392595"/>
              </a:xfrm>
              <a:prstGeom prst="rect">
                <a:avLst/>
              </a:prstGeom>
            </p:spPr>
          </p:pic>
          <p:sp>
            <p:nvSpPr>
              <p:cNvPr id="74" name="TextBox 73">
                <a:extLst>
                  <a:ext uri="{FF2B5EF4-FFF2-40B4-BE49-F238E27FC236}">
                    <a16:creationId xmlns:a16="http://schemas.microsoft.com/office/drawing/2014/main" id="{7503537E-109D-4331-F0A0-B641B20FC5BA}"/>
                  </a:ext>
                </a:extLst>
              </p:cNvPr>
              <p:cNvSpPr txBox="1"/>
              <p:nvPr/>
            </p:nvSpPr>
            <p:spPr>
              <a:xfrm>
                <a:off x="4000893" y="1665153"/>
                <a:ext cx="886800" cy="79932"/>
              </a:xfrm>
              <a:prstGeom prst="rect">
                <a:avLst/>
              </a:prstGeom>
            </p:spPr>
            <p:txBody>
              <a:bodyPr wrap="square" lIns="0" tIns="0" rIns="0" bIns="0" rtlCol="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336DE6"/>
                    </a:solidFill>
                    <a:effectLst/>
                    <a:uLnTx/>
                    <a:uFillTx/>
                    <a:latin typeface="Arial" panose="020B0604020202020204"/>
                    <a:ea typeface="+mn-ea"/>
                    <a:cs typeface="+mn-cs"/>
                  </a:rPr>
                  <a:t>Kubernetes Applications</a:t>
                </a:r>
              </a:p>
            </p:txBody>
          </p:sp>
          <p:sp>
            <p:nvSpPr>
              <p:cNvPr id="75" name="Rectangle 74">
                <a:extLst>
                  <a:ext uri="{FF2B5EF4-FFF2-40B4-BE49-F238E27FC236}">
                    <a16:creationId xmlns:a16="http://schemas.microsoft.com/office/drawing/2014/main" id="{4190B782-17E7-D9E5-3946-7525AE8E6C9E}"/>
                  </a:ext>
                </a:extLst>
              </p:cNvPr>
              <p:cNvSpPr/>
              <p:nvPr/>
            </p:nvSpPr>
            <p:spPr>
              <a:xfrm>
                <a:off x="3331847" y="1424891"/>
                <a:ext cx="1680883" cy="535632"/>
              </a:xfrm>
              <a:prstGeom prst="rect">
                <a:avLst/>
              </a:prstGeom>
              <a:ln w="10795">
                <a:solidFill>
                  <a:schemeClr val="accent2"/>
                </a:solidFill>
                <a:prstDash val="sysDot"/>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76" name="Rectangle: Rounded Corners 48">
                <a:extLst>
                  <a:ext uri="{FF2B5EF4-FFF2-40B4-BE49-F238E27FC236}">
                    <a16:creationId xmlns:a16="http://schemas.microsoft.com/office/drawing/2014/main" id="{D354E11F-A165-2CBD-FB41-F7F2DECA65E7}"/>
                  </a:ext>
                </a:extLst>
              </p:cNvPr>
              <p:cNvSpPr/>
              <p:nvPr/>
            </p:nvSpPr>
            <p:spPr>
              <a:xfrm>
                <a:off x="3325948"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77" name="Rectangle: Rounded Corners 49">
                <a:extLst>
                  <a:ext uri="{FF2B5EF4-FFF2-40B4-BE49-F238E27FC236}">
                    <a16:creationId xmlns:a16="http://schemas.microsoft.com/office/drawing/2014/main" id="{898BC454-C836-1C7E-3F46-0395DE64FBAD}"/>
                  </a:ext>
                </a:extLst>
              </p:cNvPr>
              <p:cNvSpPr/>
              <p:nvPr/>
            </p:nvSpPr>
            <p:spPr>
              <a:xfrm>
                <a:off x="3912452"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78" name="Rectangle: Rounded Corners 50">
                <a:extLst>
                  <a:ext uri="{FF2B5EF4-FFF2-40B4-BE49-F238E27FC236}">
                    <a16:creationId xmlns:a16="http://schemas.microsoft.com/office/drawing/2014/main" id="{42A45094-4A24-301A-7214-240A506DA1C2}"/>
                  </a:ext>
                </a:extLst>
              </p:cNvPr>
              <p:cNvSpPr/>
              <p:nvPr/>
            </p:nvSpPr>
            <p:spPr>
              <a:xfrm>
                <a:off x="4498957" y="2547405"/>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79" name="Rectangle: Rounded Corners 51">
                <a:extLst>
                  <a:ext uri="{FF2B5EF4-FFF2-40B4-BE49-F238E27FC236}">
                    <a16:creationId xmlns:a16="http://schemas.microsoft.com/office/drawing/2014/main" id="{C1AF3CF0-84CA-99CD-26E6-944637E30AAE}"/>
                  </a:ext>
                </a:extLst>
              </p:cNvPr>
              <p:cNvSpPr/>
              <p:nvPr/>
            </p:nvSpPr>
            <p:spPr>
              <a:xfrm>
                <a:off x="3325949" y="2040092"/>
                <a:ext cx="1694346" cy="285650"/>
              </a:xfrm>
              <a:prstGeom prst="roundRect">
                <a:avLst>
                  <a:gd name="adj" fmla="val 50000"/>
                </a:avLst>
              </a:prstGeom>
              <a:solidFill>
                <a:schemeClr val="tx2">
                  <a:lumMod val="75000"/>
                  <a:lumOff val="25000"/>
                </a:schemeClr>
              </a:solidFill>
              <a:ln w="12700">
                <a:miter lim="400000"/>
              </a:ln>
            </p:spPr>
            <p:txBody>
              <a:bodyPr lIns="0" tIns="18283" rIns="0" bIns="0" anchor="ctr"/>
              <a:lstStyle/>
              <a:p>
                <a:pPr marL="0" marR="0" lvl="0" indent="0" algn="ctr" defTabSz="914400" rtl="0" eaLnBrk="1" fontAlgn="auto" latinLnBrk="0" hangingPunct="0">
                  <a:lnSpc>
                    <a:spcPct val="80000"/>
                  </a:lnSpc>
                  <a:spcBef>
                    <a:spcPts val="0"/>
                  </a:spcBef>
                  <a:spcAft>
                    <a:spcPts val="0"/>
                  </a:spcAft>
                  <a:buClrTx/>
                  <a:buSzTx/>
                  <a:buFontTx/>
                  <a:buNone/>
                  <a:tabLst/>
                  <a:defRPr/>
                </a:pPr>
                <a:r>
                  <a:rPr kumimoji="0" lang="en-US" sz="400" b="0" i="0" u="none" strike="noStrike" kern="0" cap="none" spc="0" normalizeH="0" baseline="0" noProof="0" dirty="0">
                    <a:ln>
                      <a:noFill/>
                    </a:ln>
                    <a:solidFill>
                      <a:srgbClr val="FFFFFF"/>
                    </a:solidFill>
                    <a:effectLst/>
                    <a:uLnTx/>
                    <a:uFillTx/>
                    <a:latin typeface="Arial" panose="020B0604020202020204"/>
                    <a:ea typeface="+mn-ea"/>
                    <a:cs typeface="+mn-cs"/>
                  </a:rPr>
                  <a:t>Control Plane</a:t>
                </a:r>
              </a:p>
            </p:txBody>
          </p:sp>
          <p:cxnSp>
            <p:nvCxnSpPr>
              <p:cNvPr id="80" name="Straight Connector 79">
                <a:extLst>
                  <a:ext uri="{FF2B5EF4-FFF2-40B4-BE49-F238E27FC236}">
                    <a16:creationId xmlns:a16="http://schemas.microsoft.com/office/drawing/2014/main" id="{F7B52FD9-A111-25AD-3097-7FBEED5CCF7F}"/>
                  </a:ext>
                </a:extLst>
              </p:cNvPr>
              <p:cNvCxnSpPr>
                <a:cxnSpLocks/>
              </p:cNvCxnSpPr>
              <p:nvPr/>
            </p:nvCxnSpPr>
            <p:spPr bwMode="gray">
              <a:xfrm>
                <a:off x="4186614" y="2313793"/>
                <a:ext cx="0" cy="240408"/>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C7C07D3-D84D-7F24-025F-948063B4ADD0}"/>
                  </a:ext>
                </a:extLst>
              </p:cNvPr>
              <p:cNvCxnSpPr>
                <a:cxnSpLocks/>
              </p:cNvCxnSpPr>
              <p:nvPr/>
            </p:nvCxnSpPr>
            <p:spPr bwMode="gray">
              <a:xfrm>
                <a:off x="3603836"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2C499EE-E063-33D0-9958-843CC3816FA6}"/>
                  </a:ext>
                </a:extLst>
              </p:cNvPr>
              <p:cNvCxnSpPr>
                <a:cxnSpLocks/>
              </p:cNvCxnSpPr>
              <p:nvPr/>
            </p:nvCxnSpPr>
            <p:spPr bwMode="gray">
              <a:xfrm>
                <a:off x="4769392"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4643248-9F8B-C3DD-5A0E-27EF985BD625}"/>
                  </a:ext>
                </a:extLst>
              </p:cNvPr>
              <p:cNvCxnSpPr>
                <a:cxnSpLocks/>
              </p:cNvCxnSpPr>
              <p:nvPr/>
            </p:nvCxnSpPr>
            <p:spPr bwMode="gray">
              <a:xfrm>
                <a:off x="3599903" y="2431944"/>
                <a:ext cx="1172301" cy="0"/>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70" name="TextBox 69">
              <a:extLst>
                <a:ext uri="{FF2B5EF4-FFF2-40B4-BE49-F238E27FC236}">
                  <a16:creationId xmlns:a16="http://schemas.microsoft.com/office/drawing/2014/main" id="{46B1980C-DE01-CEAC-AB56-339404FE0AA9}"/>
                </a:ext>
              </a:extLst>
            </p:cNvPr>
            <p:cNvSpPr txBox="1"/>
            <p:nvPr/>
          </p:nvSpPr>
          <p:spPr>
            <a:xfrm>
              <a:off x="805150" y="2760707"/>
              <a:ext cx="1557833" cy="9233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panose="020B0604020202020204"/>
                  <a:ea typeface="+mn-ea"/>
                  <a:cs typeface="+mn-cs"/>
                </a:rPr>
                <a:t>Kubernetes Cluster</a:t>
              </a:r>
            </a:p>
          </p:txBody>
        </p:sp>
      </p:grpSp>
      <p:grpSp>
        <p:nvGrpSpPr>
          <p:cNvPr id="84" name="Group 83">
            <a:extLst>
              <a:ext uri="{FF2B5EF4-FFF2-40B4-BE49-F238E27FC236}">
                <a16:creationId xmlns:a16="http://schemas.microsoft.com/office/drawing/2014/main" id="{AD229EA1-FDEA-39E0-5ECB-E83C808F1489}"/>
              </a:ext>
            </a:extLst>
          </p:cNvPr>
          <p:cNvGrpSpPr>
            <a:grpSpLocks noChangeAspect="1"/>
          </p:cNvGrpSpPr>
          <p:nvPr/>
        </p:nvGrpSpPr>
        <p:grpSpPr>
          <a:xfrm>
            <a:off x="6058795" y="3292162"/>
            <a:ext cx="1027166" cy="900000"/>
            <a:chOff x="805150" y="1625512"/>
            <a:chExt cx="1557833" cy="1364965"/>
          </a:xfrm>
        </p:grpSpPr>
        <p:sp>
          <p:nvSpPr>
            <p:cNvPr id="85" name="Rectangle: Rounded Corners 44">
              <a:extLst>
                <a:ext uri="{FF2B5EF4-FFF2-40B4-BE49-F238E27FC236}">
                  <a16:creationId xmlns:a16="http://schemas.microsoft.com/office/drawing/2014/main" id="{4AD5403A-7594-071A-4987-72546603CA24}"/>
                </a:ext>
              </a:extLst>
            </p:cNvPr>
            <p:cNvSpPr/>
            <p:nvPr/>
          </p:nvSpPr>
          <p:spPr>
            <a:xfrm>
              <a:off x="805150" y="1625512"/>
              <a:ext cx="1557833" cy="1364965"/>
            </a:xfrm>
            <a:prstGeom prst="roundRect">
              <a:avLst>
                <a:gd name="adj" fmla="val 3683"/>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grpSp>
          <p:nvGrpSpPr>
            <p:cNvPr id="86" name="Group 85">
              <a:extLst>
                <a:ext uri="{FF2B5EF4-FFF2-40B4-BE49-F238E27FC236}">
                  <a16:creationId xmlns:a16="http://schemas.microsoft.com/office/drawing/2014/main" id="{F09DF0FB-AB2A-56D6-5C76-999F5BFDE1A9}"/>
                </a:ext>
              </a:extLst>
            </p:cNvPr>
            <p:cNvGrpSpPr>
              <a:grpSpLocks noChangeAspect="1"/>
            </p:cNvGrpSpPr>
            <p:nvPr/>
          </p:nvGrpSpPr>
          <p:grpSpPr>
            <a:xfrm>
              <a:off x="987548" y="1738474"/>
              <a:ext cx="1174334" cy="972000"/>
              <a:chOff x="3325948" y="1424891"/>
              <a:chExt cx="1694347" cy="1402415"/>
            </a:xfrm>
          </p:grpSpPr>
          <p:sp>
            <p:nvSpPr>
              <p:cNvPr id="88" name="Rectangle 87">
                <a:extLst>
                  <a:ext uri="{FF2B5EF4-FFF2-40B4-BE49-F238E27FC236}">
                    <a16:creationId xmlns:a16="http://schemas.microsoft.com/office/drawing/2014/main" id="{41004AE2-9BC0-C04F-1A22-4FC5665467CD}"/>
                  </a:ext>
                  <a:ext uri="{C183D7F6-B498-43B3-948B-1728B52AA6E4}">
                    <adec:decorative xmlns:adec="http://schemas.microsoft.com/office/drawing/2017/decorative" val="1"/>
                  </a:ext>
                </a:extLst>
              </p:cNvPr>
              <p:cNvSpPr/>
              <p:nvPr/>
            </p:nvSpPr>
            <p:spPr>
              <a:xfrm>
                <a:off x="4297641" y="1533016"/>
                <a:ext cx="528559"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89" name="Rectangle 88">
                <a:extLst>
                  <a:ext uri="{FF2B5EF4-FFF2-40B4-BE49-F238E27FC236}">
                    <a16:creationId xmlns:a16="http://schemas.microsoft.com/office/drawing/2014/main" id="{56DEDA29-A45D-9555-788C-6C8DF58A963F}"/>
                  </a:ext>
                  <a:ext uri="{C183D7F6-B498-43B3-948B-1728B52AA6E4}">
                    <adec:decorative xmlns:adec="http://schemas.microsoft.com/office/drawing/2017/decorative" val="1"/>
                  </a:ext>
                </a:extLst>
              </p:cNvPr>
              <p:cNvSpPr/>
              <p:nvPr/>
            </p:nvSpPr>
            <p:spPr>
              <a:xfrm>
                <a:off x="4297642" y="2297981"/>
                <a:ext cx="474562"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90" name="Picture 89">
                <a:extLst>
                  <a:ext uri="{FF2B5EF4-FFF2-40B4-BE49-F238E27FC236}">
                    <a16:creationId xmlns:a16="http://schemas.microsoft.com/office/drawing/2014/main" id="{9CBE870F-8E14-343D-9073-31909A9AA0F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03144" y="1496410"/>
                <a:ext cx="392596" cy="392595"/>
              </a:xfrm>
              <a:prstGeom prst="rect">
                <a:avLst/>
              </a:prstGeom>
            </p:spPr>
          </p:pic>
          <p:sp>
            <p:nvSpPr>
              <p:cNvPr id="91" name="TextBox 90">
                <a:extLst>
                  <a:ext uri="{FF2B5EF4-FFF2-40B4-BE49-F238E27FC236}">
                    <a16:creationId xmlns:a16="http://schemas.microsoft.com/office/drawing/2014/main" id="{914E79C3-F456-2E2F-8E5D-2D74E1B30934}"/>
                  </a:ext>
                </a:extLst>
              </p:cNvPr>
              <p:cNvSpPr txBox="1"/>
              <p:nvPr/>
            </p:nvSpPr>
            <p:spPr>
              <a:xfrm>
                <a:off x="4000893" y="1665153"/>
                <a:ext cx="886800" cy="79932"/>
              </a:xfrm>
              <a:prstGeom prst="rect">
                <a:avLst/>
              </a:prstGeom>
            </p:spPr>
            <p:txBody>
              <a:bodyPr wrap="square" lIns="0" tIns="0" rIns="0" bIns="0" rtlCol="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336DE6"/>
                    </a:solidFill>
                    <a:effectLst/>
                    <a:uLnTx/>
                    <a:uFillTx/>
                    <a:latin typeface="Arial" panose="020B0604020202020204"/>
                    <a:ea typeface="+mn-ea"/>
                    <a:cs typeface="+mn-cs"/>
                  </a:rPr>
                  <a:t>Kubernetes Applications</a:t>
                </a:r>
              </a:p>
            </p:txBody>
          </p:sp>
          <p:sp>
            <p:nvSpPr>
              <p:cNvPr id="92" name="Rectangle 91">
                <a:extLst>
                  <a:ext uri="{FF2B5EF4-FFF2-40B4-BE49-F238E27FC236}">
                    <a16:creationId xmlns:a16="http://schemas.microsoft.com/office/drawing/2014/main" id="{1F0D3F4B-CAAE-F788-8812-4165B52500E3}"/>
                  </a:ext>
                </a:extLst>
              </p:cNvPr>
              <p:cNvSpPr/>
              <p:nvPr/>
            </p:nvSpPr>
            <p:spPr>
              <a:xfrm>
                <a:off x="3331847" y="1424891"/>
                <a:ext cx="1680883" cy="535632"/>
              </a:xfrm>
              <a:prstGeom prst="rect">
                <a:avLst/>
              </a:prstGeom>
              <a:ln w="10795">
                <a:solidFill>
                  <a:schemeClr val="accent2"/>
                </a:solidFill>
                <a:prstDash val="sysDot"/>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93" name="Rectangle: Rounded Corners 48">
                <a:extLst>
                  <a:ext uri="{FF2B5EF4-FFF2-40B4-BE49-F238E27FC236}">
                    <a16:creationId xmlns:a16="http://schemas.microsoft.com/office/drawing/2014/main" id="{032D31E6-0691-21A5-2A12-761D354C5E9F}"/>
                  </a:ext>
                </a:extLst>
              </p:cNvPr>
              <p:cNvSpPr/>
              <p:nvPr/>
            </p:nvSpPr>
            <p:spPr>
              <a:xfrm>
                <a:off x="3325948"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94" name="Rectangle: Rounded Corners 49">
                <a:extLst>
                  <a:ext uri="{FF2B5EF4-FFF2-40B4-BE49-F238E27FC236}">
                    <a16:creationId xmlns:a16="http://schemas.microsoft.com/office/drawing/2014/main" id="{11FCE251-0DA3-0AAA-BF6F-0444DC6BE7EC}"/>
                  </a:ext>
                </a:extLst>
              </p:cNvPr>
              <p:cNvSpPr/>
              <p:nvPr/>
            </p:nvSpPr>
            <p:spPr>
              <a:xfrm>
                <a:off x="3912452"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95" name="Rectangle: Rounded Corners 50">
                <a:extLst>
                  <a:ext uri="{FF2B5EF4-FFF2-40B4-BE49-F238E27FC236}">
                    <a16:creationId xmlns:a16="http://schemas.microsoft.com/office/drawing/2014/main" id="{6A961A05-6907-88D6-0AE8-1908B05C59EE}"/>
                  </a:ext>
                </a:extLst>
              </p:cNvPr>
              <p:cNvSpPr/>
              <p:nvPr/>
            </p:nvSpPr>
            <p:spPr>
              <a:xfrm>
                <a:off x="4498957" y="2547405"/>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96" name="Rectangle: Rounded Corners 51">
                <a:extLst>
                  <a:ext uri="{FF2B5EF4-FFF2-40B4-BE49-F238E27FC236}">
                    <a16:creationId xmlns:a16="http://schemas.microsoft.com/office/drawing/2014/main" id="{6B2B44D6-1648-9FDF-62A5-9B758DDC6BFC}"/>
                  </a:ext>
                </a:extLst>
              </p:cNvPr>
              <p:cNvSpPr/>
              <p:nvPr/>
            </p:nvSpPr>
            <p:spPr>
              <a:xfrm>
                <a:off x="3325949" y="2040092"/>
                <a:ext cx="1694346" cy="285650"/>
              </a:xfrm>
              <a:prstGeom prst="roundRect">
                <a:avLst>
                  <a:gd name="adj" fmla="val 50000"/>
                </a:avLst>
              </a:prstGeom>
              <a:solidFill>
                <a:schemeClr val="tx2">
                  <a:lumMod val="75000"/>
                  <a:lumOff val="25000"/>
                </a:schemeClr>
              </a:solidFill>
              <a:ln w="12700">
                <a:miter lim="400000"/>
              </a:ln>
            </p:spPr>
            <p:txBody>
              <a:bodyPr lIns="0" tIns="18283" rIns="0" bIns="0" anchor="ctr"/>
              <a:lstStyle/>
              <a:p>
                <a:pPr marL="0" marR="0" lvl="0" indent="0" algn="ctr" defTabSz="914400" rtl="0" eaLnBrk="1" fontAlgn="auto" latinLnBrk="0" hangingPunct="0">
                  <a:lnSpc>
                    <a:spcPct val="80000"/>
                  </a:lnSpc>
                  <a:spcBef>
                    <a:spcPts val="0"/>
                  </a:spcBef>
                  <a:spcAft>
                    <a:spcPts val="0"/>
                  </a:spcAft>
                  <a:buClrTx/>
                  <a:buSzTx/>
                  <a:buFontTx/>
                  <a:buNone/>
                  <a:tabLst/>
                  <a:defRPr/>
                </a:pPr>
                <a:r>
                  <a:rPr kumimoji="0" lang="en-US" sz="400" b="0" i="0" u="none" strike="noStrike" kern="0" cap="none" spc="0" normalizeH="0" baseline="0" noProof="0" dirty="0">
                    <a:ln>
                      <a:noFill/>
                    </a:ln>
                    <a:solidFill>
                      <a:srgbClr val="FFFFFF"/>
                    </a:solidFill>
                    <a:effectLst/>
                    <a:uLnTx/>
                    <a:uFillTx/>
                    <a:latin typeface="Arial" panose="020B0604020202020204"/>
                    <a:ea typeface="+mn-ea"/>
                    <a:cs typeface="+mn-cs"/>
                  </a:rPr>
                  <a:t>Control Plane</a:t>
                </a:r>
              </a:p>
            </p:txBody>
          </p:sp>
          <p:cxnSp>
            <p:nvCxnSpPr>
              <p:cNvPr id="97" name="Straight Connector 96">
                <a:extLst>
                  <a:ext uri="{FF2B5EF4-FFF2-40B4-BE49-F238E27FC236}">
                    <a16:creationId xmlns:a16="http://schemas.microsoft.com/office/drawing/2014/main" id="{430484C3-8077-2DBB-7E7E-793CA929DB89}"/>
                  </a:ext>
                </a:extLst>
              </p:cNvPr>
              <p:cNvCxnSpPr>
                <a:cxnSpLocks/>
              </p:cNvCxnSpPr>
              <p:nvPr/>
            </p:nvCxnSpPr>
            <p:spPr bwMode="gray">
              <a:xfrm>
                <a:off x="4186614" y="2313793"/>
                <a:ext cx="0" cy="240408"/>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0472DA7-5862-E38C-1145-DFE7582EB757}"/>
                  </a:ext>
                </a:extLst>
              </p:cNvPr>
              <p:cNvCxnSpPr>
                <a:cxnSpLocks/>
              </p:cNvCxnSpPr>
              <p:nvPr/>
            </p:nvCxnSpPr>
            <p:spPr bwMode="gray">
              <a:xfrm>
                <a:off x="3603836"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0469FA40-9EE4-3C82-02F4-2A79F7952ECD}"/>
                  </a:ext>
                </a:extLst>
              </p:cNvPr>
              <p:cNvCxnSpPr>
                <a:cxnSpLocks/>
              </p:cNvCxnSpPr>
              <p:nvPr/>
            </p:nvCxnSpPr>
            <p:spPr bwMode="gray">
              <a:xfrm>
                <a:off x="4769392"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B12CE0F-F6A5-4489-4A1B-0043687D55FD}"/>
                  </a:ext>
                </a:extLst>
              </p:cNvPr>
              <p:cNvCxnSpPr>
                <a:cxnSpLocks/>
              </p:cNvCxnSpPr>
              <p:nvPr/>
            </p:nvCxnSpPr>
            <p:spPr bwMode="gray">
              <a:xfrm>
                <a:off x="3599903" y="2431944"/>
                <a:ext cx="1172301" cy="0"/>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87" name="TextBox 86">
              <a:extLst>
                <a:ext uri="{FF2B5EF4-FFF2-40B4-BE49-F238E27FC236}">
                  <a16:creationId xmlns:a16="http://schemas.microsoft.com/office/drawing/2014/main" id="{E169BD9D-A177-92D2-E56C-21201FB4BCA6}"/>
                </a:ext>
              </a:extLst>
            </p:cNvPr>
            <p:cNvSpPr txBox="1"/>
            <p:nvPr/>
          </p:nvSpPr>
          <p:spPr>
            <a:xfrm>
              <a:off x="805150" y="2760707"/>
              <a:ext cx="1557833" cy="9233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panose="020B0604020202020204"/>
                  <a:ea typeface="+mn-ea"/>
                  <a:cs typeface="+mn-cs"/>
                </a:rPr>
                <a:t>Kubernetes Cluster</a:t>
              </a:r>
            </a:p>
          </p:txBody>
        </p:sp>
      </p:grpSp>
      <p:sp>
        <p:nvSpPr>
          <p:cNvPr id="101" name="Rectangle: Rounded Corners 82">
            <a:extLst>
              <a:ext uri="{FF2B5EF4-FFF2-40B4-BE49-F238E27FC236}">
                <a16:creationId xmlns:a16="http://schemas.microsoft.com/office/drawing/2014/main" id="{E94667C1-05ED-2CFF-BAD8-EF21A6AA8245}"/>
              </a:ext>
            </a:extLst>
          </p:cNvPr>
          <p:cNvSpPr/>
          <p:nvPr/>
        </p:nvSpPr>
        <p:spPr>
          <a:xfrm>
            <a:off x="4639685" y="2789600"/>
            <a:ext cx="2909453" cy="209646"/>
          </a:xfrm>
          <a:prstGeom prst="roundRect">
            <a:avLst/>
          </a:prstGeom>
          <a:solidFill>
            <a:schemeClr val="accent5"/>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vSphere Namespace</a:t>
            </a:r>
          </a:p>
        </p:txBody>
      </p:sp>
      <p:grpSp>
        <p:nvGrpSpPr>
          <p:cNvPr id="102" name="Group 101">
            <a:extLst>
              <a:ext uri="{FF2B5EF4-FFF2-40B4-BE49-F238E27FC236}">
                <a16:creationId xmlns:a16="http://schemas.microsoft.com/office/drawing/2014/main" id="{B666C874-8859-C171-FCC5-348B2BB4E4F6}"/>
              </a:ext>
            </a:extLst>
          </p:cNvPr>
          <p:cNvGrpSpPr>
            <a:grpSpLocks noChangeAspect="1"/>
          </p:cNvGrpSpPr>
          <p:nvPr/>
        </p:nvGrpSpPr>
        <p:grpSpPr>
          <a:xfrm>
            <a:off x="6059979" y="2195722"/>
            <a:ext cx="569796" cy="504000"/>
            <a:chOff x="9811195" y="1901693"/>
            <a:chExt cx="838270" cy="741471"/>
          </a:xfrm>
        </p:grpSpPr>
        <p:sp>
          <p:nvSpPr>
            <p:cNvPr id="103" name="Rectangle: Rounded Corners 121">
              <a:extLst>
                <a:ext uri="{FF2B5EF4-FFF2-40B4-BE49-F238E27FC236}">
                  <a16:creationId xmlns:a16="http://schemas.microsoft.com/office/drawing/2014/main" id="{FD7AD3BA-662C-17B5-BF55-6EB8E8A270DB}"/>
                </a:ext>
              </a:extLst>
            </p:cNvPr>
            <p:cNvSpPr/>
            <p:nvPr/>
          </p:nvSpPr>
          <p:spPr>
            <a:xfrm>
              <a:off x="9811195" y="1901693"/>
              <a:ext cx="838270" cy="741471"/>
            </a:xfrm>
            <a:prstGeom prst="roundRect">
              <a:avLst>
                <a:gd name="adj" fmla="val 7399"/>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54864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panose="020B0604020202020204"/>
                  <a:ea typeface="+mn-ea"/>
                  <a:cs typeface="+mn-cs"/>
                </a:rPr>
                <a:t>VM</a:t>
              </a:r>
            </a:p>
          </p:txBody>
        </p:sp>
        <p:grpSp>
          <p:nvGrpSpPr>
            <p:cNvPr id="104" name="Group 103">
              <a:extLst>
                <a:ext uri="{FF2B5EF4-FFF2-40B4-BE49-F238E27FC236}">
                  <a16:creationId xmlns:a16="http://schemas.microsoft.com/office/drawing/2014/main" id="{AC2EBE43-07BC-1263-C9D1-409D3CB2C2FE}"/>
                </a:ext>
                <a:ext uri="{C183D7F6-B498-43B3-948B-1728B52AA6E4}">
                  <adec:decorative xmlns:adec="http://schemas.microsoft.com/office/drawing/2017/decorative" val="1"/>
                </a:ext>
              </a:extLst>
            </p:cNvPr>
            <p:cNvGrpSpPr/>
            <p:nvPr/>
          </p:nvGrpSpPr>
          <p:grpSpPr>
            <a:xfrm>
              <a:off x="10081460" y="2055296"/>
              <a:ext cx="297739" cy="292247"/>
              <a:chOff x="1465490" y="3219301"/>
              <a:chExt cx="438300" cy="438301"/>
            </a:xfrm>
          </p:grpSpPr>
          <p:sp>
            <p:nvSpPr>
              <p:cNvPr id="105" name="Oval 104">
                <a:extLst>
                  <a:ext uri="{FF2B5EF4-FFF2-40B4-BE49-F238E27FC236}">
                    <a16:creationId xmlns:a16="http://schemas.microsoft.com/office/drawing/2014/main" id="{397E5E43-7F62-45FC-7D68-03B9B6AF15C5}"/>
                  </a:ext>
                </a:extLst>
              </p:cNvPr>
              <p:cNvSpPr/>
              <p:nvPr/>
            </p:nvSpPr>
            <p:spPr>
              <a:xfrm>
                <a:off x="1465490" y="3219301"/>
                <a:ext cx="438300" cy="438301"/>
              </a:xfrm>
              <a:prstGeom prst="ellipse">
                <a:avLst/>
              </a:prstGeom>
              <a:no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106" name="Graphic 1">
                <a:extLst>
                  <a:ext uri="{FF2B5EF4-FFF2-40B4-BE49-F238E27FC236}">
                    <a16:creationId xmlns:a16="http://schemas.microsoft.com/office/drawing/2014/main" id="{D2DB7E18-1210-F597-E130-21BE4318E567}"/>
                  </a:ext>
                </a:extLst>
              </p:cNvPr>
              <p:cNvGrpSpPr/>
              <p:nvPr/>
            </p:nvGrpSpPr>
            <p:grpSpPr>
              <a:xfrm>
                <a:off x="1561461" y="3315270"/>
                <a:ext cx="245369" cy="245370"/>
                <a:chOff x="979296" y="1541158"/>
                <a:chExt cx="1054511" cy="1054515"/>
              </a:xfrm>
              <a:solidFill>
                <a:schemeClr val="tx2"/>
              </a:solidFill>
            </p:grpSpPr>
            <p:sp>
              <p:nvSpPr>
                <p:cNvPr id="107" name="Freeform: Shape 815">
                  <a:extLst>
                    <a:ext uri="{FF2B5EF4-FFF2-40B4-BE49-F238E27FC236}">
                      <a16:creationId xmlns:a16="http://schemas.microsoft.com/office/drawing/2014/main" id="{064AD62E-D2F9-6001-B514-6FF85C3E956C}"/>
                    </a:ext>
                  </a:extLst>
                </p:cNvPr>
                <p:cNvSpPr/>
                <p:nvPr/>
              </p:nvSpPr>
              <p:spPr>
                <a:xfrm>
                  <a:off x="979296" y="1541158"/>
                  <a:ext cx="1054511" cy="1054515"/>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08" name="Graphic 1">
                  <a:extLst>
                    <a:ext uri="{FF2B5EF4-FFF2-40B4-BE49-F238E27FC236}">
                      <a16:creationId xmlns:a16="http://schemas.microsoft.com/office/drawing/2014/main" id="{91C5086B-43DF-8BE0-16BB-B8E62ADC87EE}"/>
                    </a:ext>
                  </a:extLst>
                </p:cNvPr>
                <p:cNvGrpSpPr/>
                <p:nvPr/>
              </p:nvGrpSpPr>
              <p:grpSpPr>
                <a:xfrm>
                  <a:off x="1296246" y="2002748"/>
                  <a:ext cx="390297" cy="146863"/>
                  <a:chOff x="1296246" y="2002748"/>
                  <a:chExt cx="390297" cy="146863"/>
                </a:xfrm>
                <a:grpFill/>
              </p:grpSpPr>
              <p:sp>
                <p:nvSpPr>
                  <p:cNvPr id="109" name="Freeform: Shape 817">
                    <a:extLst>
                      <a:ext uri="{FF2B5EF4-FFF2-40B4-BE49-F238E27FC236}">
                        <a16:creationId xmlns:a16="http://schemas.microsoft.com/office/drawing/2014/main" id="{E396695B-B35C-CB5C-DCB4-BD6E7BE49087}"/>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0" name="Freeform: Shape 818">
                    <a:extLst>
                      <a:ext uri="{FF2B5EF4-FFF2-40B4-BE49-F238E27FC236}">
                        <a16:creationId xmlns:a16="http://schemas.microsoft.com/office/drawing/2014/main" id="{BC22F3EA-4390-5490-FE87-481620583F33}"/>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grpSp>
      <p:grpSp>
        <p:nvGrpSpPr>
          <p:cNvPr id="111" name="Group 110">
            <a:extLst>
              <a:ext uri="{FF2B5EF4-FFF2-40B4-BE49-F238E27FC236}">
                <a16:creationId xmlns:a16="http://schemas.microsoft.com/office/drawing/2014/main" id="{D2A9C632-3FFF-97CC-7493-C59A829D10AE}"/>
              </a:ext>
            </a:extLst>
          </p:cNvPr>
          <p:cNvGrpSpPr>
            <a:grpSpLocks noChangeAspect="1"/>
          </p:cNvGrpSpPr>
          <p:nvPr/>
        </p:nvGrpSpPr>
        <p:grpSpPr>
          <a:xfrm>
            <a:off x="4930690" y="1800184"/>
            <a:ext cx="1027166" cy="900000"/>
            <a:chOff x="805150" y="1625512"/>
            <a:chExt cx="1557833" cy="1364965"/>
          </a:xfrm>
        </p:grpSpPr>
        <p:sp>
          <p:nvSpPr>
            <p:cNvPr id="112" name="Rectangle: Rounded Corners 44">
              <a:extLst>
                <a:ext uri="{FF2B5EF4-FFF2-40B4-BE49-F238E27FC236}">
                  <a16:creationId xmlns:a16="http://schemas.microsoft.com/office/drawing/2014/main" id="{0D7A1A9A-EB71-8C9D-A6C7-80A8CD656A4E}"/>
                </a:ext>
              </a:extLst>
            </p:cNvPr>
            <p:cNvSpPr/>
            <p:nvPr/>
          </p:nvSpPr>
          <p:spPr>
            <a:xfrm>
              <a:off x="805150" y="1625512"/>
              <a:ext cx="1557833" cy="1364965"/>
            </a:xfrm>
            <a:prstGeom prst="roundRect">
              <a:avLst>
                <a:gd name="adj" fmla="val 3683"/>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grpSp>
          <p:nvGrpSpPr>
            <p:cNvPr id="113" name="Group 112">
              <a:extLst>
                <a:ext uri="{FF2B5EF4-FFF2-40B4-BE49-F238E27FC236}">
                  <a16:creationId xmlns:a16="http://schemas.microsoft.com/office/drawing/2014/main" id="{8F56A0A8-1029-0951-CF54-7C7E99C9813C}"/>
                </a:ext>
              </a:extLst>
            </p:cNvPr>
            <p:cNvGrpSpPr>
              <a:grpSpLocks noChangeAspect="1"/>
            </p:cNvGrpSpPr>
            <p:nvPr/>
          </p:nvGrpSpPr>
          <p:grpSpPr>
            <a:xfrm>
              <a:off x="987548" y="1738474"/>
              <a:ext cx="1174334" cy="972000"/>
              <a:chOff x="3325948" y="1424891"/>
              <a:chExt cx="1694347" cy="1402415"/>
            </a:xfrm>
          </p:grpSpPr>
          <p:sp>
            <p:nvSpPr>
              <p:cNvPr id="115" name="Rectangle 114">
                <a:extLst>
                  <a:ext uri="{FF2B5EF4-FFF2-40B4-BE49-F238E27FC236}">
                    <a16:creationId xmlns:a16="http://schemas.microsoft.com/office/drawing/2014/main" id="{D8FF185A-56F4-B15B-C120-C92C62360987}"/>
                  </a:ext>
                  <a:ext uri="{C183D7F6-B498-43B3-948B-1728B52AA6E4}">
                    <adec:decorative xmlns:adec="http://schemas.microsoft.com/office/drawing/2017/decorative" val="1"/>
                  </a:ext>
                </a:extLst>
              </p:cNvPr>
              <p:cNvSpPr/>
              <p:nvPr/>
            </p:nvSpPr>
            <p:spPr>
              <a:xfrm>
                <a:off x="4297641" y="1533016"/>
                <a:ext cx="528559"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16" name="Rectangle 115">
                <a:extLst>
                  <a:ext uri="{FF2B5EF4-FFF2-40B4-BE49-F238E27FC236}">
                    <a16:creationId xmlns:a16="http://schemas.microsoft.com/office/drawing/2014/main" id="{26B826C0-C0E1-1488-6C01-869426BD20F7}"/>
                  </a:ext>
                  <a:ext uri="{C183D7F6-B498-43B3-948B-1728B52AA6E4}">
                    <adec:decorative xmlns:adec="http://schemas.microsoft.com/office/drawing/2017/decorative" val="1"/>
                  </a:ext>
                </a:extLst>
              </p:cNvPr>
              <p:cNvSpPr/>
              <p:nvPr/>
            </p:nvSpPr>
            <p:spPr>
              <a:xfrm>
                <a:off x="4297642" y="2297981"/>
                <a:ext cx="474562"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117" name="Picture 116">
                <a:extLst>
                  <a:ext uri="{FF2B5EF4-FFF2-40B4-BE49-F238E27FC236}">
                    <a16:creationId xmlns:a16="http://schemas.microsoft.com/office/drawing/2014/main" id="{95CE8F11-3377-8D1D-44BC-55AF1E8B4D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03144" y="1496410"/>
                <a:ext cx="392596" cy="392595"/>
              </a:xfrm>
              <a:prstGeom prst="rect">
                <a:avLst/>
              </a:prstGeom>
            </p:spPr>
          </p:pic>
          <p:sp>
            <p:nvSpPr>
              <p:cNvPr id="118" name="TextBox 117">
                <a:extLst>
                  <a:ext uri="{FF2B5EF4-FFF2-40B4-BE49-F238E27FC236}">
                    <a16:creationId xmlns:a16="http://schemas.microsoft.com/office/drawing/2014/main" id="{A97E00E8-C3D7-BDD0-48A8-B5B4E52E805F}"/>
                  </a:ext>
                </a:extLst>
              </p:cNvPr>
              <p:cNvSpPr txBox="1"/>
              <p:nvPr/>
            </p:nvSpPr>
            <p:spPr>
              <a:xfrm>
                <a:off x="4000893" y="1665153"/>
                <a:ext cx="886800" cy="79932"/>
              </a:xfrm>
              <a:prstGeom prst="rect">
                <a:avLst/>
              </a:prstGeom>
            </p:spPr>
            <p:txBody>
              <a:bodyPr wrap="square" lIns="0" tIns="0" rIns="0" bIns="0" rtlCol="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336DE6"/>
                    </a:solidFill>
                    <a:effectLst/>
                    <a:uLnTx/>
                    <a:uFillTx/>
                    <a:latin typeface="Arial" panose="020B0604020202020204"/>
                    <a:ea typeface="+mn-ea"/>
                    <a:cs typeface="+mn-cs"/>
                  </a:rPr>
                  <a:t>Kubernetes Applications</a:t>
                </a:r>
              </a:p>
            </p:txBody>
          </p:sp>
          <p:sp>
            <p:nvSpPr>
              <p:cNvPr id="119" name="Rectangle 118">
                <a:extLst>
                  <a:ext uri="{FF2B5EF4-FFF2-40B4-BE49-F238E27FC236}">
                    <a16:creationId xmlns:a16="http://schemas.microsoft.com/office/drawing/2014/main" id="{1BDABC0F-0BB1-8E1D-9005-4614BD73CB11}"/>
                  </a:ext>
                </a:extLst>
              </p:cNvPr>
              <p:cNvSpPr/>
              <p:nvPr/>
            </p:nvSpPr>
            <p:spPr>
              <a:xfrm>
                <a:off x="3331847" y="1424891"/>
                <a:ext cx="1680883" cy="535632"/>
              </a:xfrm>
              <a:prstGeom prst="rect">
                <a:avLst/>
              </a:prstGeom>
              <a:ln w="10795">
                <a:solidFill>
                  <a:schemeClr val="accent2"/>
                </a:solidFill>
                <a:prstDash val="sysDot"/>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0" name="Rectangle: Rounded Corners 48">
                <a:extLst>
                  <a:ext uri="{FF2B5EF4-FFF2-40B4-BE49-F238E27FC236}">
                    <a16:creationId xmlns:a16="http://schemas.microsoft.com/office/drawing/2014/main" id="{673DCA0E-F0A5-84A8-195B-3FF895744D2F}"/>
                  </a:ext>
                </a:extLst>
              </p:cNvPr>
              <p:cNvSpPr/>
              <p:nvPr/>
            </p:nvSpPr>
            <p:spPr>
              <a:xfrm>
                <a:off x="3325948"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21" name="Rectangle: Rounded Corners 49">
                <a:extLst>
                  <a:ext uri="{FF2B5EF4-FFF2-40B4-BE49-F238E27FC236}">
                    <a16:creationId xmlns:a16="http://schemas.microsoft.com/office/drawing/2014/main" id="{33399105-E6C7-20BB-36DA-A9EF94FA9967}"/>
                  </a:ext>
                </a:extLst>
              </p:cNvPr>
              <p:cNvSpPr/>
              <p:nvPr/>
            </p:nvSpPr>
            <p:spPr>
              <a:xfrm>
                <a:off x="3912452"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22" name="Rectangle: Rounded Corners 50">
                <a:extLst>
                  <a:ext uri="{FF2B5EF4-FFF2-40B4-BE49-F238E27FC236}">
                    <a16:creationId xmlns:a16="http://schemas.microsoft.com/office/drawing/2014/main" id="{0673482B-D1FF-3110-4821-B7342C93A0AC}"/>
                  </a:ext>
                </a:extLst>
              </p:cNvPr>
              <p:cNvSpPr/>
              <p:nvPr/>
            </p:nvSpPr>
            <p:spPr>
              <a:xfrm>
                <a:off x="4498957" y="2547405"/>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23" name="Rectangle: Rounded Corners 51">
                <a:extLst>
                  <a:ext uri="{FF2B5EF4-FFF2-40B4-BE49-F238E27FC236}">
                    <a16:creationId xmlns:a16="http://schemas.microsoft.com/office/drawing/2014/main" id="{0999A77F-8813-ADE2-C439-BB9243979AC0}"/>
                  </a:ext>
                </a:extLst>
              </p:cNvPr>
              <p:cNvSpPr/>
              <p:nvPr/>
            </p:nvSpPr>
            <p:spPr>
              <a:xfrm>
                <a:off x="3325949" y="2040092"/>
                <a:ext cx="1694346" cy="285650"/>
              </a:xfrm>
              <a:prstGeom prst="roundRect">
                <a:avLst>
                  <a:gd name="adj" fmla="val 50000"/>
                </a:avLst>
              </a:prstGeom>
              <a:solidFill>
                <a:schemeClr val="tx2">
                  <a:lumMod val="75000"/>
                  <a:lumOff val="25000"/>
                </a:schemeClr>
              </a:solidFill>
              <a:ln w="12700">
                <a:miter lim="400000"/>
              </a:ln>
            </p:spPr>
            <p:txBody>
              <a:bodyPr lIns="0" tIns="18283" rIns="0" bIns="0" anchor="ctr"/>
              <a:lstStyle/>
              <a:p>
                <a:pPr marL="0" marR="0" lvl="0" indent="0" algn="ctr" defTabSz="914400" rtl="0" eaLnBrk="1" fontAlgn="auto" latinLnBrk="0" hangingPunct="0">
                  <a:lnSpc>
                    <a:spcPct val="80000"/>
                  </a:lnSpc>
                  <a:spcBef>
                    <a:spcPts val="0"/>
                  </a:spcBef>
                  <a:spcAft>
                    <a:spcPts val="0"/>
                  </a:spcAft>
                  <a:buClrTx/>
                  <a:buSzTx/>
                  <a:buFontTx/>
                  <a:buNone/>
                  <a:tabLst/>
                  <a:defRPr/>
                </a:pPr>
                <a:r>
                  <a:rPr kumimoji="0" lang="en-US" sz="400" b="0" i="0" u="none" strike="noStrike" kern="0" cap="none" spc="0" normalizeH="0" baseline="0" noProof="0" dirty="0">
                    <a:ln>
                      <a:noFill/>
                    </a:ln>
                    <a:solidFill>
                      <a:srgbClr val="FFFFFF"/>
                    </a:solidFill>
                    <a:effectLst/>
                    <a:uLnTx/>
                    <a:uFillTx/>
                    <a:latin typeface="Arial" panose="020B0604020202020204"/>
                    <a:ea typeface="+mn-ea"/>
                    <a:cs typeface="+mn-cs"/>
                  </a:rPr>
                  <a:t>Control Plane</a:t>
                </a:r>
              </a:p>
            </p:txBody>
          </p:sp>
          <p:cxnSp>
            <p:nvCxnSpPr>
              <p:cNvPr id="124" name="Straight Connector 123">
                <a:extLst>
                  <a:ext uri="{FF2B5EF4-FFF2-40B4-BE49-F238E27FC236}">
                    <a16:creationId xmlns:a16="http://schemas.microsoft.com/office/drawing/2014/main" id="{1CEA164F-1EE8-1F1A-5A53-92C14BFD58A0}"/>
                  </a:ext>
                </a:extLst>
              </p:cNvPr>
              <p:cNvCxnSpPr>
                <a:cxnSpLocks/>
              </p:cNvCxnSpPr>
              <p:nvPr/>
            </p:nvCxnSpPr>
            <p:spPr bwMode="gray">
              <a:xfrm>
                <a:off x="4186614" y="2313793"/>
                <a:ext cx="0" cy="240408"/>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F8AB851-36AC-E736-2E84-E539EDD16E9A}"/>
                  </a:ext>
                </a:extLst>
              </p:cNvPr>
              <p:cNvCxnSpPr>
                <a:cxnSpLocks/>
              </p:cNvCxnSpPr>
              <p:nvPr/>
            </p:nvCxnSpPr>
            <p:spPr bwMode="gray">
              <a:xfrm>
                <a:off x="3603836"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7D828FC-0258-104E-4170-D97C1F5900FE}"/>
                  </a:ext>
                </a:extLst>
              </p:cNvPr>
              <p:cNvCxnSpPr>
                <a:cxnSpLocks/>
              </p:cNvCxnSpPr>
              <p:nvPr/>
            </p:nvCxnSpPr>
            <p:spPr bwMode="gray">
              <a:xfrm>
                <a:off x="4769392"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305DDBD-5B5C-FFBE-EEA4-1DFC261C1300}"/>
                  </a:ext>
                </a:extLst>
              </p:cNvPr>
              <p:cNvCxnSpPr>
                <a:cxnSpLocks/>
              </p:cNvCxnSpPr>
              <p:nvPr/>
            </p:nvCxnSpPr>
            <p:spPr bwMode="gray">
              <a:xfrm>
                <a:off x="3599903" y="2431944"/>
                <a:ext cx="1172301" cy="0"/>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14" name="TextBox 113">
              <a:extLst>
                <a:ext uri="{FF2B5EF4-FFF2-40B4-BE49-F238E27FC236}">
                  <a16:creationId xmlns:a16="http://schemas.microsoft.com/office/drawing/2014/main" id="{C1F27383-7B22-5375-45F9-5A3D794AFA33}"/>
                </a:ext>
              </a:extLst>
            </p:cNvPr>
            <p:cNvSpPr txBox="1"/>
            <p:nvPr/>
          </p:nvSpPr>
          <p:spPr>
            <a:xfrm>
              <a:off x="805150" y="2760707"/>
              <a:ext cx="1557833" cy="9233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panose="020B0604020202020204"/>
                  <a:ea typeface="+mn-ea"/>
                  <a:cs typeface="+mn-cs"/>
                </a:rPr>
                <a:t>Kubernetes Cluster</a:t>
              </a:r>
            </a:p>
          </p:txBody>
        </p:sp>
      </p:grpSp>
      <p:sp>
        <p:nvSpPr>
          <p:cNvPr id="128" name="Rounded Rectangle 127">
            <a:extLst>
              <a:ext uri="{FF2B5EF4-FFF2-40B4-BE49-F238E27FC236}">
                <a16:creationId xmlns:a16="http://schemas.microsoft.com/office/drawing/2014/main" id="{9A3233DC-5009-C363-947E-70733AD5ADC2}"/>
              </a:ext>
            </a:extLst>
          </p:cNvPr>
          <p:cNvSpPr/>
          <p:nvPr/>
        </p:nvSpPr>
        <p:spPr bwMode="gray">
          <a:xfrm>
            <a:off x="1715485" y="5680234"/>
            <a:ext cx="1690182" cy="167219"/>
          </a:xfrm>
          <a:prstGeom prst="round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management zone</a:t>
            </a:r>
          </a:p>
        </p:txBody>
      </p:sp>
      <p:sp>
        <p:nvSpPr>
          <p:cNvPr id="129" name="Rounded Rectangle 128">
            <a:extLst>
              <a:ext uri="{FF2B5EF4-FFF2-40B4-BE49-F238E27FC236}">
                <a16:creationId xmlns:a16="http://schemas.microsoft.com/office/drawing/2014/main" id="{78B877C6-D108-375B-8256-5F8D1E47DD3D}"/>
              </a:ext>
            </a:extLst>
          </p:cNvPr>
          <p:cNvSpPr/>
          <p:nvPr/>
        </p:nvSpPr>
        <p:spPr bwMode="gray">
          <a:xfrm>
            <a:off x="5473419" y="5680234"/>
            <a:ext cx="1350802" cy="153612"/>
          </a:xfrm>
          <a:prstGeom prst="round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workload zone</a:t>
            </a:r>
          </a:p>
        </p:txBody>
      </p:sp>
      <p:cxnSp>
        <p:nvCxnSpPr>
          <p:cNvPr id="130" name="Straight Connector 129">
            <a:extLst>
              <a:ext uri="{FF2B5EF4-FFF2-40B4-BE49-F238E27FC236}">
                <a16:creationId xmlns:a16="http://schemas.microsoft.com/office/drawing/2014/main" id="{C4EC564B-B334-B3F1-3600-A8F161A1A4BC}"/>
              </a:ext>
            </a:extLst>
          </p:cNvPr>
          <p:cNvCxnSpPr/>
          <p:nvPr/>
        </p:nvCxnSpPr>
        <p:spPr bwMode="gray">
          <a:xfrm>
            <a:off x="656704" y="5689846"/>
            <a:ext cx="0" cy="167219"/>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28880A4-8C2B-2C6B-CE74-3E961C1E34D7}"/>
              </a:ext>
            </a:extLst>
          </p:cNvPr>
          <p:cNvCxnSpPr/>
          <p:nvPr/>
        </p:nvCxnSpPr>
        <p:spPr bwMode="gray">
          <a:xfrm>
            <a:off x="4475712" y="5703273"/>
            <a:ext cx="0" cy="167219"/>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E7D10F71-F90E-9FF5-E322-6952EB699091}"/>
              </a:ext>
            </a:extLst>
          </p:cNvPr>
          <p:cNvCxnSpPr/>
          <p:nvPr/>
        </p:nvCxnSpPr>
        <p:spPr bwMode="gray">
          <a:xfrm>
            <a:off x="4585686" y="5702866"/>
            <a:ext cx="0" cy="167219"/>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194E107E-063E-7066-1CA8-E8491E08AEA4}"/>
              </a:ext>
            </a:extLst>
          </p:cNvPr>
          <p:cNvCxnSpPr/>
          <p:nvPr/>
        </p:nvCxnSpPr>
        <p:spPr bwMode="gray">
          <a:xfrm>
            <a:off x="7651226" y="5689846"/>
            <a:ext cx="0" cy="167219"/>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34" name="Group 133">
            <a:extLst>
              <a:ext uri="{FF2B5EF4-FFF2-40B4-BE49-F238E27FC236}">
                <a16:creationId xmlns:a16="http://schemas.microsoft.com/office/drawing/2014/main" id="{71794457-6FC5-60A2-7C46-9E4379343701}"/>
              </a:ext>
            </a:extLst>
          </p:cNvPr>
          <p:cNvGrpSpPr>
            <a:grpSpLocks noChangeAspect="1"/>
          </p:cNvGrpSpPr>
          <p:nvPr/>
        </p:nvGrpSpPr>
        <p:grpSpPr>
          <a:xfrm>
            <a:off x="2184258" y="3314178"/>
            <a:ext cx="1027166" cy="900000"/>
            <a:chOff x="805150" y="1625512"/>
            <a:chExt cx="1557833" cy="1364965"/>
          </a:xfrm>
        </p:grpSpPr>
        <p:sp>
          <p:nvSpPr>
            <p:cNvPr id="135" name="Rectangle: Rounded Corners 44">
              <a:extLst>
                <a:ext uri="{FF2B5EF4-FFF2-40B4-BE49-F238E27FC236}">
                  <a16:creationId xmlns:a16="http://schemas.microsoft.com/office/drawing/2014/main" id="{6707EF79-BDA0-4F9B-BB71-8ACF1947AAF6}"/>
                </a:ext>
              </a:extLst>
            </p:cNvPr>
            <p:cNvSpPr/>
            <p:nvPr/>
          </p:nvSpPr>
          <p:spPr>
            <a:xfrm>
              <a:off x="805150" y="1625512"/>
              <a:ext cx="1557833" cy="1364965"/>
            </a:xfrm>
            <a:prstGeom prst="roundRect">
              <a:avLst>
                <a:gd name="adj" fmla="val 3683"/>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grpSp>
          <p:nvGrpSpPr>
            <p:cNvPr id="136" name="Group 135">
              <a:extLst>
                <a:ext uri="{FF2B5EF4-FFF2-40B4-BE49-F238E27FC236}">
                  <a16:creationId xmlns:a16="http://schemas.microsoft.com/office/drawing/2014/main" id="{C7ABCEB0-6962-33D0-8FE3-C543A62318FE}"/>
                </a:ext>
              </a:extLst>
            </p:cNvPr>
            <p:cNvGrpSpPr>
              <a:grpSpLocks noChangeAspect="1"/>
            </p:cNvGrpSpPr>
            <p:nvPr/>
          </p:nvGrpSpPr>
          <p:grpSpPr>
            <a:xfrm>
              <a:off x="987548" y="1738474"/>
              <a:ext cx="1174334" cy="972000"/>
              <a:chOff x="3325948" y="1424891"/>
              <a:chExt cx="1694347" cy="1402415"/>
            </a:xfrm>
          </p:grpSpPr>
          <p:sp>
            <p:nvSpPr>
              <p:cNvPr id="138" name="Rectangle 137">
                <a:extLst>
                  <a:ext uri="{FF2B5EF4-FFF2-40B4-BE49-F238E27FC236}">
                    <a16:creationId xmlns:a16="http://schemas.microsoft.com/office/drawing/2014/main" id="{68564659-4365-8969-0479-28D26839DD89}"/>
                  </a:ext>
                  <a:ext uri="{C183D7F6-B498-43B3-948B-1728B52AA6E4}">
                    <adec:decorative xmlns:adec="http://schemas.microsoft.com/office/drawing/2017/decorative" val="1"/>
                  </a:ext>
                </a:extLst>
              </p:cNvPr>
              <p:cNvSpPr/>
              <p:nvPr/>
            </p:nvSpPr>
            <p:spPr>
              <a:xfrm>
                <a:off x="4297641" y="1533016"/>
                <a:ext cx="528559"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39" name="Rectangle 138">
                <a:extLst>
                  <a:ext uri="{FF2B5EF4-FFF2-40B4-BE49-F238E27FC236}">
                    <a16:creationId xmlns:a16="http://schemas.microsoft.com/office/drawing/2014/main" id="{160FE407-4D55-D254-8C95-850D915B9DA9}"/>
                  </a:ext>
                  <a:ext uri="{C183D7F6-B498-43B3-948B-1728B52AA6E4}">
                    <adec:decorative xmlns:adec="http://schemas.microsoft.com/office/drawing/2017/decorative" val="1"/>
                  </a:ext>
                </a:extLst>
              </p:cNvPr>
              <p:cNvSpPr/>
              <p:nvPr/>
            </p:nvSpPr>
            <p:spPr>
              <a:xfrm>
                <a:off x="4297642" y="2297981"/>
                <a:ext cx="474562"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140" name="Picture 139">
                <a:extLst>
                  <a:ext uri="{FF2B5EF4-FFF2-40B4-BE49-F238E27FC236}">
                    <a16:creationId xmlns:a16="http://schemas.microsoft.com/office/drawing/2014/main" id="{725D5B5D-F4BE-B34F-3568-A183093C8C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03144" y="1496410"/>
                <a:ext cx="392596" cy="392595"/>
              </a:xfrm>
              <a:prstGeom prst="rect">
                <a:avLst/>
              </a:prstGeom>
            </p:spPr>
          </p:pic>
          <p:sp>
            <p:nvSpPr>
              <p:cNvPr id="141" name="TextBox 140">
                <a:extLst>
                  <a:ext uri="{FF2B5EF4-FFF2-40B4-BE49-F238E27FC236}">
                    <a16:creationId xmlns:a16="http://schemas.microsoft.com/office/drawing/2014/main" id="{2566E1D1-86E7-184F-35F7-74C1E297D6BD}"/>
                  </a:ext>
                </a:extLst>
              </p:cNvPr>
              <p:cNvSpPr txBox="1"/>
              <p:nvPr/>
            </p:nvSpPr>
            <p:spPr>
              <a:xfrm>
                <a:off x="4000893" y="1665153"/>
                <a:ext cx="886800" cy="79932"/>
              </a:xfrm>
              <a:prstGeom prst="rect">
                <a:avLst/>
              </a:prstGeom>
            </p:spPr>
            <p:txBody>
              <a:bodyPr wrap="square" lIns="0" tIns="0" rIns="0" bIns="0" rtlCol="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336DE6"/>
                    </a:solidFill>
                    <a:effectLst/>
                    <a:uLnTx/>
                    <a:uFillTx/>
                    <a:latin typeface="Arial" panose="020B0604020202020204"/>
                    <a:ea typeface="+mn-ea"/>
                    <a:cs typeface="+mn-cs"/>
                  </a:rPr>
                  <a:t>Kubernetes Applications</a:t>
                </a:r>
              </a:p>
            </p:txBody>
          </p:sp>
          <p:sp>
            <p:nvSpPr>
              <p:cNvPr id="142" name="Rectangle 141">
                <a:extLst>
                  <a:ext uri="{FF2B5EF4-FFF2-40B4-BE49-F238E27FC236}">
                    <a16:creationId xmlns:a16="http://schemas.microsoft.com/office/drawing/2014/main" id="{EE0D245E-2838-28A8-A736-050EF659653C}"/>
                  </a:ext>
                </a:extLst>
              </p:cNvPr>
              <p:cNvSpPr/>
              <p:nvPr/>
            </p:nvSpPr>
            <p:spPr>
              <a:xfrm>
                <a:off x="3331847" y="1424891"/>
                <a:ext cx="1680883" cy="535632"/>
              </a:xfrm>
              <a:prstGeom prst="rect">
                <a:avLst/>
              </a:prstGeom>
              <a:ln w="10795">
                <a:solidFill>
                  <a:schemeClr val="accent2"/>
                </a:solidFill>
                <a:prstDash val="sysDot"/>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43" name="Rectangle: Rounded Corners 48">
                <a:extLst>
                  <a:ext uri="{FF2B5EF4-FFF2-40B4-BE49-F238E27FC236}">
                    <a16:creationId xmlns:a16="http://schemas.microsoft.com/office/drawing/2014/main" id="{A195CE61-EB69-80F3-D7A7-FC927C70BFF0}"/>
                  </a:ext>
                </a:extLst>
              </p:cNvPr>
              <p:cNvSpPr/>
              <p:nvPr/>
            </p:nvSpPr>
            <p:spPr>
              <a:xfrm>
                <a:off x="3325948"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44" name="Rectangle: Rounded Corners 49">
                <a:extLst>
                  <a:ext uri="{FF2B5EF4-FFF2-40B4-BE49-F238E27FC236}">
                    <a16:creationId xmlns:a16="http://schemas.microsoft.com/office/drawing/2014/main" id="{E0605A30-413F-B6A6-E62A-11284C9FA0B6}"/>
                  </a:ext>
                </a:extLst>
              </p:cNvPr>
              <p:cNvSpPr/>
              <p:nvPr/>
            </p:nvSpPr>
            <p:spPr>
              <a:xfrm>
                <a:off x="3912452" y="2547406"/>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45" name="Rectangle: Rounded Corners 50">
                <a:extLst>
                  <a:ext uri="{FF2B5EF4-FFF2-40B4-BE49-F238E27FC236}">
                    <a16:creationId xmlns:a16="http://schemas.microsoft.com/office/drawing/2014/main" id="{AD541B95-35DA-A786-644C-185373B4E81C}"/>
                  </a:ext>
                </a:extLst>
              </p:cNvPr>
              <p:cNvSpPr/>
              <p:nvPr/>
            </p:nvSpPr>
            <p:spPr>
              <a:xfrm>
                <a:off x="4498957" y="2547405"/>
                <a:ext cx="521337" cy="279900"/>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46" name="Rectangle: Rounded Corners 51">
                <a:extLst>
                  <a:ext uri="{FF2B5EF4-FFF2-40B4-BE49-F238E27FC236}">
                    <a16:creationId xmlns:a16="http://schemas.microsoft.com/office/drawing/2014/main" id="{D8F4672B-1B19-5CF1-EFC0-82BA8B200BB0}"/>
                  </a:ext>
                </a:extLst>
              </p:cNvPr>
              <p:cNvSpPr/>
              <p:nvPr/>
            </p:nvSpPr>
            <p:spPr>
              <a:xfrm>
                <a:off x="3325949" y="2040092"/>
                <a:ext cx="1694346" cy="285650"/>
              </a:xfrm>
              <a:prstGeom prst="roundRect">
                <a:avLst>
                  <a:gd name="adj" fmla="val 50000"/>
                </a:avLst>
              </a:prstGeom>
              <a:solidFill>
                <a:schemeClr val="tx2">
                  <a:lumMod val="75000"/>
                  <a:lumOff val="25000"/>
                </a:schemeClr>
              </a:solidFill>
              <a:ln w="12700">
                <a:miter lim="400000"/>
              </a:ln>
            </p:spPr>
            <p:txBody>
              <a:bodyPr lIns="0" tIns="18283" rIns="0" bIns="0" anchor="ctr"/>
              <a:lstStyle/>
              <a:p>
                <a:pPr marL="0" marR="0" lvl="0" indent="0" algn="ctr" defTabSz="914400" rtl="0" eaLnBrk="1" fontAlgn="auto" latinLnBrk="0" hangingPunct="0">
                  <a:lnSpc>
                    <a:spcPct val="80000"/>
                  </a:lnSpc>
                  <a:spcBef>
                    <a:spcPts val="0"/>
                  </a:spcBef>
                  <a:spcAft>
                    <a:spcPts val="0"/>
                  </a:spcAft>
                  <a:buClrTx/>
                  <a:buSzTx/>
                  <a:buFontTx/>
                  <a:buNone/>
                  <a:tabLst/>
                  <a:defRPr/>
                </a:pPr>
                <a:r>
                  <a:rPr kumimoji="0" lang="en-US" sz="400" b="0" i="0" u="none" strike="noStrike" kern="0" cap="none" spc="0" normalizeH="0" baseline="0" noProof="0" dirty="0">
                    <a:ln>
                      <a:noFill/>
                    </a:ln>
                    <a:solidFill>
                      <a:srgbClr val="FFFFFF"/>
                    </a:solidFill>
                    <a:effectLst/>
                    <a:uLnTx/>
                    <a:uFillTx/>
                    <a:latin typeface="Arial" panose="020B0604020202020204"/>
                    <a:ea typeface="+mn-ea"/>
                    <a:cs typeface="+mn-cs"/>
                  </a:rPr>
                  <a:t>Control Plane</a:t>
                </a:r>
              </a:p>
            </p:txBody>
          </p:sp>
          <p:cxnSp>
            <p:nvCxnSpPr>
              <p:cNvPr id="147" name="Straight Connector 146">
                <a:extLst>
                  <a:ext uri="{FF2B5EF4-FFF2-40B4-BE49-F238E27FC236}">
                    <a16:creationId xmlns:a16="http://schemas.microsoft.com/office/drawing/2014/main" id="{0AAA2651-2283-B5B6-E85D-FFDB5D853771}"/>
                  </a:ext>
                </a:extLst>
              </p:cNvPr>
              <p:cNvCxnSpPr>
                <a:cxnSpLocks/>
              </p:cNvCxnSpPr>
              <p:nvPr/>
            </p:nvCxnSpPr>
            <p:spPr bwMode="gray">
              <a:xfrm>
                <a:off x="4186614" y="2313793"/>
                <a:ext cx="0" cy="240408"/>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9B0D28F8-9E74-845C-AB24-4A27EC46FA43}"/>
                  </a:ext>
                </a:extLst>
              </p:cNvPr>
              <p:cNvCxnSpPr>
                <a:cxnSpLocks/>
              </p:cNvCxnSpPr>
              <p:nvPr/>
            </p:nvCxnSpPr>
            <p:spPr bwMode="gray">
              <a:xfrm>
                <a:off x="3603836"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C88CD95A-A7A0-5199-8D8B-C4BB4CB9FBBD}"/>
                  </a:ext>
                </a:extLst>
              </p:cNvPr>
              <p:cNvCxnSpPr>
                <a:cxnSpLocks/>
              </p:cNvCxnSpPr>
              <p:nvPr/>
            </p:nvCxnSpPr>
            <p:spPr bwMode="gray">
              <a:xfrm>
                <a:off x="4769392" y="2432789"/>
                <a:ext cx="0" cy="121412"/>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6CAD79AC-9F81-37A5-DB6F-7702F0AB9EC3}"/>
                  </a:ext>
                </a:extLst>
              </p:cNvPr>
              <p:cNvCxnSpPr>
                <a:cxnSpLocks/>
              </p:cNvCxnSpPr>
              <p:nvPr/>
            </p:nvCxnSpPr>
            <p:spPr bwMode="gray">
              <a:xfrm>
                <a:off x="3599903" y="2431944"/>
                <a:ext cx="1172301" cy="0"/>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37" name="TextBox 136">
              <a:extLst>
                <a:ext uri="{FF2B5EF4-FFF2-40B4-BE49-F238E27FC236}">
                  <a16:creationId xmlns:a16="http://schemas.microsoft.com/office/drawing/2014/main" id="{E0ACFE42-4182-B166-CA4E-AD0AB9B0AD52}"/>
                </a:ext>
              </a:extLst>
            </p:cNvPr>
            <p:cNvSpPr txBox="1"/>
            <p:nvPr/>
          </p:nvSpPr>
          <p:spPr>
            <a:xfrm>
              <a:off x="805150" y="2760707"/>
              <a:ext cx="1557833" cy="9233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panose="020B0604020202020204"/>
                  <a:ea typeface="+mn-ea"/>
                  <a:cs typeface="+mn-cs"/>
                </a:rPr>
                <a:t>Kubernetes Cluster</a:t>
              </a:r>
            </a:p>
          </p:txBody>
        </p:sp>
      </p:grpSp>
      <p:grpSp>
        <p:nvGrpSpPr>
          <p:cNvPr id="151" name="Group 150">
            <a:extLst>
              <a:ext uri="{FF2B5EF4-FFF2-40B4-BE49-F238E27FC236}">
                <a16:creationId xmlns:a16="http://schemas.microsoft.com/office/drawing/2014/main" id="{F3AF9A0A-42DB-5336-AF37-B1F52719E89B}"/>
              </a:ext>
            </a:extLst>
          </p:cNvPr>
          <p:cNvGrpSpPr>
            <a:grpSpLocks noChangeAspect="1"/>
          </p:cNvGrpSpPr>
          <p:nvPr/>
        </p:nvGrpSpPr>
        <p:grpSpPr>
          <a:xfrm>
            <a:off x="857113" y="3710095"/>
            <a:ext cx="569796" cy="504000"/>
            <a:chOff x="9811195" y="1901693"/>
            <a:chExt cx="838270" cy="741471"/>
          </a:xfrm>
        </p:grpSpPr>
        <p:sp>
          <p:nvSpPr>
            <p:cNvPr id="152" name="Rectangle: Rounded Corners 121">
              <a:extLst>
                <a:ext uri="{FF2B5EF4-FFF2-40B4-BE49-F238E27FC236}">
                  <a16:creationId xmlns:a16="http://schemas.microsoft.com/office/drawing/2014/main" id="{3F55CB32-E8A7-5056-7528-C2B9A39C15D3}"/>
                </a:ext>
              </a:extLst>
            </p:cNvPr>
            <p:cNvSpPr/>
            <p:nvPr/>
          </p:nvSpPr>
          <p:spPr>
            <a:xfrm>
              <a:off x="9811195" y="1901693"/>
              <a:ext cx="838270" cy="741471"/>
            </a:xfrm>
            <a:prstGeom prst="roundRect">
              <a:avLst>
                <a:gd name="adj" fmla="val 7399"/>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54864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panose="020B0604020202020204"/>
                  <a:ea typeface="+mn-ea"/>
                  <a:cs typeface="+mn-cs"/>
                </a:rPr>
                <a:t>VM</a:t>
              </a:r>
            </a:p>
          </p:txBody>
        </p:sp>
        <p:grpSp>
          <p:nvGrpSpPr>
            <p:cNvPr id="153" name="Group 152">
              <a:extLst>
                <a:ext uri="{FF2B5EF4-FFF2-40B4-BE49-F238E27FC236}">
                  <a16:creationId xmlns:a16="http://schemas.microsoft.com/office/drawing/2014/main" id="{27A25BC5-3F05-AB46-A82E-19AE1478477B}"/>
                </a:ext>
                <a:ext uri="{C183D7F6-B498-43B3-948B-1728B52AA6E4}">
                  <adec:decorative xmlns:adec="http://schemas.microsoft.com/office/drawing/2017/decorative" val="1"/>
                </a:ext>
              </a:extLst>
            </p:cNvPr>
            <p:cNvGrpSpPr/>
            <p:nvPr/>
          </p:nvGrpSpPr>
          <p:grpSpPr>
            <a:xfrm>
              <a:off x="10081460" y="2055296"/>
              <a:ext cx="297739" cy="292247"/>
              <a:chOff x="1465490" y="3219301"/>
              <a:chExt cx="438300" cy="438301"/>
            </a:xfrm>
          </p:grpSpPr>
          <p:sp>
            <p:nvSpPr>
              <p:cNvPr id="154" name="Oval 153">
                <a:extLst>
                  <a:ext uri="{FF2B5EF4-FFF2-40B4-BE49-F238E27FC236}">
                    <a16:creationId xmlns:a16="http://schemas.microsoft.com/office/drawing/2014/main" id="{25B92D57-3D93-ADA3-FE3D-7E04A85586C0}"/>
                  </a:ext>
                </a:extLst>
              </p:cNvPr>
              <p:cNvSpPr/>
              <p:nvPr/>
            </p:nvSpPr>
            <p:spPr>
              <a:xfrm>
                <a:off x="1465490" y="3219301"/>
                <a:ext cx="438300" cy="438301"/>
              </a:xfrm>
              <a:prstGeom prst="ellipse">
                <a:avLst/>
              </a:prstGeom>
              <a:no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155" name="Graphic 1">
                <a:extLst>
                  <a:ext uri="{FF2B5EF4-FFF2-40B4-BE49-F238E27FC236}">
                    <a16:creationId xmlns:a16="http://schemas.microsoft.com/office/drawing/2014/main" id="{F4AEEEFD-2E98-F7D2-1C16-DC17DA76918D}"/>
                  </a:ext>
                </a:extLst>
              </p:cNvPr>
              <p:cNvGrpSpPr/>
              <p:nvPr/>
            </p:nvGrpSpPr>
            <p:grpSpPr>
              <a:xfrm>
                <a:off x="1561461" y="3315270"/>
                <a:ext cx="245369" cy="245370"/>
                <a:chOff x="979296" y="1541158"/>
                <a:chExt cx="1054511" cy="1054515"/>
              </a:xfrm>
              <a:solidFill>
                <a:schemeClr val="tx2"/>
              </a:solidFill>
            </p:grpSpPr>
            <p:sp>
              <p:nvSpPr>
                <p:cNvPr id="156" name="Freeform: Shape 815">
                  <a:extLst>
                    <a:ext uri="{FF2B5EF4-FFF2-40B4-BE49-F238E27FC236}">
                      <a16:creationId xmlns:a16="http://schemas.microsoft.com/office/drawing/2014/main" id="{0181C622-4100-E0A3-A922-BB132A02AB85}"/>
                    </a:ext>
                  </a:extLst>
                </p:cNvPr>
                <p:cNvSpPr/>
                <p:nvPr/>
              </p:nvSpPr>
              <p:spPr>
                <a:xfrm>
                  <a:off x="979296" y="1541158"/>
                  <a:ext cx="1054511" cy="1054515"/>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57" name="Graphic 1">
                  <a:extLst>
                    <a:ext uri="{FF2B5EF4-FFF2-40B4-BE49-F238E27FC236}">
                      <a16:creationId xmlns:a16="http://schemas.microsoft.com/office/drawing/2014/main" id="{B04F0DE1-0168-BAC8-1D47-AC865F9E0335}"/>
                    </a:ext>
                  </a:extLst>
                </p:cNvPr>
                <p:cNvGrpSpPr/>
                <p:nvPr/>
              </p:nvGrpSpPr>
              <p:grpSpPr>
                <a:xfrm>
                  <a:off x="1296246" y="2002748"/>
                  <a:ext cx="390297" cy="146863"/>
                  <a:chOff x="1296246" y="2002748"/>
                  <a:chExt cx="390297" cy="146863"/>
                </a:xfrm>
                <a:grpFill/>
              </p:grpSpPr>
              <p:sp>
                <p:nvSpPr>
                  <p:cNvPr id="158" name="Freeform: Shape 817">
                    <a:extLst>
                      <a:ext uri="{FF2B5EF4-FFF2-40B4-BE49-F238E27FC236}">
                        <a16:creationId xmlns:a16="http://schemas.microsoft.com/office/drawing/2014/main" id="{FF20231D-DB53-0817-9224-03E9C9A6201D}"/>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9" name="Freeform: Shape 818">
                    <a:extLst>
                      <a:ext uri="{FF2B5EF4-FFF2-40B4-BE49-F238E27FC236}">
                        <a16:creationId xmlns:a16="http://schemas.microsoft.com/office/drawing/2014/main" id="{6C4DF10C-1F69-0D3E-B8E7-102F46D35035}"/>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grpSp>
      <p:sp>
        <p:nvSpPr>
          <p:cNvPr id="160" name="Rectangle: Rounded Corners 44">
            <a:extLst>
              <a:ext uri="{FF2B5EF4-FFF2-40B4-BE49-F238E27FC236}">
                <a16:creationId xmlns:a16="http://schemas.microsoft.com/office/drawing/2014/main" id="{09F6649A-8419-B166-1EAF-9CE7B1C67D80}"/>
              </a:ext>
            </a:extLst>
          </p:cNvPr>
          <p:cNvSpPr/>
          <p:nvPr/>
        </p:nvSpPr>
        <p:spPr>
          <a:xfrm>
            <a:off x="3308939" y="3314178"/>
            <a:ext cx="1027166" cy="900000"/>
          </a:xfrm>
          <a:prstGeom prst="roundRect">
            <a:avLst>
              <a:gd name="adj" fmla="val 3683"/>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137160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grpSp>
        <p:nvGrpSpPr>
          <p:cNvPr id="161" name="Group 160">
            <a:extLst>
              <a:ext uri="{FF2B5EF4-FFF2-40B4-BE49-F238E27FC236}">
                <a16:creationId xmlns:a16="http://schemas.microsoft.com/office/drawing/2014/main" id="{2E95D8DD-DB57-0572-3E6E-8F90837D0886}"/>
              </a:ext>
            </a:extLst>
          </p:cNvPr>
          <p:cNvGrpSpPr>
            <a:grpSpLocks noChangeAspect="1"/>
          </p:cNvGrpSpPr>
          <p:nvPr/>
        </p:nvGrpSpPr>
        <p:grpSpPr>
          <a:xfrm>
            <a:off x="3429204" y="3388660"/>
            <a:ext cx="774304" cy="1780778"/>
            <a:chOff x="3325948" y="651167"/>
            <a:chExt cx="1694347" cy="1780778"/>
          </a:xfrm>
        </p:grpSpPr>
        <p:sp>
          <p:nvSpPr>
            <p:cNvPr id="162" name="Rectangle 161">
              <a:extLst>
                <a:ext uri="{FF2B5EF4-FFF2-40B4-BE49-F238E27FC236}">
                  <a16:creationId xmlns:a16="http://schemas.microsoft.com/office/drawing/2014/main" id="{68BEC8FF-A45D-2B1C-D381-9194AC1FAF12}"/>
                </a:ext>
                <a:ext uri="{C183D7F6-B498-43B3-948B-1728B52AA6E4}">
                  <adec:decorative xmlns:adec="http://schemas.microsoft.com/office/drawing/2017/decorative" val="1"/>
                </a:ext>
              </a:extLst>
            </p:cNvPr>
            <p:cNvSpPr/>
            <p:nvPr/>
          </p:nvSpPr>
          <p:spPr>
            <a:xfrm>
              <a:off x="4297640" y="700580"/>
              <a:ext cx="528560" cy="2089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63" name="Rectangle 162">
              <a:extLst>
                <a:ext uri="{FF2B5EF4-FFF2-40B4-BE49-F238E27FC236}">
                  <a16:creationId xmlns:a16="http://schemas.microsoft.com/office/drawing/2014/main" id="{CE988057-0769-3ACD-9FC1-AE45C2DD2582}"/>
                </a:ext>
                <a:ext uri="{C183D7F6-B498-43B3-948B-1728B52AA6E4}">
                  <adec:decorative xmlns:adec="http://schemas.microsoft.com/office/drawing/2017/decorative" val="1"/>
                </a:ext>
              </a:extLst>
            </p:cNvPr>
            <p:cNvSpPr/>
            <p:nvPr/>
          </p:nvSpPr>
          <p:spPr>
            <a:xfrm>
              <a:off x="4297642" y="1050164"/>
              <a:ext cx="474561" cy="2089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164" name="Picture 163">
              <a:extLst>
                <a:ext uri="{FF2B5EF4-FFF2-40B4-BE49-F238E27FC236}">
                  <a16:creationId xmlns:a16="http://schemas.microsoft.com/office/drawing/2014/main" id="{75D9D8FF-7BC4-2A0F-1203-D7DB1688D2E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03143" y="683851"/>
              <a:ext cx="392595" cy="179414"/>
            </a:xfrm>
            <a:prstGeom prst="rect">
              <a:avLst/>
            </a:prstGeom>
          </p:spPr>
        </p:pic>
        <p:sp>
          <p:nvSpPr>
            <p:cNvPr id="165" name="TextBox 164">
              <a:extLst>
                <a:ext uri="{FF2B5EF4-FFF2-40B4-BE49-F238E27FC236}">
                  <a16:creationId xmlns:a16="http://schemas.microsoft.com/office/drawing/2014/main" id="{AF4BB57B-6A5F-DF90-5F9E-A5A8075BF861}"/>
                </a:ext>
              </a:extLst>
            </p:cNvPr>
            <p:cNvSpPr txBox="1"/>
            <p:nvPr/>
          </p:nvSpPr>
          <p:spPr>
            <a:xfrm>
              <a:off x="4000893" y="760965"/>
              <a:ext cx="886800" cy="36528"/>
            </a:xfrm>
            <a:prstGeom prst="rect">
              <a:avLst/>
            </a:prstGeom>
          </p:spPr>
          <p:txBody>
            <a:bodyPr wrap="square" lIns="0" tIns="0" rIns="0" bIns="0" rtlCol="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336DE6"/>
                  </a:solidFill>
                  <a:effectLst/>
                  <a:uLnTx/>
                  <a:uFillTx/>
                  <a:latin typeface="Arial" panose="020B0604020202020204"/>
                  <a:ea typeface="+mn-ea"/>
                  <a:cs typeface="+mn-cs"/>
                </a:rPr>
                <a:t>Kubernetes Applications</a:t>
              </a:r>
            </a:p>
          </p:txBody>
        </p:sp>
        <p:sp>
          <p:nvSpPr>
            <p:cNvPr id="166" name="Rectangle 165">
              <a:extLst>
                <a:ext uri="{FF2B5EF4-FFF2-40B4-BE49-F238E27FC236}">
                  <a16:creationId xmlns:a16="http://schemas.microsoft.com/office/drawing/2014/main" id="{446C6522-5594-24F7-49CB-EC71CCAF750D}"/>
                </a:ext>
              </a:extLst>
            </p:cNvPr>
            <p:cNvSpPr/>
            <p:nvPr/>
          </p:nvSpPr>
          <p:spPr>
            <a:xfrm>
              <a:off x="3331847" y="651167"/>
              <a:ext cx="1680883" cy="244781"/>
            </a:xfrm>
            <a:prstGeom prst="rect">
              <a:avLst/>
            </a:prstGeom>
            <a:ln w="10795">
              <a:solidFill>
                <a:schemeClr val="accent2"/>
              </a:solidFill>
              <a:prstDash val="sysDot"/>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67" name="Rectangle: Rounded Corners 48">
              <a:extLst>
                <a:ext uri="{FF2B5EF4-FFF2-40B4-BE49-F238E27FC236}">
                  <a16:creationId xmlns:a16="http://schemas.microsoft.com/office/drawing/2014/main" id="{A9BA076B-A12B-5938-F5A4-E89916143A58}"/>
                </a:ext>
              </a:extLst>
            </p:cNvPr>
            <p:cNvSpPr/>
            <p:nvPr/>
          </p:nvSpPr>
          <p:spPr>
            <a:xfrm>
              <a:off x="3325948" y="1164150"/>
              <a:ext cx="521337" cy="127913"/>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68" name="Rectangle: Rounded Corners 49">
              <a:extLst>
                <a:ext uri="{FF2B5EF4-FFF2-40B4-BE49-F238E27FC236}">
                  <a16:creationId xmlns:a16="http://schemas.microsoft.com/office/drawing/2014/main" id="{48659E57-F48C-B114-E0A9-C092A4E2F658}"/>
                </a:ext>
              </a:extLst>
            </p:cNvPr>
            <p:cNvSpPr/>
            <p:nvPr/>
          </p:nvSpPr>
          <p:spPr>
            <a:xfrm>
              <a:off x="3912452" y="1164150"/>
              <a:ext cx="521337" cy="127913"/>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69" name="Rectangle: Rounded Corners 50">
              <a:extLst>
                <a:ext uri="{FF2B5EF4-FFF2-40B4-BE49-F238E27FC236}">
                  <a16:creationId xmlns:a16="http://schemas.microsoft.com/office/drawing/2014/main" id="{C196989A-E776-149E-13D3-F595975C88C3}"/>
                </a:ext>
              </a:extLst>
            </p:cNvPr>
            <p:cNvSpPr/>
            <p:nvPr/>
          </p:nvSpPr>
          <p:spPr>
            <a:xfrm>
              <a:off x="4498956" y="1164150"/>
              <a:ext cx="521337" cy="127913"/>
            </a:xfrm>
            <a:prstGeom prst="roundRect">
              <a:avLst>
                <a:gd name="adj" fmla="val 50000"/>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7704" tIns="38852" rIns="77704" bIns="3885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400" b="0" i="0" u="none" strike="noStrike" kern="1200" cap="none" spc="0" normalizeH="0" baseline="0" noProof="0" dirty="0">
                  <a:ln>
                    <a:noFill/>
                  </a:ln>
                  <a:solidFill>
                    <a:srgbClr val="FFFFFF"/>
                  </a:solidFill>
                  <a:effectLst/>
                  <a:uLnTx/>
                  <a:uFillTx/>
                  <a:latin typeface="Arial" panose="020B0604020202020204"/>
                  <a:ea typeface="+mn-ea"/>
                  <a:cs typeface="+mn-cs"/>
                </a:rPr>
                <a:t>Node</a:t>
              </a:r>
            </a:p>
          </p:txBody>
        </p:sp>
        <p:sp>
          <p:nvSpPr>
            <p:cNvPr id="170" name="Rectangle: Rounded Corners 51">
              <a:extLst>
                <a:ext uri="{FF2B5EF4-FFF2-40B4-BE49-F238E27FC236}">
                  <a16:creationId xmlns:a16="http://schemas.microsoft.com/office/drawing/2014/main" id="{722F4B91-0284-635B-0C76-D54B213D0A86}"/>
                </a:ext>
              </a:extLst>
            </p:cNvPr>
            <p:cNvSpPr/>
            <p:nvPr/>
          </p:nvSpPr>
          <p:spPr>
            <a:xfrm>
              <a:off x="3325948" y="932310"/>
              <a:ext cx="1694347" cy="130540"/>
            </a:xfrm>
            <a:prstGeom prst="roundRect">
              <a:avLst>
                <a:gd name="adj" fmla="val 50000"/>
              </a:avLst>
            </a:prstGeom>
            <a:solidFill>
              <a:schemeClr val="tx2">
                <a:lumMod val="75000"/>
                <a:lumOff val="25000"/>
              </a:schemeClr>
            </a:solidFill>
            <a:ln w="12700">
              <a:miter lim="400000"/>
            </a:ln>
          </p:spPr>
          <p:txBody>
            <a:bodyPr lIns="0" tIns="18283" rIns="0" bIns="0" anchor="ctr"/>
            <a:lstStyle/>
            <a:p>
              <a:pPr marL="0" marR="0" lvl="0" indent="0" algn="ctr" defTabSz="914400" rtl="0" eaLnBrk="1" fontAlgn="auto" latinLnBrk="0" hangingPunct="0">
                <a:lnSpc>
                  <a:spcPct val="80000"/>
                </a:lnSpc>
                <a:spcBef>
                  <a:spcPts val="0"/>
                </a:spcBef>
                <a:spcAft>
                  <a:spcPts val="0"/>
                </a:spcAft>
                <a:buClrTx/>
                <a:buSzTx/>
                <a:buFontTx/>
                <a:buNone/>
                <a:tabLst/>
                <a:defRPr/>
              </a:pPr>
              <a:r>
                <a:rPr kumimoji="0" lang="en-US" sz="400" b="0" i="0" u="none" strike="noStrike" kern="0" cap="none" spc="0" normalizeH="0" baseline="0" noProof="0" dirty="0">
                  <a:ln>
                    <a:noFill/>
                  </a:ln>
                  <a:solidFill>
                    <a:srgbClr val="FFFFFF"/>
                  </a:solidFill>
                  <a:effectLst/>
                  <a:uLnTx/>
                  <a:uFillTx/>
                  <a:latin typeface="Arial" panose="020B0604020202020204"/>
                  <a:ea typeface="+mn-ea"/>
                  <a:cs typeface="+mn-cs"/>
                </a:rPr>
                <a:t>Control Plane</a:t>
              </a:r>
            </a:p>
          </p:txBody>
        </p:sp>
        <p:cxnSp>
          <p:nvCxnSpPr>
            <p:cNvPr id="171" name="Straight Connector 170">
              <a:extLst>
                <a:ext uri="{FF2B5EF4-FFF2-40B4-BE49-F238E27FC236}">
                  <a16:creationId xmlns:a16="http://schemas.microsoft.com/office/drawing/2014/main" id="{0FF9DD77-895B-CE21-7231-E3D5E3CD00CA}"/>
                </a:ext>
              </a:extLst>
            </p:cNvPr>
            <p:cNvCxnSpPr>
              <a:cxnSpLocks/>
            </p:cNvCxnSpPr>
            <p:nvPr/>
          </p:nvCxnSpPr>
          <p:spPr bwMode="gray">
            <a:xfrm>
              <a:off x="4186614" y="1057390"/>
              <a:ext cx="0" cy="109865"/>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CABC93D5-5681-3D01-1274-D0DE0B51BE3A}"/>
                </a:ext>
              </a:extLst>
            </p:cNvPr>
            <p:cNvCxnSpPr>
              <a:cxnSpLocks/>
            </p:cNvCxnSpPr>
            <p:nvPr/>
          </p:nvCxnSpPr>
          <p:spPr bwMode="gray">
            <a:xfrm>
              <a:off x="3603836" y="1111771"/>
              <a:ext cx="0" cy="55485"/>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92F72BB-37E2-7DF1-3EE1-040EC92DB39F}"/>
                </a:ext>
              </a:extLst>
            </p:cNvPr>
            <p:cNvCxnSpPr>
              <a:cxnSpLocks/>
            </p:cNvCxnSpPr>
            <p:nvPr/>
          </p:nvCxnSpPr>
          <p:spPr bwMode="gray">
            <a:xfrm>
              <a:off x="4769391" y="1111771"/>
              <a:ext cx="0" cy="55485"/>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CA3358D3-588C-DF4B-CBBD-5A7CC3498B31}"/>
                </a:ext>
              </a:extLst>
            </p:cNvPr>
            <p:cNvCxnSpPr>
              <a:cxnSpLocks/>
            </p:cNvCxnSpPr>
            <p:nvPr/>
          </p:nvCxnSpPr>
          <p:spPr bwMode="gray">
            <a:xfrm>
              <a:off x="3599902" y="2431945"/>
              <a:ext cx="1172301" cy="0"/>
            </a:xfrm>
            <a:prstGeom prst="line">
              <a:avLst/>
            </a:prstGeom>
            <a:ln w="10795">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75" name="TextBox 174">
            <a:extLst>
              <a:ext uri="{FF2B5EF4-FFF2-40B4-BE49-F238E27FC236}">
                <a16:creationId xmlns:a16="http://schemas.microsoft.com/office/drawing/2014/main" id="{69A88755-57D0-22F2-6381-5B0D298D25FE}"/>
              </a:ext>
            </a:extLst>
          </p:cNvPr>
          <p:cNvSpPr txBox="1"/>
          <p:nvPr/>
        </p:nvSpPr>
        <p:spPr>
          <a:xfrm>
            <a:off x="3308939" y="4062677"/>
            <a:ext cx="1027166" cy="6088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panose="020B0604020202020204"/>
                <a:ea typeface="+mn-ea"/>
                <a:cs typeface="+mn-cs"/>
              </a:rPr>
              <a:t>Kubernetes Cluster</a:t>
            </a:r>
          </a:p>
        </p:txBody>
      </p:sp>
      <p:grpSp>
        <p:nvGrpSpPr>
          <p:cNvPr id="176" name="Group 175">
            <a:extLst>
              <a:ext uri="{FF2B5EF4-FFF2-40B4-BE49-F238E27FC236}">
                <a16:creationId xmlns:a16="http://schemas.microsoft.com/office/drawing/2014/main" id="{1C60D425-E1E4-4DD5-D0A4-DC4D0901A96D}"/>
              </a:ext>
            </a:extLst>
          </p:cNvPr>
          <p:cNvGrpSpPr>
            <a:grpSpLocks noChangeAspect="1"/>
          </p:cNvGrpSpPr>
          <p:nvPr/>
        </p:nvGrpSpPr>
        <p:grpSpPr>
          <a:xfrm>
            <a:off x="1531317" y="3710095"/>
            <a:ext cx="569796" cy="504000"/>
            <a:chOff x="9811195" y="1901693"/>
            <a:chExt cx="838270" cy="741471"/>
          </a:xfrm>
        </p:grpSpPr>
        <p:sp>
          <p:nvSpPr>
            <p:cNvPr id="177" name="Rectangle: Rounded Corners 121">
              <a:extLst>
                <a:ext uri="{FF2B5EF4-FFF2-40B4-BE49-F238E27FC236}">
                  <a16:creationId xmlns:a16="http://schemas.microsoft.com/office/drawing/2014/main" id="{E1B21658-D313-1688-9D8F-F9977DAB9F76}"/>
                </a:ext>
              </a:extLst>
            </p:cNvPr>
            <p:cNvSpPr/>
            <p:nvPr/>
          </p:nvSpPr>
          <p:spPr>
            <a:xfrm>
              <a:off x="9811195" y="1901693"/>
              <a:ext cx="838270" cy="741471"/>
            </a:xfrm>
            <a:prstGeom prst="roundRect">
              <a:avLst>
                <a:gd name="adj" fmla="val 7399"/>
              </a:avLst>
            </a:prstGeom>
            <a:solidFill>
              <a:schemeClr val="bg1"/>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548640" rIns="91416" bIns="2743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Arial" panose="020B0604020202020204"/>
                  <a:ea typeface="+mn-ea"/>
                  <a:cs typeface="+mn-cs"/>
                </a:rPr>
                <a:t>VM</a:t>
              </a:r>
            </a:p>
          </p:txBody>
        </p:sp>
        <p:grpSp>
          <p:nvGrpSpPr>
            <p:cNvPr id="178" name="Group 177">
              <a:extLst>
                <a:ext uri="{FF2B5EF4-FFF2-40B4-BE49-F238E27FC236}">
                  <a16:creationId xmlns:a16="http://schemas.microsoft.com/office/drawing/2014/main" id="{0C12112A-B5B8-4AF1-F295-B27A3986D8C3}"/>
                </a:ext>
                <a:ext uri="{C183D7F6-B498-43B3-948B-1728B52AA6E4}">
                  <adec:decorative xmlns:adec="http://schemas.microsoft.com/office/drawing/2017/decorative" val="1"/>
                </a:ext>
              </a:extLst>
            </p:cNvPr>
            <p:cNvGrpSpPr/>
            <p:nvPr/>
          </p:nvGrpSpPr>
          <p:grpSpPr>
            <a:xfrm>
              <a:off x="10081460" y="2055296"/>
              <a:ext cx="297739" cy="292247"/>
              <a:chOff x="1465490" y="3219301"/>
              <a:chExt cx="438300" cy="438301"/>
            </a:xfrm>
          </p:grpSpPr>
          <p:sp>
            <p:nvSpPr>
              <p:cNvPr id="179" name="Oval 178">
                <a:extLst>
                  <a:ext uri="{FF2B5EF4-FFF2-40B4-BE49-F238E27FC236}">
                    <a16:creationId xmlns:a16="http://schemas.microsoft.com/office/drawing/2014/main" id="{077B0BB0-214D-C907-E8B0-05638F5F256F}"/>
                  </a:ext>
                </a:extLst>
              </p:cNvPr>
              <p:cNvSpPr/>
              <p:nvPr/>
            </p:nvSpPr>
            <p:spPr>
              <a:xfrm>
                <a:off x="1465490" y="3219301"/>
                <a:ext cx="438300" cy="438301"/>
              </a:xfrm>
              <a:prstGeom prst="ellipse">
                <a:avLst/>
              </a:prstGeom>
              <a:noFill/>
              <a:ln w="9138">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7719" tIns="43860" rIns="87719" bIns="4386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180" name="Graphic 1">
                <a:extLst>
                  <a:ext uri="{FF2B5EF4-FFF2-40B4-BE49-F238E27FC236}">
                    <a16:creationId xmlns:a16="http://schemas.microsoft.com/office/drawing/2014/main" id="{6A7C4922-5AF9-3F49-2F0F-84000DACC6C3}"/>
                  </a:ext>
                </a:extLst>
              </p:cNvPr>
              <p:cNvGrpSpPr/>
              <p:nvPr/>
            </p:nvGrpSpPr>
            <p:grpSpPr>
              <a:xfrm>
                <a:off x="1561461" y="3315270"/>
                <a:ext cx="245369" cy="245370"/>
                <a:chOff x="979296" y="1541158"/>
                <a:chExt cx="1054511" cy="1054515"/>
              </a:xfrm>
              <a:solidFill>
                <a:schemeClr val="tx2"/>
              </a:solidFill>
            </p:grpSpPr>
            <p:sp>
              <p:nvSpPr>
                <p:cNvPr id="181" name="Freeform: Shape 815">
                  <a:extLst>
                    <a:ext uri="{FF2B5EF4-FFF2-40B4-BE49-F238E27FC236}">
                      <a16:creationId xmlns:a16="http://schemas.microsoft.com/office/drawing/2014/main" id="{29FB3311-118B-14E8-E9B1-732449EDD613}"/>
                    </a:ext>
                  </a:extLst>
                </p:cNvPr>
                <p:cNvSpPr/>
                <p:nvPr/>
              </p:nvSpPr>
              <p:spPr>
                <a:xfrm>
                  <a:off x="979296" y="1541158"/>
                  <a:ext cx="1054511" cy="1054515"/>
                </a:xfrm>
                <a:custGeom>
                  <a:avLst/>
                  <a:gdLst>
                    <a:gd name="connsiteX0" fmla="*/ 904147 w 1054510"/>
                    <a:gd name="connsiteY0" fmla="*/ 1054511 h 1054510"/>
                    <a:gd name="connsiteX1" fmla="*/ 0 w 1054510"/>
                    <a:gd name="connsiteY1" fmla="*/ 1054511 h 1054510"/>
                    <a:gd name="connsiteX2" fmla="*/ 0 w 1054510"/>
                    <a:gd name="connsiteY2" fmla="*/ 0 h 1054510"/>
                    <a:gd name="connsiteX3" fmla="*/ 1054511 w 1054510"/>
                    <a:gd name="connsiteY3" fmla="*/ 0 h 1054510"/>
                    <a:gd name="connsiteX4" fmla="*/ 1054511 w 1054510"/>
                    <a:gd name="connsiteY4" fmla="*/ 1045460 h 1054510"/>
                    <a:gd name="connsiteX5" fmla="*/ 1026760 w 1054510"/>
                    <a:gd name="connsiteY5" fmla="*/ 1045460 h 1054510"/>
                    <a:gd name="connsiteX6" fmla="*/ 1026760 w 1054510"/>
                    <a:gd name="connsiteY6" fmla="*/ 27750 h 1054510"/>
                    <a:gd name="connsiteX7" fmla="*/ 27750 w 1054510"/>
                    <a:gd name="connsiteY7" fmla="*/ 27750 h 1054510"/>
                    <a:gd name="connsiteX8" fmla="*/ 27750 w 1054510"/>
                    <a:gd name="connsiteY8" fmla="*/ 1026760 h 1054510"/>
                    <a:gd name="connsiteX9" fmla="*/ 904147 w 1054510"/>
                    <a:gd name="connsiteY9" fmla="*/ 1026760 h 10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10" h="1054510">
                      <a:moveTo>
                        <a:pt x="904147" y="1054511"/>
                      </a:moveTo>
                      <a:lnTo>
                        <a:pt x="0" y="1054511"/>
                      </a:lnTo>
                      <a:lnTo>
                        <a:pt x="0" y="0"/>
                      </a:lnTo>
                      <a:lnTo>
                        <a:pt x="1054511" y="0"/>
                      </a:lnTo>
                      <a:lnTo>
                        <a:pt x="1054511" y="1045460"/>
                      </a:lnTo>
                      <a:lnTo>
                        <a:pt x="1026760" y="1045460"/>
                      </a:lnTo>
                      <a:lnTo>
                        <a:pt x="1026760" y="27750"/>
                      </a:lnTo>
                      <a:lnTo>
                        <a:pt x="27750" y="27750"/>
                      </a:lnTo>
                      <a:lnTo>
                        <a:pt x="27750" y="1026760"/>
                      </a:lnTo>
                      <a:lnTo>
                        <a:pt x="904147" y="102676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82" name="Graphic 1">
                  <a:extLst>
                    <a:ext uri="{FF2B5EF4-FFF2-40B4-BE49-F238E27FC236}">
                      <a16:creationId xmlns:a16="http://schemas.microsoft.com/office/drawing/2014/main" id="{AAC68BA0-F8A4-C6C3-9C24-C2C92EAB50B4}"/>
                    </a:ext>
                  </a:extLst>
                </p:cNvPr>
                <p:cNvGrpSpPr/>
                <p:nvPr/>
              </p:nvGrpSpPr>
              <p:grpSpPr>
                <a:xfrm>
                  <a:off x="1296246" y="2002748"/>
                  <a:ext cx="390297" cy="146863"/>
                  <a:chOff x="1296246" y="2002748"/>
                  <a:chExt cx="390297" cy="146863"/>
                </a:xfrm>
                <a:grpFill/>
              </p:grpSpPr>
              <p:sp>
                <p:nvSpPr>
                  <p:cNvPr id="183" name="Freeform: Shape 817">
                    <a:extLst>
                      <a:ext uri="{FF2B5EF4-FFF2-40B4-BE49-F238E27FC236}">
                        <a16:creationId xmlns:a16="http://schemas.microsoft.com/office/drawing/2014/main" id="{08D7A73A-F6A8-001A-0824-12ADB127C791}"/>
                      </a:ext>
                    </a:extLst>
                  </p:cNvPr>
                  <p:cNvSpPr/>
                  <p:nvPr/>
                </p:nvSpPr>
                <p:spPr>
                  <a:xfrm>
                    <a:off x="1296246" y="2006164"/>
                    <a:ext cx="141227" cy="143447"/>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4" name="Freeform: Shape 818">
                    <a:extLst>
                      <a:ext uri="{FF2B5EF4-FFF2-40B4-BE49-F238E27FC236}">
                        <a16:creationId xmlns:a16="http://schemas.microsoft.com/office/drawing/2014/main" id="{6080D280-7D52-3BD6-7240-087E65A586E5}"/>
                      </a:ext>
                    </a:extLst>
                  </p:cNvPr>
                  <p:cNvSpPr/>
                  <p:nvPr/>
                </p:nvSpPr>
                <p:spPr>
                  <a:xfrm>
                    <a:off x="1480252" y="2002748"/>
                    <a:ext cx="206291" cy="146863"/>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grpSp>
      </p:grpSp>
      <p:grpSp>
        <p:nvGrpSpPr>
          <p:cNvPr id="186" name="Google Shape;3420;p8">
            <a:extLst>
              <a:ext uri="{FF2B5EF4-FFF2-40B4-BE49-F238E27FC236}">
                <a16:creationId xmlns:a16="http://schemas.microsoft.com/office/drawing/2014/main" id="{9CBE2B87-3B09-3E7E-46A2-01E9E69A24CB}"/>
              </a:ext>
            </a:extLst>
          </p:cNvPr>
          <p:cNvGrpSpPr>
            <a:grpSpLocks noChangeAspect="1"/>
          </p:cNvGrpSpPr>
          <p:nvPr/>
        </p:nvGrpSpPr>
        <p:grpSpPr>
          <a:xfrm>
            <a:off x="804022" y="4303374"/>
            <a:ext cx="185687" cy="180000"/>
            <a:chOff x="6844091" y="3272403"/>
            <a:chExt cx="600837" cy="600837"/>
          </a:xfrm>
        </p:grpSpPr>
        <p:grpSp>
          <p:nvGrpSpPr>
            <p:cNvPr id="187" name="Google Shape;3421;p8" descr="Router&#10;">
              <a:extLst>
                <a:ext uri="{FF2B5EF4-FFF2-40B4-BE49-F238E27FC236}">
                  <a16:creationId xmlns:a16="http://schemas.microsoft.com/office/drawing/2014/main" id="{C8706C59-FCEF-CEE4-B6DD-E4C61B747C19}"/>
                </a:ext>
              </a:extLst>
            </p:cNvPr>
            <p:cNvGrpSpPr/>
            <p:nvPr/>
          </p:nvGrpSpPr>
          <p:grpSpPr>
            <a:xfrm>
              <a:off x="6844091" y="3272403"/>
              <a:ext cx="600837" cy="600837"/>
              <a:chOff x="529959" y="1943518"/>
              <a:chExt cx="600837" cy="600837"/>
            </a:xfrm>
          </p:grpSpPr>
          <p:sp>
            <p:nvSpPr>
              <p:cNvPr id="190" name="Google Shape;3422;p8">
                <a:extLst>
                  <a:ext uri="{FF2B5EF4-FFF2-40B4-BE49-F238E27FC236}">
                    <a16:creationId xmlns:a16="http://schemas.microsoft.com/office/drawing/2014/main" id="{6F53B1B2-060B-BFAE-E443-B65A6E43FE90}"/>
                  </a:ext>
                </a:extLst>
              </p:cNvPr>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1" name="Google Shape;3423;p8">
                <a:extLst>
                  <a:ext uri="{FF2B5EF4-FFF2-40B4-BE49-F238E27FC236}">
                    <a16:creationId xmlns:a16="http://schemas.microsoft.com/office/drawing/2014/main" id="{15C7E371-FC06-72C3-7E43-E1BC6FC7A8AB}"/>
                  </a:ext>
                </a:extLst>
              </p:cNvPr>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2" name="Google Shape;3424;p8">
                <a:extLst>
                  <a:ext uri="{FF2B5EF4-FFF2-40B4-BE49-F238E27FC236}">
                    <a16:creationId xmlns:a16="http://schemas.microsoft.com/office/drawing/2014/main" id="{F6506520-CC23-C67B-BA8D-4D3B07659958}"/>
                  </a:ext>
                </a:extLst>
              </p:cNvPr>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88" name="Google Shape;3425;p8">
              <a:extLst>
                <a:ext uri="{FF2B5EF4-FFF2-40B4-BE49-F238E27FC236}">
                  <a16:creationId xmlns:a16="http://schemas.microsoft.com/office/drawing/2014/main" id="{B825660A-C540-AB51-3434-51AC0F142B3E}"/>
                </a:ext>
              </a:extLst>
            </p:cNvPr>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89" name="Google Shape;3426;p8">
              <a:extLst>
                <a:ext uri="{FF2B5EF4-FFF2-40B4-BE49-F238E27FC236}">
                  <a16:creationId xmlns:a16="http://schemas.microsoft.com/office/drawing/2014/main" id="{7FE7A3A5-EA03-A1E5-08FF-296BC9281FC8}"/>
                </a:ext>
              </a:extLst>
            </p:cNvPr>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93" name="Google Shape;3420;p8">
            <a:extLst>
              <a:ext uri="{FF2B5EF4-FFF2-40B4-BE49-F238E27FC236}">
                <a16:creationId xmlns:a16="http://schemas.microsoft.com/office/drawing/2014/main" id="{38BB4825-45F7-BF8B-68FD-F8BA3AA901C7}"/>
              </a:ext>
            </a:extLst>
          </p:cNvPr>
          <p:cNvGrpSpPr>
            <a:grpSpLocks noChangeAspect="1"/>
          </p:cNvGrpSpPr>
          <p:nvPr/>
        </p:nvGrpSpPr>
        <p:grpSpPr>
          <a:xfrm>
            <a:off x="4653963" y="2811372"/>
            <a:ext cx="185687" cy="180000"/>
            <a:chOff x="6844091" y="3272403"/>
            <a:chExt cx="600837" cy="600837"/>
          </a:xfrm>
        </p:grpSpPr>
        <p:grpSp>
          <p:nvGrpSpPr>
            <p:cNvPr id="194" name="Google Shape;3421;p8" descr="Router&#10;">
              <a:extLst>
                <a:ext uri="{FF2B5EF4-FFF2-40B4-BE49-F238E27FC236}">
                  <a16:creationId xmlns:a16="http://schemas.microsoft.com/office/drawing/2014/main" id="{42A7B6A5-9755-58D3-ED36-ED75DA49DD48}"/>
                </a:ext>
              </a:extLst>
            </p:cNvPr>
            <p:cNvGrpSpPr/>
            <p:nvPr/>
          </p:nvGrpSpPr>
          <p:grpSpPr>
            <a:xfrm>
              <a:off x="6844091" y="3272403"/>
              <a:ext cx="600837" cy="600837"/>
              <a:chOff x="529959" y="1943518"/>
              <a:chExt cx="600837" cy="600837"/>
            </a:xfrm>
          </p:grpSpPr>
          <p:sp>
            <p:nvSpPr>
              <p:cNvPr id="197" name="Google Shape;3422;p8">
                <a:extLst>
                  <a:ext uri="{FF2B5EF4-FFF2-40B4-BE49-F238E27FC236}">
                    <a16:creationId xmlns:a16="http://schemas.microsoft.com/office/drawing/2014/main" id="{BF012556-E4FA-95A1-1238-E8F5D36E0A83}"/>
                  </a:ext>
                </a:extLst>
              </p:cNvPr>
              <p:cNvSpPr/>
              <p:nvPr/>
            </p:nvSpPr>
            <p:spPr>
              <a:xfrm>
                <a:off x="529959" y="1943518"/>
                <a:ext cx="600837" cy="600837"/>
              </a:xfrm>
              <a:custGeom>
                <a:avLst/>
                <a:gdLst/>
                <a:ahLst/>
                <a:cxnLst/>
                <a:rect l="l" t="t" r="r" b="b"/>
                <a:pathLst>
                  <a:path w="600837" h="600837" extrusionOk="0">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8" name="Google Shape;3423;p8">
                <a:extLst>
                  <a:ext uri="{FF2B5EF4-FFF2-40B4-BE49-F238E27FC236}">
                    <a16:creationId xmlns:a16="http://schemas.microsoft.com/office/drawing/2014/main" id="{283166CA-E1B1-BE79-D410-AD306209A0FC}"/>
                  </a:ext>
                </a:extLst>
              </p:cNvPr>
              <p:cNvSpPr/>
              <p:nvPr/>
            </p:nvSpPr>
            <p:spPr>
              <a:xfrm rot="10800000">
                <a:off x="787811" y="2110873"/>
                <a:ext cx="85129" cy="126942"/>
              </a:xfrm>
              <a:custGeom>
                <a:avLst/>
                <a:gdLst/>
                <a:ahLst/>
                <a:cxnLst/>
                <a:rect l="l" t="t" r="r" b="b"/>
                <a:pathLst>
                  <a:path w="85129" h="189738" extrusionOk="0">
                    <a:moveTo>
                      <a:pt x="0" y="73745"/>
                    </a:moveTo>
                    <a:lnTo>
                      <a:pt x="26753" y="73745"/>
                    </a:lnTo>
                    <a:lnTo>
                      <a:pt x="26753" y="189738"/>
                    </a:lnTo>
                    <a:lnTo>
                      <a:pt x="58376" y="189738"/>
                    </a:lnTo>
                    <a:lnTo>
                      <a:pt x="58376" y="73745"/>
                    </a:lnTo>
                    <a:lnTo>
                      <a:pt x="85129" y="73745"/>
                    </a:lnTo>
                    <a:lnTo>
                      <a:pt x="42565" y="0"/>
                    </a:lnTo>
                    <a:lnTo>
                      <a:pt x="0" y="73745"/>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9" name="Google Shape;3424;p8">
                <a:extLst>
                  <a:ext uri="{FF2B5EF4-FFF2-40B4-BE49-F238E27FC236}">
                    <a16:creationId xmlns:a16="http://schemas.microsoft.com/office/drawing/2014/main" id="{1047DBF8-2A6C-A71E-C31E-8CDC167009E8}"/>
                  </a:ext>
                </a:extLst>
              </p:cNvPr>
              <p:cNvSpPr/>
              <p:nvPr/>
            </p:nvSpPr>
            <p:spPr>
              <a:xfrm rot="10800000">
                <a:off x="787812" y="2267093"/>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95" name="Google Shape;3425;p8">
              <a:extLst>
                <a:ext uri="{FF2B5EF4-FFF2-40B4-BE49-F238E27FC236}">
                  <a16:creationId xmlns:a16="http://schemas.microsoft.com/office/drawing/2014/main" id="{90947F64-861C-D3C3-EA36-71C9412456B2}"/>
                </a:ext>
              </a:extLst>
            </p:cNvPr>
            <p:cNvSpPr/>
            <p:nvPr/>
          </p:nvSpPr>
          <p:spPr>
            <a:xfrm rot="5400000">
              <a:off x="7023501" y="3521896"/>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6" name="Google Shape;3426;p8">
              <a:extLst>
                <a:ext uri="{FF2B5EF4-FFF2-40B4-BE49-F238E27FC236}">
                  <a16:creationId xmlns:a16="http://schemas.microsoft.com/office/drawing/2014/main" id="{4022C94B-3BE9-4848-6364-C0344A005DD0}"/>
                </a:ext>
              </a:extLst>
            </p:cNvPr>
            <p:cNvSpPr/>
            <p:nvPr/>
          </p:nvSpPr>
          <p:spPr>
            <a:xfrm rot="-5400000">
              <a:off x="7180245" y="3525854"/>
              <a:ext cx="85129" cy="114929"/>
            </a:xfrm>
            <a:custGeom>
              <a:avLst/>
              <a:gdLst/>
              <a:ahLst/>
              <a:cxnLst/>
              <a:rect l="l" t="t" r="r" b="b"/>
              <a:pathLst>
                <a:path w="85129" h="189738" extrusionOk="0">
                  <a:moveTo>
                    <a:pt x="58376" y="0"/>
                  </a:moveTo>
                  <a:lnTo>
                    <a:pt x="26753" y="0"/>
                  </a:lnTo>
                  <a:lnTo>
                    <a:pt x="26753" y="115993"/>
                  </a:lnTo>
                  <a:lnTo>
                    <a:pt x="0" y="115993"/>
                  </a:lnTo>
                  <a:lnTo>
                    <a:pt x="42565" y="189738"/>
                  </a:lnTo>
                  <a:lnTo>
                    <a:pt x="85129" y="115993"/>
                  </a:lnTo>
                  <a:lnTo>
                    <a:pt x="58376" y="115993"/>
                  </a:lnTo>
                  <a:lnTo>
                    <a:pt x="58376" y="0"/>
                  </a:ln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47554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B6A7E-088D-F37F-BA9A-A1116E638007}"/>
              </a:ext>
            </a:extLst>
          </p:cNvPr>
          <p:cNvSpPr>
            <a:spLocks noGrp="1"/>
          </p:cNvSpPr>
          <p:nvPr>
            <p:ph type="title"/>
          </p:nvPr>
        </p:nvSpPr>
        <p:spPr/>
        <p:txBody>
          <a:bodyPr/>
          <a:lstStyle/>
          <a:p>
            <a:r>
              <a:rPr lang="en-US" dirty="0"/>
              <a:t>Empower Platform Operators </a:t>
            </a:r>
          </a:p>
        </p:txBody>
      </p:sp>
      <p:sp>
        <p:nvSpPr>
          <p:cNvPr id="5" name="Subtitle 4">
            <a:extLst>
              <a:ext uri="{FF2B5EF4-FFF2-40B4-BE49-F238E27FC236}">
                <a16:creationId xmlns:a16="http://schemas.microsoft.com/office/drawing/2014/main" id="{A77D8095-BB88-90C1-2429-7E7183499B9F}"/>
              </a:ext>
            </a:extLst>
          </p:cNvPr>
          <p:cNvSpPr>
            <a:spLocks noGrp="1"/>
          </p:cNvSpPr>
          <p:nvPr>
            <p:ph type="subTitle" idx="10"/>
          </p:nvPr>
        </p:nvSpPr>
        <p:spPr/>
        <p:txBody>
          <a:bodyPr/>
          <a:lstStyle/>
          <a:p>
            <a:r>
              <a:rPr lang="en-US" dirty="0"/>
              <a:t>Introducing Supervisor Administrator Role in vCenter</a:t>
            </a:r>
          </a:p>
        </p:txBody>
      </p:sp>
      <p:sp>
        <p:nvSpPr>
          <p:cNvPr id="7" name="Text Placeholder 6">
            <a:extLst>
              <a:ext uri="{FF2B5EF4-FFF2-40B4-BE49-F238E27FC236}">
                <a16:creationId xmlns:a16="http://schemas.microsoft.com/office/drawing/2014/main" id="{42DB12A8-39CF-2E0B-5997-E19ECAA5956B}"/>
              </a:ext>
            </a:extLst>
          </p:cNvPr>
          <p:cNvSpPr>
            <a:spLocks noGrp="1"/>
          </p:cNvSpPr>
          <p:nvPr>
            <p:ph type="body" sz="quarter" idx="17"/>
          </p:nvPr>
        </p:nvSpPr>
        <p:spPr/>
        <p:txBody>
          <a:bodyPr/>
          <a:lstStyle/>
          <a:p>
            <a:r>
              <a:rPr lang="en-US" dirty="0"/>
              <a:t>Allows VI Admins to </a:t>
            </a:r>
            <a:r>
              <a:rPr lang="en-US" b="1" dirty="0"/>
              <a:t>delegate</a:t>
            </a:r>
            <a:r>
              <a:rPr lang="en-US" dirty="0"/>
              <a:t> Supervisor management tasks to </a:t>
            </a:r>
            <a:r>
              <a:rPr lang="en-US" b="1" dirty="0"/>
              <a:t>Platform Operators</a:t>
            </a:r>
          </a:p>
          <a:p>
            <a:r>
              <a:rPr lang="en-US" dirty="0"/>
              <a:t>Empower Platform Operators to manage and </a:t>
            </a:r>
            <a:r>
              <a:rPr lang="en-US" b="1" dirty="0"/>
              <a:t>update Supervisor </a:t>
            </a:r>
            <a:r>
              <a:rPr lang="en-US" dirty="0"/>
              <a:t>and</a:t>
            </a:r>
            <a:r>
              <a:rPr lang="en-US" b="1" dirty="0"/>
              <a:t> Supervisor Services</a:t>
            </a:r>
          </a:p>
          <a:p>
            <a:r>
              <a:rPr lang="en-US" dirty="0"/>
              <a:t>vCenter Permissions are unified to Supervisor through Kubernetes RBAC</a:t>
            </a:r>
          </a:p>
          <a:p>
            <a:r>
              <a:rPr lang="en-US" dirty="0"/>
              <a:t>Bridging the gap between vCenter and Supervisor permissions</a:t>
            </a:r>
          </a:p>
          <a:p>
            <a:endParaRPr lang="en-US" dirty="0"/>
          </a:p>
        </p:txBody>
      </p:sp>
      <p:sp>
        <p:nvSpPr>
          <p:cNvPr id="8" name="Rounded Rectangle 7">
            <a:extLst>
              <a:ext uri="{FF2B5EF4-FFF2-40B4-BE49-F238E27FC236}">
                <a16:creationId xmlns:a16="http://schemas.microsoft.com/office/drawing/2014/main" id="{49EE7BC7-F5A0-C464-5EDE-29C7B4760EF7}"/>
              </a:ext>
            </a:extLst>
          </p:cNvPr>
          <p:cNvSpPr/>
          <p:nvPr/>
        </p:nvSpPr>
        <p:spPr>
          <a:xfrm>
            <a:off x="253789" y="1592028"/>
            <a:ext cx="7778860" cy="4514652"/>
          </a:xfrm>
          <a:prstGeom prst="roundRect">
            <a:avLst/>
          </a:prstGeom>
          <a:gradFill>
            <a:gsLst>
              <a:gs pos="3000">
                <a:schemeClr val="bg2">
                  <a:lumMod val="90000"/>
                  <a:alpha val="35000"/>
                </a:schemeClr>
              </a:gs>
              <a:gs pos="100000">
                <a:schemeClr val="bg1">
                  <a:lumMod val="95000"/>
                  <a:alpha val="0"/>
                </a:schemeClr>
              </a:gs>
            </a:gsLst>
            <a:lin ang="5400012"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9" name="Google Shape;1562;p2">
            <a:extLst>
              <a:ext uri="{FF2B5EF4-FFF2-40B4-BE49-F238E27FC236}">
                <a16:creationId xmlns:a16="http://schemas.microsoft.com/office/drawing/2014/main" id="{B832A5FC-F9A8-D443-D936-563CF9C77C76}"/>
              </a:ext>
            </a:extLst>
          </p:cNvPr>
          <p:cNvSpPr>
            <a:spLocks/>
          </p:cNvSpPr>
          <p:nvPr/>
        </p:nvSpPr>
        <p:spPr>
          <a:xfrm>
            <a:off x="1384455" y="5149048"/>
            <a:ext cx="5669595" cy="589613"/>
          </a:xfrm>
          <a:prstGeom prst="roundRect">
            <a:avLst>
              <a:gd name="adj" fmla="val 8857"/>
            </a:avLst>
          </a:prstGeom>
          <a:gradFill>
            <a:gsLst>
              <a:gs pos="49000">
                <a:srgbClr val="37538A"/>
              </a:gs>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Supervisor</a:t>
            </a:r>
            <a:endParaRPr kumimoji="0" sz="1600" b="0"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10" name="Group 9">
            <a:extLst>
              <a:ext uri="{FF2B5EF4-FFF2-40B4-BE49-F238E27FC236}">
                <a16:creationId xmlns:a16="http://schemas.microsoft.com/office/drawing/2014/main" id="{954CE632-1657-59EB-B07B-67D31E6C5FA0}"/>
              </a:ext>
            </a:extLst>
          </p:cNvPr>
          <p:cNvGrpSpPr/>
          <p:nvPr/>
        </p:nvGrpSpPr>
        <p:grpSpPr>
          <a:xfrm>
            <a:off x="2618614" y="2030317"/>
            <a:ext cx="3712701" cy="845212"/>
            <a:chOff x="1374738" y="5211511"/>
            <a:chExt cx="3712701" cy="845212"/>
          </a:xfrm>
        </p:grpSpPr>
        <p:sp>
          <p:nvSpPr>
            <p:cNvPr id="11" name="Rounded Rectangle 10">
              <a:extLst>
                <a:ext uri="{FF2B5EF4-FFF2-40B4-BE49-F238E27FC236}">
                  <a16:creationId xmlns:a16="http://schemas.microsoft.com/office/drawing/2014/main" id="{5279188A-78A8-3D1F-4CE6-8BAA83C8830D}"/>
                </a:ext>
              </a:extLst>
            </p:cNvPr>
            <p:cNvSpPr/>
            <p:nvPr/>
          </p:nvSpPr>
          <p:spPr>
            <a:xfrm>
              <a:off x="1374738" y="5211511"/>
              <a:ext cx="1456451" cy="845212"/>
            </a:xfrm>
            <a:prstGeom prst="roundRect">
              <a:avLst>
                <a:gd name="adj" fmla="val 10000"/>
              </a:avLst>
            </a:prstGeom>
            <a:solidFill>
              <a:schemeClr val="bg1"/>
            </a:solidFill>
            <a:ln>
              <a:solidFill>
                <a:schemeClr val="accent5"/>
              </a:solidFill>
            </a:ln>
          </p:spPr>
          <p:style>
            <a:lnRef idx="2">
              <a:schemeClr val="dk1"/>
            </a:lnRef>
            <a:fillRef idx="1">
              <a:schemeClr val="lt1"/>
            </a:fillRef>
            <a:effectRef idx="0">
              <a:schemeClr val="dk1"/>
            </a:effectRef>
            <a:fontRef idx="minor">
              <a:schemeClr val="dk1">
                <a:hueOff val="0"/>
                <a:satOff val="0"/>
                <a:lumOff val="0"/>
                <a:alphaOff val="0"/>
              </a:schemeClr>
            </a:fontRef>
          </p:style>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vCenter</a:t>
              </a:r>
            </a:p>
          </p:txBody>
        </p:sp>
        <p:sp>
          <p:nvSpPr>
            <p:cNvPr id="12" name="Freeform: Shape 817">
              <a:extLst>
                <a:ext uri="{FF2B5EF4-FFF2-40B4-BE49-F238E27FC236}">
                  <a16:creationId xmlns:a16="http://schemas.microsoft.com/office/drawing/2014/main" id="{415B602D-19DD-410D-D537-41CC1028158D}"/>
                </a:ext>
              </a:extLst>
            </p:cNvPr>
            <p:cNvSpPr/>
            <p:nvPr/>
          </p:nvSpPr>
          <p:spPr>
            <a:xfrm>
              <a:off x="4412957" y="5791219"/>
              <a:ext cx="11161" cy="8234"/>
            </a:xfrm>
            <a:custGeom>
              <a:avLst/>
              <a:gdLst>
                <a:gd name="connsiteX0" fmla="*/ 0 w 141227"/>
                <a:gd name="connsiteY0" fmla="*/ 0 h 143447"/>
                <a:gd name="connsiteX1" fmla="*/ 23310 w 141227"/>
                <a:gd name="connsiteY1" fmla="*/ 0 h 143447"/>
                <a:gd name="connsiteX2" fmla="*/ 71041 w 141227"/>
                <a:gd name="connsiteY2" fmla="*/ 119027 h 143447"/>
                <a:gd name="connsiteX3" fmla="*/ 117917 w 141227"/>
                <a:gd name="connsiteY3" fmla="*/ 0 h 143447"/>
                <a:gd name="connsiteX4" fmla="*/ 141228 w 141227"/>
                <a:gd name="connsiteY4" fmla="*/ 0 h 143447"/>
                <a:gd name="connsiteX5" fmla="*/ 81031 w 141227"/>
                <a:gd name="connsiteY5" fmla="*/ 143448 h 143447"/>
                <a:gd name="connsiteX6" fmla="*/ 61051 w 141227"/>
                <a:gd name="connsiteY6" fmla="*/ 143448 h 143447"/>
                <a:gd name="connsiteX7" fmla="*/ 0 w 141227"/>
                <a:gd name="connsiteY7" fmla="*/ 0 h 14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227" h="143447">
                  <a:moveTo>
                    <a:pt x="0" y="0"/>
                  </a:moveTo>
                  <a:lnTo>
                    <a:pt x="23310" y="0"/>
                  </a:lnTo>
                  <a:lnTo>
                    <a:pt x="71041" y="119027"/>
                  </a:lnTo>
                  <a:lnTo>
                    <a:pt x="117917" y="0"/>
                  </a:lnTo>
                  <a:lnTo>
                    <a:pt x="141228" y="0"/>
                  </a:lnTo>
                  <a:lnTo>
                    <a:pt x="81031" y="143448"/>
                  </a:lnTo>
                  <a:lnTo>
                    <a:pt x="61051" y="143448"/>
                  </a:lnTo>
                  <a:lnTo>
                    <a:pt x="0" y="0"/>
                  </a:ln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Freeform: Shape 818">
              <a:extLst>
                <a:ext uri="{FF2B5EF4-FFF2-40B4-BE49-F238E27FC236}">
                  <a16:creationId xmlns:a16="http://schemas.microsoft.com/office/drawing/2014/main" id="{EBE309DC-922C-1FAE-17CA-A32DC2611020}"/>
                </a:ext>
              </a:extLst>
            </p:cNvPr>
            <p:cNvSpPr/>
            <p:nvPr/>
          </p:nvSpPr>
          <p:spPr>
            <a:xfrm>
              <a:off x="5071136" y="5791023"/>
              <a:ext cx="16303" cy="8430"/>
            </a:xfrm>
            <a:custGeom>
              <a:avLst/>
              <a:gdLst>
                <a:gd name="connsiteX0" fmla="*/ 206291 w 206291"/>
                <a:gd name="connsiteY0" fmla="*/ 55586 h 146863"/>
                <a:gd name="connsiteX1" fmla="*/ 206291 w 206291"/>
                <a:gd name="connsiteY1" fmla="*/ 146863 h 146863"/>
                <a:gd name="connsiteX2" fmla="*/ 185457 w 206291"/>
                <a:gd name="connsiteY2" fmla="*/ 146863 h 146863"/>
                <a:gd name="connsiteX3" fmla="*/ 185457 w 206291"/>
                <a:gd name="connsiteY3" fmla="*/ 58318 h 146863"/>
                <a:gd name="connsiteX4" fmla="*/ 152413 w 206291"/>
                <a:gd name="connsiteY4" fmla="*/ 18614 h 146863"/>
                <a:gd name="connsiteX5" fmla="*/ 113563 w 206291"/>
                <a:gd name="connsiteY5" fmla="*/ 55501 h 146863"/>
                <a:gd name="connsiteX6" fmla="*/ 113563 w 206291"/>
                <a:gd name="connsiteY6" fmla="*/ 146778 h 146863"/>
                <a:gd name="connsiteX7" fmla="*/ 92729 w 206291"/>
                <a:gd name="connsiteY7" fmla="*/ 146778 h 146863"/>
                <a:gd name="connsiteX8" fmla="*/ 92729 w 206291"/>
                <a:gd name="connsiteY8" fmla="*/ 58318 h 146863"/>
                <a:gd name="connsiteX9" fmla="*/ 59685 w 206291"/>
                <a:gd name="connsiteY9" fmla="*/ 18614 h 146863"/>
                <a:gd name="connsiteX10" fmla="*/ 20834 w 206291"/>
                <a:gd name="connsiteY10" fmla="*/ 55501 h 146863"/>
                <a:gd name="connsiteX11" fmla="*/ 20834 w 206291"/>
                <a:gd name="connsiteY11" fmla="*/ 146778 h 146863"/>
                <a:gd name="connsiteX12" fmla="*/ 0 w 206291"/>
                <a:gd name="connsiteY12" fmla="*/ 146778 h 146863"/>
                <a:gd name="connsiteX13" fmla="*/ 0 w 206291"/>
                <a:gd name="connsiteY13" fmla="*/ 3330 h 146863"/>
                <a:gd name="connsiteX14" fmla="*/ 20834 w 206291"/>
                <a:gd name="connsiteY14" fmla="*/ 3330 h 146863"/>
                <a:gd name="connsiteX15" fmla="*/ 20834 w 206291"/>
                <a:gd name="connsiteY15" fmla="*/ 24420 h 146863"/>
                <a:gd name="connsiteX16" fmla="*/ 62417 w 206291"/>
                <a:gd name="connsiteY16" fmla="*/ 0 h 146863"/>
                <a:gd name="connsiteX17" fmla="*/ 108781 w 206291"/>
                <a:gd name="connsiteY17" fmla="*/ 30483 h 146863"/>
                <a:gd name="connsiteX18" fmla="*/ 155145 w 206291"/>
                <a:gd name="connsiteY18" fmla="*/ 0 h 146863"/>
                <a:gd name="connsiteX19" fmla="*/ 206291 w 206291"/>
                <a:gd name="connsiteY19" fmla="*/ 55586 h 14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6291" h="146863">
                  <a:moveTo>
                    <a:pt x="206291" y="55586"/>
                  </a:moveTo>
                  <a:lnTo>
                    <a:pt x="206291" y="146863"/>
                  </a:lnTo>
                  <a:lnTo>
                    <a:pt x="185457" y="146863"/>
                  </a:lnTo>
                  <a:lnTo>
                    <a:pt x="185457" y="58318"/>
                  </a:lnTo>
                  <a:cubicBezTo>
                    <a:pt x="185457" y="35008"/>
                    <a:pt x="171881" y="18614"/>
                    <a:pt x="152413" y="18614"/>
                  </a:cubicBezTo>
                  <a:cubicBezTo>
                    <a:pt x="129701" y="18614"/>
                    <a:pt x="113563" y="33898"/>
                    <a:pt x="113563" y="55501"/>
                  </a:cubicBezTo>
                  <a:lnTo>
                    <a:pt x="113563" y="146778"/>
                  </a:lnTo>
                  <a:lnTo>
                    <a:pt x="92729" y="146778"/>
                  </a:lnTo>
                  <a:lnTo>
                    <a:pt x="92729" y="58318"/>
                  </a:lnTo>
                  <a:cubicBezTo>
                    <a:pt x="92729" y="35008"/>
                    <a:pt x="79152" y="18614"/>
                    <a:pt x="59685" y="18614"/>
                  </a:cubicBezTo>
                  <a:cubicBezTo>
                    <a:pt x="36972" y="18614"/>
                    <a:pt x="20834" y="33898"/>
                    <a:pt x="20834" y="55501"/>
                  </a:cubicBezTo>
                  <a:lnTo>
                    <a:pt x="20834" y="146778"/>
                  </a:lnTo>
                  <a:lnTo>
                    <a:pt x="0" y="146778"/>
                  </a:lnTo>
                  <a:lnTo>
                    <a:pt x="0" y="3330"/>
                  </a:lnTo>
                  <a:lnTo>
                    <a:pt x="20834" y="3330"/>
                  </a:lnTo>
                  <a:lnTo>
                    <a:pt x="20834" y="24420"/>
                  </a:lnTo>
                  <a:cubicBezTo>
                    <a:pt x="28006" y="9478"/>
                    <a:pt x="43547" y="0"/>
                    <a:pt x="62417" y="0"/>
                  </a:cubicBezTo>
                  <a:cubicBezTo>
                    <a:pt x="84019" y="0"/>
                    <a:pt x="101011" y="11954"/>
                    <a:pt x="108781" y="30483"/>
                  </a:cubicBezTo>
                  <a:cubicBezTo>
                    <a:pt x="114587" y="11869"/>
                    <a:pt x="133458" y="0"/>
                    <a:pt x="155145" y="0"/>
                  </a:cubicBezTo>
                  <a:cubicBezTo>
                    <a:pt x="185201" y="85"/>
                    <a:pt x="206291" y="23139"/>
                    <a:pt x="206291" y="55586"/>
                  </a:cubicBezTo>
                  <a:close/>
                </a:path>
              </a:pathLst>
            </a:custGeom>
            <a:solidFill>
              <a:schemeClr val="accent2"/>
            </a:solidFill>
            <a:ln w="8526" cap="flat">
              <a:noFill/>
              <a:prstDash val="solid"/>
              <a:miter/>
            </a:ln>
          </p:spPr>
          <p:txBody>
            <a:bodyPr lIns="87719" tIns="43860" rIns="87719" bIns="438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14" name="Group 13">
            <a:extLst>
              <a:ext uri="{FF2B5EF4-FFF2-40B4-BE49-F238E27FC236}">
                <a16:creationId xmlns:a16="http://schemas.microsoft.com/office/drawing/2014/main" id="{254AF13B-B77B-082A-359E-048CF230D2A1}"/>
              </a:ext>
            </a:extLst>
          </p:cNvPr>
          <p:cNvGrpSpPr/>
          <p:nvPr/>
        </p:nvGrpSpPr>
        <p:grpSpPr>
          <a:xfrm>
            <a:off x="579809" y="1818387"/>
            <a:ext cx="1050963" cy="1050430"/>
            <a:chOff x="1712228" y="3415926"/>
            <a:chExt cx="1050963" cy="1050430"/>
          </a:xfrm>
        </p:grpSpPr>
        <p:sp>
          <p:nvSpPr>
            <p:cNvPr id="15" name="Google Shape;1748;p87">
              <a:extLst>
                <a:ext uri="{FF2B5EF4-FFF2-40B4-BE49-F238E27FC236}">
                  <a16:creationId xmlns:a16="http://schemas.microsoft.com/office/drawing/2014/main" id="{E8977DBC-EC80-F4E0-14B3-4371A4A5E2C1}"/>
                </a:ext>
                <a:ext uri="{C183D7F6-B498-43B3-948B-1728B52AA6E4}">
                  <adec:decorative xmlns:adec="http://schemas.microsoft.com/office/drawing/2017/decorative" val="1"/>
                </a:ext>
              </a:extLst>
            </p:cNvPr>
            <p:cNvSpPr/>
            <p:nvPr/>
          </p:nvSpPr>
          <p:spPr>
            <a:xfrm>
              <a:off x="1712228" y="3415926"/>
              <a:ext cx="1050963" cy="1050430"/>
            </a:xfrm>
            <a:prstGeom prst="ellipse">
              <a:avLst/>
            </a:prstGeom>
            <a:solidFill>
              <a:schemeClr val="lt1"/>
            </a:solidFill>
            <a:ln w="23513" cap="flat" cmpd="sng">
              <a:solidFill>
                <a:schemeClr val="accent2"/>
              </a:solidFill>
              <a:prstDash val="solid"/>
              <a:round/>
              <a:headEnd type="none" w="sm" len="sm"/>
              <a:tailEnd type="none" w="sm" len="sm"/>
            </a:ln>
          </p:spPr>
          <p:txBody>
            <a:bodyPr spcFirstLastPara="1" wrap="square" lIns="84601" tIns="42289" rIns="84601" bIns="42289"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16" name="Google Shape;1756;p87">
              <a:extLst>
                <a:ext uri="{FF2B5EF4-FFF2-40B4-BE49-F238E27FC236}">
                  <a16:creationId xmlns:a16="http://schemas.microsoft.com/office/drawing/2014/main" id="{6B607BB0-E883-65AE-0464-807033CB5FAF}"/>
                </a:ext>
                <a:ext uri="{C183D7F6-B498-43B3-948B-1728B52AA6E4}">
                  <adec:decorative xmlns:adec="http://schemas.microsoft.com/office/drawing/2017/decorative" val="1"/>
                </a:ext>
              </a:extLst>
            </p:cNvPr>
            <p:cNvPicPr preferRelativeResize="0"/>
            <p:nvPr/>
          </p:nvPicPr>
          <p:blipFill rotWithShape="1">
            <a:blip r:embed="rId3">
              <a:alphaModFix/>
            </a:blip>
            <a:srcRect l="19945" t="-8777" r="-775" b="44246"/>
            <a:stretch/>
          </p:blipFill>
          <p:spPr>
            <a:xfrm>
              <a:off x="1719672" y="3417640"/>
              <a:ext cx="1036074" cy="1047000"/>
            </a:xfrm>
            <a:prstGeom prst="ellipse">
              <a:avLst/>
            </a:prstGeom>
            <a:noFill/>
            <a:ln>
              <a:noFill/>
            </a:ln>
            <a:effectLst/>
          </p:spPr>
        </p:pic>
      </p:grpSp>
      <p:sp>
        <p:nvSpPr>
          <p:cNvPr id="17" name="Triangle 16">
            <a:extLst>
              <a:ext uri="{FF2B5EF4-FFF2-40B4-BE49-F238E27FC236}">
                <a16:creationId xmlns:a16="http://schemas.microsoft.com/office/drawing/2014/main" id="{61799FBF-46A0-056F-FC38-3744BC9A6D8B}"/>
              </a:ext>
            </a:extLst>
          </p:cNvPr>
          <p:cNvSpPr/>
          <p:nvPr/>
        </p:nvSpPr>
        <p:spPr>
          <a:xfrm rot="10800000">
            <a:off x="2618614" y="3388983"/>
            <a:ext cx="1460284" cy="728089"/>
          </a:xfrm>
          <a:prstGeom prst="triangle">
            <a:avLst>
              <a:gd name="adj" fmla="val 50000"/>
            </a:avLst>
          </a:prstGeom>
          <a:solidFill>
            <a:schemeClr val="bg1">
              <a:alpha val="62930"/>
            </a:schemeClr>
          </a:solidFill>
          <a:ln w="19050">
            <a:solidFill>
              <a:schemeClr val="accent3"/>
            </a:solidFill>
            <a:prstDash val="dash"/>
          </a:ln>
          <a:effectLst>
            <a:outerShdw blurRad="50800" dist="50800" dir="5400000" algn="ctr" rotWithShape="0">
              <a:schemeClr val="accent1">
                <a:alpha val="38624"/>
              </a:scheme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47136680-86BE-A66E-DF44-C50F268DE51F}"/>
              </a:ext>
            </a:extLst>
          </p:cNvPr>
          <p:cNvSpPr txBox="1"/>
          <p:nvPr/>
        </p:nvSpPr>
        <p:spPr>
          <a:xfrm>
            <a:off x="4873912" y="1991040"/>
            <a:ext cx="2882199" cy="586314"/>
          </a:xfrm>
          <a:prstGeom prst="rect">
            <a:avLst/>
          </a:prstGeom>
          <a:noFill/>
        </p:spPr>
        <p:txBody>
          <a:bodyPr wrap="none" lIns="0" tIns="0" rIns="0" bIns="0"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D36"/>
                </a:solidFill>
                <a:effectLst/>
                <a:uLnTx/>
                <a:uFillTx/>
                <a:latin typeface="Arial" panose="020B0604020202020204"/>
                <a:ea typeface="+mn-ea"/>
                <a:cs typeface="+mn-cs"/>
              </a:rPr>
              <a:t>VC Role</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72B4D"/>
                </a:solidFill>
                <a:effectLst/>
                <a:uLnTx/>
                <a:uFillTx/>
                <a:latin typeface="Courier New" panose="02070309020205020404" pitchFamily="49" charset="0"/>
                <a:ea typeface="+mn-ea"/>
                <a:cs typeface="Courier New" panose="02070309020205020404" pitchFamily="49" charset="0"/>
              </a:rPr>
              <a:t>vmware-system:Namespaces.Manage</a:t>
            </a:r>
            <a:endParaRPr kumimoji="0" lang="en-US" sz="1200" b="0" i="0" u="none" strike="noStrike" kern="1200" cap="none" spc="0" normalizeH="0" baseline="0" noProof="0" dirty="0">
              <a:ln>
                <a:noFill/>
              </a:ln>
              <a:solidFill>
                <a:srgbClr val="1B1D36"/>
              </a:solidFill>
              <a:effectLst/>
              <a:uLnTx/>
              <a:uFillTx/>
              <a:latin typeface="Courier New" panose="02070309020205020404" pitchFamily="49" charset="0"/>
              <a:ea typeface="+mn-ea"/>
              <a:cs typeface="Courier New" panose="02070309020205020404" pitchFamily="49" charset="0"/>
            </a:endParaRPr>
          </a:p>
        </p:txBody>
      </p:sp>
      <p:cxnSp>
        <p:nvCxnSpPr>
          <p:cNvPr id="20" name="Straight Arrow Connector 19">
            <a:extLst>
              <a:ext uri="{FF2B5EF4-FFF2-40B4-BE49-F238E27FC236}">
                <a16:creationId xmlns:a16="http://schemas.microsoft.com/office/drawing/2014/main" id="{E8315BF9-085D-1CFE-4755-0D1D7B253E8E}"/>
              </a:ext>
            </a:extLst>
          </p:cNvPr>
          <p:cNvCxnSpPr>
            <a:cxnSpLocks/>
          </p:cNvCxnSpPr>
          <p:nvPr/>
        </p:nvCxnSpPr>
        <p:spPr bwMode="gray">
          <a:xfrm>
            <a:off x="6247382" y="2788716"/>
            <a:ext cx="0" cy="874946"/>
          </a:xfrm>
          <a:prstGeom prst="straightConnector1">
            <a:avLst/>
          </a:prstGeom>
          <a:ln w="2540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4378F23-6FA3-63D1-B56D-D65D2FBDB745}"/>
              </a:ext>
            </a:extLst>
          </p:cNvPr>
          <p:cNvSpPr txBox="1"/>
          <p:nvPr/>
        </p:nvSpPr>
        <p:spPr>
          <a:xfrm>
            <a:off x="4873912" y="3802923"/>
            <a:ext cx="2882199" cy="586314"/>
          </a:xfrm>
          <a:prstGeom prst="rect">
            <a:avLst/>
          </a:prstGeom>
          <a:noFill/>
        </p:spPr>
        <p:txBody>
          <a:bodyPr wrap="none" lIns="0" tIns="0" rIns="0" bIns="0"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D36"/>
                </a:solidFill>
                <a:effectLst/>
                <a:uLnTx/>
                <a:uFillTx/>
                <a:latin typeface="Arial" panose="020B0604020202020204"/>
                <a:ea typeface="+mn-ea"/>
                <a:cs typeface="+mn-cs"/>
              </a:rPr>
              <a:t>Kubernetes Role</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72B4D"/>
                </a:solidFill>
                <a:effectLst/>
                <a:uLnTx/>
                <a:uFillTx/>
                <a:latin typeface="Courier New" panose="02070309020205020404" pitchFamily="49" charset="0"/>
                <a:ea typeface="+mn-ea"/>
                <a:cs typeface="Courier New" panose="02070309020205020404" pitchFamily="49" charset="0"/>
              </a:rPr>
              <a:t>vmware-system:Namespaces.Manage</a:t>
            </a:r>
            <a:endParaRPr kumimoji="0" lang="en-US" sz="1200" b="0" i="0" u="none" strike="noStrike" kern="1200" cap="none" spc="0" normalizeH="0" baseline="0" noProof="0" dirty="0">
              <a:ln>
                <a:noFill/>
              </a:ln>
              <a:solidFill>
                <a:srgbClr val="1B1D36"/>
              </a:solidFill>
              <a:effectLst/>
              <a:uLnTx/>
              <a:uFillTx/>
              <a:latin typeface="Courier New" panose="02070309020205020404" pitchFamily="49" charset="0"/>
              <a:ea typeface="+mn-ea"/>
              <a:cs typeface="Courier New" panose="02070309020205020404" pitchFamily="49" charset="0"/>
            </a:endParaRPr>
          </a:p>
        </p:txBody>
      </p:sp>
      <p:sp>
        <p:nvSpPr>
          <p:cNvPr id="22" name="TextBox 21">
            <a:extLst>
              <a:ext uri="{FF2B5EF4-FFF2-40B4-BE49-F238E27FC236}">
                <a16:creationId xmlns:a16="http://schemas.microsoft.com/office/drawing/2014/main" id="{B500E23D-0354-16B0-BD7D-867F554DE44D}"/>
              </a:ext>
              <a:ext uri="{C183D7F6-B498-43B3-948B-1728B52AA6E4}">
                <adec:decorative xmlns:adec="http://schemas.microsoft.com/office/drawing/2017/decorative" val="1"/>
              </a:ext>
            </a:extLst>
          </p:cNvPr>
          <p:cNvSpPr txBox="1"/>
          <p:nvPr/>
        </p:nvSpPr>
        <p:spPr>
          <a:xfrm>
            <a:off x="467298" y="3009659"/>
            <a:ext cx="1240619" cy="534313"/>
          </a:xfrm>
          <a:prstGeom prst="rect">
            <a:avLst/>
          </a:prstGeom>
          <a:noFill/>
        </p:spPr>
        <p:txBody>
          <a:bodyPr wrap="square" lIns="0" tIns="0" rIns="0" bIns="0"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1B1D36"/>
                </a:solidFill>
                <a:effectLst/>
                <a:uLnTx/>
                <a:uFillTx/>
                <a:latin typeface="Arial" panose="020B0604020202020204"/>
                <a:ea typeface="+mn-ea"/>
                <a:cs typeface="+mn-cs"/>
              </a:rPr>
              <a:t>Supervisor</a:t>
            </a: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1B1D36"/>
                </a:solidFill>
                <a:effectLst/>
                <a:uLnTx/>
                <a:uFillTx/>
                <a:latin typeface="Arial" panose="020B0604020202020204"/>
                <a:ea typeface="+mn-ea"/>
                <a:cs typeface="+mn-cs"/>
              </a:rPr>
              <a:t>Administrator</a:t>
            </a:r>
            <a:endParaRPr kumimoji="0" lang="en-ES" sz="1400" b="0" i="0" u="none" strike="noStrike" kern="1200" cap="none" spc="0" normalizeH="0" baseline="0" noProof="0">
              <a:ln>
                <a:noFill/>
              </a:ln>
              <a:solidFill>
                <a:srgbClr val="1B1D36"/>
              </a:solidFill>
              <a:effectLst/>
              <a:uLnTx/>
              <a:uFillTx/>
              <a:latin typeface="Arial" panose="020B0604020202020204"/>
              <a:ea typeface="+mn-ea"/>
              <a:cs typeface="+mn-cs"/>
            </a:endParaRPr>
          </a:p>
        </p:txBody>
      </p:sp>
      <p:cxnSp>
        <p:nvCxnSpPr>
          <p:cNvPr id="23" name="Straight Arrow Connector 22">
            <a:extLst>
              <a:ext uri="{FF2B5EF4-FFF2-40B4-BE49-F238E27FC236}">
                <a16:creationId xmlns:a16="http://schemas.microsoft.com/office/drawing/2014/main" id="{1453773F-EE14-0EBA-3205-BB2C0B9660C4}"/>
              </a:ext>
            </a:extLst>
          </p:cNvPr>
          <p:cNvCxnSpPr>
            <a:cxnSpLocks/>
          </p:cNvCxnSpPr>
          <p:nvPr/>
        </p:nvCxnSpPr>
        <p:spPr bwMode="gray">
          <a:xfrm>
            <a:off x="1783538" y="2507309"/>
            <a:ext cx="679443" cy="0"/>
          </a:xfrm>
          <a:prstGeom prst="straightConnector1">
            <a:avLst/>
          </a:prstGeom>
          <a:ln w="2540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4" name="Google Shape;2839;p4">
            <a:extLst>
              <a:ext uri="{FF2B5EF4-FFF2-40B4-BE49-F238E27FC236}">
                <a16:creationId xmlns:a16="http://schemas.microsoft.com/office/drawing/2014/main" id="{98F4AB89-6DBE-FC0E-6542-6930B19F7688}"/>
              </a:ext>
            </a:extLst>
          </p:cNvPr>
          <p:cNvSpPr/>
          <p:nvPr/>
        </p:nvSpPr>
        <p:spPr>
          <a:xfrm>
            <a:off x="2618614" y="4549623"/>
            <a:ext cx="1456451" cy="462411"/>
          </a:xfrm>
          <a:prstGeom prst="roundRect">
            <a:avLst>
              <a:gd name="adj" fmla="val 16667"/>
            </a:avLst>
          </a:prstGeom>
          <a:solidFill>
            <a:schemeClr val="accent5"/>
          </a:solidFill>
          <a:ln>
            <a:noFill/>
          </a:ln>
        </p:spPr>
        <p:txBody>
          <a:bodyPr spcFirstLastPara="1" wrap="square" lIns="87700" tIns="43850" rIns="87700" bIns="438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a:t>
            </a:r>
            <a:b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Namespace</a:t>
            </a:r>
            <a:endParaRPr kumimoji="0" sz="36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2328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12"/>
        <p:cNvGrpSpPr/>
        <p:nvPr/>
      </p:nvGrpSpPr>
      <p:grpSpPr>
        <a:xfrm>
          <a:off x="0" y="0"/>
          <a:ext cx="0" cy="0"/>
          <a:chOff x="0" y="0"/>
          <a:chExt cx="0" cy="0"/>
        </a:xfrm>
      </p:grpSpPr>
      <p:sp>
        <p:nvSpPr>
          <p:cNvPr id="5113" name="Google Shape;5113;p24"/>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t>Update vSphere Supervisor independently</a:t>
            </a:r>
            <a:endParaRPr dirty="0"/>
          </a:p>
        </p:txBody>
      </p:sp>
      <p:sp>
        <p:nvSpPr>
          <p:cNvPr id="5114" name="Google Shape;5114;p24"/>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Delivering Asynchronous Supervisor Releases</a:t>
            </a:r>
            <a:endParaRPr dirty="0"/>
          </a:p>
        </p:txBody>
      </p:sp>
      <p:sp>
        <p:nvSpPr>
          <p:cNvPr id="5115" name="Google Shape;5115;p24"/>
          <p:cNvSpPr txBox="1">
            <a:spLocks noGrp="1"/>
          </p:cNvSpPr>
          <p:nvPr>
            <p:ph type="body" sz="quarter" idx="20"/>
          </p:nvPr>
        </p:nvSpPr>
        <p:spPr>
          <a:prstGeom prst="rect">
            <a:avLst/>
          </a:prstGeom>
          <a:solidFill>
            <a:srgbClr val="F4F8FA"/>
          </a:solidFill>
          <a:ln>
            <a:noFill/>
          </a:ln>
        </p:spPr>
        <p:txBody>
          <a:bodyPr spcFirstLastPara="1" wrap="square" lIns="274300" tIns="457200" rIns="457200" bIns="457200" anchor="t" anchorCtr="0">
            <a:noAutofit/>
          </a:bodyPr>
          <a:lstStyle/>
          <a:p>
            <a:pPr marL="0" lvl="0" indent="0" algn="l" rtl="0">
              <a:lnSpc>
                <a:spcPct val="100000"/>
              </a:lnSpc>
              <a:spcBef>
                <a:spcPts val="0"/>
              </a:spcBef>
              <a:spcAft>
                <a:spcPts val="0"/>
              </a:spcAft>
              <a:buSzPts val="1620"/>
              <a:buNone/>
            </a:pPr>
            <a:r>
              <a:rPr lang="en-US" sz="1600" dirty="0"/>
              <a:t>Update Supervisor control plane independently of vCenter</a:t>
            </a:r>
            <a:endParaRPr sz="1600" dirty="0"/>
          </a:p>
          <a:p>
            <a:pPr marL="0" lvl="0" indent="0" algn="l" rtl="0">
              <a:lnSpc>
                <a:spcPct val="100000"/>
              </a:lnSpc>
              <a:spcBef>
                <a:spcPts val="1200"/>
              </a:spcBef>
              <a:spcAft>
                <a:spcPts val="0"/>
              </a:spcAft>
              <a:buSzPts val="1620"/>
              <a:buNone/>
            </a:pPr>
            <a:r>
              <a:rPr lang="en-US" sz="1600" dirty="0"/>
              <a:t>Subscribe to Broadcom depot or manage an offline Content Library to deliver updates</a:t>
            </a:r>
            <a:endParaRPr sz="1600" dirty="0"/>
          </a:p>
          <a:p>
            <a:pPr marL="0" lvl="0" indent="0" algn="l" rtl="0">
              <a:lnSpc>
                <a:spcPct val="100000"/>
              </a:lnSpc>
              <a:spcBef>
                <a:spcPts val="1200"/>
              </a:spcBef>
              <a:spcAft>
                <a:spcPts val="0"/>
              </a:spcAft>
              <a:buSzPts val="1620"/>
              <a:buNone/>
            </a:pPr>
            <a:r>
              <a:rPr lang="en-US" sz="1600" b="1" dirty="0">
                <a:solidFill>
                  <a:schemeClr val="accent2"/>
                </a:solidFill>
              </a:rPr>
              <a:t>Faster delivery of Supervisor releases and new functionality</a:t>
            </a:r>
            <a:endParaRPr sz="1600" dirty="0"/>
          </a:p>
        </p:txBody>
      </p:sp>
      <p:grpSp>
        <p:nvGrpSpPr>
          <p:cNvPr id="5116" name="Google Shape;5116;p24"/>
          <p:cNvGrpSpPr/>
          <p:nvPr/>
        </p:nvGrpSpPr>
        <p:grpSpPr>
          <a:xfrm>
            <a:off x="775740" y="3774475"/>
            <a:ext cx="7215428" cy="728099"/>
            <a:chOff x="775740" y="3774475"/>
            <a:chExt cx="7029296" cy="728099"/>
          </a:xfrm>
        </p:grpSpPr>
        <p:grpSp>
          <p:nvGrpSpPr>
            <p:cNvPr id="5117" name="Google Shape;5117;p24"/>
            <p:cNvGrpSpPr/>
            <p:nvPr/>
          </p:nvGrpSpPr>
          <p:grpSpPr>
            <a:xfrm>
              <a:off x="775740" y="3774475"/>
              <a:ext cx="7029296" cy="728099"/>
              <a:chOff x="775740" y="3774475"/>
              <a:chExt cx="7029296" cy="728099"/>
            </a:xfrm>
          </p:grpSpPr>
          <p:sp>
            <p:nvSpPr>
              <p:cNvPr id="5118" name="Google Shape;5118;p24"/>
              <p:cNvSpPr/>
              <p:nvPr/>
            </p:nvSpPr>
            <p:spPr>
              <a:xfrm>
                <a:off x="775740" y="3774475"/>
                <a:ext cx="7029296" cy="728099"/>
              </a:xfrm>
              <a:prstGeom prst="roundRect">
                <a:avLst>
                  <a:gd name="adj" fmla="val 50000"/>
                </a:avLst>
              </a:prstGeom>
              <a:solidFill>
                <a:schemeClr val="lt1"/>
              </a:solidFill>
              <a:ln w="12700" cap="flat" cmpd="sng">
                <a:solidFill>
                  <a:schemeClr val="accent5"/>
                </a:solidFill>
                <a:prstDash val="dot"/>
                <a:round/>
                <a:headEnd type="none" w="sm" len="sm"/>
                <a:tailEnd type="none" w="sm" len="sm"/>
              </a:ln>
            </p:spPr>
            <p:txBody>
              <a:bodyPr spcFirstLastPara="1" wrap="square" lIns="91400" tIns="45700" rIns="91400"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5119" name="Google Shape;5119;p24"/>
              <p:cNvSpPr txBox="1"/>
              <p:nvPr/>
            </p:nvSpPr>
            <p:spPr>
              <a:xfrm>
                <a:off x="3016701" y="4051170"/>
                <a:ext cx="2567164" cy="290530"/>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Arial"/>
                    <a:cs typeface="Arial"/>
                    <a:sym typeface="Arial"/>
                  </a:rPr>
                  <a:t>Supervisor Control Plane</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grpSp>
          <p:nvGrpSpPr>
            <p:cNvPr id="5120" name="Google Shape;5120;p24"/>
            <p:cNvGrpSpPr/>
            <p:nvPr/>
          </p:nvGrpSpPr>
          <p:grpSpPr>
            <a:xfrm>
              <a:off x="793996" y="3795660"/>
              <a:ext cx="688080" cy="688080"/>
              <a:chOff x="3979139" y="1600203"/>
              <a:chExt cx="1237269" cy="1237269"/>
            </a:xfrm>
          </p:grpSpPr>
          <p:sp>
            <p:nvSpPr>
              <p:cNvPr id="5121" name="Google Shape;5121;p24"/>
              <p:cNvSpPr/>
              <p:nvPr/>
            </p:nvSpPr>
            <p:spPr>
              <a:xfrm>
                <a:off x="3979139" y="1600203"/>
                <a:ext cx="1237269" cy="1237269"/>
              </a:xfrm>
              <a:custGeom>
                <a:avLst/>
                <a:gdLst/>
                <a:ahLst/>
                <a:cxnLst/>
                <a:rect l="l" t="t" r="r" b="b"/>
                <a:pathLst>
                  <a:path w="1237269" h="1237269" extrusionOk="0">
                    <a:moveTo>
                      <a:pt x="619503" y="0"/>
                    </a:moveTo>
                    <a:cubicBezTo>
                      <a:pt x="960686" y="0"/>
                      <a:pt x="1237270" y="276584"/>
                      <a:pt x="1237270" y="617767"/>
                    </a:cubicBezTo>
                    <a:lnTo>
                      <a:pt x="1237270" y="619503"/>
                    </a:lnTo>
                    <a:cubicBezTo>
                      <a:pt x="1237270" y="960686"/>
                      <a:pt x="960686" y="1237270"/>
                      <a:pt x="619503" y="1237270"/>
                    </a:cubicBezTo>
                    <a:lnTo>
                      <a:pt x="617767" y="1237270"/>
                    </a:lnTo>
                    <a:cubicBezTo>
                      <a:pt x="276584" y="1237270"/>
                      <a:pt x="0" y="960686"/>
                      <a:pt x="0" y="619503"/>
                    </a:cubicBezTo>
                    <a:lnTo>
                      <a:pt x="0" y="617767"/>
                    </a:lnTo>
                    <a:cubicBezTo>
                      <a:pt x="0" y="276584"/>
                      <a:pt x="276584" y="0"/>
                      <a:pt x="6177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122" name="Google Shape;5122;p24"/>
              <p:cNvSpPr/>
              <p:nvPr/>
            </p:nvSpPr>
            <p:spPr>
              <a:xfrm>
                <a:off x="4208113" y="1830217"/>
                <a:ext cx="777585" cy="777240"/>
              </a:xfrm>
              <a:custGeom>
                <a:avLst/>
                <a:gdLst/>
                <a:ahLst/>
                <a:cxnLst/>
                <a:rect l="l" t="t" r="r" b="b"/>
                <a:pathLst>
                  <a:path w="1373429" h="1372819" extrusionOk="0">
                    <a:moveTo>
                      <a:pt x="1269187" y="1205789"/>
                    </a:moveTo>
                    <a:cubicBezTo>
                      <a:pt x="1234440" y="1205789"/>
                      <a:pt x="1206094" y="1234135"/>
                      <a:pt x="1206094" y="1268882"/>
                    </a:cubicBezTo>
                    <a:cubicBezTo>
                      <a:pt x="1206094" y="1303630"/>
                      <a:pt x="1234440" y="1331976"/>
                      <a:pt x="1269187" y="1331976"/>
                    </a:cubicBezTo>
                    <a:cubicBezTo>
                      <a:pt x="1303934" y="1331976"/>
                      <a:pt x="1332281" y="1303630"/>
                      <a:pt x="1332281" y="1268882"/>
                    </a:cubicBezTo>
                    <a:cubicBezTo>
                      <a:pt x="1332281" y="1234135"/>
                      <a:pt x="1303934" y="1205789"/>
                      <a:pt x="1269187" y="1205789"/>
                    </a:cubicBezTo>
                    <a:close/>
                    <a:moveTo>
                      <a:pt x="686714" y="1205789"/>
                    </a:moveTo>
                    <a:cubicBezTo>
                      <a:pt x="651967" y="1205789"/>
                      <a:pt x="623621" y="1234135"/>
                      <a:pt x="623621" y="1268882"/>
                    </a:cubicBezTo>
                    <a:cubicBezTo>
                      <a:pt x="623621" y="1303630"/>
                      <a:pt x="651967" y="1331976"/>
                      <a:pt x="686714" y="1331976"/>
                    </a:cubicBezTo>
                    <a:cubicBezTo>
                      <a:pt x="721462" y="1331976"/>
                      <a:pt x="749808" y="1303630"/>
                      <a:pt x="749808" y="1268882"/>
                    </a:cubicBezTo>
                    <a:cubicBezTo>
                      <a:pt x="749808" y="1234135"/>
                      <a:pt x="721462" y="1205789"/>
                      <a:pt x="686714" y="1205789"/>
                    </a:cubicBezTo>
                    <a:close/>
                    <a:moveTo>
                      <a:pt x="104242" y="1205789"/>
                    </a:moveTo>
                    <a:cubicBezTo>
                      <a:pt x="69494" y="1205789"/>
                      <a:pt x="41148" y="1234135"/>
                      <a:pt x="41148" y="1268882"/>
                    </a:cubicBezTo>
                    <a:cubicBezTo>
                      <a:pt x="41148" y="1303630"/>
                      <a:pt x="69494" y="1331976"/>
                      <a:pt x="104242" y="1331976"/>
                    </a:cubicBezTo>
                    <a:cubicBezTo>
                      <a:pt x="138989" y="1331976"/>
                      <a:pt x="167335" y="1303630"/>
                      <a:pt x="167335" y="1268882"/>
                    </a:cubicBezTo>
                    <a:cubicBezTo>
                      <a:pt x="167335" y="1234135"/>
                      <a:pt x="138989" y="1205789"/>
                      <a:pt x="104242" y="1205789"/>
                    </a:cubicBezTo>
                    <a:close/>
                    <a:moveTo>
                      <a:pt x="607466" y="647090"/>
                    </a:moveTo>
                    <a:lnTo>
                      <a:pt x="627887" y="693420"/>
                    </a:lnTo>
                    <a:lnTo>
                      <a:pt x="587044" y="693420"/>
                    </a:lnTo>
                    <a:close/>
                    <a:moveTo>
                      <a:pt x="693724" y="644042"/>
                    </a:moveTo>
                    <a:lnTo>
                      <a:pt x="717803" y="644042"/>
                    </a:lnTo>
                    <a:cubicBezTo>
                      <a:pt x="725118" y="644042"/>
                      <a:pt x="731214" y="645566"/>
                      <a:pt x="735482" y="648919"/>
                    </a:cubicBezTo>
                    <a:cubicBezTo>
                      <a:pt x="740054" y="652272"/>
                      <a:pt x="742187" y="656539"/>
                      <a:pt x="742187" y="662330"/>
                    </a:cubicBezTo>
                    <a:cubicBezTo>
                      <a:pt x="742187" y="668121"/>
                      <a:pt x="739749" y="672693"/>
                      <a:pt x="735482" y="676046"/>
                    </a:cubicBezTo>
                    <a:lnTo>
                      <a:pt x="735482" y="676351"/>
                    </a:lnTo>
                    <a:cubicBezTo>
                      <a:pt x="730910" y="679704"/>
                      <a:pt x="725118" y="681228"/>
                      <a:pt x="717803" y="681228"/>
                    </a:cubicBezTo>
                    <a:lnTo>
                      <a:pt x="693724" y="681228"/>
                    </a:lnTo>
                    <a:close/>
                    <a:moveTo>
                      <a:pt x="776629" y="630631"/>
                    </a:moveTo>
                    <a:lnTo>
                      <a:pt x="776629" y="726338"/>
                    </a:lnTo>
                    <a:lnTo>
                      <a:pt x="790041" y="726338"/>
                    </a:lnTo>
                    <a:lnTo>
                      <a:pt x="790041" y="630631"/>
                    </a:lnTo>
                    <a:close/>
                    <a:moveTo>
                      <a:pt x="679703" y="630631"/>
                    </a:moveTo>
                    <a:lnTo>
                      <a:pt x="679703" y="726338"/>
                    </a:lnTo>
                    <a:lnTo>
                      <a:pt x="693114" y="726338"/>
                    </a:lnTo>
                    <a:lnTo>
                      <a:pt x="693114" y="692810"/>
                    </a:lnTo>
                    <a:lnTo>
                      <a:pt x="719022" y="692810"/>
                    </a:lnTo>
                    <a:cubicBezTo>
                      <a:pt x="725423" y="692810"/>
                      <a:pt x="731519" y="691591"/>
                      <a:pt x="737005" y="688847"/>
                    </a:cubicBezTo>
                    <a:cubicBezTo>
                      <a:pt x="742187" y="686409"/>
                      <a:pt x="746759" y="682751"/>
                      <a:pt x="749807" y="677875"/>
                    </a:cubicBezTo>
                    <a:cubicBezTo>
                      <a:pt x="753160" y="672998"/>
                      <a:pt x="754684" y="667816"/>
                      <a:pt x="754684" y="661720"/>
                    </a:cubicBezTo>
                    <a:cubicBezTo>
                      <a:pt x="754684" y="655624"/>
                      <a:pt x="752855" y="650443"/>
                      <a:pt x="749807" y="645566"/>
                    </a:cubicBezTo>
                    <a:cubicBezTo>
                      <a:pt x="746759" y="640994"/>
                      <a:pt x="742492" y="637336"/>
                      <a:pt x="737005" y="634593"/>
                    </a:cubicBezTo>
                    <a:cubicBezTo>
                      <a:pt x="731519" y="631850"/>
                      <a:pt x="725423" y="630631"/>
                      <a:pt x="719022" y="630631"/>
                    </a:cubicBezTo>
                    <a:close/>
                    <a:moveTo>
                      <a:pt x="600150" y="630631"/>
                    </a:moveTo>
                    <a:lnTo>
                      <a:pt x="558697" y="726338"/>
                    </a:lnTo>
                    <a:lnTo>
                      <a:pt x="572413" y="726338"/>
                    </a:lnTo>
                    <a:lnTo>
                      <a:pt x="581862" y="705307"/>
                    </a:lnTo>
                    <a:lnTo>
                      <a:pt x="631849" y="705307"/>
                    </a:lnTo>
                    <a:lnTo>
                      <a:pt x="641298" y="726338"/>
                    </a:lnTo>
                    <a:lnTo>
                      <a:pt x="655014" y="726338"/>
                    </a:lnTo>
                    <a:lnTo>
                      <a:pt x="613561" y="630631"/>
                    </a:lnTo>
                    <a:close/>
                    <a:moveTo>
                      <a:pt x="685799" y="490727"/>
                    </a:moveTo>
                    <a:cubicBezTo>
                      <a:pt x="660805" y="490423"/>
                      <a:pt x="635812" y="495299"/>
                      <a:pt x="611733" y="504748"/>
                    </a:cubicBezTo>
                    <a:cubicBezTo>
                      <a:pt x="563879" y="523951"/>
                      <a:pt x="526389" y="560831"/>
                      <a:pt x="505967" y="608075"/>
                    </a:cubicBezTo>
                    <a:lnTo>
                      <a:pt x="535533" y="620877"/>
                    </a:lnTo>
                    <a:cubicBezTo>
                      <a:pt x="552601" y="581558"/>
                      <a:pt x="583691" y="550773"/>
                      <a:pt x="623620" y="534923"/>
                    </a:cubicBezTo>
                    <a:cubicBezTo>
                      <a:pt x="663549" y="519074"/>
                      <a:pt x="707135" y="519379"/>
                      <a:pt x="746759" y="536447"/>
                    </a:cubicBezTo>
                    <a:cubicBezTo>
                      <a:pt x="786078" y="553516"/>
                      <a:pt x="816863" y="584606"/>
                      <a:pt x="832713" y="624535"/>
                    </a:cubicBezTo>
                    <a:cubicBezTo>
                      <a:pt x="848562" y="664463"/>
                      <a:pt x="848257" y="708355"/>
                      <a:pt x="831189" y="747674"/>
                    </a:cubicBezTo>
                    <a:cubicBezTo>
                      <a:pt x="796137" y="829055"/>
                      <a:pt x="701649" y="867155"/>
                      <a:pt x="619962" y="832103"/>
                    </a:cubicBezTo>
                    <a:lnTo>
                      <a:pt x="607161" y="861669"/>
                    </a:lnTo>
                    <a:cubicBezTo>
                      <a:pt x="632154" y="872032"/>
                      <a:pt x="657757" y="877214"/>
                      <a:pt x="683056" y="877214"/>
                    </a:cubicBezTo>
                    <a:cubicBezTo>
                      <a:pt x="758037" y="877214"/>
                      <a:pt x="829360" y="833323"/>
                      <a:pt x="860754" y="760171"/>
                    </a:cubicBezTo>
                    <a:lnTo>
                      <a:pt x="861059" y="760171"/>
                    </a:lnTo>
                    <a:cubicBezTo>
                      <a:pt x="881481" y="712622"/>
                      <a:pt x="882090" y="660196"/>
                      <a:pt x="862888" y="612343"/>
                    </a:cubicBezTo>
                    <a:cubicBezTo>
                      <a:pt x="843685" y="564489"/>
                      <a:pt x="807109" y="526999"/>
                      <a:pt x="759561" y="506577"/>
                    </a:cubicBezTo>
                    <a:cubicBezTo>
                      <a:pt x="735786" y="496214"/>
                      <a:pt x="710793" y="490727"/>
                      <a:pt x="685799" y="490727"/>
                    </a:cubicBezTo>
                    <a:close/>
                    <a:moveTo>
                      <a:pt x="624229" y="345033"/>
                    </a:moveTo>
                    <a:lnTo>
                      <a:pt x="749502" y="345033"/>
                    </a:lnTo>
                    <a:cubicBezTo>
                      <a:pt x="749502" y="345033"/>
                      <a:pt x="757122" y="425805"/>
                      <a:pt x="757122" y="425805"/>
                    </a:cubicBezTo>
                    <a:cubicBezTo>
                      <a:pt x="779373" y="431901"/>
                      <a:pt x="800404" y="441045"/>
                      <a:pt x="819911" y="452323"/>
                    </a:cubicBezTo>
                    <a:lnTo>
                      <a:pt x="883005" y="399897"/>
                    </a:lnTo>
                    <a:lnTo>
                      <a:pt x="927201" y="444093"/>
                    </a:lnTo>
                    <a:lnTo>
                      <a:pt x="971397" y="488289"/>
                    </a:lnTo>
                    <a:cubicBezTo>
                      <a:pt x="971397" y="488289"/>
                      <a:pt x="917447" y="553516"/>
                      <a:pt x="917447" y="553516"/>
                    </a:cubicBezTo>
                    <a:cubicBezTo>
                      <a:pt x="927505" y="572109"/>
                      <a:pt x="935430" y="592226"/>
                      <a:pt x="940612" y="613257"/>
                    </a:cubicBezTo>
                    <a:lnTo>
                      <a:pt x="1026565" y="621487"/>
                    </a:lnTo>
                    <a:lnTo>
                      <a:pt x="1026565" y="746759"/>
                    </a:lnTo>
                    <a:cubicBezTo>
                      <a:pt x="1026565" y="746759"/>
                      <a:pt x="936649" y="755294"/>
                      <a:pt x="936649" y="755294"/>
                    </a:cubicBezTo>
                    <a:cubicBezTo>
                      <a:pt x="930858" y="774496"/>
                      <a:pt x="922629" y="792479"/>
                      <a:pt x="912875" y="809243"/>
                    </a:cubicBezTo>
                    <a:lnTo>
                      <a:pt x="912265" y="809548"/>
                    </a:lnTo>
                    <a:lnTo>
                      <a:pt x="971092" y="880262"/>
                    </a:lnTo>
                    <a:lnTo>
                      <a:pt x="926896" y="924458"/>
                    </a:lnTo>
                    <a:lnTo>
                      <a:pt x="882700" y="968654"/>
                    </a:lnTo>
                    <a:cubicBezTo>
                      <a:pt x="882700" y="968654"/>
                      <a:pt x="809548" y="907999"/>
                      <a:pt x="809548" y="907999"/>
                    </a:cubicBezTo>
                    <a:cubicBezTo>
                      <a:pt x="793393" y="916533"/>
                      <a:pt x="776020" y="923543"/>
                      <a:pt x="758037" y="928725"/>
                    </a:cubicBezTo>
                    <a:lnTo>
                      <a:pt x="749197" y="1023823"/>
                    </a:lnTo>
                    <a:lnTo>
                      <a:pt x="623925" y="1023823"/>
                    </a:lnTo>
                    <a:lnTo>
                      <a:pt x="615085" y="928725"/>
                    </a:lnTo>
                    <a:cubicBezTo>
                      <a:pt x="597102" y="923543"/>
                      <a:pt x="580033" y="916533"/>
                      <a:pt x="563879" y="907999"/>
                    </a:cubicBezTo>
                    <a:lnTo>
                      <a:pt x="490727" y="968349"/>
                    </a:lnTo>
                    <a:lnTo>
                      <a:pt x="446531" y="924153"/>
                    </a:lnTo>
                    <a:lnTo>
                      <a:pt x="402335" y="879957"/>
                    </a:lnTo>
                    <a:cubicBezTo>
                      <a:pt x="402335" y="879957"/>
                      <a:pt x="461161" y="809243"/>
                      <a:pt x="461161" y="809243"/>
                    </a:cubicBezTo>
                    <a:cubicBezTo>
                      <a:pt x="451408" y="792175"/>
                      <a:pt x="443178" y="774191"/>
                      <a:pt x="437387" y="755294"/>
                    </a:cubicBezTo>
                    <a:lnTo>
                      <a:pt x="347471" y="746759"/>
                    </a:lnTo>
                    <a:lnTo>
                      <a:pt x="347471" y="621487"/>
                    </a:lnTo>
                    <a:cubicBezTo>
                      <a:pt x="347471" y="621487"/>
                      <a:pt x="433425" y="613867"/>
                      <a:pt x="433425" y="613867"/>
                    </a:cubicBezTo>
                    <a:cubicBezTo>
                      <a:pt x="438911" y="592531"/>
                      <a:pt x="446836" y="572414"/>
                      <a:pt x="456894" y="553821"/>
                    </a:cubicBezTo>
                    <a:lnTo>
                      <a:pt x="402640" y="488594"/>
                    </a:lnTo>
                    <a:lnTo>
                      <a:pt x="446836" y="444398"/>
                    </a:lnTo>
                    <a:lnTo>
                      <a:pt x="491032" y="400202"/>
                    </a:lnTo>
                    <a:lnTo>
                      <a:pt x="554125" y="452627"/>
                    </a:lnTo>
                    <a:cubicBezTo>
                      <a:pt x="573633" y="441350"/>
                      <a:pt x="594359" y="432206"/>
                      <a:pt x="616609" y="426110"/>
                    </a:cubicBezTo>
                    <a:close/>
                    <a:moveTo>
                      <a:pt x="205740" y="118567"/>
                    </a:moveTo>
                    <a:cubicBezTo>
                      <a:pt x="203606" y="133807"/>
                      <a:pt x="198425" y="147523"/>
                      <a:pt x="190500" y="159715"/>
                    </a:cubicBezTo>
                    <a:lnTo>
                      <a:pt x="431902" y="401422"/>
                    </a:lnTo>
                    <a:lnTo>
                      <a:pt x="402641" y="430682"/>
                    </a:lnTo>
                    <a:lnTo>
                      <a:pt x="161544" y="189281"/>
                    </a:lnTo>
                    <a:cubicBezTo>
                      <a:pt x="149352" y="197206"/>
                      <a:pt x="136246" y="202692"/>
                      <a:pt x="121310" y="205130"/>
                    </a:cubicBezTo>
                    <a:lnTo>
                      <a:pt x="121310" y="1167689"/>
                    </a:lnTo>
                    <a:cubicBezTo>
                      <a:pt x="135941" y="1170127"/>
                      <a:pt x="149047" y="1175309"/>
                      <a:pt x="160934" y="1183234"/>
                    </a:cubicBezTo>
                    <a:lnTo>
                      <a:pt x="402336" y="941527"/>
                    </a:lnTo>
                    <a:lnTo>
                      <a:pt x="431597" y="970788"/>
                    </a:lnTo>
                    <a:lnTo>
                      <a:pt x="189890" y="1212799"/>
                    </a:lnTo>
                    <a:cubicBezTo>
                      <a:pt x="197815" y="1225296"/>
                      <a:pt x="203302" y="1239317"/>
                      <a:pt x="205435" y="1254557"/>
                    </a:cubicBezTo>
                    <a:lnTo>
                      <a:pt x="205435" y="1253642"/>
                    </a:lnTo>
                    <a:lnTo>
                      <a:pt x="585521" y="1253642"/>
                    </a:lnTo>
                    <a:cubicBezTo>
                      <a:pt x="592226" y="1210056"/>
                      <a:pt x="624840" y="1176528"/>
                      <a:pt x="668122" y="1168299"/>
                    </a:cubicBezTo>
                    <a:lnTo>
                      <a:pt x="668122" y="1063752"/>
                    </a:lnTo>
                    <a:lnTo>
                      <a:pt x="709270" y="1063752"/>
                    </a:lnTo>
                    <a:lnTo>
                      <a:pt x="709270" y="1168908"/>
                    </a:lnTo>
                    <a:cubicBezTo>
                      <a:pt x="750722" y="1178357"/>
                      <a:pt x="781507" y="1211275"/>
                      <a:pt x="787908" y="1253642"/>
                    </a:cubicBezTo>
                    <a:lnTo>
                      <a:pt x="1167994" y="1253642"/>
                    </a:lnTo>
                    <a:lnTo>
                      <a:pt x="1183455" y="1213020"/>
                    </a:lnTo>
                    <a:lnTo>
                      <a:pt x="1183843" y="1213409"/>
                    </a:lnTo>
                    <a:lnTo>
                      <a:pt x="1183539" y="1212799"/>
                    </a:lnTo>
                    <a:lnTo>
                      <a:pt x="1183455" y="1213020"/>
                    </a:lnTo>
                    <a:lnTo>
                      <a:pt x="940308" y="969569"/>
                    </a:lnTo>
                    <a:lnTo>
                      <a:pt x="969569" y="940308"/>
                    </a:lnTo>
                    <a:lnTo>
                      <a:pt x="1212799" y="1183843"/>
                    </a:lnTo>
                    <a:cubicBezTo>
                      <a:pt x="1224382" y="1176223"/>
                      <a:pt x="1237183" y="1171042"/>
                      <a:pt x="1251509" y="1168603"/>
                    </a:cubicBezTo>
                    <a:lnTo>
                      <a:pt x="1251509" y="205130"/>
                    </a:lnTo>
                    <a:cubicBezTo>
                      <a:pt x="1236879" y="202387"/>
                      <a:pt x="1224077" y="197206"/>
                      <a:pt x="1212190" y="189281"/>
                    </a:cubicBezTo>
                    <a:lnTo>
                      <a:pt x="972007" y="430073"/>
                    </a:lnTo>
                    <a:lnTo>
                      <a:pt x="942746" y="400812"/>
                    </a:lnTo>
                    <a:lnTo>
                      <a:pt x="1183234" y="159715"/>
                    </a:lnTo>
                    <a:cubicBezTo>
                      <a:pt x="1175309" y="147523"/>
                      <a:pt x="1170127" y="134417"/>
                      <a:pt x="1167994" y="119482"/>
                    </a:cubicBezTo>
                    <a:lnTo>
                      <a:pt x="788213" y="119482"/>
                    </a:lnTo>
                    <a:cubicBezTo>
                      <a:pt x="782422" y="162763"/>
                      <a:pt x="751332" y="196291"/>
                      <a:pt x="709270" y="205740"/>
                    </a:cubicBezTo>
                    <a:lnTo>
                      <a:pt x="709270" y="304800"/>
                    </a:lnTo>
                    <a:lnTo>
                      <a:pt x="668122" y="304800"/>
                    </a:lnTo>
                    <a:lnTo>
                      <a:pt x="668122" y="206654"/>
                    </a:lnTo>
                    <a:cubicBezTo>
                      <a:pt x="624230" y="198425"/>
                      <a:pt x="591312" y="163982"/>
                      <a:pt x="585216" y="119482"/>
                    </a:cubicBezTo>
                    <a:lnTo>
                      <a:pt x="205740" y="119482"/>
                    </a:lnTo>
                    <a:close/>
                    <a:moveTo>
                      <a:pt x="686714" y="42977"/>
                    </a:moveTo>
                    <a:cubicBezTo>
                      <a:pt x="651967" y="42977"/>
                      <a:pt x="623621" y="71323"/>
                      <a:pt x="623621" y="106070"/>
                    </a:cubicBezTo>
                    <a:cubicBezTo>
                      <a:pt x="623621" y="140818"/>
                      <a:pt x="651967" y="169164"/>
                      <a:pt x="686714" y="169164"/>
                    </a:cubicBezTo>
                    <a:cubicBezTo>
                      <a:pt x="721462" y="169164"/>
                      <a:pt x="749808" y="140818"/>
                      <a:pt x="749808" y="106070"/>
                    </a:cubicBezTo>
                    <a:cubicBezTo>
                      <a:pt x="749808" y="71323"/>
                      <a:pt x="721462" y="42977"/>
                      <a:pt x="686714" y="42977"/>
                    </a:cubicBezTo>
                    <a:close/>
                    <a:moveTo>
                      <a:pt x="1269187" y="41148"/>
                    </a:moveTo>
                    <a:cubicBezTo>
                      <a:pt x="1234440" y="41148"/>
                      <a:pt x="1206094" y="69494"/>
                      <a:pt x="1206094" y="104242"/>
                    </a:cubicBezTo>
                    <a:cubicBezTo>
                      <a:pt x="1206094" y="138989"/>
                      <a:pt x="1234440" y="167335"/>
                      <a:pt x="1269187" y="167335"/>
                    </a:cubicBezTo>
                    <a:cubicBezTo>
                      <a:pt x="1303934" y="167335"/>
                      <a:pt x="1332281" y="138989"/>
                      <a:pt x="1332281" y="104242"/>
                    </a:cubicBezTo>
                    <a:cubicBezTo>
                      <a:pt x="1332281" y="69494"/>
                      <a:pt x="1303934" y="41148"/>
                      <a:pt x="1269187" y="41148"/>
                    </a:cubicBezTo>
                    <a:close/>
                    <a:moveTo>
                      <a:pt x="104242" y="41148"/>
                    </a:moveTo>
                    <a:cubicBezTo>
                      <a:pt x="69494" y="41148"/>
                      <a:pt x="41148" y="69494"/>
                      <a:pt x="41148" y="104242"/>
                    </a:cubicBezTo>
                    <a:cubicBezTo>
                      <a:pt x="41148" y="138989"/>
                      <a:pt x="69494" y="167335"/>
                      <a:pt x="104242" y="167335"/>
                    </a:cubicBezTo>
                    <a:cubicBezTo>
                      <a:pt x="138989" y="167335"/>
                      <a:pt x="167335" y="138989"/>
                      <a:pt x="167335" y="104242"/>
                    </a:cubicBezTo>
                    <a:cubicBezTo>
                      <a:pt x="167335" y="69494"/>
                      <a:pt x="138989" y="41148"/>
                      <a:pt x="104242" y="41148"/>
                    </a:cubicBezTo>
                    <a:close/>
                    <a:moveTo>
                      <a:pt x="104242" y="0"/>
                    </a:moveTo>
                    <a:cubicBezTo>
                      <a:pt x="156667" y="0"/>
                      <a:pt x="198120" y="39319"/>
                      <a:pt x="205435" y="89916"/>
                    </a:cubicBezTo>
                    <a:lnTo>
                      <a:pt x="205435" y="89002"/>
                    </a:lnTo>
                    <a:lnTo>
                      <a:pt x="585826" y="89002"/>
                    </a:lnTo>
                    <a:cubicBezTo>
                      <a:pt x="594360" y="39624"/>
                      <a:pt x="634898" y="1524"/>
                      <a:pt x="686714" y="1524"/>
                    </a:cubicBezTo>
                    <a:cubicBezTo>
                      <a:pt x="738530" y="1524"/>
                      <a:pt x="779374" y="39929"/>
                      <a:pt x="787603" y="89002"/>
                    </a:cubicBezTo>
                    <a:lnTo>
                      <a:pt x="1167994" y="89002"/>
                    </a:lnTo>
                    <a:cubicBezTo>
                      <a:pt x="1175614" y="39014"/>
                      <a:pt x="1217066" y="0"/>
                      <a:pt x="1269187" y="0"/>
                    </a:cubicBezTo>
                    <a:cubicBezTo>
                      <a:pt x="1326794" y="0"/>
                      <a:pt x="1373429" y="46634"/>
                      <a:pt x="1373429" y="104242"/>
                    </a:cubicBezTo>
                    <a:cubicBezTo>
                      <a:pt x="1373429" y="157582"/>
                      <a:pt x="1333195" y="199644"/>
                      <a:pt x="1281684" y="206045"/>
                    </a:cubicBezTo>
                    <a:lnTo>
                      <a:pt x="1281684" y="1166774"/>
                    </a:lnTo>
                    <a:cubicBezTo>
                      <a:pt x="1333195" y="1173175"/>
                      <a:pt x="1373429" y="1215542"/>
                      <a:pt x="1373429" y="1268578"/>
                    </a:cubicBezTo>
                    <a:cubicBezTo>
                      <a:pt x="1373429" y="1326185"/>
                      <a:pt x="1326794" y="1372819"/>
                      <a:pt x="1269187" y="1372819"/>
                    </a:cubicBezTo>
                    <a:cubicBezTo>
                      <a:pt x="1217066" y="1372819"/>
                      <a:pt x="1175614" y="1333805"/>
                      <a:pt x="1167994" y="1283818"/>
                    </a:cubicBezTo>
                    <a:lnTo>
                      <a:pt x="787908" y="1283818"/>
                    </a:lnTo>
                    <a:cubicBezTo>
                      <a:pt x="780288" y="1333805"/>
                      <a:pt x="738835" y="1372819"/>
                      <a:pt x="686714" y="1372819"/>
                    </a:cubicBezTo>
                    <a:cubicBezTo>
                      <a:pt x="634594" y="1372819"/>
                      <a:pt x="593141" y="1333805"/>
                      <a:pt x="585521" y="1283818"/>
                    </a:cubicBezTo>
                    <a:lnTo>
                      <a:pt x="205435" y="1283818"/>
                    </a:lnTo>
                    <a:lnTo>
                      <a:pt x="205435" y="1282903"/>
                    </a:lnTo>
                    <a:cubicBezTo>
                      <a:pt x="198425" y="1333500"/>
                      <a:pt x="156667" y="1372819"/>
                      <a:pt x="104242" y="1372819"/>
                    </a:cubicBezTo>
                    <a:cubicBezTo>
                      <a:pt x="46634" y="1372819"/>
                      <a:pt x="0" y="1326185"/>
                      <a:pt x="0" y="1268578"/>
                    </a:cubicBezTo>
                    <a:cubicBezTo>
                      <a:pt x="0" y="1215847"/>
                      <a:pt x="39929" y="1173785"/>
                      <a:pt x="90830" y="1167079"/>
                    </a:cubicBezTo>
                    <a:lnTo>
                      <a:pt x="90830" y="205740"/>
                    </a:lnTo>
                    <a:cubicBezTo>
                      <a:pt x="39929" y="199034"/>
                      <a:pt x="0" y="156972"/>
                      <a:pt x="0" y="104242"/>
                    </a:cubicBezTo>
                    <a:cubicBezTo>
                      <a:pt x="0" y="46634"/>
                      <a:pt x="46634" y="0"/>
                      <a:pt x="1042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sp>
        <p:nvSpPr>
          <p:cNvPr id="5123" name="Google Shape;5123;p24"/>
          <p:cNvSpPr/>
          <p:nvPr/>
        </p:nvSpPr>
        <p:spPr>
          <a:xfrm>
            <a:off x="608012" y="4796817"/>
            <a:ext cx="7383156" cy="728100"/>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124" name="Google Shape;5124;p24"/>
          <p:cNvSpPr/>
          <p:nvPr/>
        </p:nvSpPr>
        <p:spPr>
          <a:xfrm>
            <a:off x="775740" y="4585571"/>
            <a:ext cx="7087048" cy="423705"/>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600"/>
              <a:buFont typeface="Arial"/>
              <a:buNone/>
              <a:tabLst/>
              <a:defRPr/>
            </a:pPr>
            <a:r>
              <a:rPr kumimoji="0" lang="en-US" sz="1600" b="0" i="0" u="none" strike="noStrike" kern="1200" cap="none" spc="0" normalizeH="0" baseline="0" noProof="0" dirty="0">
                <a:ln>
                  <a:noFill/>
                </a:ln>
                <a:solidFill>
                  <a:srgbClr val="FFFFFF"/>
                </a:solidFill>
                <a:effectLst/>
                <a:uLnTx/>
                <a:uFillTx/>
                <a:latin typeface="Arial"/>
                <a:ea typeface="Arial"/>
                <a:cs typeface="Arial"/>
                <a:sym typeface="Arial"/>
              </a:rPr>
              <a:t>Supervisor</a:t>
            </a:r>
            <a:endParaRPr kumimoji="0"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5125" name="Google Shape;5125;p24"/>
          <p:cNvGrpSpPr/>
          <p:nvPr/>
        </p:nvGrpSpPr>
        <p:grpSpPr>
          <a:xfrm>
            <a:off x="2165538" y="5248258"/>
            <a:ext cx="4112147" cy="689441"/>
            <a:chOff x="2405766" y="5259142"/>
            <a:chExt cx="4112147" cy="689441"/>
          </a:xfrm>
        </p:grpSpPr>
        <p:sp>
          <p:nvSpPr>
            <p:cNvPr id="5126" name="Google Shape;5126;p24"/>
            <p:cNvSpPr/>
            <p:nvPr/>
          </p:nvSpPr>
          <p:spPr>
            <a:xfrm>
              <a:off x="2938065" y="5455853"/>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5127" name="Google Shape;5127;p24"/>
            <p:cNvSpPr/>
            <p:nvPr/>
          </p:nvSpPr>
          <p:spPr>
            <a:xfrm>
              <a:off x="4258229" y="5455853"/>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5128" name="Google Shape;5128;p24"/>
            <p:cNvSpPr/>
            <p:nvPr/>
          </p:nvSpPr>
          <p:spPr>
            <a:xfrm>
              <a:off x="5489535" y="5259142"/>
              <a:ext cx="484800" cy="4848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5129" name="Google Shape;5129;p24"/>
            <p:cNvGrpSpPr/>
            <p:nvPr/>
          </p:nvGrpSpPr>
          <p:grpSpPr>
            <a:xfrm>
              <a:off x="3008711" y="5320076"/>
              <a:ext cx="343511" cy="343503"/>
              <a:chOff x="3822556" y="5087301"/>
              <a:chExt cx="611339" cy="557273"/>
            </a:xfrm>
          </p:grpSpPr>
          <p:sp>
            <p:nvSpPr>
              <p:cNvPr id="5130" name="Google Shape;5130;p24"/>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131" name="Google Shape;5131;p24"/>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132" name="Google Shape;5132;p24"/>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5133" name="Google Shape;5133;p24"/>
            <p:cNvSpPr/>
            <p:nvPr/>
          </p:nvSpPr>
          <p:spPr>
            <a:xfrm>
              <a:off x="5545710" y="5296016"/>
              <a:ext cx="377671" cy="377671"/>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134" name="Google Shape;5134;p24"/>
            <p:cNvSpPr/>
            <p:nvPr/>
          </p:nvSpPr>
          <p:spPr>
            <a:xfrm>
              <a:off x="4326165" y="5320056"/>
              <a:ext cx="307674" cy="34387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135" name="Google Shape;5135;p24"/>
            <p:cNvSpPr txBox="1"/>
            <p:nvPr/>
          </p:nvSpPr>
          <p:spPr>
            <a:xfrm>
              <a:off x="2405766" y="5779306"/>
              <a:ext cx="1562400" cy="16927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B84"/>
                </a:buClr>
                <a:buSzPts val="1100"/>
                <a:buFont typeface="Arial"/>
                <a:buNone/>
                <a:tabLst/>
                <a:defRPr/>
              </a:pPr>
              <a:r>
                <a:rPr kumimoji="0" lang="en-US" sz="1100" b="0" i="0" u="none" strike="noStrike" kern="1200" cap="none" spc="0" normalizeH="0" baseline="0" noProof="0" dirty="0">
                  <a:ln>
                    <a:noFill/>
                  </a:ln>
                  <a:solidFill>
                    <a:srgbClr val="005B84"/>
                  </a:solidFill>
                  <a:effectLst/>
                  <a:uLnTx/>
                  <a:uFillTx/>
                  <a:latin typeface="Arial"/>
                  <a:ea typeface="Arial"/>
                  <a:cs typeface="Arial"/>
                  <a:sym typeface="Arial"/>
                </a:rPr>
                <a:t>Compute </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136" name="Google Shape;5136;p24"/>
            <p:cNvSpPr txBox="1"/>
            <p:nvPr/>
          </p:nvSpPr>
          <p:spPr>
            <a:xfrm>
              <a:off x="4955513" y="5779306"/>
              <a:ext cx="1562400" cy="16927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B84"/>
                </a:buClr>
                <a:buSzPts val="1100"/>
                <a:buFont typeface="Arial"/>
                <a:buNone/>
                <a:tabLst/>
                <a:defRPr/>
              </a:pPr>
              <a:r>
                <a:rPr kumimoji="0" lang="en-US" sz="1100" b="0" i="0" u="none" strike="noStrike" kern="1200" cap="none" spc="0" normalizeH="0" baseline="0" noProof="0" dirty="0">
                  <a:ln>
                    <a:noFill/>
                  </a:ln>
                  <a:solidFill>
                    <a:srgbClr val="005B84"/>
                  </a:solidFill>
                  <a:effectLst/>
                  <a:uLnTx/>
                  <a:uFillTx/>
                  <a:latin typeface="Arial"/>
                  <a:ea typeface="Arial"/>
                  <a:cs typeface="Arial"/>
                  <a:sym typeface="Arial"/>
                </a:rPr>
                <a:t>Networking </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137" name="Google Shape;5137;p24"/>
            <p:cNvSpPr txBox="1"/>
            <p:nvPr/>
          </p:nvSpPr>
          <p:spPr>
            <a:xfrm>
              <a:off x="3698622" y="5779306"/>
              <a:ext cx="1562400" cy="16927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B84"/>
                </a:buClr>
                <a:buSzPts val="1100"/>
                <a:buFont typeface="Arial"/>
                <a:buNone/>
                <a:tabLst/>
                <a:defRPr/>
              </a:pPr>
              <a:r>
                <a:rPr kumimoji="0" lang="en-US" sz="1100" b="0" i="0" u="none" strike="noStrike" kern="1200" cap="none" spc="0" normalizeH="0" baseline="0" noProof="0" dirty="0">
                  <a:ln>
                    <a:noFill/>
                  </a:ln>
                  <a:solidFill>
                    <a:srgbClr val="005B84"/>
                  </a:solidFill>
                  <a:effectLst/>
                  <a:uLnTx/>
                  <a:uFillTx/>
                  <a:latin typeface="Arial"/>
                  <a:ea typeface="Arial"/>
                  <a:cs typeface="Arial"/>
                  <a:sym typeface="Arial"/>
                </a:rPr>
                <a:t>Storage </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5138" name="Google Shape;5138;p24"/>
          <p:cNvGrpSpPr/>
          <p:nvPr/>
        </p:nvGrpSpPr>
        <p:grpSpPr>
          <a:xfrm flipH="1">
            <a:off x="4837471" y="2191284"/>
            <a:ext cx="2172931" cy="283453"/>
            <a:chOff x="4297968" y="5156181"/>
            <a:chExt cx="7127462" cy="203200"/>
          </a:xfrm>
        </p:grpSpPr>
        <p:sp>
          <p:nvSpPr>
            <p:cNvPr id="5139" name="Google Shape;5139;p24"/>
            <p:cNvSpPr/>
            <p:nvPr/>
          </p:nvSpPr>
          <p:spPr>
            <a:xfrm rot="5400000">
              <a:off x="7760099" y="1694050"/>
              <a:ext cx="203200" cy="7127462"/>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cxnSp>
          <p:nvCxnSpPr>
            <p:cNvPr id="5140" name="Google Shape;5140;p24"/>
            <p:cNvCxnSpPr/>
            <p:nvPr/>
          </p:nvCxnSpPr>
          <p:spPr>
            <a:xfrm>
              <a:off x="5104640" y="5257779"/>
              <a:ext cx="5719470" cy="0"/>
            </a:xfrm>
            <a:prstGeom prst="straightConnector1">
              <a:avLst/>
            </a:prstGeom>
            <a:noFill/>
            <a:ln w="25400" cap="rnd" cmpd="sng">
              <a:solidFill>
                <a:schemeClr val="lt2"/>
              </a:solidFill>
              <a:prstDash val="dot"/>
              <a:miter lim="800000"/>
              <a:headEnd type="none" w="sm" len="sm"/>
              <a:tailEnd type="triangle" w="med" len="med"/>
            </a:ln>
          </p:spPr>
        </p:cxnSp>
      </p:grpSp>
      <p:grpSp>
        <p:nvGrpSpPr>
          <p:cNvPr id="5141" name="Google Shape;5141;p24"/>
          <p:cNvGrpSpPr/>
          <p:nvPr/>
        </p:nvGrpSpPr>
        <p:grpSpPr>
          <a:xfrm>
            <a:off x="6751094" y="1812320"/>
            <a:ext cx="1240074" cy="1357963"/>
            <a:chOff x="6558660" y="1830324"/>
            <a:chExt cx="1240074" cy="1357963"/>
          </a:xfrm>
        </p:grpSpPr>
        <p:sp>
          <p:nvSpPr>
            <p:cNvPr id="5142" name="Google Shape;5142;p24"/>
            <p:cNvSpPr txBox="1"/>
            <p:nvPr/>
          </p:nvSpPr>
          <p:spPr>
            <a:xfrm>
              <a:off x="6558660" y="2588123"/>
              <a:ext cx="1240074" cy="600164"/>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666666"/>
                </a:buClr>
                <a:buSzPts val="990"/>
                <a:buFont typeface="Arial"/>
                <a:buNone/>
                <a:tabLst/>
                <a:defRPr/>
              </a:pPr>
              <a:br>
                <a:rPr kumimoji="0" lang="en-US" sz="1100" b="1" i="0" u="none" strike="noStrike" kern="1200" cap="none" spc="0" normalizeH="0" baseline="0" noProof="0" dirty="0">
                  <a:ln>
                    <a:noFill/>
                  </a:ln>
                  <a:solidFill>
                    <a:srgbClr val="005C8A"/>
                  </a:solidFill>
                  <a:effectLst/>
                  <a:uLnTx/>
                  <a:uFillTx/>
                  <a:latin typeface="Arial"/>
                  <a:ea typeface="Arial"/>
                  <a:cs typeface="Arial"/>
                  <a:sym typeface="Arial"/>
                </a:rPr>
              </a:br>
              <a:r>
                <a:rPr kumimoji="0" lang="en-US" sz="1100" b="1" i="0" u="none" strike="noStrike" kern="1200" cap="none" spc="0" normalizeH="0" baseline="0" noProof="0" dirty="0">
                  <a:ln>
                    <a:noFill/>
                  </a:ln>
                  <a:solidFill>
                    <a:srgbClr val="005C8A"/>
                  </a:solidFill>
                  <a:effectLst/>
                  <a:uLnTx/>
                  <a:uFillTx/>
                  <a:latin typeface="Arial"/>
                  <a:ea typeface="Arial"/>
                  <a:cs typeface="Arial"/>
                  <a:sym typeface="Arial"/>
                </a:rPr>
                <a:t>PLATFORM ADMIN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5143" name="Google Shape;5143;p24"/>
            <p:cNvGrpSpPr/>
            <p:nvPr/>
          </p:nvGrpSpPr>
          <p:grpSpPr>
            <a:xfrm>
              <a:off x="6709352" y="1830324"/>
              <a:ext cx="938690" cy="938690"/>
              <a:chOff x="6916620" y="4795817"/>
              <a:chExt cx="1213482" cy="1212870"/>
            </a:xfrm>
          </p:grpSpPr>
          <p:sp>
            <p:nvSpPr>
              <p:cNvPr id="5144" name="Google Shape;5144;p24"/>
              <p:cNvSpPr/>
              <p:nvPr/>
            </p:nvSpPr>
            <p:spPr>
              <a:xfrm>
                <a:off x="6916620" y="4795817"/>
                <a:ext cx="1213482" cy="1212870"/>
              </a:xfrm>
              <a:prstGeom prst="ellipse">
                <a:avLst/>
              </a:prstGeom>
              <a:solidFill>
                <a:schemeClr val="lt1"/>
              </a:solidFill>
              <a:ln>
                <a:noFill/>
              </a:ln>
            </p:spPr>
            <p:txBody>
              <a:bodyPr spcFirstLastPara="1" wrap="square" lIns="103400" tIns="51700" rIns="103400" bIns="51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5145" name="Google Shape;5145;p24"/>
              <p:cNvPicPr preferRelativeResize="0"/>
              <p:nvPr/>
            </p:nvPicPr>
            <p:blipFill rotWithShape="1">
              <a:blip r:embed="rId3">
                <a:alphaModFix/>
              </a:blip>
              <a:srcRect l="7671" t="-4751" r="11487" b="30786"/>
              <a:stretch/>
            </p:blipFill>
            <p:spPr>
              <a:xfrm>
                <a:off x="6916926" y="4795817"/>
                <a:ext cx="1212870" cy="1212870"/>
              </a:xfrm>
              <a:prstGeom prst="ellipse">
                <a:avLst/>
              </a:prstGeom>
              <a:noFill/>
              <a:ln>
                <a:noFill/>
              </a:ln>
            </p:spPr>
          </p:pic>
          <p:sp>
            <p:nvSpPr>
              <p:cNvPr id="5146" name="Google Shape;5146;p24"/>
              <p:cNvSpPr/>
              <p:nvPr/>
            </p:nvSpPr>
            <p:spPr>
              <a:xfrm>
                <a:off x="6916620" y="4795817"/>
                <a:ext cx="1213482" cy="1212870"/>
              </a:xfrm>
              <a:prstGeom prst="ellipse">
                <a:avLst/>
              </a:prstGeom>
              <a:noFill/>
              <a:ln w="25400" cap="flat" cmpd="sng">
                <a:solidFill>
                  <a:schemeClr val="accent2"/>
                </a:solidFill>
                <a:prstDash val="solid"/>
                <a:round/>
                <a:headEnd type="none" w="sm" len="sm"/>
                <a:tailEnd type="none" w="sm" len="sm"/>
              </a:ln>
            </p:spPr>
            <p:txBody>
              <a:bodyPr spcFirstLastPara="1" wrap="square" lIns="103400" tIns="51700" rIns="103400" bIns="51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grpSp>
      <p:grpSp>
        <p:nvGrpSpPr>
          <p:cNvPr id="5147" name="Google Shape;5147;p24"/>
          <p:cNvGrpSpPr/>
          <p:nvPr/>
        </p:nvGrpSpPr>
        <p:grpSpPr>
          <a:xfrm>
            <a:off x="1508142" y="2207849"/>
            <a:ext cx="2454368" cy="283453"/>
            <a:chOff x="5104640" y="5156182"/>
            <a:chExt cx="4249953" cy="203200"/>
          </a:xfrm>
        </p:grpSpPr>
        <p:sp>
          <p:nvSpPr>
            <p:cNvPr id="5148" name="Google Shape;5148;p24"/>
            <p:cNvSpPr/>
            <p:nvPr/>
          </p:nvSpPr>
          <p:spPr>
            <a:xfrm rot="5400000">
              <a:off x="7128017" y="3132806"/>
              <a:ext cx="203200" cy="4249951"/>
            </a:xfrm>
            <a:prstGeom prst="rect">
              <a:avLst/>
            </a:prstGeom>
            <a:solidFill>
              <a:schemeClr val="accent5">
                <a:alpha val="49803"/>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cxnSp>
          <p:nvCxnSpPr>
            <p:cNvPr id="5149" name="Google Shape;5149;p24"/>
            <p:cNvCxnSpPr/>
            <p:nvPr/>
          </p:nvCxnSpPr>
          <p:spPr>
            <a:xfrm>
              <a:off x="5104640" y="5257779"/>
              <a:ext cx="3843770" cy="0"/>
            </a:xfrm>
            <a:prstGeom prst="straightConnector1">
              <a:avLst/>
            </a:prstGeom>
            <a:noFill/>
            <a:ln w="25400" cap="rnd" cmpd="sng">
              <a:solidFill>
                <a:schemeClr val="lt2"/>
              </a:solidFill>
              <a:prstDash val="dot"/>
              <a:miter lim="800000"/>
              <a:headEnd type="none" w="sm" len="sm"/>
              <a:tailEnd type="triangle" w="med" len="med"/>
            </a:ln>
          </p:spPr>
        </p:cxnSp>
      </p:grpSp>
      <p:sp>
        <p:nvSpPr>
          <p:cNvPr id="5150" name="Google Shape;5150;p24"/>
          <p:cNvSpPr txBox="1"/>
          <p:nvPr/>
        </p:nvSpPr>
        <p:spPr>
          <a:xfrm>
            <a:off x="768234" y="2849569"/>
            <a:ext cx="943877" cy="45858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C4B94"/>
                </a:solidFill>
                <a:effectLst/>
                <a:uLnTx/>
                <a:uFillTx/>
                <a:latin typeface="Arial"/>
                <a:ea typeface="Arial"/>
                <a:cs typeface="Arial"/>
                <a:sym typeface="Arial"/>
              </a:rPr>
              <a:t>BROADCOM CDN</a:t>
            </a:r>
            <a:endParaRPr kumimoji="0"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151" name="Google Shape;5151;p24"/>
          <p:cNvSpPr/>
          <p:nvPr/>
        </p:nvSpPr>
        <p:spPr>
          <a:xfrm flipH="1">
            <a:off x="793996" y="1876842"/>
            <a:ext cx="945467" cy="940433"/>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5152" name="Google Shape;5152;p24"/>
          <p:cNvPicPr preferRelativeResize="0"/>
          <p:nvPr/>
        </p:nvPicPr>
        <p:blipFill rotWithShape="1">
          <a:blip r:embed="rId4">
            <a:alphaModFix/>
          </a:blip>
          <a:srcRect/>
          <a:stretch/>
        </p:blipFill>
        <p:spPr>
          <a:xfrm>
            <a:off x="873029" y="1943506"/>
            <a:ext cx="787400" cy="787400"/>
          </a:xfrm>
          <a:prstGeom prst="rect">
            <a:avLst/>
          </a:prstGeom>
          <a:noFill/>
          <a:ln>
            <a:noFill/>
          </a:ln>
        </p:spPr>
      </p:pic>
      <p:grpSp>
        <p:nvGrpSpPr>
          <p:cNvPr id="5153" name="Google Shape;5153;p24"/>
          <p:cNvGrpSpPr/>
          <p:nvPr/>
        </p:nvGrpSpPr>
        <p:grpSpPr>
          <a:xfrm>
            <a:off x="4007671" y="3127285"/>
            <a:ext cx="763012" cy="763012"/>
            <a:chOff x="7745781" y="4678985"/>
            <a:chExt cx="1096994" cy="1096994"/>
          </a:xfrm>
        </p:grpSpPr>
        <p:sp>
          <p:nvSpPr>
            <p:cNvPr id="5154" name="Google Shape;5154;p24"/>
            <p:cNvSpPr/>
            <p:nvPr/>
          </p:nvSpPr>
          <p:spPr>
            <a:xfrm>
              <a:off x="7745781" y="4678985"/>
              <a:ext cx="1096994" cy="1096994"/>
            </a:xfrm>
            <a:prstGeom prst="ellipse">
              <a:avLst/>
            </a:prstGeom>
            <a:solidFill>
              <a:srgbClr val="E68C2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sz="1999" b="1"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5155" name="Google Shape;5155;p24"/>
            <p:cNvPicPr preferRelativeResize="0"/>
            <p:nvPr/>
          </p:nvPicPr>
          <p:blipFill rotWithShape="1">
            <a:blip r:embed="rId5">
              <a:alphaModFix/>
            </a:blip>
            <a:srcRect/>
            <a:stretch/>
          </p:blipFill>
          <p:spPr>
            <a:xfrm>
              <a:off x="7895967" y="4855299"/>
              <a:ext cx="793778" cy="793778"/>
            </a:xfrm>
            <a:prstGeom prst="rect">
              <a:avLst/>
            </a:prstGeom>
            <a:noFill/>
            <a:ln>
              <a:noFill/>
            </a:ln>
          </p:spPr>
        </p:pic>
      </p:grpSp>
      <p:pic>
        <p:nvPicPr>
          <p:cNvPr id="5156" name="Google Shape;5156;p24"/>
          <p:cNvPicPr preferRelativeResize="0"/>
          <p:nvPr/>
        </p:nvPicPr>
        <p:blipFill rotWithShape="1">
          <a:blip r:embed="rId6">
            <a:alphaModFix/>
          </a:blip>
          <a:srcRect/>
          <a:stretch/>
        </p:blipFill>
        <p:spPr>
          <a:xfrm>
            <a:off x="5718101" y="1662926"/>
            <a:ext cx="707693" cy="707693"/>
          </a:xfrm>
          <a:prstGeom prst="rect">
            <a:avLst/>
          </a:prstGeom>
          <a:noFill/>
          <a:ln>
            <a:noFill/>
          </a:ln>
        </p:spPr>
      </p:pic>
      <p:pic>
        <p:nvPicPr>
          <p:cNvPr id="5157" name="Google Shape;5157;p24"/>
          <p:cNvPicPr preferRelativeResize="0"/>
          <p:nvPr/>
        </p:nvPicPr>
        <p:blipFill rotWithShape="1">
          <a:blip r:embed="rId7">
            <a:alphaModFix/>
          </a:blip>
          <a:srcRect/>
          <a:stretch/>
        </p:blipFill>
        <p:spPr>
          <a:xfrm>
            <a:off x="2357074" y="1662926"/>
            <a:ext cx="707693" cy="707693"/>
          </a:xfrm>
          <a:prstGeom prst="rect">
            <a:avLst/>
          </a:prstGeom>
          <a:noFill/>
          <a:ln>
            <a:noFill/>
          </a:ln>
        </p:spPr>
      </p:pic>
      <p:pic>
        <p:nvPicPr>
          <p:cNvPr id="5158" name="Google Shape;5158;p24"/>
          <p:cNvPicPr preferRelativeResize="0"/>
          <p:nvPr/>
        </p:nvPicPr>
        <p:blipFill rotWithShape="1">
          <a:blip r:embed="rId8">
            <a:alphaModFix/>
          </a:blip>
          <a:srcRect/>
          <a:stretch/>
        </p:blipFill>
        <p:spPr>
          <a:xfrm>
            <a:off x="3514035" y="1451132"/>
            <a:ext cx="1763751" cy="17637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47"/>
                                        </p:tgtEl>
                                        <p:attrNameLst>
                                          <p:attrName>style.visibility</p:attrName>
                                        </p:attrNameLst>
                                      </p:cBhvr>
                                      <p:to>
                                        <p:strVal val="visible"/>
                                      </p:to>
                                    </p:set>
                                    <p:animEffect transition="in" filter="fade">
                                      <p:cBhvr>
                                        <p:cTn id="7" dur="500"/>
                                        <p:tgtEl>
                                          <p:spTgt spid="514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57"/>
                                        </p:tgtEl>
                                        <p:attrNameLst>
                                          <p:attrName>style.visibility</p:attrName>
                                        </p:attrNameLst>
                                      </p:cBhvr>
                                      <p:to>
                                        <p:strVal val="visible"/>
                                      </p:to>
                                    </p:set>
                                    <p:animEffect transition="in" filter="fade">
                                      <p:cBhvr>
                                        <p:cTn id="11" dur="500"/>
                                        <p:tgtEl>
                                          <p:spTgt spid="515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138"/>
                                        </p:tgtEl>
                                        <p:attrNameLst>
                                          <p:attrName>style.visibility</p:attrName>
                                        </p:attrNameLst>
                                      </p:cBhvr>
                                      <p:to>
                                        <p:strVal val="visible"/>
                                      </p:to>
                                    </p:set>
                                    <p:animEffect transition="in" filter="fade">
                                      <p:cBhvr>
                                        <p:cTn id="15" dur="500"/>
                                        <p:tgtEl>
                                          <p:spTgt spid="513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156"/>
                                        </p:tgtEl>
                                        <p:attrNameLst>
                                          <p:attrName>style.visibility</p:attrName>
                                        </p:attrNameLst>
                                      </p:cBhvr>
                                      <p:to>
                                        <p:strVal val="visible"/>
                                      </p:to>
                                    </p:set>
                                    <p:animEffect transition="in" filter="fade">
                                      <p:cBhvr>
                                        <p:cTn id="19" dur="500"/>
                                        <p:tgtEl>
                                          <p:spTgt spid="515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153"/>
                                        </p:tgtEl>
                                        <p:attrNameLst>
                                          <p:attrName>style.visibility</p:attrName>
                                        </p:attrNameLst>
                                      </p:cBhvr>
                                      <p:to>
                                        <p:strVal val="visible"/>
                                      </p:to>
                                    </p:set>
                                    <p:animEffect transition="in" filter="fade">
                                      <p:cBhvr>
                                        <p:cTn id="23" dur="500"/>
                                        <p:tgtEl>
                                          <p:spTgt spid="5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35C9D-49E8-AF44-B4FE-4802DCA9F8D5}"/>
              </a:ext>
            </a:extLst>
          </p:cNvPr>
          <p:cNvSpPr>
            <a:spLocks noGrp="1"/>
          </p:cNvSpPr>
          <p:nvPr>
            <p:ph type="title"/>
          </p:nvPr>
        </p:nvSpPr>
        <p:spPr/>
        <p:txBody>
          <a:bodyPr/>
          <a:lstStyle/>
          <a:p>
            <a:r>
              <a:rPr lang="en-US" dirty="0"/>
              <a:t>Architecture</a:t>
            </a:r>
          </a:p>
        </p:txBody>
      </p:sp>
      <p:sp>
        <p:nvSpPr>
          <p:cNvPr id="4" name="Text Placeholder 3"/>
          <p:cNvSpPr>
            <a:spLocks noGrp="1"/>
          </p:cNvSpPr>
          <p:nvPr>
            <p:ph type="subTitle" idx="10"/>
          </p:nvPr>
        </p:nvSpPr>
        <p:spPr/>
        <p:txBody>
          <a:bodyPr/>
          <a:lstStyle/>
          <a:p>
            <a:r>
              <a:rPr lang="en-US" dirty="0"/>
              <a:t>VMware Cloud Foundation 9.0.x – vSphere Kubernetes Service</a:t>
            </a:r>
          </a:p>
        </p:txBody>
      </p:sp>
    </p:spTree>
    <p:extLst>
      <p:ext uri="{BB962C8B-B14F-4D97-AF65-F5344CB8AC3E}">
        <p14:creationId xmlns:p14="http://schemas.microsoft.com/office/powerpoint/2010/main" val="3614723523"/>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7952CD-B52A-FE4D-1888-C49D8FEAEA2B}"/>
              </a:ext>
            </a:extLst>
          </p:cNvPr>
          <p:cNvSpPr>
            <a:spLocks noGrp="1"/>
          </p:cNvSpPr>
          <p:nvPr>
            <p:ph type="title"/>
          </p:nvPr>
        </p:nvSpPr>
        <p:spPr/>
        <p:txBody>
          <a:bodyPr/>
          <a:lstStyle/>
          <a:p>
            <a:r>
              <a:rPr lang="en-US" dirty="0"/>
              <a:t>Simplified Supervisor Model Terminology Overview</a:t>
            </a:r>
          </a:p>
        </p:txBody>
      </p:sp>
      <p:sp>
        <p:nvSpPr>
          <p:cNvPr id="5" name="Subtitle 4">
            <a:extLst>
              <a:ext uri="{FF2B5EF4-FFF2-40B4-BE49-F238E27FC236}">
                <a16:creationId xmlns:a16="http://schemas.microsoft.com/office/drawing/2014/main" id="{43C1FBA4-DD07-A4CB-9512-889D15F1C40A}"/>
              </a:ext>
            </a:extLst>
          </p:cNvPr>
          <p:cNvSpPr>
            <a:spLocks noGrp="1"/>
          </p:cNvSpPr>
          <p:nvPr>
            <p:ph type="subTitle" idx="10"/>
          </p:nvPr>
        </p:nvSpPr>
        <p:spPr/>
        <p:txBody>
          <a:bodyPr/>
          <a:lstStyle/>
          <a:p>
            <a:r>
              <a:rPr lang="en-US" dirty="0"/>
              <a:t>VMware Cloud Foundation with vSphere Kubernetes Service</a:t>
            </a:r>
          </a:p>
        </p:txBody>
      </p:sp>
      <p:sp>
        <p:nvSpPr>
          <p:cNvPr id="6" name="Content Placeholder 5">
            <a:extLst>
              <a:ext uri="{FF2B5EF4-FFF2-40B4-BE49-F238E27FC236}">
                <a16:creationId xmlns:a16="http://schemas.microsoft.com/office/drawing/2014/main" id="{5849C715-7176-916F-4E3E-99469ABBC188}"/>
              </a:ext>
            </a:extLst>
          </p:cNvPr>
          <p:cNvSpPr>
            <a:spLocks noGrp="1"/>
          </p:cNvSpPr>
          <p:nvPr>
            <p:ph sz="quarter" idx="4294967295"/>
          </p:nvPr>
        </p:nvSpPr>
        <p:spPr>
          <a:xfrm>
            <a:off x="0" y="2844800"/>
            <a:ext cx="6721475" cy="1404938"/>
          </a:xfrm>
        </p:spPr>
        <p:txBody>
          <a:bodyPr/>
          <a:lstStyle/>
          <a:p>
            <a:r>
              <a:rPr lang="en-US" dirty="0"/>
              <a:t>vSphere Namespace:</a:t>
            </a:r>
          </a:p>
          <a:p>
            <a:pPr indent="-184150">
              <a:buNone/>
            </a:pPr>
            <a:r>
              <a:rPr lang="en-US" sz="1600" dirty="0"/>
              <a:t>Resource boundary where vSphere Pods and TKCs run</a:t>
            </a:r>
          </a:p>
          <a:p>
            <a:pPr lvl="1"/>
            <a:r>
              <a:rPr lang="en-US" sz="1600" dirty="0"/>
              <a:t>Manage authentication and set resource consumption policy</a:t>
            </a:r>
          </a:p>
        </p:txBody>
      </p:sp>
      <p:sp>
        <p:nvSpPr>
          <p:cNvPr id="37" name="Content Placeholder 5">
            <a:extLst>
              <a:ext uri="{FF2B5EF4-FFF2-40B4-BE49-F238E27FC236}">
                <a16:creationId xmlns:a16="http://schemas.microsoft.com/office/drawing/2014/main" id="{42B76FF1-7DA0-7089-7E37-178DAAD1BB98}"/>
              </a:ext>
            </a:extLst>
          </p:cNvPr>
          <p:cNvSpPr txBox="1">
            <a:spLocks/>
          </p:cNvSpPr>
          <p:nvPr/>
        </p:nvSpPr>
        <p:spPr>
          <a:xfrm>
            <a:off x="562006" y="1404679"/>
            <a:ext cx="6582171" cy="1610644"/>
          </a:xfrm>
          <a:prstGeom prst="rect">
            <a:avLst/>
          </a:prstGeom>
        </p:spPr>
        <p:txBody>
          <a:bodyPr vert="horz" lIns="0" tIns="0" rIns="0" bIns="0" rtlCol="0">
            <a:no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r>
              <a:rPr lang="en-US" dirty="0"/>
              <a:t>vSphere Kubernetes Service (VKS)</a:t>
            </a:r>
          </a:p>
          <a:p>
            <a:pPr indent="-184150">
              <a:buNone/>
            </a:pPr>
            <a:r>
              <a:rPr lang="en-US" sz="1600" dirty="0"/>
              <a:t>Full distribution of open-source K8s, packaged, signed, and supported by VMware</a:t>
            </a:r>
          </a:p>
        </p:txBody>
      </p:sp>
      <p:sp>
        <p:nvSpPr>
          <p:cNvPr id="2" name="Content Placeholder 5">
            <a:extLst>
              <a:ext uri="{FF2B5EF4-FFF2-40B4-BE49-F238E27FC236}">
                <a16:creationId xmlns:a16="http://schemas.microsoft.com/office/drawing/2014/main" id="{C8982EF0-0AB8-F68D-4E62-88F37190249D}"/>
              </a:ext>
            </a:extLst>
          </p:cNvPr>
          <p:cNvSpPr txBox="1">
            <a:spLocks/>
          </p:cNvSpPr>
          <p:nvPr/>
        </p:nvSpPr>
        <p:spPr>
          <a:xfrm>
            <a:off x="538526" y="4440581"/>
            <a:ext cx="5952007" cy="150386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6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6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6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600"/>
              </a:spcBef>
              <a:buClr>
                <a:schemeClr val="tx2"/>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600"/>
              </a:spcBef>
              <a:buClr>
                <a:schemeClr val="tx2"/>
              </a:buClr>
              <a:buSzPct val="90000"/>
              <a:buFont typeface="System Font Regular"/>
              <a:buChar char="-"/>
              <a:tabLst/>
              <a:defRPr sz="1400" kern="1200">
                <a:solidFill>
                  <a:schemeClr val="tx2"/>
                </a:solidFill>
                <a:latin typeface="+mn-lt"/>
                <a:ea typeface="+mn-ea"/>
                <a:cs typeface="+mn-cs"/>
              </a:defRPr>
            </a:lvl9pPr>
          </a:lstStyle>
          <a:p>
            <a:r>
              <a:rPr lang="en-US" dirty="0"/>
              <a:t>Supervisor Cluster: </a:t>
            </a:r>
          </a:p>
          <a:p>
            <a:pPr indent="-184150">
              <a:buNone/>
            </a:pPr>
            <a:r>
              <a:rPr lang="en-US" sz="1600" dirty="0"/>
              <a:t>K8s control plane running on the vSphere Cluster</a:t>
            </a:r>
          </a:p>
          <a:p>
            <a:pPr lvl="1"/>
            <a:r>
              <a:rPr lang="en-US" sz="1600" dirty="0"/>
              <a:t>Three K8s control plane VMs, </a:t>
            </a:r>
            <a:r>
              <a:rPr lang="en-US" sz="1600" dirty="0" err="1"/>
              <a:t>Spherelet</a:t>
            </a:r>
            <a:r>
              <a:rPr lang="en-US" sz="1600" dirty="0"/>
              <a:t> on each host</a:t>
            </a:r>
          </a:p>
          <a:p>
            <a:pPr lvl="1"/>
            <a:r>
              <a:rPr lang="en-US" sz="1600" dirty="0"/>
              <a:t>Services: Cluster API, Tanzu Kubernetes Grid</a:t>
            </a:r>
          </a:p>
        </p:txBody>
      </p:sp>
    </p:spTree>
    <p:extLst>
      <p:ext uri="{BB962C8B-B14F-4D97-AF65-F5344CB8AC3E}">
        <p14:creationId xmlns:p14="http://schemas.microsoft.com/office/powerpoint/2010/main" val="142955578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blinds(horizontal)">
                                      <p:cBhvr>
                                        <p:cTn id="21" dur="500"/>
                                        <p:tgtEl>
                                          <p:spTgt spid="6">
                                            <p:txEl>
                                              <p:pRg st="0" end="0"/>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blinds(horizontal)">
                                      <p:cBhvr>
                                        <p:cTn id="24" dur="500"/>
                                        <p:tgtEl>
                                          <p:spTgt spid="6">
                                            <p:txEl>
                                              <p:pRg st="1" end="1"/>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blinds(horizontal)">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
                                            <p:txEl>
                                              <p:pRg st="0" end="0"/>
                                            </p:txEl>
                                          </p:spTgt>
                                        </p:tgtEl>
                                        <p:attrNameLst>
                                          <p:attrName>style.visibility</p:attrName>
                                        </p:attrNameLst>
                                      </p:cBhvr>
                                      <p:to>
                                        <p:strVal val="visible"/>
                                      </p:to>
                                    </p:set>
                                    <p:animEffect transition="in" filter="blinds(horizontal)">
                                      <p:cBhvr>
                                        <p:cTn id="32" dur="500"/>
                                        <p:tgtEl>
                                          <p:spTgt spid="37">
                                            <p:txEl>
                                              <p:pRg st="0" end="0"/>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37">
                                            <p:txEl>
                                              <p:pRg st="1" end="1"/>
                                            </p:txEl>
                                          </p:spTgt>
                                        </p:tgtEl>
                                        <p:attrNameLst>
                                          <p:attrName>style.visibility</p:attrName>
                                        </p:attrNameLst>
                                      </p:cBhvr>
                                      <p:to>
                                        <p:strVal val="visible"/>
                                      </p:to>
                                    </p:set>
                                    <p:animEffect transition="in" filter="blinds(horizontal)">
                                      <p:cBhvr>
                                        <p:cTn id="35" dur="500"/>
                                        <p:tgtEl>
                                          <p:spTgt spid="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14E2D-7B26-7860-2372-FCB8D49BEC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D75334-39C7-7E77-3137-886BD306657F}"/>
              </a:ext>
            </a:extLst>
          </p:cNvPr>
          <p:cNvSpPr>
            <a:spLocks noGrp="1"/>
          </p:cNvSpPr>
          <p:nvPr>
            <p:ph type="title"/>
          </p:nvPr>
        </p:nvSpPr>
        <p:spPr/>
        <p:txBody>
          <a:bodyPr/>
          <a:lstStyle/>
          <a:p>
            <a:r>
              <a:rPr lang="en-US" dirty="0"/>
              <a:t>Simplified Supervisor Model Architecture Overview</a:t>
            </a:r>
          </a:p>
        </p:txBody>
      </p:sp>
      <p:sp>
        <p:nvSpPr>
          <p:cNvPr id="5" name="Subtitle 4">
            <a:extLst>
              <a:ext uri="{FF2B5EF4-FFF2-40B4-BE49-F238E27FC236}">
                <a16:creationId xmlns:a16="http://schemas.microsoft.com/office/drawing/2014/main" id="{E04044FA-E718-F610-8F74-8AF85BD08D6B}"/>
              </a:ext>
            </a:extLst>
          </p:cNvPr>
          <p:cNvSpPr>
            <a:spLocks noGrp="1"/>
          </p:cNvSpPr>
          <p:nvPr>
            <p:ph type="subTitle" idx="10"/>
          </p:nvPr>
        </p:nvSpPr>
        <p:spPr/>
        <p:txBody>
          <a:bodyPr/>
          <a:lstStyle/>
          <a:p>
            <a:r>
              <a:rPr lang="en-US" dirty="0"/>
              <a:t>Simplified Supervisor Model</a:t>
            </a:r>
          </a:p>
        </p:txBody>
      </p:sp>
      <p:pic>
        <p:nvPicPr>
          <p:cNvPr id="38" name="Graphic 37">
            <a:extLst>
              <a:ext uri="{FF2B5EF4-FFF2-40B4-BE49-F238E27FC236}">
                <a16:creationId xmlns:a16="http://schemas.microsoft.com/office/drawing/2014/main" id="{4B9E892B-4AE6-91D8-0415-3A1F8E033A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4855" y="1397970"/>
            <a:ext cx="3505200" cy="4648200"/>
          </a:xfrm>
          <a:prstGeom prst="rect">
            <a:avLst/>
          </a:prstGeom>
        </p:spPr>
      </p:pic>
    </p:spTree>
    <p:extLst>
      <p:ext uri="{BB962C8B-B14F-4D97-AF65-F5344CB8AC3E}">
        <p14:creationId xmlns:p14="http://schemas.microsoft.com/office/powerpoint/2010/main" val="3156313674"/>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B92FC-2442-CCE7-7A5F-6CD15A4D01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BCBC90-5B72-0AA7-8441-351D68CA1318}"/>
              </a:ext>
            </a:extLst>
          </p:cNvPr>
          <p:cNvSpPr>
            <a:spLocks noGrp="1"/>
          </p:cNvSpPr>
          <p:nvPr>
            <p:ph type="title"/>
          </p:nvPr>
        </p:nvSpPr>
        <p:spPr/>
        <p:txBody>
          <a:bodyPr/>
          <a:lstStyle/>
          <a:p>
            <a:r>
              <a:rPr lang="en-US" dirty="0"/>
              <a:t>Zone  Models Architecture Overview</a:t>
            </a:r>
          </a:p>
        </p:txBody>
      </p:sp>
      <p:sp>
        <p:nvSpPr>
          <p:cNvPr id="5" name="Subtitle 4">
            <a:extLst>
              <a:ext uri="{FF2B5EF4-FFF2-40B4-BE49-F238E27FC236}">
                <a16:creationId xmlns:a16="http://schemas.microsoft.com/office/drawing/2014/main" id="{3A309E46-C85C-E70C-A1B0-3D3656200006}"/>
              </a:ext>
            </a:extLst>
          </p:cNvPr>
          <p:cNvSpPr>
            <a:spLocks noGrp="1"/>
          </p:cNvSpPr>
          <p:nvPr>
            <p:ph type="subTitle" idx="10"/>
          </p:nvPr>
        </p:nvSpPr>
        <p:spPr/>
        <p:txBody>
          <a:bodyPr/>
          <a:lstStyle/>
          <a:p>
            <a:r>
              <a:rPr lang="en-US" dirty="0"/>
              <a:t>Single Management Zone with Combined Workload Zones Model</a:t>
            </a:r>
          </a:p>
        </p:txBody>
      </p:sp>
      <p:pic>
        <p:nvPicPr>
          <p:cNvPr id="7" name="Graphic 6">
            <a:extLst>
              <a:ext uri="{FF2B5EF4-FFF2-40B4-BE49-F238E27FC236}">
                <a16:creationId xmlns:a16="http://schemas.microsoft.com/office/drawing/2014/main" id="{A487137B-C4F3-6266-E165-8F3C19A270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32262" y="1456140"/>
            <a:ext cx="3124883" cy="4590030"/>
          </a:xfrm>
          <a:prstGeom prst="rect">
            <a:avLst/>
          </a:prstGeom>
        </p:spPr>
      </p:pic>
    </p:spTree>
    <p:extLst>
      <p:ext uri="{BB962C8B-B14F-4D97-AF65-F5344CB8AC3E}">
        <p14:creationId xmlns:p14="http://schemas.microsoft.com/office/powerpoint/2010/main" val="2613163984"/>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C6C27-1F68-E050-5C40-C52E7DF7870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41A5FD-1790-FAA9-959E-2B3299990B78}"/>
              </a:ext>
            </a:extLst>
          </p:cNvPr>
          <p:cNvSpPr>
            <a:spLocks noGrp="1"/>
          </p:cNvSpPr>
          <p:nvPr>
            <p:ph type="title"/>
          </p:nvPr>
        </p:nvSpPr>
        <p:spPr/>
        <p:txBody>
          <a:bodyPr/>
          <a:lstStyle/>
          <a:p>
            <a:r>
              <a:rPr lang="en-US" dirty="0"/>
              <a:t>Zone  Models Architecture Overview</a:t>
            </a:r>
          </a:p>
        </p:txBody>
      </p:sp>
      <p:sp>
        <p:nvSpPr>
          <p:cNvPr id="5" name="Subtitle 4">
            <a:extLst>
              <a:ext uri="{FF2B5EF4-FFF2-40B4-BE49-F238E27FC236}">
                <a16:creationId xmlns:a16="http://schemas.microsoft.com/office/drawing/2014/main" id="{EBC42357-8F10-C31E-49CB-68B3A1FB60DE}"/>
              </a:ext>
            </a:extLst>
          </p:cNvPr>
          <p:cNvSpPr>
            <a:spLocks noGrp="1"/>
          </p:cNvSpPr>
          <p:nvPr>
            <p:ph type="subTitle" idx="10"/>
          </p:nvPr>
        </p:nvSpPr>
        <p:spPr/>
        <p:txBody>
          <a:bodyPr/>
          <a:lstStyle/>
          <a:p>
            <a:r>
              <a:rPr lang="en-US" dirty="0"/>
              <a:t>Single Management Zone with Isolated Workload Zones Model</a:t>
            </a:r>
          </a:p>
        </p:txBody>
      </p:sp>
      <p:pic>
        <p:nvPicPr>
          <p:cNvPr id="3" name="Graphic 2">
            <a:extLst>
              <a:ext uri="{FF2B5EF4-FFF2-40B4-BE49-F238E27FC236}">
                <a16:creationId xmlns:a16="http://schemas.microsoft.com/office/drawing/2014/main" id="{3F1DAB87-3694-2F41-9F8B-A95332E73E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16156" y="1452850"/>
            <a:ext cx="5970036" cy="4493928"/>
          </a:xfrm>
          <a:prstGeom prst="rect">
            <a:avLst/>
          </a:prstGeom>
        </p:spPr>
      </p:pic>
    </p:spTree>
    <p:extLst>
      <p:ext uri="{BB962C8B-B14F-4D97-AF65-F5344CB8AC3E}">
        <p14:creationId xmlns:p14="http://schemas.microsoft.com/office/powerpoint/2010/main" val="2704744019"/>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56133-4E34-E251-A9E0-349E1257A7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6C114A-D2DA-F496-05B1-850C596EF079}"/>
              </a:ext>
            </a:extLst>
          </p:cNvPr>
          <p:cNvSpPr>
            <a:spLocks noGrp="1"/>
          </p:cNvSpPr>
          <p:nvPr>
            <p:ph type="title"/>
          </p:nvPr>
        </p:nvSpPr>
        <p:spPr/>
        <p:txBody>
          <a:bodyPr/>
          <a:lstStyle/>
          <a:p>
            <a:r>
              <a:rPr lang="en-US" dirty="0"/>
              <a:t>Zone  Models Architecture Overview</a:t>
            </a:r>
          </a:p>
        </p:txBody>
      </p:sp>
      <p:sp>
        <p:nvSpPr>
          <p:cNvPr id="5" name="Subtitle 4">
            <a:extLst>
              <a:ext uri="{FF2B5EF4-FFF2-40B4-BE49-F238E27FC236}">
                <a16:creationId xmlns:a16="http://schemas.microsoft.com/office/drawing/2014/main" id="{5F3E0485-69E6-75D4-C667-83DD8BD3BE64}"/>
              </a:ext>
            </a:extLst>
          </p:cNvPr>
          <p:cNvSpPr>
            <a:spLocks noGrp="1"/>
          </p:cNvSpPr>
          <p:nvPr>
            <p:ph type="subTitle" idx="10"/>
          </p:nvPr>
        </p:nvSpPr>
        <p:spPr/>
        <p:txBody>
          <a:bodyPr/>
          <a:lstStyle/>
          <a:p>
            <a:r>
              <a:rPr lang="en-US" dirty="0"/>
              <a:t>Three Management Zones with Combined Workload Zones Model</a:t>
            </a:r>
          </a:p>
        </p:txBody>
      </p:sp>
      <p:pic>
        <p:nvPicPr>
          <p:cNvPr id="6" name="Graphic 5">
            <a:extLst>
              <a:ext uri="{FF2B5EF4-FFF2-40B4-BE49-F238E27FC236}">
                <a16:creationId xmlns:a16="http://schemas.microsoft.com/office/drawing/2014/main" id="{726EC440-EC4B-7F26-577E-C64A33A4D8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9820" y="1413677"/>
            <a:ext cx="6773449" cy="4734503"/>
          </a:xfrm>
          <a:prstGeom prst="rect">
            <a:avLst/>
          </a:prstGeom>
        </p:spPr>
      </p:pic>
    </p:spTree>
    <p:extLst>
      <p:ext uri="{BB962C8B-B14F-4D97-AF65-F5344CB8AC3E}">
        <p14:creationId xmlns:p14="http://schemas.microsoft.com/office/powerpoint/2010/main" val="1497105181"/>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405CC-8263-0CF4-DE21-8F0DE44065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8D0C21-0315-98CC-7CE6-9AF34A2F9A32}"/>
              </a:ext>
            </a:extLst>
          </p:cNvPr>
          <p:cNvSpPr>
            <a:spLocks noGrp="1"/>
          </p:cNvSpPr>
          <p:nvPr>
            <p:ph type="title"/>
          </p:nvPr>
        </p:nvSpPr>
        <p:spPr/>
        <p:txBody>
          <a:bodyPr/>
          <a:lstStyle/>
          <a:p>
            <a:r>
              <a:rPr lang="en-US" dirty="0"/>
              <a:t>Zone  Models Architecture Overview</a:t>
            </a:r>
          </a:p>
        </p:txBody>
      </p:sp>
      <p:sp>
        <p:nvSpPr>
          <p:cNvPr id="5" name="Subtitle 4">
            <a:extLst>
              <a:ext uri="{FF2B5EF4-FFF2-40B4-BE49-F238E27FC236}">
                <a16:creationId xmlns:a16="http://schemas.microsoft.com/office/drawing/2014/main" id="{51CA8974-E6BA-6688-99D9-1269FAA7C067}"/>
              </a:ext>
            </a:extLst>
          </p:cNvPr>
          <p:cNvSpPr>
            <a:spLocks noGrp="1"/>
          </p:cNvSpPr>
          <p:nvPr>
            <p:ph type="subTitle" idx="10"/>
          </p:nvPr>
        </p:nvSpPr>
        <p:spPr/>
        <p:txBody>
          <a:bodyPr/>
          <a:lstStyle/>
          <a:p>
            <a:r>
              <a:rPr lang="en-US" dirty="0"/>
              <a:t>Three Management Zones with Isolated Workload Zones Model</a:t>
            </a:r>
          </a:p>
        </p:txBody>
      </p:sp>
      <p:pic>
        <p:nvPicPr>
          <p:cNvPr id="3" name="Graphic 2">
            <a:extLst>
              <a:ext uri="{FF2B5EF4-FFF2-40B4-BE49-F238E27FC236}">
                <a16:creationId xmlns:a16="http://schemas.microsoft.com/office/drawing/2014/main" id="{BACA736B-6369-2282-1B1E-0428250DD9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10747" y="1399787"/>
            <a:ext cx="9064487" cy="4733100"/>
          </a:xfrm>
          <a:prstGeom prst="rect">
            <a:avLst/>
          </a:prstGeom>
        </p:spPr>
      </p:pic>
    </p:spTree>
    <p:extLst>
      <p:ext uri="{BB962C8B-B14F-4D97-AF65-F5344CB8AC3E}">
        <p14:creationId xmlns:p14="http://schemas.microsoft.com/office/powerpoint/2010/main" val="3834919655"/>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6EB65-F0F0-CFDF-F495-FF6C68014A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B66CF8-F29C-CF69-4B6D-50A89AFF0C7B}"/>
              </a:ext>
            </a:extLst>
          </p:cNvPr>
          <p:cNvSpPr>
            <a:spLocks noGrp="1"/>
          </p:cNvSpPr>
          <p:nvPr>
            <p:ph type="title"/>
          </p:nvPr>
        </p:nvSpPr>
        <p:spPr/>
        <p:txBody>
          <a:bodyPr/>
          <a:lstStyle/>
          <a:p>
            <a:r>
              <a:rPr lang="en-US" dirty="0"/>
              <a:t>Control Plane Availability Model Architecture Overview</a:t>
            </a:r>
          </a:p>
        </p:txBody>
      </p:sp>
      <p:sp>
        <p:nvSpPr>
          <p:cNvPr id="5" name="Subtitle 4">
            <a:extLst>
              <a:ext uri="{FF2B5EF4-FFF2-40B4-BE49-F238E27FC236}">
                <a16:creationId xmlns:a16="http://schemas.microsoft.com/office/drawing/2014/main" id="{A12AAD94-E1D7-6836-3301-F606093BF3A9}"/>
              </a:ext>
            </a:extLst>
          </p:cNvPr>
          <p:cNvSpPr>
            <a:spLocks noGrp="1"/>
          </p:cNvSpPr>
          <p:nvPr>
            <p:ph type="subTitle" idx="10"/>
          </p:nvPr>
        </p:nvSpPr>
        <p:spPr/>
        <p:txBody>
          <a:bodyPr/>
          <a:lstStyle/>
          <a:p>
            <a:r>
              <a:rPr lang="en-US" dirty="0"/>
              <a:t>Simple Control Plane Model</a:t>
            </a:r>
          </a:p>
        </p:txBody>
      </p:sp>
      <p:pic>
        <p:nvPicPr>
          <p:cNvPr id="6" name="Graphic 5">
            <a:extLst>
              <a:ext uri="{FF2B5EF4-FFF2-40B4-BE49-F238E27FC236}">
                <a16:creationId xmlns:a16="http://schemas.microsoft.com/office/drawing/2014/main" id="{764C71B4-8F7A-B330-37C5-CED2109D56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31773" y="1810671"/>
            <a:ext cx="4508984" cy="3716196"/>
          </a:xfrm>
          <a:prstGeom prst="rect">
            <a:avLst/>
          </a:prstGeom>
        </p:spPr>
      </p:pic>
    </p:spTree>
    <p:extLst>
      <p:ext uri="{BB962C8B-B14F-4D97-AF65-F5344CB8AC3E}">
        <p14:creationId xmlns:p14="http://schemas.microsoft.com/office/powerpoint/2010/main" val="3679211565"/>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F400A-C866-6489-B5DD-4064EDA114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63316C-D417-4C24-826C-A610F195EDC2}"/>
              </a:ext>
            </a:extLst>
          </p:cNvPr>
          <p:cNvSpPr>
            <a:spLocks noGrp="1"/>
          </p:cNvSpPr>
          <p:nvPr>
            <p:ph type="title"/>
          </p:nvPr>
        </p:nvSpPr>
        <p:spPr/>
        <p:txBody>
          <a:bodyPr/>
          <a:lstStyle/>
          <a:p>
            <a:r>
              <a:rPr lang="en-US"/>
              <a:t>Control Plane Availability Model Architecture Overview</a:t>
            </a:r>
          </a:p>
        </p:txBody>
      </p:sp>
      <p:sp>
        <p:nvSpPr>
          <p:cNvPr id="5" name="Subtitle 4">
            <a:extLst>
              <a:ext uri="{FF2B5EF4-FFF2-40B4-BE49-F238E27FC236}">
                <a16:creationId xmlns:a16="http://schemas.microsoft.com/office/drawing/2014/main" id="{396FD0A8-5876-79C6-4E2C-1955E8975019}"/>
              </a:ext>
            </a:extLst>
          </p:cNvPr>
          <p:cNvSpPr>
            <a:spLocks noGrp="1"/>
          </p:cNvSpPr>
          <p:nvPr>
            <p:ph type="subTitle" idx="10"/>
          </p:nvPr>
        </p:nvSpPr>
        <p:spPr/>
        <p:txBody>
          <a:bodyPr/>
          <a:lstStyle/>
          <a:p>
            <a:r>
              <a:rPr lang="en-US"/>
              <a:t>High Availability Control Plane Model – Single Management Zone</a:t>
            </a:r>
          </a:p>
        </p:txBody>
      </p:sp>
      <p:pic>
        <p:nvPicPr>
          <p:cNvPr id="3" name="Graphic 2">
            <a:extLst>
              <a:ext uri="{FF2B5EF4-FFF2-40B4-BE49-F238E27FC236}">
                <a16:creationId xmlns:a16="http://schemas.microsoft.com/office/drawing/2014/main" id="{DF2A2C08-6653-240E-784E-9ACB2DF398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5975" y="1784256"/>
            <a:ext cx="4360598" cy="3514035"/>
          </a:xfrm>
          <a:prstGeom prst="rect">
            <a:avLst/>
          </a:prstGeom>
        </p:spPr>
      </p:pic>
    </p:spTree>
    <p:extLst>
      <p:ext uri="{BB962C8B-B14F-4D97-AF65-F5344CB8AC3E}">
        <p14:creationId xmlns:p14="http://schemas.microsoft.com/office/powerpoint/2010/main" val="2027408559"/>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705B4-BBF7-7F48-19C5-008ACDA232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C96C75-0DF4-1AD2-4A4E-927E6368E546}"/>
              </a:ext>
            </a:extLst>
          </p:cNvPr>
          <p:cNvSpPr>
            <a:spLocks noGrp="1"/>
          </p:cNvSpPr>
          <p:nvPr>
            <p:ph type="title"/>
          </p:nvPr>
        </p:nvSpPr>
        <p:spPr/>
        <p:txBody>
          <a:bodyPr/>
          <a:lstStyle/>
          <a:p>
            <a:r>
              <a:rPr lang="en-US"/>
              <a:t>Control Plane Availability Model Architecture Overview</a:t>
            </a:r>
          </a:p>
        </p:txBody>
      </p:sp>
      <p:sp>
        <p:nvSpPr>
          <p:cNvPr id="5" name="Subtitle 4">
            <a:extLst>
              <a:ext uri="{FF2B5EF4-FFF2-40B4-BE49-F238E27FC236}">
                <a16:creationId xmlns:a16="http://schemas.microsoft.com/office/drawing/2014/main" id="{4197F08E-C124-5183-D616-75BFAB6FE146}"/>
              </a:ext>
            </a:extLst>
          </p:cNvPr>
          <p:cNvSpPr>
            <a:spLocks noGrp="1"/>
          </p:cNvSpPr>
          <p:nvPr>
            <p:ph type="subTitle" idx="10"/>
          </p:nvPr>
        </p:nvSpPr>
        <p:spPr/>
        <p:txBody>
          <a:bodyPr/>
          <a:lstStyle/>
          <a:p>
            <a:r>
              <a:rPr lang="en-US"/>
              <a:t>High Availability Control Plane Model – Three Management Zone</a:t>
            </a:r>
          </a:p>
        </p:txBody>
      </p:sp>
      <p:pic>
        <p:nvPicPr>
          <p:cNvPr id="6" name="Graphic 5">
            <a:extLst>
              <a:ext uri="{FF2B5EF4-FFF2-40B4-BE49-F238E27FC236}">
                <a16:creationId xmlns:a16="http://schemas.microsoft.com/office/drawing/2014/main" id="{305759E8-7D0E-7658-4D69-17256697BA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01085" y="1640783"/>
            <a:ext cx="6393828" cy="3815391"/>
          </a:xfrm>
          <a:prstGeom prst="rect">
            <a:avLst/>
          </a:prstGeom>
        </p:spPr>
      </p:pic>
    </p:spTree>
    <p:extLst>
      <p:ext uri="{BB962C8B-B14F-4D97-AF65-F5344CB8AC3E}">
        <p14:creationId xmlns:p14="http://schemas.microsoft.com/office/powerpoint/2010/main" val="3562190811"/>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164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pc="http://schemas.microsoft.com/office/infopath/2007/PartnerControls" xmlns:xsi="http://www.w3.org/2001/XMLSchema-instance">
  <documentManagement>
    <TaxCatchAll xmlns="78c16552-cbf3-4f1f-97ed-388b5d2a083d" xsi:nil="true"/>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7FDF784-C08F-4586-8D13-D1A84372E25C}"/>
</file>

<file path=customXml/itemProps2.xml><?xml version="1.0" encoding="utf-8"?>
<ds:datastoreItem xmlns:ds="http://schemas.openxmlformats.org/officeDocument/2006/customXml" ds:itemID="{8E8B0D90-F4AE-4AFC-AAAF-88CBAFE6D091}">
  <ds:schemaRefs>
    <ds:schemaRef ds:uri="http://schemas.microsoft.com/office/2006/metadata/properties"/>
    <ds:schemaRef ds:uri="http://schemas.microsoft.com/office/infopath/2007/PartnerControls"/>
    <ds:schemaRef ds:uri="94b33151-80fa-4b06-b3dc-d54c842f0d2a"/>
    <ds:schemaRef ds:uri="f698bbf4-22fc-464f-b3bf-42aa93b7dda6"/>
    <ds:schemaRef ds:uri="eb3a237d-4129-4a2a-8fb3-b20be8ca4bd3"/>
  </ds:schemaRefs>
</ds:datastoreItem>
</file>

<file path=customXml/itemProps3.xml><?xml version="1.0" encoding="utf-8"?>
<ds:datastoreItem xmlns:ds="http://schemas.openxmlformats.org/officeDocument/2006/customXml" ds:itemID="{3BF02463-FB5A-4761-9FE8-9380FA82541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VMware_white_16x9</Template>
  <TotalTime>0</TotalTime>
  <Words>9335</Words>
  <Application>Microsoft Office PowerPoint</Application>
  <PresentationFormat>Custom</PresentationFormat>
  <Paragraphs>848</Paragraphs>
  <Slides>34</Slides>
  <Notes>25</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-apple-system</vt:lpstr>
      <vt:lpstr>Arial</vt:lpstr>
      <vt:lpstr>Camphor Std</vt:lpstr>
      <vt:lpstr>Courier New</vt:lpstr>
      <vt:lpstr>Helvetica Neue</vt:lpstr>
      <vt:lpstr>Metropolis</vt:lpstr>
      <vt:lpstr>Metropolis Semi Bold</vt:lpstr>
      <vt:lpstr>Metropolis-Regular</vt:lpstr>
      <vt:lpstr>Open Sans</vt:lpstr>
      <vt:lpstr>Roboto</vt:lpstr>
      <vt:lpstr>System Font Regular</vt:lpstr>
      <vt:lpstr>VMware 2025 Light</vt:lpstr>
      <vt:lpstr>VMware by Broadcom Solution</vt:lpstr>
      <vt:lpstr>PowerPoint Presentation</vt:lpstr>
      <vt:lpstr>Introductions and Workshop Objectives</vt:lpstr>
      <vt:lpstr>Delivering the Modern Private Cloud</vt:lpstr>
      <vt:lpstr>PowerPoint Presentation</vt:lpstr>
      <vt:lpstr>VMware Solution</vt:lpstr>
      <vt:lpstr>Solution Scope</vt:lpstr>
      <vt:lpstr>Solution Scope</vt:lpstr>
      <vt:lpstr>VMware Solution</vt:lpstr>
      <vt:lpstr>Engagement Scope - Technical</vt:lpstr>
      <vt:lpstr>Engagement Scope - People and Process</vt:lpstr>
      <vt:lpstr>VMware Cloud Foundation 9.0.x</vt:lpstr>
      <vt:lpstr>Product Overview</vt:lpstr>
      <vt:lpstr>Unlock Cloud Experience with vSphere Supervisor</vt:lpstr>
      <vt:lpstr>Enable vSphere Supervisor during Workload Domain creation</vt:lpstr>
      <vt:lpstr>vSphere Supervisor</vt:lpstr>
      <vt:lpstr>Provide workload isolation with VPC based vSphere Namespace</vt:lpstr>
      <vt:lpstr>Easily deploy Kubernetes clusters with vSphere Kubernetes Service</vt:lpstr>
      <vt:lpstr>Modernize Virtual Machine Management with VM Service</vt:lpstr>
      <vt:lpstr>Simplify Secret Management with Secret Store</vt:lpstr>
      <vt:lpstr>Creating Isolation between Control Plane and Workloads</vt:lpstr>
      <vt:lpstr>Empower Platform Operators </vt:lpstr>
      <vt:lpstr>Update vSphere Supervisor independently</vt:lpstr>
      <vt:lpstr>Architecture</vt:lpstr>
      <vt:lpstr>Simplified Supervisor Model Terminology Overview</vt:lpstr>
      <vt:lpstr>Simplified Supervisor Model Architecture Overview</vt:lpstr>
      <vt:lpstr>Zone  Models Architecture Overview</vt:lpstr>
      <vt:lpstr>Zone  Models Architecture Overview</vt:lpstr>
      <vt:lpstr>Zone  Models Architecture Overview</vt:lpstr>
      <vt:lpstr>Zone  Models Architecture Overview</vt:lpstr>
      <vt:lpstr>Control Plane Availability Model Architecture Overview</vt:lpstr>
      <vt:lpstr>Control Plane Availability Model Architecture Overview</vt:lpstr>
      <vt:lpstr>Control Plane Availability Model Architecture Overview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2019-03-26T18:12:31Z</dcterms:created>
  <dcterms:modified xsi:type="dcterms:W3CDTF">2026-04-27T16:56:44Z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VMW Product">
    <vt:lpwstr/>
  </property>
  <property fmtid="{D5CDD505-2E9C-101B-9397-08002B2CF9AE}" pid="4" name="Association">
    <vt:lpwstr>229;#ALL|9c44ab2d-3a43-467f-830a-d5560c6fd4a6</vt:lpwstr>
  </property>
</Properties>
</file>